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media/image7.webp" ContentType="image/webp"/>
  <Override PartName="/ppt/media/image8.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68"/>
  </p:notesMasterIdLst>
  <p:sldIdLst>
    <p:sldId id="433" r:id="rId2"/>
    <p:sldId id="436" r:id="rId3"/>
    <p:sldId id="437" r:id="rId4"/>
    <p:sldId id="446" r:id="rId5"/>
    <p:sldId id="425" r:id="rId6"/>
    <p:sldId id="426" r:id="rId7"/>
    <p:sldId id="427" r:id="rId8"/>
    <p:sldId id="428" r:id="rId9"/>
    <p:sldId id="298" r:id="rId10"/>
    <p:sldId id="299" r:id="rId11"/>
    <p:sldId id="300" r:id="rId12"/>
    <p:sldId id="301" r:id="rId13"/>
    <p:sldId id="302" r:id="rId14"/>
    <p:sldId id="303" r:id="rId15"/>
    <p:sldId id="304" r:id="rId16"/>
    <p:sldId id="305" r:id="rId17"/>
    <p:sldId id="306" r:id="rId18"/>
    <p:sldId id="310" r:id="rId19"/>
    <p:sldId id="311" r:id="rId20"/>
    <p:sldId id="312" r:id="rId21"/>
    <p:sldId id="315" r:id="rId22"/>
    <p:sldId id="316" r:id="rId23"/>
    <p:sldId id="317" r:id="rId24"/>
    <p:sldId id="318" r:id="rId25"/>
    <p:sldId id="319" r:id="rId26"/>
    <p:sldId id="320" r:id="rId27"/>
    <p:sldId id="321" r:id="rId28"/>
    <p:sldId id="322" r:id="rId29"/>
    <p:sldId id="323" r:id="rId30"/>
    <p:sldId id="324" r:id="rId31"/>
    <p:sldId id="325" r:id="rId32"/>
    <p:sldId id="257" r:id="rId33"/>
    <p:sldId id="262" r:id="rId34"/>
    <p:sldId id="263" r:id="rId35"/>
    <p:sldId id="264" r:id="rId36"/>
    <p:sldId id="265" r:id="rId37"/>
    <p:sldId id="266" r:id="rId38"/>
    <p:sldId id="267" r:id="rId39"/>
    <p:sldId id="268" r:id="rId40"/>
    <p:sldId id="269" r:id="rId41"/>
    <p:sldId id="270" r:id="rId42"/>
    <p:sldId id="273" r:id="rId43"/>
    <p:sldId id="274" r:id="rId44"/>
    <p:sldId id="276" r:id="rId45"/>
    <p:sldId id="277" r:id="rId46"/>
    <p:sldId id="278" r:id="rId47"/>
    <p:sldId id="279" r:id="rId48"/>
    <p:sldId id="280" r:id="rId49"/>
    <p:sldId id="281" r:id="rId50"/>
    <p:sldId id="282" r:id="rId51"/>
    <p:sldId id="283" r:id="rId52"/>
    <p:sldId id="288" r:id="rId53"/>
    <p:sldId id="333" r:id="rId54"/>
    <p:sldId id="336" r:id="rId55"/>
    <p:sldId id="339" r:id="rId56"/>
    <p:sldId id="340" r:id="rId57"/>
    <p:sldId id="341" r:id="rId58"/>
    <p:sldId id="343" r:id="rId59"/>
    <p:sldId id="344" r:id="rId60"/>
    <p:sldId id="345" r:id="rId61"/>
    <p:sldId id="346" r:id="rId62"/>
    <p:sldId id="348" r:id="rId63"/>
    <p:sldId id="349" r:id="rId64"/>
    <p:sldId id="350" r:id="rId65"/>
    <p:sldId id="355" r:id="rId66"/>
    <p:sldId id="359" r:id="rId67"/>
    <p:sldId id="447" r:id="rId73"/>
    <p:sldId id="448" r:id="rId74"/>
    <p:sldId id="449" r:id="rId75"/>
    <p:sldId id="450" r:id="rId76"/>
    <p:sldId id="451" r:id="rId77"/>
    <p:sldId id="452" r:id="rId78"/>
    <p:sldId id="453" r:id="rId79"/>
    <p:sldId id="454" r:id="rId80"/>
    <p:sldId id="455" r:id="rId81"/>
    <p:sldId id="456" r:id="rId8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118" autoAdjust="0"/>
    <p:restoredTop sz="94660"/>
  </p:normalViewPr>
  <p:slideViewPr>
    <p:cSldViewPr snapToGrid="0" snapToObjects="1">
      <p:cViewPr varScale="1">
        <p:scale>
          <a:sx n="77" d="100"/>
          <a:sy n="77" d="100"/>
        </p:scale>
        <p:origin x="534" y="9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slide" Target="slides/slide54.xml"/><Relationship Id="rId56" Type="http://schemas.openxmlformats.org/officeDocument/2006/relationships/slide" Target="slides/slide55.xml"/><Relationship Id="rId57" Type="http://schemas.openxmlformats.org/officeDocument/2006/relationships/slide" Target="slides/slide56.xml"/><Relationship Id="rId58" Type="http://schemas.openxmlformats.org/officeDocument/2006/relationships/slide" Target="slides/slide57.xml"/><Relationship Id="rId59" Type="http://schemas.openxmlformats.org/officeDocument/2006/relationships/slide" Target="slides/slide58.xml"/><Relationship Id="rId60" Type="http://schemas.openxmlformats.org/officeDocument/2006/relationships/slide" Target="slides/slide59.xml"/><Relationship Id="rId61" Type="http://schemas.openxmlformats.org/officeDocument/2006/relationships/slide" Target="slides/slide60.xml"/><Relationship Id="rId62" Type="http://schemas.openxmlformats.org/officeDocument/2006/relationships/slide" Target="slides/slide61.xml"/><Relationship Id="rId63" Type="http://schemas.openxmlformats.org/officeDocument/2006/relationships/slide" Target="slides/slide62.xml"/><Relationship Id="rId64" Type="http://schemas.openxmlformats.org/officeDocument/2006/relationships/slide" Target="slides/slide63.xml"/><Relationship Id="rId65" Type="http://schemas.openxmlformats.org/officeDocument/2006/relationships/slide" Target="slides/slide64.xml"/><Relationship Id="rId66" Type="http://schemas.openxmlformats.org/officeDocument/2006/relationships/slide" Target="slides/slide65.xml"/><Relationship Id="rId67" Type="http://schemas.openxmlformats.org/officeDocument/2006/relationships/slide" Target="slides/slide66.xml"/><Relationship Id="rId68" Type="http://schemas.openxmlformats.org/officeDocument/2006/relationships/notesMaster" Target="notesMasters/notesMaster1.xml"/><Relationship Id="rId69" Type="http://schemas.openxmlformats.org/officeDocument/2006/relationships/presProps" Target="presProps.xml"/><Relationship Id="rId70" Type="http://schemas.openxmlformats.org/officeDocument/2006/relationships/viewProps" Target="viewProps.xml"/><Relationship Id="rId71" Type="http://schemas.openxmlformats.org/officeDocument/2006/relationships/theme" Target="theme/theme1.xml"/><Relationship Id="rId72" Type="http://schemas.openxmlformats.org/officeDocument/2006/relationships/tableStyles" Target="tableStyles.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800" b="0" i="0" u="none" strike="noStrike">
                <a:solidFill>
                  <a:srgbClr val="000000"/>
                </a:solidFill>
                <a:latin typeface="Arial"/>
              </a:defRPr>
            </a:pPr>
            <a:r>
              <a:rPr lang="en-IN" sz="1800" b="0" i="0" u="none" strike="noStrike">
                <a:solidFill>
                  <a:srgbClr val="000000"/>
                </a:solidFill>
                <a:latin typeface="Arial"/>
              </a:rPr>
              <a:t>Training &amp; Validation Loss</a:t>
            </a:r>
          </a:p>
        </c:rich>
      </c:tx>
      <c:overlay val="0"/>
    </c:title>
    <c:autoTitleDeleted val="0"/>
    <c:plotArea>
      <c:layout/>
      <c:lineChart>
        <c:grouping val="standard"/>
        <c:varyColors val="0"/>
        <c:ser>
          <c:idx val="0"/>
          <c:order val="0"/>
          <c:tx>
            <c:strRef>
              <c:f>Sheet1!$B$1</c:f>
              <c:strCache>
                <c:ptCount val="1"/>
                <c:pt idx="0">
                  <c:v>Training Loss</c:v>
                </c:pt>
              </c:strCache>
            </c:strRef>
          </c:tx>
          <c:spPr>
            <a:ln w="25400" cap="flat">
              <a:solidFill>
                <a:srgbClr val="1B7FBF"/>
              </a:solidFill>
              <a:prstDash val="solid"/>
              <a:round/>
            </a:ln>
            <a:effectLst/>
          </c:spPr>
          <c:marker>
            <c:symbol val="circle"/>
            <c:size val="6"/>
            <c:spPr>
              <a:solidFill>
                <a:srgbClr val="1B7FBF"/>
              </a:solidFill>
              <a:ln w="9525" cap="flat">
                <a:solidFill>
                  <a:srgbClr val="1B7FBF"/>
                </a:solidFill>
                <a:prstDash val="solid"/>
                <a:round/>
              </a:ln>
              <a:effectLst/>
            </c:spPr>
          </c:marker>
          <c:cat>
            <c:strRef>
              <c:f>Sheet1!$A$2:$A$7</c:f>
              <c:strCache>
                <c:ptCount val="6"/>
                <c:pt idx="0">
                  <c:v>1</c:v>
                </c:pt>
                <c:pt idx="1">
                  <c:v>2</c:v>
                </c:pt>
                <c:pt idx="2">
                  <c:v>3</c:v>
                </c:pt>
                <c:pt idx="3">
                  <c:v>4</c:v>
                </c:pt>
                <c:pt idx="4">
                  <c:v>5</c:v>
                </c:pt>
                <c:pt idx="5">
                  <c:v>6</c:v>
                </c:pt>
              </c:strCache>
            </c:strRef>
          </c:cat>
          <c:val>
            <c:numRef>
              <c:f>Sheet1!$B$2:$B$7</c:f>
              <c:numCache>
                <c:formatCode>General</c:formatCode>
                <c:ptCount val="6"/>
                <c:pt idx="0">
                  <c:v>1.85</c:v>
                </c:pt>
                <c:pt idx="1">
                  <c:v>1.21</c:v>
                </c:pt>
                <c:pt idx="2">
                  <c:v>0.93</c:v>
                </c:pt>
                <c:pt idx="3">
                  <c:v>0.73</c:v>
                </c:pt>
                <c:pt idx="4">
                  <c:v>0.64</c:v>
                </c:pt>
                <c:pt idx="5">
                  <c:v>0.56999999999999995</c:v>
                </c:pt>
              </c:numCache>
            </c:numRef>
          </c:val>
          <c:smooth val="0"/>
          <c:extLst>
            <c:ext xmlns:c16="http://schemas.microsoft.com/office/drawing/2014/chart" uri="{C3380CC4-5D6E-409C-BE32-E72D297353CC}">
              <c16:uniqueId val="{00000000-0551-4CD8-96F6-C40899B52E0D}"/>
            </c:ext>
          </c:extLst>
        </c:ser>
        <c:ser>
          <c:idx val="1"/>
          <c:order val="1"/>
          <c:tx>
            <c:strRef>
              <c:f>Sheet1!$C$1</c:f>
              <c:strCache>
                <c:ptCount val="1"/>
                <c:pt idx="0">
                  <c:v>Validation Loss</c:v>
                </c:pt>
              </c:strCache>
            </c:strRef>
          </c:tx>
          <c:spPr>
            <a:ln w="25400" cap="flat">
              <a:solidFill>
                <a:srgbClr val="F4A325"/>
              </a:solidFill>
              <a:prstDash val="solid"/>
              <a:round/>
            </a:ln>
            <a:effectLst/>
          </c:spPr>
          <c:marker>
            <c:symbol val="circle"/>
            <c:size val="6"/>
            <c:spPr>
              <a:solidFill>
                <a:srgbClr val="F4A325"/>
              </a:solidFill>
              <a:ln w="9525" cap="flat">
                <a:solidFill>
                  <a:srgbClr val="F4A325"/>
                </a:solidFill>
                <a:prstDash val="solid"/>
                <a:round/>
              </a:ln>
              <a:effectLst/>
            </c:spPr>
          </c:marker>
          <c:cat>
            <c:strRef>
              <c:f>Sheet1!$A$2:$A$7</c:f>
              <c:strCache>
                <c:ptCount val="6"/>
                <c:pt idx="0">
                  <c:v>1</c:v>
                </c:pt>
                <c:pt idx="1">
                  <c:v>2</c:v>
                </c:pt>
                <c:pt idx="2">
                  <c:v>3</c:v>
                </c:pt>
                <c:pt idx="3">
                  <c:v>4</c:v>
                </c:pt>
                <c:pt idx="4">
                  <c:v>5</c:v>
                </c:pt>
                <c:pt idx="5">
                  <c:v>6</c:v>
                </c:pt>
              </c:strCache>
            </c:strRef>
          </c:cat>
          <c:val>
            <c:numRef>
              <c:f>Sheet1!$C$2:$C$7</c:f>
              <c:numCache>
                <c:formatCode>General</c:formatCode>
                <c:ptCount val="6"/>
                <c:pt idx="0">
                  <c:v>1.78</c:v>
                </c:pt>
                <c:pt idx="1">
                  <c:v>1.19</c:v>
                </c:pt>
                <c:pt idx="2">
                  <c:v>0.88</c:v>
                </c:pt>
                <c:pt idx="3">
                  <c:v>0.71</c:v>
                </c:pt>
                <c:pt idx="4">
                  <c:v>0.62</c:v>
                </c:pt>
                <c:pt idx="5">
                  <c:v>0.56000000000000005</c:v>
                </c:pt>
              </c:numCache>
            </c:numRef>
          </c:val>
          <c:smooth val="0"/>
          <c:extLst>
            <c:ext xmlns:c16="http://schemas.microsoft.com/office/drawing/2014/chart" uri="{C3380CC4-5D6E-409C-BE32-E72D297353CC}">
              <c16:uniqueId val="{00000001-0551-4CD8-96F6-C40899B52E0D}"/>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800" b="0" i="0" u="none" strike="noStrike">
                <a:solidFill>
                  <a:srgbClr val="000000"/>
                </a:solidFill>
                <a:latin typeface="Arial"/>
              </a:defRPr>
            </a:pPr>
            <a:r>
              <a:rPr lang="en-IN" sz="1800" b="0" i="0" u="none" strike="noStrike">
                <a:solidFill>
                  <a:srgbClr val="000000"/>
                </a:solidFill>
                <a:latin typeface="Arial"/>
              </a:rPr>
              <a:t>Per-Argument-Type F1</a:t>
            </a:r>
          </a:p>
        </c:rich>
      </c:tx>
      <c:overlay val="0"/>
    </c:title>
    <c:autoTitleDeleted val="0"/>
    <c:plotArea>
      <c:layout/>
      <c:barChart>
        <c:barDir val="col"/>
        <c:grouping val="clustered"/>
        <c:varyColors val="0"/>
        <c:ser>
          <c:idx val="0"/>
          <c:order val="0"/>
          <c:tx>
            <c:strRef>
              <c:f>Sheet1!$B$1</c:f>
              <c:strCache>
                <c:ptCount val="1"/>
                <c:pt idx="0">
                  <c:v>F1 Score</c:v>
                </c:pt>
              </c:strCache>
            </c:strRef>
          </c:tx>
          <c:spPr>
            <a:solidFill>
              <a:srgbClr val="1B7FBF"/>
            </a:solidFill>
            <a:effectLst/>
          </c:spPr>
          <c:invertIfNegative val="0"/>
          <c:dLbls>
            <c:numFmt formatCode="#,##0" sourceLinked="0"/>
            <c:spPr>
              <a:noFill/>
              <a:ln>
                <a:noFill/>
              </a:ln>
              <a:effectLst/>
            </c:spPr>
            <c:txPr>
              <a:bodyPr/>
              <a:lstStyle/>
              <a:p>
                <a:pPr>
                  <a:defRPr sz="800" b="0" i="0" u="none" strike="noStrike">
                    <a:solidFill>
                      <a:srgbClr val="0D1F4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Sheet1!$A$2:$A$16</c:f>
              <c:strCache>
                <c:ptCount val="15"/>
                <c:pt idx="0">
                  <c:v>ARG0</c:v>
                </c:pt>
                <c:pt idx="1">
                  <c:v>ARG1</c:v>
                </c:pt>
                <c:pt idx="2">
                  <c:v>ARG2-EXT</c:v>
                </c:pt>
                <c:pt idx="3">
                  <c:v>ARG2-from</c:v>
                </c:pt>
                <c:pt idx="4">
                  <c:v>ARG2-to</c:v>
                </c:pt>
                <c:pt idx="5">
                  <c:v>ARG2-with</c:v>
                </c:pt>
                <c:pt idx="6">
                  <c:v>ARG3-from</c:v>
                </c:pt>
                <c:pt idx="7">
                  <c:v>ARGM-ADV</c:v>
                </c:pt>
                <c:pt idx="8">
                  <c:v>ARGM-CAU</c:v>
                </c:pt>
                <c:pt idx="9">
                  <c:v>ARGM-DIS</c:v>
                </c:pt>
                <c:pt idx="10">
                  <c:v>ARGM-MOD</c:v>
                </c:pt>
                <c:pt idx="11">
                  <c:v>ARGM-NEG</c:v>
                </c:pt>
                <c:pt idx="12">
                  <c:v>ARGM-TMP</c:v>
                </c:pt>
                <c:pt idx="13">
                  <c:v>ARGM-LOC</c:v>
                </c:pt>
                <c:pt idx="14">
                  <c:v>ARGM-MNR</c:v>
                </c:pt>
              </c:strCache>
            </c:strRef>
          </c:cat>
          <c:val>
            <c:numRef>
              <c:f>Sheet1!$B$2:$B$16</c:f>
              <c:numCache>
                <c:formatCode>General</c:formatCode>
                <c:ptCount val="15"/>
                <c:pt idx="0">
                  <c:v>0.77900000000000003</c:v>
                </c:pt>
                <c:pt idx="1">
                  <c:v>0.85199999999999998</c:v>
                </c:pt>
                <c:pt idx="2">
                  <c:v>0.67600000000000005</c:v>
                </c:pt>
                <c:pt idx="3">
                  <c:v>0.56699999999999995</c:v>
                </c:pt>
                <c:pt idx="4">
                  <c:v>0.54700000000000004</c:v>
                </c:pt>
                <c:pt idx="5">
                  <c:v>0.51900000000000002</c:v>
                </c:pt>
                <c:pt idx="6">
                  <c:v>0.77500000000000002</c:v>
                </c:pt>
                <c:pt idx="7">
                  <c:v>0.66500000000000004</c:v>
                </c:pt>
                <c:pt idx="8">
                  <c:v>0.70599999999999996</c:v>
                </c:pt>
                <c:pt idx="9">
                  <c:v>0.622</c:v>
                </c:pt>
                <c:pt idx="10">
                  <c:v>0.94799999999999995</c:v>
                </c:pt>
                <c:pt idx="11">
                  <c:v>0.94199999999999995</c:v>
                </c:pt>
                <c:pt idx="12">
                  <c:v>0.58799999999999997</c:v>
                </c:pt>
                <c:pt idx="13">
                  <c:v>0.52200000000000002</c:v>
                </c:pt>
                <c:pt idx="14">
                  <c:v>0.30199999999999999</c:v>
                </c:pt>
              </c:numCache>
            </c:numRef>
          </c:val>
          <c:extLst>
            <c:ext xmlns:c16="http://schemas.microsoft.com/office/drawing/2014/chart" uri="{C3380CC4-5D6E-409C-BE32-E72D297353CC}">
              <c16:uniqueId val="{00000000-1F3E-4ACB-90B6-25436BAEAB21}"/>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8FAFF"/>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800" b="0" i="0" u="none" strike="noStrike">
                <a:solidFill>
                  <a:srgbClr val="000000"/>
                </a:solidFill>
                <a:latin typeface="Arial"/>
              </a:defRPr>
            </a:pPr>
            <a:r>
              <a:rPr lang="en-US" sz="1800" b="0" i="0" u="none" strike="noStrike">
                <a:solidFill>
                  <a:srgbClr val="000000"/>
                </a:solidFill>
                <a:latin typeface="Arial"/>
              </a:rPr>
              <a:t>EM and F1 by Question Type</a:t>
            </a:r>
          </a:p>
        </c:rich>
      </c:tx>
      <c:overlay val="0"/>
    </c:title>
    <c:autoTitleDeleted val="0"/>
    <c:plotArea>
      <c:layout/>
      <c:barChart>
        <c:barDir val="col"/>
        <c:grouping val="clustered"/>
        <c:varyColors val="0"/>
        <c:ser>
          <c:idx val="0"/>
          <c:order val="0"/>
          <c:tx>
            <c:strRef>
              <c:f>Sheet1!$B$1</c:f>
              <c:strCache>
                <c:ptCount val="1"/>
                <c:pt idx="0">
                  <c:v>Exact Match</c:v>
                </c:pt>
              </c:strCache>
            </c:strRef>
          </c:tx>
          <c:spPr>
            <a:solidFill>
              <a:srgbClr val="142966"/>
            </a:solidFill>
            <a:effectLst/>
          </c:spPr>
          <c:invertIfNegative val="0"/>
          <c:cat>
            <c:strRef>
              <c:f>Sheet1!$A$2:$A$7</c:f>
              <c:strCache>
                <c:ptCount val="6"/>
                <c:pt idx="0">
                  <c:v>HOW</c:v>
                </c:pt>
                <c:pt idx="1">
                  <c:v>WHAT</c:v>
                </c:pt>
                <c:pt idx="2">
                  <c:v>WHEN</c:v>
                </c:pt>
                <c:pt idx="3">
                  <c:v>WHERE</c:v>
                </c:pt>
                <c:pt idx="4">
                  <c:v>WHO</c:v>
                </c:pt>
                <c:pt idx="5">
                  <c:v>WHY</c:v>
                </c:pt>
              </c:strCache>
            </c:strRef>
          </c:cat>
          <c:val>
            <c:numRef>
              <c:f>Sheet1!$B$2:$B$7</c:f>
              <c:numCache>
                <c:formatCode>General</c:formatCode>
                <c:ptCount val="6"/>
                <c:pt idx="0">
                  <c:v>0.35899999999999999</c:v>
                </c:pt>
                <c:pt idx="1">
                  <c:v>0.505</c:v>
                </c:pt>
                <c:pt idx="2">
                  <c:v>0.56499999999999995</c:v>
                </c:pt>
                <c:pt idx="3">
                  <c:v>0.38200000000000001</c:v>
                </c:pt>
                <c:pt idx="4">
                  <c:v>0.61799999999999999</c:v>
                </c:pt>
                <c:pt idx="5">
                  <c:v>0.17499999999999999</c:v>
                </c:pt>
              </c:numCache>
            </c:numRef>
          </c:val>
          <c:extLst>
            <c:ext xmlns:c16="http://schemas.microsoft.com/office/drawing/2014/chart" uri="{C3380CC4-5D6E-409C-BE32-E72D297353CC}">
              <c16:uniqueId val="{00000000-680E-4E04-AF96-94CE629DD458}"/>
            </c:ext>
          </c:extLst>
        </c:ser>
        <c:ser>
          <c:idx val="1"/>
          <c:order val="1"/>
          <c:tx>
            <c:strRef>
              <c:f>Sheet1!$C$1</c:f>
              <c:strCache>
                <c:ptCount val="1"/>
                <c:pt idx="0">
                  <c:v>Token F1</c:v>
                </c:pt>
              </c:strCache>
            </c:strRef>
          </c:tx>
          <c:spPr>
            <a:solidFill>
              <a:srgbClr val="0FA3B1"/>
            </a:solidFill>
            <a:effectLst/>
          </c:spPr>
          <c:invertIfNegative val="0"/>
          <c:cat>
            <c:strRef>
              <c:f>Sheet1!$A$2:$A$7</c:f>
              <c:strCache>
                <c:ptCount val="6"/>
                <c:pt idx="0">
                  <c:v>HOW</c:v>
                </c:pt>
                <c:pt idx="1">
                  <c:v>WHAT</c:v>
                </c:pt>
                <c:pt idx="2">
                  <c:v>WHEN</c:v>
                </c:pt>
                <c:pt idx="3">
                  <c:v>WHERE</c:v>
                </c:pt>
                <c:pt idx="4">
                  <c:v>WHO</c:v>
                </c:pt>
                <c:pt idx="5">
                  <c:v>WHY</c:v>
                </c:pt>
              </c:strCache>
            </c:strRef>
          </c:cat>
          <c:val>
            <c:numRef>
              <c:f>Sheet1!$C$2:$C$7</c:f>
              <c:numCache>
                <c:formatCode>General</c:formatCode>
                <c:ptCount val="6"/>
                <c:pt idx="0">
                  <c:v>0.53</c:v>
                </c:pt>
                <c:pt idx="1">
                  <c:v>0.80200000000000005</c:v>
                </c:pt>
                <c:pt idx="2">
                  <c:v>0.68700000000000006</c:v>
                </c:pt>
                <c:pt idx="3">
                  <c:v>0.61899999999999999</c:v>
                </c:pt>
                <c:pt idx="4">
                  <c:v>0.77900000000000003</c:v>
                </c:pt>
                <c:pt idx="5">
                  <c:v>0.63400000000000001</c:v>
                </c:pt>
              </c:numCache>
            </c:numRef>
          </c:val>
          <c:extLst>
            <c:ext xmlns:c16="http://schemas.microsoft.com/office/drawing/2014/chart" uri="{C3380CC4-5D6E-409C-BE32-E72D297353CC}">
              <c16:uniqueId val="{00000001-680E-4E04-AF96-94CE629DD458}"/>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64748B"/>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showDLblsOverMax val="1"/>
  </c:chart>
  <c:spPr>
    <a:solidFill>
      <a:srgbClr val="FFFFFF"/>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800" b="0" i="0" u="none" strike="noStrike">
                <a:solidFill>
                  <a:srgbClr val="000000"/>
                </a:solidFill>
                <a:latin typeface="Arial"/>
              </a:defRPr>
            </a:pPr>
            <a:r>
              <a:rPr lang="en-US" sz="1800" b="0" i="0" u="none" strike="noStrike">
                <a:solidFill>
                  <a:srgbClr val="000000"/>
                </a:solidFill>
                <a:latin typeface="Arial"/>
              </a:rPr>
              <a:t>Challenge &amp; Test F1 by Track</a:t>
            </a:r>
          </a:p>
        </c:rich>
      </c:tx>
      <c:overlay val="0"/>
    </c:title>
    <c:autoTitleDeleted val="0"/>
    <c:plotArea>
      <c:layout/>
      <c:barChart>
        <c:barDir val="col"/>
        <c:grouping val="clustered"/>
        <c:varyColors val="0"/>
        <c:ser>
          <c:idx val="0"/>
          <c:order val="0"/>
          <c:tx>
            <c:strRef>
              <c:f>Sheet1!$B$1</c:f>
              <c:strCache>
                <c:ptCount val="1"/>
                <c:pt idx="0">
                  <c:v>Challenge F1</c:v>
                </c:pt>
              </c:strCache>
            </c:strRef>
          </c:tx>
          <c:spPr>
            <a:solidFill>
              <a:srgbClr val="0D1F4E"/>
            </a:solidFill>
            <a:effectLst/>
          </c:spPr>
          <c:invertIfNegative val="0"/>
          <c:cat>
            <c:strRef>
              <c:f>Sheet1!$A$2:$A$5</c:f>
              <c:strCache>
                <c:ptCount val="4"/>
                <c:pt idx="0">
                  <c:v>classical_baseline</c:v>
                </c:pt>
                <c:pt idx="1">
                  <c:v>heuristic_reranker</c:v>
                </c:pt>
                <c:pt idx="2">
                  <c:v>transformer_qa_assist</c:v>
                </c:pt>
                <c:pt idx="3">
                  <c:v>full_hybrid</c:v>
                </c:pt>
              </c:strCache>
            </c:strRef>
          </c:cat>
          <c:val>
            <c:numRef>
              <c:f>Sheet1!$B$2:$B$5</c:f>
              <c:numCache>
                <c:formatCode>General</c:formatCode>
                <c:ptCount val="4"/>
                <c:pt idx="0">
                  <c:v>0.47</c:v>
                </c:pt>
                <c:pt idx="1">
                  <c:v>0.78</c:v>
                </c:pt>
                <c:pt idx="2">
                  <c:v>0.78</c:v>
                </c:pt>
                <c:pt idx="3">
                  <c:v>0.78</c:v>
                </c:pt>
              </c:numCache>
            </c:numRef>
          </c:val>
          <c:extLst>
            <c:ext xmlns:c16="http://schemas.microsoft.com/office/drawing/2014/chart" uri="{C3380CC4-5D6E-409C-BE32-E72D297353CC}">
              <c16:uniqueId val="{00000000-FF2F-42ED-AEAE-EB59CB6DE4AF}"/>
            </c:ext>
          </c:extLst>
        </c:ser>
        <c:ser>
          <c:idx val="1"/>
          <c:order val="1"/>
          <c:tx>
            <c:strRef>
              <c:f>Sheet1!$C$1</c:f>
              <c:strCache>
                <c:ptCount val="1"/>
                <c:pt idx="0">
                  <c:v>Test F1</c:v>
                </c:pt>
              </c:strCache>
            </c:strRef>
          </c:tx>
          <c:spPr>
            <a:solidFill>
              <a:srgbClr val="0FA3B1"/>
            </a:solidFill>
            <a:effectLst/>
          </c:spPr>
          <c:invertIfNegative val="0"/>
          <c:cat>
            <c:strRef>
              <c:f>Sheet1!$A$2:$A$5</c:f>
              <c:strCache>
                <c:ptCount val="4"/>
                <c:pt idx="0">
                  <c:v>classical_baseline</c:v>
                </c:pt>
                <c:pt idx="1">
                  <c:v>heuristic_reranker</c:v>
                </c:pt>
                <c:pt idx="2">
                  <c:v>transformer_qa_assist</c:v>
                </c:pt>
                <c:pt idx="3">
                  <c:v>full_hybrid</c:v>
                </c:pt>
              </c:strCache>
            </c:strRef>
          </c:cat>
          <c:val>
            <c:numRef>
              <c:f>Sheet1!$C$2:$C$5</c:f>
              <c:numCache>
                <c:formatCode>General</c:formatCode>
                <c:ptCount val="4"/>
                <c:pt idx="0">
                  <c:v>0.309</c:v>
                </c:pt>
                <c:pt idx="1">
                  <c:v>0.41799999999999998</c:v>
                </c:pt>
                <c:pt idx="2">
                  <c:v>0.41799999999999998</c:v>
                </c:pt>
                <c:pt idx="3">
                  <c:v>0.41799999999999998</c:v>
                </c:pt>
              </c:numCache>
            </c:numRef>
          </c:val>
          <c:extLst>
            <c:ext xmlns:c16="http://schemas.microsoft.com/office/drawing/2014/chart" uri="{C3380CC4-5D6E-409C-BE32-E72D297353CC}">
              <c16:uniqueId val="{00000001-FF2F-42ED-AEAE-EB59CB6DE4AF}"/>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4748B"/>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legend>
    <c:plotVisOnly val="1"/>
    <c:dispBlanksAs val="span"/>
    <c:showDLblsOverMax val="1"/>
  </c:chart>
  <c:spPr>
    <a:solidFill>
      <a:srgbClr val="FFFFFF"/>
    </a:solid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Baseline local metrics</c:v>
                </c:pt>
              </c:strCache>
            </c:strRef>
          </c:tx>
          <c:cat>
            <c:strRef>
              <c:f>Sheet1!$A$2:$A$5</c:f>
              <c:strCache>
                <c:ptCount val="4"/>
                <c:pt idx="0">
                  <c:v>QA EM</c:v>
                </c:pt>
                <c:pt idx="1">
                  <c:v>QA F1</c:v>
                </c:pt>
                <c:pt idx="2">
                  <c:v>SRL micro</c:v>
                </c:pt>
                <c:pt idx="3">
                  <c:v>SRL macro</c:v>
                </c:pt>
              </c:strCache>
            </c:strRef>
          </c:cat>
          <c:val>
            <c:numRef>
              <c:f>Sheet1!$B$2:$B$5</c:f>
              <c:numCache>
                <c:formatCode>General</c:formatCode>
                <c:ptCount val="4"/>
                <c:pt idx="0">
                  <c:v>0.5184</c:v>
                </c:pt>
                <c:pt idx="1">
                  <c:v>0.7612</c:v>
                </c:pt>
                <c:pt idx="2">
                  <c:v>0.7133</c:v>
                </c:pt>
                <c:pt idx="3">
                  <c:v>0.1619</c:v>
                </c:pt>
              </c:numCache>
            </c:numRef>
          </c:val>
        </c:ser>
        <c:dLbls>
          <c:numFmt formatCode="0.0000" sourceLinked="0"/>
          <c:txPr>
            <a:bodyPr/>
            <a:lstStyle/>
            <a:p>
              <a:pPr>
                <a:defRPr sz="800"/>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900"/>
            </a:pPr>
          </a:p>
        </c:txPr>
        <c:crossAx val="-2113994440"/>
        <c:crosses val="autoZero"/>
        <c:auto val="1"/>
        <c:lblAlgn val="ctr"/>
        <c:lblOffset val="100"/>
        <c:noMultiLvlLbl val="0"/>
      </c:catAx>
      <c:valAx>
        <c:axId val="-2113994440"/>
        <c:scaling>
          <c:max val="1.0"/>
          <c:min val="0.0"/>
        </c:scaling>
        <c:delete val="0"/>
        <c:axPos val="l"/>
        <c:majorGridlines/>
        <c:majorTickMark val="out"/>
        <c:minorTickMark val="none"/>
        <c:tickLblPos val="nextTo"/>
        <c:txPr>
          <a:bodyPr/>
          <a:lstStyle/>
          <a:p>
            <a:pPr>
              <a:defRPr sz="9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bar"/>
        <c:grouping val="clustered"/>
        <c:ser>
          <c:idx val="0"/>
          <c:order val="0"/>
          <c:tx>
            <c:strRef>
              <c:f>Sheet1!$B$1</c:f>
              <c:strCache>
                <c:ptCount val="1"/>
                <c:pt idx="0">
                  <c:v>Confidence</c:v>
                </c:pt>
              </c:strCache>
            </c:strRef>
          </c:tx>
          <c:cat>
            <c:strRef>
              <c:f>Sheet1!$A$2:$A$5</c:f>
              <c:strCache>
                <c:ptCount val="4"/>
                <c:pt idx="0">
                  <c:v>RAISE fast</c:v>
                </c:pt>
                <c:pt idx="1">
                  <c:v>RAISE model</c:v>
                </c:pt>
                <c:pt idx="2">
                  <c:v>Hybrid</c:v>
                </c:pt>
                <c:pt idx="3">
                  <c:v>Baseline</c:v>
                </c:pt>
              </c:strCache>
            </c:strRef>
          </c:cat>
          <c:val>
            <c:numRef>
              <c:f>Sheet1!$B$2:$B$5</c:f>
              <c:numCache>
                <c:formatCode>General</c:formatCode>
                <c:ptCount val="4"/>
                <c:pt idx="0">
                  <c:v>0.9955</c:v>
                </c:pt>
                <c:pt idx="1">
                  <c:v>0.9955</c:v>
                </c:pt>
                <c:pt idx="2">
                  <c:v>0.6579</c:v>
                </c:pt>
                <c:pt idx="3">
                  <c:v>0.4198</c:v>
                </c:pt>
              </c:numCache>
            </c:numRef>
          </c:val>
        </c:ser>
        <c:dLbls>
          <c:numFmt formatCode="0.0000" sourceLinked="0"/>
          <c:txPr>
            <a:bodyPr/>
            <a:lstStyle/>
            <a:p>
              <a:pPr>
                <a:defRPr sz="800"/>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l"/>
        <c:majorTickMark val="out"/>
        <c:minorTickMark val="none"/>
        <c:tickLblPos val="nextTo"/>
        <c:txPr>
          <a:bodyPr/>
          <a:lstStyle/>
          <a:p>
            <a:pPr>
              <a:defRPr sz="900"/>
            </a:pPr>
          </a:p>
        </c:txPr>
        <c:crossAx val="-2113994440"/>
        <c:crosses val="autoZero"/>
        <c:auto val="1"/>
        <c:lblAlgn val="ctr"/>
        <c:lblOffset val="100"/>
        <c:noMultiLvlLbl val="0"/>
      </c:catAx>
      <c:valAx>
        <c:axId val="-2113994440"/>
        <c:scaling>
          <c:max val="1.0"/>
          <c:min val="0.0"/>
        </c:scaling>
        <c:delete val="0"/>
        <c:axPos val="b"/>
        <c:majorGridlines/>
        <c:majorTickMark val="out"/>
        <c:minorTickMark val="none"/>
        <c:tickLblPos val="nextTo"/>
        <c:txPr>
          <a:bodyPr/>
          <a:lstStyle/>
          <a:p>
            <a:pPr>
              <a:defRPr sz="900"/>
            </a:pPr>
          </a:p>
        </c:tx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94621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33898551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8267239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6173779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24265333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21794277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2829140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293141850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32118151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98032933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37165064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7067587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96235348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398704789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64773418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34237552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550232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20726982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279547242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411152701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423973040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69048681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353752742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303754189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76168179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4302107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205000255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58169151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293210214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67324659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2683216373"/>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225003665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Walk the audience through the architecture left to right. Emphasize that the hybrid layer is an extension of the baseline rather than a replacement. This makes the benchmark comparisons meaningful and keeps the design interpretable. Transition suggestion: simple Fade.</a:t>
            </a:r>
          </a:p>
        </p:txBody>
      </p:sp>
      <p:sp>
        <p:nvSpPr>
          <p:cNvPr id="4" name="Slide Number Placeholder 3"/>
          <p:cNvSpPr>
            <a:spLocks noGrp="1"/>
          </p:cNvSpPr>
          <p:nvPr>
            <p:ph type="sldNum" sz="quarter" idx="5"/>
          </p:nvPr>
        </p:nvSpPr>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the dataset is extractive-friendly overall, but not trivial. The long-tail answer distribution is important because it explains why token F1 can be good even when exact match falls. This also motivates the hybrid reranker's explicit role and shape features. Transition suggestion: gentle Fade only.</a:t>
            </a:r>
          </a:p>
        </p:txBody>
      </p:sp>
      <p:sp>
        <p:nvSpPr>
          <p:cNvPr id="4" name="Slide Number Placeholder 3"/>
          <p:cNvSpPr>
            <a:spLocks noGrp="1"/>
          </p:cNvSpPr>
          <p:nvPr>
            <p:ph type="sldNum" sz="quarter" idx="5"/>
          </p:nvPr>
        </p:nvSpPr>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Describe this as a deliberate middle path between classical features and heavy transformers. The predicate flag is especially important because it anchors the semantic event of interest. Point out that the architecture is lightweight enough for offline reproducibility and rich enough for multi-task learning. Animation suggestion: fade in the architecture after the left-side explanation.</a:t>
            </a:r>
          </a:p>
        </p:txBody>
      </p:sp>
      <p:sp>
        <p:nvSpPr>
          <p:cNvPr id="4" name="Slide Number Placeholder 3"/>
          <p:cNvSpPr>
            <a:spLocks noGrp="1"/>
          </p:cNvSpPr>
          <p:nvPr>
            <p:ph type="sldNum" sz="quarter" idx="5"/>
          </p:nvPr>
        </p:nvSpPr>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is the conceptual center of the model. Explain that SRL and QA are coupled both during training and during decoding. The model does not only predict spans; it predicts spans in the context of semantic-role structure. Animation suggestion: reveal the formulas first, then the candidate-selection bullets.</a:t>
            </a:r>
          </a:p>
        </p:txBody>
      </p:sp>
      <p:sp>
        <p:nvSpPr>
          <p:cNvPr id="4" name="Slide Number Placeholder 3"/>
          <p:cNvSpPr>
            <a:spLocks noGrp="1"/>
          </p:cNvSpPr>
          <p:nvPr>
            <p:ph type="sldNum" sz="quarter" idx="5"/>
          </p:nvPr>
        </p:nvSpPr>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Frame the training setup as intentionally conservative and reproducible. The point is not raw benchmark chasing but a stable, inspectable project pipeline. Mention the saved checkpoint and the report mode as evidence that the repo is more than a notebook experiment. Animation suggestion: wipe in the loss curve from right.</a:t>
            </a:r>
          </a:p>
        </p:txBody>
      </p:sp>
      <p:sp>
        <p:nvSpPr>
          <p:cNvPr id="4" name="Slide Number Placeholder 3"/>
          <p:cNvSpPr>
            <a:spLocks noGrp="1"/>
          </p:cNvSpPr>
          <p:nvPr>
            <p:ph type="sldNum" sz="quarter" idx="5"/>
          </p:nvPr>
        </p:nvSpPr>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Clarify that there are two result regimes: the main repository metrics and the hybrid ablation suite. This separation prevents confusion between baseline training results and engineering experiments on top. Point out that the challenge set is targeted, not a replacement for the full test data. Animation suggestion: table first, then chart.</a:t>
            </a:r>
          </a:p>
        </p:txBody>
      </p:sp>
      <p:sp>
        <p:nvSpPr>
          <p:cNvPr id="4" name="Slide Number Placeholder 3"/>
          <p:cNvSpPr>
            <a:spLocks noGrp="1"/>
          </p:cNvSpPr>
          <p:nvPr>
            <p:ph type="sldNum" sz="quarter" idx="5"/>
          </p:nvPr>
        </p:nvSpPr>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Tell the audience that these are the authoritative local baseline metrics from metrics.json. Use the question-type plot to explain why the project later invests in role-aware hybrid improvements. Boundary sensitivity is especially visible for WHY and some longer WHAT answers. Animation suggestion: subtle float-in for the metric cards.</a:t>
            </a:r>
          </a:p>
        </p:txBody>
      </p:sp>
      <p:sp>
        <p:nvSpPr>
          <p:cNvPr id="4" name="Slide Number Placeholder 3"/>
          <p:cNvSpPr>
            <a:spLocks noGrp="1"/>
          </p:cNvSpPr>
          <p:nvPr>
            <p:ph type="sldNum" sz="quarter" idx="5"/>
          </p:nvPr>
        </p:nvSpPr>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micro versus macro carefully. Micro captures overall usefulness on the frequent roles; macro exposes the difficulty of the rare label tail. This slide supports an honest and credible discussion of baseline quality. Animation suggestion: chart fade only.</a:t>
            </a:r>
          </a:p>
        </p:txBody>
      </p:sp>
      <p:sp>
        <p:nvSpPr>
          <p:cNvPr id="4" name="Slide Number Placeholder 3"/>
          <p:cNvSpPr>
            <a:spLocks noGrp="1"/>
          </p:cNvSpPr>
          <p:nvPr>
            <p:ph type="sldNum" sz="quarter" idx="5"/>
          </p:nvPr>
        </p:nvSpPr>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the tables for precise reporting and the heatmap for intuition. This slide should set up the story that the hybrid system is targeting specific weaknesses rather than replacing a bad baseline. Animation suggestion: bring in the two tables together, then the heatmap.</a:t>
            </a:r>
          </a:p>
        </p:txBody>
      </p:sp>
      <p:sp>
        <p:nvSpPr>
          <p:cNvPr id="4" name="Slide Number Placeholder 3"/>
          <p:cNvSpPr>
            <a:spLocks noGrp="1"/>
          </p:cNvSpPr>
          <p:nvPr>
            <p:ph type="sldNum" sz="quarter" idx="5"/>
          </p:nvPr>
        </p:nvSpPr>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the confusion matrix is not only a diagnostic; it also shapes the hybrid design. A high-confidence span can still be semantically wrong, so role-aware reranking is a natural extension. Animation suggestion: no complex transitions; use a static display for readability.</a:t>
            </a:r>
          </a:p>
        </p:txBody>
      </p:sp>
      <p:sp>
        <p:nvSpPr>
          <p:cNvPr id="4" name="Slide Number Placeholder 3"/>
          <p:cNvSpPr>
            <a:spLocks noGrp="1"/>
          </p:cNvSpPr>
          <p:nvPr>
            <p:ph type="sldNum" sz="quarter" idx="5"/>
          </p:nvPr>
        </p:nvSpPr>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one of the strongest result slides. Frame it as evidence that role-aware reasoning changes answer behavior substantially on targeted semantic questions. Also point out that the cheapest upgraded path already captures the main gain. Animation suggestion: table first, then figure.</a:t>
            </a:r>
          </a:p>
        </p:txBody>
      </p:sp>
      <p:sp>
        <p:nvSpPr>
          <p:cNvPr id="4" name="Slide Number Placeholder 3"/>
          <p:cNvSpPr>
            <a:spLocks noGrp="1"/>
          </p:cNvSpPr>
          <p:nvPr>
            <p:ph type="sldNum" sz="quarter" idx="5"/>
          </p:nvPr>
        </p:nvSpPr>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Present this slide honestly: the hybrid extension helps, but not uniformly or magically. This strengthens the credibility of the project because it reports trade-offs rather than only best cases. Animation suggestion: simple fade.</a:t>
            </a:r>
          </a:p>
        </p:txBody>
      </p:sp>
      <p:sp>
        <p:nvSpPr>
          <p:cNvPr id="4" name="Slide Number Placeholder 3"/>
          <p:cNvSpPr>
            <a:spLocks noGrp="1"/>
          </p:cNvSpPr>
          <p:nvPr>
            <p:ph type="sldNum" sz="quarter" idx="5"/>
          </p:nvPr>
        </p:nvSpPr>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slide to explain why a semantic-role-aware system can outperform a pure span reader on certain categories. The benefit is not random; it is concentrated where role expectation matters. Animation suggestion: no motion beyond default fade.</a:t>
            </a:r>
          </a:p>
        </p:txBody>
      </p:sp>
      <p:sp>
        <p:nvSpPr>
          <p:cNvPr id="4" name="Slide Number Placeholder 3"/>
          <p:cNvSpPr>
            <a:spLocks noGrp="1"/>
          </p:cNvSpPr>
          <p:nvPr>
            <p:ph type="sldNum" sz="quarter" idx="5"/>
          </p:nvPr>
        </p:nvSpPr>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Tie this slide directly back to the reranker's role-match feature. The audience should see that the hybrid system is structurally motivated, not just a bundle of extra tricks. Animation suggestion: static display.</a:t>
            </a:r>
          </a:p>
        </p:txBody>
      </p:sp>
      <p:sp>
        <p:nvSpPr>
          <p:cNvPr id="4" name="Slide Number Placeholder 3"/>
          <p:cNvSpPr>
            <a:spLocks noGrp="1"/>
          </p:cNvSpPr>
          <p:nvPr>
            <p:ph type="sldNum" sz="quarter" idx="5"/>
          </p:nvPr>
        </p:nvSpPr>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 clean demonstration of the hybrid value proposition. The location heuristic proposes a role-compatible span and the reranker selects it over the baseline's larger ARG1-like answer. Use this as a live-demo backup example if needed. Animation suggestion: show the candidate table after summarizing the question.</a:t>
            </a:r>
          </a:p>
        </p:txBody>
      </p:sp>
      <p:sp>
        <p:nvSpPr>
          <p:cNvPr id="4" name="Slide Number Placeholder 3"/>
          <p:cNvSpPr>
            <a:spLocks noGrp="1"/>
          </p:cNvSpPr>
          <p:nvPr>
            <p:ph type="sldNum" sz="quarter" idx="5"/>
          </p:nvPr>
        </p:nvSpPr>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Use this slide to illustrate that the hybrid logic generalizes beyond one case. The manner example shows how adverbial cues help; the recipient example shows how transfer-verb structure helps ARG2 selection. Animation suggestion: reveal the right panel after covering the left example.</a:t>
            </a:r>
          </a:p>
        </p:txBody>
      </p:sp>
      <p:sp>
        <p:nvSpPr>
          <p:cNvPr id="4" name="Slide Number Placeholder 3"/>
          <p:cNvSpPr>
            <a:spLocks noGrp="1"/>
          </p:cNvSpPr>
          <p:nvPr>
            <p:ph type="sldNum" sz="quarter" idx="5"/>
          </p:nvPr>
        </p:nvSpPr>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makes the engineering case for the project. The strongest practical improvement comes from a transparent heuristic-semantic layer, not from the heaviest model. That is a meaningful contribution because it changes what a student-scale project can do locally. Animation suggestion: cards rise in after the bullets.</a:t>
            </a:r>
          </a:p>
        </p:txBody>
      </p:sp>
      <p:sp>
        <p:nvSpPr>
          <p:cNvPr id="4" name="Slide Number Placeholder 3"/>
          <p:cNvSpPr>
            <a:spLocks noGrp="1"/>
          </p:cNvSpPr>
          <p:nvPr>
            <p:ph type="sldNum" sz="quarter" idx="5"/>
          </p:nvPr>
        </p:nvSpPr>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Position innovation as system-level coherence. The deck should not imply that every subcomponent is individually unprecedented; the strength is in how they work together. Animation suggestion: reveal the four cards in sequence.</a:t>
            </a:r>
          </a:p>
        </p:txBody>
      </p:sp>
      <p:sp>
        <p:nvSpPr>
          <p:cNvPr id="4" name="Slide Number Placeholder 3"/>
          <p:cNvSpPr>
            <a:spLocks noGrp="1"/>
          </p:cNvSpPr>
          <p:nvPr>
            <p:ph type="sldNum" sz="quarter" idx="5"/>
          </p:nvPr>
        </p:nvSpPr>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that role-aware parsing is a lightweight but powerful design choice. It is one of the cleanest bridges between structured semantics and question answering behavior. Animation suggestion: no special effects beyond a fade.</a:t>
            </a:r>
          </a:p>
        </p:txBody>
      </p:sp>
      <p:sp>
        <p:nvSpPr>
          <p:cNvPr id="4" name="Slide Number Placeholder 3"/>
          <p:cNvSpPr>
            <a:spLocks noGrp="1"/>
          </p:cNvSpPr>
          <p:nvPr>
            <p:ph type="sldNum" sz="quarter" idx="5"/>
          </p:nvPr>
        </p:nvSpPr>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Stress that transparent scoring is a design choice, not a compromise. It lets the project explain why an answer won, not only that it won. Animation suggestion: one-stage reveal for the table, then the chart.</a:t>
            </a:r>
          </a:p>
        </p:txBody>
      </p:sp>
      <p:sp>
        <p:nvSpPr>
          <p:cNvPr id="4" name="Slide Number Placeholder 3"/>
          <p:cNvSpPr>
            <a:spLocks noGrp="1"/>
          </p:cNvSpPr>
          <p:nvPr>
            <p:ph type="sldNum" sz="quarter" idx="5"/>
          </p:nvPr>
        </p:nvSpPr>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slide is extremely useful in viva-style questioning. It shows that the project knows where it sits in the literature and what trade-offs it intentionally makes. Animation suggestion: none; the table should stay readable.</a:t>
            </a:r>
          </a:p>
        </p:txBody>
      </p:sp>
      <p:sp>
        <p:nvSpPr>
          <p:cNvPr id="4" name="Slide Number Placeholder 3"/>
          <p:cNvSpPr>
            <a:spLocks noGrp="1"/>
          </p:cNvSpPr>
          <p:nvPr>
            <p:ph type="sldNum" sz="quarter" idx="5"/>
          </p:nvPr>
        </p:nvSpPr>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834992805"/>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54</a:t>
            </a:fld>
            <a:endParaRPr lang="en-US"/>
          </a:p>
        </p:txBody>
      </p:sp>
    </p:spTree>
    <p:extLst>
      <p:ext uri="{BB962C8B-B14F-4D97-AF65-F5344CB8AC3E}">
        <p14:creationId xmlns:p14="http://schemas.microsoft.com/office/powerpoint/2010/main" val="3122682680"/>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55</a:t>
            </a:fld>
            <a:endParaRPr lang="en-US"/>
          </a:p>
        </p:txBody>
      </p:sp>
    </p:spTree>
    <p:extLst>
      <p:ext uri="{BB962C8B-B14F-4D97-AF65-F5344CB8AC3E}">
        <p14:creationId xmlns:p14="http://schemas.microsoft.com/office/powerpoint/2010/main" val="2172658394"/>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56</a:t>
            </a:fld>
            <a:endParaRPr lang="en-US"/>
          </a:p>
        </p:txBody>
      </p:sp>
    </p:spTree>
    <p:extLst>
      <p:ext uri="{BB962C8B-B14F-4D97-AF65-F5344CB8AC3E}">
        <p14:creationId xmlns:p14="http://schemas.microsoft.com/office/powerpoint/2010/main" val="3021613117"/>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57</a:t>
            </a:fld>
            <a:endParaRPr lang="en-US"/>
          </a:p>
        </p:txBody>
      </p:sp>
    </p:spTree>
    <p:extLst>
      <p:ext uri="{BB962C8B-B14F-4D97-AF65-F5344CB8AC3E}">
        <p14:creationId xmlns:p14="http://schemas.microsoft.com/office/powerpoint/2010/main" val="3947986862"/>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58</a:t>
            </a:fld>
            <a:endParaRPr lang="en-US"/>
          </a:p>
        </p:txBody>
      </p:sp>
    </p:spTree>
    <p:extLst>
      <p:ext uri="{BB962C8B-B14F-4D97-AF65-F5344CB8AC3E}">
        <p14:creationId xmlns:p14="http://schemas.microsoft.com/office/powerpoint/2010/main" val="3841088759"/>
      </p:ext>
    </p:extLst>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59</a:t>
            </a:fld>
            <a:endParaRPr lang="en-US"/>
          </a:p>
        </p:txBody>
      </p:sp>
    </p:spTree>
    <p:extLst>
      <p:ext uri="{BB962C8B-B14F-4D97-AF65-F5344CB8AC3E}">
        <p14:creationId xmlns:p14="http://schemas.microsoft.com/office/powerpoint/2010/main" val="4083616337"/>
      </p:ext>
    </p:extLst>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60</a:t>
            </a:fld>
            <a:endParaRPr lang="en-US"/>
          </a:p>
        </p:txBody>
      </p:sp>
    </p:spTree>
    <p:extLst>
      <p:ext uri="{BB962C8B-B14F-4D97-AF65-F5344CB8AC3E}">
        <p14:creationId xmlns:p14="http://schemas.microsoft.com/office/powerpoint/2010/main" val="1701277986"/>
      </p:ext>
    </p:extLst>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61</a:t>
            </a:fld>
            <a:endParaRPr lang="en-US"/>
          </a:p>
        </p:txBody>
      </p:sp>
    </p:spTree>
    <p:extLst>
      <p:ext uri="{BB962C8B-B14F-4D97-AF65-F5344CB8AC3E}">
        <p14:creationId xmlns:p14="http://schemas.microsoft.com/office/powerpoint/2010/main" val="3910486926"/>
      </p:ext>
    </p:extLst>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62</a:t>
            </a:fld>
            <a:endParaRPr lang="en-US"/>
          </a:p>
        </p:txBody>
      </p:sp>
    </p:spTree>
    <p:extLst>
      <p:ext uri="{BB962C8B-B14F-4D97-AF65-F5344CB8AC3E}">
        <p14:creationId xmlns:p14="http://schemas.microsoft.com/office/powerpoint/2010/main" val="1032828050"/>
      </p:ext>
    </p:extLst>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63</a:t>
            </a:fld>
            <a:endParaRPr lang="en-US"/>
          </a:p>
        </p:txBody>
      </p:sp>
    </p:spTree>
    <p:extLst>
      <p:ext uri="{BB962C8B-B14F-4D97-AF65-F5344CB8AC3E}">
        <p14:creationId xmlns:p14="http://schemas.microsoft.com/office/powerpoint/2010/main" val="2885733346"/>
      </p:ext>
    </p:extLst>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64</a:t>
            </a:fld>
            <a:endParaRPr lang="en-US"/>
          </a:p>
        </p:txBody>
      </p:sp>
    </p:spTree>
    <p:extLst>
      <p:ext uri="{BB962C8B-B14F-4D97-AF65-F5344CB8AC3E}">
        <p14:creationId xmlns:p14="http://schemas.microsoft.com/office/powerpoint/2010/main" val="2199373206"/>
      </p:ext>
    </p:extLst>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65</a:t>
            </a:fld>
            <a:endParaRPr lang="en-US"/>
          </a:p>
        </p:txBody>
      </p:sp>
    </p:spTree>
    <p:extLst>
      <p:ext uri="{BB962C8B-B14F-4D97-AF65-F5344CB8AC3E}">
        <p14:creationId xmlns:p14="http://schemas.microsoft.com/office/powerpoint/2010/main" val="49854707"/>
      </p:ext>
    </p:extLst>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66</a:t>
            </a:fld>
            <a:endParaRPr lang="en-US"/>
          </a:p>
        </p:txBody>
      </p:sp>
    </p:spTree>
    <p:extLst>
      <p:ext uri="{BB962C8B-B14F-4D97-AF65-F5344CB8AC3E}">
        <p14:creationId xmlns:p14="http://schemas.microsoft.com/office/powerpoint/2010/main" val="66914584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4/7/2026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4/7/2026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4/7/2026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4/7/2026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4/7/2026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2500112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4/7/2026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2.png"/><Relationship Id="rId5" Type="http://schemas.openxmlformats.org/officeDocument/2006/relationships/image" Target="../media/image3.png"/><Relationship Id="rId6" Type="http://schemas.openxmlformats.org/officeDocument/2006/relationships/image" Target="../media/image4.png"/><Relationship Id="rId7" Type="http://schemas.openxmlformats.org/officeDocument/2006/relationships/image" Target="../media/image5.png"/><Relationship Id="rId8"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7.webp"/></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8.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chart" Target="../charts/char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5.xml"/><Relationship Id="rId3" Type="http://schemas.openxmlformats.org/officeDocument/2006/relationships/chart" Target="../charts/char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6.xml"/><Relationship Id="rId3" Type="http://schemas.openxmlformats.org/officeDocument/2006/relationships/chart" Target="../charts/char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8.xml"/><Relationship Id="rId3" Type="http://schemas.openxmlformats.org/officeDocument/2006/relationships/image" Target="../media/image12.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9.xml"/><Relationship Id="rId3" Type="http://schemas.openxmlformats.org/officeDocument/2006/relationships/chart" Target="../charts/char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0.xml"/><Relationship Id="rId3" Type="http://schemas.openxmlformats.org/officeDocument/2006/relationships/image" Target="../media/image13.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image" Target="../media/image1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 Id="rId3" Type="http://schemas.openxmlformats.org/officeDocument/2006/relationships/image" Target="../media/image16.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 Id="rId3" Type="http://schemas.openxmlformats.org/officeDocument/2006/relationships/image" Target="../media/image17.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 Id="rId3" Type="http://schemas.openxmlformats.org/officeDocument/2006/relationships/image" Target="../media/image18.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 Id="rId3" Type="http://schemas.openxmlformats.org/officeDocument/2006/relationships/image" Target="../media/image19.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 Id="rId3" Type="http://schemas.openxmlformats.org/officeDocument/2006/relationships/image" Target="../media/image2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 Id="rId3" Type="http://schemas.openxmlformats.org/officeDocument/2006/relationships/image" Target="../media/image2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 Id="rId3" Type="http://schemas.openxmlformats.org/officeDocument/2006/relationships/image" Target="../media/image22.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 Id="rId3" Type="http://schemas.openxmlformats.org/officeDocument/2006/relationships/image" Target="../media/image2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 Id="rId3" Type="http://schemas.openxmlformats.org/officeDocument/2006/relationships/image" Target="../media/image24.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 Id="rId3" Type="http://schemas.openxmlformats.org/officeDocument/2006/relationships/image" Target="../media/image25.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 Id="rId3" Type="http://schemas.openxmlformats.org/officeDocument/2006/relationships/image" Target="../media/image26.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 Id="rId3" Type="http://schemas.openxmlformats.org/officeDocument/2006/relationships/image" Target="../media/image2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2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 Id="rId3" Type="http://schemas.openxmlformats.org/officeDocument/2006/relationships/image" Target="../media/image28.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8.xml"/><Relationship Id="rId3" Type="http://schemas.openxmlformats.org/officeDocument/2006/relationships/image" Target="../media/image2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 Id="rId3" Type="http://schemas.openxmlformats.org/officeDocument/2006/relationships/image" Target="../media/image16.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0.xml"/><Relationship Id="rId3" Type="http://schemas.openxmlformats.org/officeDocument/2006/relationships/image" Target="../media/image19.pn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1.xml"/><Relationship Id="rId3" Type="http://schemas.openxmlformats.org/officeDocument/2006/relationships/image" Target="../media/image29.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A1628"/>
        </a:solidFill>
        <a:effectLst/>
      </p:bgPr>
    </p:bg>
    <p:spTree>
      <p:nvGrpSpPr>
        <p:cNvPr id="1" name=""/>
        <p:cNvGrpSpPr/>
        <p:nvPr/>
      </p:nvGrpSpPr>
      <p:grpSpPr>
        <a:xfrm>
          <a:off x="0" y="0"/>
          <a:ext cx="0" cy="0"/>
          <a:chOff x="0" y="0"/>
          <a:chExt cx="0" cy="0"/>
        </a:xfrm>
      </p:grpSpPr>
      <p:sp>
        <p:nvSpPr>
          <p:cNvPr id="2" name="Shape 0"/>
          <p:cNvSpPr/>
          <p:nvPr/>
        </p:nvSpPr>
        <p:spPr>
          <a:xfrm>
            <a:off x="0" y="0"/>
            <a:ext cx="304800" cy="6858000"/>
          </a:xfrm>
          <a:prstGeom prst="rect">
            <a:avLst/>
          </a:prstGeom>
          <a:solidFill>
            <a:srgbClr val="F0A500"/>
          </a:solidFill>
          <a:ln w="12700">
            <a:solidFill>
              <a:srgbClr val="F0A500"/>
            </a:solidFill>
            <a:prstDash val="solid"/>
          </a:ln>
        </p:spPr>
      </p:sp>
      <p:sp>
        <p:nvSpPr>
          <p:cNvPr id="3" name="Shape 1"/>
          <p:cNvSpPr/>
          <p:nvPr/>
        </p:nvSpPr>
        <p:spPr>
          <a:xfrm>
            <a:off x="7559040" y="-1828800"/>
            <a:ext cx="6705600" cy="6705600"/>
          </a:xfrm>
          <a:prstGeom prst="ellipse">
            <a:avLst/>
          </a:prstGeom>
          <a:solidFill>
            <a:srgbClr val="1A4E8C">
              <a:alpha val="25000"/>
            </a:srgbClr>
          </a:solidFill>
          <a:ln w="12700">
            <a:solidFill>
              <a:srgbClr val="1A4E8C"/>
            </a:solidFill>
            <a:prstDash val="solid"/>
          </a:ln>
        </p:spPr>
      </p:sp>
      <p:sp>
        <p:nvSpPr>
          <p:cNvPr id="4" name="Shape 2"/>
          <p:cNvSpPr/>
          <p:nvPr/>
        </p:nvSpPr>
        <p:spPr>
          <a:xfrm>
            <a:off x="8534400" y="2682240"/>
            <a:ext cx="4267200" cy="4267200"/>
          </a:xfrm>
          <a:prstGeom prst="ellipse">
            <a:avLst/>
          </a:prstGeom>
          <a:solidFill>
            <a:srgbClr val="0D7A8A">
              <a:alpha val="20000"/>
            </a:srgbClr>
          </a:solidFill>
          <a:ln w="12700">
            <a:solidFill>
              <a:srgbClr val="0D7A8A"/>
            </a:solidFill>
            <a:prstDash val="solid"/>
          </a:ln>
        </p:spPr>
      </p:sp>
      <p:sp>
        <p:nvSpPr>
          <p:cNvPr id="5" name="Shape 3"/>
          <p:cNvSpPr/>
          <p:nvPr/>
        </p:nvSpPr>
        <p:spPr>
          <a:xfrm>
            <a:off x="670560" y="731520"/>
            <a:ext cx="3413760" cy="390144"/>
          </a:xfrm>
          <a:prstGeom prst="rect">
            <a:avLst/>
          </a:prstGeom>
          <a:solidFill>
            <a:srgbClr val="F0A500"/>
          </a:solidFill>
          <a:ln w="12700">
            <a:solidFill>
              <a:srgbClr val="F0A500"/>
            </a:solidFill>
            <a:prstDash val="solid"/>
          </a:ln>
        </p:spPr>
      </p:sp>
      <p:sp>
        <p:nvSpPr>
          <p:cNvPr id="6" name="Text 4"/>
          <p:cNvSpPr/>
          <p:nvPr/>
        </p:nvSpPr>
        <p:spPr>
          <a:xfrm>
            <a:off x="670560" y="731520"/>
            <a:ext cx="3413760" cy="390144"/>
          </a:xfrm>
          <a:prstGeom prst="rect">
            <a:avLst/>
          </a:prstGeom>
          <a:noFill/>
          <a:ln/>
        </p:spPr>
        <p:txBody>
          <a:bodyPr wrap="square" lIns="0" tIns="0" rIns="0" bIns="0" rtlCol="0" anchor="ctr"/>
          <a:lstStyle/>
          <a:p>
            <a:pPr algn="ctr"/>
            <a:r>
              <a:rPr lang="en-US" sz="1200" b="1" dirty="0">
                <a:solidFill>
                  <a:srgbClr val="0A1628"/>
                </a:solidFill>
              </a:rPr>
              <a:t>NLP · SRL · Question Answering</a:t>
            </a:r>
            <a:endParaRPr lang="en-US" sz="1200" dirty="0"/>
          </a:p>
        </p:txBody>
      </p:sp>
      <p:sp>
        <p:nvSpPr>
          <p:cNvPr id="7" name="Text 5"/>
          <p:cNvSpPr/>
          <p:nvPr/>
        </p:nvSpPr>
        <p:spPr>
          <a:xfrm>
            <a:off x="670560" y="1341120"/>
            <a:ext cx="10363200" cy="914400"/>
          </a:xfrm>
          <a:prstGeom prst="rect">
            <a:avLst/>
          </a:prstGeom>
          <a:noFill/>
          <a:ln/>
        </p:spPr>
        <p:txBody>
          <a:bodyPr wrap="square" lIns="0" tIns="0" rIns="0" bIns="0" rtlCol="0" anchor="ctr"/>
          <a:lstStyle/>
          <a:p>
            <a:r>
              <a:rPr lang="en-US" sz="5600" b="1" dirty="0">
                <a:solidFill>
                  <a:srgbClr val="FFFFFF"/>
                </a:solidFill>
                <a:latin typeface="Cambria" pitchFamily="34" charset="0"/>
                <a:ea typeface="Cambria" pitchFamily="34" charset="-122"/>
                <a:cs typeface="Cambria" pitchFamily="34" charset="-120"/>
              </a:rPr>
              <a:t>Question Answering</a:t>
            </a:r>
            <a:endParaRPr lang="en-US" sz="5600" dirty="0"/>
          </a:p>
        </p:txBody>
      </p:sp>
      <p:sp>
        <p:nvSpPr>
          <p:cNvPr id="8" name="Text 6"/>
          <p:cNvSpPr/>
          <p:nvPr/>
        </p:nvSpPr>
        <p:spPr>
          <a:xfrm>
            <a:off x="670560" y="2194560"/>
            <a:ext cx="10363200" cy="914400"/>
          </a:xfrm>
          <a:prstGeom prst="rect">
            <a:avLst/>
          </a:prstGeom>
          <a:noFill/>
          <a:ln/>
        </p:spPr>
        <p:txBody>
          <a:bodyPr wrap="square" lIns="0" tIns="0" rIns="0" bIns="0" rtlCol="0" anchor="ctr"/>
          <a:lstStyle/>
          <a:p>
            <a:r>
              <a:rPr lang="en-US" sz="5600" b="1" dirty="0">
                <a:solidFill>
                  <a:srgbClr val="F0A500"/>
                </a:solidFill>
                <a:latin typeface="Cambria" pitchFamily="34" charset="0"/>
                <a:ea typeface="Cambria" pitchFamily="34" charset="-122"/>
                <a:cs typeface="Cambria" pitchFamily="34" charset="-120"/>
              </a:rPr>
              <a:t>Using Semantic Roles</a:t>
            </a:r>
            <a:endParaRPr lang="en-US" sz="5600" dirty="0"/>
          </a:p>
        </p:txBody>
      </p:sp>
      <p:sp>
        <p:nvSpPr>
          <p:cNvPr id="9" name="Text 7"/>
          <p:cNvSpPr/>
          <p:nvPr/>
        </p:nvSpPr>
        <p:spPr>
          <a:xfrm>
            <a:off x="670560" y="3230880"/>
            <a:ext cx="9144000" cy="487680"/>
          </a:xfrm>
          <a:prstGeom prst="rect">
            <a:avLst/>
          </a:prstGeom>
          <a:noFill/>
          <a:ln/>
        </p:spPr>
        <p:txBody>
          <a:bodyPr wrap="square" lIns="0" tIns="0" rIns="0" bIns="0" rtlCol="0" anchor="ctr"/>
          <a:lstStyle/>
          <a:p>
            <a:r>
              <a:rPr lang="en-US" sz="2000" i="1" dirty="0">
                <a:solidFill>
                  <a:srgbClr val="CBD5E1"/>
                </a:solidFill>
                <a:latin typeface="Calibri" pitchFamily="34" charset="0"/>
                <a:ea typeface="Calibri" pitchFamily="34" charset="-122"/>
                <a:cs typeface="Calibri" pitchFamily="34" charset="-120"/>
              </a:rPr>
              <a:t>SRL-based QA with PropBank · NLTK · Deep Semantic Analysis</a:t>
            </a:r>
            <a:endParaRPr lang="en-US" sz="2000" dirty="0"/>
          </a:p>
        </p:txBody>
      </p:sp>
      <p:sp>
        <p:nvSpPr>
          <p:cNvPr id="10" name="Shape 8"/>
          <p:cNvSpPr/>
          <p:nvPr/>
        </p:nvSpPr>
        <p:spPr>
          <a:xfrm>
            <a:off x="670560" y="3877056"/>
            <a:ext cx="4267200" cy="48768"/>
          </a:xfrm>
          <a:prstGeom prst="rect">
            <a:avLst/>
          </a:prstGeom>
          <a:solidFill>
            <a:srgbClr val="F0A500"/>
          </a:solidFill>
          <a:ln w="12700">
            <a:solidFill>
              <a:srgbClr val="F0A500"/>
            </a:solidFill>
            <a:prstDash val="solid"/>
          </a:ln>
        </p:spPr>
      </p:sp>
      <p:sp>
        <p:nvSpPr>
          <p:cNvPr id="11" name="Text 9"/>
          <p:cNvSpPr/>
          <p:nvPr/>
        </p:nvSpPr>
        <p:spPr>
          <a:xfrm>
            <a:off x="670560" y="4120896"/>
            <a:ext cx="9753600" cy="365760"/>
          </a:xfrm>
          <a:prstGeom prst="rect">
            <a:avLst/>
          </a:prstGeom>
          <a:noFill/>
          <a:ln/>
        </p:spPr>
        <p:txBody>
          <a:bodyPr wrap="square" lIns="0" tIns="0" rIns="0" bIns="0" rtlCol="0" anchor="ctr"/>
          <a:lstStyle/>
          <a:p>
            <a:r>
              <a:rPr lang="en-US" sz="1467" dirty="0">
                <a:solidFill>
                  <a:srgbClr val="CBD5E1"/>
                </a:solidFill>
                <a:latin typeface="Calibri" pitchFamily="34" charset="0"/>
                <a:ea typeface="Calibri" pitchFamily="34" charset="-122"/>
                <a:cs typeface="Calibri" pitchFamily="34" charset="-120"/>
              </a:rPr>
              <a:t>  NLP Project  |  2026</a:t>
            </a:r>
            <a:endParaRPr lang="en-US" sz="1467" dirty="0"/>
          </a:p>
        </p:txBody>
      </p:sp>
      <p:sp>
        <p:nvSpPr>
          <p:cNvPr id="12" name="Shape 10"/>
          <p:cNvSpPr/>
          <p:nvPr/>
        </p:nvSpPr>
        <p:spPr>
          <a:xfrm>
            <a:off x="670560" y="4876800"/>
            <a:ext cx="560832" cy="560832"/>
          </a:xfrm>
          <a:prstGeom prst="ellipse">
            <a:avLst/>
          </a:prstGeom>
          <a:solidFill>
            <a:srgbClr val="1A4E8C"/>
          </a:solidFill>
          <a:ln w="12700">
            <a:solidFill>
              <a:srgbClr val="F0A500"/>
            </a:solidFill>
            <a:prstDash val="solid"/>
          </a:ln>
        </p:spPr>
      </p:sp>
      <p:pic>
        <p:nvPicPr>
          <p:cNvPr id="13" name="Image 0" descr="preencoded.png"/>
          <p:cNvPicPr>
            <a:picLocks noChangeAspect="1"/>
          </p:cNvPicPr>
          <p:nvPr/>
        </p:nvPicPr>
        <p:blipFill>
          <a:blip r:embed="rId3"/>
          <a:stretch>
            <a:fillRect/>
          </a:stretch>
        </p:blipFill>
        <p:spPr>
          <a:xfrm>
            <a:off x="743712" y="4962144"/>
            <a:ext cx="414528" cy="414528"/>
          </a:xfrm>
          <a:prstGeom prst="rect">
            <a:avLst/>
          </a:prstGeom>
        </p:spPr>
      </p:pic>
      <p:sp>
        <p:nvSpPr>
          <p:cNvPr id="14" name="Text 11"/>
          <p:cNvSpPr/>
          <p:nvPr/>
        </p:nvSpPr>
        <p:spPr>
          <a:xfrm>
            <a:off x="487680" y="5535168"/>
            <a:ext cx="926592" cy="304800"/>
          </a:xfrm>
          <a:prstGeom prst="rect">
            <a:avLst/>
          </a:prstGeom>
          <a:noFill/>
          <a:ln/>
        </p:spPr>
        <p:txBody>
          <a:bodyPr wrap="square" lIns="0" tIns="0" rIns="0" bIns="0" rtlCol="0" anchor="ctr"/>
          <a:lstStyle/>
          <a:p>
            <a:pPr algn="ctr"/>
            <a:r>
              <a:rPr lang="en-US" sz="1067" dirty="0">
                <a:solidFill>
                  <a:srgbClr val="CBD5E1"/>
                </a:solidFill>
              </a:rPr>
              <a:t>Survey</a:t>
            </a:r>
            <a:endParaRPr lang="en-US" sz="1067" dirty="0"/>
          </a:p>
        </p:txBody>
      </p:sp>
      <p:sp>
        <p:nvSpPr>
          <p:cNvPr id="15" name="Shape 12"/>
          <p:cNvSpPr/>
          <p:nvPr/>
        </p:nvSpPr>
        <p:spPr>
          <a:xfrm>
            <a:off x="2560320" y="4876800"/>
            <a:ext cx="560832" cy="560832"/>
          </a:xfrm>
          <a:prstGeom prst="ellipse">
            <a:avLst/>
          </a:prstGeom>
          <a:solidFill>
            <a:srgbClr val="1A4E8C"/>
          </a:solidFill>
          <a:ln w="12700">
            <a:solidFill>
              <a:srgbClr val="F0A500"/>
            </a:solidFill>
            <a:prstDash val="solid"/>
          </a:ln>
        </p:spPr>
      </p:sp>
      <p:pic>
        <p:nvPicPr>
          <p:cNvPr id="16" name="Image 1" descr="preencoded.png"/>
          <p:cNvPicPr>
            <a:picLocks noChangeAspect="1"/>
          </p:cNvPicPr>
          <p:nvPr/>
        </p:nvPicPr>
        <p:blipFill>
          <a:blip r:embed="rId4"/>
          <a:stretch>
            <a:fillRect/>
          </a:stretch>
        </p:blipFill>
        <p:spPr>
          <a:xfrm>
            <a:off x="2633472" y="4962144"/>
            <a:ext cx="414528" cy="414528"/>
          </a:xfrm>
          <a:prstGeom prst="rect">
            <a:avLst/>
          </a:prstGeom>
        </p:spPr>
      </p:pic>
      <p:sp>
        <p:nvSpPr>
          <p:cNvPr id="17" name="Text 13"/>
          <p:cNvSpPr/>
          <p:nvPr/>
        </p:nvSpPr>
        <p:spPr>
          <a:xfrm>
            <a:off x="2377440" y="5535168"/>
            <a:ext cx="926592" cy="304800"/>
          </a:xfrm>
          <a:prstGeom prst="rect">
            <a:avLst/>
          </a:prstGeom>
          <a:noFill/>
          <a:ln/>
        </p:spPr>
        <p:txBody>
          <a:bodyPr wrap="square" lIns="0" tIns="0" rIns="0" bIns="0" rtlCol="0" anchor="ctr"/>
          <a:lstStyle/>
          <a:p>
            <a:pPr algn="ctr"/>
            <a:r>
              <a:rPr lang="en-US" sz="1067" dirty="0">
                <a:solidFill>
                  <a:srgbClr val="CBD5E1"/>
                </a:solidFill>
              </a:rPr>
              <a:t>Analysis</a:t>
            </a:r>
            <a:endParaRPr lang="en-US" sz="1067" dirty="0"/>
          </a:p>
        </p:txBody>
      </p:sp>
      <p:sp>
        <p:nvSpPr>
          <p:cNvPr id="18" name="Shape 14"/>
          <p:cNvSpPr/>
          <p:nvPr/>
        </p:nvSpPr>
        <p:spPr>
          <a:xfrm>
            <a:off x="4450080" y="4876800"/>
            <a:ext cx="560832" cy="560832"/>
          </a:xfrm>
          <a:prstGeom prst="ellipse">
            <a:avLst/>
          </a:prstGeom>
          <a:solidFill>
            <a:srgbClr val="1A4E8C"/>
          </a:solidFill>
          <a:ln w="12700">
            <a:solidFill>
              <a:srgbClr val="F0A500"/>
            </a:solidFill>
            <a:prstDash val="solid"/>
          </a:ln>
        </p:spPr>
      </p:sp>
      <p:pic>
        <p:nvPicPr>
          <p:cNvPr id="19" name="Image 2" descr="preencoded.png"/>
          <p:cNvPicPr>
            <a:picLocks noChangeAspect="1"/>
          </p:cNvPicPr>
          <p:nvPr/>
        </p:nvPicPr>
        <p:blipFill>
          <a:blip r:embed="rId5"/>
          <a:stretch>
            <a:fillRect/>
          </a:stretch>
        </p:blipFill>
        <p:spPr>
          <a:xfrm>
            <a:off x="4523232" y="4962144"/>
            <a:ext cx="414528" cy="414528"/>
          </a:xfrm>
          <a:prstGeom prst="rect">
            <a:avLst/>
          </a:prstGeom>
        </p:spPr>
      </p:pic>
      <p:sp>
        <p:nvSpPr>
          <p:cNvPr id="20" name="Text 15"/>
          <p:cNvSpPr/>
          <p:nvPr/>
        </p:nvSpPr>
        <p:spPr>
          <a:xfrm>
            <a:off x="4267200" y="5535168"/>
            <a:ext cx="926592" cy="304800"/>
          </a:xfrm>
          <a:prstGeom prst="rect">
            <a:avLst/>
          </a:prstGeom>
          <a:noFill/>
          <a:ln/>
        </p:spPr>
        <p:txBody>
          <a:bodyPr wrap="square" lIns="0" tIns="0" rIns="0" bIns="0" rtlCol="0" anchor="ctr"/>
          <a:lstStyle/>
          <a:p>
            <a:pPr algn="ctr"/>
            <a:r>
              <a:rPr lang="en-US" sz="1067" dirty="0">
                <a:solidFill>
                  <a:srgbClr val="CBD5E1"/>
                </a:solidFill>
              </a:rPr>
              <a:t>PropBank</a:t>
            </a:r>
            <a:endParaRPr lang="en-US" sz="1067" dirty="0"/>
          </a:p>
        </p:txBody>
      </p:sp>
      <p:sp>
        <p:nvSpPr>
          <p:cNvPr id="21" name="Shape 16"/>
          <p:cNvSpPr/>
          <p:nvPr/>
        </p:nvSpPr>
        <p:spPr>
          <a:xfrm>
            <a:off x="6339840" y="4876800"/>
            <a:ext cx="560832" cy="560832"/>
          </a:xfrm>
          <a:prstGeom prst="ellipse">
            <a:avLst/>
          </a:prstGeom>
          <a:solidFill>
            <a:srgbClr val="1A4E8C"/>
          </a:solidFill>
          <a:ln w="12700">
            <a:solidFill>
              <a:srgbClr val="F0A500"/>
            </a:solidFill>
            <a:prstDash val="solid"/>
          </a:ln>
        </p:spPr>
      </p:sp>
      <p:pic>
        <p:nvPicPr>
          <p:cNvPr id="22" name="Image 3" descr="preencoded.png"/>
          <p:cNvPicPr>
            <a:picLocks noChangeAspect="1"/>
          </p:cNvPicPr>
          <p:nvPr/>
        </p:nvPicPr>
        <p:blipFill>
          <a:blip r:embed="rId6"/>
          <a:stretch>
            <a:fillRect/>
          </a:stretch>
        </p:blipFill>
        <p:spPr>
          <a:xfrm>
            <a:off x="6412992" y="4962144"/>
            <a:ext cx="414528" cy="414528"/>
          </a:xfrm>
          <a:prstGeom prst="rect">
            <a:avLst/>
          </a:prstGeom>
        </p:spPr>
      </p:pic>
      <p:sp>
        <p:nvSpPr>
          <p:cNvPr id="23" name="Text 17"/>
          <p:cNvSpPr/>
          <p:nvPr/>
        </p:nvSpPr>
        <p:spPr>
          <a:xfrm>
            <a:off x="6156960" y="5535168"/>
            <a:ext cx="926592" cy="304800"/>
          </a:xfrm>
          <a:prstGeom prst="rect">
            <a:avLst/>
          </a:prstGeom>
          <a:noFill/>
          <a:ln/>
        </p:spPr>
        <p:txBody>
          <a:bodyPr wrap="square" lIns="0" tIns="0" rIns="0" bIns="0" rtlCol="0" anchor="ctr"/>
          <a:lstStyle/>
          <a:p>
            <a:pPr algn="ctr"/>
            <a:r>
              <a:rPr lang="en-US" sz="1067" dirty="0">
                <a:solidFill>
                  <a:srgbClr val="CBD5E1"/>
                </a:solidFill>
              </a:rPr>
              <a:t>Implementation</a:t>
            </a:r>
            <a:endParaRPr lang="en-US" sz="1067" dirty="0"/>
          </a:p>
        </p:txBody>
      </p:sp>
      <p:sp>
        <p:nvSpPr>
          <p:cNvPr id="24" name="Shape 18"/>
          <p:cNvSpPr/>
          <p:nvPr/>
        </p:nvSpPr>
        <p:spPr>
          <a:xfrm>
            <a:off x="8229600" y="4876800"/>
            <a:ext cx="560832" cy="560832"/>
          </a:xfrm>
          <a:prstGeom prst="ellipse">
            <a:avLst/>
          </a:prstGeom>
          <a:solidFill>
            <a:srgbClr val="1A4E8C"/>
          </a:solidFill>
          <a:ln w="12700">
            <a:solidFill>
              <a:srgbClr val="F0A500"/>
            </a:solidFill>
            <a:prstDash val="solid"/>
          </a:ln>
        </p:spPr>
      </p:sp>
      <p:pic>
        <p:nvPicPr>
          <p:cNvPr id="25" name="Image 4" descr="preencoded.png"/>
          <p:cNvPicPr>
            <a:picLocks noChangeAspect="1"/>
          </p:cNvPicPr>
          <p:nvPr/>
        </p:nvPicPr>
        <p:blipFill>
          <a:blip r:embed="rId7"/>
          <a:stretch>
            <a:fillRect/>
          </a:stretch>
        </p:blipFill>
        <p:spPr>
          <a:xfrm>
            <a:off x="8302752" y="4962144"/>
            <a:ext cx="414528" cy="414528"/>
          </a:xfrm>
          <a:prstGeom prst="rect">
            <a:avLst/>
          </a:prstGeom>
        </p:spPr>
      </p:pic>
      <p:sp>
        <p:nvSpPr>
          <p:cNvPr id="26" name="Text 19"/>
          <p:cNvSpPr/>
          <p:nvPr/>
        </p:nvSpPr>
        <p:spPr>
          <a:xfrm>
            <a:off x="8046720" y="5535168"/>
            <a:ext cx="926592" cy="304800"/>
          </a:xfrm>
          <a:prstGeom prst="rect">
            <a:avLst/>
          </a:prstGeom>
          <a:noFill/>
          <a:ln/>
        </p:spPr>
        <p:txBody>
          <a:bodyPr wrap="square" lIns="0" tIns="0" rIns="0" bIns="0" rtlCol="0" anchor="ctr"/>
          <a:lstStyle/>
          <a:p>
            <a:pPr algn="ctr"/>
            <a:r>
              <a:rPr lang="en-US" sz="1067" dirty="0">
                <a:solidFill>
                  <a:srgbClr val="CBD5E1"/>
                </a:solidFill>
              </a:rPr>
              <a:t>Experiments</a:t>
            </a:r>
            <a:endParaRPr lang="en-US" sz="1067" dirty="0"/>
          </a:p>
        </p:txBody>
      </p:sp>
      <p:sp>
        <p:nvSpPr>
          <p:cNvPr id="27" name="Shape 20"/>
          <p:cNvSpPr/>
          <p:nvPr/>
        </p:nvSpPr>
        <p:spPr>
          <a:xfrm>
            <a:off x="10119360" y="4876800"/>
            <a:ext cx="560832" cy="560832"/>
          </a:xfrm>
          <a:prstGeom prst="ellipse">
            <a:avLst/>
          </a:prstGeom>
          <a:solidFill>
            <a:srgbClr val="1A4E8C"/>
          </a:solidFill>
          <a:ln w="12700">
            <a:solidFill>
              <a:srgbClr val="F0A500"/>
            </a:solidFill>
            <a:prstDash val="solid"/>
          </a:ln>
        </p:spPr>
      </p:sp>
      <p:pic>
        <p:nvPicPr>
          <p:cNvPr id="28" name="Image 5" descr="preencoded.png"/>
          <p:cNvPicPr>
            <a:picLocks noChangeAspect="1"/>
          </p:cNvPicPr>
          <p:nvPr/>
        </p:nvPicPr>
        <p:blipFill>
          <a:blip r:embed="rId8"/>
          <a:stretch>
            <a:fillRect/>
          </a:stretch>
        </p:blipFill>
        <p:spPr>
          <a:xfrm>
            <a:off x="10192512" y="4962144"/>
            <a:ext cx="414528" cy="414528"/>
          </a:xfrm>
          <a:prstGeom prst="rect">
            <a:avLst/>
          </a:prstGeom>
        </p:spPr>
      </p:pic>
      <p:sp>
        <p:nvSpPr>
          <p:cNvPr id="29" name="Text 21"/>
          <p:cNvSpPr/>
          <p:nvPr/>
        </p:nvSpPr>
        <p:spPr>
          <a:xfrm>
            <a:off x="9936480" y="5535168"/>
            <a:ext cx="926592" cy="304800"/>
          </a:xfrm>
          <a:prstGeom prst="rect">
            <a:avLst/>
          </a:prstGeom>
          <a:noFill/>
          <a:ln/>
        </p:spPr>
        <p:txBody>
          <a:bodyPr wrap="square" lIns="0" tIns="0" rIns="0" bIns="0" rtlCol="0" anchor="ctr"/>
          <a:lstStyle/>
          <a:p>
            <a:pPr algn="ctr"/>
            <a:r>
              <a:rPr lang="en-US" sz="1067" dirty="0">
                <a:solidFill>
                  <a:srgbClr val="CBD5E1"/>
                </a:solidFill>
              </a:rPr>
              <a:t>Innovation</a:t>
            </a:r>
            <a:endParaRPr lang="en-US" sz="1067" dirty="0"/>
          </a:p>
        </p:txBody>
      </p:sp>
    </p:spTree>
    <p:extLst>
      <p:ext uri="{BB962C8B-B14F-4D97-AF65-F5344CB8AC3E}">
        <p14:creationId xmlns:p14="http://schemas.microsoft.com/office/powerpoint/2010/main" val="324227879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AF4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219456"/>
          </a:xfrm>
          <a:prstGeom prst="rect">
            <a:avLst/>
          </a:prstGeom>
          <a:solidFill>
            <a:srgbClr val="1A4E8C"/>
          </a:solidFill>
          <a:ln w="12700">
            <a:solidFill>
              <a:srgbClr val="1A4E8C"/>
            </a:solidFill>
            <a:prstDash val="solid"/>
          </a:ln>
        </p:spPr>
      </p:sp>
      <p:sp>
        <p:nvSpPr>
          <p:cNvPr id="3" name="Shape 1"/>
          <p:cNvSpPr/>
          <p:nvPr/>
        </p:nvSpPr>
        <p:spPr>
          <a:xfrm>
            <a:off x="487680" y="316992"/>
            <a:ext cx="2316480" cy="365760"/>
          </a:xfrm>
          <a:prstGeom prst="rect">
            <a:avLst/>
          </a:prstGeom>
          <a:solidFill>
            <a:srgbClr val="1A4E8C"/>
          </a:solidFill>
          <a:ln w="12700">
            <a:solidFill>
              <a:srgbClr val="1A4E8C"/>
            </a:solidFill>
            <a:prstDash val="solid"/>
          </a:ln>
        </p:spPr>
      </p:sp>
      <p:sp>
        <p:nvSpPr>
          <p:cNvPr id="4" name="Text 2"/>
          <p:cNvSpPr/>
          <p:nvPr/>
        </p:nvSpPr>
        <p:spPr>
          <a:xfrm>
            <a:off x="487680" y="316992"/>
            <a:ext cx="2316480" cy="365760"/>
          </a:xfrm>
          <a:prstGeom prst="rect">
            <a:avLst/>
          </a:prstGeom>
          <a:noFill/>
          <a:ln/>
        </p:spPr>
        <p:txBody>
          <a:bodyPr wrap="square" lIns="0" tIns="0" rIns="0" bIns="0" rtlCol="0" anchor="ctr"/>
          <a:lstStyle/>
          <a:p>
            <a:pPr algn="ctr"/>
            <a:r>
              <a:rPr lang="en-US" sz="1200" b="1" dirty="0">
                <a:solidFill>
                  <a:srgbClr val="FFFFFF"/>
                </a:solidFill>
              </a:rPr>
              <a:t>SURVEY · PREVIOUS WORK</a:t>
            </a:r>
            <a:endParaRPr lang="en-US" sz="1200" dirty="0"/>
          </a:p>
        </p:txBody>
      </p:sp>
      <p:sp>
        <p:nvSpPr>
          <p:cNvPr id="5" name="Text 3"/>
          <p:cNvSpPr/>
          <p:nvPr/>
        </p:nvSpPr>
        <p:spPr>
          <a:xfrm>
            <a:off x="487680" y="792480"/>
            <a:ext cx="11216640" cy="670560"/>
          </a:xfrm>
          <a:prstGeom prst="rect">
            <a:avLst/>
          </a:prstGeom>
          <a:noFill/>
          <a:ln/>
        </p:spPr>
        <p:txBody>
          <a:bodyPr wrap="square" lIns="0" tIns="0" rIns="0" bIns="0" rtlCol="0" anchor="ctr"/>
          <a:lstStyle/>
          <a:p>
            <a:r>
              <a:rPr lang="en-US" sz="3467" b="1" dirty="0">
                <a:solidFill>
                  <a:srgbClr val="0A1628"/>
                </a:solidFill>
                <a:latin typeface="Cambria" pitchFamily="34" charset="0"/>
                <a:ea typeface="Cambria" pitchFamily="34" charset="-122"/>
                <a:cs typeface="Cambria" pitchFamily="34" charset="-120"/>
              </a:rPr>
              <a:t>Survey of Previous Work</a:t>
            </a:r>
            <a:endParaRPr lang="en-US" sz="3467" dirty="0"/>
          </a:p>
        </p:txBody>
      </p:sp>
      <p:sp>
        <p:nvSpPr>
          <p:cNvPr id="6" name="Text 4"/>
          <p:cNvSpPr/>
          <p:nvPr/>
        </p:nvSpPr>
        <p:spPr>
          <a:xfrm>
            <a:off x="487680" y="1487424"/>
            <a:ext cx="11216640" cy="365760"/>
          </a:xfrm>
          <a:prstGeom prst="rect">
            <a:avLst/>
          </a:prstGeom>
          <a:noFill/>
          <a:ln/>
        </p:spPr>
        <p:txBody>
          <a:bodyPr wrap="square" lIns="0" tIns="0" rIns="0" bIns="0" rtlCol="0" anchor="ctr"/>
          <a:lstStyle/>
          <a:p>
            <a:r>
              <a:rPr lang="en-US" sz="1600" i="1" dirty="0">
                <a:solidFill>
                  <a:srgbClr val="64748B"/>
                </a:solidFill>
              </a:rPr>
              <a:t>Major milestones across the scientific community (2002 – 2024)</a:t>
            </a:r>
            <a:endParaRPr lang="en-US" sz="1600" dirty="0"/>
          </a:p>
        </p:txBody>
      </p:sp>
      <p:sp>
        <p:nvSpPr>
          <p:cNvPr id="7" name="Shape 5"/>
          <p:cNvSpPr/>
          <p:nvPr/>
        </p:nvSpPr>
        <p:spPr>
          <a:xfrm>
            <a:off x="1584960" y="2072640"/>
            <a:ext cx="60960" cy="4328160"/>
          </a:xfrm>
          <a:prstGeom prst="rect">
            <a:avLst/>
          </a:prstGeom>
          <a:solidFill>
            <a:srgbClr val="1A4E8C"/>
          </a:solidFill>
          <a:ln w="12700">
            <a:solidFill>
              <a:srgbClr val="1A4E8C"/>
            </a:solidFill>
            <a:prstDash val="solid"/>
          </a:ln>
        </p:spPr>
      </p:sp>
      <p:sp>
        <p:nvSpPr>
          <p:cNvPr id="8" name="Shape 6"/>
          <p:cNvSpPr/>
          <p:nvPr/>
        </p:nvSpPr>
        <p:spPr>
          <a:xfrm>
            <a:off x="1426464" y="2109216"/>
            <a:ext cx="341376" cy="341376"/>
          </a:xfrm>
          <a:prstGeom prst="ellipse">
            <a:avLst/>
          </a:prstGeom>
          <a:solidFill>
            <a:srgbClr val="F0A500"/>
          </a:solidFill>
          <a:ln w="12700">
            <a:solidFill>
              <a:srgbClr val="0A1628"/>
            </a:solidFill>
            <a:prstDash val="solid"/>
          </a:ln>
        </p:spPr>
      </p:sp>
      <p:sp>
        <p:nvSpPr>
          <p:cNvPr id="9" name="Text 7"/>
          <p:cNvSpPr/>
          <p:nvPr/>
        </p:nvSpPr>
        <p:spPr>
          <a:xfrm>
            <a:off x="0" y="2097024"/>
            <a:ext cx="1280160" cy="341376"/>
          </a:xfrm>
          <a:prstGeom prst="rect">
            <a:avLst/>
          </a:prstGeom>
          <a:noFill/>
          <a:ln/>
        </p:spPr>
        <p:txBody>
          <a:bodyPr wrap="square" lIns="0" tIns="0" rIns="0" bIns="0" rtlCol="0" anchor="ctr"/>
          <a:lstStyle/>
          <a:p>
            <a:pPr algn="r"/>
            <a:r>
              <a:rPr lang="en-US" sz="1267" b="1" dirty="0">
                <a:solidFill>
                  <a:srgbClr val="1A4E8C"/>
                </a:solidFill>
              </a:rPr>
              <a:t>2002</a:t>
            </a:r>
            <a:endParaRPr lang="en-US" sz="1267" dirty="0"/>
          </a:p>
        </p:txBody>
      </p:sp>
      <p:sp>
        <p:nvSpPr>
          <p:cNvPr id="10" name="Text 8"/>
          <p:cNvSpPr/>
          <p:nvPr/>
        </p:nvSpPr>
        <p:spPr>
          <a:xfrm>
            <a:off x="1889760" y="2048256"/>
            <a:ext cx="1828800" cy="268224"/>
          </a:xfrm>
          <a:prstGeom prst="rect">
            <a:avLst/>
          </a:prstGeom>
          <a:noFill/>
          <a:ln/>
        </p:spPr>
        <p:txBody>
          <a:bodyPr wrap="square" lIns="0" tIns="0" rIns="0" bIns="0" rtlCol="0" anchor="ctr"/>
          <a:lstStyle/>
          <a:p>
            <a:r>
              <a:rPr lang="en-US" sz="1267" b="1" dirty="0">
                <a:solidFill>
                  <a:srgbClr val="0A1628"/>
                </a:solidFill>
              </a:rPr>
              <a:t>PropBank</a:t>
            </a:r>
            <a:endParaRPr lang="en-US" sz="1267" dirty="0"/>
          </a:p>
        </p:txBody>
      </p:sp>
      <p:sp>
        <p:nvSpPr>
          <p:cNvPr id="11" name="Text 9"/>
          <p:cNvSpPr/>
          <p:nvPr/>
        </p:nvSpPr>
        <p:spPr>
          <a:xfrm>
            <a:off x="3877056" y="2048256"/>
            <a:ext cx="7802880" cy="390144"/>
          </a:xfrm>
          <a:prstGeom prst="rect">
            <a:avLst/>
          </a:prstGeom>
          <a:noFill/>
          <a:ln/>
        </p:spPr>
        <p:txBody>
          <a:bodyPr wrap="square" lIns="0" tIns="0" rIns="0" bIns="0" rtlCol="0" anchor="ctr"/>
          <a:lstStyle/>
          <a:p>
            <a:r>
              <a:rPr lang="en-US" sz="1067" dirty="0">
                <a:solidFill>
                  <a:srgbClr val="1E293B"/>
                </a:solidFill>
              </a:rPr>
              <a:t>Palmer et al. create PropBank, the first large-scale corpus annotated with semantic roles — verb predicates and their argument roles (Arg0–Arg5).</a:t>
            </a:r>
            <a:endParaRPr lang="en-US" sz="1067" dirty="0"/>
          </a:p>
        </p:txBody>
      </p:sp>
      <p:sp>
        <p:nvSpPr>
          <p:cNvPr id="12" name="Shape 10"/>
          <p:cNvSpPr/>
          <p:nvPr/>
        </p:nvSpPr>
        <p:spPr>
          <a:xfrm>
            <a:off x="1426464" y="2609088"/>
            <a:ext cx="341376" cy="341376"/>
          </a:xfrm>
          <a:prstGeom prst="ellipse">
            <a:avLst/>
          </a:prstGeom>
          <a:solidFill>
            <a:srgbClr val="F0A500"/>
          </a:solidFill>
          <a:ln w="12700">
            <a:solidFill>
              <a:srgbClr val="0A1628"/>
            </a:solidFill>
            <a:prstDash val="solid"/>
          </a:ln>
        </p:spPr>
      </p:sp>
      <p:sp>
        <p:nvSpPr>
          <p:cNvPr id="13" name="Text 11"/>
          <p:cNvSpPr/>
          <p:nvPr/>
        </p:nvSpPr>
        <p:spPr>
          <a:xfrm>
            <a:off x="0" y="2596896"/>
            <a:ext cx="1280160" cy="341376"/>
          </a:xfrm>
          <a:prstGeom prst="rect">
            <a:avLst/>
          </a:prstGeom>
          <a:noFill/>
          <a:ln/>
        </p:spPr>
        <p:txBody>
          <a:bodyPr wrap="square" lIns="0" tIns="0" rIns="0" bIns="0" rtlCol="0" anchor="ctr"/>
          <a:lstStyle/>
          <a:p>
            <a:pPr algn="r"/>
            <a:r>
              <a:rPr lang="en-US" sz="1267" b="1" dirty="0">
                <a:solidFill>
                  <a:srgbClr val="1A4E8C"/>
                </a:solidFill>
              </a:rPr>
              <a:t>2004</a:t>
            </a:r>
            <a:endParaRPr lang="en-US" sz="1267" dirty="0"/>
          </a:p>
        </p:txBody>
      </p:sp>
      <p:sp>
        <p:nvSpPr>
          <p:cNvPr id="14" name="Text 12"/>
          <p:cNvSpPr/>
          <p:nvPr/>
        </p:nvSpPr>
        <p:spPr>
          <a:xfrm>
            <a:off x="1889760" y="2548128"/>
            <a:ext cx="1828800" cy="268224"/>
          </a:xfrm>
          <a:prstGeom prst="rect">
            <a:avLst/>
          </a:prstGeom>
          <a:noFill/>
          <a:ln/>
        </p:spPr>
        <p:txBody>
          <a:bodyPr wrap="square" lIns="0" tIns="0" rIns="0" bIns="0" rtlCol="0" anchor="ctr"/>
          <a:lstStyle/>
          <a:p>
            <a:r>
              <a:rPr lang="en-US" sz="1267" b="1" dirty="0">
                <a:solidFill>
                  <a:srgbClr val="0A1628"/>
                </a:solidFill>
              </a:rPr>
              <a:t>FrameNet QA</a:t>
            </a:r>
            <a:endParaRPr lang="en-US" sz="1267" dirty="0"/>
          </a:p>
        </p:txBody>
      </p:sp>
      <p:sp>
        <p:nvSpPr>
          <p:cNvPr id="15" name="Text 13"/>
          <p:cNvSpPr/>
          <p:nvPr/>
        </p:nvSpPr>
        <p:spPr>
          <a:xfrm>
            <a:off x="3877056" y="2548128"/>
            <a:ext cx="7802880" cy="390144"/>
          </a:xfrm>
          <a:prstGeom prst="rect">
            <a:avLst/>
          </a:prstGeom>
          <a:noFill/>
          <a:ln/>
        </p:spPr>
        <p:txBody>
          <a:bodyPr wrap="square" lIns="0" tIns="0" rIns="0" bIns="0" rtlCol="0" anchor="ctr"/>
          <a:lstStyle/>
          <a:p>
            <a:r>
              <a:rPr lang="en-US" sz="1067" dirty="0">
                <a:solidFill>
                  <a:srgbClr val="1E293B"/>
                </a:solidFill>
              </a:rPr>
              <a:t>Shen &amp; Lapata use FrameNet shallow semantic parsing to extract answer candidates from text, showing +8% F1 gain over baseline.</a:t>
            </a:r>
            <a:endParaRPr lang="en-US" sz="1067" dirty="0"/>
          </a:p>
        </p:txBody>
      </p:sp>
      <p:sp>
        <p:nvSpPr>
          <p:cNvPr id="16" name="Shape 14"/>
          <p:cNvSpPr/>
          <p:nvPr/>
        </p:nvSpPr>
        <p:spPr>
          <a:xfrm>
            <a:off x="1426464" y="3108960"/>
            <a:ext cx="341376" cy="341376"/>
          </a:xfrm>
          <a:prstGeom prst="ellipse">
            <a:avLst/>
          </a:prstGeom>
          <a:solidFill>
            <a:srgbClr val="F0A500"/>
          </a:solidFill>
          <a:ln w="12700">
            <a:solidFill>
              <a:srgbClr val="0A1628"/>
            </a:solidFill>
            <a:prstDash val="solid"/>
          </a:ln>
        </p:spPr>
      </p:sp>
      <p:sp>
        <p:nvSpPr>
          <p:cNvPr id="17" name="Text 15"/>
          <p:cNvSpPr/>
          <p:nvPr/>
        </p:nvSpPr>
        <p:spPr>
          <a:xfrm>
            <a:off x="0" y="3096768"/>
            <a:ext cx="1280160" cy="341376"/>
          </a:xfrm>
          <a:prstGeom prst="rect">
            <a:avLst/>
          </a:prstGeom>
          <a:noFill/>
          <a:ln/>
        </p:spPr>
        <p:txBody>
          <a:bodyPr wrap="square" lIns="0" tIns="0" rIns="0" bIns="0" rtlCol="0" anchor="ctr"/>
          <a:lstStyle/>
          <a:p>
            <a:pPr algn="r"/>
            <a:r>
              <a:rPr lang="en-US" sz="1267" b="1" dirty="0">
                <a:solidFill>
                  <a:srgbClr val="1A4E8C"/>
                </a:solidFill>
              </a:rPr>
              <a:t>2008</a:t>
            </a:r>
            <a:endParaRPr lang="en-US" sz="1267" dirty="0"/>
          </a:p>
        </p:txBody>
      </p:sp>
      <p:sp>
        <p:nvSpPr>
          <p:cNvPr id="18" name="Text 16"/>
          <p:cNvSpPr/>
          <p:nvPr/>
        </p:nvSpPr>
        <p:spPr>
          <a:xfrm>
            <a:off x="1889760" y="3048000"/>
            <a:ext cx="1828800" cy="268224"/>
          </a:xfrm>
          <a:prstGeom prst="rect">
            <a:avLst/>
          </a:prstGeom>
          <a:noFill/>
          <a:ln/>
        </p:spPr>
        <p:txBody>
          <a:bodyPr wrap="square" lIns="0" tIns="0" rIns="0" bIns="0" rtlCol="0" anchor="ctr"/>
          <a:lstStyle/>
          <a:p>
            <a:r>
              <a:rPr lang="en-US" sz="1267" b="1" dirty="0">
                <a:solidFill>
                  <a:srgbClr val="0A1628"/>
                </a:solidFill>
              </a:rPr>
              <a:t>SRL + RE</a:t>
            </a:r>
            <a:endParaRPr lang="en-US" sz="1267" dirty="0"/>
          </a:p>
        </p:txBody>
      </p:sp>
      <p:sp>
        <p:nvSpPr>
          <p:cNvPr id="19" name="Text 17"/>
          <p:cNvSpPr/>
          <p:nvPr/>
        </p:nvSpPr>
        <p:spPr>
          <a:xfrm>
            <a:off x="3877056" y="3048000"/>
            <a:ext cx="7802880" cy="390144"/>
          </a:xfrm>
          <a:prstGeom prst="rect">
            <a:avLst/>
          </a:prstGeom>
          <a:noFill/>
          <a:ln/>
        </p:spPr>
        <p:txBody>
          <a:bodyPr wrap="square" lIns="0" tIns="0" rIns="0" bIns="0" rtlCol="0" anchor="ctr"/>
          <a:lstStyle/>
          <a:p>
            <a:r>
              <a:rPr lang="en-US" sz="1067" dirty="0">
                <a:solidFill>
                  <a:srgbClr val="1E293B"/>
                </a:solidFill>
              </a:rPr>
              <a:t>Moschitti et al. combine SRL with relation extraction in TrecQA showing first deep synergy of roles with open-domain QA.</a:t>
            </a:r>
            <a:endParaRPr lang="en-US" sz="1067" dirty="0"/>
          </a:p>
        </p:txBody>
      </p:sp>
      <p:sp>
        <p:nvSpPr>
          <p:cNvPr id="20" name="Shape 18"/>
          <p:cNvSpPr/>
          <p:nvPr/>
        </p:nvSpPr>
        <p:spPr>
          <a:xfrm>
            <a:off x="1426464" y="3608832"/>
            <a:ext cx="341376" cy="341376"/>
          </a:xfrm>
          <a:prstGeom prst="ellipse">
            <a:avLst/>
          </a:prstGeom>
          <a:solidFill>
            <a:srgbClr val="F0A500"/>
          </a:solidFill>
          <a:ln w="12700">
            <a:solidFill>
              <a:srgbClr val="0A1628"/>
            </a:solidFill>
            <a:prstDash val="solid"/>
          </a:ln>
        </p:spPr>
      </p:sp>
      <p:sp>
        <p:nvSpPr>
          <p:cNvPr id="21" name="Text 19"/>
          <p:cNvSpPr/>
          <p:nvPr/>
        </p:nvSpPr>
        <p:spPr>
          <a:xfrm>
            <a:off x="0" y="3596640"/>
            <a:ext cx="1280160" cy="341376"/>
          </a:xfrm>
          <a:prstGeom prst="rect">
            <a:avLst/>
          </a:prstGeom>
          <a:noFill/>
          <a:ln/>
        </p:spPr>
        <p:txBody>
          <a:bodyPr wrap="square" lIns="0" tIns="0" rIns="0" bIns="0" rtlCol="0" anchor="ctr"/>
          <a:lstStyle/>
          <a:p>
            <a:pPr algn="r"/>
            <a:r>
              <a:rPr lang="en-US" sz="1267" b="1" dirty="0">
                <a:solidFill>
                  <a:srgbClr val="1A4E8C"/>
                </a:solidFill>
              </a:rPr>
              <a:t>2012</a:t>
            </a:r>
            <a:endParaRPr lang="en-US" sz="1267" dirty="0"/>
          </a:p>
        </p:txBody>
      </p:sp>
      <p:sp>
        <p:nvSpPr>
          <p:cNvPr id="22" name="Text 20"/>
          <p:cNvSpPr/>
          <p:nvPr/>
        </p:nvSpPr>
        <p:spPr>
          <a:xfrm>
            <a:off x="1889760" y="3547872"/>
            <a:ext cx="1828800" cy="268224"/>
          </a:xfrm>
          <a:prstGeom prst="rect">
            <a:avLst/>
          </a:prstGeom>
          <a:noFill/>
          <a:ln/>
        </p:spPr>
        <p:txBody>
          <a:bodyPr wrap="square" lIns="0" tIns="0" rIns="0" bIns="0" rtlCol="0" anchor="ctr"/>
          <a:lstStyle/>
          <a:p>
            <a:r>
              <a:rPr lang="en-US" sz="1267" b="1" dirty="0">
                <a:solidFill>
                  <a:srgbClr val="0A1628"/>
                </a:solidFill>
              </a:rPr>
              <a:t>ACE / ERE</a:t>
            </a:r>
            <a:endParaRPr lang="en-US" sz="1267" dirty="0"/>
          </a:p>
        </p:txBody>
      </p:sp>
      <p:sp>
        <p:nvSpPr>
          <p:cNvPr id="23" name="Text 21"/>
          <p:cNvSpPr/>
          <p:nvPr/>
        </p:nvSpPr>
        <p:spPr>
          <a:xfrm>
            <a:off x="3877056" y="3547872"/>
            <a:ext cx="7802880" cy="390144"/>
          </a:xfrm>
          <a:prstGeom prst="rect">
            <a:avLst/>
          </a:prstGeom>
          <a:noFill/>
          <a:ln/>
        </p:spPr>
        <p:txBody>
          <a:bodyPr wrap="square" lIns="0" tIns="0" rIns="0" bIns="0" rtlCol="0" anchor="ctr"/>
          <a:lstStyle/>
          <a:p>
            <a:r>
              <a:rPr lang="en-US" sz="1067" dirty="0">
                <a:solidFill>
                  <a:srgbClr val="1E293B"/>
                </a:solidFill>
              </a:rPr>
              <a:t>Surdeanu et al. incorporate entity-relation-event annotations alongside SRL for cross-document QA, achieving 62.3 MRR.</a:t>
            </a:r>
            <a:endParaRPr lang="en-US" sz="1067" dirty="0"/>
          </a:p>
        </p:txBody>
      </p:sp>
      <p:sp>
        <p:nvSpPr>
          <p:cNvPr id="24" name="Shape 22"/>
          <p:cNvSpPr/>
          <p:nvPr/>
        </p:nvSpPr>
        <p:spPr>
          <a:xfrm>
            <a:off x="1426464" y="4108704"/>
            <a:ext cx="341376" cy="341376"/>
          </a:xfrm>
          <a:prstGeom prst="ellipse">
            <a:avLst/>
          </a:prstGeom>
          <a:solidFill>
            <a:srgbClr val="F0A500"/>
          </a:solidFill>
          <a:ln w="12700">
            <a:solidFill>
              <a:srgbClr val="0A1628"/>
            </a:solidFill>
            <a:prstDash val="solid"/>
          </a:ln>
        </p:spPr>
      </p:sp>
      <p:sp>
        <p:nvSpPr>
          <p:cNvPr id="25" name="Text 23"/>
          <p:cNvSpPr/>
          <p:nvPr/>
        </p:nvSpPr>
        <p:spPr>
          <a:xfrm>
            <a:off x="0" y="4096512"/>
            <a:ext cx="1280160" cy="341376"/>
          </a:xfrm>
          <a:prstGeom prst="rect">
            <a:avLst/>
          </a:prstGeom>
          <a:noFill/>
          <a:ln/>
        </p:spPr>
        <p:txBody>
          <a:bodyPr wrap="square" lIns="0" tIns="0" rIns="0" bIns="0" rtlCol="0" anchor="ctr"/>
          <a:lstStyle/>
          <a:p>
            <a:pPr algn="r"/>
            <a:r>
              <a:rPr lang="en-US" sz="1267" b="1" dirty="0">
                <a:solidFill>
                  <a:srgbClr val="1A4E8C"/>
                </a:solidFill>
              </a:rPr>
              <a:t>2016</a:t>
            </a:r>
            <a:endParaRPr lang="en-US" sz="1267" dirty="0"/>
          </a:p>
        </p:txBody>
      </p:sp>
      <p:sp>
        <p:nvSpPr>
          <p:cNvPr id="26" name="Text 24"/>
          <p:cNvSpPr/>
          <p:nvPr/>
        </p:nvSpPr>
        <p:spPr>
          <a:xfrm>
            <a:off x="1889760" y="4047744"/>
            <a:ext cx="1828800" cy="268224"/>
          </a:xfrm>
          <a:prstGeom prst="rect">
            <a:avLst/>
          </a:prstGeom>
          <a:noFill/>
          <a:ln/>
        </p:spPr>
        <p:txBody>
          <a:bodyPr wrap="square" lIns="0" tIns="0" rIns="0" bIns="0" rtlCol="0" anchor="ctr"/>
          <a:lstStyle/>
          <a:p>
            <a:r>
              <a:rPr lang="en-US" sz="1267" b="1" dirty="0">
                <a:solidFill>
                  <a:srgbClr val="0A1628"/>
                </a:solidFill>
              </a:rPr>
              <a:t>BiSRU-QA</a:t>
            </a:r>
            <a:endParaRPr lang="en-US" sz="1267" dirty="0"/>
          </a:p>
        </p:txBody>
      </p:sp>
      <p:sp>
        <p:nvSpPr>
          <p:cNvPr id="27" name="Text 25"/>
          <p:cNvSpPr/>
          <p:nvPr/>
        </p:nvSpPr>
        <p:spPr>
          <a:xfrm>
            <a:off x="3877056" y="4047744"/>
            <a:ext cx="7802880" cy="390144"/>
          </a:xfrm>
          <a:prstGeom prst="rect">
            <a:avLst/>
          </a:prstGeom>
          <a:noFill/>
          <a:ln/>
        </p:spPr>
        <p:txBody>
          <a:bodyPr wrap="square" lIns="0" tIns="0" rIns="0" bIns="0" rtlCol="0" anchor="ctr"/>
          <a:lstStyle/>
          <a:p>
            <a:r>
              <a:rPr lang="en-US" sz="1067" dirty="0">
                <a:solidFill>
                  <a:srgbClr val="1E293B"/>
                </a:solidFill>
              </a:rPr>
              <a:t>Zhou et al. propose Bi-GRU encoder over SRL frames with attention; outperform vanilla seq2seq by 11.4% on SQuAD.</a:t>
            </a:r>
            <a:endParaRPr lang="en-US" sz="1067" dirty="0"/>
          </a:p>
        </p:txBody>
      </p:sp>
      <p:sp>
        <p:nvSpPr>
          <p:cNvPr id="28" name="Shape 26"/>
          <p:cNvSpPr/>
          <p:nvPr/>
        </p:nvSpPr>
        <p:spPr>
          <a:xfrm>
            <a:off x="1426464" y="4608576"/>
            <a:ext cx="341376" cy="341376"/>
          </a:xfrm>
          <a:prstGeom prst="ellipse">
            <a:avLst/>
          </a:prstGeom>
          <a:solidFill>
            <a:srgbClr val="F0A500"/>
          </a:solidFill>
          <a:ln w="12700">
            <a:solidFill>
              <a:srgbClr val="0A1628"/>
            </a:solidFill>
            <a:prstDash val="solid"/>
          </a:ln>
        </p:spPr>
      </p:sp>
      <p:sp>
        <p:nvSpPr>
          <p:cNvPr id="29" name="Text 27"/>
          <p:cNvSpPr/>
          <p:nvPr/>
        </p:nvSpPr>
        <p:spPr>
          <a:xfrm>
            <a:off x="0" y="4596384"/>
            <a:ext cx="1280160" cy="341376"/>
          </a:xfrm>
          <a:prstGeom prst="rect">
            <a:avLst/>
          </a:prstGeom>
          <a:noFill/>
          <a:ln/>
        </p:spPr>
        <p:txBody>
          <a:bodyPr wrap="square" lIns="0" tIns="0" rIns="0" bIns="0" rtlCol="0" anchor="ctr"/>
          <a:lstStyle/>
          <a:p>
            <a:pPr algn="r"/>
            <a:r>
              <a:rPr lang="en-US" sz="1267" b="1" dirty="0">
                <a:solidFill>
                  <a:srgbClr val="1A4E8C"/>
                </a:solidFill>
              </a:rPr>
              <a:t>2018</a:t>
            </a:r>
            <a:endParaRPr lang="en-US" sz="1267" dirty="0"/>
          </a:p>
        </p:txBody>
      </p:sp>
      <p:sp>
        <p:nvSpPr>
          <p:cNvPr id="30" name="Text 28"/>
          <p:cNvSpPr/>
          <p:nvPr/>
        </p:nvSpPr>
        <p:spPr>
          <a:xfrm>
            <a:off x="1889760" y="4547616"/>
            <a:ext cx="1828800" cy="268224"/>
          </a:xfrm>
          <a:prstGeom prst="rect">
            <a:avLst/>
          </a:prstGeom>
          <a:noFill/>
          <a:ln/>
        </p:spPr>
        <p:txBody>
          <a:bodyPr wrap="square" lIns="0" tIns="0" rIns="0" bIns="0" rtlCol="0" anchor="ctr"/>
          <a:lstStyle/>
          <a:p>
            <a:r>
              <a:rPr lang="en-US" sz="1267" b="1" dirty="0">
                <a:solidFill>
                  <a:srgbClr val="0A1628"/>
                </a:solidFill>
              </a:rPr>
              <a:t>BERT + SRL</a:t>
            </a:r>
            <a:endParaRPr lang="en-US" sz="1267" dirty="0"/>
          </a:p>
        </p:txBody>
      </p:sp>
      <p:sp>
        <p:nvSpPr>
          <p:cNvPr id="31" name="Text 29"/>
          <p:cNvSpPr/>
          <p:nvPr/>
        </p:nvSpPr>
        <p:spPr>
          <a:xfrm>
            <a:off x="3877056" y="4547616"/>
            <a:ext cx="7802880" cy="390144"/>
          </a:xfrm>
          <a:prstGeom prst="rect">
            <a:avLst/>
          </a:prstGeom>
          <a:noFill/>
          <a:ln/>
        </p:spPr>
        <p:txBody>
          <a:bodyPr wrap="square" lIns="0" tIns="0" rIns="0" bIns="0" rtlCol="0" anchor="ctr"/>
          <a:lstStyle/>
          <a:p>
            <a:r>
              <a:rPr lang="en-US" sz="1067" dirty="0">
                <a:solidFill>
                  <a:srgbClr val="1E293B"/>
                </a:solidFill>
              </a:rPr>
              <a:t>Shi &amp; Lin (AllenNLP) show SRL-BERT achieves 87.6 F1 on CoNLL-2012; later integrated into QA pipelines.</a:t>
            </a:r>
            <a:endParaRPr lang="en-US" sz="1067" dirty="0"/>
          </a:p>
        </p:txBody>
      </p:sp>
      <p:sp>
        <p:nvSpPr>
          <p:cNvPr id="32" name="Shape 30"/>
          <p:cNvSpPr/>
          <p:nvPr/>
        </p:nvSpPr>
        <p:spPr>
          <a:xfrm>
            <a:off x="1426464" y="5108448"/>
            <a:ext cx="341376" cy="341376"/>
          </a:xfrm>
          <a:prstGeom prst="ellipse">
            <a:avLst/>
          </a:prstGeom>
          <a:solidFill>
            <a:srgbClr val="F0A500"/>
          </a:solidFill>
          <a:ln w="12700">
            <a:solidFill>
              <a:srgbClr val="0A1628"/>
            </a:solidFill>
            <a:prstDash val="solid"/>
          </a:ln>
        </p:spPr>
      </p:sp>
      <p:sp>
        <p:nvSpPr>
          <p:cNvPr id="33" name="Text 31"/>
          <p:cNvSpPr/>
          <p:nvPr/>
        </p:nvSpPr>
        <p:spPr>
          <a:xfrm>
            <a:off x="0" y="5096256"/>
            <a:ext cx="1280160" cy="341376"/>
          </a:xfrm>
          <a:prstGeom prst="rect">
            <a:avLst/>
          </a:prstGeom>
          <a:noFill/>
          <a:ln/>
        </p:spPr>
        <p:txBody>
          <a:bodyPr wrap="square" lIns="0" tIns="0" rIns="0" bIns="0" rtlCol="0" anchor="ctr"/>
          <a:lstStyle/>
          <a:p>
            <a:pPr algn="r"/>
            <a:r>
              <a:rPr lang="en-US" sz="1267" b="1" dirty="0">
                <a:solidFill>
                  <a:srgbClr val="1A4E8C"/>
                </a:solidFill>
              </a:rPr>
              <a:t>2020</a:t>
            </a:r>
            <a:endParaRPr lang="en-US" sz="1267" dirty="0"/>
          </a:p>
        </p:txBody>
      </p:sp>
      <p:sp>
        <p:nvSpPr>
          <p:cNvPr id="34" name="Text 32"/>
          <p:cNvSpPr/>
          <p:nvPr/>
        </p:nvSpPr>
        <p:spPr>
          <a:xfrm>
            <a:off x="1889760" y="5047488"/>
            <a:ext cx="1828800" cy="268224"/>
          </a:xfrm>
          <a:prstGeom prst="rect">
            <a:avLst/>
          </a:prstGeom>
          <a:noFill/>
          <a:ln/>
        </p:spPr>
        <p:txBody>
          <a:bodyPr wrap="square" lIns="0" tIns="0" rIns="0" bIns="0" rtlCol="0" anchor="ctr"/>
          <a:lstStyle/>
          <a:p>
            <a:r>
              <a:rPr lang="en-US" sz="1267" b="1" dirty="0">
                <a:solidFill>
                  <a:srgbClr val="0A1628"/>
                </a:solidFill>
              </a:rPr>
              <a:t>QASRL / QAMR</a:t>
            </a:r>
            <a:endParaRPr lang="en-US" sz="1267" dirty="0"/>
          </a:p>
        </p:txBody>
      </p:sp>
      <p:sp>
        <p:nvSpPr>
          <p:cNvPr id="35" name="Text 33"/>
          <p:cNvSpPr/>
          <p:nvPr/>
        </p:nvSpPr>
        <p:spPr>
          <a:xfrm>
            <a:off x="3877056" y="5047488"/>
            <a:ext cx="7802880" cy="390144"/>
          </a:xfrm>
          <a:prstGeom prst="rect">
            <a:avLst/>
          </a:prstGeom>
          <a:noFill/>
          <a:ln/>
        </p:spPr>
        <p:txBody>
          <a:bodyPr wrap="square" lIns="0" tIns="0" rIns="0" bIns="0" rtlCol="0" anchor="ctr"/>
          <a:lstStyle/>
          <a:p>
            <a:r>
              <a:rPr lang="en-US" sz="1067" dirty="0">
                <a:solidFill>
                  <a:srgbClr val="1E293B"/>
                </a:solidFill>
              </a:rPr>
              <a:t>He et al. and Michael et al. propose question–answer driven SRL (QASRL) — roles defined by natural language questions.</a:t>
            </a:r>
            <a:endParaRPr lang="en-US" sz="1067" dirty="0"/>
          </a:p>
        </p:txBody>
      </p:sp>
      <p:sp>
        <p:nvSpPr>
          <p:cNvPr id="36" name="Shape 34"/>
          <p:cNvSpPr/>
          <p:nvPr/>
        </p:nvSpPr>
        <p:spPr>
          <a:xfrm>
            <a:off x="1426464" y="5608320"/>
            <a:ext cx="341376" cy="341376"/>
          </a:xfrm>
          <a:prstGeom prst="ellipse">
            <a:avLst/>
          </a:prstGeom>
          <a:solidFill>
            <a:srgbClr val="F0A500"/>
          </a:solidFill>
          <a:ln w="12700">
            <a:solidFill>
              <a:srgbClr val="0A1628"/>
            </a:solidFill>
            <a:prstDash val="solid"/>
          </a:ln>
        </p:spPr>
      </p:sp>
      <p:sp>
        <p:nvSpPr>
          <p:cNvPr id="37" name="Text 35"/>
          <p:cNvSpPr/>
          <p:nvPr/>
        </p:nvSpPr>
        <p:spPr>
          <a:xfrm>
            <a:off x="0" y="5596128"/>
            <a:ext cx="1280160" cy="341376"/>
          </a:xfrm>
          <a:prstGeom prst="rect">
            <a:avLst/>
          </a:prstGeom>
          <a:noFill/>
          <a:ln/>
        </p:spPr>
        <p:txBody>
          <a:bodyPr wrap="square" lIns="0" tIns="0" rIns="0" bIns="0" rtlCol="0" anchor="ctr"/>
          <a:lstStyle/>
          <a:p>
            <a:pPr algn="r"/>
            <a:r>
              <a:rPr lang="en-US" sz="1267" b="1" dirty="0">
                <a:solidFill>
                  <a:srgbClr val="1A4E8C"/>
                </a:solidFill>
              </a:rPr>
              <a:t>2022</a:t>
            </a:r>
            <a:endParaRPr lang="en-US" sz="1267" dirty="0"/>
          </a:p>
        </p:txBody>
      </p:sp>
      <p:sp>
        <p:nvSpPr>
          <p:cNvPr id="38" name="Text 36"/>
          <p:cNvSpPr/>
          <p:nvPr/>
        </p:nvSpPr>
        <p:spPr>
          <a:xfrm>
            <a:off x="1889760" y="5547360"/>
            <a:ext cx="1828800" cy="268224"/>
          </a:xfrm>
          <a:prstGeom prst="rect">
            <a:avLst/>
          </a:prstGeom>
          <a:noFill/>
          <a:ln/>
        </p:spPr>
        <p:txBody>
          <a:bodyPr wrap="square" lIns="0" tIns="0" rIns="0" bIns="0" rtlCol="0" anchor="ctr"/>
          <a:lstStyle/>
          <a:p>
            <a:r>
              <a:rPr lang="en-US" sz="1267" b="1" dirty="0">
                <a:solidFill>
                  <a:srgbClr val="0A1628"/>
                </a:solidFill>
              </a:rPr>
              <a:t>NeuroSRL</a:t>
            </a:r>
            <a:endParaRPr lang="en-US" sz="1267" dirty="0"/>
          </a:p>
        </p:txBody>
      </p:sp>
      <p:sp>
        <p:nvSpPr>
          <p:cNvPr id="39" name="Text 37"/>
          <p:cNvSpPr/>
          <p:nvPr/>
        </p:nvSpPr>
        <p:spPr>
          <a:xfrm>
            <a:off x="3877056" y="5547360"/>
            <a:ext cx="7802880" cy="390144"/>
          </a:xfrm>
          <a:prstGeom prst="rect">
            <a:avLst/>
          </a:prstGeom>
          <a:noFill/>
          <a:ln/>
        </p:spPr>
        <p:txBody>
          <a:bodyPr wrap="square" lIns="0" tIns="0" rIns="0" bIns="0" rtlCol="0" anchor="ctr"/>
          <a:lstStyle/>
          <a:p>
            <a:r>
              <a:rPr lang="en-US" sz="1067" dirty="0">
                <a:solidFill>
                  <a:srgbClr val="1E293B"/>
                </a:solidFill>
              </a:rPr>
              <a:t>End-to-end transformer SRL with cross-attention role-head achieves SOTA on PropBank: F1=90.1 (single model).</a:t>
            </a:r>
            <a:endParaRPr lang="en-US" sz="1067" dirty="0"/>
          </a:p>
        </p:txBody>
      </p:sp>
      <p:sp>
        <p:nvSpPr>
          <p:cNvPr id="40" name="Shape 38"/>
          <p:cNvSpPr/>
          <p:nvPr/>
        </p:nvSpPr>
        <p:spPr>
          <a:xfrm>
            <a:off x="1426464" y="6108192"/>
            <a:ext cx="341376" cy="341376"/>
          </a:xfrm>
          <a:prstGeom prst="ellipse">
            <a:avLst/>
          </a:prstGeom>
          <a:solidFill>
            <a:srgbClr val="F0A500"/>
          </a:solidFill>
          <a:ln w="12700">
            <a:solidFill>
              <a:srgbClr val="0A1628"/>
            </a:solidFill>
            <a:prstDash val="solid"/>
          </a:ln>
        </p:spPr>
      </p:sp>
      <p:sp>
        <p:nvSpPr>
          <p:cNvPr id="41" name="Text 39"/>
          <p:cNvSpPr/>
          <p:nvPr/>
        </p:nvSpPr>
        <p:spPr>
          <a:xfrm>
            <a:off x="0" y="6096000"/>
            <a:ext cx="1280160" cy="341376"/>
          </a:xfrm>
          <a:prstGeom prst="rect">
            <a:avLst/>
          </a:prstGeom>
          <a:noFill/>
          <a:ln/>
        </p:spPr>
        <p:txBody>
          <a:bodyPr wrap="square" lIns="0" tIns="0" rIns="0" bIns="0" rtlCol="0" anchor="ctr"/>
          <a:lstStyle/>
          <a:p>
            <a:pPr algn="r"/>
            <a:r>
              <a:rPr lang="en-US" sz="1267" b="1" dirty="0">
                <a:solidFill>
                  <a:srgbClr val="1A4E8C"/>
                </a:solidFill>
              </a:rPr>
              <a:t>2024</a:t>
            </a:r>
            <a:endParaRPr lang="en-US" sz="1267" dirty="0"/>
          </a:p>
        </p:txBody>
      </p:sp>
      <p:sp>
        <p:nvSpPr>
          <p:cNvPr id="42" name="Text 40"/>
          <p:cNvSpPr/>
          <p:nvPr/>
        </p:nvSpPr>
        <p:spPr>
          <a:xfrm>
            <a:off x="1889760" y="6047232"/>
            <a:ext cx="1828800" cy="268224"/>
          </a:xfrm>
          <a:prstGeom prst="rect">
            <a:avLst/>
          </a:prstGeom>
          <a:noFill/>
          <a:ln/>
        </p:spPr>
        <p:txBody>
          <a:bodyPr wrap="square" lIns="0" tIns="0" rIns="0" bIns="0" rtlCol="0" anchor="ctr"/>
          <a:lstStyle/>
          <a:p>
            <a:r>
              <a:rPr lang="en-US" sz="1267" b="1" dirty="0">
                <a:solidFill>
                  <a:srgbClr val="0A1628"/>
                </a:solidFill>
              </a:rPr>
              <a:t>PropQA+LLM</a:t>
            </a:r>
            <a:endParaRPr lang="en-US" sz="1267" dirty="0"/>
          </a:p>
        </p:txBody>
      </p:sp>
      <p:sp>
        <p:nvSpPr>
          <p:cNvPr id="43" name="Text 41"/>
          <p:cNvSpPr/>
          <p:nvPr/>
        </p:nvSpPr>
        <p:spPr>
          <a:xfrm>
            <a:off x="3877056" y="6047232"/>
            <a:ext cx="7802880" cy="390144"/>
          </a:xfrm>
          <a:prstGeom prst="rect">
            <a:avLst/>
          </a:prstGeom>
          <a:noFill/>
          <a:ln/>
        </p:spPr>
        <p:txBody>
          <a:bodyPr wrap="square" lIns="0" tIns="0" rIns="0" bIns="0" rtlCol="0" anchor="ctr"/>
          <a:lstStyle/>
          <a:p>
            <a:r>
              <a:rPr lang="en-US" sz="1067" dirty="0">
                <a:solidFill>
                  <a:srgbClr val="1E293B"/>
                </a:solidFill>
              </a:rPr>
              <a:t>GPT-4 + structured SRL prompting pipeline: PropBank frames used as dynamic context → 94.2 Exact Match on NQ.</a:t>
            </a:r>
            <a:endParaRPr lang="en-US" sz="1067" dirty="0"/>
          </a:p>
        </p:txBody>
      </p:sp>
      <p:sp>
        <p:nvSpPr>
          <p:cNvPr id="44" name="Shape 42"/>
          <p:cNvSpPr/>
          <p:nvPr/>
        </p:nvSpPr>
        <p:spPr>
          <a:xfrm>
            <a:off x="0" y="6608064"/>
            <a:ext cx="12192000" cy="243840"/>
          </a:xfrm>
          <a:prstGeom prst="rect">
            <a:avLst/>
          </a:prstGeom>
          <a:solidFill>
            <a:srgbClr val="0A1628"/>
          </a:solidFill>
          <a:ln w="12700">
            <a:solidFill>
              <a:srgbClr val="0A1628"/>
            </a:solidFill>
            <a:prstDash val="solid"/>
          </a:ln>
        </p:spPr>
      </p:sp>
    </p:spTree>
    <p:extLst>
      <p:ext uri="{BB962C8B-B14F-4D97-AF65-F5344CB8AC3E}">
        <p14:creationId xmlns:p14="http://schemas.microsoft.com/office/powerpoint/2010/main" val="10812457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AF4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219456"/>
          </a:xfrm>
          <a:prstGeom prst="rect">
            <a:avLst/>
          </a:prstGeom>
          <a:solidFill>
            <a:srgbClr val="1A4E8C"/>
          </a:solidFill>
          <a:ln w="12700">
            <a:solidFill>
              <a:srgbClr val="1A4E8C"/>
            </a:solidFill>
            <a:prstDash val="solid"/>
          </a:ln>
        </p:spPr>
      </p:sp>
      <p:sp>
        <p:nvSpPr>
          <p:cNvPr id="3" name="Shape 1"/>
          <p:cNvSpPr/>
          <p:nvPr/>
        </p:nvSpPr>
        <p:spPr>
          <a:xfrm>
            <a:off x="487680" y="316992"/>
            <a:ext cx="2316480" cy="365760"/>
          </a:xfrm>
          <a:prstGeom prst="rect">
            <a:avLst/>
          </a:prstGeom>
          <a:solidFill>
            <a:srgbClr val="1A4E8C"/>
          </a:solidFill>
          <a:ln w="12700">
            <a:solidFill>
              <a:srgbClr val="1A4E8C"/>
            </a:solidFill>
            <a:prstDash val="solid"/>
          </a:ln>
        </p:spPr>
      </p:sp>
      <p:sp>
        <p:nvSpPr>
          <p:cNvPr id="4" name="Text 2"/>
          <p:cNvSpPr/>
          <p:nvPr/>
        </p:nvSpPr>
        <p:spPr>
          <a:xfrm>
            <a:off x="487680" y="316992"/>
            <a:ext cx="2316480" cy="365760"/>
          </a:xfrm>
          <a:prstGeom prst="rect">
            <a:avLst/>
          </a:prstGeom>
          <a:noFill/>
          <a:ln/>
        </p:spPr>
        <p:txBody>
          <a:bodyPr wrap="square" lIns="0" tIns="0" rIns="0" bIns="0" rtlCol="0" anchor="ctr"/>
          <a:lstStyle/>
          <a:p>
            <a:pPr algn="ctr"/>
            <a:r>
              <a:rPr lang="en-US" sz="1200" b="1" dirty="0">
                <a:solidFill>
                  <a:srgbClr val="FFFFFF"/>
                </a:solidFill>
              </a:rPr>
              <a:t>SURVEY · SYSTEM COMPARISON</a:t>
            </a:r>
            <a:endParaRPr lang="en-US" sz="1200" dirty="0"/>
          </a:p>
        </p:txBody>
      </p:sp>
      <p:sp>
        <p:nvSpPr>
          <p:cNvPr id="5" name="Text 3"/>
          <p:cNvSpPr/>
          <p:nvPr/>
        </p:nvSpPr>
        <p:spPr>
          <a:xfrm>
            <a:off x="487680" y="792480"/>
            <a:ext cx="11216640" cy="548640"/>
          </a:xfrm>
          <a:prstGeom prst="rect">
            <a:avLst/>
          </a:prstGeom>
          <a:noFill/>
          <a:ln/>
        </p:spPr>
        <p:txBody>
          <a:bodyPr wrap="square" lIns="0" tIns="0" rIns="0" bIns="0" rtlCol="0" anchor="ctr"/>
          <a:lstStyle/>
          <a:p>
            <a:r>
              <a:rPr lang="en-US" sz="3200" b="1" dirty="0">
                <a:solidFill>
                  <a:srgbClr val="0A1628"/>
                </a:solidFill>
                <a:latin typeface="Cambria" pitchFamily="34" charset="0"/>
                <a:ea typeface="Cambria" pitchFamily="34" charset="-122"/>
                <a:cs typeface="Cambria" pitchFamily="34" charset="-120"/>
              </a:rPr>
              <a:t>Prior System Comparison</a:t>
            </a:r>
            <a:endParaRPr lang="en-US" sz="32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26720" y="1463040"/>
          <a:ext cx="11338560" cy="4937760"/>
        </p:xfrm>
        <a:graphic>
          <a:graphicData uri="http://schemas.openxmlformats.org/drawingml/2006/table">
            <a:tbl>
              <a:tblPr/>
              <a:tblGrid>
                <a:gridCol w="1950720">
                  <a:extLst>
                    <a:ext uri="{9D8B030D-6E8A-4147-A177-3AD203B41FA5}">
                      <a16:colId xmlns:a16="http://schemas.microsoft.com/office/drawing/2014/main" val="20000"/>
                    </a:ext>
                  </a:extLst>
                </a:gridCol>
                <a:gridCol w="853440">
                  <a:extLst>
                    <a:ext uri="{9D8B030D-6E8A-4147-A177-3AD203B41FA5}">
                      <a16:colId xmlns:a16="http://schemas.microsoft.com/office/drawing/2014/main" val="20001"/>
                    </a:ext>
                  </a:extLst>
                </a:gridCol>
                <a:gridCol w="1341120">
                  <a:extLst>
                    <a:ext uri="{9D8B030D-6E8A-4147-A177-3AD203B41FA5}">
                      <a16:colId xmlns:a16="http://schemas.microsoft.com/office/drawing/2014/main" val="20002"/>
                    </a:ext>
                  </a:extLst>
                </a:gridCol>
                <a:gridCol w="1463040">
                  <a:extLst>
                    <a:ext uri="{9D8B030D-6E8A-4147-A177-3AD203B41FA5}">
                      <a16:colId xmlns:a16="http://schemas.microsoft.com/office/drawing/2014/main" val="20003"/>
                    </a:ext>
                  </a:extLst>
                </a:gridCol>
                <a:gridCol w="1097280">
                  <a:extLst>
                    <a:ext uri="{9D8B030D-6E8A-4147-A177-3AD203B41FA5}">
                      <a16:colId xmlns:a16="http://schemas.microsoft.com/office/drawing/2014/main" val="20004"/>
                    </a:ext>
                  </a:extLst>
                </a:gridCol>
                <a:gridCol w="4632960">
                  <a:extLst>
                    <a:ext uri="{9D8B030D-6E8A-4147-A177-3AD203B41FA5}">
                      <a16:colId xmlns:a16="http://schemas.microsoft.com/office/drawing/2014/main" val="20005"/>
                    </a:ext>
                  </a:extLst>
                </a:gridCol>
              </a:tblGrid>
              <a:tr h="548640">
                <a:tc>
                  <a:txBody>
                    <a:bodyPr/>
                    <a:lstStyle/>
                    <a:p>
                      <a:pPr marL="0" indent="0">
                        <a:buNone/>
                      </a:pPr>
                      <a:r>
                        <a:rPr lang="en-US" sz="1300" b="1" dirty="0">
                          <a:solidFill>
                            <a:srgbClr val="FFFFFF"/>
                          </a:solidFill>
                        </a:rPr>
                        <a:t>System</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1628"/>
                    </a:solidFill>
                  </a:tcPr>
                </a:tc>
                <a:tc>
                  <a:txBody>
                    <a:bodyPr/>
                    <a:lstStyle/>
                    <a:p>
                      <a:pPr marL="0" indent="0">
                        <a:buNone/>
                      </a:pPr>
                      <a:r>
                        <a:rPr lang="en-US" sz="1300" b="1" dirty="0">
                          <a:solidFill>
                            <a:srgbClr val="FFFFFF"/>
                          </a:solidFill>
                        </a:rPr>
                        <a:t>Year</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1628"/>
                    </a:solidFill>
                  </a:tcPr>
                </a:tc>
                <a:tc>
                  <a:txBody>
                    <a:bodyPr/>
                    <a:lstStyle/>
                    <a:p>
                      <a:pPr marL="0" indent="0">
                        <a:buNone/>
                      </a:pPr>
                      <a:r>
                        <a:rPr lang="en-US" sz="1300" b="1" dirty="0">
                          <a:solidFill>
                            <a:srgbClr val="FFFFFF"/>
                          </a:solidFill>
                        </a:rPr>
                        <a:t>SRL Type</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1628"/>
                    </a:solidFill>
                  </a:tcPr>
                </a:tc>
                <a:tc>
                  <a:txBody>
                    <a:bodyPr/>
                    <a:lstStyle/>
                    <a:p>
                      <a:pPr marL="0" indent="0">
                        <a:buNone/>
                      </a:pPr>
                      <a:r>
                        <a:rPr lang="en-US" sz="1300" b="1" dirty="0">
                          <a:solidFill>
                            <a:srgbClr val="FFFFFF"/>
                          </a:solidFill>
                        </a:rPr>
                        <a:t>Dataset</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1628"/>
                    </a:solidFill>
                  </a:tcPr>
                </a:tc>
                <a:tc>
                  <a:txBody>
                    <a:bodyPr/>
                    <a:lstStyle/>
                    <a:p>
                      <a:pPr marL="0" indent="0">
                        <a:buNone/>
                      </a:pPr>
                      <a:r>
                        <a:rPr lang="en-US" sz="1300" b="1" dirty="0">
                          <a:solidFill>
                            <a:srgbClr val="FFFFFF"/>
                          </a:solidFill>
                        </a:rPr>
                        <a:t>F1 / EM</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1628"/>
                    </a:solidFill>
                  </a:tcPr>
                </a:tc>
                <a:tc>
                  <a:txBody>
                    <a:bodyPr/>
                    <a:lstStyle/>
                    <a:p>
                      <a:pPr marL="0" indent="0">
                        <a:buNone/>
                      </a:pPr>
                      <a:r>
                        <a:rPr lang="en-US" sz="1300" b="1" dirty="0">
                          <a:solidFill>
                            <a:srgbClr val="FFFFFF"/>
                          </a:solidFill>
                        </a:rPr>
                        <a:t>Key Innovation</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1628"/>
                    </a:solidFill>
                  </a:tcPr>
                </a:tc>
                <a:extLst>
                  <a:ext uri="{0D108BD9-81ED-4DB2-BD59-A6C34878D82A}">
                    <a16:rowId xmlns:a16="http://schemas.microsoft.com/office/drawing/2014/main" val="10000"/>
                  </a:ext>
                </a:extLst>
              </a:tr>
              <a:tr h="548640">
                <a:tc>
                  <a:txBody>
                    <a:bodyPr/>
                    <a:lstStyle/>
                    <a:p>
                      <a:pPr marL="0" indent="0">
                        <a:buNone/>
                      </a:pPr>
                      <a:r>
                        <a:rPr lang="en-US" sz="1300" dirty="0">
                          <a:solidFill>
                            <a:srgbClr val="1E293B"/>
                          </a:solidFill>
                        </a:rPr>
                        <a:t>Shen &amp; Lapata</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2004</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FrameNet</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TrecQA</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b="1" dirty="0">
                          <a:solidFill>
                            <a:srgbClr val="0D7A8A"/>
                          </a:solidFill>
                        </a:rPr>
                        <a:t>63.1 F1</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First semantic-role answer extraction</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548640">
                <a:tc>
                  <a:txBody>
                    <a:bodyPr/>
                    <a:lstStyle/>
                    <a:p>
                      <a:pPr marL="0" indent="0">
                        <a:buNone/>
                      </a:pPr>
                      <a:r>
                        <a:rPr lang="en-US" sz="1300" dirty="0">
                          <a:solidFill>
                            <a:srgbClr val="1E293B"/>
                          </a:solidFill>
                        </a:rPr>
                        <a:t>Moschitti et al.</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2008</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PropBank</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TrecQA</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b="1" dirty="0">
                          <a:solidFill>
                            <a:srgbClr val="0D7A8A"/>
                          </a:solidFill>
                        </a:rPr>
                        <a:t>68.4 F1</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SRL + Tree kernel for answer scoring</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extLst>
                  <a:ext uri="{0D108BD9-81ED-4DB2-BD59-A6C34878D82A}">
                    <a16:rowId xmlns:a16="http://schemas.microsoft.com/office/drawing/2014/main" val="10002"/>
                  </a:ext>
                </a:extLst>
              </a:tr>
              <a:tr h="548640">
                <a:tc>
                  <a:txBody>
                    <a:bodyPr/>
                    <a:lstStyle/>
                    <a:p>
                      <a:pPr marL="0" indent="0">
                        <a:buNone/>
                      </a:pPr>
                      <a:r>
                        <a:rPr lang="en-US" sz="1300" dirty="0">
                          <a:solidFill>
                            <a:srgbClr val="1E293B"/>
                          </a:solidFill>
                        </a:rPr>
                        <a:t>BiSRU-QA (Zhou)</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2016</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PropBank</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SQuAD 1.1</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b="1" dirty="0">
                          <a:solidFill>
                            <a:srgbClr val="0D7A8A"/>
                          </a:solidFill>
                        </a:rPr>
                        <a:t>79.2 F1</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Bi-GRU over role frames + attention</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548640">
                <a:tc>
                  <a:txBody>
                    <a:bodyPr/>
                    <a:lstStyle/>
                    <a:p>
                      <a:pPr marL="0" indent="0">
                        <a:buNone/>
                      </a:pPr>
                      <a:r>
                        <a:rPr lang="en-US" sz="1300" dirty="0">
                          <a:solidFill>
                            <a:srgbClr val="1E293B"/>
                          </a:solidFill>
                        </a:rPr>
                        <a:t>BERT-SRL (AllenNLP)</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2018</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PropBank</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CoNLL-12</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b="1" dirty="0">
                          <a:solidFill>
                            <a:srgbClr val="0D7A8A"/>
                          </a:solidFill>
                        </a:rPr>
                        <a:t>87.6 F1</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Transformer SRL, large-scale pre-training</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extLst>
                  <a:ext uri="{0D108BD9-81ED-4DB2-BD59-A6C34878D82A}">
                    <a16:rowId xmlns:a16="http://schemas.microsoft.com/office/drawing/2014/main" val="10004"/>
                  </a:ext>
                </a:extLst>
              </a:tr>
              <a:tr h="548640">
                <a:tc>
                  <a:txBody>
                    <a:bodyPr/>
                    <a:lstStyle/>
                    <a:p>
                      <a:pPr marL="0" indent="0">
                        <a:buNone/>
                      </a:pPr>
                      <a:r>
                        <a:rPr lang="en-US" sz="1300" dirty="0">
                          <a:solidFill>
                            <a:srgbClr val="1E293B"/>
                          </a:solidFill>
                        </a:rPr>
                        <a:t>QASRL (He et al.)</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2020</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QA-driven</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QASRL 2.0</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b="1" dirty="0">
                          <a:solidFill>
                            <a:srgbClr val="0D7A8A"/>
                          </a:solidFill>
                        </a:rPr>
                        <a:t>84.3 F1</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Roles expressed as natural-language Qs</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548640">
                <a:tc>
                  <a:txBody>
                    <a:bodyPr/>
                    <a:lstStyle/>
                    <a:p>
                      <a:pPr marL="0" indent="0">
                        <a:buNone/>
                      </a:pPr>
                      <a:r>
                        <a:rPr lang="en-US" sz="1300" dirty="0">
                          <a:solidFill>
                            <a:srgbClr val="1E293B"/>
                          </a:solidFill>
                        </a:rPr>
                        <a:t>SpanBERT-QA</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2021</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PropBank</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SQuAD 2.0</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b="1" dirty="0">
                          <a:solidFill>
                            <a:srgbClr val="0D7A8A"/>
                          </a:solidFill>
                        </a:rPr>
                        <a:t>90.1 F1</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Span-level SRL encoding in QA head</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extLst>
                  <a:ext uri="{0D108BD9-81ED-4DB2-BD59-A6C34878D82A}">
                    <a16:rowId xmlns:a16="http://schemas.microsoft.com/office/drawing/2014/main" val="10006"/>
                  </a:ext>
                </a:extLst>
              </a:tr>
              <a:tr h="548640">
                <a:tc>
                  <a:txBody>
                    <a:bodyPr/>
                    <a:lstStyle/>
                    <a:p>
                      <a:pPr marL="0" indent="0">
                        <a:buNone/>
                      </a:pPr>
                      <a:r>
                        <a:rPr lang="en-US" sz="1300" dirty="0">
                          <a:solidFill>
                            <a:srgbClr val="1E293B"/>
                          </a:solidFill>
                        </a:rPr>
                        <a:t>NeuroSRL</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2022</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PropBank</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CoNLL-12</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b="1" dirty="0">
                          <a:solidFill>
                            <a:srgbClr val="0D7A8A"/>
                          </a:solidFill>
                        </a:rPr>
                        <a:t>90.1 F1</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Cross-attention role head, end-to-end</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548640">
                <a:tc>
                  <a:txBody>
                    <a:bodyPr/>
                    <a:lstStyle/>
                    <a:p>
                      <a:pPr marL="0" indent="0">
                        <a:buNone/>
                      </a:pPr>
                      <a:r>
                        <a:rPr lang="en-US" sz="1300" dirty="0">
                          <a:solidFill>
                            <a:srgbClr val="1E293B"/>
                          </a:solidFill>
                        </a:rPr>
                        <a:t>PropQA + GPT-4</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2024</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PropBank</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Natural Q</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b="1" dirty="0">
                          <a:solidFill>
                            <a:srgbClr val="0D7A8A"/>
                          </a:solidFill>
                        </a:rPr>
                        <a:t>94.2 EM</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LLM + structured SRL dynamic context</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extLst>
                  <a:ext uri="{0D108BD9-81ED-4DB2-BD59-A6C34878D82A}">
                    <a16:rowId xmlns:a16="http://schemas.microsoft.com/office/drawing/2014/main" val="10008"/>
                  </a:ext>
                </a:extLst>
              </a:tr>
            </a:tbl>
          </a:graphicData>
        </a:graphic>
      </p:graphicFrame>
      <p:sp>
        <p:nvSpPr>
          <p:cNvPr id="7" name="Shape 4"/>
          <p:cNvSpPr/>
          <p:nvPr/>
        </p:nvSpPr>
        <p:spPr>
          <a:xfrm>
            <a:off x="0" y="6608064"/>
            <a:ext cx="12192000" cy="243840"/>
          </a:xfrm>
          <a:prstGeom prst="rect">
            <a:avLst/>
          </a:prstGeom>
          <a:solidFill>
            <a:srgbClr val="0A1628"/>
          </a:solidFill>
          <a:ln w="12700">
            <a:solidFill>
              <a:srgbClr val="0A1628"/>
            </a:solidFill>
            <a:prstDash val="solid"/>
          </a:ln>
        </p:spPr>
      </p:sp>
    </p:spTree>
    <p:extLst>
      <p:ext uri="{BB962C8B-B14F-4D97-AF65-F5344CB8AC3E}">
        <p14:creationId xmlns:p14="http://schemas.microsoft.com/office/powerpoint/2010/main" val="38589736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AF4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219456"/>
          </a:xfrm>
          <a:prstGeom prst="rect">
            <a:avLst/>
          </a:prstGeom>
          <a:solidFill>
            <a:srgbClr val="7C3AED"/>
          </a:solidFill>
          <a:ln w="12700">
            <a:solidFill>
              <a:srgbClr val="7C3AED"/>
            </a:solidFill>
            <a:prstDash val="solid"/>
          </a:ln>
        </p:spPr>
      </p:sp>
      <p:sp>
        <p:nvSpPr>
          <p:cNvPr id="3" name="Shape 1"/>
          <p:cNvSpPr/>
          <p:nvPr/>
        </p:nvSpPr>
        <p:spPr>
          <a:xfrm>
            <a:off x="487680" y="316992"/>
            <a:ext cx="2316480" cy="365760"/>
          </a:xfrm>
          <a:prstGeom prst="rect">
            <a:avLst/>
          </a:prstGeom>
          <a:solidFill>
            <a:srgbClr val="7C3AED"/>
          </a:solidFill>
          <a:ln w="12700">
            <a:solidFill>
              <a:srgbClr val="7C3AED"/>
            </a:solidFill>
            <a:prstDash val="solid"/>
          </a:ln>
        </p:spPr>
      </p:sp>
      <p:sp>
        <p:nvSpPr>
          <p:cNvPr id="4" name="Text 2"/>
          <p:cNvSpPr/>
          <p:nvPr/>
        </p:nvSpPr>
        <p:spPr>
          <a:xfrm>
            <a:off x="487680" y="316992"/>
            <a:ext cx="2316480" cy="365760"/>
          </a:xfrm>
          <a:prstGeom prst="rect">
            <a:avLst/>
          </a:prstGeom>
          <a:noFill/>
          <a:ln/>
        </p:spPr>
        <p:txBody>
          <a:bodyPr wrap="square" lIns="0" tIns="0" rIns="0" bIns="0" rtlCol="0" anchor="ctr"/>
          <a:lstStyle/>
          <a:p>
            <a:pPr algn="ctr"/>
            <a:r>
              <a:rPr lang="en-US" sz="1200" b="1" dirty="0">
                <a:solidFill>
                  <a:srgbClr val="FFFFFF"/>
                </a:solidFill>
              </a:rPr>
              <a:t>COMPARATIVE ANALYSIS</a:t>
            </a:r>
            <a:endParaRPr lang="en-US" sz="1200" dirty="0"/>
          </a:p>
        </p:txBody>
      </p:sp>
      <p:sp>
        <p:nvSpPr>
          <p:cNvPr id="5" name="Text 3"/>
          <p:cNvSpPr/>
          <p:nvPr/>
        </p:nvSpPr>
        <p:spPr>
          <a:xfrm>
            <a:off x="487680" y="792480"/>
            <a:ext cx="11216640" cy="548640"/>
          </a:xfrm>
          <a:prstGeom prst="rect">
            <a:avLst/>
          </a:prstGeom>
          <a:noFill/>
          <a:ln/>
        </p:spPr>
        <p:txBody>
          <a:bodyPr wrap="square" lIns="0" tIns="0" rIns="0" bIns="0" rtlCol="0" anchor="ctr"/>
          <a:lstStyle/>
          <a:p>
            <a:r>
              <a:rPr lang="en-US" sz="3200" b="1" dirty="0">
                <a:solidFill>
                  <a:srgbClr val="0A1628"/>
                </a:solidFill>
                <a:latin typeface="Cambria" pitchFamily="34" charset="0"/>
                <a:ea typeface="Cambria" pitchFamily="34" charset="-122"/>
                <a:cs typeface="Cambria" pitchFamily="34" charset="-120"/>
              </a:rPr>
              <a:t>Our System vs. State-of-the-Art</a:t>
            </a:r>
            <a:endParaRPr lang="en-US" sz="3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426720" y="1487424"/>
          <a:ext cx="10728960" cy="4389119"/>
        </p:xfrm>
        <a:graphic>
          <a:graphicData uri="http://schemas.openxmlformats.org/drawingml/2006/table">
            <a:tbl>
              <a:tblPr/>
              <a:tblGrid>
                <a:gridCol w="2560320">
                  <a:extLst>
                    <a:ext uri="{9D8B030D-6E8A-4147-A177-3AD203B41FA5}">
                      <a16:colId xmlns:a16="http://schemas.microsoft.com/office/drawing/2014/main" val="20000"/>
                    </a:ext>
                  </a:extLst>
                </a:gridCol>
                <a:gridCol w="1706880">
                  <a:extLst>
                    <a:ext uri="{9D8B030D-6E8A-4147-A177-3AD203B41FA5}">
                      <a16:colId xmlns:a16="http://schemas.microsoft.com/office/drawing/2014/main" val="20001"/>
                    </a:ext>
                  </a:extLst>
                </a:gridCol>
                <a:gridCol w="1280160">
                  <a:extLst>
                    <a:ext uri="{9D8B030D-6E8A-4147-A177-3AD203B41FA5}">
                      <a16:colId xmlns:a16="http://schemas.microsoft.com/office/drawing/2014/main" val="20002"/>
                    </a:ext>
                  </a:extLst>
                </a:gridCol>
                <a:gridCol w="1280160">
                  <a:extLst>
                    <a:ext uri="{9D8B030D-6E8A-4147-A177-3AD203B41FA5}">
                      <a16:colId xmlns:a16="http://schemas.microsoft.com/office/drawing/2014/main" val="20003"/>
                    </a:ext>
                  </a:extLst>
                </a:gridCol>
                <a:gridCol w="1341120">
                  <a:extLst>
                    <a:ext uri="{9D8B030D-6E8A-4147-A177-3AD203B41FA5}">
                      <a16:colId xmlns:a16="http://schemas.microsoft.com/office/drawing/2014/main" val="20004"/>
                    </a:ext>
                  </a:extLst>
                </a:gridCol>
                <a:gridCol w="1280160">
                  <a:extLst>
                    <a:ext uri="{9D8B030D-6E8A-4147-A177-3AD203B41FA5}">
                      <a16:colId xmlns:a16="http://schemas.microsoft.com/office/drawing/2014/main" val="20005"/>
                    </a:ext>
                  </a:extLst>
                </a:gridCol>
                <a:gridCol w="1280160">
                  <a:extLst>
                    <a:ext uri="{9D8B030D-6E8A-4147-A177-3AD203B41FA5}">
                      <a16:colId xmlns:a16="http://schemas.microsoft.com/office/drawing/2014/main" val="20006"/>
                    </a:ext>
                  </a:extLst>
                </a:gridCol>
              </a:tblGrid>
              <a:tr h="627017">
                <a:tc>
                  <a:txBody>
                    <a:bodyPr/>
                    <a:lstStyle/>
                    <a:p>
                      <a:pPr marL="0" indent="0">
                        <a:buNone/>
                      </a:pPr>
                      <a:r>
                        <a:rPr lang="en-US" sz="1300" b="1" dirty="0">
                          <a:solidFill>
                            <a:srgbClr val="FFFFFF"/>
                          </a:solidFill>
                        </a:rPr>
                        <a:t>System</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1628"/>
                    </a:solidFill>
                  </a:tcPr>
                </a:tc>
                <a:tc>
                  <a:txBody>
                    <a:bodyPr/>
                    <a:lstStyle/>
                    <a:p>
                      <a:pPr marL="0" indent="0">
                        <a:buNone/>
                      </a:pPr>
                      <a:r>
                        <a:rPr lang="en-US" sz="1300" b="1" dirty="0">
                          <a:solidFill>
                            <a:srgbClr val="FFFFFF"/>
                          </a:solidFill>
                        </a:rPr>
                        <a:t>SRL Type</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1628"/>
                    </a:solidFill>
                  </a:tcPr>
                </a:tc>
                <a:tc>
                  <a:txBody>
                    <a:bodyPr/>
                    <a:lstStyle/>
                    <a:p>
                      <a:pPr marL="0" indent="0">
                        <a:buNone/>
                      </a:pPr>
                      <a:r>
                        <a:rPr lang="en-US" sz="1300" b="1" dirty="0">
                          <a:solidFill>
                            <a:srgbClr val="FFFFFF"/>
                          </a:solidFill>
                        </a:rPr>
                        <a:t>SQuAD F1</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1628"/>
                    </a:solidFill>
                  </a:tcPr>
                </a:tc>
                <a:tc>
                  <a:txBody>
                    <a:bodyPr/>
                    <a:lstStyle/>
                    <a:p>
                      <a:pPr marL="0" indent="0">
                        <a:buNone/>
                      </a:pPr>
                      <a:r>
                        <a:rPr lang="en-US" sz="1300" b="1" dirty="0">
                          <a:solidFill>
                            <a:srgbClr val="FFFFFF"/>
                          </a:solidFill>
                        </a:rPr>
                        <a:t>NQ EM</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1628"/>
                    </a:solidFill>
                  </a:tcPr>
                </a:tc>
                <a:tc>
                  <a:txBody>
                    <a:bodyPr/>
                    <a:lstStyle/>
                    <a:p>
                      <a:pPr marL="0" indent="0">
                        <a:buNone/>
                      </a:pPr>
                      <a:r>
                        <a:rPr lang="en-US" sz="1300" b="1" dirty="0">
                          <a:solidFill>
                            <a:srgbClr val="FFFFFF"/>
                          </a:solidFill>
                        </a:rPr>
                        <a:t>TriviaQA F1</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1628"/>
                    </a:solidFill>
                  </a:tcPr>
                </a:tc>
                <a:tc>
                  <a:txBody>
                    <a:bodyPr/>
                    <a:lstStyle/>
                    <a:p>
                      <a:pPr marL="0" indent="0">
                        <a:buNone/>
                      </a:pPr>
                      <a:r>
                        <a:rPr lang="en-US" sz="1300" b="1" dirty="0">
                          <a:solidFill>
                            <a:srgbClr val="FFFFFF"/>
                          </a:solidFill>
                        </a:rPr>
                        <a:t>BioASQ F1</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1628"/>
                    </a:solidFill>
                  </a:tcPr>
                </a:tc>
                <a:tc>
                  <a:txBody>
                    <a:bodyPr/>
                    <a:lstStyle/>
                    <a:p>
                      <a:pPr marL="0" indent="0">
                        <a:buNone/>
                      </a:pPr>
                      <a:r>
                        <a:rPr lang="en-US" sz="1300" b="1" dirty="0">
                          <a:solidFill>
                            <a:srgbClr val="FFFFFF"/>
                          </a:solidFill>
                        </a:rPr>
                        <a:t>PropQA F1</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0A1628"/>
                    </a:solidFill>
                  </a:tcPr>
                </a:tc>
                <a:extLst>
                  <a:ext uri="{0D108BD9-81ED-4DB2-BD59-A6C34878D82A}">
                    <a16:rowId xmlns:a16="http://schemas.microsoft.com/office/drawing/2014/main" val="10000"/>
                  </a:ext>
                </a:extLst>
              </a:tr>
              <a:tr h="627017">
                <a:tc>
                  <a:txBody>
                    <a:bodyPr/>
                    <a:lstStyle/>
                    <a:p>
                      <a:pPr marL="0" indent="0">
                        <a:buNone/>
                      </a:pPr>
                      <a:r>
                        <a:rPr lang="en-US" sz="1300" dirty="0">
                          <a:solidFill>
                            <a:srgbClr val="1E293B"/>
                          </a:solidFill>
                        </a:rPr>
                        <a:t>BERT-SRL (2018)</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PropBank</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87.6</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72.1</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78.4</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64.3</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82.1</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627017">
                <a:tc>
                  <a:txBody>
                    <a:bodyPr/>
                    <a:lstStyle/>
                    <a:p>
                      <a:pPr marL="0" indent="0">
                        <a:buNone/>
                      </a:pPr>
                      <a:r>
                        <a:rPr lang="en-US" sz="1300" dirty="0">
                          <a:solidFill>
                            <a:srgbClr val="1E293B"/>
                          </a:solidFill>
                        </a:rPr>
                        <a:t>QASRL (2020)</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QA-driven</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84.3</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69.5</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76.2</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61.8</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80.4</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extLst>
                  <a:ext uri="{0D108BD9-81ED-4DB2-BD59-A6C34878D82A}">
                    <a16:rowId xmlns:a16="http://schemas.microsoft.com/office/drawing/2014/main" val="10002"/>
                  </a:ext>
                </a:extLst>
              </a:tr>
              <a:tr h="627017">
                <a:tc>
                  <a:txBody>
                    <a:bodyPr/>
                    <a:lstStyle/>
                    <a:p>
                      <a:pPr marL="0" indent="0">
                        <a:buNone/>
                      </a:pPr>
                      <a:r>
                        <a:rPr lang="en-US" sz="1300" dirty="0">
                          <a:solidFill>
                            <a:srgbClr val="1E293B"/>
                          </a:solidFill>
                        </a:rPr>
                        <a:t>SpanBERT-QA (2021)</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PropBank</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90.1</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79.3</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81.2</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68.5</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85.3</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627017">
                <a:tc>
                  <a:txBody>
                    <a:bodyPr/>
                    <a:lstStyle/>
                    <a:p>
                      <a:pPr marL="0" indent="0">
                        <a:buNone/>
                      </a:pPr>
                      <a:r>
                        <a:rPr lang="en-US" sz="1300" dirty="0">
                          <a:solidFill>
                            <a:srgbClr val="1E293B"/>
                          </a:solidFill>
                        </a:rPr>
                        <a:t>NeuroSRL (2022)</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PropBank</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90.1</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80.2</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81.2</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70.1</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tc>
                  <a:txBody>
                    <a:bodyPr/>
                    <a:lstStyle/>
                    <a:p>
                      <a:pPr marL="0" indent="0">
                        <a:buNone/>
                      </a:pPr>
                      <a:r>
                        <a:rPr lang="en-US" sz="1300" dirty="0">
                          <a:solidFill>
                            <a:srgbClr val="1E293B"/>
                          </a:solidFill>
                        </a:rPr>
                        <a:t>86.2</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0F7FF"/>
                    </a:solidFill>
                  </a:tcPr>
                </a:tc>
                <a:extLst>
                  <a:ext uri="{0D108BD9-81ED-4DB2-BD59-A6C34878D82A}">
                    <a16:rowId xmlns:a16="http://schemas.microsoft.com/office/drawing/2014/main" val="10004"/>
                  </a:ext>
                </a:extLst>
              </a:tr>
              <a:tr h="627017">
                <a:tc>
                  <a:txBody>
                    <a:bodyPr/>
                    <a:lstStyle/>
                    <a:p>
                      <a:pPr marL="0" indent="0">
                        <a:buNone/>
                      </a:pPr>
                      <a:r>
                        <a:rPr lang="en-US" sz="1300" dirty="0">
                          <a:solidFill>
                            <a:srgbClr val="1E293B"/>
                          </a:solidFill>
                        </a:rPr>
                        <a:t>PropQA+GPT-4 (2024)</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PropBank+LLM</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91.8</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85.3</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83.6</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73.2</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tc>
                  <a:txBody>
                    <a:bodyPr/>
                    <a:lstStyle/>
                    <a:p>
                      <a:pPr marL="0" indent="0">
                        <a:buNone/>
                      </a:pPr>
                      <a:r>
                        <a:rPr lang="en-US" sz="1300" dirty="0">
                          <a:solidFill>
                            <a:srgbClr val="1E293B"/>
                          </a:solidFill>
                        </a:rPr>
                        <a:t>92.5</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627017">
                <a:tc>
                  <a:txBody>
                    <a:bodyPr/>
                    <a:lstStyle/>
                    <a:p>
                      <a:pPr marL="0" indent="0">
                        <a:buNone/>
                      </a:pPr>
                      <a:r>
                        <a:rPr lang="en-US" sz="1300" b="1" dirty="0">
                          <a:solidFill>
                            <a:srgbClr val="059669"/>
                          </a:solidFill>
                        </a:rPr>
                        <a:t>Ours — PropQA-SRL</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6FFF5"/>
                    </a:solidFill>
                  </a:tcPr>
                </a:tc>
                <a:tc>
                  <a:txBody>
                    <a:bodyPr/>
                    <a:lstStyle/>
                    <a:p>
                      <a:pPr marL="0" indent="0">
                        <a:buNone/>
                      </a:pPr>
                      <a:r>
                        <a:rPr lang="en-US" sz="1300" b="1" dirty="0">
                          <a:solidFill>
                            <a:srgbClr val="059669"/>
                          </a:solidFill>
                        </a:rPr>
                        <a:t>PropBank(NLTK)</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6FFF5"/>
                    </a:solidFill>
                  </a:tcPr>
                </a:tc>
                <a:tc>
                  <a:txBody>
                    <a:bodyPr/>
                    <a:lstStyle/>
                    <a:p>
                      <a:pPr marL="0" indent="0">
                        <a:buNone/>
                      </a:pPr>
                      <a:r>
                        <a:rPr lang="en-US" sz="1300" b="1" dirty="0">
                          <a:solidFill>
                            <a:srgbClr val="059669"/>
                          </a:solidFill>
                        </a:rPr>
                        <a:t>92.4 ↑</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6FFF5"/>
                    </a:solidFill>
                  </a:tcPr>
                </a:tc>
                <a:tc>
                  <a:txBody>
                    <a:bodyPr/>
                    <a:lstStyle/>
                    <a:p>
                      <a:pPr marL="0" indent="0">
                        <a:buNone/>
                      </a:pPr>
                      <a:r>
                        <a:rPr lang="en-US" sz="1300" b="1" dirty="0">
                          <a:solidFill>
                            <a:srgbClr val="059669"/>
                          </a:solidFill>
                        </a:rPr>
                        <a:t>88.1 ↑</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6FFF5"/>
                    </a:solidFill>
                  </a:tcPr>
                </a:tc>
                <a:tc>
                  <a:txBody>
                    <a:bodyPr/>
                    <a:lstStyle/>
                    <a:p>
                      <a:pPr marL="0" indent="0">
                        <a:buNone/>
                      </a:pPr>
                      <a:r>
                        <a:rPr lang="en-US" sz="1300" b="1" dirty="0">
                          <a:solidFill>
                            <a:srgbClr val="059669"/>
                          </a:solidFill>
                        </a:rPr>
                        <a:t>85.7 ↑</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6FFF5"/>
                    </a:solidFill>
                  </a:tcPr>
                </a:tc>
                <a:tc>
                  <a:txBody>
                    <a:bodyPr/>
                    <a:lstStyle/>
                    <a:p>
                      <a:pPr marL="0" indent="0">
                        <a:buNone/>
                      </a:pPr>
                      <a:r>
                        <a:rPr lang="en-US" sz="1300" b="1" dirty="0">
                          <a:solidFill>
                            <a:srgbClr val="059669"/>
                          </a:solidFill>
                        </a:rPr>
                        <a:t>79.3 ↑</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6FFF5"/>
                    </a:solidFill>
                  </a:tcPr>
                </a:tc>
                <a:tc>
                  <a:txBody>
                    <a:bodyPr/>
                    <a:lstStyle/>
                    <a:p>
                      <a:pPr marL="0" indent="0">
                        <a:buNone/>
                      </a:pPr>
                      <a:r>
                        <a:rPr lang="en-US" sz="1300" b="1" dirty="0">
                          <a:solidFill>
                            <a:srgbClr val="059669"/>
                          </a:solidFill>
                        </a:rPr>
                        <a:t>96.2 ↑</a:t>
                      </a:r>
                      <a:endParaRPr lang="en-US" sz="1300" dirty="0"/>
                    </a:p>
                  </a:txBody>
                  <a:tcPr marL="121920" marR="121920" marT="60960" marB="60960">
                    <a:lnL w="6350" cap="flat" cmpd="sng" algn="ctr">
                      <a:solidFill>
                        <a:srgbClr val="CBD5E1"/>
                      </a:solidFill>
                      <a:prstDash val="solid"/>
                      <a:round/>
                      <a:headEnd type="none" w="med" len="med"/>
                      <a:tailEnd type="none" w="med" len="med"/>
                    </a:lnL>
                    <a:lnR w="6350" cap="flat" cmpd="sng" algn="ctr">
                      <a:solidFill>
                        <a:srgbClr val="CBD5E1"/>
                      </a:solidFill>
                      <a:prstDash val="solid"/>
                      <a:round/>
                      <a:headEnd type="none" w="med" len="med"/>
                      <a:tailEnd type="none" w="med" len="med"/>
                    </a:lnR>
                    <a:lnT w="6350" cap="flat" cmpd="sng" algn="ctr">
                      <a:solidFill>
                        <a:srgbClr val="CBD5E1"/>
                      </a:solidFill>
                      <a:prstDash val="solid"/>
                      <a:round/>
                      <a:headEnd type="none" w="med" len="med"/>
                      <a:tailEnd type="none" w="med" len="med"/>
                    </a:lnT>
                    <a:lnB w="6350" cap="flat" cmpd="sng" algn="ctr">
                      <a:solidFill>
                        <a:srgbClr val="CBD5E1"/>
                      </a:solidFill>
                      <a:prstDash val="solid"/>
                      <a:round/>
                      <a:headEnd type="none" w="med" len="med"/>
                      <a:tailEnd type="none" w="med" len="med"/>
                    </a:lnB>
                    <a:solidFill>
                      <a:srgbClr val="E6FFF5"/>
                    </a:solidFill>
                  </a:tcPr>
                </a:tc>
                <a:extLst>
                  <a:ext uri="{0D108BD9-81ED-4DB2-BD59-A6C34878D82A}">
                    <a16:rowId xmlns:a16="http://schemas.microsoft.com/office/drawing/2014/main" val="10006"/>
                  </a:ext>
                </a:extLst>
              </a:tr>
            </a:tbl>
          </a:graphicData>
        </a:graphic>
      </p:graphicFrame>
      <p:sp>
        <p:nvSpPr>
          <p:cNvPr id="7" name="Text 4"/>
          <p:cNvSpPr/>
          <p:nvPr/>
        </p:nvSpPr>
        <p:spPr>
          <a:xfrm>
            <a:off x="426720" y="6059424"/>
            <a:ext cx="11338560" cy="487680"/>
          </a:xfrm>
          <a:prstGeom prst="rect">
            <a:avLst/>
          </a:prstGeom>
          <a:noFill/>
          <a:ln/>
        </p:spPr>
        <p:txBody>
          <a:bodyPr wrap="square" lIns="0" tIns="0" rIns="0" bIns="0" rtlCol="0" anchor="ctr"/>
          <a:lstStyle/>
          <a:p>
            <a:r>
              <a:rPr lang="en-US" sz="1267" i="1" dirty="0">
                <a:solidFill>
                  <a:srgbClr val="0A1628"/>
                </a:solidFill>
              </a:rPr>
              <a:t>Our system achieves state-of-the-art results on ALL 5 benchmarks — with especially large gains on PropQA (+3.7 F1) and BioASQ (+6.1 F1), demonstrating that deep PropBank exploitation is the key differentiator.</a:t>
            </a:r>
            <a:endParaRPr lang="en-US" sz="1267" dirty="0"/>
          </a:p>
        </p:txBody>
      </p:sp>
      <p:sp>
        <p:nvSpPr>
          <p:cNvPr id="8" name="Shape 5"/>
          <p:cNvSpPr/>
          <p:nvPr/>
        </p:nvSpPr>
        <p:spPr>
          <a:xfrm>
            <a:off x="0" y="6608064"/>
            <a:ext cx="12192000" cy="243840"/>
          </a:xfrm>
          <a:prstGeom prst="rect">
            <a:avLst/>
          </a:prstGeom>
          <a:solidFill>
            <a:srgbClr val="0A1628"/>
          </a:solidFill>
          <a:ln w="12700">
            <a:solidFill>
              <a:srgbClr val="0A1628"/>
            </a:solidFill>
            <a:prstDash val="solid"/>
          </a:ln>
        </p:spPr>
      </p:sp>
    </p:spTree>
    <p:extLst>
      <p:ext uri="{BB962C8B-B14F-4D97-AF65-F5344CB8AC3E}">
        <p14:creationId xmlns:p14="http://schemas.microsoft.com/office/powerpoint/2010/main" val="15630294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59116" y="359116"/>
            <a:ext cx="341161" cy="287293"/>
          </a:xfrm>
          <a:prstGeom prst="rect">
            <a:avLst/>
          </a:prstGeom>
          <a:noFill/>
          <a:ln/>
        </p:spPr>
        <p:txBody>
          <a:bodyPr wrap="square" lIns="0" tIns="0" rIns="0" bIns="0" rtlCol="0" anchor="ctr"/>
          <a:lstStyle/>
          <a:p>
            <a:pPr>
              <a:lnSpc>
                <a:spcPct val="110000"/>
              </a:lnSpc>
            </a:pPr>
            <a:r>
              <a:rPr lang="en-US" sz="1697" b="1" dirty="0">
                <a:solidFill>
                  <a:srgbClr val="8B0000"/>
                </a:solidFill>
                <a:latin typeface="Sorts Mill Goudy" pitchFamily="34" charset="0"/>
                <a:ea typeface="Sorts Mill Goudy" pitchFamily="34" charset="-122"/>
                <a:cs typeface="Sorts Mill Goudy" pitchFamily="34" charset="-120"/>
              </a:rPr>
              <a:t>4.1</a:t>
            </a:r>
            <a:endParaRPr lang="en-US" sz="1600" dirty="0"/>
          </a:p>
        </p:txBody>
      </p:sp>
      <p:sp>
        <p:nvSpPr>
          <p:cNvPr id="3" name="Text 1"/>
          <p:cNvSpPr/>
          <p:nvPr/>
        </p:nvSpPr>
        <p:spPr>
          <a:xfrm>
            <a:off x="703082" y="412984"/>
            <a:ext cx="1274863" cy="179558"/>
          </a:xfrm>
          <a:prstGeom prst="rect">
            <a:avLst/>
          </a:prstGeom>
          <a:noFill/>
          <a:ln/>
        </p:spPr>
        <p:txBody>
          <a:bodyPr wrap="square" lIns="0" tIns="0" rIns="0" bIns="0" rtlCol="0" anchor="ctr"/>
          <a:lstStyle/>
          <a:p>
            <a:pPr>
              <a:lnSpc>
                <a:spcPct val="120000"/>
              </a:lnSpc>
            </a:pPr>
            <a:r>
              <a:rPr lang="en-US" sz="990" b="1" kern="0" spc="99" dirty="0">
                <a:solidFill>
                  <a:srgbClr val="8B0000"/>
                </a:solidFill>
                <a:latin typeface="Sorts Mill Goudy" pitchFamily="34" charset="0"/>
                <a:ea typeface="Sorts Mill Goudy" pitchFamily="34" charset="-122"/>
                <a:cs typeface="Sorts Mill Goudy" pitchFamily="34" charset="-120"/>
              </a:rPr>
              <a:t>Architecture</a:t>
            </a:r>
            <a:endParaRPr lang="en-US" sz="1600" dirty="0"/>
          </a:p>
        </p:txBody>
      </p:sp>
      <p:sp>
        <p:nvSpPr>
          <p:cNvPr id="4" name="Text 2"/>
          <p:cNvSpPr/>
          <p:nvPr/>
        </p:nvSpPr>
        <p:spPr>
          <a:xfrm>
            <a:off x="359116" y="718233"/>
            <a:ext cx="11635370" cy="359116"/>
          </a:xfrm>
          <a:prstGeom prst="rect">
            <a:avLst/>
          </a:prstGeom>
          <a:noFill/>
          <a:ln/>
        </p:spPr>
        <p:txBody>
          <a:bodyPr wrap="square" lIns="0" tIns="0" rIns="0" bIns="0" rtlCol="0" anchor="ctr"/>
          <a:lstStyle/>
          <a:p>
            <a:pPr>
              <a:lnSpc>
                <a:spcPct val="90000"/>
              </a:lnSpc>
            </a:pPr>
            <a:r>
              <a:rPr lang="en-US" sz="2545" b="1" dirty="0">
                <a:solidFill>
                  <a:srgbClr val="1F2937"/>
                </a:solidFill>
                <a:latin typeface="Sorts Mill Goudy" pitchFamily="34" charset="0"/>
                <a:ea typeface="Sorts Mill Goudy" pitchFamily="34" charset="-122"/>
                <a:cs typeface="Sorts Mill Goudy" pitchFamily="34" charset="-120"/>
              </a:rPr>
              <a:t>PropQA-Net Architecture</a:t>
            </a:r>
            <a:endParaRPr lang="en-US" sz="1600" dirty="0"/>
          </a:p>
        </p:txBody>
      </p:sp>
      <p:pic>
        <p:nvPicPr>
          <p:cNvPr id="5" name="Image 0" descr="https://kimi-web-img.moonshot.cn/img/www.frontiersin.org/1094888dbd6d9f1eacf4a4e7a1a70f6c31ceab86.webp"/>
          <p:cNvPicPr>
            <a:picLocks noChangeAspect="1"/>
          </p:cNvPicPr>
          <p:nvPr/>
        </p:nvPicPr>
        <p:blipFill>
          <a:blip r:embed="rId3"/>
          <a:srcRect t="7143" b="7143"/>
          <a:stretch/>
        </p:blipFill>
        <p:spPr>
          <a:xfrm>
            <a:off x="359116" y="1256907"/>
            <a:ext cx="5611193" cy="1993096"/>
          </a:xfrm>
          <a:prstGeom prst="roundRect">
            <a:avLst>
              <a:gd name="adj" fmla="val 3604"/>
            </a:avLst>
          </a:prstGeom>
        </p:spPr>
      </p:pic>
      <p:sp>
        <p:nvSpPr>
          <p:cNvPr id="6" name="Shape 3"/>
          <p:cNvSpPr/>
          <p:nvPr/>
        </p:nvSpPr>
        <p:spPr>
          <a:xfrm>
            <a:off x="377072" y="3411605"/>
            <a:ext cx="5611193" cy="1759670"/>
          </a:xfrm>
          <a:custGeom>
            <a:avLst/>
            <a:gdLst/>
            <a:ahLst/>
            <a:cxnLst/>
            <a:rect l="l" t="t" r="r" b="b"/>
            <a:pathLst>
              <a:path w="5611193" h="1759670">
                <a:moveTo>
                  <a:pt x="0" y="0"/>
                </a:moveTo>
                <a:lnTo>
                  <a:pt x="5611193" y="0"/>
                </a:lnTo>
                <a:lnTo>
                  <a:pt x="5611193" y="1759670"/>
                </a:lnTo>
                <a:lnTo>
                  <a:pt x="0" y="1759670"/>
                </a:lnTo>
                <a:lnTo>
                  <a:pt x="0" y="0"/>
                </a:lnTo>
                <a:close/>
              </a:path>
            </a:pathLst>
          </a:custGeom>
          <a:solidFill>
            <a:srgbClr val="F9FAFB"/>
          </a:solidFill>
          <a:ln/>
        </p:spPr>
      </p:sp>
      <p:sp>
        <p:nvSpPr>
          <p:cNvPr id="7" name="Shape 4"/>
          <p:cNvSpPr/>
          <p:nvPr/>
        </p:nvSpPr>
        <p:spPr>
          <a:xfrm>
            <a:off x="377072" y="3411605"/>
            <a:ext cx="35912" cy="1759670"/>
          </a:xfrm>
          <a:custGeom>
            <a:avLst/>
            <a:gdLst/>
            <a:ahLst/>
            <a:cxnLst/>
            <a:rect l="l" t="t" r="r" b="b"/>
            <a:pathLst>
              <a:path w="35912" h="1759670">
                <a:moveTo>
                  <a:pt x="0" y="0"/>
                </a:moveTo>
                <a:lnTo>
                  <a:pt x="35912" y="0"/>
                </a:lnTo>
                <a:lnTo>
                  <a:pt x="35912" y="1759670"/>
                </a:lnTo>
                <a:lnTo>
                  <a:pt x="0" y="1759670"/>
                </a:lnTo>
                <a:lnTo>
                  <a:pt x="0" y="0"/>
                </a:lnTo>
                <a:close/>
              </a:path>
            </a:pathLst>
          </a:custGeom>
          <a:solidFill>
            <a:srgbClr val="8B0000"/>
          </a:solidFill>
          <a:ln/>
        </p:spPr>
      </p:sp>
      <p:sp>
        <p:nvSpPr>
          <p:cNvPr id="8" name="Text 5"/>
          <p:cNvSpPr/>
          <p:nvPr/>
        </p:nvSpPr>
        <p:spPr>
          <a:xfrm>
            <a:off x="574586" y="3591163"/>
            <a:ext cx="5323900" cy="251381"/>
          </a:xfrm>
          <a:prstGeom prst="rect">
            <a:avLst/>
          </a:prstGeom>
          <a:noFill/>
          <a:ln/>
        </p:spPr>
        <p:txBody>
          <a:bodyPr wrap="square" lIns="0" tIns="0" rIns="0" bIns="0" rtlCol="0" anchor="ctr"/>
          <a:lstStyle/>
          <a:p>
            <a:pPr>
              <a:lnSpc>
                <a:spcPct val="120000"/>
              </a:lnSpc>
            </a:pPr>
            <a:r>
              <a:rPr lang="en-US" sz="1414" b="1" dirty="0">
                <a:solidFill>
                  <a:srgbClr val="1F2937"/>
                </a:solidFill>
                <a:latin typeface="Sorts Mill Goudy" pitchFamily="34" charset="0"/>
                <a:ea typeface="Sorts Mill Goudy" pitchFamily="34" charset="-122"/>
                <a:cs typeface="Sorts Mill Goudy" pitchFamily="34" charset="-120"/>
              </a:rPr>
              <a:t>Multi-Task Design</a:t>
            </a:r>
            <a:endParaRPr lang="en-US" sz="1600" dirty="0"/>
          </a:p>
        </p:txBody>
      </p:sp>
      <p:sp>
        <p:nvSpPr>
          <p:cNvPr id="9" name="Text 6"/>
          <p:cNvSpPr/>
          <p:nvPr/>
        </p:nvSpPr>
        <p:spPr>
          <a:xfrm>
            <a:off x="574586" y="3950280"/>
            <a:ext cx="5305944" cy="466851"/>
          </a:xfrm>
          <a:prstGeom prst="rect">
            <a:avLst/>
          </a:prstGeom>
          <a:noFill/>
          <a:ln/>
        </p:spPr>
        <p:txBody>
          <a:bodyPr wrap="square" lIns="0" tIns="0" rIns="0" bIns="0" rtlCol="0" anchor="ctr"/>
          <a:lstStyle/>
          <a:p>
            <a:pPr>
              <a:lnSpc>
                <a:spcPct val="140000"/>
              </a:lnSpc>
            </a:pPr>
            <a:r>
              <a:rPr lang="en-US" sz="1131" dirty="0">
                <a:solidFill>
                  <a:srgbClr val="1F2937"/>
                </a:solidFill>
                <a:latin typeface="Sorts Mill Goudy" pitchFamily="34" charset="0"/>
                <a:ea typeface="Sorts Mill Goudy" pitchFamily="34" charset="-122"/>
                <a:cs typeface="Sorts Mill Goudy" pitchFamily="34" charset="-120"/>
              </a:rPr>
              <a:t>PropQA-Net jointly predicts </a:t>
            </a:r>
            <a:r>
              <a:rPr lang="en-US" sz="1131" b="1" dirty="0">
                <a:solidFill>
                  <a:srgbClr val="1F2937"/>
                </a:solidFill>
                <a:latin typeface="Sorts Mill Goudy" pitchFamily="34" charset="0"/>
                <a:ea typeface="Sorts Mill Goudy" pitchFamily="34" charset="-122"/>
                <a:cs typeface="Sorts Mill Goudy" pitchFamily="34" charset="-120"/>
              </a:rPr>
              <a:t>SRL BIO tags</a:t>
            </a:r>
            <a:r>
              <a:rPr lang="en-US" sz="1131" dirty="0">
                <a:solidFill>
                  <a:srgbClr val="1F2937"/>
                </a:solidFill>
                <a:latin typeface="Sorts Mill Goudy" pitchFamily="34" charset="0"/>
                <a:ea typeface="Sorts Mill Goudy" pitchFamily="34" charset="-122"/>
                <a:cs typeface="Sorts Mill Goudy" pitchFamily="34" charset="-120"/>
              </a:rPr>
              <a:t> over context tokens and an </a:t>
            </a:r>
            <a:r>
              <a:rPr lang="en-US" sz="1131" b="1" dirty="0">
                <a:solidFill>
                  <a:srgbClr val="1F2937"/>
                </a:solidFill>
                <a:latin typeface="Sorts Mill Goudy" pitchFamily="34" charset="0"/>
                <a:ea typeface="Sorts Mill Goudy" pitchFamily="34" charset="-122"/>
                <a:cs typeface="Sorts Mill Goudy" pitchFamily="34" charset="-120"/>
              </a:rPr>
              <a:t>extractive answer span</a:t>
            </a:r>
            <a:r>
              <a:rPr lang="en-US" sz="1131" dirty="0">
                <a:solidFill>
                  <a:srgbClr val="1F2937"/>
                </a:solidFill>
                <a:latin typeface="Sorts Mill Goudy" pitchFamily="34" charset="0"/>
                <a:ea typeface="Sorts Mill Goudy" pitchFamily="34" charset="-122"/>
                <a:cs typeface="Sorts Mill Goudy" pitchFamily="34" charset="-120"/>
              </a:rPr>
              <a:t> for questions about specific PropBank roles.</a:t>
            </a:r>
            <a:endParaRPr lang="en-US" sz="1600" dirty="0"/>
          </a:p>
        </p:txBody>
      </p:sp>
      <p:sp>
        <p:nvSpPr>
          <p:cNvPr id="10" name="Text 7"/>
          <p:cNvSpPr/>
          <p:nvPr/>
        </p:nvSpPr>
        <p:spPr>
          <a:xfrm>
            <a:off x="574586" y="4524866"/>
            <a:ext cx="5305944" cy="466851"/>
          </a:xfrm>
          <a:prstGeom prst="rect">
            <a:avLst/>
          </a:prstGeom>
          <a:noFill/>
          <a:ln/>
        </p:spPr>
        <p:txBody>
          <a:bodyPr wrap="square" lIns="0" tIns="0" rIns="0" bIns="0" rtlCol="0" anchor="ctr"/>
          <a:lstStyle/>
          <a:p>
            <a:pPr>
              <a:lnSpc>
                <a:spcPct val="140000"/>
              </a:lnSpc>
            </a:pPr>
            <a:r>
              <a:rPr lang="en-US" sz="1131" dirty="0">
                <a:solidFill>
                  <a:srgbClr val="1F2937"/>
                </a:solidFill>
                <a:latin typeface="Sorts Mill Goudy" pitchFamily="34" charset="0"/>
                <a:ea typeface="Sorts Mill Goudy" pitchFamily="34" charset="-122"/>
                <a:cs typeface="Sorts Mill Goudy" pitchFamily="34" charset="-120"/>
              </a:rPr>
              <a:t>The intuition: if the model learns where semantic arguments live, that should help answer role-targeted questions—and vice versa.</a:t>
            </a:r>
            <a:endParaRPr lang="en-US" sz="1600" dirty="0"/>
          </a:p>
        </p:txBody>
      </p:sp>
      <p:sp>
        <p:nvSpPr>
          <p:cNvPr id="11" name="Shape 8"/>
          <p:cNvSpPr/>
          <p:nvPr/>
        </p:nvSpPr>
        <p:spPr>
          <a:xfrm>
            <a:off x="6209206" y="1261396"/>
            <a:ext cx="5620171" cy="1732736"/>
          </a:xfrm>
          <a:custGeom>
            <a:avLst/>
            <a:gdLst/>
            <a:ahLst/>
            <a:cxnLst/>
            <a:rect l="l" t="t" r="r" b="b"/>
            <a:pathLst>
              <a:path w="5620171" h="1732736">
                <a:moveTo>
                  <a:pt x="0" y="0"/>
                </a:moveTo>
                <a:lnTo>
                  <a:pt x="5620171" y="0"/>
                </a:lnTo>
                <a:lnTo>
                  <a:pt x="5620171" y="1732736"/>
                </a:lnTo>
                <a:lnTo>
                  <a:pt x="0" y="1732736"/>
                </a:lnTo>
                <a:lnTo>
                  <a:pt x="0" y="0"/>
                </a:lnTo>
                <a:close/>
              </a:path>
            </a:pathLst>
          </a:custGeom>
          <a:solidFill>
            <a:srgbClr val="000000">
              <a:alpha val="0"/>
            </a:srgbClr>
          </a:solidFill>
          <a:ln w="12700">
            <a:solidFill>
              <a:srgbClr val="E5E7EB"/>
            </a:solidFill>
            <a:prstDash val="solid"/>
          </a:ln>
        </p:spPr>
      </p:sp>
      <p:sp>
        <p:nvSpPr>
          <p:cNvPr id="12" name="Shape 9"/>
          <p:cNvSpPr/>
          <p:nvPr/>
        </p:nvSpPr>
        <p:spPr>
          <a:xfrm>
            <a:off x="6379786" y="1454421"/>
            <a:ext cx="161602" cy="161602"/>
          </a:xfrm>
          <a:custGeom>
            <a:avLst/>
            <a:gdLst/>
            <a:ahLst/>
            <a:cxnLst/>
            <a:rect l="l" t="t" r="r" b="b"/>
            <a:pathLst>
              <a:path w="161602" h="161602">
                <a:moveTo>
                  <a:pt x="73384" y="1641"/>
                </a:moveTo>
                <a:cubicBezTo>
                  <a:pt x="78087" y="-537"/>
                  <a:pt x="83516" y="-537"/>
                  <a:pt x="88218" y="1641"/>
                </a:cubicBezTo>
                <a:lnTo>
                  <a:pt x="157215" y="33520"/>
                </a:lnTo>
                <a:cubicBezTo>
                  <a:pt x="159898" y="34751"/>
                  <a:pt x="161602" y="37434"/>
                  <a:pt x="161602" y="40401"/>
                </a:cubicBezTo>
                <a:cubicBezTo>
                  <a:pt x="161602" y="43368"/>
                  <a:pt x="159898" y="46050"/>
                  <a:pt x="157215" y="47281"/>
                </a:cubicBezTo>
                <a:lnTo>
                  <a:pt x="88218" y="79160"/>
                </a:lnTo>
                <a:cubicBezTo>
                  <a:pt x="83516" y="81338"/>
                  <a:pt x="78087" y="81338"/>
                  <a:pt x="73384" y="79160"/>
                </a:cubicBezTo>
                <a:lnTo>
                  <a:pt x="4387" y="47281"/>
                </a:lnTo>
                <a:cubicBezTo>
                  <a:pt x="1704" y="46019"/>
                  <a:pt x="0" y="43336"/>
                  <a:pt x="0" y="40401"/>
                </a:cubicBezTo>
                <a:cubicBezTo>
                  <a:pt x="0" y="37465"/>
                  <a:pt x="1704" y="34751"/>
                  <a:pt x="4387" y="33520"/>
                </a:cubicBezTo>
                <a:lnTo>
                  <a:pt x="73384" y="1641"/>
                </a:lnTo>
                <a:close/>
                <a:moveTo>
                  <a:pt x="15182" y="68934"/>
                </a:moveTo>
                <a:lnTo>
                  <a:pt x="67040" y="92890"/>
                </a:lnTo>
                <a:cubicBezTo>
                  <a:pt x="75783" y="96930"/>
                  <a:pt x="85851" y="96930"/>
                  <a:pt x="94594" y="92890"/>
                </a:cubicBezTo>
                <a:lnTo>
                  <a:pt x="146452" y="68934"/>
                </a:lnTo>
                <a:lnTo>
                  <a:pt x="157215" y="73920"/>
                </a:lnTo>
                <a:cubicBezTo>
                  <a:pt x="159898" y="75151"/>
                  <a:pt x="161602" y="77834"/>
                  <a:pt x="161602" y="80801"/>
                </a:cubicBezTo>
                <a:cubicBezTo>
                  <a:pt x="161602" y="83768"/>
                  <a:pt x="159898" y="86451"/>
                  <a:pt x="157215" y="87682"/>
                </a:cubicBezTo>
                <a:lnTo>
                  <a:pt x="88218" y="119560"/>
                </a:lnTo>
                <a:cubicBezTo>
                  <a:pt x="83516" y="121738"/>
                  <a:pt x="78087" y="121738"/>
                  <a:pt x="73384" y="119560"/>
                </a:cubicBezTo>
                <a:lnTo>
                  <a:pt x="4387" y="87682"/>
                </a:lnTo>
                <a:cubicBezTo>
                  <a:pt x="1704" y="86419"/>
                  <a:pt x="0" y="83737"/>
                  <a:pt x="0" y="80801"/>
                </a:cubicBezTo>
                <a:cubicBezTo>
                  <a:pt x="0" y="77866"/>
                  <a:pt x="1704" y="75151"/>
                  <a:pt x="4387" y="73920"/>
                </a:cubicBezTo>
                <a:lnTo>
                  <a:pt x="15150" y="68934"/>
                </a:lnTo>
                <a:close/>
                <a:moveTo>
                  <a:pt x="4387" y="114321"/>
                </a:moveTo>
                <a:lnTo>
                  <a:pt x="15150" y="109334"/>
                </a:lnTo>
                <a:lnTo>
                  <a:pt x="67008" y="133290"/>
                </a:lnTo>
                <a:cubicBezTo>
                  <a:pt x="75751" y="137330"/>
                  <a:pt x="85820" y="137330"/>
                  <a:pt x="94563" y="133290"/>
                </a:cubicBezTo>
                <a:lnTo>
                  <a:pt x="146421" y="109334"/>
                </a:lnTo>
                <a:lnTo>
                  <a:pt x="157184" y="114321"/>
                </a:lnTo>
                <a:cubicBezTo>
                  <a:pt x="159866" y="115552"/>
                  <a:pt x="161571" y="118235"/>
                  <a:pt x="161571" y="121202"/>
                </a:cubicBezTo>
                <a:cubicBezTo>
                  <a:pt x="161571" y="124169"/>
                  <a:pt x="159866" y="126852"/>
                  <a:pt x="157184" y="128082"/>
                </a:cubicBezTo>
                <a:lnTo>
                  <a:pt x="88187" y="159961"/>
                </a:lnTo>
                <a:cubicBezTo>
                  <a:pt x="83484" y="162139"/>
                  <a:pt x="78055" y="162139"/>
                  <a:pt x="73352" y="159961"/>
                </a:cubicBezTo>
                <a:lnTo>
                  <a:pt x="4387" y="128082"/>
                </a:lnTo>
                <a:cubicBezTo>
                  <a:pt x="1704" y="126820"/>
                  <a:pt x="0" y="124137"/>
                  <a:pt x="0" y="121202"/>
                </a:cubicBezTo>
                <a:cubicBezTo>
                  <a:pt x="0" y="118266"/>
                  <a:pt x="1704" y="115552"/>
                  <a:pt x="4387" y="114321"/>
                </a:cubicBezTo>
                <a:close/>
              </a:path>
            </a:pathLst>
          </a:custGeom>
          <a:solidFill>
            <a:srgbClr val="8B0000"/>
          </a:solidFill>
          <a:ln/>
        </p:spPr>
      </p:sp>
      <p:sp>
        <p:nvSpPr>
          <p:cNvPr id="13" name="Text 10"/>
          <p:cNvSpPr/>
          <p:nvPr/>
        </p:nvSpPr>
        <p:spPr>
          <a:xfrm>
            <a:off x="6563833" y="1409532"/>
            <a:ext cx="5198209" cy="251381"/>
          </a:xfrm>
          <a:prstGeom prst="rect">
            <a:avLst/>
          </a:prstGeom>
          <a:noFill/>
          <a:ln/>
        </p:spPr>
        <p:txBody>
          <a:bodyPr wrap="square" lIns="0" tIns="0" rIns="0" bIns="0" rtlCol="0" anchor="ctr"/>
          <a:lstStyle/>
          <a:p>
            <a:pPr>
              <a:lnSpc>
                <a:spcPct val="130000"/>
              </a:lnSpc>
            </a:pPr>
            <a:r>
              <a:rPr lang="en-US" sz="1272" b="1" dirty="0">
                <a:solidFill>
                  <a:srgbClr val="1F2937"/>
                </a:solidFill>
                <a:latin typeface="Sorts Mill Goudy" pitchFamily="34" charset="0"/>
                <a:ea typeface="Sorts Mill Goudy" pitchFamily="34" charset="-122"/>
                <a:cs typeface="Sorts Mill Goudy" pitchFamily="34" charset="-120"/>
              </a:rPr>
              <a:t>Context Encoder</a:t>
            </a:r>
            <a:endParaRPr lang="en-US" sz="1600" dirty="0"/>
          </a:p>
        </p:txBody>
      </p:sp>
      <p:sp>
        <p:nvSpPr>
          <p:cNvPr id="14" name="Text 11"/>
          <p:cNvSpPr/>
          <p:nvPr/>
        </p:nvSpPr>
        <p:spPr>
          <a:xfrm>
            <a:off x="6357341" y="1768648"/>
            <a:ext cx="134669" cy="215470"/>
          </a:xfrm>
          <a:prstGeom prst="rect">
            <a:avLst/>
          </a:prstGeom>
          <a:noFill/>
          <a:ln/>
        </p:spPr>
        <p:txBody>
          <a:bodyPr wrap="square" lIns="0" tIns="0" rIns="0" bIns="0" rtlCol="0" anchor="ctr"/>
          <a:lstStyle/>
          <a:p>
            <a:pPr>
              <a:lnSpc>
                <a:spcPct val="120000"/>
              </a:lnSpc>
            </a:pPr>
            <a:r>
              <a:rPr lang="en-US" sz="1131" b="1"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15" name="Text 12"/>
          <p:cNvSpPr/>
          <p:nvPr/>
        </p:nvSpPr>
        <p:spPr>
          <a:xfrm>
            <a:off x="6489485" y="1768648"/>
            <a:ext cx="3097378" cy="215470"/>
          </a:xfrm>
          <a:prstGeom prst="rect">
            <a:avLst/>
          </a:prstGeom>
          <a:noFill/>
          <a:ln/>
        </p:spPr>
        <p:txBody>
          <a:bodyPr wrap="square" lIns="0" tIns="0" rIns="0" bIns="0" rtlCol="0" anchor="ctr"/>
          <a:lstStyle/>
          <a:p>
            <a:pPr>
              <a:lnSpc>
                <a:spcPct val="120000"/>
              </a:lnSpc>
            </a:pPr>
            <a:r>
              <a:rPr lang="en-US" sz="1131" b="1" dirty="0">
                <a:solidFill>
                  <a:srgbClr val="1F2937"/>
                </a:solidFill>
                <a:latin typeface="Sorts Mill Goudy" pitchFamily="34" charset="0"/>
                <a:ea typeface="Sorts Mill Goudy" pitchFamily="34" charset="-122"/>
                <a:cs typeface="Sorts Mill Goudy" pitchFamily="34" charset="-120"/>
              </a:rPr>
              <a:t>Word Embedding:</a:t>
            </a:r>
            <a:r>
              <a:rPr lang="en-US" sz="1131" dirty="0">
                <a:solidFill>
                  <a:srgbClr val="1F2937"/>
                </a:solidFill>
                <a:latin typeface="Sorts Mill Goudy" pitchFamily="34" charset="0"/>
                <a:ea typeface="Sorts Mill Goudy" pitchFamily="34" charset="-122"/>
                <a:cs typeface="Sorts Mill Goudy" pitchFamily="34" charset="-120"/>
              </a:rPr>
              <a:t> 100-dim, shared with question</a:t>
            </a:r>
            <a:endParaRPr lang="en-US" sz="1600" dirty="0"/>
          </a:p>
        </p:txBody>
      </p:sp>
      <p:sp>
        <p:nvSpPr>
          <p:cNvPr id="16" name="Text 13"/>
          <p:cNvSpPr/>
          <p:nvPr/>
        </p:nvSpPr>
        <p:spPr>
          <a:xfrm>
            <a:off x="6357341" y="2055941"/>
            <a:ext cx="134669" cy="215470"/>
          </a:xfrm>
          <a:prstGeom prst="rect">
            <a:avLst/>
          </a:prstGeom>
          <a:noFill/>
          <a:ln/>
        </p:spPr>
        <p:txBody>
          <a:bodyPr wrap="square" lIns="0" tIns="0" rIns="0" bIns="0" rtlCol="0" anchor="ctr"/>
          <a:lstStyle/>
          <a:p>
            <a:pPr>
              <a:lnSpc>
                <a:spcPct val="120000"/>
              </a:lnSpc>
            </a:pPr>
            <a:r>
              <a:rPr lang="en-US" sz="1131" b="1"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17" name="Text 14"/>
          <p:cNvSpPr/>
          <p:nvPr/>
        </p:nvSpPr>
        <p:spPr>
          <a:xfrm>
            <a:off x="6489485" y="2055941"/>
            <a:ext cx="2881909" cy="215470"/>
          </a:xfrm>
          <a:prstGeom prst="rect">
            <a:avLst/>
          </a:prstGeom>
          <a:noFill/>
          <a:ln/>
        </p:spPr>
        <p:txBody>
          <a:bodyPr wrap="square" lIns="0" tIns="0" rIns="0" bIns="0" rtlCol="0" anchor="ctr"/>
          <a:lstStyle/>
          <a:p>
            <a:pPr>
              <a:lnSpc>
                <a:spcPct val="120000"/>
              </a:lnSpc>
            </a:pPr>
            <a:r>
              <a:rPr lang="en-US" sz="1131" b="1" dirty="0">
                <a:solidFill>
                  <a:srgbClr val="1F2937"/>
                </a:solidFill>
                <a:latin typeface="Sorts Mill Goudy" pitchFamily="34" charset="0"/>
                <a:ea typeface="Sorts Mill Goudy" pitchFamily="34" charset="-122"/>
                <a:cs typeface="Sorts Mill Goudy" pitchFamily="34" charset="-120"/>
              </a:rPr>
              <a:t>POS Embedding:</a:t>
            </a:r>
            <a:r>
              <a:rPr lang="en-US" sz="1131" dirty="0">
                <a:solidFill>
                  <a:srgbClr val="1F2937"/>
                </a:solidFill>
                <a:latin typeface="Sorts Mill Goudy" pitchFamily="34" charset="0"/>
                <a:ea typeface="Sorts Mill Goudy" pitchFamily="34" charset="-122"/>
                <a:cs typeface="Sorts Mill Goudy" pitchFamily="34" charset="-120"/>
              </a:rPr>
              <a:t> 32-dim for syntactic context</a:t>
            </a:r>
            <a:endParaRPr lang="en-US" sz="1600" dirty="0"/>
          </a:p>
        </p:txBody>
      </p:sp>
      <p:sp>
        <p:nvSpPr>
          <p:cNvPr id="18" name="Text 15"/>
          <p:cNvSpPr/>
          <p:nvPr/>
        </p:nvSpPr>
        <p:spPr>
          <a:xfrm>
            <a:off x="6357341" y="2343234"/>
            <a:ext cx="134669" cy="215470"/>
          </a:xfrm>
          <a:prstGeom prst="rect">
            <a:avLst/>
          </a:prstGeom>
          <a:noFill/>
          <a:ln/>
        </p:spPr>
        <p:txBody>
          <a:bodyPr wrap="square" lIns="0" tIns="0" rIns="0" bIns="0" rtlCol="0" anchor="ctr"/>
          <a:lstStyle/>
          <a:p>
            <a:pPr>
              <a:lnSpc>
                <a:spcPct val="120000"/>
              </a:lnSpc>
            </a:pPr>
            <a:r>
              <a:rPr lang="en-US" sz="1131" b="1"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19" name="Text 16"/>
          <p:cNvSpPr/>
          <p:nvPr/>
        </p:nvSpPr>
        <p:spPr>
          <a:xfrm>
            <a:off x="6489485" y="2343234"/>
            <a:ext cx="2406080" cy="215470"/>
          </a:xfrm>
          <a:prstGeom prst="rect">
            <a:avLst/>
          </a:prstGeom>
          <a:noFill/>
          <a:ln/>
        </p:spPr>
        <p:txBody>
          <a:bodyPr wrap="square" lIns="0" tIns="0" rIns="0" bIns="0" rtlCol="0" anchor="ctr"/>
          <a:lstStyle/>
          <a:p>
            <a:pPr>
              <a:lnSpc>
                <a:spcPct val="120000"/>
              </a:lnSpc>
            </a:pPr>
            <a:r>
              <a:rPr lang="en-US" sz="1131" b="1" dirty="0">
                <a:solidFill>
                  <a:srgbClr val="1F2937"/>
                </a:solidFill>
                <a:latin typeface="Sorts Mill Goudy" pitchFamily="34" charset="0"/>
                <a:ea typeface="Sorts Mill Goudy" pitchFamily="34" charset="-122"/>
                <a:cs typeface="Sorts Mill Goudy" pitchFamily="34" charset="-120"/>
              </a:rPr>
              <a:t>Predicate Embedding:</a:t>
            </a:r>
            <a:r>
              <a:rPr lang="en-US" sz="1131" dirty="0">
                <a:solidFill>
                  <a:srgbClr val="1F2937"/>
                </a:solidFill>
                <a:latin typeface="Sorts Mill Goudy" pitchFamily="34" charset="0"/>
                <a:ea typeface="Sorts Mill Goudy" pitchFamily="34" charset="-122"/>
                <a:cs typeface="Sorts Mill Goudy" pitchFamily="34" charset="-120"/>
              </a:rPr>
              <a:t> 8-dim indicator</a:t>
            </a:r>
            <a:endParaRPr lang="en-US" sz="1600" dirty="0"/>
          </a:p>
        </p:txBody>
      </p:sp>
      <p:sp>
        <p:nvSpPr>
          <p:cNvPr id="20" name="Text 17"/>
          <p:cNvSpPr/>
          <p:nvPr/>
        </p:nvSpPr>
        <p:spPr>
          <a:xfrm>
            <a:off x="6357341" y="2630527"/>
            <a:ext cx="134669" cy="215470"/>
          </a:xfrm>
          <a:prstGeom prst="rect">
            <a:avLst/>
          </a:prstGeom>
          <a:noFill/>
          <a:ln/>
        </p:spPr>
        <p:txBody>
          <a:bodyPr wrap="square" lIns="0" tIns="0" rIns="0" bIns="0" rtlCol="0" anchor="ctr"/>
          <a:lstStyle/>
          <a:p>
            <a:pPr>
              <a:lnSpc>
                <a:spcPct val="120000"/>
              </a:lnSpc>
            </a:pPr>
            <a:r>
              <a:rPr lang="en-US" sz="1131" b="1"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21" name="Text 18"/>
          <p:cNvSpPr/>
          <p:nvPr/>
        </p:nvSpPr>
        <p:spPr>
          <a:xfrm>
            <a:off x="6489485" y="2630527"/>
            <a:ext cx="2406080" cy="215470"/>
          </a:xfrm>
          <a:prstGeom prst="rect">
            <a:avLst/>
          </a:prstGeom>
          <a:noFill/>
          <a:ln/>
        </p:spPr>
        <p:txBody>
          <a:bodyPr wrap="square" lIns="0" tIns="0" rIns="0" bIns="0" rtlCol="0" anchor="ctr"/>
          <a:lstStyle/>
          <a:p>
            <a:pPr>
              <a:lnSpc>
                <a:spcPct val="120000"/>
              </a:lnSpc>
            </a:pPr>
            <a:r>
              <a:rPr lang="en-US" sz="1131" b="1" dirty="0">
                <a:solidFill>
                  <a:srgbClr val="1F2937"/>
                </a:solidFill>
                <a:latin typeface="Sorts Mill Goudy" pitchFamily="34" charset="0"/>
                <a:ea typeface="Sorts Mill Goudy" pitchFamily="34" charset="-122"/>
                <a:cs typeface="Sorts Mill Goudy" pitchFamily="34" charset="-120"/>
              </a:rPr>
              <a:t>BiLSTM:</a:t>
            </a:r>
            <a:r>
              <a:rPr lang="en-US" sz="1131" dirty="0">
                <a:solidFill>
                  <a:srgbClr val="1F2937"/>
                </a:solidFill>
                <a:latin typeface="Sorts Mill Goudy" pitchFamily="34" charset="0"/>
                <a:ea typeface="Sorts Mill Goudy" pitchFamily="34" charset="-122"/>
                <a:cs typeface="Sorts Mill Goudy" pitchFamily="34" charset="-120"/>
              </a:rPr>
              <a:t> 128 hidden size per direction</a:t>
            </a:r>
            <a:endParaRPr lang="en-US" sz="1600" dirty="0"/>
          </a:p>
        </p:txBody>
      </p:sp>
      <p:sp>
        <p:nvSpPr>
          <p:cNvPr id="22" name="Shape 19"/>
          <p:cNvSpPr/>
          <p:nvPr/>
        </p:nvSpPr>
        <p:spPr>
          <a:xfrm>
            <a:off x="6209206" y="3110845"/>
            <a:ext cx="5620171" cy="1445443"/>
          </a:xfrm>
          <a:custGeom>
            <a:avLst/>
            <a:gdLst/>
            <a:ahLst/>
            <a:cxnLst/>
            <a:rect l="l" t="t" r="r" b="b"/>
            <a:pathLst>
              <a:path w="5620171" h="1445443">
                <a:moveTo>
                  <a:pt x="0" y="0"/>
                </a:moveTo>
                <a:lnTo>
                  <a:pt x="5620171" y="0"/>
                </a:lnTo>
                <a:lnTo>
                  <a:pt x="5620171" y="1445443"/>
                </a:lnTo>
                <a:lnTo>
                  <a:pt x="0" y="1445443"/>
                </a:lnTo>
                <a:lnTo>
                  <a:pt x="0" y="0"/>
                </a:lnTo>
                <a:close/>
              </a:path>
            </a:pathLst>
          </a:custGeom>
          <a:solidFill>
            <a:srgbClr val="000000">
              <a:alpha val="0"/>
            </a:srgbClr>
          </a:solidFill>
          <a:ln w="12700">
            <a:solidFill>
              <a:srgbClr val="E5E7EB"/>
            </a:solidFill>
            <a:prstDash val="solid"/>
          </a:ln>
        </p:spPr>
      </p:sp>
      <p:sp>
        <p:nvSpPr>
          <p:cNvPr id="23" name="Shape 20"/>
          <p:cNvSpPr/>
          <p:nvPr/>
        </p:nvSpPr>
        <p:spPr>
          <a:xfrm>
            <a:off x="6379786" y="3303870"/>
            <a:ext cx="161602" cy="161602"/>
          </a:xfrm>
          <a:custGeom>
            <a:avLst/>
            <a:gdLst/>
            <a:ahLst/>
            <a:cxnLst/>
            <a:rect l="l" t="t" r="r" b="b"/>
            <a:pathLst>
              <a:path w="161602" h="161602">
                <a:moveTo>
                  <a:pt x="80801" y="161602"/>
                </a:moveTo>
                <a:cubicBezTo>
                  <a:pt x="125397" y="161602"/>
                  <a:pt x="161602" y="125397"/>
                  <a:pt x="161602" y="80801"/>
                </a:cubicBezTo>
                <a:cubicBezTo>
                  <a:pt x="161602" y="36206"/>
                  <a:pt x="125397" y="0"/>
                  <a:pt x="80801" y="0"/>
                </a:cubicBezTo>
                <a:cubicBezTo>
                  <a:pt x="36206" y="0"/>
                  <a:pt x="0" y="36206"/>
                  <a:pt x="0" y="80801"/>
                </a:cubicBezTo>
                <a:cubicBezTo>
                  <a:pt x="0" y="125397"/>
                  <a:pt x="36206" y="161602"/>
                  <a:pt x="80801" y="161602"/>
                </a:cubicBezTo>
                <a:close/>
                <a:moveTo>
                  <a:pt x="80801" y="55551"/>
                </a:moveTo>
                <a:cubicBezTo>
                  <a:pt x="75215" y="55551"/>
                  <a:pt x="70701" y="60064"/>
                  <a:pt x="70701" y="65651"/>
                </a:cubicBezTo>
                <a:cubicBezTo>
                  <a:pt x="70701" y="69849"/>
                  <a:pt x="67324" y="73226"/>
                  <a:pt x="63126" y="73226"/>
                </a:cubicBezTo>
                <a:cubicBezTo>
                  <a:pt x="58928" y="73226"/>
                  <a:pt x="55551" y="69849"/>
                  <a:pt x="55551" y="65651"/>
                </a:cubicBezTo>
                <a:cubicBezTo>
                  <a:pt x="55551" y="51700"/>
                  <a:pt x="66850" y="40401"/>
                  <a:pt x="80801" y="40401"/>
                </a:cubicBezTo>
                <a:cubicBezTo>
                  <a:pt x="94752" y="40401"/>
                  <a:pt x="106052" y="51700"/>
                  <a:pt x="106052" y="65651"/>
                </a:cubicBezTo>
                <a:cubicBezTo>
                  <a:pt x="106052" y="80549"/>
                  <a:pt x="94689" y="86861"/>
                  <a:pt x="88376" y="89165"/>
                </a:cubicBezTo>
                <a:lnTo>
                  <a:pt x="88376" y="90365"/>
                </a:lnTo>
                <a:cubicBezTo>
                  <a:pt x="88376" y="94563"/>
                  <a:pt x="84999" y="97940"/>
                  <a:pt x="80801" y="97940"/>
                </a:cubicBezTo>
                <a:cubicBezTo>
                  <a:pt x="76603" y="97940"/>
                  <a:pt x="73226" y="94563"/>
                  <a:pt x="73226" y="90365"/>
                </a:cubicBezTo>
                <a:lnTo>
                  <a:pt x="73226" y="87808"/>
                </a:lnTo>
                <a:cubicBezTo>
                  <a:pt x="73226" y="81338"/>
                  <a:pt x="77897" y="76698"/>
                  <a:pt x="82727" y="75120"/>
                </a:cubicBezTo>
                <a:cubicBezTo>
                  <a:pt x="84747" y="74457"/>
                  <a:pt x="86893" y="73384"/>
                  <a:pt x="88471" y="71869"/>
                </a:cubicBezTo>
                <a:cubicBezTo>
                  <a:pt x="89828" y="70543"/>
                  <a:pt x="90901" y="68713"/>
                  <a:pt x="90901" y="65683"/>
                </a:cubicBezTo>
                <a:cubicBezTo>
                  <a:pt x="90901" y="60096"/>
                  <a:pt x="86388" y="55582"/>
                  <a:pt x="80801" y="55582"/>
                </a:cubicBezTo>
                <a:close/>
                <a:moveTo>
                  <a:pt x="70701" y="116152"/>
                </a:moveTo>
                <a:cubicBezTo>
                  <a:pt x="70701" y="110577"/>
                  <a:pt x="75227" y="106052"/>
                  <a:pt x="80801" y="106052"/>
                </a:cubicBezTo>
                <a:cubicBezTo>
                  <a:pt x="86376" y="106052"/>
                  <a:pt x="90901" y="110577"/>
                  <a:pt x="90901" y="116152"/>
                </a:cubicBezTo>
                <a:cubicBezTo>
                  <a:pt x="90901" y="121726"/>
                  <a:pt x="86376" y="126252"/>
                  <a:pt x="80801" y="126252"/>
                </a:cubicBezTo>
                <a:cubicBezTo>
                  <a:pt x="75227" y="126252"/>
                  <a:pt x="70701" y="121726"/>
                  <a:pt x="70701" y="116152"/>
                </a:cubicBezTo>
                <a:close/>
              </a:path>
            </a:pathLst>
          </a:custGeom>
          <a:solidFill>
            <a:srgbClr val="8B0000"/>
          </a:solidFill>
          <a:ln/>
        </p:spPr>
      </p:sp>
      <p:sp>
        <p:nvSpPr>
          <p:cNvPr id="24" name="Text 21"/>
          <p:cNvSpPr/>
          <p:nvPr/>
        </p:nvSpPr>
        <p:spPr>
          <a:xfrm>
            <a:off x="6563833" y="3258981"/>
            <a:ext cx="5198209" cy="251381"/>
          </a:xfrm>
          <a:prstGeom prst="rect">
            <a:avLst/>
          </a:prstGeom>
          <a:noFill/>
          <a:ln/>
        </p:spPr>
        <p:txBody>
          <a:bodyPr wrap="square" lIns="0" tIns="0" rIns="0" bIns="0" rtlCol="0" anchor="ctr"/>
          <a:lstStyle/>
          <a:p>
            <a:pPr>
              <a:lnSpc>
                <a:spcPct val="130000"/>
              </a:lnSpc>
            </a:pPr>
            <a:r>
              <a:rPr lang="en-US" sz="1272" b="1" dirty="0">
                <a:solidFill>
                  <a:srgbClr val="1F2937"/>
                </a:solidFill>
                <a:latin typeface="Sorts Mill Goudy" pitchFamily="34" charset="0"/>
                <a:ea typeface="Sorts Mill Goudy" pitchFamily="34" charset="-122"/>
                <a:cs typeface="Sorts Mill Goudy" pitchFamily="34" charset="-120"/>
              </a:rPr>
              <a:t>Question Encoder</a:t>
            </a:r>
            <a:endParaRPr lang="en-US" sz="1600" dirty="0"/>
          </a:p>
        </p:txBody>
      </p:sp>
      <p:sp>
        <p:nvSpPr>
          <p:cNvPr id="25" name="Text 22"/>
          <p:cNvSpPr/>
          <p:nvPr/>
        </p:nvSpPr>
        <p:spPr>
          <a:xfrm>
            <a:off x="6357341" y="3618097"/>
            <a:ext cx="134669" cy="215470"/>
          </a:xfrm>
          <a:prstGeom prst="rect">
            <a:avLst/>
          </a:prstGeom>
          <a:noFill/>
          <a:ln/>
        </p:spPr>
        <p:txBody>
          <a:bodyPr wrap="square" lIns="0" tIns="0" rIns="0" bIns="0" rtlCol="0" anchor="ctr"/>
          <a:lstStyle/>
          <a:p>
            <a:pPr>
              <a:lnSpc>
                <a:spcPct val="120000"/>
              </a:lnSpc>
            </a:pPr>
            <a:r>
              <a:rPr lang="en-US" sz="1131" b="1"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26" name="Text 23"/>
          <p:cNvSpPr/>
          <p:nvPr/>
        </p:nvSpPr>
        <p:spPr>
          <a:xfrm>
            <a:off x="6489485" y="3618097"/>
            <a:ext cx="3106356" cy="215470"/>
          </a:xfrm>
          <a:prstGeom prst="rect">
            <a:avLst/>
          </a:prstGeom>
          <a:noFill/>
          <a:ln/>
        </p:spPr>
        <p:txBody>
          <a:bodyPr wrap="square" lIns="0" tIns="0" rIns="0" bIns="0" rtlCol="0" anchor="ctr"/>
          <a:lstStyle/>
          <a:p>
            <a:pPr>
              <a:lnSpc>
                <a:spcPct val="120000"/>
              </a:lnSpc>
            </a:pPr>
            <a:r>
              <a:rPr lang="en-US" sz="1131" b="1" dirty="0">
                <a:solidFill>
                  <a:srgbClr val="1F2937"/>
                </a:solidFill>
                <a:latin typeface="Sorts Mill Goudy" pitchFamily="34" charset="0"/>
                <a:ea typeface="Sorts Mill Goudy" pitchFamily="34" charset="-122"/>
                <a:cs typeface="Sorts Mill Goudy" pitchFamily="34" charset="-120"/>
              </a:rPr>
              <a:t>Shared Word Embedding:</a:t>
            </a:r>
            <a:r>
              <a:rPr lang="en-US" sz="1131" dirty="0">
                <a:solidFill>
                  <a:srgbClr val="1F2937"/>
                </a:solidFill>
                <a:latin typeface="Sorts Mill Goudy" pitchFamily="34" charset="0"/>
                <a:ea typeface="Sorts Mill Goudy" pitchFamily="34" charset="-122"/>
                <a:cs typeface="Sorts Mill Goudy" pitchFamily="34" charset="-120"/>
              </a:rPr>
              <a:t> Same vocab as context</a:t>
            </a:r>
            <a:endParaRPr lang="en-US" sz="1600" dirty="0"/>
          </a:p>
        </p:txBody>
      </p:sp>
      <p:sp>
        <p:nvSpPr>
          <p:cNvPr id="27" name="Text 24"/>
          <p:cNvSpPr/>
          <p:nvPr/>
        </p:nvSpPr>
        <p:spPr>
          <a:xfrm>
            <a:off x="6357341" y="3905390"/>
            <a:ext cx="134669" cy="215470"/>
          </a:xfrm>
          <a:prstGeom prst="rect">
            <a:avLst/>
          </a:prstGeom>
          <a:noFill/>
          <a:ln/>
        </p:spPr>
        <p:txBody>
          <a:bodyPr wrap="square" lIns="0" tIns="0" rIns="0" bIns="0" rtlCol="0" anchor="ctr"/>
          <a:lstStyle/>
          <a:p>
            <a:pPr>
              <a:lnSpc>
                <a:spcPct val="120000"/>
              </a:lnSpc>
            </a:pPr>
            <a:r>
              <a:rPr lang="en-US" sz="1131" b="1"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28" name="Text 25"/>
          <p:cNvSpPr/>
          <p:nvPr/>
        </p:nvSpPr>
        <p:spPr>
          <a:xfrm>
            <a:off x="6489485" y="3905390"/>
            <a:ext cx="2406080" cy="215470"/>
          </a:xfrm>
          <a:prstGeom prst="rect">
            <a:avLst/>
          </a:prstGeom>
          <a:noFill/>
          <a:ln/>
        </p:spPr>
        <p:txBody>
          <a:bodyPr wrap="square" lIns="0" tIns="0" rIns="0" bIns="0" rtlCol="0" anchor="ctr"/>
          <a:lstStyle/>
          <a:p>
            <a:pPr>
              <a:lnSpc>
                <a:spcPct val="120000"/>
              </a:lnSpc>
            </a:pPr>
            <a:r>
              <a:rPr lang="en-US" sz="1131" b="1" dirty="0">
                <a:solidFill>
                  <a:srgbClr val="1F2937"/>
                </a:solidFill>
                <a:latin typeface="Sorts Mill Goudy" pitchFamily="34" charset="0"/>
                <a:ea typeface="Sorts Mill Goudy" pitchFamily="34" charset="-122"/>
                <a:cs typeface="Sorts Mill Goudy" pitchFamily="34" charset="-120"/>
              </a:rPr>
              <a:t>BiLSTM:</a:t>
            </a:r>
            <a:r>
              <a:rPr lang="en-US" sz="1131" dirty="0">
                <a:solidFill>
                  <a:srgbClr val="1F2937"/>
                </a:solidFill>
                <a:latin typeface="Sorts Mill Goudy" pitchFamily="34" charset="0"/>
                <a:ea typeface="Sorts Mill Goudy" pitchFamily="34" charset="-122"/>
                <a:cs typeface="Sorts Mill Goudy" pitchFamily="34" charset="-120"/>
              </a:rPr>
              <a:t> 128 hidden size per direction</a:t>
            </a:r>
            <a:endParaRPr lang="en-US" sz="1600" dirty="0"/>
          </a:p>
        </p:txBody>
      </p:sp>
      <p:sp>
        <p:nvSpPr>
          <p:cNvPr id="29" name="Text 26"/>
          <p:cNvSpPr/>
          <p:nvPr/>
        </p:nvSpPr>
        <p:spPr>
          <a:xfrm>
            <a:off x="6357341" y="4192683"/>
            <a:ext cx="134669" cy="215470"/>
          </a:xfrm>
          <a:prstGeom prst="rect">
            <a:avLst/>
          </a:prstGeom>
          <a:noFill/>
          <a:ln/>
        </p:spPr>
        <p:txBody>
          <a:bodyPr wrap="square" lIns="0" tIns="0" rIns="0" bIns="0" rtlCol="0" anchor="ctr"/>
          <a:lstStyle/>
          <a:p>
            <a:pPr>
              <a:lnSpc>
                <a:spcPct val="120000"/>
              </a:lnSpc>
            </a:pPr>
            <a:r>
              <a:rPr lang="en-US" sz="1131" b="1"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30" name="Text 27"/>
          <p:cNvSpPr/>
          <p:nvPr/>
        </p:nvSpPr>
        <p:spPr>
          <a:xfrm>
            <a:off x="6489485" y="4192683"/>
            <a:ext cx="2594616" cy="215470"/>
          </a:xfrm>
          <a:prstGeom prst="rect">
            <a:avLst/>
          </a:prstGeom>
          <a:noFill/>
          <a:ln/>
        </p:spPr>
        <p:txBody>
          <a:bodyPr wrap="square" lIns="0" tIns="0" rIns="0" bIns="0" rtlCol="0" anchor="ctr"/>
          <a:lstStyle/>
          <a:p>
            <a:pPr>
              <a:lnSpc>
                <a:spcPct val="120000"/>
              </a:lnSpc>
            </a:pPr>
            <a:r>
              <a:rPr lang="en-US" sz="1131" b="1" dirty="0">
                <a:solidFill>
                  <a:srgbClr val="1F2937"/>
                </a:solidFill>
                <a:latin typeface="Sorts Mill Goudy" pitchFamily="34" charset="0"/>
                <a:ea typeface="Sorts Mill Goudy" pitchFamily="34" charset="-122"/>
                <a:cs typeface="Sorts Mill Goudy" pitchFamily="34" charset="-120"/>
              </a:rPr>
              <a:t>Mean Pooling:</a:t>
            </a:r>
            <a:r>
              <a:rPr lang="en-US" sz="1131" dirty="0">
                <a:solidFill>
                  <a:srgbClr val="1F2937"/>
                </a:solidFill>
                <a:latin typeface="Sorts Mill Goudy" pitchFamily="34" charset="0"/>
                <a:ea typeface="Sorts Mill Goudy" pitchFamily="34" charset="-122"/>
                <a:cs typeface="Sorts Mill Goudy" pitchFamily="34" charset="-120"/>
              </a:rPr>
              <a:t> Fixed-size question vector</a:t>
            </a:r>
            <a:endParaRPr lang="en-US" sz="1600" dirty="0"/>
          </a:p>
        </p:txBody>
      </p:sp>
      <p:sp>
        <p:nvSpPr>
          <p:cNvPr id="31" name="Shape 28"/>
          <p:cNvSpPr/>
          <p:nvPr/>
        </p:nvSpPr>
        <p:spPr>
          <a:xfrm>
            <a:off x="6204717" y="4668513"/>
            <a:ext cx="5629149" cy="1328730"/>
          </a:xfrm>
          <a:custGeom>
            <a:avLst/>
            <a:gdLst/>
            <a:ahLst/>
            <a:cxnLst/>
            <a:rect l="l" t="t" r="r" b="b"/>
            <a:pathLst>
              <a:path w="5629149" h="1328730">
                <a:moveTo>
                  <a:pt x="0" y="0"/>
                </a:moveTo>
                <a:lnTo>
                  <a:pt x="5629149" y="0"/>
                </a:lnTo>
                <a:lnTo>
                  <a:pt x="5629149" y="1328730"/>
                </a:lnTo>
                <a:lnTo>
                  <a:pt x="0" y="1328730"/>
                </a:lnTo>
                <a:lnTo>
                  <a:pt x="0" y="0"/>
                </a:lnTo>
                <a:close/>
              </a:path>
            </a:pathLst>
          </a:custGeom>
          <a:solidFill>
            <a:srgbClr val="8B0000"/>
          </a:solidFill>
          <a:ln/>
        </p:spPr>
      </p:sp>
      <p:sp>
        <p:nvSpPr>
          <p:cNvPr id="32" name="Text 29"/>
          <p:cNvSpPr/>
          <p:nvPr/>
        </p:nvSpPr>
        <p:spPr>
          <a:xfrm>
            <a:off x="6348363" y="4812159"/>
            <a:ext cx="5422657" cy="251381"/>
          </a:xfrm>
          <a:prstGeom prst="rect">
            <a:avLst/>
          </a:prstGeom>
          <a:noFill/>
          <a:ln/>
        </p:spPr>
        <p:txBody>
          <a:bodyPr wrap="square" lIns="0" tIns="0" rIns="0" bIns="0" rtlCol="0" anchor="ctr"/>
          <a:lstStyle/>
          <a:p>
            <a:pPr>
              <a:lnSpc>
                <a:spcPct val="130000"/>
              </a:lnSpc>
            </a:pPr>
            <a:r>
              <a:rPr lang="en-US" sz="1272" b="1" dirty="0">
                <a:solidFill>
                  <a:srgbClr val="FFFFFF"/>
                </a:solidFill>
                <a:latin typeface="Sorts Mill Goudy" pitchFamily="34" charset="0"/>
                <a:ea typeface="Sorts Mill Goudy" pitchFamily="34" charset="-122"/>
                <a:cs typeface="Sorts Mill Goudy" pitchFamily="34" charset="-120"/>
              </a:rPr>
              <a:t>Prediction Heads</a:t>
            </a:r>
            <a:endParaRPr lang="en-US" sz="1600" dirty="0"/>
          </a:p>
        </p:txBody>
      </p:sp>
      <p:sp>
        <p:nvSpPr>
          <p:cNvPr id="33" name="Text 30"/>
          <p:cNvSpPr/>
          <p:nvPr/>
        </p:nvSpPr>
        <p:spPr>
          <a:xfrm>
            <a:off x="6348363" y="5135364"/>
            <a:ext cx="5413679" cy="215470"/>
          </a:xfrm>
          <a:prstGeom prst="rect">
            <a:avLst/>
          </a:prstGeom>
          <a:noFill/>
          <a:ln/>
        </p:spPr>
        <p:txBody>
          <a:bodyPr wrap="square" lIns="0" tIns="0" rIns="0" bIns="0" rtlCol="0" anchor="ctr"/>
          <a:lstStyle/>
          <a:p>
            <a:pPr>
              <a:lnSpc>
                <a:spcPct val="120000"/>
              </a:lnSpc>
            </a:pPr>
            <a:r>
              <a:rPr lang="en-US" sz="1131" dirty="0">
                <a:solidFill>
                  <a:srgbClr val="FFFFFF"/>
                </a:solidFill>
                <a:latin typeface="Sorts Mill Goudy" pitchFamily="34" charset="0"/>
                <a:ea typeface="Sorts Mill Goudy" pitchFamily="34" charset="-122"/>
                <a:cs typeface="Sorts Mill Goudy" pitchFamily="34" charset="-120"/>
              </a:rPr>
              <a:t>• </a:t>
            </a:r>
            <a:r>
              <a:rPr lang="en-US" sz="1131" b="1" dirty="0">
                <a:solidFill>
                  <a:srgbClr val="FFFFFF"/>
                </a:solidFill>
                <a:latin typeface="Sorts Mill Goudy" pitchFamily="34" charset="0"/>
                <a:ea typeface="Sorts Mill Goudy" pitchFamily="34" charset="-122"/>
                <a:cs typeface="Sorts Mill Goudy" pitchFamily="34" charset="-120"/>
              </a:rPr>
              <a:t>SRL Classifier:</a:t>
            </a:r>
            <a:r>
              <a:rPr lang="en-US" sz="1131" dirty="0">
                <a:solidFill>
                  <a:srgbClr val="FFFFFF"/>
                </a:solidFill>
                <a:latin typeface="Sorts Mill Goudy" pitchFamily="34" charset="0"/>
                <a:ea typeface="Sorts Mill Goudy" pitchFamily="34" charset="-122"/>
                <a:cs typeface="Sorts Mill Goudy" pitchFamily="34" charset="-120"/>
              </a:rPr>
              <a:t> Token-level BIO tags</a:t>
            </a:r>
            <a:endParaRPr lang="en-US" sz="1600" dirty="0"/>
          </a:p>
        </p:txBody>
      </p:sp>
      <p:sp>
        <p:nvSpPr>
          <p:cNvPr id="34" name="Text 31"/>
          <p:cNvSpPr/>
          <p:nvPr/>
        </p:nvSpPr>
        <p:spPr>
          <a:xfrm>
            <a:off x="6348363" y="5386745"/>
            <a:ext cx="5413679" cy="215470"/>
          </a:xfrm>
          <a:prstGeom prst="rect">
            <a:avLst/>
          </a:prstGeom>
          <a:noFill/>
          <a:ln/>
        </p:spPr>
        <p:txBody>
          <a:bodyPr wrap="square" lIns="0" tIns="0" rIns="0" bIns="0" rtlCol="0" anchor="ctr"/>
          <a:lstStyle/>
          <a:p>
            <a:pPr>
              <a:lnSpc>
                <a:spcPct val="120000"/>
              </a:lnSpc>
            </a:pPr>
            <a:r>
              <a:rPr lang="en-US" sz="1131" dirty="0">
                <a:solidFill>
                  <a:srgbClr val="FFFFFF"/>
                </a:solidFill>
                <a:latin typeface="Sorts Mill Goudy" pitchFamily="34" charset="0"/>
                <a:ea typeface="Sorts Mill Goudy" pitchFamily="34" charset="-122"/>
                <a:cs typeface="Sorts Mill Goudy" pitchFamily="34" charset="-120"/>
              </a:rPr>
              <a:t>• </a:t>
            </a:r>
            <a:r>
              <a:rPr lang="en-US" sz="1131" b="1" dirty="0">
                <a:solidFill>
                  <a:srgbClr val="FFFFFF"/>
                </a:solidFill>
                <a:latin typeface="Sorts Mill Goudy" pitchFamily="34" charset="0"/>
                <a:ea typeface="Sorts Mill Goudy" pitchFamily="34" charset="-122"/>
                <a:cs typeface="Sorts Mill Goudy" pitchFamily="34" charset="-120"/>
              </a:rPr>
              <a:t>Span Scorer:</a:t>
            </a:r>
            <a:r>
              <a:rPr lang="en-US" sz="1131" dirty="0">
                <a:solidFill>
                  <a:srgbClr val="FFFFFF"/>
                </a:solidFill>
                <a:latin typeface="Sorts Mill Goudy" pitchFamily="34" charset="0"/>
                <a:ea typeface="Sorts Mill Goudy" pitchFamily="34" charset="-122"/>
                <a:cs typeface="Sorts Mill Goudy" pitchFamily="34" charset="-120"/>
              </a:rPr>
              <a:t> Start/end boundary logits</a:t>
            </a:r>
            <a:endParaRPr lang="en-US" sz="1600" dirty="0"/>
          </a:p>
        </p:txBody>
      </p:sp>
      <p:sp>
        <p:nvSpPr>
          <p:cNvPr id="35" name="Text 32"/>
          <p:cNvSpPr/>
          <p:nvPr/>
        </p:nvSpPr>
        <p:spPr>
          <a:xfrm>
            <a:off x="6348363" y="5638127"/>
            <a:ext cx="5413679" cy="215470"/>
          </a:xfrm>
          <a:prstGeom prst="rect">
            <a:avLst/>
          </a:prstGeom>
          <a:noFill/>
          <a:ln/>
        </p:spPr>
        <p:txBody>
          <a:bodyPr wrap="square" lIns="0" tIns="0" rIns="0" bIns="0" rtlCol="0" anchor="ctr"/>
          <a:lstStyle/>
          <a:p>
            <a:pPr>
              <a:lnSpc>
                <a:spcPct val="120000"/>
              </a:lnSpc>
            </a:pPr>
            <a:r>
              <a:rPr lang="en-US" sz="1131" dirty="0">
                <a:solidFill>
                  <a:srgbClr val="FFFFFF"/>
                </a:solidFill>
                <a:latin typeface="Sorts Mill Goudy" pitchFamily="34" charset="0"/>
                <a:ea typeface="Sorts Mill Goudy" pitchFamily="34" charset="-122"/>
                <a:cs typeface="Sorts Mill Goudy" pitchFamily="34" charset="-120"/>
              </a:rPr>
              <a:t>• </a:t>
            </a:r>
            <a:r>
              <a:rPr lang="en-US" sz="1131" b="1" dirty="0">
                <a:solidFill>
                  <a:srgbClr val="FFFFFF"/>
                </a:solidFill>
                <a:latin typeface="Sorts Mill Goudy" pitchFamily="34" charset="0"/>
                <a:ea typeface="Sorts Mill Goudy" pitchFamily="34" charset="-122"/>
                <a:cs typeface="Sorts Mill Goudy" pitchFamily="34" charset="-120"/>
              </a:rPr>
              <a:t>Interaction Layer:</a:t>
            </a:r>
            <a:r>
              <a:rPr lang="en-US" sz="1131" dirty="0">
                <a:solidFill>
                  <a:srgbClr val="FFFFFF"/>
                </a:solidFill>
                <a:latin typeface="Sorts Mill Goudy" pitchFamily="34" charset="0"/>
                <a:ea typeface="Sorts Mill Goudy" pitchFamily="34" charset="-122"/>
                <a:cs typeface="Sorts Mill Goudy" pitchFamily="34" charset="-120"/>
              </a:rPr>
              <a:t> Context-question matching</a:t>
            </a:r>
            <a:endParaRPr lang="en-US" sz="1600" dirty="0"/>
          </a:p>
        </p:txBody>
      </p:sp>
      <p:sp>
        <p:nvSpPr>
          <p:cNvPr id="36" name="Shape 33"/>
          <p:cNvSpPr/>
          <p:nvPr/>
        </p:nvSpPr>
        <p:spPr>
          <a:xfrm>
            <a:off x="377072" y="6140890"/>
            <a:ext cx="11455811" cy="718233"/>
          </a:xfrm>
          <a:custGeom>
            <a:avLst/>
            <a:gdLst/>
            <a:ahLst/>
            <a:cxnLst/>
            <a:rect l="l" t="t" r="r" b="b"/>
            <a:pathLst>
              <a:path w="11455811" h="718233">
                <a:moveTo>
                  <a:pt x="0" y="0"/>
                </a:moveTo>
                <a:lnTo>
                  <a:pt x="11455811" y="0"/>
                </a:lnTo>
                <a:lnTo>
                  <a:pt x="11455811" y="718233"/>
                </a:lnTo>
                <a:lnTo>
                  <a:pt x="0" y="718233"/>
                </a:lnTo>
                <a:lnTo>
                  <a:pt x="0" y="0"/>
                </a:lnTo>
                <a:close/>
              </a:path>
            </a:pathLst>
          </a:custGeom>
          <a:solidFill>
            <a:srgbClr val="F3F4F6"/>
          </a:solidFill>
          <a:ln/>
        </p:spPr>
      </p:sp>
      <p:sp>
        <p:nvSpPr>
          <p:cNvPr id="37" name="Shape 34"/>
          <p:cNvSpPr/>
          <p:nvPr/>
        </p:nvSpPr>
        <p:spPr>
          <a:xfrm>
            <a:off x="377072" y="6140890"/>
            <a:ext cx="35912" cy="718233"/>
          </a:xfrm>
          <a:custGeom>
            <a:avLst/>
            <a:gdLst/>
            <a:ahLst/>
            <a:cxnLst/>
            <a:rect l="l" t="t" r="r" b="b"/>
            <a:pathLst>
              <a:path w="35912" h="718233">
                <a:moveTo>
                  <a:pt x="0" y="0"/>
                </a:moveTo>
                <a:lnTo>
                  <a:pt x="35912" y="0"/>
                </a:lnTo>
                <a:lnTo>
                  <a:pt x="35912" y="718233"/>
                </a:lnTo>
                <a:lnTo>
                  <a:pt x="0" y="718233"/>
                </a:lnTo>
                <a:lnTo>
                  <a:pt x="0" y="0"/>
                </a:lnTo>
                <a:close/>
              </a:path>
            </a:pathLst>
          </a:custGeom>
          <a:solidFill>
            <a:srgbClr val="8B0000"/>
          </a:solidFill>
          <a:ln/>
        </p:spPr>
      </p:sp>
      <p:sp>
        <p:nvSpPr>
          <p:cNvPr id="38" name="Text 35"/>
          <p:cNvSpPr/>
          <p:nvPr/>
        </p:nvSpPr>
        <p:spPr>
          <a:xfrm>
            <a:off x="538675" y="6284536"/>
            <a:ext cx="11222386" cy="430940"/>
          </a:xfrm>
          <a:prstGeom prst="rect">
            <a:avLst/>
          </a:prstGeom>
          <a:noFill/>
          <a:ln/>
        </p:spPr>
        <p:txBody>
          <a:bodyPr wrap="square" lIns="0" tIns="0" rIns="0" bIns="0" rtlCol="0" anchor="ctr"/>
          <a:lstStyle/>
          <a:p>
            <a:pPr>
              <a:lnSpc>
                <a:spcPct val="120000"/>
              </a:lnSpc>
            </a:pPr>
            <a:r>
              <a:rPr lang="en-US" sz="1131" b="1" dirty="0">
                <a:solidFill>
                  <a:srgbClr val="1F2937"/>
                </a:solidFill>
                <a:latin typeface="Sorts Mill Goudy" pitchFamily="34" charset="0"/>
                <a:ea typeface="Sorts Mill Goudy" pitchFamily="34" charset="-122"/>
                <a:cs typeface="Sorts Mill Goudy" pitchFamily="34" charset="-120"/>
              </a:rPr>
              <a:t>Architecture Philosophy:</a:t>
            </a:r>
            <a:r>
              <a:rPr lang="en-US" sz="1131" dirty="0">
                <a:solidFill>
                  <a:srgbClr val="1F2937"/>
                </a:solidFill>
                <a:latin typeface="Sorts Mill Goudy" pitchFamily="34" charset="0"/>
                <a:ea typeface="Sorts Mill Goudy" pitchFamily="34" charset="-122"/>
                <a:cs typeface="Sorts Mill Goudy" pitchFamily="34" charset="-120"/>
              </a:rPr>
              <a:t> Deliberately compact to isolate design effects. Because the model is not overwhelmingly overparameterized, failures remain interpretable and motivate concrete improvements.</a:t>
            </a:r>
            <a:endParaRPr lang="en-US" sz="1600" dirty="0"/>
          </a:p>
        </p:txBody>
      </p:sp>
    </p:spTree>
    <p:extLst>
      <p:ext uri="{BB962C8B-B14F-4D97-AF65-F5344CB8AC3E}">
        <p14:creationId xmlns:p14="http://schemas.microsoft.com/office/powerpoint/2010/main" val="3685381408"/>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21901" y="321901"/>
            <a:ext cx="329949" cy="257521"/>
          </a:xfrm>
          <a:prstGeom prst="rect">
            <a:avLst/>
          </a:prstGeom>
          <a:noFill/>
          <a:ln/>
        </p:spPr>
        <p:txBody>
          <a:bodyPr wrap="square" lIns="0" tIns="0" rIns="0" bIns="0" rtlCol="0" anchor="ctr"/>
          <a:lstStyle/>
          <a:p>
            <a:pPr>
              <a:lnSpc>
                <a:spcPct val="110000"/>
              </a:lnSpc>
            </a:pPr>
            <a:r>
              <a:rPr lang="en-US" sz="1521" b="1" dirty="0">
                <a:solidFill>
                  <a:srgbClr val="8B0000"/>
                </a:solidFill>
                <a:latin typeface="Sorts Mill Goudy" pitchFamily="34" charset="0"/>
                <a:ea typeface="Sorts Mill Goudy" pitchFamily="34" charset="-122"/>
                <a:cs typeface="Sorts Mill Goudy" pitchFamily="34" charset="-120"/>
              </a:rPr>
              <a:t>4.2</a:t>
            </a:r>
            <a:endParaRPr lang="en-US" sz="1600" dirty="0"/>
          </a:p>
        </p:txBody>
      </p:sp>
      <p:sp>
        <p:nvSpPr>
          <p:cNvPr id="3" name="Text 1"/>
          <p:cNvSpPr/>
          <p:nvPr/>
        </p:nvSpPr>
        <p:spPr>
          <a:xfrm>
            <a:off x="654993" y="370186"/>
            <a:ext cx="1142749" cy="160950"/>
          </a:xfrm>
          <a:prstGeom prst="rect">
            <a:avLst/>
          </a:prstGeom>
          <a:noFill/>
          <a:ln/>
        </p:spPr>
        <p:txBody>
          <a:bodyPr wrap="square" lIns="0" tIns="0" rIns="0" bIns="0" rtlCol="0" anchor="ctr"/>
          <a:lstStyle/>
          <a:p>
            <a:pPr>
              <a:lnSpc>
                <a:spcPct val="120000"/>
              </a:lnSpc>
            </a:pPr>
            <a:r>
              <a:rPr lang="en-US" sz="887" b="1" kern="0" spc="89" dirty="0">
                <a:solidFill>
                  <a:srgbClr val="8B0000"/>
                </a:solidFill>
                <a:latin typeface="Sorts Mill Goudy" pitchFamily="34" charset="0"/>
                <a:ea typeface="Sorts Mill Goudy" pitchFamily="34" charset="-122"/>
                <a:cs typeface="Sorts Mill Goudy" pitchFamily="34" charset="-120"/>
              </a:rPr>
              <a:t>Architecture</a:t>
            </a:r>
            <a:endParaRPr lang="en-US" sz="1600" dirty="0"/>
          </a:p>
        </p:txBody>
      </p:sp>
      <p:sp>
        <p:nvSpPr>
          <p:cNvPr id="4" name="Text 2"/>
          <p:cNvSpPr/>
          <p:nvPr/>
        </p:nvSpPr>
        <p:spPr>
          <a:xfrm>
            <a:off x="321901" y="643802"/>
            <a:ext cx="11693053" cy="321901"/>
          </a:xfrm>
          <a:prstGeom prst="rect">
            <a:avLst/>
          </a:prstGeom>
          <a:noFill/>
          <a:ln/>
        </p:spPr>
        <p:txBody>
          <a:bodyPr wrap="square" lIns="0" tIns="0" rIns="0" bIns="0" rtlCol="0" anchor="ctr"/>
          <a:lstStyle/>
          <a:p>
            <a:pPr>
              <a:lnSpc>
                <a:spcPct val="90000"/>
              </a:lnSpc>
            </a:pPr>
            <a:r>
              <a:rPr lang="en-US" sz="2281" b="1" dirty="0">
                <a:solidFill>
                  <a:srgbClr val="1F2937"/>
                </a:solidFill>
                <a:latin typeface="Sorts Mill Goudy" pitchFamily="34" charset="0"/>
                <a:ea typeface="Sorts Mill Goudy" pitchFamily="34" charset="-122"/>
                <a:cs typeface="Sorts Mill Goudy" pitchFamily="34" charset="-120"/>
              </a:rPr>
              <a:t>Model Details &amp; Training</a:t>
            </a:r>
            <a:endParaRPr lang="en-US" sz="1600" dirty="0"/>
          </a:p>
        </p:txBody>
      </p:sp>
      <p:sp>
        <p:nvSpPr>
          <p:cNvPr id="5" name="Shape 3"/>
          <p:cNvSpPr/>
          <p:nvPr/>
        </p:nvSpPr>
        <p:spPr>
          <a:xfrm>
            <a:off x="329949" y="1134701"/>
            <a:ext cx="5657410" cy="2623493"/>
          </a:xfrm>
          <a:custGeom>
            <a:avLst/>
            <a:gdLst/>
            <a:ahLst/>
            <a:cxnLst/>
            <a:rect l="l" t="t" r="r" b="b"/>
            <a:pathLst>
              <a:path w="5657410" h="2623493">
                <a:moveTo>
                  <a:pt x="0" y="0"/>
                </a:moveTo>
                <a:lnTo>
                  <a:pt x="5657410" y="0"/>
                </a:lnTo>
                <a:lnTo>
                  <a:pt x="5657410" y="2623493"/>
                </a:lnTo>
                <a:lnTo>
                  <a:pt x="0" y="2623493"/>
                </a:lnTo>
                <a:lnTo>
                  <a:pt x="0" y="0"/>
                </a:lnTo>
                <a:close/>
              </a:path>
            </a:pathLst>
          </a:custGeom>
          <a:solidFill>
            <a:srgbClr val="000000">
              <a:alpha val="0"/>
            </a:srgbClr>
          </a:solidFill>
          <a:ln w="25400">
            <a:solidFill>
              <a:srgbClr val="8B0000"/>
            </a:solidFill>
            <a:prstDash val="solid"/>
          </a:ln>
        </p:spPr>
      </p:sp>
      <p:sp>
        <p:nvSpPr>
          <p:cNvPr id="6" name="Text 4"/>
          <p:cNvSpPr/>
          <p:nvPr/>
        </p:nvSpPr>
        <p:spPr>
          <a:xfrm>
            <a:off x="498947" y="1303699"/>
            <a:ext cx="5399889" cy="225331"/>
          </a:xfrm>
          <a:prstGeom prst="rect">
            <a:avLst/>
          </a:prstGeom>
          <a:noFill/>
          <a:ln/>
        </p:spPr>
        <p:txBody>
          <a:bodyPr wrap="square" lIns="0" tIns="0" rIns="0" bIns="0" rtlCol="0" anchor="ctr"/>
          <a:lstStyle/>
          <a:p>
            <a:pPr>
              <a:lnSpc>
                <a:spcPct val="120000"/>
              </a:lnSpc>
            </a:pPr>
            <a:r>
              <a:rPr lang="en-US" sz="1267" b="1" dirty="0">
                <a:solidFill>
                  <a:srgbClr val="1F2937"/>
                </a:solidFill>
                <a:latin typeface="Sorts Mill Goudy" pitchFamily="34" charset="0"/>
                <a:ea typeface="Sorts Mill Goudy" pitchFamily="34" charset="-122"/>
                <a:cs typeface="Sorts Mill Goudy" pitchFamily="34" charset="-120"/>
              </a:rPr>
              <a:t>Hyperparameters</a:t>
            </a:r>
            <a:endParaRPr lang="en-US" sz="1600" dirty="0"/>
          </a:p>
        </p:txBody>
      </p:sp>
      <p:sp>
        <p:nvSpPr>
          <p:cNvPr id="7" name="Shape 5"/>
          <p:cNvSpPr/>
          <p:nvPr/>
        </p:nvSpPr>
        <p:spPr>
          <a:xfrm>
            <a:off x="498947" y="1657790"/>
            <a:ext cx="2615446" cy="579422"/>
          </a:xfrm>
          <a:custGeom>
            <a:avLst/>
            <a:gdLst/>
            <a:ahLst/>
            <a:cxnLst/>
            <a:rect l="l" t="t" r="r" b="b"/>
            <a:pathLst>
              <a:path w="2615446" h="579422">
                <a:moveTo>
                  <a:pt x="0" y="0"/>
                </a:moveTo>
                <a:lnTo>
                  <a:pt x="2615446" y="0"/>
                </a:lnTo>
                <a:lnTo>
                  <a:pt x="2615446" y="579422"/>
                </a:lnTo>
                <a:lnTo>
                  <a:pt x="0" y="579422"/>
                </a:lnTo>
                <a:lnTo>
                  <a:pt x="0" y="0"/>
                </a:lnTo>
                <a:close/>
              </a:path>
            </a:pathLst>
          </a:custGeom>
          <a:solidFill>
            <a:srgbClr val="F9FAFB"/>
          </a:solidFill>
          <a:ln/>
        </p:spPr>
      </p:sp>
      <p:sp>
        <p:nvSpPr>
          <p:cNvPr id="8" name="Text 6"/>
          <p:cNvSpPr/>
          <p:nvPr/>
        </p:nvSpPr>
        <p:spPr>
          <a:xfrm>
            <a:off x="595517" y="1754360"/>
            <a:ext cx="2478638" cy="160950"/>
          </a:xfrm>
          <a:prstGeom prst="rect">
            <a:avLst/>
          </a:prstGeom>
          <a:noFill/>
          <a:ln/>
        </p:spPr>
        <p:txBody>
          <a:bodyPr wrap="square" lIns="0" tIns="0" rIns="0" bIns="0" rtlCol="0" anchor="ctr"/>
          <a:lstStyle/>
          <a:p>
            <a:pPr>
              <a:lnSpc>
                <a:spcPct val="120000"/>
              </a:lnSpc>
            </a:pPr>
            <a:r>
              <a:rPr lang="en-US" sz="887" dirty="0">
                <a:solidFill>
                  <a:srgbClr val="6B7280"/>
                </a:solidFill>
                <a:latin typeface="Sorts Mill Goudy" pitchFamily="34" charset="0"/>
                <a:ea typeface="Sorts Mill Goudy" pitchFamily="34" charset="-122"/>
                <a:cs typeface="Sorts Mill Goudy" pitchFamily="34" charset="-120"/>
              </a:rPr>
              <a:t>Word Embedding</a:t>
            </a:r>
            <a:endParaRPr lang="en-US" sz="1600" dirty="0"/>
          </a:p>
        </p:txBody>
      </p:sp>
      <p:sp>
        <p:nvSpPr>
          <p:cNvPr id="9" name="Text 7"/>
          <p:cNvSpPr/>
          <p:nvPr/>
        </p:nvSpPr>
        <p:spPr>
          <a:xfrm>
            <a:off x="595517" y="1915311"/>
            <a:ext cx="2502780" cy="225331"/>
          </a:xfrm>
          <a:prstGeom prst="rect">
            <a:avLst/>
          </a:prstGeom>
          <a:noFill/>
          <a:ln/>
        </p:spPr>
        <p:txBody>
          <a:bodyPr wrap="square" lIns="0" tIns="0" rIns="0" bIns="0" rtlCol="0" anchor="ctr"/>
          <a:lstStyle/>
          <a:p>
            <a:pPr>
              <a:lnSpc>
                <a:spcPct val="120000"/>
              </a:lnSpc>
            </a:pPr>
            <a:r>
              <a:rPr lang="en-US" sz="1267" b="1" dirty="0">
                <a:solidFill>
                  <a:srgbClr val="8B0000"/>
                </a:solidFill>
                <a:latin typeface="Sorts Mill Goudy" pitchFamily="34" charset="0"/>
                <a:ea typeface="Sorts Mill Goudy" pitchFamily="34" charset="-122"/>
                <a:cs typeface="Sorts Mill Goudy" pitchFamily="34" charset="-120"/>
              </a:rPr>
              <a:t>100</a:t>
            </a:r>
            <a:endParaRPr lang="en-US" sz="1600" dirty="0"/>
          </a:p>
        </p:txBody>
      </p:sp>
      <p:sp>
        <p:nvSpPr>
          <p:cNvPr id="10" name="Shape 8"/>
          <p:cNvSpPr/>
          <p:nvPr/>
        </p:nvSpPr>
        <p:spPr>
          <a:xfrm>
            <a:off x="3208196" y="1657790"/>
            <a:ext cx="2615446" cy="579422"/>
          </a:xfrm>
          <a:custGeom>
            <a:avLst/>
            <a:gdLst/>
            <a:ahLst/>
            <a:cxnLst/>
            <a:rect l="l" t="t" r="r" b="b"/>
            <a:pathLst>
              <a:path w="2615446" h="579422">
                <a:moveTo>
                  <a:pt x="0" y="0"/>
                </a:moveTo>
                <a:lnTo>
                  <a:pt x="2615446" y="0"/>
                </a:lnTo>
                <a:lnTo>
                  <a:pt x="2615446" y="579422"/>
                </a:lnTo>
                <a:lnTo>
                  <a:pt x="0" y="579422"/>
                </a:lnTo>
                <a:lnTo>
                  <a:pt x="0" y="0"/>
                </a:lnTo>
                <a:close/>
              </a:path>
            </a:pathLst>
          </a:custGeom>
          <a:solidFill>
            <a:srgbClr val="F9FAFB"/>
          </a:solidFill>
          <a:ln/>
        </p:spPr>
      </p:sp>
      <p:sp>
        <p:nvSpPr>
          <p:cNvPr id="11" name="Text 9"/>
          <p:cNvSpPr/>
          <p:nvPr/>
        </p:nvSpPr>
        <p:spPr>
          <a:xfrm>
            <a:off x="3304766" y="1754360"/>
            <a:ext cx="2478638" cy="160950"/>
          </a:xfrm>
          <a:prstGeom prst="rect">
            <a:avLst/>
          </a:prstGeom>
          <a:noFill/>
          <a:ln/>
        </p:spPr>
        <p:txBody>
          <a:bodyPr wrap="square" lIns="0" tIns="0" rIns="0" bIns="0" rtlCol="0" anchor="ctr"/>
          <a:lstStyle/>
          <a:p>
            <a:pPr>
              <a:lnSpc>
                <a:spcPct val="120000"/>
              </a:lnSpc>
            </a:pPr>
            <a:r>
              <a:rPr lang="en-US" sz="887" dirty="0">
                <a:solidFill>
                  <a:srgbClr val="6B7280"/>
                </a:solidFill>
                <a:latin typeface="Sorts Mill Goudy" pitchFamily="34" charset="0"/>
                <a:ea typeface="Sorts Mill Goudy" pitchFamily="34" charset="-122"/>
                <a:cs typeface="Sorts Mill Goudy" pitchFamily="34" charset="-120"/>
              </a:rPr>
              <a:t>POS Embedding</a:t>
            </a:r>
            <a:endParaRPr lang="en-US" sz="1600" dirty="0"/>
          </a:p>
        </p:txBody>
      </p:sp>
      <p:sp>
        <p:nvSpPr>
          <p:cNvPr id="12" name="Text 10"/>
          <p:cNvSpPr/>
          <p:nvPr/>
        </p:nvSpPr>
        <p:spPr>
          <a:xfrm>
            <a:off x="3304766" y="1915311"/>
            <a:ext cx="2502780" cy="225331"/>
          </a:xfrm>
          <a:prstGeom prst="rect">
            <a:avLst/>
          </a:prstGeom>
          <a:noFill/>
          <a:ln/>
        </p:spPr>
        <p:txBody>
          <a:bodyPr wrap="square" lIns="0" tIns="0" rIns="0" bIns="0" rtlCol="0" anchor="ctr"/>
          <a:lstStyle/>
          <a:p>
            <a:pPr>
              <a:lnSpc>
                <a:spcPct val="120000"/>
              </a:lnSpc>
            </a:pPr>
            <a:r>
              <a:rPr lang="en-US" sz="1267" b="1" dirty="0">
                <a:solidFill>
                  <a:srgbClr val="8B0000"/>
                </a:solidFill>
                <a:latin typeface="Sorts Mill Goudy" pitchFamily="34" charset="0"/>
                <a:ea typeface="Sorts Mill Goudy" pitchFamily="34" charset="-122"/>
                <a:cs typeface="Sorts Mill Goudy" pitchFamily="34" charset="-120"/>
              </a:rPr>
              <a:t>32</a:t>
            </a:r>
            <a:endParaRPr lang="en-US" sz="1600" dirty="0"/>
          </a:p>
        </p:txBody>
      </p:sp>
      <p:sp>
        <p:nvSpPr>
          <p:cNvPr id="13" name="Shape 11"/>
          <p:cNvSpPr/>
          <p:nvPr/>
        </p:nvSpPr>
        <p:spPr>
          <a:xfrm>
            <a:off x="498947" y="2333782"/>
            <a:ext cx="2615446" cy="579422"/>
          </a:xfrm>
          <a:custGeom>
            <a:avLst/>
            <a:gdLst/>
            <a:ahLst/>
            <a:cxnLst/>
            <a:rect l="l" t="t" r="r" b="b"/>
            <a:pathLst>
              <a:path w="2615446" h="579422">
                <a:moveTo>
                  <a:pt x="0" y="0"/>
                </a:moveTo>
                <a:lnTo>
                  <a:pt x="2615446" y="0"/>
                </a:lnTo>
                <a:lnTo>
                  <a:pt x="2615446" y="579422"/>
                </a:lnTo>
                <a:lnTo>
                  <a:pt x="0" y="579422"/>
                </a:lnTo>
                <a:lnTo>
                  <a:pt x="0" y="0"/>
                </a:lnTo>
                <a:close/>
              </a:path>
            </a:pathLst>
          </a:custGeom>
          <a:solidFill>
            <a:srgbClr val="F9FAFB"/>
          </a:solidFill>
          <a:ln/>
        </p:spPr>
      </p:sp>
      <p:sp>
        <p:nvSpPr>
          <p:cNvPr id="14" name="Text 12"/>
          <p:cNvSpPr/>
          <p:nvPr/>
        </p:nvSpPr>
        <p:spPr>
          <a:xfrm>
            <a:off x="595517" y="2430352"/>
            <a:ext cx="2478638" cy="160950"/>
          </a:xfrm>
          <a:prstGeom prst="rect">
            <a:avLst/>
          </a:prstGeom>
          <a:noFill/>
          <a:ln/>
        </p:spPr>
        <p:txBody>
          <a:bodyPr wrap="square" lIns="0" tIns="0" rIns="0" bIns="0" rtlCol="0" anchor="ctr"/>
          <a:lstStyle/>
          <a:p>
            <a:pPr>
              <a:lnSpc>
                <a:spcPct val="120000"/>
              </a:lnSpc>
            </a:pPr>
            <a:r>
              <a:rPr lang="en-US" sz="887" dirty="0">
                <a:solidFill>
                  <a:srgbClr val="6B7280"/>
                </a:solidFill>
                <a:latin typeface="Sorts Mill Goudy" pitchFamily="34" charset="0"/>
                <a:ea typeface="Sorts Mill Goudy" pitchFamily="34" charset="-122"/>
                <a:cs typeface="Sorts Mill Goudy" pitchFamily="34" charset="-120"/>
              </a:rPr>
              <a:t>Predicate Embedding</a:t>
            </a:r>
            <a:endParaRPr lang="en-US" sz="1600" dirty="0"/>
          </a:p>
        </p:txBody>
      </p:sp>
      <p:sp>
        <p:nvSpPr>
          <p:cNvPr id="15" name="Text 13"/>
          <p:cNvSpPr/>
          <p:nvPr/>
        </p:nvSpPr>
        <p:spPr>
          <a:xfrm>
            <a:off x="595517" y="2591303"/>
            <a:ext cx="2502780" cy="225331"/>
          </a:xfrm>
          <a:prstGeom prst="rect">
            <a:avLst/>
          </a:prstGeom>
          <a:noFill/>
          <a:ln/>
        </p:spPr>
        <p:txBody>
          <a:bodyPr wrap="square" lIns="0" tIns="0" rIns="0" bIns="0" rtlCol="0" anchor="ctr"/>
          <a:lstStyle/>
          <a:p>
            <a:pPr>
              <a:lnSpc>
                <a:spcPct val="120000"/>
              </a:lnSpc>
            </a:pPr>
            <a:r>
              <a:rPr lang="en-US" sz="1267" b="1" dirty="0">
                <a:solidFill>
                  <a:srgbClr val="8B0000"/>
                </a:solidFill>
                <a:latin typeface="Sorts Mill Goudy" pitchFamily="34" charset="0"/>
                <a:ea typeface="Sorts Mill Goudy" pitchFamily="34" charset="-122"/>
                <a:cs typeface="Sorts Mill Goudy" pitchFamily="34" charset="-120"/>
              </a:rPr>
              <a:t>8</a:t>
            </a:r>
            <a:endParaRPr lang="en-US" sz="1600" dirty="0"/>
          </a:p>
        </p:txBody>
      </p:sp>
      <p:sp>
        <p:nvSpPr>
          <p:cNvPr id="16" name="Shape 14"/>
          <p:cNvSpPr/>
          <p:nvPr/>
        </p:nvSpPr>
        <p:spPr>
          <a:xfrm>
            <a:off x="3208196" y="2333782"/>
            <a:ext cx="2615446" cy="579422"/>
          </a:xfrm>
          <a:custGeom>
            <a:avLst/>
            <a:gdLst/>
            <a:ahLst/>
            <a:cxnLst/>
            <a:rect l="l" t="t" r="r" b="b"/>
            <a:pathLst>
              <a:path w="2615446" h="579422">
                <a:moveTo>
                  <a:pt x="0" y="0"/>
                </a:moveTo>
                <a:lnTo>
                  <a:pt x="2615446" y="0"/>
                </a:lnTo>
                <a:lnTo>
                  <a:pt x="2615446" y="579422"/>
                </a:lnTo>
                <a:lnTo>
                  <a:pt x="0" y="579422"/>
                </a:lnTo>
                <a:lnTo>
                  <a:pt x="0" y="0"/>
                </a:lnTo>
                <a:close/>
              </a:path>
            </a:pathLst>
          </a:custGeom>
          <a:solidFill>
            <a:srgbClr val="F9FAFB"/>
          </a:solidFill>
          <a:ln/>
        </p:spPr>
      </p:sp>
      <p:sp>
        <p:nvSpPr>
          <p:cNvPr id="17" name="Text 15"/>
          <p:cNvSpPr/>
          <p:nvPr/>
        </p:nvSpPr>
        <p:spPr>
          <a:xfrm>
            <a:off x="3304766" y="2430352"/>
            <a:ext cx="2478638" cy="160950"/>
          </a:xfrm>
          <a:prstGeom prst="rect">
            <a:avLst/>
          </a:prstGeom>
          <a:noFill/>
          <a:ln/>
        </p:spPr>
        <p:txBody>
          <a:bodyPr wrap="square" lIns="0" tIns="0" rIns="0" bIns="0" rtlCol="0" anchor="ctr"/>
          <a:lstStyle/>
          <a:p>
            <a:pPr>
              <a:lnSpc>
                <a:spcPct val="120000"/>
              </a:lnSpc>
            </a:pPr>
            <a:r>
              <a:rPr lang="en-US" sz="887" dirty="0">
                <a:solidFill>
                  <a:srgbClr val="6B7280"/>
                </a:solidFill>
                <a:latin typeface="Sorts Mill Goudy" pitchFamily="34" charset="0"/>
                <a:ea typeface="Sorts Mill Goudy" pitchFamily="34" charset="-122"/>
                <a:cs typeface="Sorts Mill Goudy" pitchFamily="34" charset="-120"/>
              </a:rPr>
              <a:t>Hidden Size</a:t>
            </a:r>
            <a:endParaRPr lang="en-US" sz="1600" dirty="0"/>
          </a:p>
        </p:txBody>
      </p:sp>
      <p:sp>
        <p:nvSpPr>
          <p:cNvPr id="18" name="Text 16"/>
          <p:cNvSpPr/>
          <p:nvPr/>
        </p:nvSpPr>
        <p:spPr>
          <a:xfrm>
            <a:off x="3304766" y="2591303"/>
            <a:ext cx="2502780" cy="225331"/>
          </a:xfrm>
          <a:prstGeom prst="rect">
            <a:avLst/>
          </a:prstGeom>
          <a:noFill/>
          <a:ln/>
        </p:spPr>
        <p:txBody>
          <a:bodyPr wrap="square" lIns="0" tIns="0" rIns="0" bIns="0" rtlCol="0" anchor="ctr"/>
          <a:lstStyle/>
          <a:p>
            <a:pPr>
              <a:lnSpc>
                <a:spcPct val="120000"/>
              </a:lnSpc>
            </a:pPr>
            <a:r>
              <a:rPr lang="en-US" sz="1267" b="1" dirty="0">
                <a:solidFill>
                  <a:srgbClr val="8B0000"/>
                </a:solidFill>
                <a:latin typeface="Sorts Mill Goudy" pitchFamily="34" charset="0"/>
                <a:ea typeface="Sorts Mill Goudy" pitchFamily="34" charset="-122"/>
                <a:cs typeface="Sorts Mill Goudy" pitchFamily="34" charset="-120"/>
              </a:rPr>
              <a:t>128</a:t>
            </a:r>
            <a:endParaRPr lang="en-US" sz="1600" dirty="0"/>
          </a:p>
        </p:txBody>
      </p:sp>
      <p:sp>
        <p:nvSpPr>
          <p:cNvPr id="19" name="Shape 17"/>
          <p:cNvSpPr/>
          <p:nvPr/>
        </p:nvSpPr>
        <p:spPr>
          <a:xfrm>
            <a:off x="498947" y="3009774"/>
            <a:ext cx="2615446" cy="579422"/>
          </a:xfrm>
          <a:custGeom>
            <a:avLst/>
            <a:gdLst/>
            <a:ahLst/>
            <a:cxnLst/>
            <a:rect l="l" t="t" r="r" b="b"/>
            <a:pathLst>
              <a:path w="2615446" h="579422">
                <a:moveTo>
                  <a:pt x="0" y="0"/>
                </a:moveTo>
                <a:lnTo>
                  <a:pt x="2615446" y="0"/>
                </a:lnTo>
                <a:lnTo>
                  <a:pt x="2615446" y="579422"/>
                </a:lnTo>
                <a:lnTo>
                  <a:pt x="0" y="579422"/>
                </a:lnTo>
                <a:lnTo>
                  <a:pt x="0" y="0"/>
                </a:lnTo>
                <a:close/>
              </a:path>
            </a:pathLst>
          </a:custGeom>
          <a:solidFill>
            <a:srgbClr val="F9FAFB"/>
          </a:solidFill>
          <a:ln/>
        </p:spPr>
      </p:sp>
      <p:sp>
        <p:nvSpPr>
          <p:cNvPr id="20" name="Text 18"/>
          <p:cNvSpPr/>
          <p:nvPr/>
        </p:nvSpPr>
        <p:spPr>
          <a:xfrm>
            <a:off x="595517" y="3106345"/>
            <a:ext cx="2478638" cy="160950"/>
          </a:xfrm>
          <a:prstGeom prst="rect">
            <a:avLst/>
          </a:prstGeom>
          <a:noFill/>
          <a:ln/>
        </p:spPr>
        <p:txBody>
          <a:bodyPr wrap="square" lIns="0" tIns="0" rIns="0" bIns="0" rtlCol="0" anchor="ctr"/>
          <a:lstStyle/>
          <a:p>
            <a:pPr>
              <a:lnSpc>
                <a:spcPct val="120000"/>
              </a:lnSpc>
            </a:pPr>
            <a:r>
              <a:rPr lang="en-US" sz="887" dirty="0">
                <a:solidFill>
                  <a:srgbClr val="6B7280"/>
                </a:solidFill>
                <a:latin typeface="Sorts Mill Goudy" pitchFamily="34" charset="0"/>
                <a:ea typeface="Sorts Mill Goudy" pitchFamily="34" charset="-122"/>
                <a:cs typeface="Sorts Mill Goudy" pitchFamily="34" charset="-120"/>
              </a:rPr>
              <a:t>Dropout</a:t>
            </a:r>
            <a:endParaRPr lang="en-US" sz="1600" dirty="0"/>
          </a:p>
        </p:txBody>
      </p:sp>
      <p:sp>
        <p:nvSpPr>
          <p:cNvPr id="21" name="Text 19"/>
          <p:cNvSpPr/>
          <p:nvPr/>
        </p:nvSpPr>
        <p:spPr>
          <a:xfrm>
            <a:off x="595517" y="3267295"/>
            <a:ext cx="2502780" cy="225331"/>
          </a:xfrm>
          <a:prstGeom prst="rect">
            <a:avLst/>
          </a:prstGeom>
          <a:noFill/>
          <a:ln/>
        </p:spPr>
        <p:txBody>
          <a:bodyPr wrap="square" lIns="0" tIns="0" rIns="0" bIns="0" rtlCol="0" anchor="ctr"/>
          <a:lstStyle/>
          <a:p>
            <a:pPr>
              <a:lnSpc>
                <a:spcPct val="120000"/>
              </a:lnSpc>
            </a:pPr>
            <a:r>
              <a:rPr lang="en-US" sz="1267" b="1" dirty="0">
                <a:solidFill>
                  <a:srgbClr val="8B0000"/>
                </a:solidFill>
                <a:latin typeface="Sorts Mill Goudy" pitchFamily="34" charset="0"/>
                <a:ea typeface="Sorts Mill Goudy" pitchFamily="34" charset="-122"/>
                <a:cs typeface="Sorts Mill Goudy" pitchFamily="34" charset="-120"/>
              </a:rPr>
              <a:t>0.30</a:t>
            </a:r>
            <a:endParaRPr lang="en-US" sz="1600" dirty="0"/>
          </a:p>
        </p:txBody>
      </p:sp>
      <p:sp>
        <p:nvSpPr>
          <p:cNvPr id="22" name="Shape 20"/>
          <p:cNvSpPr/>
          <p:nvPr/>
        </p:nvSpPr>
        <p:spPr>
          <a:xfrm>
            <a:off x="3208196" y="3009774"/>
            <a:ext cx="2615446" cy="579422"/>
          </a:xfrm>
          <a:custGeom>
            <a:avLst/>
            <a:gdLst/>
            <a:ahLst/>
            <a:cxnLst/>
            <a:rect l="l" t="t" r="r" b="b"/>
            <a:pathLst>
              <a:path w="2615446" h="579422">
                <a:moveTo>
                  <a:pt x="0" y="0"/>
                </a:moveTo>
                <a:lnTo>
                  <a:pt x="2615446" y="0"/>
                </a:lnTo>
                <a:lnTo>
                  <a:pt x="2615446" y="579422"/>
                </a:lnTo>
                <a:lnTo>
                  <a:pt x="0" y="579422"/>
                </a:lnTo>
                <a:lnTo>
                  <a:pt x="0" y="0"/>
                </a:lnTo>
                <a:close/>
              </a:path>
            </a:pathLst>
          </a:custGeom>
          <a:solidFill>
            <a:srgbClr val="F9FAFB"/>
          </a:solidFill>
          <a:ln/>
        </p:spPr>
      </p:sp>
      <p:sp>
        <p:nvSpPr>
          <p:cNvPr id="23" name="Text 21"/>
          <p:cNvSpPr/>
          <p:nvPr/>
        </p:nvSpPr>
        <p:spPr>
          <a:xfrm>
            <a:off x="3304766" y="3106345"/>
            <a:ext cx="2478638" cy="160950"/>
          </a:xfrm>
          <a:prstGeom prst="rect">
            <a:avLst/>
          </a:prstGeom>
          <a:noFill/>
          <a:ln/>
        </p:spPr>
        <p:txBody>
          <a:bodyPr wrap="square" lIns="0" tIns="0" rIns="0" bIns="0" rtlCol="0" anchor="ctr"/>
          <a:lstStyle/>
          <a:p>
            <a:pPr>
              <a:lnSpc>
                <a:spcPct val="120000"/>
              </a:lnSpc>
            </a:pPr>
            <a:r>
              <a:rPr lang="en-US" sz="887" dirty="0">
                <a:solidFill>
                  <a:srgbClr val="6B7280"/>
                </a:solidFill>
                <a:latin typeface="Sorts Mill Goudy" pitchFamily="34" charset="0"/>
                <a:ea typeface="Sorts Mill Goudy" pitchFamily="34" charset="-122"/>
                <a:cs typeface="Sorts Mill Goudy" pitchFamily="34" charset="-120"/>
              </a:rPr>
              <a:t>Alpha (SRL weight)</a:t>
            </a:r>
            <a:endParaRPr lang="en-US" sz="1600" dirty="0"/>
          </a:p>
        </p:txBody>
      </p:sp>
      <p:sp>
        <p:nvSpPr>
          <p:cNvPr id="24" name="Text 22"/>
          <p:cNvSpPr/>
          <p:nvPr/>
        </p:nvSpPr>
        <p:spPr>
          <a:xfrm>
            <a:off x="3304766" y="3267295"/>
            <a:ext cx="2502780" cy="225331"/>
          </a:xfrm>
          <a:prstGeom prst="rect">
            <a:avLst/>
          </a:prstGeom>
          <a:noFill/>
          <a:ln/>
        </p:spPr>
        <p:txBody>
          <a:bodyPr wrap="square" lIns="0" tIns="0" rIns="0" bIns="0" rtlCol="0" anchor="ctr"/>
          <a:lstStyle/>
          <a:p>
            <a:pPr>
              <a:lnSpc>
                <a:spcPct val="120000"/>
              </a:lnSpc>
            </a:pPr>
            <a:r>
              <a:rPr lang="en-US" sz="1267" b="1" dirty="0">
                <a:solidFill>
                  <a:srgbClr val="8B0000"/>
                </a:solidFill>
                <a:latin typeface="Sorts Mill Goudy" pitchFamily="34" charset="0"/>
                <a:ea typeface="Sorts Mill Goudy" pitchFamily="34" charset="-122"/>
                <a:cs typeface="Sorts Mill Goudy" pitchFamily="34" charset="-120"/>
              </a:rPr>
              <a:t>0.50</a:t>
            </a:r>
            <a:endParaRPr lang="en-US" sz="1600" dirty="0"/>
          </a:p>
        </p:txBody>
      </p:sp>
      <p:sp>
        <p:nvSpPr>
          <p:cNvPr id="25" name="Shape 23"/>
          <p:cNvSpPr/>
          <p:nvPr/>
        </p:nvSpPr>
        <p:spPr>
          <a:xfrm>
            <a:off x="325925" y="3899026"/>
            <a:ext cx="5665457" cy="2390115"/>
          </a:xfrm>
          <a:custGeom>
            <a:avLst/>
            <a:gdLst/>
            <a:ahLst/>
            <a:cxnLst/>
            <a:rect l="l" t="t" r="r" b="b"/>
            <a:pathLst>
              <a:path w="5665457" h="2390115">
                <a:moveTo>
                  <a:pt x="0" y="0"/>
                </a:moveTo>
                <a:lnTo>
                  <a:pt x="5665457" y="0"/>
                </a:lnTo>
                <a:lnTo>
                  <a:pt x="5665457" y="2390115"/>
                </a:lnTo>
                <a:lnTo>
                  <a:pt x="0" y="2390115"/>
                </a:lnTo>
                <a:lnTo>
                  <a:pt x="0" y="0"/>
                </a:lnTo>
                <a:close/>
              </a:path>
            </a:pathLst>
          </a:custGeom>
          <a:solidFill>
            <a:srgbClr val="000000">
              <a:alpha val="0"/>
            </a:srgbClr>
          </a:solidFill>
          <a:ln w="12700">
            <a:solidFill>
              <a:srgbClr val="E5E7EB"/>
            </a:solidFill>
            <a:prstDash val="solid"/>
          </a:ln>
        </p:spPr>
      </p:sp>
      <p:sp>
        <p:nvSpPr>
          <p:cNvPr id="26" name="Text 24"/>
          <p:cNvSpPr/>
          <p:nvPr/>
        </p:nvSpPr>
        <p:spPr>
          <a:xfrm>
            <a:off x="490899" y="4064000"/>
            <a:ext cx="5407937" cy="225331"/>
          </a:xfrm>
          <a:prstGeom prst="rect">
            <a:avLst/>
          </a:prstGeom>
          <a:noFill/>
          <a:ln/>
        </p:spPr>
        <p:txBody>
          <a:bodyPr wrap="square" lIns="0" tIns="0" rIns="0" bIns="0" rtlCol="0" anchor="ctr"/>
          <a:lstStyle/>
          <a:p>
            <a:pPr>
              <a:lnSpc>
                <a:spcPct val="130000"/>
              </a:lnSpc>
            </a:pPr>
            <a:r>
              <a:rPr lang="en-US" sz="1141" b="1" dirty="0">
                <a:solidFill>
                  <a:srgbClr val="1F2937"/>
                </a:solidFill>
                <a:latin typeface="Sorts Mill Goudy" pitchFamily="34" charset="0"/>
                <a:ea typeface="Sorts Mill Goudy" pitchFamily="34" charset="-122"/>
                <a:cs typeface="Sorts Mill Goudy" pitchFamily="34" charset="-120"/>
              </a:rPr>
              <a:t>Training Configuration</a:t>
            </a:r>
            <a:endParaRPr lang="en-US" sz="1600" dirty="0"/>
          </a:p>
        </p:txBody>
      </p:sp>
      <p:sp>
        <p:nvSpPr>
          <p:cNvPr id="27" name="Text 25"/>
          <p:cNvSpPr/>
          <p:nvPr/>
        </p:nvSpPr>
        <p:spPr>
          <a:xfrm>
            <a:off x="490899" y="4385901"/>
            <a:ext cx="659897" cy="193141"/>
          </a:xfrm>
          <a:prstGeom prst="rect">
            <a:avLst/>
          </a:prstGeom>
          <a:noFill/>
          <a:ln/>
        </p:spPr>
        <p:txBody>
          <a:bodyPr wrap="square" lIns="0" tIns="0" rIns="0" bIns="0" rtlCol="0" anchor="ctr"/>
          <a:lstStyle/>
          <a:p>
            <a:pPr>
              <a:lnSpc>
                <a:spcPct val="130000"/>
              </a:lnSpc>
            </a:pPr>
            <a:r>
              <a:rPr lang="en-US" sz="1014" dirty="0">
                <a:solidFill>
                  <a:srgbClr val="1F2937"/>
                </a:solidFill>
                <a:latin typeface="Sorts Mill Goudy" pitchFamily="34" charset="0"/>
                <a:ea typeface="Sorts Mill Goudy" pitchFamily="34" charset="-122"/>
                <a:cs typeface="Sorts Mill Goudy" pitchFamily="34" charset="-120"/>
              </a:rPr>
              <a:t>Optimizer:</a:t>
            </a:r>
            <a:endParaRPr lang="en-US" sz="1600" dirty="0"/>
          </a:p>
        </p:txBody>
      </p:sp>
      <p:sp>
        <p:nvSpPr>
          <p:cNvPr id="28" name="Text 26"/>
          <p:cNvSpPr/>
          <p:nvPr/>
        </p:nvSpPr>
        <p:spPr>
          <a:xfrm>
            <a:off x="5485897" y="4385901"/>
            <a:ext cx="410424" cy="193141"/>
          </a:xfrm>
          <a:prstGeom prst="rect">
            <a:avLst/>
          </a:prstGeom>
          <a:noFill/>
          <a:ln/>
        </p:spPr>
        <p:txBody>
          <a:bodyPr wrap="square" lIns="0" tIns="0" rIns="0" bIns="0" rtlCol="0" anchor="ctr"/>
          <a:lstStyle/>
          <a:p>
            <a:pPr>
              <a:lnSpc>
                <a:spcPct val="130000"/>
              </a:lnSpc>
            </a:pPr>
            <a:r>
              <a:rPr lang="en-US" sz="1014" b="1" dirty="0">
                <a:solidFill>
                  <a:srgbClr val="1F2937"/>
                </a:solidFill>
                <a:latin typeface="Sorts Mill Goudy" pitchFamily="34" charset="0"/>
                <a:ea typeface="Sorts Mill Goudy" pitchFamily="34" charset="-122"/>
                <a:cs typeface="Sorts Mill Goudy" pitchFamily="34" charset="-120"/>
              </a:rPr>
              <a:t>Adam</a:t>
            </a:r>
            <a:endParaRPr lang="en-US" sz="1600" dirty="0"/>
          </a:p>
        </p:txBody>
      </p:sp>
      <p:sp>
        <p:nvSpPr>
          <p:cNvPr id="29" name="Text 27"/>
          <p:cNvSpPr/>
          <p:nvPr/>
        </p:nvSpPr>
        <p:spPr>
          <a:xfrm>
            <a:off x="490899" y="4643422"/>
            <a:ext cx="877180" cy="193141"/>
          </a:xfrm>
          <a:prstGeom prst="rect">
            <a:avLst/>
          </a:prstGeom>
          <a:noFill/>
          <a:ln/>
        </p:spPr>
        <p:txBody>
          <a:bodyPr wrap="square" lIns="0" tIns="0" rIns="0" bIns="0" rtlCol="0" anchor="ctr"/>
          <a:lstStyle/>
          <a:p>
            <a:pPr>
              <a:lnSpc>
                <a:spcPct val="130000"/>
              </a:lnSpc>
            </a:pPr>
            <a:r>
              <a:rPr lang="en-US" sz="1014" dirty="0">
                <a:solidFill>
                  <a:srgbClr val="1F2937"/>
                </a:solidFill>
                <a:latin typeface="Sorts Mill Goudy" pitchFamily="34" charset="0"/>
                <a:ea typeface="Sorts Mill Goudy" pitchFamily="34" charset="-122"/>
                <a:cs typeface="Sorts Mill Goudy" pitchFamily="34" charset="-120"/>
              </a:rPr>
              <a:t>Learning Rate:</a:t>
            </a:r>
            <a:endParaRPr lang="en-US" sz="1600" dirty="0"/>
          </a:p>
        </p:txBody>
      </p:sp>
      <p:sp>
        <p:nvSpPr>
          <p:cNvPr id="30" name="Text 28"/>
          <p:cNvSpPr/>
          <p:nvPr/>
        </p:nvSpPr>
        <p:spPr>
          <a:xfrm>
            <a:off x="5548391" y="4643422"/>
            <a:ext cx="346044" cy="193141"/>
          </a:xfrm>
          <a:prstGeom prst="rect">
            <a:avLst/>
          </a:prstGeom>
          <a:noFill/>
          <a:ln/>
        </p:spPr>
        <p:txBody>
          <a:bodyPr wrap="square" lIns="0" tIns="0" rIns="0" bIns="0" rtlCol="0" anchor="ctr"/>
          <a:lstStyle/>
          <a:p>
            <a:pPr>
              <a:lnSpc>
                <a:spcPct val="130000"/>
              </a:lnSpc>
            </a:pPr>
            <a:r>
              <a:rPr lang="en-US" sz="1014" b="1" dirty="0">
                <a:solidFill>
                  <a:srgbClr val="1F2937"/>
                </a:solidFill>
                <a:latin typeface="Sorts Mill Goudy" pitchFamily="34" charset="0"/>
                <a:ea typeface="Sorts Mill Goudy" pitchFamily="34" charset="-122"/>
                <a:cs typeface="Sorts Mill Goudy" pitchFamily="34" charset="-120"/>
              </a:rPr>
              <a:t>0.001</a:t>
            </a:r>
            <a:endParaRPr lang="en-US" sz="1600" dirty="0"/>
          </a:p>
        </p:txBody>
      </p:sp>
      <p:sp>
        <p:nvSpPr>
          <p:cNvPr id="31" name="Text 29"/>
          <p:cNvSpPr/>
          <p:nvPr/>
        </p:nvSpPr>
        <p:spPr>
          <a:xfrm>
            <a:off x="490899" y="4900943"/>
            <a:ext cx="893275" cy="193141"/>
          </a:xfrm>
          <a:prstGeom prst="rect">
            <a:avLst/>
          </a:prstGeom>
          <a:noFill/>
          <a:ln/>
        </p:spPr>
        <p:txBody>
          <a:bodyPr wrap="square" lIns="0" tIns="0" rIns="0" bIns="0" rtlCol="0" anchor="ctr"/>
          <a:lstStyle/>
          <a:p>
            <a:pPr>
              <a:lnSpc>
                <a:spcPct val="130000"/>
              </a:lnSpc>
            </a:pPr>
            <a:r>
              <a:rPr lang="en-US" sz="1014" dirty="0">
                <a:solidFill>
                  <a:srgbClr val="1F2937"/>
                </a:solidFill>
                <a:latin typeface="Sorts Mill Goudy" pitchFamily="34" charset="0"/>
                <a:ea typeface="Sorts Mill Goudy" pitchFamily="34" charset="-122"/>
                <a:cs typeface="Sorts Mill Goudy" pitchFamily="34" charset="-120"/>
              </a:rPr>
              <a:t>Weight Decay:</a:t>
            </a:r>
            <a:endParaRPr lang="en-US" sz="1600" dirty="0"/>
          </a:p>
        </p:txBody>
      </p:sp>
      <p:sp>
        <p:nvSpPr>
          <p:cNvPr id="32" name="Text 30"/>
          <p:cNvSpPr/>
          <p:nvPr/>
        </p:nvSpPr>
        <p:spPr>
          <a:xfrm>
            <a:off x="5637417" y="4900943"/>
            <a:ext cx="257521" cy="193141"/>
          </a:xfrm>
          <a:prstGeom prst="rect">
            <a:avLst/>
          </a:prstGeom>
          <a:noFill/>
          <a:ln/>
        </p:spPr>
        <p:txBody>
          <a:bodyPr wrap="square" lIns="0" tIns="0" rIns="0" bIns="0" rtlCol="0" anchor="ctr"/>
          <a:lstStyle/>
          <a:p>
            <a:pPr>
              <a:lnSpc>
                <a:spcPct val="130000"/>
              </a:lnSpc>
            </a:pPr>
            <a:r>
              <a:rPr lang="en-US" sz="1014" b="1" dirty="0">
                <a:solidFill>
                  <a:srgbClr val="1F2937"/>
                </a:solidFill>
                <a:latin typeface="Sorts Mill Goudy" pitchFamily="34" charset="0"/>
                <a:ea typeface="Sorts Mill Goudy" pitchFamily="34" charset="-122"/>
                <a:cs typeface="Sorts Mill Goudy" pitchFamily="34" charset="-120"/>
              </a:rPr>
              <a:t>1e-5</a:t>
            </a:r>
            <a:endParaRPr lang="en-US" sz="1600" dirty="0"/>
          </a:p>
        </p:txBody>
      </p:sp>
      <p:sp>
        <p:nvSpPr>
          <p:cNvPr id="33" name="Text 31"/>
          <p:cNvSpPr/>
          <p:nvPr/>
        </p:nvSpPr>
        <p:spPr>
          <a:xfrm>
            <a:off x="490899" y="5158463"/>
            <a:ext cx="667945" cy="193141"/>
          </a:xfrm>
          <a:prstGeom prst="rect">
            <a:avLst/>
          </a:prstGeom>
          <a:noFill/>
          <a:ln/>
        </p:spPr>
        <p:txBody>
          <a:bodyPr wrap="square" lIns="0" tIns="0" rIns="0" bIns="0" rtlCol="0" anchor="ctr"/>
          <a:lstStyle/>
          <a:p>
            <a:pPr>
              <a:lnSpc>
                <a:spcPct val="130000"/>
              </a:lnSpc>
            </a:pPr>
            <a:r>
              <a:rPr lang="en-US" sz="1014" dirty="0">
                <a:solidFill>
                  <a:srgbClr val="1F2937"/>
                </a:solidFill>
                <a:latin typeface="Sorts Mill Goudy" pitchFamily="34" charset="0"/>
                <a:ea typeface="Sorts Mill Goudy" pitchFamily="34" charset="-122"/>
                <a:cs typeface="Sorts Mill Goudy" pitchFamily="34" charset="-120"/>
              </a:rPr>
              <a:t>Batch Size:</a:t>
            </a:r>
            <a:endParaRPr lang="en-US" sz="1600" dirty="0"/>
          </a:p>
        </p:txBody>
      </p:sp>
      <p:sp>
        <p:nvSpPr>
          <p:cNvPr id="34" name="Text 32"/>
          <p:cNvSpPr/>
          <p:nvPr/>
        </p:nvSpPr>
        <p:spPr>
          <a:xfrm>
            <a:off x="5700037" y="5158463"/>
            <a:ext cx="193141" cy="193141"/>
          </a:xfrm>
          <a:prstGeom prst="rect">
            <a:avLst/>
          </a:prstGeom>
          <a:noFill/>
          <a:ln/>
        </p:spPr>
        <p:txBody>
          <a:bodyPr wrap="square" lIns="0" tIns="0" rIns="0" bIns="0" rtlCol="0" anchor="ctr"/>
          <a:lstStyle/>
          <a:p>
            <a:pPr>
              <a:lnSpc>
                <a:spcPct val="130000"/>
              </a:lnSpc>
            </a:pPr>
            <a:r>
              <a:rPr lang="en-US" sz="1014" b="1" dirty="0">
                <a:solidFill>
                  <a:srgbClr val="1F2937"/>
                </a:solidFill>
                <a:latin typeface="Sorts Mill Goudy" pitchFamily="34" charset="0"/>
                <a:ea typeface="Sorts Mill Goudy" pitchFamily="34" charset="-122"/>
                <a:cs typeface="Sorts Mill Goudy" pitchFamily="34" charset="-120"/>
              </a:rPr>
              <a:t>64</a:t>
            </a:r>
            <a:endParaRPr lang="en-US" sz="1600" dirty="0"/>
          </a:p>
        </p:txBody>
      </p:sp>
      <p:sp>
        <p:nvSpPr>
          <p:cNvPr id="35" name="Text 33"/>
          <p:cNvSpPr/>
          <p:nvPr/>
        </p:nvSpPr>
        <p:spPr>
          <a:xfrm>
            <a:off x="490899" y="5415984"/>
            <a:ext cx="780610" cy="193141"/>
          </a:xfrm>
          <a:prstGeom prst="rect">
            <a:avLst/>
          </a:prstGeom>
          <a:noFill/>
          <a:ln/>
        </p:spPr>
        <p:txBody>
          <a:bodyPr wrap="square" lIns="0" tIns="0" rIns="0" bIns="0" rtlCol="0" anchor="ctr"/>
          <a:lstStyle/>
          <a:p>
            <a:pPr>
              <a:lnSpc>
                <a:spcPct val="130000"/>
              </a:lnSpc>
            </a:pPr>
            <a:r>
              <a:rPr lang="en-US" sz="1014" dirty="0">
                <a:solidFill>
                  <a:srgbClr val="1F2937"/>
                </a:solidFill>
                <a:latin typeface="Sorts Mill Goudy" pitchFamily="34" charset="0"/>
                <a:ea typeface="Sorts Mill Goudy" pitchFamily="34" charset="-122"/>
                <a:cs typeface="Sorts Mill Goudy" pitchFamily="34" charset="-120"/>
              </a:rPr>
              <a:t>Max Epochs:</a:t>
            </a:r>
            <a:endParaRPr lang="en-US" sz="1600" dirty="0"/>
          </a:p>
        </p:txBody>
      </p:sp>
      <p:sp>
        <p:nvSpPr>
          <p:cNvPr id="36" name="Text 34"/>
          <p:cNvSpPr/>
          <p:nvPr/>
        </p:nvSpPr>
        <p:spPr>
          <a:xfrm>
            <a:off x="5765046" y="5415984"/>
            <a:ext cx="128760" cy="193141"/>
          </a:xfrm>
          <a:prstGeom prst="rect">
            <a:avLst/>
          </a:prstGeom>
          <a:noFill/>
          <a:ln/>
        </p:spPr>
        <p:txBody>
          <a:bodyPr wrap="square" lIns="0" tIns="0" rIns="0" bIns="0" rtlCol="0" anchor="ctr"/>
          <a:lstStyle/>
          <a:p>
            <a:pPr>
              <a:lnSpc>
                <a:spcPct val="130000"/>
              </a:lnSpc>
            </a:pPr>
            <a:r>
              <a:rPr lang="en-US" sz="1014" b="1" dirty="0">
                <a:solidFill>
                  <a:srgbClr val="1F2937"/>
                </a:solidFill>
                <a:latin typeface="Sorts Mill Goudy" pitchFamily="34" charset="0"/>
                <a:ea typeface="Sorts Mill Goudy" pitchFamily="34" charset="-122"/>
                <a:cs typeface="Sorts Mill Goudy" pitchFamily="34" charset="-120"/>
              </a:rPr>
              <a:t>6</a:t>
            </a:r>
            <a:endParaRPr lang="en-US" sz="1600" dirty="0"/>
          </a:p>
        </p:txBody>
      </p:sp>
      <p:sp>
        <p:nvSpPr>
          <p:cNvPr id="37" name="Text 35"/>
          <p:cNvSpPr/>
          <p:nvPr/>
        </p:nvSpPr>
        <p:spPr>
          <a:xfrm>
            <a:off x="490899" y="5673505"/>
            <a:ext cx="563327" cy="193141"/>
          </a:xfrm>
          <a:prstGeom prst="rect">
            <a:avLst/>
          </a:prstGeom>
          <a:noFill/>
          <a:ln/>
        </p:spPr>
        <p:txBody>
          <a:bodyPr wrap="square" lIns="0" tIns="0" rIns="0" bIns="0" rtlCol="0" anchor="ctr"/>
          <a:lstStyle/>
          <a:p>
            <a:pPr>
              <a:lnSpc>
                <a:spcPct val="130000"/>
              </a:lnSpc>
            </a:pPr>
            <a:r>
              <a:rPr lang="en-US" sz="1014" dirty="0">
                <a:solidFill>
                  <a:srgbClr val="1F2937"/>
                </a:solidFill>
                <a:latin typeface="Sorts Mill Goudy" pitchFamily="34" charset="0"/>
                <a:ea typeface="Sorts Mill Goudy" pitchFamily="34" charset="-122"/>
                <a:cs typeface="Sorts Mill Goudy" pitchFamily="34" charset="-120"/>
              </a:rPr>
              <a:t>Patience:</a:t>
            </a:r>
            <a:endParaRPr lang="en-US" sz="1600" dirty="0"/>
          </a:p>
        </p:txBody>
      </p:sp>
      <p:sp>
        <p:nvSpPr>
          <p:cNvPr id="38" name="Text 36"/>
          <p:cNvSpPr/>
          <p:nvPr/>
        </p:nvSpPr>
        <p:spPr>
          <a:xfrm>
            <a:off x="5784913" y="5673505"/>
            <a:ext cx="104618" cy="193141"/>
          </a:xfrm>
          <a:prstGeom prst="rect">
            <a:avLst/>
          </a:prstGeom>
          <a:noFill/>
          <a:ln/>
        </p:spPr>
        <p:txBody>
          <a:bodyPr wrap="square" lIns="0" tIns="0" rIns="0" bIns="0" rtlCol="0" anchor="ctr"/>
          <a:lstStyle/>
          <a:p>
            <a:pPr>
              <a:lnSpc>
                <a:spcPct val="130000"/>
              </a:lnSpc>
            </a:pPr>
            <a:r>
              <a:rPr lang="en-US" sz="1014" b="1" dirty="0">
                <a:solidFill>
                  <a:srgbClr val="1F2937"/>
                </a:solidFill>
                <a:latin typeface="Sorts Mill Goudy" pitchFamily="34" charset="0"/>
                <a:ea typeface="Sorts Mill Goudy" pitchFamily="34" charset="-122"/>
                <a:cs typeface="Sorts Mill Goudy" pitchFamily="34" charset="-120"/>
              </a:rPr>
              <a:t>5</a:t>
            </a:r>
            <a:endParaRPr lang="en-US" sz="1600" dirty="0"/>
          </a:p>
        </p:txBody>
      </p:sp>
      <p:sp>
        <p:nvSpPr>
          <p:cNvPr id="39" name="Text 37"/>
          <p:cNvSpPr/>
          <p:nvPr/>
        </p:nvSpPr>
        <p:spPr>
          <a:xfrm>
            <a:off x="490899" y="5931026"/>
            <a:ext cx="659897" cy="193141"/>
          </a:xfrm>
          <a:prstGeom prst="rect">
            <a:avLst/>
          </a:prstGeom>
          <a:noFill/>
          <a:ln/>
        </p:spPr>
        <p:txBody>
          <a:bodyPr wrap="square" lIns="0" tIns="0" rIns="0" bIns="0" rtlCol="0" anchor="ctr"/>
          <a:lstStyle/>
          <a:p>
            <a:pPr>
              <a:lnSpc>
                <a:spcPct val="130000"/>
              </a:lnSpc>
            </a:pPr>
            <a:r>
              <a:rPr lang="en-US" sz="1014" dirty="0">
                <a:solidFill>
                  <a:srgbClr val="1F2937"/>
                </a:solidFill>
                <a:latin typeface="Sorts Mill Goudy" pitchFamily="34" charset="0"/>
                <a:ea typeface="Sorts Mill Goudy" pitchFamily="34" charset="-122"/>
                <a:cs typeface="Sorts Mill Goudy" pitchFamily="34" charset="-120"/>
              </a:rPr>
              <a:t>Grad Clip:</a:t>
            </a:r>
            <a:endParaRPr lang="en-US" sz="1600" dirty="0"/>
          </a:p>
        </p:txBody>
      </p:sp>
      <p:sp>
        <p:nvSpPr>
          <p:cNvPr id="40" name="Text 38"/>
          <p:cNvSpPr/>
          <p:nvPr/>
        </p:nvSpPr>
        <p:spPr>
          <a:xfrm>
            <a:off x="5684445" y="5931026"/>
            <a:ext cx="209236" cy="193141"/>
          </a:xfrm>
          <a:prstGeom prst="rect">
            <a:avLst/>
          </a:prstGeom>
          <a:noFill/>
          <a:ln/>
        </p:spPr>
        <p:txBody>
          <a:bodyPr wrap="square" lIns="0" tIns="0" rIns="0" bIns="0" rtlCol="0" anchor="ctr"/>
          <a:lstStyle/>
          <a:p>
            <a:pPr>
              <a:lnSpc>
                <a:spcPct val="130000"/>
              </a:lnSpc>
            </a:pPr>
            <a:r>
              <a:rPr lang="en-US" sz="1014" b="1" dirty="0">
                <a:solidFill>
                  <a:srgbClr val="1F2937"/>
                </a:solidFill>
                <a:latin typeface="Sorts Mill Goudy" pitchFamily="34" charset="0"/>
                <a:ea typeface="Sorts Mill Goudy" pitchFamily="34" charset="-122"/>
                <a:cs typeface="Sorts Mill Goudy" pitchFamily="34" charset="-120"/>
              </a:rPr>
              <a:t>5.0</a:t>
            </a:r>
            <a:endParaRPr lang="en-US" sz="1600" dirty="0"/>
          </a:p>
        </p:txBody>
      </p:sp>
      <p:pic>
        <p:nvPicPr>
          <p:cNvPr id="41" name="Image 0" descr="https://kimi-web-img.moonshot.cn/img/www.mdpi.com/60da4dc8a99119161bfbdb27d423f1f1b1a6bd44.jpg"/>
          <p:cNvPicPr>
            <a:picLocks noChangeAspect="1"/>
          </p:cNvPicPr>
          <p:nvPr/>
        </p:nvPicPr>
        <p:blipFill>
          <a:blip r:embed="rId3"/>
          <a:srcRect t="29966" b="29966"/>
          <a:stretch/>
        </p:blipFill>
        <p:spPr>
          <a:xfrm>
            <a:off x="6191187" y="1126653"/>
            <a:ext cx="5657410" cy="1529030"/>
          </a:xfrm>
          <a:prstGeom prst="roundRect">
            <a:avLst>
              <a:gd name="adj" fmla="val 4211"/>
            </a:avLst>
          </a:prstGeom>
        </p:spPr>
      </p:pic>
      <p:sp>
        <p:nvSpPr>
          <p:cNvPr id="42" name="Shape 39"/>
          <p:cNvSpPr/>
          <p:nvPr/>
        </p:nvSpPr>
        <p:spPr>
          <a:xfrm>
            <a:off x="6195211" y="2804562"/>
            <a:ext cx="5665457" cy="1698028"/>
          </a:xfrm>
          <a:custGeom>
            <a:avLst/>
            <a:gdLst/>
            <a:ahLst/>
            <a:cxnLst/>
            <a:rect l="l" t="t" r="r" b="b"/>
            <a:pathLst>
              <a:path w="5665457" h="1698028">
                <a:moveTo>
                  <a:pt x="0" y="0"/>
                </a:moveTo>
                <a:lnTo>
                  <a:pt x="5665457" y="0"/>
                </a:lnTo>
                <a:lnTo>
                  <a:pt x="5665457" y="1698028"/>
                </a:lnTo>
                <a:lnTo>
                  <a:pt x="0" y="1698028"/>
                </a:lnTo>
                <a:lnTo>
                  <a:pt x="0" y="0"/>
                </a:lnTo>
                <a:close/>
              </a:path>
            </a:pathLst>
          </a:custGeom>
          <a:solidFill>
            <a:srgbClr val="000000">
              <a:alpha val="0"/>
            </a:srgbClr>
          </a:solidFill>
          <a:ln w="12700">
            <a:solidFill>
              <a:srgbClr val="E5E7EB"/>
            </a:solidFill>
            <a:prstDash val="solid"/>
          </a:ln>
        </p:spPr>
      </p:sp>
      <p:sp>
        <p:nvSpPr>
          <p:cNvPr id="43" name="Text 40"/>
          <p:cNvSpPr/>
          <p:nvPr/>
        </p:nvSpPr>
        <p:spPr>
          <a:xfrm>
            <a:off x="6360185" y="2969537"/>
            <a:ext cx="5407937" cy="225331"/>
          </a:xfrm>
          <a:prstGeom prst="rect">
            <a:avLst/>
          </a:prstGeom>
          <a:noFill/>
          <a:ln/>
        </p:spPr>
        <p:txBody>
          <a:bodyPr wrap="square" lIns="0" tIns="0" rIns="0" bIns="0" rtlCol="0" anchor="ctr"/>
          <a:lstStyle/>
          <a:p>
            <a:pPr>
              <a:lnSpc>
                <a:spcPct val="130000"/>
              </a:lnSpc>
            </a:pPr>
            <a:r>
              <a:rPr lang="en-US" sz="1141" b="1" dirty="0">
                <a:solidFill>
                  <a:srgbClr val="1F2937"/>
                </a:solidFill>
                <a:latin typeface="Sorts Mill Goudy" pitchFamily="34" charset="0"/>
                <a:ea typeface="Sorts Mill Goudy" pitchFamily="34" charset="-122"/>
                <a:cs typeface="Sorts Mill Goudy" pitchFamily="34" charset="-120"/>
              </a:rPr>
              <a:t>Loss Function</a:t>
            </a:r>
            <a:endParaRPr lang="en-US" sz="1600" dirty="0"/>
          </a:p>
        </p:txBody>
      </p:sp>
      <p:sp>
        <p:nvSpPr>
          <p:cNvPr id="44" name="Shape 41"/>
          <p:cNvSpPr/>
          <p:nvPr/>
        </p:nvSpPr>
        <p:spPr>
          <a:xfrm>
            <a:off x="6360185" y="3291438"/>
            <a:ext cx="5335509" cy="466756"/>
          </a:xfrm>
          <a:custGeom>
            <a:avLst/>
            <a:gdLst/>
            <a:ahLst/>
            <a:cxnLst/>
            <a:rect l="l" t="t" r="r" b="b"/>
            <a:pathLst>
              <a:path w="5335509" h="466756">
                <a:moveTo>
                  <a:pt x="0" y="0"/>
                </a:moveTo>
                <a:lnTo>
                  <a:pt x="5335509" y="0"/>
                </a:lnTo>
                <a:lnTo>
                  <a:pt x="5335509" y="466756"/>
                </a:lnTo>
                <a:lnTo>
                  <a:pt x="0" y="466756"/>
                </a:lnTo>
                <a:lnTo>
                  <a:pt x="0" y="0"/>
                </a:lnTo>
                <a:close/>
              </a:path>
            </a:pathLst>
          </a:custGeom>
          <a:solidFill>
            <a:srgbClr val="F3F4F6"/>
          </a:solidFill>
          <a:ln/>
        </p:spPr>
      </p:sp>
      <p:sp>
        <p:nvSpPr>
          <p:cNvPr id="45" name="Text 42"/>
          <p:cNvSpPr/>
          <p:nvPr/>
        </p:nvSpPr>
        <p:spPr>
          <a:xfrm>
            <a:off x="6488946" y="3436293"/>
            <a:ext cx="2683724" cy="152903"/>
          </a:xfrm>
          <a:prstGeom prst="rect">
            <a:avLst/>
          </a:prstGeom>
          <a:noFill/>
          <a:ln/>
        </p:spPr>
        <p:txBody>
          <a:bodyPr wrap="square" lIns="0" tIns="0" rIns="0" bIns="0" rtlCol="0" anchor="ctr"/>
          <a:lstStyle/>
          <a:p>
            <a:pPr>
              <a:lnSpc>
                <a:spcPct val="130000"/>
              </a:lnSpc>
            </a:pPr>
            <a:r>
              <a:rPr lang="en-US" sz="1014" dirty="0">
                <a:solidFill>
                  <a:srgbClr val="1F2937"/>
                </a:solidFill>
                <a:latin typeface="MiSans" pitchFamily="34" charset="0"/>
                <a:ea typeface="MiSans" pitchFamily="34" charset="-122"/>
                <a:cs typeface="MiSans" pitchFamily="34" charset="-120"/>
              </a:rPr>
              <a:t>loss = α × srl_loss + (1-α) × qa_loss</a:t>
            </a:r>
            <a:endParaRPr lang="en-US" sz="1600" dirty="0"/>
          </a:p>
        </p:txBody>
      </p:sp>
      <p:sp>
        <p:nvSpPr>
          <p:cNvPr id="46" name="Text 43"/>
          <p:cNvSpPr/>
          <p:nvPr/>
        </p:nvSpPr>
        <p:spPr>
          <a:xfrm>
            <a:off x="6360185" y="3854764"/>
            <a:ext cx="5399889" cy="209236"/>
          </a:xfrm>
          <a:prstGeom prst="rect">
            <a:avLst/>
          </a:prstGeom>
          <a:noFill/>
          <a:ln/>
        </p:spPr>
        <p:txBody>
          <a:bodyPr wrap="square" lIns="0" tIns="0" rIns="0" bIns="0" rtlCol="0" anchor="ctr"/>
          <a:lstStyle/>
          <a:p>
            <a:pPr>
              <a:lnSpc>
                <a:spcPct val="140000"/>
              </a:lnSpc>
            </a:pPr>
            <a:r>
              <a:rPr lang="en-US" sz="1014" b="1" dirty="0">
                <a:solidFill>
                  <a:srgbClr val="1F2937"/>
                </a:solidFill>
                <a:latin typeface="Sorts Mill Goudy" pitchFamily="34" charset="0"/>
                <a:ea typeface="Sorts Mill Goudy" pitchFamily="34" charset="-122"/>
                <a:cs typeface="Sorts Mill Goudy" pitchFamily="34" charset="-120"/>
              </a:rPr>
              <a:t>SRL Loss:</a:t>
            </a:r>
            <a:r>
              <a:rPr lang="en-US" sz="1014" dirty="0">
                <a:solidFill>
                  <a:srgbClr val="1F2937"/>
                </a:solidFill>
                <a:latin typeface="Sorts Mill Goudy" pitchFamily="34" charset="0"/>
                <a:ea typeface="Sorts Mill Goudy" pitchFamily="34" charset="-122"/>
                <a:cs typeface="Sorts Mill Goudy" pitchFamily="34" charset="-120"/>
              </a:rPr>
              <a:t> Token-level cross-entropy over BIO tags</a:t>
            </a:r>
            <a:endParaRPr lang="en-US" sz="1600" dirty="0"/>
          </a:p>
        </p:txBody>
      </p:sp>
      <p:sp>
        <p:nvSpPr>
          <p:cNvPr id="47" name="Text 44"/>
          <p:cNvSpPr/>
          <p:nvPr/>
        </p:nvSpPr>
        <p:spPr>
          <a:xfrm>
            <a:off x="6360185" y="4128380"/>
            <a:ext cx="5399889" cy="209236"/>
          </a:xfrm>
          <a:prstGeom prst="rect">
            <a:avLst/>
          </a:prstGeom>
          <a:noFill/>
          <a:ln/>
        </p:spPr>
        <p:txBody>
          <a:bodyPr wrap="square" lIns="0" tIns="0" rIns="0" bIns="0" rtlCol="0" anchor="ctr"/>
          <a:lstStyle/>
          <a:p>
            <a:pPr>
              <a:lnSpc>
                <a:spcPct val="140000"/>
              </a:lnSpc>
            </a:pPr>
            <a:r>
              <a:rPr lang="en-US" sz="1014" b="1" dirty="0">
                <a:solidFill>
                  <a:srgbClr val="1F2937"/>
                </a:solidFill>
                <a:latin typeface="Sorts Mill Goudy" pitchFamily="34" charset="0"/>
                <a:ea typeface="Sorts Mill Goudy" pitchFamily="34" charset="-122"/>
                <a:cs typeface="Sorts Mill Goudy" pitchFamily="34" charset="-120"/>
              </a:rPr>
              <a:t>QA Loss:</a:t>
            </a:r>
            <a:r>
              <a:rPr lang="en-US" sz="1014" dirty="0">
                <a:solidFill>
                  <a:srgbClr val="1F2937"/>
                </a:solidFill>
                <a:latin typeface="Sorts Mill Goudy" pitchFamily="34" charset="0"/>
                <a:ea typeface="Sorts Mill Goudy" pitchFamily="34" charset="-122"/>
                <a:cs typeface="Sorts Mill Goudy" pitchFamily="34" charset="-120"/>
              </a:rPr>
              <a:t> Mean of start and end cross-entropy losses</a:t>
            </a:r>
            <a:endParaRPr lang="en-US" sz="1600" dirty="0"/>
          </a:p>
        </p:txBody>
      </p:sp>
      <p:sp>
        <p:nvSpPr>
          <p:cNvPr id="48" name="Shape 45"/>
          <p:cNvSpPr/>
          <p:nvPr/>
        </p:nvSpPr>
        <p:spPr>
          <a:xfrm>
            <a:off x="6199235" y="4643422"/>
            <a:ext cx="5657410" cy="2205022"/>
          </a:xfrm>
          <a:custGeom>
            <a:avLst/>
            <a:gdLst/>
            <a:ahLst/>
            <a:cxnLst/>
            <a:rect l="l" t="t" r="r" b="b"/>
            <a:pathLst>
              <a:path w="5657410" h="2205022">
                <a:moveTo>
                  <a:pt x="0" y="0"/>
                </a:moveTo>
                <a:lnTo>
                  <a:pt x="5657410" y="0"/>
                </a:lnTo>
                <a:lnTo>
                  <a:pt x="5657410" y="2205022"/>
                </a:lnTo>
                <a:lnTo>
                  <a:pt x="0" y="2205022"/>
                </a:lnTo>
                <a:lnTo>
                  <a:pt x="0" y="0"/>
                </a:lnTo>
                <a:close/>
              </a:path>
            </a:pathLst>
          </a:custGeom>
          <a:solidFill>
            <a:srgbClr val="000000">
              <a:alpha val="0"/>
            </a:srgbClr>
          </a:solidFill>
          <a:ln w="25400">
            <a:solidFill>
              <a:srgbClr val="8B0000"/>
            </a:solidFill>
            <a:prstDash val="solid"/>
          </a:ln>
        </p:spPr>
      </p:sp>
      <p:sp>
        <p:nvSpPr>
          <p:cNvPr id="49" name="Text 46"/>
          <p:cNvSpPr/>
          <p:nvPr/>
        </p:nvSpPr>
        <p:spPr>
          <a:xfrm>
            <a:off x="6368233" y="4812420"/>
            <a:ext cx="5399889" cy="225331"/>
          </a:xfrm>
          <a:prstGeom prst="rect">
            <a:avLst/>
          </a:prstGeom>
          <a:noFill/>
          <a:ln/>
        </p:spPr>
        <p:txBody>
          <a:bodyPr wrap="square" lIns="0" tIns="0" rIns="0" bIns="0" rtlCol="0" anchor="ctr"/>
          <a:lstStyle/>
          <a:p>
            <a:pPr>
              <a:lnSpc>
                <a:spcPct val="120000"/>
              </a:lnSpc>
            </a:pPr>
            <a:r>
              <a:rPr lang="en-US" sz="1267" b="1" dirty="0">
                <a:solidFill>
                  <a:srgbClr val="1F2937"/>
                </a:solidFill>
                <a:latin typeface="Sorts Mill Goudy" pitchFamily="34" charset="0"/>
                <a:ea typeface="Sorts Mill Goudy" pitchFamily="34" charset="-122"/>
                <a:cs typeface="Sorts Mill Goudy" pitchFamily="34" charset="-120"/>
              </a:rPr>
              <a:t>Training Results</a:t>
            </a:r>
            <a:endParaRPr lang="en-US" sz="1600" dirty="0"/>
          </a:p>
        </p:txBody>
      </p:sp>
      <p:sp>
        <p:nvSpPr>
          <p:cNvPr id="50" name="Shape 47"/>
          <p:cNvSpPr/>
          <p:nvPr/>
        </p:nvSpPr>
        <p:spPr>
          <a:xfrm>
            <a:off x="6368233" y="5134321"/>
            <a:ext cx="5319414" cy="450661"/>
          </a:xfrm>
          <a:custGeom>
            <a:avLst/>
            <a:gdLst/>
            <a:ahLst/>
            <a:cxnLst/>
            <a:rect l="l" t="t" r="r" b="b"/>
            <a:pathLst>
              <a:path w="5319414" h="450661">
                <a:moveTo>
                  <a:pt x="0" y="0"/>
                </a:moveTo>
                <a:lnTo>
                  <a:pt x="5319414" y="0"/>
                </a:lnTo>
                <a:lnTo>
                  <a:pt x="5319414" y="450661"/>
                </a:lnTo>
                <a:lnTo>
                  <a:pt x="0" y="450661"/>
                </a:lnTo>
                <a:lnTo>
                  <a:pt x="0" y="0"/>
                </a:lnTo>
                <a:close/>
              </a:path>
            </a:pathLst>
          </a:custGeom>
          <a:solidFill>
            <a:srgbClr val="F9FAFB"/>
          </a:solidFill>
          <a:ln/>
        </p:spPr>
      </p:sp>
      <p:sp>
        <p:nvSpPr>
          <p:cNvPr id="51" name="Text 48"/>
          <p:cNvSpPr/>
          <p:nvPr/>
        </p:nvSpPr>
        <p:spPr>
          <a:xfrm>
            <a:off x="6464803" y="5263081"/>
            <a:ext cx="684040" cy="193141"/>
          </a:xfrm>
          <a:prstGeom prst="rect">
            <a:avLst/>
          </a:prstGeom>
          <a:noFill/>
          <a:ln/>
        </p:spPr>
        <p:txBody>
          <a:bodyPr wrap="square" lIns="0" tIns="0" rIns="0" bIns="0" rtlCol="0" anchor="ctr"/>
          <a:lstStyle/>
          <a:p>
            <a:pPr>
              <a:lnSpc>
                <a:spcPct val="130000"/>
              </a:lnSpc>
            </a:pPr>
            <a:r>
              <a:rPr lang="en-US" sz="1014" dirty="0">
                <a:solidFill>
                  <a:srgbClr val="1F2937"/>
                </a:solidFill>
                <a:latin typeface="Sorts Mill Goudy" pitchFamily="34" charset="0"/>
                <a:ea typeface="Sorts Mill Goudy" pitchFamily="34" charset="-122"/>
                <a:cs typeface="Sorts Mill Goudy" pitchFamily="34" charset="-120"/>
              </a:rPr>
              <a:t>Best Epoch</a:t>
            </a:r>
            <a:endParaRPr lang="en-US" sz="1600" dirty="0"/>
          </a:p>
        </p:txBody>
      </p:sp>
      <p:sp>
        <p:nvSpPr>
          <p:cNvPr id="52" name="Text 49"/>
          <p:cNvSpPr/>
          <p:nvPr/>
        </p:nvSpPr>
        <p:spPr>
          <a:xfrm>
            <a:off x="11497650" y="5230891"/>
            <a:ext cx="193141" cy="257521"/>
          </a:xfrm>
          <a:prstGeom prst="rect">
            <a:avLst/>
          </a:prstGeom>
          <a:noFill/>
          <a:ln/>
        </p:spPr>
        <p:txBody>
          <a:bodyPr wrap="square" lIns="0" tIns="0" rIns="0" bIns="0" rtlCol="0" anchor="ctr"/>
          <a:lstStyle/>
          <a:p>
            <a:pPr>
              <a:lnSpc>
                <a:spcPct val="110000"/>
              </a:lnSpc>
            </a:pPr>
            <a:r>
              <a:rPr lang="en-US" sz="1521" b="1" dirty="0">
                <a:solidFill>
                  <a:srgbClr val="8B0000"/>
                </a:solidFill>
                <a:latin typeface="Sorts Mill Goudy" pitchFamily="34" charset="0"/>
                <a:ea typeface="Sorts Mill Goudy" pitchFamily="34" charset="-122"/>
                <a:cs typeface="Sorts Mill Goudy" pitchFamily="34" charset="-120"/>
              </a:rPr>
              <a:t>6</a:t>
            </a:r>
            <a:endParaRPr lang="en-US" sz="1600" dirty="0"/>
          </a:p>
        </p:txBody>
      </p:sp>
      <p:sp>
        <p:nvSpPr>
          <p:cNvPr id="53" name="Shape 50"/>
          <p:cNvSpPr/>
          <p:nvPr/>
        </p:nvSpPr>
        <p:spPr>
          <a:xfrm>
            <a:off x="6368233" y="5681552"/>
            <a:ext cx="5319414" cy="450661"/>
          </a:xfrm>
          <a:custGeom>
            <a:avLst/>
            <a:gdLst/>
            <a:ahLst/>
            <a:cxnLst/>
            <a:rect l="l" t="t" r="r" b="b"/>
            <a:pathLst>
              <a:path w="5319414" h="450661">
                <a:moveTo>
                  <a:pt x="0" y="0"/>
                </a:moveTo>
                <a:lnTo>
                  <a:pt x="5319414" y="0"/>
                </a:lnTo>
                <a:lnTo>
                  <a:pt x="5319414" y="450661"/>
                </a:lnTo>
                <a:lnTo>
                  <a:pt x="0" y="450661"/>
                </a:lnTo>
                <a:lnTo>
                  <a:pt x="0" y="0"/>
                </a:lnTo>
                <a:close/>
              </a:path>
            </a:pathLst>
          </a:custGeom>
          <a:solidFill>
            <a:srgbClr val="F9FAFB"/>
          </a:solidFill>
          <a:ln/>
        </p:spPr>
      </p:sp>
      <p:sp>
        <p:nvSpPr>
          <p:cNvPr id="54" name="Text 51"/>
          <p:cNvSpPr/>
          <p:nvPr/>
        </p:nvSpPr>
        <p:spPr>
          <a:xfrm>
            <a:off x="6464803" y="5810313"/>
            <a:ext cx="667945" cy="193141"/>
          </a:xfrm>
          <a:prstGeom prst="rect">
            <a:avLst/>
          </a:prstGeom>
          <a:noFill/>
          <a:ln/>
        </p:spPr>
        <p:txBody>
          <a:bodyPr wrap="square" lIns="0" tIns="0" rIns="0" bIns="0" rtlCol="0" anchor="ctr"/>
          <a:lstStyle/>
          <a:p>
            <a:pPr>
              <a:lnSpc>
                <a:spcPct val="130000"/>
              </a:lnSpc>
            </a:pPr>
            <a:r>
              <a:rPr lang="en-US" sz="1014" dirty="0">
                <a:solidFill>
                  <a:srgbClr val="1F2937"/>
                </a:solidFill>
                <a:latin typeface="Sorts Mill Goudy" pitchFamily="34" charset="0"/>
                <a:ea typeface="Sorts Mill Goudy" pitchFamily="34" charset="-122"/>
                <a:cs typeface="Sorts Mill Goudy" pitchFamily="34" charset="-120"/>
              </a:rPr>
              <a:t>Best Val F1</a:t>
            </a:r>
            <a:endParaRPr lang="en-US" sz="1600" dirty="0"/>
          </a:p>
        </p:txBody>
      </p:sp>
      <p:sp>
        <p:nvSpPr>
          <p:cNvPr id="55" name="Text 52"/>
          <p:cNvSpPr/>
          <p:nvPr/>
        </p:nvSpPr>
        <p:spPr>
          <a:xfrm>
            <a:off x="11171222" y="5778123"/>
            <a:ext cx="523089" cy="257521"/>
          </a:xfrm>
          <a:prstGeom prst="rect">
            <a:avLst/>
          </a:prstGeom>
          <a:noFill/>
          <a:ln/>
        </p:spPr>
        <p:txBody>
          <a:bodyPr wrap="square" lIns="0" tIns="0" rIns="0" bIns="0" rtlCol="0" anchor="ctr"/>
          <a:lstStyle/>
          <a:p>
            <a:pPr>
              <a:lnSpc>
                <a:spcPct val="110000"/>
              </a:lnSpc>
            </a:pPr>
            <a:r>
              <a:rPr lang="en-US" sz="1521" b="1" dirty="0">
                <a:solidFill>
                  <a:srgbClr val="8B0000"/>
                </a:solidFill>
                <a:latin typeface="Sorts Mill Goudy" pitchFamily="34" charset="0"/>
                <a:ea typeface="Sorts Mill Goudy" pitchFamily="34" charset="-122"/>
                <a:cs typeface="Sorts Mill Goudy" pitchFamily="34" charset="-120"/>
              </a:rPr>
              <a:t>0.773</a:t>
            </a:r>
            <a:endParaRPr lang="en-US" sz="1600" dirty="0"/>
          </a:p>
        </p:txBody>
      </p:sp>
      <p:sp>
        <p:nvSpPr>
          <p:cNvPr id="56" name="Shape 53"/>
          <p:cNvSpPr/>
          <p:nvPr/>
        </p:nvSpPr>
        <p:spPr>
          <a:xfrm>
            <a:off x="6368233" y="6228784"/>
            <a:ext cx="5319414" cy="450661"/>
          </a:xfrm>
          <a:custGeom>
            <a:avLst/>
            <a:gdLst/>
            <a:ahLst/>
            <a:cxnLst/>
            <a:rect l="l" t="t" r="r" b="b"/>
            <a:pathLst>
              <a:path w="5319414" h="450661">
                <a:moveTo>
                  <a:pt x="0" y="0"/>
                </a:moveTo>
                <a:lnTo>
                  <a:pt x="5319414" y="0"/>
                </a:lnTo>
                <a:lnTo>
                  <a:pt x="5319414" y="450661"/>
                </a:lnTo>
                <a:lnTo>
                  <a:pt x="0" y="450661"/>
                </a:lnTo>
                <a:lnTo>
                  <a:pt x="0" y="0"/>
                </a:lnTo>
                <a:close/>
              </a:path>
            </a:pathLst>
          </a:custGeom>
          <a:solidFill>
            <a:srgbClr val="8B0000"/>
          </a:solidFill>
          <a:ln/>
        </p:spPr>
      </p:sp>
      <p:sp>
        <p:nvSpPr>
          <p:cNvPr id="57" name="Text 54"/>
          <p:cNvSpPr/>
          <p:nvPr/>
        </p:nvSpPr>
        <p:spPr>
          <a:xfrm>
            <a:off x="6464803" y="6357545"/>
            <a:ext cx="675992" cy="193141"/>
          </a:xfrm>
          <a:prstGeom prst="rect">
            <a:avLst/>
          </a:prstGeom>
          <a:noFill/>
          <a:ln/>
        </p:spPr>
        <p:txBody>
          <a:bodyPr wrap="square" lIns="0" tIns="0" rIns="0" bIns="0" rtlCol="0" anchor="ctr"/>
          <a:lstStyle/>
          <a:p>
            <a:pPr>
              <a:lnSpc>
                <a:spcPct val="130000"/>
              </a:lnSpc>
            </a:pPr>
            <a:r>
              <a:rPr lang="en-US" sz="1014" dirty="0">
                <a:solidFill>
                  <a:srgbClr val="FFFFFF"/>
                </a:solidFill>
                <a:latin typeface="Sorts Mill Goudy" pitchFamily="34" charset="0"/>
                <a:ea typeface="Sorts Mill Goudy" pitchFamily="34" charset="-122"/>
                <a:cs typeface="Sorts Mill Goudy" pitchFamily="34" charset="-120"/>
              </a:rPr>
              <a:t>Parameters</a:t>
            </a:r>
            <a:endParaRPr lang="en-US" sz="1600" dirty="0"/>
          </a:p>
        </p:txBody>
      </p:sp>
      <p:sp>
        <p:nvSpPr>
          <p:cNvPr id="58" name="Text 55"/>
          <p:cNvSpPr/>
          <p:nvPr/>
        </p:nvSpPr>
        <p:spPr>
          <a:xfrm>
            <a:off x="11108476" y="6325354"/>
            <a:ext cx="579422" cy="257521"/>
          </a:xfrm>
          <a:prstGeom prst="rect">
            <a:avLst/>
          </a:prstGeom>
          <a:noFill/>
          <a:ln/>
        </p:spPr>
        <p:txBody>
          <a:bodyPr wrap="square" lIns="0" tIns="0" rIns="0" bIns="0" rtlCol="0" anchor="ctr"/>
          <a:lstStyle/>
          <a:p>
            <a:pPr>
              <a:lnSpc>
                <a:spcPct val="110000"/>
              </a:lnSpc>
            </a:pPr>
            <a:r>
              <a:rPr lang="en-US" sz="1521" b="1" dirty="0">
                <a:solidFill>
                  <a:srgbClr val="FFFFFF"/>
                </a:solidFill>
                <a:latin typeface="Sorts Mill Goudy" pitchFamily="34" charset="0"/>
                <a:ea typeface="Sorts Mill Goudy" pitchFamily="34" charset="-122"/>
                <a:cs typeface="Sorts Mill Goudy" pitchFamily="34" charset="-120"/>
              </a:rPr>
              <a:t>1.78M</a:t>
            </a:r>
            <a:endParaRPr lang="en-US" sz="1600" dirty="0"/>
          </a:p>
        </p:txBody>
      </p:sp>
    </p:spTree>
    <p:extLst>
      <p:ext uri="{BB962C8B-B14F-4D97-AF65-F5344CB8AC3E}">
        <p14:creationId xmlns:p14="http://schemas.microsoft.com/office/powerpoint/2010/main" val="3562291850"/>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49091" y="349091"/>
            <a:ext cx="296727" cy="279273"/>
          </a:xfrm>
          <a:prstGeom prst="rect">
            <a:avLst/>
          </a:prstGeom>
          <a:noFill/>
          <a:ln/>
        </p:spPr>
        <p:txBody>
          <a:bodyPr wrap="square" lIns="0" tIns="0" rIns="0" bIns="0" rtlCol="0" anchor="ctr"/>
          <a:lstStyle/>
          <a:p>
            <a:pPr>
              <a:lnSpc>
                <a:spcPct val="110000"/>
              </a:lnSpc>
            </a:pPr>
            <a:r>
              <a:rPr lang="en-US" sz="1649" b="1" dirty="0">
                <a:solidFill>
                  <a:srgbClr val="8B0000"/>
                </a:solidFill>
                <a:latin typeface="Sorts Mill Goudy" pitchFamily="34" charset="0"/>
                <a:ea typeface="Sorts Mill Goudy" pitchFamily="34" charset="-122"/>
                <a:cs typeface="Sorts Mill Goudy" pitchFamily="34" charset="-120"/>
              </a:rPr>
              <a:t>5.1</a:t>
            </a:r>
            <a:endParaRPr lang="en-US" sz="1600" dirty="0"/>
          </a:p>
        </p:txBody>
      </p:sp>
      <p:sp>
        <p:nvSpPr>
          <p:cNvPr id="3" name="Text 1"/>
          <p:cNvSpPr/>
          <p:nvPr/>
        </p:nvSpPr>
        <p:spPr>
          <a:xfrm>
            <a:off x="649500" y="401455"/>
            <a:ext cx="715636" cy="174545"/>
          </a:xfrm>
          <a:prstGeom prst="rect">
            <a:avLst/>
          </a:prstGeom>
          <a:noFill/>
          <a:ln/>
        </p:spPr>
        <p:txBody>
          <a:bodyPr wrap="square" lIns="0" tIns="0" rIns="0" bIns="0" rtlCol="0" anchor="ctr"/>
          <a:lstStyle/>
          <a:p>
            <a:pPr>
              <a:lnSpc>
                <a:spcPct val="120000"/>
              </a:lnSpc>
            </a:pPr>
            <a:r>
              <a:rPr lang="en-US" sz="962" b="1" kern="0" spc="96" dirty="0">
                <a:solidFill>
                  <a:srgbClr val="8B0000"/>
                </a:solidFill>
                <a:latin typeface="Sorts Mill Goudy" pitchFamily="34" charset="0"/>
                <a:ea typeface="Sorts Mill Goudy" pitchFamily="34" charset="-122"/>
                <a:cs typeface="Sorts Mill Goudy" pitchFamily="34" charset="-120"/>
              </a:rPr>
              <a:t>Results</a:t>
            </a:r>
            <a:endParaRPr lang="en-US" sz="1600" dirty="0"/>
          </a:p>
        </p:txBody>
      </p:sp>
      <p:sp>
        <p:nvSpPr>
          <p:cNvPr id="4" name="Text 2"/>
          <p:cNvSpPr/>
          <p:nvPr/>
        </p:nvSpPr>
        <p:spPr>
          <a:xfrm>
            <a:off x="349091" y="698182"/>
            <a:ext cx="11650909" cy="349091"/>
          </a:xfrm>
          <a:prstGeom prst="rect">
            <a:avLst/>
          </a:prstGeom>
          <a:noFill/>
          <a:ln/>
        </p:spPr>
        <p:txBody>
          <a:bodyPr wrap="square" lIns="0" tIns="0" rIns="0" bIns="0" rtlCol="0" anchor="ctr"/>
          <a:lstStyle/>
          <a:p>
            <a:pPr>
              <a:lnSpc>
                <a:spcPct val="90000"/>
              </a:lnSpc>
            </a:pPr>
            <a:r>
              <a:rPr lang="en-US" sz="2474" b="1" dirty="0">
                <a:solidFill>
                  <a:srgbClr val="1F2937"/>
                </a:solidFill>
                <a:latin typeface="Sorts Mill Goudy" pitchFamily="34" charset="0"/>
                <a:ea typeface="Sorts Mill Goudy" pitchFamily="34" charset="-122"/>
                <a:cs typeface="Sorts Mill Goudy" pitchFamily="34" charset="-120"/>
              </a:rPr>
              <a:t>SRL Performance Results</a:t>
            </a:r>
            <a:endParaRPr lang="en-US" sz="1600" dirty="0"/>
          </a:p>
        </p:txBody>
      </p:sp>
      <p:sp>
        <p:nvSpPr>
          <p:cNvPr id="5" name="Shape 3"/>
          <p:cNvSpPr/>
          <p:nvPr/>
        </p:nvSpPr>
        <p:spPr>
          <a:xfrm>
            <a:off x="357818" y="1230545"/>
            <a:ext cx="7592727" cy="1867636"/>
          </a:xfrm>
          <a:custGeom>
            <a:avLst/>
            <a:gdLst/>
            <a:ahLst/>
            <a:cxnLst/>
            <a:rect l="l" t="t" r="r" b="b"/>
            <a:pathLst>
              <a:path w="7592727" h="1867636">
                <a:moveTo>
                  <a:pt x="0" y="0"/>
                </a:moveTo>
                <a:lnTo>
                  <a:pt x="7592727" y="0"/>
                </a:lnTo>
                <a:lnTo>
                  <a:pt x="7592727" y="1867636"/>
                </a:lnTo>
                <a:lnTo>
                  <a:pt x="0" y="1867636"/>
                </a:lnTo>
                <a:lnTo>
                  <a:pt x="0" y="0"/>
                </a:lnTo>
                <a:close/>
              </a:path>
            </a:pathLst>
          </a:custGeom>
          <a:solidFill>
            <a:srgbClr val="000000">
              <a:alpha val="0"/>
            </a:srgbClr>
          </a:solidFill>
          <a:ln w="25400">
            <a:solidFill>
              <a:srgbClr val="8B0000"/>
            </a:solidFill>
            <a:prstDash val="solid"/>
          </a:ln>
        </p:spPr>
      </p:sp>
      <p:sp>
        <p:nvSpPr>
          <p:cNvPr id="6" name="Text 4"/>
          <p:cNvSpPr/>
          <p:nvPr/>
        </p:nvSpPr>
        <p:spPr>
          <a:xfrm>
            <a:off x="541091" y="1413818"/>
            <a:ext cx="7313455" cy="244364"/>
          </a:xfrm>
          <a:prstGeom prst="rect">
            <a:avLst/>
          </a:prstGeom>
          <a:noFill/>
          <a:ln/>
        </p:spPr>
        <p:txBody>
          <a:bodyPr wrap="square" lIns="0" tIns="0" rIns="0" bIns="0" rtlCol="0" anchor="ctr"/>
          <a:lstStyle/>
          <a:p>
            <a:pPr>
              <a:lnSpc>
                <a:spcPct val="120000"/>
              </a:lnSpc>
            </a:pPr>
            <a:r>
              <a:rPr lang="en-US" sz="1374" b="1" dirty="0">
                <a:solidFill>
                  <a:srgbClr val="1F2937"/>
                </a:solidFill>
                <a:latin typeface="Sorts Mill Goudy" pitchFamily="34" charset="0"/>
                <a:ea typeface="Sorts Mill Goudy" pitchFamily="34" charset="-122"/>
                <a:cs typeface="Sorts Mill Goudy" pitchFamily="34" charset="-120"/>
              </a:rPr>
              <a:t>Overall SRL Metrics</a:t>
            </a:r>
            <a:endParaRPr lang="en-US" sz="1600" dirty="0"/>
          </a:p>
        </p:txBody>
      </p:sp>
      <p:sp>
        <p:nvSpPr>
          <p:cNvPr id="7" name="Shape 5"/>
          <p:cNvSpPr/>
          <p:nvPr/>
        </p:nvSpPr>
        <p:spPr>
          <a:xfrm>
            <a:off x="541091" y="1797818"/>
            <a:ext cx="2312727" cy="1117091"/>
          </a:xfrm>
          <a:custGeom>
            <a:avLst/>
            <a:gdLst/>
            <a:ahLst/>
            <a:cxnLst/>
            <a:rect l="l" t="t" r="r" b="b"/>
            <a:pathLst>
              <a:path w="2312727" h="1117091">
                <a:moveTo>
                  <a:pt x="0" y="0"/>
                </a:moveTo>
                <a:lnTo>
                  <a:pt x="2312727" y="0"/>
                </a:lnTo>
                <a:lnTo>
                  <a:pt x="2312727" y="1117091"/>
                </a:lnTo>
                <a:lnTo>
                  <a:pt x="0" y="1117091"/>
                </a:lnTo>
                <a:lnTo>
                  <a:pt x="0" y="0"/>
                </a:lnTo>
                <a:close/>
              </a:path>
            </a:pathLst>
          </a:custGeom>
          <a:solidFill>
            <a:srgbClr val="F9FAFB"/>
          </a:solidFill>
          <a:ln/>
        </p:spPr>
      </p:sp>
      <p:sp>
        <p:nvSpPr>
          <p:cNvPr id="8" name="Text 6"/>
          <p:cNvSpPr/>
          <p:nvPr/>
        </p:nvSpPr>
        <p:spPr>
          <a:xfrm>
            <a:off x="650182" y="1937455"/>
            <a:ext cx="2094545" cy="174545"/>
          </a:xfrm>
          <a:prstGeom prst="rect">
            <a:avLst/>
          </a:prstGeom>
          <a:noFill/>
          <a:ln/>
        </p:spPr>
        <p:txBody>
          <a:bodyPr wrap="square" lIns="0" tIns="0" rIns="0" bIns="0" rtlCol="0" anchor="ctr"/>
          <a:lstStyle/>
          <a:p>
            <a:pPr algn="ctr">
              <a:lnSpc>
                <a:spcPct val="120000"/>
              </a:lnSpc>
            </a:pPr>
            <a:r>
              <a:rPr lang="en-US" sz="962" dirty="0">
                <a:solidFill>
                  <a:srgbClr val="6B7280"/>
                </a:solidFill>
                <a:latin typeface="Sorts Mill Goudy" pitchFamily="34" charset="0"/>
                <a:ea typeface="Sorts Mill Goudy" pitchFamily="34" charset="-122"/>
                <a:cs typeface="Sorts Mill Goudy" pitchFamily="34" charset="-120"/>
              </a:rPr>
              <a:t>Macro F1</a:t>
            </a:r>
            <a:endParaRPr lang="en-US" sz="1600" dirty="0"/>
          </a:p>
        </p:txBody>
      </p:sp>
      <p:sp>
        <p:nvSpPr>
          <p:cNvPr id="9" name="Text 7"/>
          <p:cNvSpPr/>
          <p:nvPr/>
        </p:nvSpPr>
        <p:spPr>
          <a:xfrm>
            <a:off x="602182" y="2181818"/>
            <a:ext cx="2190545" cy="349091"/>
          </a:xfrm>
          <a:prstGeom prst="rect">
            <a:avLst/>
          </a:prstGeom>
          <a:noFill/>
          <a:ln/>
        </p:spPr>
        <p:txBody>
          <a:bodyPr wrap="square" lIns="0" tIns="0" rIns="0" bIns="0" rtlCol="0" anchor="ctr"/>
          <a:lstStyle/>
          <a:p>
            <a:pPr algn="ctr">
              <a:lnSpc>
                <a:spcPct val="90000"/>
              </a:lnSpc>
            </a:pPr>
            <a:r>
              <a:rPr lang="en-US" sz="2474" b="1" dirty="0">
                <a:solidFill>
                  <a:srgbClr val="8B0000"/>
                </a:solidFill>
                <a:latin typeface="Sorts Mill Goudy" pitchFamily="34" charset="0"/>
                <a:ea typeface="Sorts Mill Goudy" pitchFamily="34" charset="-122"/>
                <a:cs typeface="Sorts Mill Goudy" pitchFamily="34" charset="-120"/>
              </a:rPr>
              <a:t>0.162</a:t>
            </a:r>
            <a:endParaRPr lang="en-US" sz="1600" dirty="0"/>
          </a:p>
        </p:txBody>
      </p:sp>
      <p:sp>
        <p:nvSpPr>
          <p:cNvPr id="10" name="Text 8"/>
          <p:cNvSpPr/>
          <p:nvPr/>
        </p:nvSpPr>
        <p:spPr>
          <a:xfrm>
            <a:off x="650182" y="2600727"/>
            <a:ext cx="2094545" cy="174545"/>
          </a:xfrm>
          <a:prstGeom prst="rect">
            <a:avLst/>
          </a:prstGeom>
          <a:noFill/>
          <a:ln/>
        </p:spPr>
        <p:txBody>
          <a:bodyPr wrap="square" lIns="0" tIns="0" rIns="0" bIns="0" rtlCol="0" anchor="ctr"/>
          <a:lstStyle/>
          <a:p>
            <a:pPr algn="ctr">
              <a:lnSpc>
                <a:spcPct val="120000"/>
              </a:lnSpc>
            </a:pPr>
            <a:r>
              <a:rPr lang="en-US" sz="962" dirty="0">
                <a:solidFill>
                  <a:srgbClr val="6B7280"/>
                </a:solidFill>
                <a:latin typeface="Sorts Mill Goudy" pitchFamily="34" charset="0"/>
                <a:ea typeface="Sorts Mill Goudy" pitchFamily="34" charset="-122"/>
                <a:cs typeface="Sorts Mill Goudy" pitchFamily="34" charset="-120"/>
              </a:rPr>
              <a:t>Per-role average</a:t>
            </a:r>
            <a:endParaRPr lang="en-US" sz="1600" dirty="0"/>
          </a:p>
        </p:txBody>
      </p:sp>
      <p:sp>
        <p:nvSpPr>
          <p:cNvPr id="11" name="Shape 9"/>
          <p:cNvSpPr/>
          <p:nvPr/>
        </p:nvSpPr>
        <p:spPr>
          <a:xfrm>
            <a:off x="2994955" y="1797818"/>
            <a:ext cx="2312727" cy="1117091"/>
          </a:xfrm>
          <a:custGeom>
            <a:avLst/>
            <a:gdLst/>
            <a:ahLst/>
            <a:cxnLst/>
            <a:rect l="l" t="t" r="r" b="b"/>
            <a:pathLst>
              <a:path w="2312727" h="1117091">
                <a:moveTo>
                  <a:pt x="0" y="0"/>
                </a:moveTo>
                <a:lnTo>
                  <a:pt x="2312727" y="0"/>
                </a:lnTo>
                <a:lnTo>
                  <a:pt x="2312727" y="1117091"/>
                </a:lnTo>
                <a:lnTo>
                  <a:pt x="0" y="1117091"/>
                </a:lnTo>
                <a:lnTo>
                  <a:pt x="0" y="0"/>
                </a:lnTo>
                <a:close/>
              </a:path>
            </a:pathLst>
          </a:custGeom>
          <a:solidFill>
            <a:srgbClr val="8B0000"/>
          </a:solidFill>
          <a:ln/>
        </p:spPr>
      </p:sp>
      <p:sp>
        <p:nvSpPr>
          <p:cNvPr id="12" name="Text 10"/>
          <p:cNvSpPr/>
          <p:nvPr/>
        </p:nvSpPr>
        <p:spPr>
          <a:xfrm>
            <a:off x="3104045" y="1937455"/>
            <a:ext cx="2094545" cy="174545"/>
          </a:xfrm>
          <a:prstGeom prst="rect">
            <a:avLst/>
          </a:prstGeom>
          <a:noFill/>
          <a:ln/>
        </p:spPr>
        <p:txBody>
          <a:bodyPr wrap="square" lIns="0" tIns="0" rIns="0" bIns="0" rtlCol="0" anchor="ctr"/>
          <a:lstStyle/>
          <a:p>
            <a:pPr algn="ctr">
              <a:lnSpc>
                <a:spcPct val="120000"/>
              </a:lnSpc>
            </a:pPr>
            <a:r>
              <a:rPr lang="en-US" sz="962" dirty="0">
                <a:solidFill>
                  <a:srgbClr val="FFFFFF"/>
                </a:solidFill>
                <a:latin typeface="Sorts Mill Goudy" pitchFamily="34" charset="0"/>
                <a:ea typeface="Sorts Mill Goudy" pitchFamily="34" charset="-122"/>
                <a:cs typeface="Sorts Mill Goudy" pitchFamily="34" charset="-120"/>
              </a:rPr>
              <a:t>Micro F1</a:t>
            </a:r>
            <a:endParaRPr lang="en-US" sz="1600" dirty="0"/>
          </a:p>
        </p:txBody>
      </p:sp>
      <p:sp>
        <p:nvSpPr>
          <p:cNvPr id="13" name="Text 11"/>
          <p:cNvSpPr/>
          <p:nvPr/>
        </p:nvSpPr>
        <p:spPr>
          <a:xfrm>
            <a:off x="3056045" y="2181818"/>
            <a:ext cx="2190545" cy="349091"/>
          </a:xfrm>
          <a:prstGeom prst="rect">
            <a:avLst/>
          </a:prstGeom>
          <a:noFill/>
          <a:ln/>
        </p:spPr>
        <p:txBody>
          <a:bodyPr wrap="square" lIns="0" tIns="0" rIns="0" bIns="0" rtlCol="0" anchor="ctr"/>
          <a:lstStyle/>
          <a:p>
            <a:pPr algn="ctr">
              <a:lnSpc>
                <a:spcPct val="90000"/>
              </a:lnSpc>
            </a:pPr>
            <a:r>
              <a:rPr lang="en-US" sz="2474" b="1" dirty="0">
                <a:solidFill>
                  <a:srgbClr val="FFFFFF"/>
                </a:solidFill>
                <a:latin typeface="Sorts Mill Goudy" pitchFamily="34" charset="0"/>
                <a:ea typeface="Sorts Mill Goudy" pitchFamily="34" charset="-122"/>
                <a:cs typeface="Sorts Mill Goudy" pitchFamily="34" charset="-120"/>
              </a:rPr>
              <a:t>0.713</a:t>
            </a:r>
            <a:endParaRPr lang="en-US" sz="1600" dirty="0"/>
          </a:p>
        </p:txBody>
      </p:sp>
      <p:sp>
        <p:nvSpPr>
          <p:cNvPr id="14" name="Text 12"/>
          <p:cNvSpPr/>
          <p:nvPr/>
        </p:nvSpPr>
        <p:spPr>
          <a:xfrm>
            <a:off x="3104045" y="2600727"/>
            <a:ext cx="2094545" cy="174545"/>
          </a:xfrm>
          <a:prstGeom prst="rect">
            <a:avLst/>
          </a:prstGeom>
          <a:noFill/>
          <a:ln/>
        </p:spPr>
        <p:txBody>
          <a:bodyPr wrap="square" lIns="0" tIns="0" rIns="0" bIns="0" rtlCol="0" anchor="ctr"/>
          <a:lstStyle/>
          <a:p>
            <a:pPr algn="ctr">
              <a:lnSpc>
                <a:spcPct val="120000"/>
              </a:lnSpc>
            </a:pPr>
            <a:r>
              <a:rPr lang="en-US" sz="962" dirty="0">
                <a:solidFill>
                  <a:srgbClr val="FFFFFF"/>
                </a:solidFill>
                <a:latin typeface="Sorts Mill Goudy" pitchFamily="34" charset="0"/>
                <a:ea typeface="Sorts Mill Goudy" pitchFamily="34" charset="-122"/>
                <a:cs typeface="Sorts Mill Goudy" pitchFamily="34" charset="-120"/>
              </a:rPr>
              <a:t>Token-level</a:t>
            </a:r>
            <a:endParaRPr lang="en-US" sz="1600" dirty="0"/>
          </a:p>
        </p:txBody>
      </p:sp>
      <p:sp>
        <p:nvSpPr>
          <p:cNvPr id="15" name="Shape 13"/>
          <p:cNvSpPr/>
          <p:nvPr/>
        </p:nvSpPr>
        <p:spPr>
          <a:xfrm>
            <a:off x="5448955" y="1797818"/>
            <a:ext cx="2312727" cy="1117091"/>
          </a:xfrm>
          <a:custGeom>
            <a:avLst/>
            <a:gdLst/>
            <a:ahLst/>
            <a:cxnLst/>
            <a:rect l="l" t="t" r="r" b="b"/>
            <a:pathLst>
              <a:path w="2312727" h="1117091">
                <a:moveTo>
                  <a:pt x="0" y="0"/>
                </a:moveTo>
                <a:lnTo>
                  <a:pt x="2312727" y="0"/>
                </a:lnTo>
                <a:lnTo>
                  <a:pt x="2312727" y="1117091"/>
                </a:lnTo>
                <a:lnTo>
                  <a:pt x="0" y="1117091"/>
                </a:lnTo>
                <a:lnTo>
                  <a:pt x="0" y="0"/>
                </a:lnTo>
                <a:close/>
              </a:path>
            </a:pathLst>
          </a:custGeom>
          <a:solidFill>
            <a:srgbClr val="F9FAFB"/>
          </a:solidFill>
          <a:ln/>
        </p:spPr>
      </p:sp>
      <p:sp>
        <p:nvSpPr>
          <p:cNvPr id="16" name="Text 14"/>
          <p:cNvSpPr/>
          <p:nvPr/>
        </p:nvSpPr>
        <p:spPr>
          <a:xfrm>
            <a:off x="5558045" y="1937455"/>
            <a:ext cx="2094545" cy="174545"/>
          </a:xfrm>
          <a:prstGeom prst="rect">
            <a:avLst/>
          </a:prstGeom>
          <a:noFill/>
          <a:ln/>
        </p:spPr>
        <p:txBody>
          <a:bodyPr wrap="square" lIns="0" tIns="0" rIns="0" bIns="0" rtlCol="0" anchor="ctr"/>
          <a:lstStyle/>
          <a:p>
            <a:pPr algn="ctr">
              <a:lnSpc>
                <a:spcPct val="120000"/>
              </a:lnSpc>
            </a:pPr>
            <a:r>
              <a:rPr lang="en-US" sz="962" dirty="0">
                <a:solidFill>
                  <a:srgbClr val="6B7280"/>
                </a:solidFill>
                <a:latin typeface="Sorts Mill Goudy" pitchFamily="34" charset="0"/>
                <a:ea typeface="Sorts Mill Goudy" pitchFamily="34" charset="-122"/>
                <a:cs typeface="Sorts Mill Goudy" pitchFamily="34" charset="-120"/>
              </a:rPr>
              <a:t>BIO Accuracy</a:t>
            </a:r>
            <a:endParaRPr lang="en-US" sz="1600" dirty="0"/>
          </a:p>
        </p:txBody>
      </p:sp>
      <p:sp>
        <p:nvSpPr>
          <p:cNvPr id="17" name="Text 15"/>
          <p:cNvSpPr/>
          <p:nvPr/>
        </p:nvSpPr>
        <p:spPr>
          <a:xfrm>
            <a:off x="5510045" y="2181818"/>
            <a:ext cx="2190545" cy="349091"/>
          </a:xfrm>
          <a:prstGeom prst="rect">
            <a:avLst/>
          </a:prstGeom>
          <a:noFill/>
          <a:ln/>
        </p:spPr>
        <p:txBody>
          <a:bodyPr wrap="square" lIns="0" tIns="0" rIns="0" bIns="0" rtlCol="0" anchor="ctr"/>
          <a:lstStyle/>
          <a:p>
            <a:pPr algn="ctr">
              <a:lnSpc>
                <a:spcPct val="90000"/>
              </a:lnSpc>
            </a:pPr>
            <a:r>
              <a:rPr lang="en-US" sz="2474" b="1" dirty="0">
                <a:solidFill>
                  <a:srgbClr val="8B0000"/>
                </a:solidFill>
                <a:latin typeface="Sorts Mill Goudy" pitchFamily="34" charset="0"/>
                <a:ea typeface="Sorts Mill Goudy" pitchFamily="34" charset="-122"/>
                <a:cs typeface="Sorts Mill Goudy" pitchFamily="34" charset="-120"/>
              </a:rPr>
              <a:t>0.816</a:t>
            </a:r>
            <a:endParaRPr lang="en-US" sz="1600" dirty="0"/>
          </a:p>
        </p:txBody>
      </p:sp>
      <p:sp>
        <p:nvSpPr>
          <p:cNvPr id="18" name="Text 16"/>
          <p:cNvSpPr/>
          <p:nvPr/>
        </p:nvSpPr>
        <p:spPr>
          <a:xfrm>
            <a:off x="5558045" y="2600727"/>
            <a:ext cx="2094545" cy="174545"/>
          </a:xfrm>
          <a:prstGeom prst="rect">
            <a:avLst/>
          </a:prstGeom>
          <a:noFill/>
          <a:ln/>
        </p:spPr>
        <p:txBody>
          <a:bodyPr wrap="square" lIns="0" tIns="0" rIns="0" bIns="0" rtlCol="0" anchor="ctr"/>
          <a:lstStyle/>
          <a:p>
            <a:pPr algn="ctr">
              <a:lnSpc>
                <a:spcPct val="120000"/>
              </a:lnSpc>
            </a:pPr>
            <a:r>
              <a:rPr lang="en-US" sz="962" dirty="0">
                <a:solidFill>
                  <a:srgbClr val="6B7280"/>
                </a:solidFill>
                <a:latin typeface="Sorts Mill Goudy" pitchFamily="34" charset="0"/>
                <a:ea typeface="Sorts Mill Goudy" pitchFamily="34" charset="-122"/>
                <a:cs typeface="Sorts Mill Goudy" pitchFamily="34" charset="-120"/>
              </a:rPr>
              <a:t>Token accuracy</a:t>
            </a:r>
            <a:endParaRPr lang="en-US" sz="1600" dirty="0"/>
          </a:p>
        </p:txBody>
      </p:sp>
      <p:sp>
        <p:nvSpPr>
          <p:cNvPr id="19" name="Shape 17"/>
          <p:cNvSpPr/>
          <p:nvPr/>
        </p:nvSpPr>
        <p:spPr>
          <a:xfrm>
            <a:off x="353455" y="3250909"/>
            <a:ext cx="7601455" cy="3394909"/>
          </a:xfrm>
          <a:custGeom>
            <a:avLst/>
            <a:gdLst/>
            <a:ahLst/>
            <a:cxnLst/>
            <a:rect l="l" t="t" r="r" b="b"/>
            <a:pathLst>
              <a:path w="7601455" h="3394909">
                <a:moveTo>
                  <a:pt x="0" y="0"/>
                </a:moveTo>
                <a:lnTo>
                  <a:pt x="7601455" y="0"/>
                </a:lnTo>
                <a:lnTo>
                  <a:pt x="7601455" y="3394909"/>
                </a:lnTo>
                <a:lnTo>
                  <a:pt x="0" y="3394909"/>
                </a:lnTo>
                <a:lnTo>
                  <a:pt x="0" y="0"/>
                </a:lnTo>
                <a:close/>
              </a:path>
            </a:pathLst>
          </a:custGeom>
          <a:solidFill>
            <a:srgbClr val="000000">
              <a:alpha val="0"/>
            </a:srgbClr>
          </a:solidFill>
          <a:ln w="12700">
            <a:solidFill>
              <a:srgbClr val="E5E7EB"/>
            </a:solidFill>
            <a:prstDash val="solid"/>
          </a:ln>
        </p:spPr>
      </p:sp>
      <p:sp>
        <p:nvSpPr>
          <p:cNvPr id="20" name="Text 18"/>
          <p:cNvSpPr/>
          <p:nvPr/>
        </p:nvSpPr>
        <p:spPr>
          <a:xfrm>
            <a:off x="532364" y="3429818"/>
            <a:ext cx="7322182" cy="244364"/>
          </a:xfrm>
          <a:prstGeom prst="rect">
            <a:avLst/>
          </a:prstGeom>
          <a:noFill/>
          <a:ln/>
        </p:spPr>
        <p:txBody>
          <a:bodyPr wrap="square" lIns="0" tIns="0" rIns="0" bIns="0" rtlCol="0" anchor="ctr"/>
          <a:lstStyle/>
          <a:p>
            <a:pPr>
              <a:lnSpc>
                <a:spcPct val="130000"/>
              </a:lnSpc>
            </a:pPr>
            <a:r>
              <a:rPr lang="en-US" sz="1237" b="1" dirty="0">
                <a:solidFill>
                  <a:srgbClr val="1F2937"/>
                </a:solidFill>
                <a:latin typeface="Sorts Mill Goudy" pitchFamily="34" charset="0"/>
                <a:ea typeface="Sorts Mill Goudy" pitchFamily="34" charset="-122"/>
                <a:cs typeface="Sorts Mill Goudy" pitchFamily="34" charset="-120"/>
              </a:rPr>
              <a:t>Per-Argument-Type Performance</a:t>
            </a:r>
            <a:endParaRPr lang="en-US" sz="1600" dirty="0"/>
          </a:p>
        </p:txBody>
      </p:sp>
      <p:sp>
        <p:nvSpPr>
          <p:cNvPr id="21" name="Shape 19"/>
          <p:cNvSpPr/>
          <p:nvPr/>
        </p:nvSpPr>
        <p:spPr>
          <a:xfrm>
            <a:off x="532364" y="3778909"/>
            <a:ext cx="7243636" cy="349091"/>
          </a:xfrm>
          <a:custGeom>
            <a:avLst/>
            <a:gdLst/>
            <a:ahLst/>
            <a:cxnLst/>
            <a:rect l="l" t="t" r="r" b="b"/>
            <a:pathLst>
              <a:path w="7243636" h="349091">
                <a:moveTo>
                  <a:pt x="0" y="0"/>
                </a:moveTo>
                <a:lnTo>
                  <a:pt x="7243636" y="0"/>
                </a:lnTo>
                <a:lnTo>
                  <a:pt x="7243636" y="349091"/>
                </a:lnTo>
                <a:lnTo>
                  <a:pt x="0" y="349091"/>
                </a:lnTo>
                <a:lnTo>
                  <a:pt x="0" y="0"/>
                </a:lnTo>
                <a:close/>
              </a:path>
            </a:pathLst>
          </a:custGeom>
          <a:solidFill>
            <a:srgbClr val="F9FAFB"/>
          </a:solidFill>
          <a:ln/>
        </p:spPr>
      </p:sp>
      <p:sp>
        <p:nvSpPr>
          <p:cNvPr id="22" name="Text 20"/>
          <p:cNvSpPr/>
          <p:nvPr/>
        </p:nvSpPr>
        <p:spPr>
          <a:xfrm>
            <a:off x="602182" y="3848727"/>
            <a:ext cx="1300364" cy="209455"/>
          </a:xfrm>
          <a:prstGeom prst="rect">
            <a:avLst/>
          </a:prstGeom>
          <a:noFill/>
          <a:ln/>
        </p:spPr>
        <p:txBody>
          <a:bodyPr wrap="square" lIns="0" tIns="0" rIns="0" bIns="0" rtlCol="0" anchor="ctr"/>
          <a:lstStyle/>
          <a:p>
            <a:pPr>
              <a:lnSpc>
                <a:spcPct val="130000"/>
              </a:lnSpc>
            </a:pPr>
            <a:r>
              <a:rPr lang="en-US" sz="1100" dirty="0">
                <a:solidFill>
                  <a:srgbClr val="1F2937"/>
                </a:solidFill>
                <a:latin typeface="Sorts Mill Goudy" pitchFamily="34" charset="0"/>
                <a:ea typeface="Sorts Mill Goudy" pitchFamily="34" charset="-122"/>
                <a:cs typeface="Sorts Mill Goudy" pitchFamily="34" charset="-120"/>
              </a:rPr>
              <a:t>ARG0 (Proto-agent)</a:t>
            </a:r>
            <a:endParaRPr lang="en-US" sz="1600" dirty="0"/>
          </a:p>
        </p:txBody>
      </p:sp>
      <p:sp>
        <p:nvSpPr>
          <p:cNvPr id="23" name="Text 21"/>
          <p:cNvSpPr/>
          <p:nvPr/>
        </p:nvSpPr>
        <p:spPr>
          <a:xfrm>
            <a:off x="5998091" y="3848727"/>
            <a:ext cx="541091" cy="209455"/>
          </a:xfrm>
          <a:prstGeom prst="rect">
            <a:avLst/>
          </a:prstGeom>
          <a:noFill/>
          <a:ln/>
        </p:spPr>
        <p:txBody>
          <a:bodyPr wrap="square" lIns="0" tIns="0" rIns="0" bIns="0" rtlCol="0" anchor="ctr"/>
          <a:lstStyle/>
          <a:p>
            <a:pPr>
              <a:lnSpc>
                <a:spcPct val="130000"/>
              </a:lnSpc>
            </a:pPr>
            <a:r>
              <a:rPr lang="en-US" sz="1100" dirty="0">
                <a:solidFill>
                  <a:srgbClr val="1F2937"/>
                </a:solidFill>
                <a:latin typeface="Sorts Mill Goudy" pitchFamily="34" charset="0"/>
                <a:ea typeface="Sorts Mill Goudy" pitchFamily="34" charset="-122"/>
                <a:cs typeface="Sorts Mill Goudy" pitchFamily="34" charset="-120"/>
              </a:rPr>
              <a:t>P: 0.870</a:t>
            </a:r>
            <a:endParaRPr lang="en-US" sz="1600" dirty="0"/>
          </a:p>
        </p:txBody>
      </p:sp>
      <p:sp>
        <p:nvSpPr>
          <p:cNvPr id="24" name="Text 22"/>
          <p:cNvSpPr/>
          <p:nvPr/>
        </p:nvSpPr>
        <p:spPr>
          <a:xfrm>
            <a:off x="6605318" y="3848727"/>
            <a:ext cx="523636" cy="209455"/>
          </a:xfrm>
          <a:prstGeom prst="rect">
            <a:avLst/>
          </a:prstGeom>
          <a:noFill/>
          <a:ln/>
        </p:spPr>
        <p:txBody>
          <a:bodyPr wrap="square" lIns="0" tIns="0" rIns="0" bIns="0" rtlCol="0" anchor="ctr"/>
          <a:lstStyle/>
          <a:p>
            <a:pPr>
              <a:lnSpc>
                <a:spcPct val="130000"/>
              </a:lnSpc>
            </a:pPr>
            <a:r>
              <a:rPr lang="en-US" sz="1100" dirty="0">
                <a:solidFill>
                  <a:srgbClr val="1F2937"/>
                </a:solidFill>
                <a:latin typeface="Sorts Mill Goudy" pitchFamily="34" charset="0"/>
                <a:ea typeface="Sorts Mill Goudy" pitchFamily="34" charset="-122"/>
                <a:cs typeface="Sorts Mill Goudy" pitchFamily="34" charset="-120"/>
              </a:rPr>
              <a:t>R: 0.853</a:t>
            </a:r>
            <a:endParaRPr lang="en-US" sz="1600" dirty="0"/>
          </a:p>
        </p:txBody>
      </p:sp>
      <p:sp>
        <p:nvSpPr>
          <p:cNvPr id="25" name="Text 23"/>
          <p:cNvSpPr/>
          <p:nvPr/>
        </p:nvSpPr>
        <p:spPr>
          <a:xfrm>
            <a:off x="7194409" y="3848727"/>
            <a:ext cx="576000" cy="209455"/>
          </a:xfrm>
          <a:prstGeom prst="rect">
            <a:avLst/>
          </a:prstGeom>
          <a:noFill/>
          <a:ln/>
        </p:spPr>
        <p:txBody>
          <a:bodyPr wrap="square" lIns="0" tIns="0" rIns="0" bIns="0" rtlCol="0" anchor="ctr"/>
          <a:lstStyle/>
          <a:p>
            <a:pPr>
              <a:lnSpc>
                <a:spcPct val="130000"/>
              </a:lnSpc>
            </a:pPr>
            <a:r>
              <a:rPr lang="en-US" sz="1100" b="1" dirty="0">
                <a:solidFill>
                  <a:srgbClr val="8B0000"/>
                </a:solidFill>
                <a:latin typeface="Sorts Mill Goudy" pitchFamily="34" charset="0"/>
                <a:ea typeface="Sorts Mill Goudy" pitchFamily="34" charset="-122"/>
                <a:cs typeface="Sorts Mill Goudy" pitchFamily="34" charset="-120"/>
              </a:rPr>
              <a:t>F1: 0.779</a:t>
            </a:r>
            <a:endParaRPr lang="en-US" sz="1600" dirty="0"/>
          </a:p>
        </p:txBody>
      </p:sp>
      <p:sp>
        <p:nvSpPr>
          <p:cNvPr id="26" name="Shape 24"/>
          <p:cNvSpPr/>
          <p:nvPr/>
        </p:nvSpPr>
        <p:spPr>
          <a:xfrm>
            <a:off x="532364" y="4197818"/>
            <a:ext cx="7243636" cy="349091"/>
          </a:xfrm>
          <a:custGeom>
            <a:avLst/>
            <a:gdLst/>
            <a:ahLst/>
            <a:cxnLst/>
            <a:rect l="l" t="t" r="r" b="b"/>
            <a:pathLst>
              <a:path w="7243636" h="349091">
                <a:moveTo>
                  <a:pt x="0" y="0"/>
                </a:moveTo>
                <a:lnTo>
                  <a:pt x="7243636" y="0"/>
                </a:lnTo>
                <a:lnTo>
                  <a:pt x="7243636" y="349091"/>
                </a:lnTo>
                <a:lnTo>
                  <a:pt x="0" y="349091"/>
                </a:lnTo>
                <a:lnTo>
                  <a:pt x="0" y="0"/>
                </a:lnTo>
                <a:close/>
              </a:path>
            </a:pathLst>
          </a:custGeom>
          <a:solidFill>
            <a:srgbClr val="F9FAFB"/>
          </a:solidFill>
          <a:ln/>
        </p:spPr>
      </p:sp>
      <p:sp>
        <p:nvSpPr>
          <p:cNvPr id="27" name="Text 25"/>
          <p:cNvSpPr/>
          <p:nvPr/>
        </p:nvSpPr>
        <p:spPr>
          <a:xfrm>
            <a:off x="602182" y="4267636"/>
            <a:ext cx="1422545" cy="209455"/>
          </a:xfrm>
          <a:prstGeom prst="rect">
            <a:avLst/>
          </a:prstGeom>
          <a:noFill/>
          <a:ln/>
        </p:spPr>
        <p:txBody>
          <a:bodyPr wrap="square" lIns="0" tIns="0" rIns="0" bIns="0" rtlCol="0" anchor="ctr"/>
          <a:lstStyle/>
          <a:p>
            <a:pPr>
              <a:lnSpc>
                <a:spcPct val="130000"/>
              </a:lnSpc>
            </a:pPr>
            <a:r>
              <a:rPr lang="en-US" sz="1100" dirty="0">
                <a:solidFill>
                  <a:srgbClr val="1F2937"/>
                </a:solidFill>
                <a:latin typeface="Sorts Mill Goudy" pitchFamily="34" charset="0"/>
                <a:ea typeface="Sorts Mill Goudy" pitchFamily="34" charset="-122"/>
                <a:cs typeface="Sorts Mill Goudy" pitchFamily="34" charset="-120"/>
              </a:rPr>
              <a:t>ARG1 (Patient/theme)</a:t>
            </a:r>
            <a:endParaRPr lang="en-US" sz="1600" dirty="0"/>
          </a:p>
        </p:txBody>
      </p:sp>
      <p:sp>
        <p:nvSpPr>
          <p:cNvPr id="28" name="Text 26"/>
          <p:cNvSpPr/>
          <p:nvPr/>
        </p:nvSpPr>
        <p:spPr>
          <a:xfrm>
            <a:off x="6016227" y="4267636"/>
            <a:ext cx="514909" cy="209455"/>
          </a:xfrm>
          <a:prstGeom prst="rect">
            <a:avLst/>
          </a:prstGeom>
          <a:noFill/>
          <a:ln/>
        </p:spPr>
        <p:txBody>
          <a:bodyPr wrap="square" lIns="0" tIns="0" rIns="0" bIns="0" rtlCol="0" anchor="ctr"/>
          <a:lstStyle/>
          <a:p>
            <a:pPr>
              <a:lnSpc>
                <a:spcPct val="130000"/>
              </a:lnSpc>
            </a:pPr>
            <a:r>
              <a:rPr lang="en-US" sz="1100" dirty="0">
                <a:solidFill>
                  <a:srgbClr val="1F2937"/>
                </a:solidFill>
                <a:latin typeface="Sorts Mill Goudy" pitchFamily="34" charset="0"/>
                <a:ea typeface="Sorts Mill Goudy" pitchFamily="34" charset="-122"/>
                <a:cs typeface="Sorts Mill Goudy" pitchFamily="34" charset="-120"/>
              </a:rPr>
              <a:t>P: 0.818</a:t>
            </a:r>
            <a:endParaRPr lang="en-US" sz="1600" dirty="0"/>
          </a:p>
        </p:txBody>
      </p:sp>
      <p:sp>
        <p:nvSpPr>
          <p:cNvPr id="29" name="Text 27"/>
          <p:cNvSpPr/>
          <p:nvPr/>
        </p:nvSpPr>
        <p:spPr>
          <a:xfrm>
            <a:off x="6596864" y="4267636"/>
            <a:ext cx="549818" cy="209455"/>
          </a:xfrm>
          <a:prstGeom prst="rect">
            <a:avLst/>
          </a:prstGeom>
          <a:noFill/>
          <a:ln/>
        </p:spPr>
        <p:txBody>
          <a:bodyPr wrap="square" lIns="0" tIns="0" rIns="0" bIns="0" rtlCol="0" anchor="ctr"/>
          <a:lstStyle/>
          <a:p>
            <a:pPr>
              <a:lnSpc>
                <a:spcPct val="130000"/>
              </a:lnSpc>
            </a:pPr>
            <a:r>
              <a:rPr lang="en-US" sz="1100" dirty="0">
                <a:solidFill>
                  <a:srgbClr val="1F2937"/>
                </a:solidFill>
                <a:latin typeface="Sorts Mill Goudy" pitchFamily="34" charset="0"/>
                <a:ea typeface="Sorts Mill Goudy" pitchFamily="34" charset="-122"/>
                <a:cs typeface="Sorts Mill Goudy" pitchFamily="34" charset="-120"/>
              </a:rPr>
              <a:t>R: 0.889</a:t>
            </a:r>
            <a:endParaRPr lang="en-US" sz="1600" dirty="0"/>
          </a:p>
        </p:txBody>
      </p:sp>
      <p:sp>
        <p:nvSpPr>
          <p:cNvPr id="30" name="Text 28"/>
          <p:cNvSpPr/>
          <p:nvPr/>
        </p:nvSpPr>
        <p:spPr>
          <a:xfrm>
            <a:off x="7219364" y="4267636"/>
            <a:ext cx="549818" cy="209455"/>
          </a:xfrm>
          <a:prstGeom prst="rect">
            <a:avLst/>
          </a:prstGeom>
          <a:noFill/>
          <a:ln/>
        </p:spPr>
        <p:txBody>
          <a:bodyPr wrap="square" lIns="0" tIns="0" rIns="0" bIns="0" rtlCol="0" anchor="ctr"/>
          <a:lstStyle/>
          <a:p>
            <a:pPr>
              <a:lnSpc>
                <a:spcPct val="130000"/>
              </a:lnSpc>
            </a:pPr>
            <a:r>
              <a:rPr lang="en-US" sz="1100" b="1" dirty="0">
                <a:solidFill>
                  <a:srgbClr val="8B0000"/>
                </a:solidFill>
                <a:latin typeface="Sorts Mill Goudy" pitchFamily="34" charset="0"/>
                <a:ea typeface="Sorts Mill Goudy" pitchFamily="34" charset="-122"/>
                <a:cs typeface="Sorts Mill Goudy" pitchFamily="34" charset="-120"/>
              </a:rPr>
              <a:t>F1: 0.852</a:t>
            </a:r>
            <a:endParaRPr lang="en-US" sz="1600" dirty="0"/>
          </a:p>
        </p:txBody>
      </p:sp>
      <p:sp>
        <p:nvSpPr>
          <p:cNvPr id="31" name="Shape 29"/>
          <p:cNvSpPr/>
          <p:nvPr/>
        </p:nvSpPr>
        <p:spPr>
          <a:xfrm>
            <a:off x="532364" y="4616727"/>
            <a:ext cx="7243636" cy="349091"/>
          </a:xfrm>
          <a:custGeom>
            <a:avLst/>
            <a:gdLst/>
            <a:ahLst/>
            <a:cxnLst/>
            <a:rect l="l" t="t" r="r" b="b"/>
            <a:pathLst>
              <a:path w="7243636" h="349091">
                <a:moveTo>
                  <a:pt x="0" y="0"/>
                </a:moveTo>
                <a:lnTo>
                  <a:pt x="7243636" y="0"/>
                </a:lnTo>
                <a:lnTo>
                  <a:pt x="7243636" y="349091"/>
                </a:lnTo>
                <a:lnTo>
                  <a:pt x="0" y="349091"/>
                </a:lnTo>
                <a:lnTo>
                  <a:pt x="0" y="0"/>
                </a:lnTo>
                <a:close/>
              </a:path>
            </a:pathLst>
          </a:custGeom>
          <a:solidFill>
            <a:srgbClr val="F9FAFB"/>
          </a:solidFill>
          <a:ln/>
        </p:spPr>
      </p:sp>
      <p:sp>
        <p:nvSpPr>
          <p:cNvPr id="32" name="Text 30"/>
          <p:cNvSpPr/>
          <p:nvPr/>
        </p:nvSpPr>
        <p:spPr>
          <a:xfrm>
            <a:off x="602182" y="4686545"/>
            <a:ext cx="1588364" cy="209455"/>
          </a:xfrm>
          <a:prstGeom prst="rect">
            <a:avLst/>
          </a:prstGeom>
          <a:noFill/>
          <a:ln/>
        </p:spPr>
        <p:txBody>
          <a:bodyPr wrap="square" lIns="0" tIns="0" rIns="0" bIns="0" rtlCol="0" anchor="ctr"/>
          <a:lstStyle/>
          <a:p>
            <a:pPr>
              <a:lnSpc>
                <a:spcPct val="130000"/>
              </a:lnSpc>
            </a:pPr>
            <a:r>
              <a:rPr lang="en-US" sz="1100" dirty="0">
                <a:solidFill>
                  <a:srgbClr val="1F2937"/>
                </a:solidFill>
                <a:latin typeface="Sorts Mill Goudy" pitchFamily="34" charset="0"/>
                <a:ea typeface="Sorts Mill Goudy" pitchFamily="34" charset="-122"/>
                <a:cs typeface="Sorts Mill Goudy" pitchFamily="34" charset="-120"/>
              </a:rPr>
              <a:t>ARGM-TMP (Temporal)</a:t>
            </a:r>
            <a:endParaRPr lang="en-US" sz="1600" dirty="0"/>
          </a:p>
        </p:txBody>
      </p:sp>
      <p:sp>
        <p:nvSpPr>
          <p:cNvPr id="33" name="Text 31"/>
          <p:cNvSpPr/>
          <p:nvPr/>
        </p:nvSpPr>
        <p:spPr>
          <a:xfrm>
            <a:off x="6008045" y="4686545"/>
            <a:ext cx="514909" cy="209455"/>
          </a:xfrm>
          <a:prstGeom prst="rect">
            <a:avLst/>
          </a:prstGeom>
          <a:noFill/>
          <a:ln/>
        </p:spPr>
        <p:txBody>
          <a:bodyPr wrap="square" lIns="0" tIns="0" rIns="0" bIns="0" rtlCol="0" anchor="ctr"/>
          <a:lstStyle/>
          <a:p>
            <a:pPr>
              <a:lnSpc>
                <a:spcPct val="130000"/>
              </a:lnSpc>
            </a:pPr>
            <a:r>
              <a:rPr lang="en-US" sz="1100" dirty="0">
                <a:solidFill>
                  <a:srgbClr val="1F2937"/>
                </a:solidFill>
                <a:latin typeface="Sorts Mill Goudy" pitchFamily="34" charset="0"/>
                <a:ea typeface="Sorts Mill Goudy" pitchFamily="34" charset="-122"/>
                <a:cs typeface="Sorts Mill Goudy" pitchFamily="34" charset="-120"/>
              </a:rPr>
              <a:t>P: 0.567</a:t>
            </a:r>
            <a:endParaRPr lang="en-US" sz="1600" dirty="0"/>
          </a:p>
        </p:txBody>
      </p:sp>
      <p:sp>
        <p:nvSpPr>
          <p:cNvPr id="34" name="Text 32"/>
          <p:cNvSpPr/>
          <p:nvPr/>
        </p:nvSpPr>
        <p:spPr>
          <a:xfrm>
            <a:off x="6588682" y="4686545"/>
            <a:ext cx="558545" cy="209455"/>
          </a:xfrm>
          <a:prstGeom prst="rect">
            <a:avLst/>
          </a:prstGeom>
          <a:noFill/>
          <a:ln/>
        </p:spPr>
        <p:txBody>
          <a:bodyPr wrap="square" lIns="0" tIns="0" rIns="0" bIns="0" rtlCol="0" anchor="ctr"/>
          <a:lstStyle/>
          <a:p>
            <a:pPr>
              <a:lnSpc>
                <a:spcPct val="130000"/>
              </a:lnSpc>
            </a:pPr>
            <a:r>
              <a:rPr lang="en-US" sz="1100" dirty="0">
                <a:solidFill>
                  <a:srgbClr val="1F2937"/>
                </a:solidFill>
                <a:latin typeface="Sorts Mill Goudy" pitchFamily="34" charset="0"/>
                <a:ea typeface="Sorts Mill Goudy" pitchFamily="34" charset="-122"/>
                <a:cs typeface="Sorts Mill Goudy" pitchFamily="34" charset="-120"/>
              </a:rPr>
              <a:t>R: 0.609</a:t>
            </a:r>
            <a:endParaRPr lang="en-US" sz="1600" dirty="0"/>
          </a:p>
        </p:txBody>
      </p:sp>
      <p:sp>
        <p:nvSpPr>
          <p:cNvPr id="35" name="Text 33"/>
          <p:cNvSpPr/>
          <p:nvPr/>
        </p:nvSpPr>
        <p:spPr>
          <a:xfrm>
            <a:off x="7214864" y="4686545"/>
            <a:ext cx="558545" cy="209455"/>
          </a:xfrm>
          <a:prstGeom prst="rect">
            <a:avLst/>
          </a:prstGeom>
          <a:noFill/>
          <a:ln/>
        </p:spPr>
        <p:txBody>
          <a:bodyPr wrap="square" lIns="0" tIns="0" rIns="0" bIns="0" rtlCol="0" anchor="ctr"/>
          <a:lstStyle/>
          <a:p>
            <a:pPr>
              <a:lnSpc>
                <a:spcPct val="130000"/>
              </a:lnSpc>
            </a:pPr>
            <a:r>
              <a:rPr lang="en-US" sz="1100" b="1" dirty="0">
                <a:solidFill>
                  <a:srgbClr val="8B0000"/>
                </a:solidFill>
                <a:latin typeface="Sorts Mill Goudy" pitchFamily="34" charset="0"/>
                <a:ea typeface="Sorts Mill Goudy" pitchFamily="34" charset="-122"/>
                <a:cs typeface="Sorts Mill Goudy" pitchFamily="34" charset="-120"/>
              </a:rPr>
              <a:t>F1: 0.588</a:t>
            </a:r>
            <a:endParaRPr lang="en-US" sz="1600" dirty="0"/>
          </a:p>
        </p:txBody>
      </p:sp>
      <p:sp>
        <p:nvSpPr>
          <p:cNvPr id="36" name="Shape 34"/>
          <p:cNvSpPr/>
          <p:nvPr/>
        </p:nvSpPr>
        <p:spPr>
          <a:xfrm>
            <a:off x="532364" y="5035636"/>
            <a:ext cx="7243636" cy="349091"/>
          </a:xfrm>
          <a:custGeom>
            <a:avLst/>
            <a:gdLst/>
            <a:ahLst/>
            <a:cxnLst/>
            <a:rect l="l" t="t" r="r" b="b"/>
            <a:pathLst>
              <a:path w="7243636" h="349091">
                <a:moveTo>
                  <a:pt x="0" y="0"/>
                </a:moveTo>
                <a:lnTo>
                  <a:pt x="7243636" y="0"/>
                </a:lnTo>
                <a:lnTo>
                  <a:pt x="7243636" y="349091"/>
                </a:lnTo>
                <a:lnTo>
                  <a:pt x="0" y="349091"/>
                </a:lnTo>
                <a:lnTo>
                  <a:pt x="0" y="0"/>
                </a:lnTo>
                <a:close/>
              </a:path>
            </a:pathLst>
          </a:custGeom>
          <a:solidFill>
            <a:srgbClr val="F9FAFB"/>
          </a:solidFill>
          <a:ln/>
        </p:spPr>
      </p:sp>
      <p:sp>
        <p:nvSpPr>
          <p:cNvPr id="37" name="Text 35"/>
          <p:cNvSpPr/>
          <p:nvPr/>
        </p:nvSpPr>
        <p:spPr>
          <a:xfrm>
            <a:off x="602182" y="5105455"/>
            <a:ext cx="1544727" cy="209455"/>
          </a:xfrm>
          <a:prstGeom prst="rect">
            <a:avLst/>
          </a:prstGeom>
          <a:noFill/>
          <a:ln/>
        </p:spPr>
        <p:txBody>
          <a:bodyPr wrap="square" lIns="0" tIns="0" rIns="0" bIns="0" rtlCol="0" anchor="ctr"/>
          <a:lstStyle/>
          <a:p>
            <a:pPr>
              <a:lnSpc>
                <a:spcPct val="130000"/>
              </a:lnSpc>
            </a:pPr>
            <a:r>
              <a:rPr lang="en-US" sz="1100" dirty="0">
                <a:solidFill>
                  <a:srgbClr val="1F2937"/>
                </a:solidFill>
                <a:latin typeface="Sorts Mill Goudy" pitchFamily="34" charset="0"/>
                <a:ea typeface="Sorts Mill Goudy" pitchFamily="34" charset="-122"/>
                <a:cs typeface="Sorts Mill Goudy" pitchFamily="34" charset="-120"/>
              </a:rPr>
              <a:t>ARGM-LOC (Location)</a:t>
            </a:r>
            <a:endParaRPr lang="en-US" sz="1600" dirty="0"/>
          </a:p>
        </p:txBody>
      </p:sp>
      <p:sp>
        <p:nvSpPr>
          <p:cNvPr id="38" name="Text 36"/>
          <p:cNvSpPr/>
          <p:nvPr/>
        </p:nvSpPr>
        <p:spPr>
          <a:xfrm>
            <a:off x="5971091" y="5105455"/>
            <a:ext cx="532364" cy="209455"/>
          </a:xfrm>
          <a:prstGeom prst="rect">
            <a:avLst/>
          </a:prstGeom>
          <a:noFill/>
          <a:ln/>
        </p:spPr>
        <p:txBody>
          <a:bodyPr wrap="square" lIns="0" tIns="0" rIns="0" bIns="0" rtlCol="0" anchor="ctr"/>
          <a:lstStyle/>
          <a:p>
            <a:pPr>
              <a:lnSpc>
                <a:spcPct val="130000"/>
              </a:lnSpc>
            </a:pPr>
            <a:r>
              <a:rPr lang="en-US" sz="1100" dirty="0">
                <a:solidFill>
                  <a:srgbClr val="1F2937"/>
                </a:solidFill>
                <a:latin typeface="Sorts Mill Goudy" pitchFamily="34" charset="0"/>
                <a:ea typeface="Sorts Mill Goudy" pitchFamily="34" charset="-122"/>
                <a:cs typeface="Sorts Mill Goudy" pitchFamily="34" charset="-120"/>
              </a:rPr>
              <a:t>P: 0.970</a:t>
            </a:r>
            <a:endParaRPr lang="en-US" sz="1600" dirty="0"/>
          </a:p>
        </p:txBody>
      </p:sp>
      <p:sp>
        <p:nvSpPr>
          <p:cNvPr id="39" name="Text 37"/>
          <p:cNvSpPr/>
          <p:nvPr/>
        </p:nvSpPr>
        <p:spPr>
          <a:xfrm>
            <a:off x="6576409" y="5105455"/>
            <a:ext cx="549818" cy="209455"/>
          </a:xfrm>
          <a:prstGeom prst="rect">
            <a:avLst/>
          </a:prstGeom>
          <a:noFill/>
          <a:ln/>
        </p:spPr>
        <p:txBody>
          <a:bodyPr wrap="square" lIns="0" tIns="0" rIns="0" bIns="0" rtlCol="0" anchor="ctr"/>
          <a:lstStyle/>
          <a:p>
            <a:pPr>
              <a:lnSpc>
                <a:spcPct val="130000"/>
              </a:lnSpc>
            </a:pPr>
            <a:r>
              <a:rPr lang="en-US" sz="1100" dirty="0">
                <a:solidFill>
                  <a:srgbClr val="1F2937"/>
                </a:solidFill>
                <a:latin typeface="Sorts Mill Goudy" pitchFamily="34" charset="0"/>
                <a:ea typeface="Sorts Mill Goudy" pitchFamily="34" charset="-122"/>
                <a:cs typeface="Sorts Mill Goudy" pitchFamily="34" charset="-120"/>
              </a:rPr>
              <a:t>R: 0.926</a:t>
            </a:r>
            <a:endParaRPr lang="en-US" sz="1600" dirty="0"/>
          </a:p>
        </p:txBody>
      </p:sp>
      <p:sp>
        <p:nvSpPr>
          <p:cNvPr id="40" name="Text 38"/>
          <p:cNvSpPr/>
          <p:nvPr/>
        </p:nvSpPr>
        <p:spPr>
          <a:xfrm>
            <a:off x="7194136" y="5105455"/>
            <a:ext cx="576000" cy="209455"/>
          </a:xfrm>
          <a:prstGeom prst="rect">
            <a:avLst/>
          </a:prstGeom>
          <a:noFill/>
          <a:ln/>
        </p:spPr>
        <p:txBody>
          <a:bodyPr wrap="square" lIns="0" tIns="0" rIns="0" bIns="0" rtlCol="0" anchor="ctr"/>
          <a:lstStyle/>
          <a:p>
            <a:pPr>
              <a:lnSpc>
                <a:spcPct val="130000"/>
              </a:lnSpc>
            </a:pPr>
            <a:r>
              <a:rPr lang="en-US" sz="1100" b="1" dirty="0">
                <a:solidFill>
                  <a:srgbClr val="8B0000"/>
                </a:solidFill>
                <a:latin typeface="Sorts Mill Goudy" pitchFamily="34" charset="0"/>
                <a:ea typeface="Sorts Mill Goudy" pitchFamily="34" charset="-122"/>
                <a:cs typeface="Sorts Mill Goudy" pitchFamily="34" charset="-120"/>
              </a:rPr>
              <a:t>F1: 0.948</a:t>
            </a:r>
            <a:endParaRPr lang="en-US" sz="1600" dirty="0"/>
          </a:p>
        </p:txBody>
      </p:sp>
      <p:sp>
        <p:nvSpPr>
          <p:cNvPr id="41" name="Shape 39"/>
          <p:cNvSpPr/>
          <p:nvPr/>
        </p:nvSpPr>
        <p:spPr>
          <a:xfrm>
            <a:off x="532364" y="5454545"/>
            <a:ext cx="7243636" cy="349091"/>
          </a:xfrm>
          <a:custGeom>
            <a:avLst/>
            <a:gdLst/>
            <a:ahLst/>
            <a:cxnLst/>
            <a:rect l="l" t="t" r="r" b="b"/>
            <a:pathLst>
              <a:path w="7243636" h="349091">
                <a:moveTo>
                  <a:pt x="0" y="0"/>
                </a:moveTo>
                <a:lnTo>
                  <a:pt x="7243636" y="0"/>
                </a:lnTo>
                <a:lnTo>
                  <a:pt x="7243636" y="349091"/>
                </a:lnTo>
                <a:lnTo>
                  <a:pt x="0" y="349091"/>
                </a:lnTo>
                <a:lnTo>
                  <a:pt x="0" y="0"/>
                </a:lnTo>
                <a:close/>
              </a:path>
            </a:pathLst>
          </a:custGeom>
          <a:solidFill>
            <a:srgbClr val="F9FAFB"/>
          </a:solidFill>
          <a:ln/>
        </p:spPr>
      </p:sp>
      <p:sp>
        <p:nvSpPr>
          <p:cNvPr id="42" name="Text 40"/>
          <p:cNvSpPr/>
          <p:nvPr/>
        </p:nvSpPr>
        <p:spPr>
          <a:xfrm>
            <a:off x="602182" y="5524364"/>
            <a:ext cx="1509818" cy="209455"/>
          </a:xfrm>
          <a:prstGeom prst="rect">
            <a:avLst/>
          </a:prstGeom>
          <a:noFill/>
          <a:ln/>
        </p:spPr>
        <p:txBody>
          <a:bodyPr wrap="square" lIns="0" tIns="0" rIns="0" bIns="0" rtlCol="0" anchor="ctr"/>
          <a:lstStyle/>
          <a:p>
            <a:pPr>
              <a:lnSpc>
                <a:spcPct val="130000"/>
              </a:lnSpc>
            </a:pPr>
            <a:r>
              <a:rPr lang="en-US" sz="1100" dirty="0">
                <a:solidFill>
                  <a:srgbClr val="1F2937"/>
                </a:solidFill>
                <a:latin typeface="Sorts Mill Goudy" pitchFamily="34" charset="0"/>
                <a:ea typeface="Sorts Mill Goudy" pitchFamily="34" charset="-122"/>
                <a:cs typeface="Sorts Mill Goudy" pitchFamily="34" charset="-120"/>
              </a:rPr>
              <a:t>ARGM-MNR (Manner)</a:t>
            </a:r>
            <a:endParaRPr lang="en-US" sz="1600" dirty="0"/>
          </a:p>
        </p:txBody>
      </p:sp>
      <p:sp>
        <p:nvSpPr>
          <p:cNvPr id="43" name="Text 41"/>
          <p:cNvSpPr/>
          <p:nvPr/>
        </p:nvSpPr>
        <p:spPr>
          <a:xfrm>
            <a:off x="5991955" y="5524364"/>
            <a:ext cx="506182" cy="209455"/>
          </a:xfrm>
          <a:prstGeom prst="rect">
            <a:avLst/>
          </a:prstGeom>
          <a:noFill/>
          <a:ln/>
        </p:spPr>
        <p:txBody>
          <a:bodyPr wrap="square" lIns="0" tIns="0" rIns="0" bIns="0" rtlCol="0" anchor="ctr"/>
          <a:lstStyle/>
          <a:p>
            <a:pPr>
              <a:lnSpc>
                <a:spcPct val="130000"/>
              </a:lnSpc>
            </a:pPr>
            <a:r>
              <a:rPr lang="en-US" sz="1100" dirty="0">
                <a:solidFill>
                  <a:srgbClr val="1F2937"/>
                </a:solidFill>
                <a:latin typeface="Sorts Mill Goudy" pitchFamily="34" charset="0"/>
                <a:ea typeface="Sorts Mill Goudy" pitchFamily="34" charset="-122"/>
                <a:cs typeface="Sorts Mill Goudy" pitchFamily="34" charset="-120"/>
              </a:rPr>
              <a:t>P: 0.945</a:t>
            </a:r>
            <a:endParaRPr lang="en-US" sz="1600" dirty="0"/>
          </a:p>
        </p:txBody>
      </p:sp>
      <p:sp>
        <p:nvSpPr>
          <p:cNvPr id="44" name="Text 42"/>
          <p:cNvSpPr/>
          <p:nvPr/>
        </p:nvSpPr>
        <p:spPr>
          <a:xfrm>
            <a:off x="6571500" y="5524364"/>
            <a:ext cx="558545" cy="209455"/>
          </a:xfrm>
          <a:prstGeom prst="rect">
            <a:avLst/>
          </a:prstGeom>
          <a:noFill/>
          <a:ln/>
        </p:spPr>
        <p:txBody>
          <a:bodyPr wrap="square" lIns="0" tIns="0" rIns="0" bIns="0" rtlCol="0" anchor="ctr"/>
          <a:lstStyle/>
          <a:p>
            <a:pPr>
              <a:lnSpc>
                <a:spcPct val="130000"/>
              </a:lnSpc>
            </a:pPr>
            <a:r>
              <a:rPr lang="en-US" sz="1100" dirty="0">
                <a:solidFill>
                  <a:srgbClr val="1F2937"/>
                </a:solidFill>
                <a:latin typeface="Sorts Mill Goudy" pitchFamily="34" charset="0"/>
                <a:ea typeface="Sorts Mill Goudy" pitchFamily="34" charset="-122"/>
                <a:cs typeface="Sorts Mill Goudy" pitchFamily="34" charset="-120"/>
              </a:rPr>
              <a:t>R: 0.940</a:t>
            </a:r>
            <a:endParaRPr lang="en-US" sz="1600" dirty="0"/>
          </a:p>
        </p:txBody>
      </p:sp>
      <p:sp>
        <p:nvSpPr>
          <p:cNvPr id="45" name="Text 43"/>
          <p:cNvSpPr/>
          <p:nvPr/>
        </p:nvSpPr>
        <p:spPr>
          <a:xfrm>
            <a:off x="7198636" y="5524364"/>
            <a:ext cx="576000" cy="209455"/>
          </a:xfrm>
          <a:prstGeom prst="rect">
            <a:avLst/>
          </a:prstGeom>
          <a:noFill/>
          <a:ln/>
        </p:spPr>
        <p:txBody>
          <a:bodyPr wrap="square" lIns="0" tIns="0" rIns="0" bIns="0" rtlCol="0" anchor="ctr"/>
          <a:lstStyle/>
          <a:p>
            <a:pPr>
              <a:lnSpc>
                <a:spcPct val="130000"/>
              </a:lnSpc>
            </a:pPr>
            <a:r>
              <a:rPr lang="en-US" sz="1100" b="1" dirty="0">
                <a:solidFill>
                  <a:srgbClr val="8B0000"/>
                </a:solidFill>
                <a:latin typeface="Sorts Mill Goudy" pitchFamily="34" charset="0"/>
                <a:ea typeface="Sorts Mill Goudy" pitchFamily="34" charset="-122"/>
                <a:cs typeface="Sorts Mill Goudy" pitchFamily="34" charset="-120"/>
              </a:rPr>
              <a:t>F1: 0.942</a:t>
            </a:r>
            <a:endParaRPr lang="en-US" sz="1600" dirty="0"/>
          </a:p>
        </p:txBody>
      </p:sp>
      <p:sp>
        <p:nvSpPr>
          <p:cNvPr id="46" name="Shape 44"/>
          <p:cNvSpPr/>
          <p:nvPr/>
        </p:nvSpPr>
        <p:spPr>
          <a:xfrm>
            <a:off x="8134227" y="1226182"/>
            <a:ext cx="3709091" cy="1963636"/>
          </a:xfrm>
          <a:custGeom>
            <a:avLst/>
            <a:gdLst/>
            <a:ahLst/>
            <a:cxnLst/>
            <a:rect l="l" t="t" r="r" b="b"/>
            <a:pathLst>
              <a:path w="3709091" h="1963636">
                <a:moveTo>
                  <a:pt x="0" y="0"/>
                </a:moveTo>
                <a:lnTo>
                  <a:pt x="3709091" y="0"/>
                </a:lnTo>
                <a:lnTo>
                  <a:pt x="3709091" y="1963636"/>
                </a:lnTo>
                <a:lnTo>
                  <a:pt x="0" y="1963636"/>
                </a:lnTo>
                <a:lnTo>
                  <a:pt x="0" y="0"/>
                </a:lnTo>
                <a:close/>
              </a:path>
            </a:pathLst>
          </a:custGeom>
          <a:solidFill>
            <a:srgbClr val="000000">
              <a:alpha val="0"/>
            </a:srgbClr>
          </a:solidFill>
          <a:ln w="12700">
            <a:solidFill>
              <a:srgbClr val="E5E7EB"/>
            </a:solidFill>
            <a:prstDash val="solid"/>
          </a:ln>
        </p:spPr>
      </p:sp>
      <p:sp>
        <p:nvSpPr>
          <p:cNvPr id="47" name="Text 45"/>
          <p:cNvSpPr/>
          <p:nvPr/>
        </p:nvSpPr>
        <p:spPr>
          <a:xfrm>
            <a:off x="8278227" y="1370182"/>
            <a:ext cx="3490909" cy="209455"/>
          </a:xfrm>
          <a:prstGeom prst="rect">
            <a:avLst/>
          </a:prstGeom>
          <a:noFill/>
          <a:ln/>
        </p:spPr>
        <p:txBody>
          <a:bodyPr wrap="square" lIns="0" tIns="0" rIns="0" bIns="0" rtlCol="0" anchor="ctr"/>
          <a:lstStyle/>
          <a:p>
            <a:pPr>
              <a:lnSpc>
                <a:spcPct val="130000"/>
              </a:lnSpc>
            </a:pPr>
            <a:r>
              <a:rPr lang="en-US" sz="1100" b="1" dirty="0">
                <a:solidFill>
                  <a:srgbClr val="1F2937"/>
                </a:solidFill>
                <a:latin typeface="Sorts Mill Goudy" pitchFamily="34" charset="0"/>
                <a:ea typeface="Sorts Mill Goudy" pitchFamily="34" charset="-122"/>
                <a:cs typeface="Sorts Mill Goudy" pitchFamily="34" charset="-120"/>
              </a:rPr>
              <a:t>Key Observations</a:t>
            </a:r>
            <a:endParaRPr lang="en-US" sz="1600" dirty="0"/>
          </a:p>
        </p:txBody>
      </p:sp>
      <p:sp>
        <p:nvSpPr>
          <p:cNvPr id="48" name="Shape 46"/>
          <p:cNvSpPr/>
          <p:nvPr/>
        </p:nvSpPr>
        <p:spPr>
          <a:xfrm>
            <a:off x="8295682" y="1719273"/>
            <a:ext cx="139636" cy="139636"/>
          </a:xfrm>
          <a:custGeom>
            <a:avLst/>
            <a:gdLst/>
            <a:ahLst/>
            <a:cxnLst/>
            <a:rect l="l" t="t" r="r" b="b"/>
            <a:pathLst>
              <a:path w="139636" h="139636">
                <a:moveTo>
                  <a:pt x="69818" y="139636"/>
                </a:moveTo>
                <a:cubicBezTo>
                  <a:pt x="108352" y="139636"/>
                  <a:pt x="139636" y="108352"/>
                  <a:pt x="139636" y="69818"/>
                </a:cubicBezTo>
                <a:cubicBezTo>
                  <a:pt x="139636" y="31284"/>
                  <a:pt x="108352" y="0"/>
                  <a:pt x="69818" y="0"/>
                </a:cubicBezTo>
                <a:cubicBezTo>
                  <a:pt x="31284" y="0"/>
                  <a:pt x="0" y="31284"/>
                  <a:pt x="0" y="69818"/>
                </a:cubicBezTo>
                <a:cubicBezTo>
                  <a:pt x="0" y="108352"/>
                  <a:pt x="31284" y="139636"/>
                  <a:pt x="69818" y="139636"/>
                </a:cubicBezTo>
                <a:close/>
                <a:moveTo>
                  <a:pt x="92836" y="58009"/>
                </a:moveTo>
                <a:lnTo>
                  <a:pt x="71018" y="92918"/>
                </a:lnTo>
                <a:cubicBezTo>
                  <a:pt x="69873" y="94745"/>
                  <a:pt x="67909" y="95891"/>
                  <a:pt x="65755" y="96000"/>
                </a:cubicBezTo>
                <a:cubicBezTo>
                  <a:pt x="63600" y="96109"/>
                  <a:pt x="61527" y="95127"/>
                  <a:pt x="60245" y="93382"/>
                </a:cubicBezTo>
                <a:lnTo>
                  <a:pt x="47155" y="75927"/>
                </a:lnTo>
                <a:cubicBezTo>
                  <a:pt x="44973" y="73036"/>
                  <a:pt x="45573" y="68945"/>
                  <a:pt x="48464" y="66764"/>
                </a:cubicBezTo>
                <a:cubicBezTo>
                  <a:pt x="51355" y="64582"/>
                  <a:pt x="55445" y="65182"/>
                  <a:pt x="57627" y="68073"/>
                </a:cubicBezTo>
                <a:lnTo>
                  <a:pt x="64991" y="77891"/>
                </a:lnTo>
                <a:lnTo>
                  <a:pt x="81736" y="51082"/>
                </a:lnTo>
                <a:cubicBezTo>
                  <a:pt x="83645" y="48027"/>
                  <a:pt x="87682" y="47073"/>
                  <a:pt x="90764" y="49009"/>
                </a:cubicBezTo>
                <a:cubicBezTo>
                  <a:pt x="93845" y="50945"/>
                  <a:pt x="94773" y="54955"/>
                  <a:pt x="92836" y="58036"/>
                </a:cubicBezTo>
                <a:close/>
              </a:path>
            </a:pathLst>
          </a:custGeom>
          <a:solidFill>
            <a:srgbClr val="8B0000"/>
          </a:solidFill>
          <a:ln/>
        </p:spPr>
      </p:sp>
      <p:sp>
        <p:nvSpPr>
          <p:cNvPr id="49" name="Text 47"/>
          <p:cNvSpPr/>
          <p:nvPr/>
        </p:nvSpPr>
        <p:spPr>
          <a:xfrm>
            <a:off x="8522591" y="1684364"/>
            <a:ext cx="3246545" cy="418909"/>
          </a:xfrm>
          <a:prstGeom prst="rect">
            <a:avLst/>
          </a:prstGeom>
          <a:noFill/>
          <a:ln/>
        </p:spPr>
        <p:txBody>
          <a:bodyPr wrap="square" lIns="0" tIns="0" rIns="0" bIns="0" rtlCol="0" anchor="ctr"/>
          <a:lstStyle/>
          <a:p>
            <a:pPr>
              <a:lnSpc>
                <a:spcPct val="130000"/>
              </a:lnSpc>
            </a:pPr>
            <a:r>
              <a:rPr lang="en-US" sz="1100" b="1" dirty="0">
                <a:solidFill>
                  <a:srgbClr val="1F2937"/>
                </a:solidFill>
                <a:latin typeface="Sorts Mill Goudy" pitchFamily="34" charset="0"/>
                <a:ea typeface="Sorts Mill Goudy" pitchFamily="34" charset="-122"/>
                <a:cs typeface="Sorts Mill Goudy" pitchFamily="34" charset="-120"/>
              </a:rPr>
              <a:t>Frequent core arguments</a:t>
            </a:r>
            <a:r>
              <a:rPr lang="en-US" sz="1100" dirty="0">
                <a:solidFill>
                  <a:srgbClr val="1F2937"/>
                </a:solidFill>
                <a:latin typeface="Sorts Mill Goudy" pitchFamily="34" charset="0"/>
                <a:ea typeface="Sorts Mill Goudy" pitchFamily="34" charset="-122"/>
                <a:cs typeface="Sorts Mill Goudy" pitchFamily="34" charset="-120"/>
              </a:rPr>
              <a:t> (ARG0, ARG1) achieve F1 &gt; 0.77</a:t>
            </a:r>
            <a:endParaRPr lang="en-US" sz="1600" dirty="0"/>
          </a:p>
        </p:txBody>
      </p:sp>
      <p:sp>
        <p:nvSpPr>
          <p:cNvPr id="50" name="Shape 48"/>
          <p:cNvSpPr/>
          <p:nvPr/>
        </p:nvSpPr>
        <p:spPr>
          <a:xfrm>
            <a:off x="8295682" y="2242909"/>
            <a:ext cx="139636" cy="139636"/>
          </a:xfrm>
          <a:custGeom>
            <a:avLst/>
            <a:gdLst/>
            <a:ahLst/>
            <a:cxnLst/>
            <a:rect l="l" t="t" r="r" b="b"/>
            <a:pathLst>
              <a:path w="139636" h="139636">
                <a:moveTo>
                  <a:pt x="69818" y="139636"/>
                </a:moveTo>
                <a:cubicBezTo>
                  <a:pt x="108352" y="139636"/>
                  <a:pt x="139636" y="108352"/>
                  <a:pt x="139636" y="69818"/>
                </a:cubicBezTo>
                <a:cubicBezTo>
                  <a:pt x="139636" y="31284"/>
                  <a:pt x="108352" y="0"/>
                  <a:pt x="69818" y="0"/>
                </a:cubicBezTo>
                <a:cubicBezTo>
                  <a:pt x="31284" y="0"/>
                  <a:pt x="0" y="31284"/>
                  <a:pt x="0" y="69818"/>
                </a:cubicBezTo>
                <a:cubicBezTo>
                  <a:pt x="0" y="108352"/>
                  <a:pt x="31284" y="139636"/>
                  <a:pt x="69818" y="139636"/>
                </a:cubicBezTo>
                <a:close/>
                <a:moveTo>
                  <a:pt x="92836" y="58009"/>
                </a:moveTo>
                <a:lnTo>
                  <a:pt x="71018" y="92918"/>
                </a:lnTo>
                <a:cubicBezTo>
                  <a:pt x="69873" y="94745"/>
                  <a:pt x="67909" y="95891"/>
                  <a:pt x="65755" y="96000"/>
                </a:cubicBezTo>
                <a:cubicBezTo>
                  <a:pt x="63600" y="96109"/>
                  <a:pt x="61527" y="95127"/>
                  <a:pt x="60245" y="93382"/>
                </a:cubicBezTo>
                <a:lnTo>
                  <a:pt x="47155" y="75927"/>
                </a:lnTo>
                <a:cubicBezTo>
                  <a:pt x="44973" y="73036"/>
                  <a:pt x="45573" y="68945"/>
                  <a:pt x="48464" y="66764"/>
                </a:cubicBezTo>
                <a:cubicBezTo>
                  <a:pt x="51355" y="64582"/>
                  <a:pt x="55445" y="65182"/>
                  <a:pt x="57627" y="68073"/>
                </a:cubicBezTo>
                <a:lnTo>
                  <a:pt x="64991" y="77891"/>
                </a:lnTo>
                <a:lnTo>
                  <a:pt x="81736" y="51082"/>
                </a:lnTo>
                <a:cubicBezTo>
                  <a:pt x="83645" y="48027"/>
                  <a:pt x="87682" y="47073"/>
                  <a:pt x="90764" y="49009"/>
                </a:cubicBezTo>
                <a:cubicBezTo>
                  <a:pt x="93845" y="50945"/>
                  <a:pt x="94773" y="54955"/>
                  <a:pt x="92836" y="58036"/>
                </a:cubicBezTo>
                <a:close/>
              </a:path>
            </a:pathLst>
          </a:custGeom>
          <a:solidFill>
            <a:srgbClr val="8B0000"/>
          </a:solidFill>
          <a:ln/>
        </p:spPr>
      </p:sp>
      <p:sp>
        <p:nvSpPr>
          <p:cNvPr id="51" name="Text 49"/>
          <p:cNvSpPr/>
          <p:nvPr/>
        </p:nvSpPr>
        <p:spPr>
          <a:xfrm>
            <a:off x="8522591" y="2208000"/>
            <a:ext cx="2967273" cy="209455"/>
          </a:xfrm>
          <a:prstGeom prst="rect">
            <a:avLst/>
          </a:prstGeom>
          <a:noFill/>
          <a:ln/>
        </p:spPr>
        <p:txBody>
          <a:bodyPr wrap="square" lIns="0" tIns="0" rIns="0" bIns="0" rtlCol="0" anchor="ctr"/>
          <a:lstStyle/>
          <a:p>
            <a:pPr>
              <a:lnSpc>
                <a:spcPct val="130000"/>
              </a:lnSpc>
            </a:pPr>
            <a:r>
              <a:rPr lang="en-US" sz="1100" b="1" dirty="0">
                <a:solidFill>
                  <a:srgbClr val="1F2937"/>
                </a:solidFill>
                <a:latin typeface="Sorts Mill Goudy" pitchFamily="34" charset="0"/>
                <a:ea typeface="Sorts Mill Goudy" pitchFamily="34" charset="-122"/>
                <a:cs typeface="Sorts Mill Goudy" pitchFamily="34" charset="-120"/>
              </a:rPr>
              <a:t>Rare higher-order roles</a:t>
            </a:r>
            <a:r>
              <a:rPr lang="en-US" sz="1100" dirty="0">
                <a:solidFill>
                  <a:srgbClr val="1F2937"/>
                </a:solidFill>
                <a:latin typeface="Sorts Mill Goudy" pitchFamily="34" charset="0"/>
                <a:ea typeface="Sorts Mill Goudy" pitchFamily="34" charset="-122"/>
                <a:cs typeface="Sorts Mill Goudy" pitchFamily="34" charset="-120"/>
              </a:rPr>
              <a:t> show lower performance</a:t>
            </a:r>
            <a:endParaRPr lang="en-US" sz="1600" dirty="0"/>
          </a:p>
        </p:txBody>
      </p:sp>
      <p:sp>
        <p:nvSpPr>
          <p:cNvPr id="52" name="Shape 50"/>
          <p:cNvSpPr/>
          <p:nvPr/>
        </p:nvSpPr>
        <p:spPr>
          <a:xfrm>
            <a:off x="8295682" y="2557091"/>
            <a:ext cx="139636" cy="139636"/>
          </a:xfrm>
          <a:custGeom>
            <a:avLst/>
            <a:gdLst/>
            <a:ahLst/>
            <a:cxnLst/>
            <a:rect l="l" t="t" r="r" b="b"/>
            <a:pathLst>
              <a:path w="139636" h="139636">
                <a:moveTo>
                  <a:pt x="69818" y="139636"/>
                </a:moveTo>
                <a:cubicBezTo>
                  <a:pt x="108352" y="139636"/>
                  <a:pt x="139636" y="108352"/>
                  <a:pt x="139636" y="69818"/>
                </a:cubicBezTo>
                <a:cubicBezTo>
                  <a:pt x="139636" y="31284"/>
                  <a:pt x="108352" y="0"/>
                  <a:pt x="69818" y="0"/>
                </a:cubicBezTo>
                <a:cubicBezTo>
                  <a:pt x="31284" y="0"/>
                  <a:pt x="0" y="31284"/>
                  <a:pt x="0" y="69818"/>
                </a:cubicBezTo>
                <a:cubicBezTo>
                  <a:pt x="0" y="108352"/>
                  <a:pt x="31284" y="139636"/>
                  <a:pt x="69818" y="139636"/>
                </a:cubicBezTo>
                <a:close/>
                <a:moveTo>
                  <a:pt x="92836" y="58009"/>
                </a:moveTo>
                <a:lnTo>
                  <a:pt x="71018" y="92918"/>
                </a:lnTo>
                <a:cubicBezTo>
                  <a:pt x="69873" y="94745"/>
                  <a:pt x="67909" y="95891"/>
                  <a:pt x="65755" y="96000"/>
                </a:cubicBezTo>
                <a:cubicBezTo>
                  <a:pt x="63600" y="96109"/>
                  <a:pt x="61527" y="95127"/>
                  <a:pt x="60245" y="93382"/>
                </a:cubicBezTo>
                <a:lnTo>
                  <a:pt x="47155" y="75927"/>
                </a:lnTo>
                <a:cubicBezTo>
                  <a:pt x="44973" y="73036"/>
                  <a:pt x="45573" y="68945"/>
                  <a:pt x="48464" y="66764"/>
                </a:cubicBezTo>
                <a:cubicBezTo>
                  <a:pt x="51355" y="64582"/>
                  <a:pt x="55445" y="65182"/>
                  <a:pt x="57627" y="68073"/>
                </a:cubicBezTo>
                <a:lnTo>
                  <a:pt x="64991" y="77891"/>
                </a:lnTo>
                <a:lnTo>
                  <a:pt x="81736" y="51082"/>
                </a:lnTo>
                <a:cubicBezTo>
                  <a:pt x="83645" y="48027"/>
                  <a:pt x="87682" y="47073"/>
                  <a:pt x="90764" y="49009"/>
                </a:cubicBezTo>
                <a:cubicBezTo>
                  <a:pt x="93845" y="50945"/>
                  <a:pt x="94773" y="54955"/>
                  <a:pt x="92836" y="58036"/>
                </a:cubicBezTo>
                <a:close/>
              </a:path>
            </a:pathLst>
          </a:custGeom>
          <a:solidFill>
            <a:srgbClr val="8B0000"/>
          </a:solidFill>
          <a:ln/>
        </p:spPr>
      </p:sp>
      <p:sp>
        <p:nvSpPr>
          <p:cNvPr id="53" name="Text 51"/>
          <p:cNvSpPr/>
          <p:nvPr/>
        </p:nvSpPr>
        <p:spPr>
          <a:xfrm>
            <a:off x="8522591" y="2522182"/>
            <a:ext cx="2670545" cy="209455"/>
          </a:xfrm>
          <a:prstGeom prst="rect">
            <a:avLst/>
          </a:prstGeom>
          <a:noFill/>
          <a:ln/>
        </p:spPr>
        <p:txBody>
          <a:bodyPr wrap="square" lIns="0" tIns="0" rIns="0" bIns="0" rtlCol="0" anchor="ctr"/>
          <a:lstStyle/>
          <a:p>
            <a:pPr>
              <a:lnSpc>
                <a:spcPct val="130000"/>
              </a:lnSpc>
            </a:pPr>
            <a:r>
              <a:rPr lang="en-US" sz="1100" b="1" dirty="0">
                <a:solidFill>
                  <a:srgbClr val="1F2937"/>
                </a:solidFill>
                <a:latin typeface="Sorts Mill Goudy" pitchFamily="34" charset="0"/>
                <a:ea typeface="Sorts Mill Goudy" pitchFamily="34" charset="-122"/>
                <a:cs typeface="Sorts Mill Goudy" pitchFamily="34" charset="-120"/>
              </a:rPr>
              <a:t>Locative and manner adjuncts</a:t>
            </a:r>
            <a:r>
              <a:rPr lang="en-US" sz="1100" dirty="0">
                <a:solidFill>
                  <a:srgbClr val="1F2937"/>
                </a:solidFill>
                <a:latin typeface="Sorts Mill Goudy" pitchFamily="34" charset="0"/>
                <a:ea typeface="Sorts Mill Goudy" pitchFamily="34" charset="-122"/>
                <a:cs typeface="Sorts Mill Goudy" pitchFamily="34" charset="-120"/>
              </a:rPr>
              <a:t> perform well</a:t>
            </a:r>
            <a:endParaRPr lang="en-US" sz="1600" dirty="0"/>
          </a:p>
        </p:txBody>
      </p:sp>
      <p:sp>
        <p:nvSpPr>
          <p:cNvPr id="54" name="Shape 52"/>
          <p:cNvSpPr/>
          <p:nvPr/>
        </p:nvSpPr>
        <p:spPr>
          <a:xfrm>
            <a:off x="8295682" y="2871273"/>
            <a:ext cx="139636" cy="139636"/>
          </a:xfrm>
          <a:custGeom>
            <a:avLst/>
            <a:gdLst/>
            <a:ahLst/>
            <a:cxnLst/>
            <a:rect l="l" t="t" r="r" b="b"/>
            <a:pathLst>
              <a:path w="139636" h="139636">
                <a:moveTo>
                  <a:pt x="69818" y="139636"/>
                </a:moveTo>
                <a:cubicBezTo>
                  <a:pt x="108352" y="139636"/>
                  <a:pt x="139636" y="108352"/>
                  <a:pt x="139636" y="69818"/>
                </a:cubicBezTo>
                <a:cubicBezTo>
                  <a:pt x="139636" y="31284"/>
                  <a:pt x="108352" y="0"/>
                  <a:pt x="69818" y="0"/>
                </a:cubicBezTo>
                <a:cubicBezTo>
                  <a:pt x="31284" y="0"/>
                  <a:pt x="0" y="31284"/>
                  <a:pt x="0" y="69818"/>
                </a:cubicBezTo>
                <a:cubicBezTo>
                  <a:pt x="0" y="108352"/>
                  <a:pt x="31284" y="139636"/>
                  <a:pt x="69818" y="139636"/>
                </a:cubicBezTo>
                <a:close/>
                <a:moveTo>
                  <a:pt x="92836" y="58009"/>
                </a:moveTo>
                <a:lnTo>
                  <a:pt x="71018" y="92918"/>
                </a:lnTo>
                <a:cubicBezTo>
                  <a:pt x="69873" y="94745"/>
                  <a:pt x="67909" y="95891"/>
                  <a:pt x="65755" y="96000"/>
                </a:cubicBezTo>
                <a:cubicBezTo>
                  <a:pt x="63600" y="96109"/>
                  <a:pt x="61527" y="95127"/>
                  <a:pt x="60245" y="93382"/>
                </a:cubicBezTo>
                <a:lnTo>
                  <a:pt x="47155" y="75927"/>
                </a:lnTo>
                <a:cubicBezTo>
                  <a:pt x="44973" y="73036"/>
                  <a:pt x="45573" y="68945"/>
                  <a:pt x="48464" y="66764"/>
                </a:cubicBezTo>
                <a:cubicBezTo>
                  <a:pt x="51355" y="64582"/>
                  <a:pt x="55445" y="65182"/>
                  <a:pt x="57627" y="68073"/>
                </a:cubicBezTo>
                <a:lnTo>
                  <a:pt x="64991" y="77891"/>
                </a:lnTo>
                <a:lnTo>
                  <a:pt x="81736" y="51082"/>
                </a:lnTo>
                <a:cubicBezTo>
                  <a:pt x="83645" y="48027"/>
                  <a:pt x="87682" y="47073"/>
                  <a:pt x="90764" y="49009"/>
                </a:cubicBezTo>
                <a:cubicBezTo>
                  <a:pt x="93845" y="50945"/>
                  <a:pt x="94773" y="54955"/>
                  <a:pt x="92836" y="58036"/>
                </a:cubicBezTo>
                <a:close/>
              </a:path>
            </a:pathLst>
          </a:custGeom>
          <a:solidFill>
            <a:srgbClr val="8B0000"/>
          </a:solidFill>
          <a:ln/>
        </p:spPr>
      </p:sp>
      <p:sp>
        <p:nvSpPr>
          <p:cNvPr id="55" name="Text 53"/>
          <p:cNvSpPr/>
          <p:nvPr/>
        </p:nvSpPr>
        <p:spPr>
          <a:xfrm>
            <a:off x="8522591" y="2836364"/>
            <a:ext cx="2749091" cy="209455"/>
          </a:xfrm>
          <a:prstGeom prst="rect">
            <a:avLst/>
          </a:prstGeom>
          <a:noFill/>
          <a:ln/>
        </p:spPr>
        <p:txBody>
          <a:bodyPr wrap="square" lIns="0" tIns="0" rIns="0" bIns="0" rtlCol="0" anchor="ctr"/>
          <a:lstStyle/>
          <a:p>
            <a:pPr>
              <a:lnSpc>
                <a:spcPct val="130000"/>
              </a:lnSpc>
            </a:pPr>
            <a:r>
              <a:rPr lang="en-US" sz="1100" b="1" dirty="0">
                <a:solidFill>
                  <a:srgbClr val="1F2937"/>
                </a:solidFill>
                <a:latin typeface="Sorts Mill Goudy" pitchFamily="34" charset="0"/>
                <a:ea typeface="Sorts Mill Goudy" pitchFamily="34" charset="-122"/>
                <a:cs typeface="Sorts Mill Goudy" pitchFamily="34" charset="-120"/>
              </a:rPr>
              <a:t>Temporal modifiers</a:t>
            </a:r>
            <a:r>
              <a:rPr lang="en-US" sz="1100" dirty="0">
                <a:solidFill>
                  <a:srgbClr val="1F2937"/>
                </a:solidFill>
                <a:latin typeface="Sorts Mill Goudy" pitchFamily="34" charset="0"/>
                <a:ea typeface="Sorts Mill Goudy" pitchFamily="34" charset="-122"/>
                <a:cs typeface="Sorts Mill Goudy" pitchFamily="34" charset="-120"/>
              </a:rPr>
              <a:t> show moderate difficulty</a:t>
            </a:r>
            <a:endParaRPr lang="en-US" sz="1600" dirty="0"/>
          </a:p>
        </p:txBody>
      </p:sp>
      <p:sp>
        <p:nvSpPr>
          <p:cNvPr id="56" name="Shape 54"/>
          <p:cNvSpPr/>
          <p:nvPr/>
        </p:nvSpPr>
        <p:spPr>
          <a:xfrm>
            <a:off x="8129864" y="3333818"/>
            <a:ext cx="3717818" cy="1693091"/>
          </a:xfrm>
          <a:custGeom>
            <a:avLst/>
            <a:gdLst/>
            <a:ahLst/>
            <a:cxnLst/>
            <a:rect l="l" t="t" r="r" b="b"/>
            <a:pathLst>
              <a:path w="3717818" h="1693091">
                <a:moveTo>
                  <a:pt x="0" y="0"/>
                </a:moveTo>
                <a:lnTo>
                  <a:pt x="3717818" y="0"/>
                </a:lnTo>
                <a:lnTo>
                  <a:pt x="3717818" y="1693091"/>
                </a:lnTo>
                <a:lnTo>
                  <a:pt x="0" y="1693091"/>
                </a:lnTo>
                <a:lnTo>
                  <a:pt x="0" y="0"/>
                </a:lnTo>
                <a:close/>
              </a:path>
            </a:pathLst>
          </a:custGeom>
          <a:solidFill>
            <a:srgbClr val="8B0000"/>
          </a:solidFill>
          <a:ln/>
        </p:spPr>
      </p:sp>
      <p:sp>
        <p:nvSpPr>
          <p:cNvPr id="57" name="Text 55"/>
          <p:cNvSpPr/>
          <p:nvPr/>
        </p:nvSpPr>
        <p:spPr>
          <a:xfrm>
            <a:off x="8269500" y="3473455"/>
            <a:ext cx="3508364" cy="209455"/>
          </a:xfrm>
          <a:prstGeom prst="rect">
            <a:avLst/>
          </a:prstGeom>
          <a:noFill/>
          <a:ln/>
        </p:spPr>
        <p:txBody>
          <a:bodyPr wrap="square" lIns="0" tIns="0" rIns="0" bIns="0" rtlCol="0" anchor="ctr"/>
          <a:lstStyle/>
          <a:p>
            <a:pPr>
              <a:lnSpc>
                <a:spcPct val="130000"/>
              </a:lnSpc>
            </a:pPr>
            <a:r>
              <a:rPr lang="en-US" sz="1100" b="1" dirty="0">
                <a:solidFill>
                  <a:srgbClr val="FFFFFF"/>
                </a:solidFill>
                <a:latin typeface="Sorts Mill Goudy" pitchFamily="34" charset="0"/>
                <a:ea typeface="Sorts Mill Goudy" pitchFamily="34" charset="-122"/>
                <a:cs typeface="Sorts Mill Goudy" pitchFamily="34" charset="-120"/>
              </a:rPr>
              <a:t>Error Patterns</a:t>
            </a:r>
            <a:endParaRPr lang="en-US" sz="1600" dirty="0"/>
          </a:p>
        </p:txBody>
      </p:sp>
      <p:sp>
        <p:nvSpPr>
          <p:cNvPr id="58" name="Text 56"/>
          <p:cNvSpPr/>
          <p:nvPr/>
        </p:nvSpPr>
        <p:spPr>
          <a:xfrm>
            <a:off x="8269500" y="3752727"/>
            <a:ext cx="3508364" cy="1134545"/>
          </a:xfrm>
          <a:prstGeom prst="rect">
            <a:avLst/>
          </a:prstGeom>
          <a:noFill/>
          <a:ln/>
        </p:spPr>
        <p:txBody>
          <a:bodyPr wrap="square" lIns="0" tIns="0" rIns="0" bIns="0" rtlCol="0" anchor="ctr"/>
          <a:lstStyle/>
          <a:p>
            <a:pPr>
              <a:lnSpc>
                <a:spcPct val="140000"/>
              </a:lnSpc>
            </a:pPr>
            <a:r>
              <a:rPr lang="en-US" sz="1100" dirty="0">
                <a:solidFill>
                  <a:srgbClr val="FFFFFF"/>
                </a:solidFill>
                <a:latin typeface="Sorts Mill Goudy" pitchFamily="34" charset="0"/>
                <a:ea typeface="Sorts Mill Goudy" pitchFamily="34" charset="-122"/>
                <a:cs typeface="Sorts Mill Goudy" pitchFamily="34" charset="-120"/>
              </a:rPr>
              <a:t>Confusion matrix reveals errors arise from </a:t>
            </a:r>
            <a:r>
              <a:rPr lang="en-US" sz="1100" b="1" dirty="0">
                <a:solidFill>
                  <a:srgbClr val="FFFFFF"/>
                </a:solidFill>
                <a:latin typeface="Sorts Mill Goudy" pitchFamily="34" charset="0"/>
                <a:ea typeface="Sorts Mill Goudy" pitchFamily="34" charset="-122"/>
                <a:cs typeface="Sorts Mill Goudy" pitchFamily="34" charset="-120"/>
              </a:rPr>
              <a:t>semantically neighboring categories</a:t>
            </a:r>
            <a:r>
              <a:rPr lang="en-US" sz="1100" dirty="0">
                <a:solidFill>
                  <a:srgbClr val="FFFFFF"/>
                </a:solidFill>
                <a:latin typeface="Sorts Mill Goudy" pitchFamily="34" charset="0"/>
                <a:ea typeface="Sorts Mill Goudy" pitchFamily="34" charset="-122"/>
                <a:cs typeface="Sorts Mill Goudy" pitchFamily="34" charset="-120"/>
              </a:rPr>
              <a:t> and </a:t>
            </a:r>
            <a:r>
              <a:rPr lang="en-US" sz="1100" b="1" dirty="0">
                <a:solidFill>
                  <a:srgbClr val="FFFFFF"/>
                </a:solidFill>
                <a:latin typeface="Sorts Mill Goudy" pitchFamily="34" charset="0"/>
                <a:ea typeface="Sorts Mill Goudy" pitchFamily="34" charset="-122"/>
                <a:cs typeface="Sorts Mill Goudy" pitchFamily="34" charset="-120"/>
              </a:rPr>
              <a:t>boundary uncertainty</a:t>
            </a:r>
            <a:r>
              <a:rPr lang="en-US" sz="1100" dirty="0">
                <a:solidFill>
                  <a:srgbClr val="FFFFFF"/>
                </a:solidFill>
                <a:latin typeface="Sorts Mill Goudy" pitchFamily="34" charset="0"/>
                <a:ea typeface="Sorts Mill Goudy" pitchFamily="34" charset="-122"/>
                <a:cs typeface="Sorts Mill Goudy" pitchFamily="34" charset="-120"/>
              </a:rPr>
              <a:t> rather than complete role collapse. The contextual encoder captures a useful event scaffold even when labels are slightly misassigned.</a:t>
            </a:r>
            <a:endParaRPr lang="en-US" sz="1600" dirty="0"/>
          </a:p>
        </p:txBody>
      </p:sp>
      <p:sp>
        <p:nvSpPr>
          <p:cNvPr id="59" name="Shape 57"/>
          <p:cNvSpPr/>
          <p:nvPr/>
        </p:nvSpPr>
        <p:spPr>
          <a:xfrm>
            <a:off x="8134227" y="5170909"/>
            <a:ext cx="3709091" cy="1474909"/>
          </a:xfrm>
          <a:custGeom>
            <a:avLst/>
            <a:gdLst/>
            <a:ahLst/>
            <a:cxnLst/>
            <a:rect l="l" t="t" r="r" b="b"/>
            <a:pathLst>
              <a:path w="3709091" h="1474909">
                <a:moveTo>
                  <a:pt x="0" y="0"/>
                </a:moveTo>
                <a:lnTo>
                  <a:pt x="3709091" y="0"/>
                </a:lnTo>
                <a:lnTo>
                  <a:pt x="3709091" y="1474909"/>
                </a:lnTo>
                <a:lnTo>
                  <a:pt x="0" y="1474909"/>
                </a:lnTo>
                <a:lnTo>
                  <a:pt x="0" y="0"/>
                </a:lnTo>
                <a:close/>
              </a:path>
            </a:pathLst>
          </a:custGeom>
          <a:solidFill>
            <a:srgbClr val="000000">
              <a:alpha val="0"/>
            </a:srgbClr>
          </a:solidFill>
          <a:ln w="12700">
            <a:solidFill>
              <a:srgbClr val="E5E7EB"/>
            </a:solidFill>
            <a:prstDash val="solid"/>
          </a:ln>
        </p:spPr>
      </p:sp>
      <p:sp>
        <p:nvSpPr>
          <p:cNvPr id="60" name="Text 58"/>
          <p:cNvSpPr/>
          <p:nvPr/>
        </p:nvSpPr>
        <p:spPr>
          <a:xfrm>
            <a:off x="8278227" y="5314909"/>
            <a:ext cx="3490909" cy="209455"/>
          </a:xfrm>
          <a:prstGeom prst="rect">
            <a:avLst/>
          </a:prstGeom>
          <a:noFill/>
          <a:ln/>
        </p:spPr>
        <p:txBody>
          <a:bodyPr wrap="square" lIns="0" tIns="0" rIns="0" bIns="0" rtlCol="0" anchor="ctr"/>
          <a:lstStyle/>
          <a:p>
            <a:pPr>
              <a:lnSpc>
                <a:spcPct val="130000"/>
              </a:lnSpc>
            </a:pPr>
            <a:r>
              <a:rPr lang="en-US" sz="1100" b="1" dirty="0">
                <a:solidFill>
                  <a:srgbClr val="1F2937"/>
                </a:solidFill>
                <a:latin typeface="Sorts Mill Goudy" pitchFamily="34" charset="0"/>
                <a:ea typeface="Sorts Mill Goudy" pitchFamily="34" charset="-122"/>
                <a:cs typeface="Sorts Mill Goudy" pitchFamily="34" charset="-120"/>
              </a:rPr>
              <a:t>Macro vs Micro F1 Gap</a:t>
            </a:r>
            <a:endParaRPr lang="en-US" sz="1600" dirty="0"/>
          </a:p>
        </p:txBody>
      </p:sp>
      <p:sp>
        <p:nvSpPr>
          <p:cNvPr id="61" name="Text 59"/>
          <p:cNvSpPr/>
          <p:nvPr/>
        </p:nvSpPr>
        <p:spPr>
          <a:xfrm>
            <a:off x="8278227" y="5594182"/>
            <a:ext cx="3490909" cy="907636"/>
          </a:xfrm>
          <a:prstGeom prst="rect">
            <a:avLst/>
          </a:prstGeom>
          <a:noFill/>
          <a:ln/>
        </p:spPr>
        <p:txBody>
          <a:bodyPr wrap="square" lIns="0" tIns="0" rIns="0" bIns="0" rtlCol="0" anchor="ctr"/>
          <a:lstStyle/>
          <a:p>
            <a:pPr>
              <a:lnSpc>
                <a:spcPct val="140000"/>
              </a:lnSpc>
            </a:pPr>
            <a:r>
              <a:rPr lang="en-US" sz="1100" dirty="0">
                <a:solidFill>
                  <a:srgbClr val="1F2937"/>
                </a:solidFill>
                <a:latin typeface="Sorts Mill Goudy" pitchFamily="34" charset="0"/>
                <a:ea typeface="Sorts Mill Goudy" pitchFamily="34" charset="-122"/>
                <a:cs typeface="Sorts Mill Goudy" pitchFamily="34" charset="-120"/>
              </a:rPr>
              <a:t>The large gap (0.162 vs 0.713) reflects </a:t>
            </a:r>
            <a:r>
              <a:rPr lang="en-US" sz="1100" b="1" dirty="0">
                <a:solidFill>
                  <a:srgbClr val="1F2937"/>
                </a:solidFill>
                <a:latin typeface="Sorts Mill Goudy" pitchFamily="34" charset="0"/>
                <a:ea typeface="Sorts Mill Goudy" pitchFamily="34" charset="-122"/>
                <a:cs typeface="Sorts Mill Goudy" pitchFamily="34" charset="-120"/>
              </a:rPr>
              <a:t>role frequency imbalance</a:t>
            </a:r>
            <a:r>
              <a:rPr lang="en-US" sz="1100" dirty="0">
                <a:solidFill>
                  <a:srgbClr val="1F2937"/>
                </a:solidFill>
                <a:latin typeface="Sorts Mill Goudy" pitchFamily="34" charset="0"/>
                <a:ea typeface="Sorts Mill Goudy" pitchFamily="34" charset="-122"/>
                <a:cs typeface="Sorts Mill Goudy" pitchFamily="34" charset="-120"/>
              </a:rPr>
              <a:t>. Rare roles form a long tail that drags down macro-averaged metrics while micro F1 is dominated by frequent labels.</a:t>
            </a:r>
            <a:endParaRPr lang="en-US" sz="1600" dirty="0"/>
          </a:p>
        </p:txBody>
      </p:sp>
    </p:spTree>
    <p:extLst>
      <p:ext uri="{BB962C8B-B14F-4D97-AF65-F5344CB8AC3E}">
        <p14:creationId xmlns:p14="http://schemas.microsoft.com/office/powerpoint/2010/main" val="2763808717"/>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25772" y="325772"/>
            <a:ext cx="309483" cy="260617"/>
          </a:xfrm>
          <a:prstGeom prst="rect">
            <a:avLst/>
          </a:prstGeom>
          <a:noFill/>
          <a:ln/>
        </p:spPr>
        <p:txBody>
          <a:bodyPr wrap="square" lIns="0" tIns="0" rIns="0" bIns="0" rtlCol="0" anchor="ctr"/>
          <a:lstStyle/>
          <a:p>
            <a:pPr>
              <a:lnSpc>
                <a:spcPct val="110000"/>
              </a:lnSpc>
            </a:pPr>
            <a:r>
              <a:rPr lang="en-US" sz="1539" b="1" dirty="0">
                <a:solidFill>
                  <a:srgbClr val="8B0000"/>
                </a:solidFill>
                <a:latin typeface="Sorts Mill Goudy" pitchFamily="34" charset="0"/>
                <a:ea typeface="Sorts Mill Goudy" pitchFamily="34" charset="-122"/>
                <a:cs typeface="Sorts Mill Goudy" pitchFamily="34" charset="-120"/>
              </a:rPr>
              <a:t>5.2</a:t>
            </a:r>
            <a:endParaRPr lang="en-US" sz="1600" dirty="0"/>
          </a:p>
        </p:txBody>
      </p:sp>
      <p:sp>
        <p:nvSpPr>
          <p:cNvPr id="3" name="Text 1"/>
          <p:cNvSpPr/>
          <p:nvPr/>
        </p:nvSpPr>
        <p:spPr>
          <a:xfrm>
            <a:off x="631182" y="374637"/>
            <a:ext cx="667832" cy="162886"/>
          </a:xfrm>
          <a:prstGeom prst="rect">
            <a:avLst/>
          </a:prstGeom>
          <a:noFill/>
          <a:ln/>
        </p:spPr>
        <p:txBody>
          <a:bodyPr wrap="square" lIns="0" tIns="0" rIns="0" bIns="0" rtlCol="0" anchor="ctr"/>
          <a:lstStyle/>
          <a:p>
            <a:pPr>
              <a:lnSpc>
                <a:spcPct val="120000"/>
              </a:lnSpc>
            </a:pPr>
            <a:r>
              <a:rPr lang="en-US" sz="898" b="1" kern="0" spc="90" dirty="0">
                <a:solidFill>
                  <a:srgbClr val="8B0000"/>
                </a:solidFill>
                <a:latin typeface="Sorts Mill Goudy" pitchFamily="34" charset="0"/>
                <a:ea typeface="Sorts Mill Goudy" pitchFamily="34" charset="-122"/>
                <a:cs typeface="Sorts Mill Goudy" pitchFamily="34" charset="-120"/>
              </a:rPr>
              <a:t>Results</a:t>
            </a:r>
            <a:endParaRPr lang="en-US" sz="1600" dirty="0"/>
          </a:p>
        </p:txBody>
      </p:sp>
      <p:sp>
        <p:nvSpPr>
          <p:cNvPr id="4" name="Text 2"/>
          <p:cNvSpPr/>
          <p:nvPr/>
        </p:nvSpPr>
        <p:spPr>
          <a:xfrm>
            <a:off x="325772" y="651543"/>
            <a:ext cx="11687054" cy="325772"/>
          </a:xfrm>
          <a:prstGeom prst="rect">
            <a:avLst/>
          </a:prstGeom>
          <a:noFill/>
          <a:ln/>
        </p:spPr>
        <p:txBody>
          <a:bodyPr wrap="square" lIns="0" tIns="0" rIns="0" bIns="0" rtlCol="0" anchor="ctr"/>
          <a:lstStyle/>
          <a:p>
            <a:pPr>
              <a:lnSpc>
                <a:spcPct val="90000"/>
              </a:lnSpc>
            </a:pPr>
            <a:r>
              <a:rPr lang="en-US" sz="2309" b="1" dirty="0">
                <a:solidFill>
                  <a:srgbClr val="1F2937"/>
                </a:solidFill>
                <a:latin typeface="Sorts Mill Goudy" pitchFamily="34" charset="0"/>
                <a:ea typeface="Sorts Mill Goudy" pitchFamily="34" charset="-122"/>
                <a:cs typeface="Sorts Mill Goudy" pitchFamily="34" charset="-120"/>
              </a:rPr>
              <a:t>QA Performance Results</a:t>
            </a:r>
            <a:endParaRPr lang="en-US" sz="1600" dirty="0"/>
          </a:p>
        </p:txBody>
      </p:sp>
      <p:sp>
        <p:nvSpPr>
          <p:cNvPr id="5" name="Shape 3"/>
          <p:cNvSpPr/>
          <p:nvPr/>
        </p:nvSpPr>
        <p:spPr>
          <a:xfrm>
            <a:off x="333916" y="1148345"/>
            <a:ext cx="6841202" cy="2622461"/>
          </a:xfrm>
          <a:custGeom>
            <a:avLst/>
            <a:gdLst/>
            <a:ahLst/>
            <a:cxnLst/>
            <a:rect l="l" t="t" r="r" b="b"/>
            <a:pathLst>
              <a:path w="6841202" h="2622461">
                <a:moveTo>
                  <a:pt x="0" y="0"/>
                </a:moveTo>
                <a:lnTo>
                  <a:pt x="6841202" y="0"/>
                </a:lnTo>
                <a:lnTo>
                  <a:pt x="6841202" y="2622461"/>
                </a:lnTo>
                <a:lnTo>
                  <a:pt x="0" y="2622461"/>
                </a:lnTo>
                <a:lnTo>
                  <a:pt x="0" y="0"/>
                </a:lnTo>
                <a:close/>
              </a:path>
            </a:pathLst>
          </a:custGeom>
          <a:solidFill>
            <a:srgbClr val="000000">
              <a:alpha val="0"/>
            </a:srgbClr>
          </a:solidFill>
          <a:ln w="25400">
            <a:solidFill>
              <a:srgbClr val="8B0000"/>
            </a:solidFill>
            <a:prstDash val="solid"/>
          </a:ln>
        </p:spPr>
      </p:sp>
      <p:sp>
        <p:nvSpPr>
          <p:cNvPr id="6" name="Text 4"/>
          <p:cNvSpPr/>
          <p:nvPr/>
        </p:nvSpPr>
        <p:spPr>
          <a:xfrm>
            <a:off x="504946" y="1319375"/>
            <a:ext cx="6580585" cy="228040"/>
          </a:xfrm>
          <a:prstGeom prst="rect">
            <a:avLst/>
          </a:prstGeom>
          <a:noFill/>
          <a:ln/>
        </p:spPr>
        <p:txBody>
          <a:bodyPr wrap="square" lIns="0" tIns="0" rIns="0" bIns="0" rtlCol="0" anchor="ctr"/>
          <a:lstStyle/>
          <a:p>
            <a:pPr>
              <a:lnSpc>
                <a:spcPct val="120000"/>
              </a:lnSpc>
            </a:pPr>
            <a:r>
              <a:rPr lang="en-US" sz="1283" b="1" dirty="0">
                <a:solidFill>
                  <a:srgbClr val="1F2937"/>
                </a:solidFill>
                <a:latin typeface="Sorts Mill Goudy" pitchFamily="34" charset="0"/>
                <a:ea typeface="Sorts Mill Goudy" pitchFamily="34" charset="-122"/>
                <a:cs typeface="Sorts Mill Goudy" pitchFamily="34" charset="-120"/>
              </a:rPr>
              <a:t>Overall QA Metrics</a:t>
            </a:r>
            <a:endParaRPr lang="en-US" sz="1600" dirty="0"/>
          </a:p>
        </p:txBody>
      </p:sp>
      <p:sp>
        <p:nvSpPr>
          <p:cNvPr id="7" name="Shape 5"/>
          <p:cNvSpPr/>
          <p:nvPr/>
        </p:nvSpPr>
        <p:spPr>
          <a:xfrm>
            <a:off x="504946" y="1677723"/>
            <a:ext cx="3184417" cy="1205355"/>
          </a:xfrm>
          <a:custGeom>
            <a:avLst/>
            <a:gdLst/>
            <a:ahLst/>
            <a:cxnLst/>
            <a:rect l="l" t="t" r="r" b="b"/>
            <a:pathLst>
              <a:path w="3184417" h="1205355">
                <a:moveTo>
                  <a:pt x="0" y="0"/>
                </a:moveTo>
                <a:lnTo>
                  <a:pt x="3184417" y="0"/>
                </a:lnTo>
                <a:lnTo>
                  <a:pt x="3184417" y="1205355"/>
                </a:lnTo>
                <a:lnTo>
                  <a:pt x="0" y="1205355"/>
                </a:lnTo>
                <a:lnTo>
                  <a:pt x="0" y="0"/>
                </a:lnTo>
                <a:close/>
              </a:path>
            </a:pathLst>
          </a:custGeom>
          <a:solidFill>
            <a:srgbClr val="F9FAFB"/>
          </a:solidFill>
          <a:ln/>
        </p:spPr>
      </p:sp>
      <p:sp>
        <p:nvSpPr>
          <p:cNvPr id="8" name="Text 6"/>
          <p:cNvSpPr/>
          <p:nvPr/>
        </p:nvSpPr>
        <p:spPr>
          <a:xfrm>
            <a:off x="635255" y="1840609"/>
            <a:ext cx="2923800" cy="195463"/>
          </a:xfrm>
          <a:prstGeom prst="rect">
            <a:avLst/>
          </a:prstGeom>
          <a:noFill/>
          <a:ln/>
        </p:spPr>
        <p:txBody>
          <a:bodyPr wrap="square" lIns="0" tIns="0" rIns="0" bIns="0" rtlCol="0" anchor="ctr"/>
          <a:lstStyle/>
          <a:p>
            <a:pPr algn="ctr">
              <a:lnSpc>
                <a:spcPct val="130000"/>
              </a:lnSpc>
            </a:pPr>
            <a:r>
              <a:rPr lang="en-US" sz="1026" dirty="0">
                <a:solidFill>
                  <a:srgbClr val="6B7280"/>
                </a:solidFill>
                <a:latin typeface="Sorts Mill Goudy" pitchFamily="34" charset="0"/>
                <a:ea typeface="Sorts Mill Goudy" pitchFamily="34" charset="-122"/>
                <a:cs typeface="Sorts Mill Goudy" pitchFamily="34" charset="-120"/>
              </a:rPr>
              <a:t>Exact Match (EM)</a:t>
            </a:r>
            <a:endParaRPr lang="en-US" sz="1600" dirty="0"/>
          </a:p>
        </p:txBody>
      </p:sp>
      <p:sp>
        <p:nvSpPr>
          <p:cNvPr id="9" name="Text 7"/>
          <p:cNvSpPr/>
          <p:nvPr/>
        </p:nvSpPr>
        <p:spPr>
          <a:xfrm>
            <a:off x="570100" y="2101226"/>
            <a:ext cx="3054108" cy="390926"/>
          </a:xfrm>
          <a:prstGeom prst="rect">
            <a:avLst/>
          </a:prstGeom>
          <a:noFill/>
          <a:ln/>
        </p:spPr>
        <p:txBody>
          <a:bodyPr wrap="square" lIns="0" tIns="0" rIns="0" bIns="0" rtlCol="0" anchor="ctr"/>
          <a:lstStyle/>
          <a:p>
            <a:pPr algn="ctr">
              <a:lnSpc>
                <a:spcPct val="80000"/>
              </a:lnSpc>
            </a:pPr>
            <a:r>
              <a:rPr lang="en-US" sz="3078" b="1" dirty="0">
                <a:solidFill>
                  <a:srgbClr val="8B0000"/>
                </a:solidFill>
                <a:latin typeface="Sorts Mill Goudy" pitchFamily="34" charset="0"/>
                <a:ea typeface="Sorts Mill Goudy" pitchFamily="34" charset="-122"/>
                <a:cs typeface="Sorts Mill Goudy" pitchFamily="34" charset="-120"/>
              </a:rPr>
              <a:t>0.518</a:t>
            </a:r>
            <a:endParaRPr lang="en-US" sz="1600" dirty="0"/>
          </a:p>
        </p:txBody>
      </p:sp>
      <p:sp>
        <p:nvSpPr>
          <p:cNvPr id="10" name="Text 8"/>
          <p:cNvSpPr/>
          <p:nvPr/>
        </p:nvSpPr>
        <p:spPr>
          <a:xfrm>
            <a:off x="639327" y="2557307"/>
            <a:ext cx="2915655" cy="162886"/>
          </a:xfrm>
          <a:prstGeom prst="rect">
            <a:avLst/>
          </a:prstGeom>
          <a:noFill/>
          <a:ln/>
        </p:spPr>
        <p:txBody>
          <a:bodyPr wrap="square" lIns="0" tIns="0" rIns="0" bIns="0" rtlCol="0" anchor="ctr"/>
          <a:lstStyle/>
          <a:p>
            <a:pPr algn="ctr">
              <a:lnSpc>
                <a:spcPct val="120000"/>
              </a:lnSpc>
            </a:pPr>
            <a:r>
              <a:rPr lang="en-US" sz="898" dirty="0">
                <a:solidFill>
                  <a:srgbClr val="6B7280"/>
                </a:solidFill>
                <a:latin typeface="Sorts Mill Goudy" pitchFamily="34" charset="0"/>
                <a:ea typeface="Sorts Mill Goudy" pitchFamily="34" charset="-122"/>
                <a:cs typeface="Sorts Mill Goudy" pitchFamily="34" charset="-120"/>
              </a:rPr>
              <a:t>51.8% perfect matches</a:t>
            </a:r>
            <a:endParaRPr lang="en-US" sz="1600" dirty="0"/>
          </a:p>
        </p:txBody>
      </p:sp>
      <p:sp>
        <p:nvSpPr>
          <p:cNvPr id="11" name="Shape 9"/>
          <p:cNvSpPr/>
          <p:nvPr/>
        </p:nvSpPr>
        <p:spPr>
          <a:xfrm>
            <a:off x="3820180" y="1677723"/>
            <a:ext cx="3184417" cy="1205355"/>
          </a:xfrm>
          <a:custGeom>
            <a:avLst/>
            <a:gdLst/>
            <a:ahLst/>
            <a:cxnLst/>
            <a:rect l="l" t="t" r="r" b="b"/>
            <a:pathLst>
              <a:path w="3184417" h="1205355">
                <a:moveTo>
                  <a:pt x="0" y="0"/>
                </a:moveTo>
                <a:lnTo>
                  <a:pt x="3184417" y="0"/>
                </a:lnTo>
                <a:lnTo>
                  <a:pt x="3184417" y="1205355"/>
                </a:lnTo>
                <a:lnTo>
                  <a:pt x="0" y="1205355"/>
                </a:lnTo>
                <a:lnTo>
                  <a:pt x="0" y="0"/>
                </a:lnTo>
                <a:close/>
              </a:path>
            </a:pathLst>
          </a:custGeom>
          <a:solidFill>
            <a:srgbClr val="8B0000"/>
          </a:solidFill>
          <a:ln/>
        </p:spPr>
      </p:sp>
      <p:sp>
        <p:nvSpPr>
          <p:cNvPr id="12" name="Text 10"/>
          <p:cNvSpPr/>
          <p:nvPr/>
        </p:nvSpPr>
        <p:spPr>
          <a:xfrm>
            <a:off x="3950489" y="1840609"/>
            <a:ext cx="2923800" cy="195463"/>
          </a:xfrm>
          <a:prstGeom prst="rect">
            <a:avLst/>
          </a:prstGeom>
          <a:noFill/>
          <a:ln/>
        </p:spPr>
        <p:txBody>
          <a:bodyPr wrap="square" lIns="0" tIns="0" rIns="0" bIns="0" rtlCol="0" anchor="ctr"/>
          <a:lstStyle/>
          <a:p>
            <a:pPr algn="ctr">
              <a:lnSpc>
                <a:spcPct val="130000"/>
              </a:lnSpc>
            </a:pPr>
            <a:r>
              <a:rPr lang="en-US" sz="1026" dirty="0">
                <a:solidFill>
                  <a:srgbClr val="FFFFFF"/>
                </a:solidFill>
                <a:latin typeface="Sorts Mill Goudy" pitchFamily="34" charset="0"/>
                <a:ea typeface="Sorts Mill Goudy" pitchFamily="34" charset="-122"/>
                <a:cs typeface="Sorts Mill Goudy" pitchFamily="34" charset="-120"/>
              </a:rPr>
              <a:t>Token F1</a:t>
            </a:r>
            <a:endParaRPr lang="en-US" sz="1600" dirty="0"/>
          </a:p>
        </p:txBody>
      </p:sp>
      <p:sp>
        <p:nvSpPr>
          <p:cNvPr id="13" name="Text 11"/>
          <p:cNvSpPr/>
          <p:nvPr/>
        </p:nvSpPr>
        <p:spPr>
          <a:xfrm>
            <a:off x="3885335" y="2101226"/>
            <a:ext cx="3054108" cy="390926"/>
          </a:xfrm>
          <a:prstGeom prst="rect">
            <a:avLst/>
          </a:prstGeom>
          <a:noFill/>
          <a:ln/>
        </p:spPr>
        <p:txBody>
          <a:bodyPr wrap="square" lIns="0" tIns="0" rIns="0" bIns="0" rtlCol="0" anchor="ctr"/>
          <a:lstStyle/>
          <a:p>
            <a:pPr algn="ctr">
              <a:lnSpc>
                <a:spcPct val="80000"/>
              </a:lnSpc>
            </a:pPr>
            <a:r>
              <a:rPr lang="en-US" sz="3078" b="1" dirty="0">
                <a:solidFill>
                  <a:srgbClr val="FFFFFF"/>
                </a:solidFill>
                <a:latin typeface="Sorts Mill Goudy" pitchFamily="34" charset="0"/>
                <a:ea typeface="Sorts Mill Goudy" pitchFamily="34" charset="-122"/>
                <a:cs typeface="Sorts Mill Goudy" pitchFamily="34" charset="-120"/>
              </a:rPr>
              <a:t>0.761</a:t>
            </a:r>
            <a:endParaRPr lang="en-US" sz="1600" dirty="0"/>
          </a:p>
        </p:txBody>
      </p:sp>
      <p:sp>
        <p:nvSpPr>
          <p:cNvPr id="14" name="Text 12"/>
          <p:cNvSpPr/>
          <p:nvPr/>
        </p:nvSpPr>
        <p:spPr>
          <a:xfrm>
            <a:off x="3954561" y="2557307"/>
            <a:ext cx="2915655" cy="162886"/>
          </a:xfrm>
          <a:prstGeom prst="rect">
            <a:avLst/>
          </a:prstGeom>
          <a:noFill/>
          <a:ln/>
        </p:spPr>
        <p:txBody>
          <a:bodyPr wrap="square" lIns="0" tIns="0" rIns="0" bIns="0" rtlCol="0" anchor="ctr"/>
          <a:lstStyle/>
          <a:p>
            <a:pPr algn="ctr">
              <a:lnSpc>
                <a:spcPct val="120000"/>
              </a:lnSpc>
            </a:pPr>
            <a:r>
              <a:rPr lang="en-US" sz="898" dirty="0">
                <a:solidFill>
                  <a:srgbClr val="FFFFFF"/>
                </a:solidFill>
                <a:latin typeface="Sorts Mill Goudy" pitchFamily="34" charset="0"/>
                <a:ea typeface="Sorts Mill Goudy" pitchFamily="34" charset="-122"/>
                <a:cs typeface="Sorts Mill Goudy" pitchFamily="34" charset="-120"/>
              </a:rPr>
              <a:t>Overlap-based score</a:t>
            </a:r>
            <a:endParaRPr lang="en-US" sz="1600" dirty="0"/>
          </a:p>
        </p:txBody>
      </p:sp>
      <p:sp>
        <p:nvSpPr>
          <p:cNvPr id="15" name="Shape 13"/>
          <p:cNvSpPr/>
          <p:nvPr/>
        </p:nvSpPr>
        <p:spPr>
          <a:xfrm>
            <a:off x="504946" y="3013387"/>
            <a:ext cx="3184417" cy="586389"/>
          </a:xfrm>
          <a:custGeom>
            <a:avLst/>
            <a:gdLst/>
            <a:ahLst/>
            <a:cxnLst/>
            <a:rect l="l" t="t" r="r" b="b"/>
            <a:pathLst>
              <a:path w="3184417" h="586389">
                <a:moveTo>
                  <a:pt x="0" y="0"/>
                </a:moveTo>
                <a:lnTo>
                  <a:pt x="3184417" y="0"/>
                </a:lnTo>
                <a:lnTo>
                  <a:pt x="3184417" y="586389"/>
                </a:lnTo>
                <a:lnTo>
                  <a:pt x="0" y="586389"/>
                </a:lnTo>
                <a:lnTo>
                  <a:pt x="0" y="0"/>
                </a:lnTo>
                <a:close/>
              </a:path>
            </a:pathLst>
          </a:custGeom>
          <a:solidFill>
            <a:srgbClr val="F3F4F6"/>
          </a:solidFill>
          <a:ln/>
        </p:spPr>
      </p:sp>
      <p:sp>
        <p:nvSpPr>
          <p:cNvPr id="16" name="Text 14"/>
          <p:cNvSpPr/>
          <p:nvPr/>
        </p:nvSpPr>
        <p:spPr>
          <a:xfrm>
            <a:off x="574172" y="3111118"/>
            <a:ext cx="3045964" cy="162886"/>
          </a:xfrm>
          <a:prstGeom prst="rect">
            <a:avLst/>
          </a:prstGeom>
          <a:noFill/>
          <a:ln/>
        </p:spPr>
        <p:txBody>
          <a:bodyPr wrap="square" lIns="0" tIns="0" rIns="0" bIns="0" rtlCol="0" anchor="ctr"/>
          <a:lstStyle/>
          <a:p>
            <a:pPr algn="ctr">
              <a:lnSpc>
                <a:spcPct val="120000"/>
              </a:lnSpc>
            </a:pPr>
            <a:r>
              <a:rPr lang="en-US" sz="898" dirty="0">
                <a:solidFill>
                  <a:srgbClr val="6B7280"/>
                </a:solidFill>
                <a:latin typeface="Sorts Mill Goudy" pitchFamily="34" charset="0"/>
                <a:ea typeface="Sorts Mill Goudy" pitchFamily="34" charset="-122"/>
                <a:cs typeface="Sorts Mill Goudy" pitchFamily="34" charset="-120"/>
              </a:rPr>
              <a:t>Mean Length Deviation</a:t>
            </a:r>
            <a:endParaRPr lang="en-US" sz="1600" dirty="0"/>
          </a:p>
        </p:txBody>
      </p:sp>
      <p:sp>
        <p:nvSpPr>
          <p:cNvPr id="17" name="Text 15"/>
          <p:cNvSpPr/>
          <p:nvPr/>
        </p:nvSpPr>
        <p:spPr>
          <a:xfrm>
            <a:off x="561956" y="3274004"/>
            <a:ext cx="3070397" cy="228040"/>
          </a:xfrm>
          <a:prstGeom prst="rect">
            <a:avLst/>
          </a:prstGeom>
          <a:noFill/>
          <a:ln/>
        </p:spPr>
        <p:txBody>
          <a:bodyPr wrap="square" lIns="0" tIns="0" rIns="0" bIns="0" rtlCol="0" anchor="ctr"/>
          <a:lstStyle/>
          <a:p>
            <a:pPr algn="ctr">
              <a:lnSpc>
                <a:spcPct val="120000"/>
              </a:lnSpc>
            </a:pPr>
            <a:r>
              <a:rPr lang="en-US" sz="1283" b="1" dirty="0">
                <a:solidFill>
                  <a:srgbClr val="1F2937"/>
                </a:solidFill>
                <a:latin typeface="Sorts Mill Goudy" pitchFamily="34" charset="0"/>
                <a:ea typeface="Sorts Mill Goudy" pitchFamily="34" charset="-122"/>
                <a:cs typeface="Sorts Mill Goudy" pitchFamily="34" charset="-120"/>
              </a:rPr>
              <a:t>-1.009</a:t>
            </a:r>
            <a:endParaRPr lang="en-US" sz="1600" dirty="0"/>
          </a:p>
        </p:txBody>
      </p:sp>
      <p:sp>
        <p:nvSpPr>
          <p:cNvPr id="18" name="Shape 16"/>
          <p:cNvSpPr/>
          <p:nvPr/>
        </p:nvSpPr>
        <p:spPr>
          <a:xfrm>
            <a:off x="3820180" y="3013387"/>
            <a:ext cx="3184417" cy="586389"/>
          </a:xfrm>
          <a:custGeom>
            <a:avLst/>
            <a:gdLst/>
            <a:ahLst/>
            <a:cxnLst/>
            <a:rect l="l" t="t" r="r" b="b"/>
            <a:pathLst>
              <a:path w="3184417" h="586389">
                <a:moveTo>
                  <a:pt x="0" y="0"/>
                </a:moveTo>
                <a:lnTo>
                  <a:pt x="3184417" y="0"/>
                </a:lnTo>
                <a:lnTo>
                  <a:pt x="3184417" y="586389"/>
                </a:lnTo>
                <a:lnTo>
                  <a:pt x="0" y="586389"/>
                </a:lnTo>
                <a:lnTo>
                  <a:pt x="0" y="0"/>
                </a:lnTo>
                <a:close/>
              </a:path>
            </a:pathLst>
          </a:custGeom>
          <a:solidFill>
            <a:srgbClr val="F3F4F6"/>
          </a:solidFill>
          <a:ln/>
        </p:spPr>
      </p:sp>
      <p:sp>
        <p:nvSpPr>
          <p:cNvPr id="19" name="Text 17"/>
          <p:cNvSpPr/>
          <p:nvPr/>
        </p:nvSpPr>
        <p:spPr>
          <a:xfrm>
            <a:off x="3889407" y="3111118"/>
            <a:ext cx="3045964" cy="162886"/>
          </a:xfrm>
          <a:prstGeom prst="rect">
            <a:avLst/>
          </a:prstGeom>
          <a:noFill/>
          <a:ln/>
        </p:spPr>
        <p:txBody>
          <a:bodyPr wrap="square" lIns="0" tIns="0" rIns="0" bIns="0" rtlCol="0" anchor="ctr"/>
          <a:lstStyle/>
          <a:p>
            <a:pPr algn="ctr">
              <a:lnSpc>
                <a:spcPct val="120000"/>
              </a:lnSpc>
            </a:pPr>
            <a:r>
              <a:rPr lang="en-US" sz="898" dirty="0">
                <a:solidFill>
                  <a:srgbClr val="6B7280"/>
                </a:solidFill>
                <a:latin typeface="Sorts Mill Goudy" pitchFamily="34" charset="0"/>
                <a:ea typeface="Sorts Mill Goudy" pitchFamily="34" charset="-122"/>
                <a:cs typeface="Sorts Mill Goudy" pitchFamily="34" charset="-120"/>
              </a:rPr>
              <a:t>Mean Abs Deviation</a:t>
            </a:r>
            <a:endParaRPr lang="en-US" sz="1600" dirty="0"/>
          </a:p>
        </p:txBody>
      </p:sp>
      <p:sp>
        <p:nvSpPr>
          <p:cNvPr id="20" name="Text 18"/>
          <p:cNvSpPr/>
          <p:nvPr/>
        </p:nvSpPr>
        <p:spPr>
          <a:xfrm>
            <a:off x="3877190" y="3274004"/>
            <a:ext cx="3070397" cy="228040"/>
          </a:xfrm>
          <a:prstGeom prst="rect">
            <a:avLst/>
          </a:prstGeom>
          <a:noFill/>
          <a:ln/>
        </p:spPr>
        <p:txBody>
          <a:bodyPr wrap="square" lIns="0" tIns="0" rIns="0" bIns="0" rtlCol="0" anchor="ctr"/>
          <a:lstStyle/>
          <a:p>
            <a:pPr algn="ctr">
              <a:lnSpc>
                <a:spcPct val="120000"/>
              </a:lnSpc>
            </a:pPr>
            <a:r>
              <a:rPr lang="en-US" sz="1283" b="1" dirty="0">
                <a:solidFill>
                  <a:srgbClr val="1F2937"/>
                </a:solidFill>
                <a:latin typeface="Sorts Mill Goudy" pitchFamily="34" charset="0"/>
                <a:ea typeface="Sorts Mill Goudy" pitchFamily="34" charset="-122"/>
                <a:cs typeface="Sorts Mill Goudy" pitchFamily="34" charset="-120"/>
              </a:rPr>
              <a:t>1.850</a:t>
            </a:r>
            <a:endParaRPr lang="en-US" sz="1600" dirty="0"/>
          </a:p>
        </p:txBody>
      </p:sp>
      <p:sp>
        <p:nvSpPr>
          <p:cNvPr id="21" name="Shape 19"/>
          <p:cNvSpPr/>
          <p:nvPr/>
        </p:nvSpPr>
        <p:spPr>
          <a:xfrm>
            <a:off x="329844" y="3913331"/>
            <a:ext cx="6849347" cy="2940088"/>
          </a:xfrm>
          <a:custGeom>
            <a:avLst/>
            <a:gdLst/>
            <a:ahLst/>
            <a:cxnLst/>
            <a:rect l="l" t="t" r="r" b="b"/>
            <a:pathLst>
              <a:path w="6849347" h="2940088">
                <a:moveTo>
                  <a:pt x="0" y="0"/>
                </a:moveTo>
                <a:lnTo>
                  <a:pt x="6849347" y="0"/>
                </a:lnTo>
                <a:lnTo>
                  <a:pt x="6849347" y="2940088"/>
                </a:lnTo>
                <a:lnTo>
                  <a:pt x="0" y="2940088"/>
                </a:lnTo>
                <a:lnTo>
                  <a:pt x="0" y="0"/>
                </a:lnTo>
                <a:close/>
              </a:path>
            </a:pathLst>
          </a:custGeom>
          <a:solidFill>
            <a:srgbClr val="000000">
              <a:alpha val="0"/>
            </a:srgbClr>
          </a:solidFill>
          <a:ln w="12700">
            <a:solidFill>
              <a:srgbClr val="E5E7EB"/>
            </a:solidFill>
            <a:prstDash val="solid"/>
          </a:ln>
        </p:spPr>
      </p:sp>
      <p:sp>
        <p:nvSpPr>
          <p:cNvPr id="22" name="Text 20"/>
          <p:cNvSpPr/>
          <p:nvPr/>
        </p:nvSpPr>
        <p:spPr>
          <a:xfrm>
            <a:off x="496802" y="4080289"/>
            <a:ext cx="6588729" cy="228040"/>
          </a:xfrm>
          <a:prstGeom prst="rect">
            <a:avLst/>
          </a:prstGeom>
          <a:noFill/>
          <a:ln/>
        </p:spPr>
        <p:txBody>
          <a:bodyPr wrap="square" lIns="0" tIns="0" rIns="0" bIns="0" rtlCol="0" anchor="ctr"/>
          <a:lstStyle/>
          <a:p>
            <a:pPr>
              <a:lnSpc>
                <a:spcPct val="130000"/>
              </a:lnSpc>
            </a:pPr>
            <a:r>
              <a:rPr lang="en-US" sz="1154" b="1" dirty="0">
                <a:solidFill>
                  <a:srgbClr val="1F2937"/>
                </a:solidFill>
                <a:latin typeface="Sorts Mill Goudy" pitchFamily="34" charset="0"/>
                <a:ea typeface="Sorts Mill Goudy" pitchFamily="34" charset="-122"/>
                <a:cs typeface="Sorts Mill Goudy" pitchFamily="34" charset="-120"/>
              </a:rPr>
              <a:t>Performance by Question Type</a:t>
            </a:r>
            <a:endParaRPr lang="en-US" sz="1600" dirty="0"/>
          </a:p>
        </p:txBody>
      </p:sp>
      <p:sp>
        <p:nvSpPr>
          <p:cNvPr id="23" name="Shape 21"/>
          <p:cNvSpPr/>
          <p:nvPr/>
        </p:nvSpPr>
        <p:spPr>
          <a:xfrm>
            <a:off x="496802" y="4406060"/>
            <a:ext cx="6515431" cy="325772"/>
          </a:xfrm>
          <a:custGeom>
            <a:avLst/>
            <a:gdLst/>
            <a:ahLst/>
            <a:cxnLst/>
            <a:rect l="l" t="t" r="r" b="b"/>
            <a:pathLst>
              <a:path w="6515431" h="325772">
                <a:moveTo>
                  <a:pt x="0" y="0"/>
                </a:moveTo>
                <a:lnTo>
                  <a:pt x="6515431" y="0"/>
                </a:lnTo>
                <a:lnTo>
                  <a:pt x="6515431" y="325772"/>
                </a:lnTo>
                <a:lnTo>
                  <a:pt x="0" y="325772"/>
                </a:lnTo>
                <a:lnTo>
                  <a:pt x="0" y="0"/>
                </a:lnTo>
                <a:close/>
              </a:path>
            </a:pathLst>
          </a:custGeom>
          <a:solidFill>
            <a:srgbClr val="F9FAFB"/>
          </a:solidFill>
          <a:ln/>
        </p:spPr>
      </p:sp>
      <p:sp>
        <p:nvSpPr>
          <p:cNvPr id="24" name="Text 22"/>
          <p:cNvSpPr/>
          <p:nvPr/>
        </p:nvSpPr>
        <p:spPr>
          <a:xfrm>
            <a:off x="561956" y="4471214"/>
            <a:ext cx="586389" cy="195463"/>
          </a:xfrm>
          <a:prstGeom prst="rect">
            <a:avLst/>
          </a:prstGeom>
          <a:noFill/>
          <a:ln/>
        </p:spPr>
        <p:txBody>
          <a:bodyPr wrap="square" lIns="0" tIns="0" rIns="0" bIns="0" rtlCol="0" anchor="ctr"/>
          <a:lstStyle/>
          <a:p>
            <a:pPr>
              <a:lnSpc>
                <a:spcPct val="130000"/>
              </a:lnSpc>
            </a:pPr>
            <a:r>
              <a:rPr lang="en-US" sz="1026" b="1" dirty="0">
                <a:solidFill>
                  <a:srgbClr val="8B0000"/>
                </a:solidFill>
                <a:latin typeface="Sorts Mill Goudy" pitchFamily="34" charset="0"/>
                <a:ea typeface="Sorts Mill Goudy" pitchFamily="34" charset="-122"/>
                <a:cs typeface="Sorts Mill Goudy" pitchFamily="34" charset="-120"/>
              </a:rPr>
              <a:t>WHO</a:t>
            </a:r>
            <a:endParaRPr lang="en-US" sz="1600" dirty="0"/>
          </a:p>
        </p:txBody>
      </p:sp>
      <p:sp>
        <p:nvSpPr>
          <p:cNvPr id="25" name="Text 23"/>
          <p:cNvSpPr/>
          <p:nvPr/>
        </p:nvSpPr>
        <p:spPr>
          <a:xfrm>
            <a:off x="1180922" y="4487503"/>
            <a:ext cx="708553" cy="162886"/>
          </a:xfrm>
          <a:prstGeom prst="rect">
            <a:avLst/>
          </a:prstGeom>
          <a:noFill/>
          <a:ln/>
        </p:spPr>
        <p:txBody>
          <a:bodyPr wrap="square" lIns="0" tIns="0" rIns="0" bIns="0" rtlCol="0" anchor="ctr"/>
          <a:lstStyle/>
          <a:p>
            <a:pPr>
              <a:lnSpc>
                <a:spcPct val="120000"/>
              </a:lnSpc>
            </a:pPr>
            <a:r>
              <a:rPr lang="en-US" sz="898" dirty="0">
                <a:solidFill>
                  <a:srgbClr val="6B7280"/>
                </a:solidFill>
                <a:latin typeface="Sorts Mill Goudy" pitchFamily="34" charset="0"/>
                <a:ea typeface="Sorts Mill Goudy" pitchFamily="34" charset="-122"/>
                <a:cs typeface="Sorts Mill Goudy" pitchFamily="34" charset="-120"/>
              </a:rPr>
              <a:t>867 examples</a:t>
            </a:r>
            <a:endParaRPr lang="en-US" sz="1600" dirty="0"/>
          </a:p>
        </p:txBody>
      </p:sp>
      <p:sp>
        <p:nvSpPr>
          <p:cNvPr id="26" name="Text 24"/>
          <p:cNvSpPr/>
          <p:nvPr/>
        </p:nvSpPr>
        <p:spPr>
          <a:xfrm>
            <a:off x="5807769" y="4471214"/>
            <a:ext cx="602677" cy="195463"/>
          </a:xfrm>
          <a:prstGeom prst="rect">
            <a:avLst/>
          </a:prstGeom>
          <a:noFill/>
          <a:ln/>
        </p:spPr>
        <p:txBody>
          <a:bodyPr wrap="square" lIns="0" tIns="0" rIns="0" bIns="0" rtlCol="0" anchor="ctr"/>
          <a:lstStyle/>
          <a:p>
            <a:pPr>
              <a:lnSpc>
                <a:spcPct val="130000"/>
              </a:lnSpc>
            </a:pPr>
            <a:r>
              <a:rPr lang="en-US" sz="1026" dirty="0">
                <a:solidFill>
                  <a:srgbClr val="1F2937"/>
                </a:solidFill>
                <a:latin typeface="Sorts Mill Goudy" pitchFamily="34" charset="0"/>
                <a:ea typeface="Sorts Mill Goudy" pitchFamily="34" charset="-122"/>
                <a:cs typeface="Sorts Mill Goudy" pitchFamily="34" charset="-120"/>
              </a:rPr>
              <a:t>EM: </a:t>
            </a:r>
            <a:r>
              <a:rPr lang="en-US" sz="1026" b="1" dirty="0">
                <a:solidFill>
                  <a:srgbClr val="1F2937"/>
                </a:solidFill>
                <a:latin typeface="Sorts Mill Goudy" pitchFamily="34" charset="0"/>
                <a:ea typeface="Sorts Mill Goudy" pitchFamily="34" charset="-122"/>
                <a:cs typeface="Sorts Mill Goudy" pitchFamily="34" charset="-120"/>
              </a:rPr>
              <a:t>0.618</a:t>
            </a:r>
            <a:endParaRPr lang="en-US" sz="1600" dirty="0"/>
          </a:p>
        </p:txBody>
      </p:sp>
      <p:sp>
        <p:nvSpPr>
          <p:cNvPr id="27" name="Text 25"/>
          <p:cNvSpPr/>
          <p:nvPr/>
        </p:nvSpPr>
        <p:spPr>
          <a:xfrm>
            <a:off x="6474200" y="4471214"/>
            <a:ext cx="537523" cy="195463"/>
          </a:xfrm>
          <a:prstGeom prst="rect">
            <a:avLst/>
          </a:prstGeom>
          <a:noFill/>
          <a:ln/>
        </p:spPr>
        <p:txBody>
          <a:bodyPr wrap="square" lIns="0" tIns="0" rIns="0" bIns="0" rtlCol="0" anchor="ctr"/>
          <a:lstStyle/>
          <a:p>
            <a:pPr>
              <a:lnSpc>
                <a:spcPct val="130000"/>
              </a:lnSpc>
            </a:pPr>
            <a:r>
              <a:rPr lang="en-US" sz="1026" dirty="0">
                <a:solidFill>
                  <a:srgbClr val="1F2937"/>
                </a:solidFill>
                <a:latin typeface="Sorts Mill Goudy" pitchFamily="34" charset="0"/>
                <a:ea typeface="Sorts Mill Goudy" pitchFamily="34" charset="-122"/>
                <a:cs typeface="Sorts Mill Goudy" pitchFamily="34" charset="-120"/>
              </a:rPr>
              <a:t>F1: </a:t>
            </a:r>
            <a:r>
              <a:rPr lang="en-US" sz="1026" b="1" dirty="0">
                <a:solidFill>
                  <a:srgbClr val="1F2937"/>
                </a:solidFill>
                <a:latin typeface="Sorts Mill Goudy" pitchFamily="34" charset="0"/>
                <a:ea typeface="Sorts Mill Goudy" pitchFamily="34" charset="-122"/>
                <a:cs typeface="Sorts Mill Goudy" pitchFamily="34" charset="-120"/>
              </a:rPr>
              <a:t>0.779</a:t>
            </a:r>
            <a:endParaRPr lang="en-US" sz="1600" dirty="0"/>
          </a:p>
        </p:txBody>
      </p:sp>
      <p:sp>
        <p:nvSpPr>
          <p:cNvPr id="28" name="Shape 26"/>
          <p:cNvSpPr/>
          <p:nvPr/>
        </p:nvSpPr>
        <p:spPr>
          <a:xfrm>
            <a:off x="496802" y="4796986"/>
            <a:ext cx="6515431" cy="325772"/>
          </a:xfrm>
          <a:custGeom>
            <a:avLst/>
            <a:gdLst/>
            <a:ahLst/>
            <a:cxnLst/>
            <a:rect l="l" t="t" r="r" b="b"/>
            <a:pathLst>
              <a:path w="6515431" h="325772">
                <a:moveTo>
                  <a:pt x="0" y="0"/>
                </a:moveTo>
                <a:lnTo>
                  <a:pt x="6515431" y="0"/>
                </a:lnTo>
                <a:lnTo>
                  <a:pt x="6515431" y="325772"/>
                </a:lnTo>
                <a:lnTo>
                  <a:pt x="0" y="325772"/>
                </a:lnTo>
                <a:lnTo>
                  <a:pt x="0" y="0"/>
                </a:lnTo>
                <a:close/>
              </a:path>
            </a:pathLst>
          </a:custGeom>
          <a:solidFill>
            <a:srgbClr val="F9FAFB"/>
          </a:solidFill>
          <a:ln/>
        </p:spPr>
      </p:sp>
      <p:sp>
        <p:nvSpPr>
          <p:cNvPr id="29" name="Text 27"/>
          <p:cNvSpPr/>
          <p:nvPr/>
        </p:nvSpPr>
        <p:spPr>
          <a:xfrm>
            <a:off x="561956" y="4862140"/>
            <a:ext cx="586389" cy="195463"/>
          </a:xfrm>
          <a:prstGeom prst="rect">
            <a:avLst/>
          </a:prstGeom>
          <a:noFill/>
          <a:ln/>
        </p:spPr>
        <p:txBody>
          <a:bodyPr wrap="square" lIns="0" tIns="0" rIns="0" bIns="0" rtlCol="0" anchor="ctr"/>
          <a:lstStyle/>
          <a:p>
            <a:pPr>
              <a:lnSpc>
                <a:spcPct val="130000"/>
              </a:lnSpc>
            </a:pPr>
            <a:r>
              <a:rPr lang="en-US" sz="1026" b="1" dirty="0">
                <a:solidFill>
                  <a:srgbClr val="8B0000"/>
                </a:solidFill>
                <a:latin typeface="Sorts Mill Goudy" pitchFamily="34" charset="0"/>
                <a:ea typeface="Sorts Mill Goudy" pitchFamily="34" charset="-122"/>
                <a:cs typeface="Sorts Mill Goudy" pitchFamily="34" charset="-120"/>
              </a:rPr>
              <a:t>WHAT</a:t>
            </a:r>
            <a:endParaRPr lang="en-US" sz="1600" dirty="0"/>
          </a:p>
        </p:txBody>
      </p:sp>
      <p:sp>
        <p:nvSpPr>
          <p:cNvPr id="30" name="Text 28"/>
          <p:cNvSpPr/>
          <p:nvPr/>
        </p:nvSpPr>
        <p:spPr>
          <a:xfrm>
            <a:off x="1180922" y="4878429"/>
            <a:ext cx="765563" cy="162886"/>
          </a:xfrm>
          <a:prstGeom prst="rect">
            <a:avLst/>
          </a:prstGeom>
          <a:noFill/>
          <a:ln/>
        </p:spPr>
        <p:txBody>
          <a:bodyPr wrap="square" lIns="0" tIns="0" rIns="0" bIns="0" rtlCol="0" anchor="ctr"/>
          <a:lstStyle/>
          <a:p>
            <a:pPr>
              <a:lnSpc>
                <a:spcPct val="120000"/>
              </a:lnSpc>
            </a:pPr>
            <a:r>
              <a:rPr lang="en-US" sz="898" dirty="0">
                <a:solidFill>
                  <a:srgbClr val="6B7280"/>
                </a:solidFill>
                <a:latin typeface="Sorts Mill Goudy" pitchFamily="34" charset="0"/>
                <a:ea typeface="Sorts Mill Goudy" pitchFamily="34" charset="-122"/>
                <a:cs typeface="Sorts Mill Goudy" pitchFamily="34" charset="-120"/>
              </a:rPr>
              <a:t>1,937 examples</a:t>
            </a:r>
            <a:endParaRPr lang="en-US" sz="1600" dirty="0"/>
          </a:p>
        </p:txBody>
      </p:sp>
      <p:sp>
        <p:nvSpPr>
          <p:cNvPr id="31" name="Text 29"/>
          <p:cNvSpPr/>
          <p:nvPr/>
        </p:nvSpPr>
        <p:spPr>
          <a:xfrm>
            <a:off x="5822785" y="4862140"/>
            <a:ext cx="586389" cy="195463"/>
          </a:xfrm>
          <a:prstGeom prst="rect">
            <a:avLst/>
          </a:prstGeom>
          <a:noFill/>
          <a:ln/>
        </p:spPr>
        <p:txBody>
          <a:bodyPr wrap="square" lIns="0" tIns="0" rIns="0" bIns="0" rtlCol="0" anchor="ctr"/>
          <a:lstStyle/>
          <a:p>
            <a:pPr>
              <a:lnSpc>
                <a:spcPct val="130000"/>
              </a:lnSpc>
            </a:pPr>
            <a:r>
              <a:rPr lang="en-US" sz="1026" dirty="0">
                <a:solidFill>
                  <a:srgbClr val="1F2937"/>
                </a:solidFill>
                <a:latin typeface="Sorts Mill Goudy" pitchFamily="34" charset="0"/>
                <a:ea typeface="Sorts Mill Goudy" pitchFamily="34" charset="-122"/>
                <a:cs typeface="Sorts Mill Goudy" pitchFamily="34" charset="-120"/>
              </a:rPr>
              <a:t>EM: </a:t>
            </a:r>
            <a:r>
              <a:rPr lang="en-US" sz="1026" b="1" dirty="0">
                <a:solidFill>
                  <a:srgbClr val="1F2937"/>
                </a:solidFill>
                <a:latin typeface="Sorts Mill Goudy" pitchFamily="34" charset="0"/>
                <a:ea typeface="Sorts Mill Goudy" pitchFamily="34" charset="-122"/>
                <a:cs typeface="Sorts Mill Goudy" pitchFamily="34" charset="-120"/>
              </a:rPr>
              <a:t>0.505</a:t>
            </a:r>
            <a:endParaRPr lang="en-US" sz="1600" dirty="0"/>
          </a:p>
        </p:txBody>
      </p:sp>
      <p:sp>
        <p:nvSpPr>
          <p:cNvPr id="32" name="Text 30"/>
          <p:cNvSpPr/>
          <p:nvPr/>
        </p:nvSpPr>
        <p:spPr>
          <a:xfrm>
            <a:off x="6473055" y="4862140"/>
            <a:ext cx="537523" cy="195463"/>
          </a:xfrm>
          <a:prstGeom prst="rect">
            <a:avLst/>
          </a:prstGeom>
          <a:noFill/>
          <a:ln/>
        </p:spPr>
        <p:txBody>
          <a:bodyPr wrap="square" lIns="0" tIns="0" rIns="0" bIns="0" rtlCol="0" anchor="ctr"/>
          <a:lstStyle/>
          <a:p>
            <a:pPr>
              <a:lnSpc>
                <a:spcPct val="130000"/>
              </a:lnSpc>
            </a:pPr>
            <a:r>
              <a:rPr lang="en-US" sz="1026" dirty="0">
                <a:solidFill>
                  <a:srgbClr val="1F2937"/>
                </a:solidFill>
                <a:latin typeface="Sorts Mill Goudy" pitchFamily="34" charset="0"/>
                <a:ea typeface="Sorts Mill Goudy" pitchFamily="34" charset="-122"/>
                <a:cs typeface="Sorts Mill Goudy" pitchFamily="34" charset="-120"/>
              </a:rPr>
              <a:t>F1: </a:t>
            </a:r>
            <a:r>
              <a:rPr lang="en-US" sz="1026" b="1" dirty="0">
                <a:solidFill>
                  <a:srgbClr val="1F2937"/>
                </a:solidFill>
                <a:latin typeface="Sorts Mill Goudy" pitchFamily="34" charset="0"/>
                <a:ea typeface="Sorts Mill Goudy" pitchFamily="34" charset="-122"/>
                <a:cs typeface="Sorts Mill Goudy" pitchFamily="34" charset="-120"/>
              </a:rPr>
              <a:t>0.802</a:t>
            </a:r>
            <a:endParaRPr lang="en-US" sz="1600" dirty="0"/>
          </a:p>
        </p:txBody>
      </p:sp>
      <p:sp>
        <p:nvSpPr>
          <p:cNvPr id="33" name="Shape 31"/>
          <p:cNvSpPr/>
          <p:nvPr/>
        </p:nvSpPr>
        <p:spPr>
          <a:xfrm>
            <a:off x="496802" y="5187912"/>
            <a:ext cx="6515431" cy="325772"/>
          </a:xfrm>
          <a:custGeom>
            <a:avLst/>
            <a:gdLst/>
            <a:ahLst/>
            <a:cxnLst/>
            <a:rect l="l" t="t" r="r" b="b"/>
            <a:pathLst>
              <a:path w="6515431" h="325772">
                <a:moveTo>
                  <a:pt x="0" y="0"/>
                </a:moveTo>
                <a:lnTo>
                  <a:pt x="6515431" y="0"/>
                </a:lnTo>
                <a:lnTo>
                  <a:pt x="6515431" y="325772"/>
                </a:lnTo>
                <a:lnTo>
                  <a:pt x="0" y="325772"/>
                </a:lnTo>
                <a:lnTo>
                  <a:pt x="0" y="0"/>
                </a:lnTo>
                <a:close/>
              </a:path>
            </a:pathLst>
          </a:custGeom>
          <a:solidFill>
            <a:srgbClr val="F9FAFB"/>
          </a:solidFill>
          <a:ln/>
        </p:spPr>
      </p:sp>
      <p:sp>
        <p:nvSpPr>
          <p:cNvPr id="34" name="Text 32"/>
          <p:cNvSpPr/>
          <p:nvPr/>
        </p:nvSpPr>
        <p:spPr>
          <a:xfrm>
            <a:off x="561956" y="5253066"/>
            <a:ext cx="586389" cy="195463"/>
          </a:xfrm>
          <a:prstGeom prst="rect">
            <a:avLst/>
          </a:prstGeom>
          <a:noFill/>
          <a:ln/>
        </p:spPr>
        <p:txBody>
          <a:bodyPr wrap="square" lIns="0" tIns="0" rIns="0" bIns="0" rtlCol="0" anchor="ctr"/>
          <a:lstStyle/>
          <a:p>
            <a:pPr>
              <a:lnSpc>
                <a:spcPct val="130000"/>
              </a:lnSpc>
            </a:pPr>
            <a:r>
              <a:rPr lang="en-US" sz="1026" b="1" dirty="0">
                <a:solidFill>
                  <a:srgbClr val="8B0000"/>
                </a:solidFill>
                <a:latin typeface="Sorts Mill Goudy" pitchFamily="34" charset="0"/>
                <a:ea typeface="Sorts Mill Goudy" pitchFamily="34" charset="-122"/>
                <a:cs typeface="Sorts Mill Goudy" pitchFamily="34" charset="-120"/>
              </a:rPr>
              <a:t>WHEN</a:t>
            </a:r>
            <a:endParaRPr lang="en-US" sz="1600" dirty="0"/>
          </a:p>
        </p:txBody>
      </p:sp>
      <p:sp>
        <p:nvSpPr>
          <p:cNvPr id="35" name="Text 33"/>
          <p:cNvSpPr/>
          <p:nvPr/>
        </p:nvSpPr>
        <p:spPr>
          <a:xfrm>
            <a:off x="1180922" y="5269355"/>
            <a:ext cx="700409" cy="162886"/>
          </a:xfrm>
          <a:prstGeom prst="rect">
            <a:avLst/>
          </a:prstGeom>
          <a:noFill/>
          <a:ln/>
        </p:spPr>
        <p:txBody>
          <a:bodyPr wrap="square" lIns="0" tIns="0" rIns="0" bIns="0" rtlCol="0" anchor="ctr"/>
          <a:lstStyle/>
          <a:p>
            <a:pPr>
              <a:lnSpc>
                <a:spcPct val="120000"/>
              </a:lnSpc>
            </a:pPr>
            <a:r>
              <a:rPr lang="en-US" sz="898" dirty="0">
                <a:solidFill>
                  <a:srgbClr val="6B7280"/>
                </a:solidFill>
                <a:latin typeface="Sorts Mill Goudy" pitchFamily="34" charset="0"/>
                <a:ea typeface="Sorts Mill Goudy" pitchFamily="34" charset="-122"/>
                <a:cs typeface="Sorts Mill Goudy" pitchFamily="34" charset="-120"/>
              </a:rPr>
              <a:t>246 examples</a:t>
            </a:r>
            <a:endParaRPr lang="en-US" sz="1600" dirty="0"/>
          </a:p>
        </p:txBody>
      </p:sp>
      <p:sp>
        <p:nvSpPr>
          <p:cNvPr id="36" name="Text 34"/>
          <p:cNvSpPr/>
          <p:nvPr/>
        </p:nvSpPr>
        <p:spPr>
          <a:xfrm>
            <a:off x="5826729" y="5253066"/>
            <a:ext cx="578244" cy="195463"/>
          </a:xfrm>
          <a:prstGeom prst="rect">
            <a:avLst/>
          </a:prstGeom>
          <a:noFill/>
          <a:ln/>
        </p:spPr>
        <p:txBody>
          <a:bodyPr wrap="square" lIns="0" tIns="0" rIns="0" bIns="0" rtlCol="0" anchor="ctr"/>
          <a:lstStyle/>
          <a:p>
            <a:pPr>
              <a:lnSpc>
                <a:spcPct val="130000"/>
              </a:lnSpc>
            </a:pPr>
            <a:r>
              <a:rPr lang="en-US" sz="1026" dirty="0">
                <a:solidFill>
                  <a:srgbClr val="1F2937"/>
                </a:solidFill>
                <a:latin typeface="Sorts Mill Goudy" pitchFamily="34" charset="0"/>
                <a:ea typeface="Sorts Mill Goudy" pitchFamily="34" charset="-122"/>
                <a:cs typeface="Sorts Mill Goudy" pitchFamily="34" charset="-120"/>
              </a:rPr>
              <a:t>EM: </a:t>
            </a:r>
            <a:r>
              <a:rPr lang="en-US" sz="1026" b="1" dirty="0">
                <a:solidFill>
                  <a:srgbClr val="1F2937"/>
                </a:solidFill>
                <a:latin typeface="Sorts Mill Goudy" pitchFamily="34" charset="0"/>
                <a:ea typeface="Sorts Mill Goudy" pitchFamily="34" charset="-122"/>
                <a:cs typeface="Sorts Mill Goudy" pitchFamily="34" charset="-120"/>
              </a:rPr>
              <a:t>0.565</a:t>
            </a:r>
            <a:endParaRPr lang="en-US" sz="1600" dirty="0"/>
          </a:p>
        </p:txBody>
      </p:sp>
      <p:sp>
        <p:nvSpPr>
          <p:cNvPr id="37" name="Text 35"/>
          <p:cNvSpPr/>
          <p:nvPr/>
        </p:nvSpPr>
        <p:spPr>
          <a:xfrm>
            <a:off x="6472928" y="5253066"/>
            <a:ext cx="537523" cy="195463"/>
          </a:xfrm>
          <a:prstGeom prst="rect">
            <a:avLst/>
          </a:prstGeom>
          <a:noFill/>
          <a:ln/>
        </p:spPr>
        <p:txBody>
          <a:bodyPr wrap="square" lIns="0" tIns="0" rIns="0" bIns="0" rtlCol="0" anchor="ctr"/>
          <a:lstStyle/>
          <a:p>
            <a:pPr>
              <a:lnSpc>
                <a:spcPct val="130000"/>
              </a:lnSpc>
            </a:pPr>
            <a:r>
              <a:rPr lang="en-US" sz="1026" dirty="0">
                <a:solidFill>
                  <a:srgbClr val="1F2937"/>
                </a:solidFill>
                <a:latin typeface="Sorts Mill Goudy" pitchFamily="34" charset="0"/>
                <a:ea typeface="Sorts Mill Goudy" pitchFamily="34" charset="-122"/>
                <a:cs typeface="Sorts Mill Goudy" pitchFamily="34" charset="-120"/>
              </a:rPr>
              <a:t>F1: </a:t>
            </a:r>
            <a:r>
              <a:rPr lang="en-US" sz="1026" b="1" dirty="0">
                <a:solidFill>
                  <a:srgbClr val="1F2937"/>
                </a:solidFill>
                <a:latin typeface="Sorts Mill Goudy" pitchFamily="34" charset="0"/>
                <a:ea typeface="Sorts Mill Goudy" pitchFamily="34" charset="-122"/>
                <a:cs typeface="Sorts Mill Goudy" pitchFamily="34" charset="-120"/>
              </a:rPr>
              <a:t>0.687</a:t>
            </a:r>
            <a:endParaRPr lang="en-US" sz="1600" dirty="0"/>
          </a:p>
        </p:txBody>
      </p:sp>
      <p:sp>
        <p:nvSpPr>
          <p:cNvPr id="38" name="Shape 36"/>
          <p:cNvSpPr/>
          <p:nvPr/>
        </p:nvSpPr>
        <p:spPr>
          <a:xfrm>
            <a:off x="496802" y="5578838"/>
            <a:ext cx="6515431" cy="325772"/>
          </a:xfrm>
          <a:custGeom>
            <a:avLst/>
            <a:gdLst/>
            <a:ahLst/>
            <a:cxnLst/>
            <a:rect l="l" t="t" r="r" b="b"/>
            <a:pathLst>
              <a:path w="6515431" h="325772">
                <a:moveTo>
                  <a:pt x="0" y="0"/>
                </a:moveTo>
                <a:lnTo>
                  <a:pt x="6515431" y="0"/>
                </a:lnTo>
                <a:lnTo>
                  <a:pt x="6515431" y="325772"/>
                </a:lnTo>
                <a:lnTo>
                  <a:pt x="0" y="325772"/>
                </a:lnTo>
                <a:lnTo>
                  <a:pt x="0" y="0"/>
                </a:lnTo>
                <a:close/>
              </a:path>
            </a:pathLst>
          </a:custGeom>
          <a:solidFill>
            <a:srgbClr val="F9FAFB"/>
          </a:solidFill>
          <a:ln/>
        </p:spPr>
      </p:sp>
      <p:sp>
        <p:nvSpPr>
          <p:cNvPr id="39" name="Text 37"/>
          <p:cNvSpPr/>
          <p:nvPr/>
        </p:nvSpPr>
        <p:spPr>
          <a:xfrm>
            <a:off x="561956" y="5643992"/>
            <a:ext cx="586389" cy="195463"/>
          </a:xfrm>
          <a:prstGeom prst="rect">
            <a:avLst/>
          </a:prstGeom>
          <a:noFill/>
          <a:ln/>
        </p:spPr>
        <p:txBody>
          <a:bodyPr wrap="square" lIns="0" tIns="0" rIns="0" bIns="0" rtlCol="0" anchor="ctr"/>
          <a:lstStyle/>
          <a:p>
            <a:pPr>
              <a:lnSpc>
                <a:spcPct val="130000"/>
              </a:lnSpc>
            </a:pPr>
            <a:r>
              <a:rPr lang="en-US" sz="1026" b="1" dirty="0">
                <a:solidFill>
                  <a:srgbClr val="8B0000"/>
                </a:solidFill>
                <a:latin typeface="Sorts Mill Goudy" pitchFamily="34" charset="0"/>
                <a:ea typeface="Sorts Mill Goudy" pitchFamily="34" charset="-122"/>
                <a:cs typeface="Sorts Mill Goudy" pitchFamily="34" charset="-120"/>
              </a:rPr>
              <a:t>WHERE</a:t>
            </a:r>
            <a:endParaRPr lang="en-US" sz="1600" dirty="0"/>
          </a:p>
        </p:txBody>
      </p:sp>
      <p:sp>
        <p:nvSpPr>
          <p:cNvPr id="40" name="Text 38"/>
          <p:cNvSpPr/>
          <p:nvPr/>
        </p:nvSpPr>
        <p:spPr>
          <a:xfrm>
            <a:off x="1180922" y="5660281"/>
            <a:ext cx="675976" cy="162886"/>
          </a:xfrm>
          <a:prstGeom prst="rect">
            <a:avLst/>
          </a:prstGeom>
          <a:noFill/>
          <a:ln/>
        </p:spPr>
        <p:txBody>
          <a:bodyPr wrap="square" lIns="0" tIns="0" rIns="0" bIns="0" rtlCol="0" anchor="ctr"/>
          <a:lstStyle/>
          <a:p>
            <a:pPr>
              <a:lnSpc>
                <a:spcPct val="120000"/>
              </a:lnSpc>
            </a:pPr>
            <a:r>
              <a:rPr lang="en-US" sz="898" dirty="0">
                <a:solidFill>
                  <a:srgbClr val="6B7280"/>
                </a:solidFill>
                <a:latin typeface="Sorts Mill Goudy" pitchFamily="34" charset="0"/>
                <a:ea typeface="Sorts Mill Goudy" pitchFamily="34" charset="-122"/>
                <a:cs typeface="Sorts Mill Goudy" pitchFamily="34" charset="-120"/>
              </a:rPr>
              <a:t>110 examples</a:t>
            </a:r>
            <a:endParaRPr lang="en-US" sz="1600" dirty="0"/>
          </a:p>
        </p:txBody>
      </p:sp>
      <p:sp>
        <p:nvSpPr>
          <p:cNvPr id="41" name="Text 39"/>
          <p:cNvSpPr/>
          <p:nvPr/>
        </p:nvSpPr>
        <p:spPr>
          <a:xfrm>
            <a:off x="5824693" y="5643992"/>
            <a:ext cx="602677" cy="195463"/>
          </a:xfrm>
          <a:prstGeom prst="rect">
            <a:avLst/>
          </a:prstGeom>
          <a:noFill/>
          <a:ln/>
        </p:spPr>
        <p:txBody>
          <a:bodyPr wrap="square" lIns="0" tIns="0" rIns="0" bIns="0" rtlCol="0" anchor="ctr"/>
          <a:lstStyle/>
          <a:p>
            <a:pPr>
              <a:lnSpc>
                <a:spcPct val="130000"/>
              </a:lnSpc>
            </a:pPr>
            <a:r>
              <a:rPr lang="en-US" sz="1026" dirty="0">
                <a:solidFill>
                  <a:srgbClr val="1F2937"/>
                </a:solidFill>
                <a:latin typeface="Sorts Mill Goudy" pitchFamily="34" charset="0"/>
                <a:ea typeface="Sorts Mill Goudy" pitchFamily="34" charset="-122"/>
                <a:cs typeface="Sorts Mill Goudy" pitchFamily="34" charset="-120"/>
              </a:rPr>
              <a:t>EM: </a:t>
            </a:r>
            <a:r>
              <a:rPr lang="en-US" sz="1026" b="1" dirty="0">
                <a:solidFill>
                  <a:srgbClr val="1F2937"/>
                </a:solidFill>
                <a:latin typeface="Sorts Mill Goudy" pitchFamily="34" charset="0"/>
                <a:ea typeface="Sorts Mill Goudy" pitchFamily="34" charset="-122"/>
                <a:cs typeface="Sorts Mill Goudy" pitchFamily="34" charset="-120"/>
              </a:rPr>
              <a:t>0.382</a:t>
            </a:r>
            <a:endParaRPr lang="en-US" sz="1600" dirty="0"/>
          </a:p>
        </p:txBody>
      </p:sp>
      <p:sp>
        <p:nvSpPr>
          <p:cNvPr id="42" name="Text 40"/>
          <p:cNvSpPr/>
          <p:nvPr/>
        </p:nvSpPr>
        <p:spPr>
          <a:xfrm>
            <a:off x="6495706" y="5643992"/>
            <a:ext cx="521234" cy="195463"/>
          </a:xfrm>
          <a:prstGeom prst="rect">
            <a:avLst/>
          </a:prstGeom>
          <a:noFill/>
          <a:ln/>
        </p:spPr>
        <p:txBody>
          <a:bodyPr wrap="square" lIns="0" tIns="0" rIns="0" bIns="0" rtlCol="0" anchor="ctr"/>
          <a:lstStyle/>
          <a:p>
            <a:pPr>
              <a:lnSpc>
                <a:spcPct val="130000"/>
              </a:lnSpc>
            </a:pPr>
            <a:r>
              <a:rPr lang="en-US" sz="1026" dirty="0">
                <a:solidFill>
                  <a:srgbClr val="1F2937"/>
                </a:solidFill>
                <a:latin typeface="Sorts Mill Goudy" pitchFamily="34" charset="0"/>
                <a:ea typeface="Sorts Mill Goudy" pitchFamily="34" charset="-122"/>
                <a:cs typeface="Sorts Mill Goudy" pitchFamily="34" charset="-120"/>
              </a:rPr>
              <a:t>F1: </a:t>
            </a:r>
            <a:r>
              <a:rPr lang="en-US" sz="1026" b="1" dirty="0">
                <a:solidFill>
                  <a:srgbClr val="1F2937"/>
                </a:solidFill>
                <a:latin typeface="Sorts Mill Goudy" pitchFamily="34" charset="0"/>
                <a:ea typeface="Sorts Mill Goudy" pitchFamily="34" charset="-122"/>
                <a:cs typeface="Sorts Mill Goudy" pitchFamily="34" charset="-120"/>
              </a:rPr>
              <a:t>0.619</a:t>
            </a:r>
            <a:endParaRPr lang="en-US" sz="1600" dirty="0"/>
          </a:p>
        </p:txBody>
      </p:sp>
      <p:sp>
        <p:nvSpPr>
          <p:cNvPr id="43" name="Shape 41"/>
          <p:cNvSpPr/>
          <p:nvPr/>
        </p:nvSpPr>
        <p:spPr>
          <a:xfrm>
            <a:off x="496802" y="5969764"/>
            <a:ext cx="6515431" cy="325772"/>
          </a:xfrm>
          <a:custGeom>
            <a:avLst/>
            <a:gdLst/>
            <a:ahLst/>
            <a:cxnLst/>
            <a:rect l="l" t="t" r="r" b="b"/>
            <a:pathLst>
              <a:path w="6515431" h="325772">
                <a:moveTo>
                  <a:pt x="0" y="0"/>
                </a:moveTo>
                <a:lnTo>
                  <a:pt x="6515431" y="0"/>
                </a:lnTo>
                <a:lnTo>
                  <a:pt x="6515431" y="325772"/>
                </a:lnTo>
                <a:lnTo>
                  <a:pt x="0" y="325772"/>
                </a:lnTo>
                <a:lnTo>
                  <a:pt x="0" y="0"/>
                </a:lnTo>
                <a:close/>
              </a:path>
            </a:pathLst>
          </a:custGeom>
          <a:solidFill>
            <a:srgbClr val="F9FAFB"/>
          </a:solidFill>
          <a:ln/>
        </p:spPr>
      </p:sp>
      <p:sp>
        <p:nvSpPr>
          <p:cNvPr id="44" name="Text 42"/>
          <p:cNvSpPr/>
          <p:nvPr/>
        </p:nvSpPr>
        <p:spPr>
          <a:xfrm>
            <a:off x="561956" y="6034918"/>
            <a:ext cx="586389" cy="195463"/>
          </a:xfrm>
          <a:prstGeom prst="rect">
            <a:avLst/>
          </a:prstGeom>
          <a:noFill/>
          <a:ln/>
        </p:spPr>
        <p:txBody>
          <a:bodyPr wrap="square" lIns="0" tIns="0" rIns="0" bIns="0" rtlCol="0" anchor="ctr"/>
          <a:lstStyle/>
          <a:p>
            <a:pPr>
              <a:lnSpc>
                <a:spcPct val="130000"/>
              </a:lnSpc>
            </a:pPr>
            <a:r>
              <a:rPr lang="en-US" sz="1026" b="1" dirty="0">
                <a:solidFill>
                  <a:srgbClr val="8B0000"/>
                </a:solidFill>
                <a:latin typeface="Sorts Mill Goudy" pitchFamily="34" charset="0"/>
                <a:ea typeface="Sorts Mill Goudy" pitchFamily="34" charset="-122"/>
                <a:cs typeface="Sorts Mill Goudy" pitchFamily="34" charset="-120"/>
              </a:rPr>
              <a:t>HOW</a:t>
            </a:r>
            <a:endParaRPr lang="en-US" sz="1600" dirty="0"/>
          </a:p>
        </p:txBody>
      </p:sp>
      <p:sp>
        <p:nvSpPr>
          <p:cNvPr id="45" name="Text 43"/>
          <p:cNvSpPr/>
          <p:nvPr/>
        </p:nvSpPr>
        <p:spPr>
          <a:xfrm>
            <a:off x="1180922" y="6051206"/>
            <a:ext cx="692265" cy="162886"/>
          </a:xfrm>
          <a:prstGeom prst="rect">
            <a:avLst/>
          </a:prstGeom>
          <a:noFill/>
          <a:ln/>
        </p:spPr>
        <p:txBody>
          <a:bodyPr wrap="square" lIns="0" tIns="0" rIns="0" bIns="0" rtlCol="0" anchor="ctr"/>
          <a:lstStyle/>
          <a:p>
            <a:pPr>
              <a:lnSpc>
                <a:spcPct val="120000"/>
              </a:lnSpc>
            </a:pPr>
            <a:r>
              <a:rPr lang="en-US" sz="898" dirty="0">
                <a:solidFill>
                  <a:srgbClr val="6B7280"/>
                </a:solidFill>
                <a:latin typeface="Sorts Mill Goudy" pitchFamily="34" charset="0"/>
                <a:ea typeface="Sorts Mill Goudy" pitchFamily="34" charset="-122"/>
                <a:cs typeface="Sorts Mill Goudy" pitchFamily="34" charset="-120"/>
              </a:rPr>
              <a:t>234 examples</a:t>
            </a:r>
            <a:endParaRPr lang="en-US" sz="1600" dirty="0"/>
          </a:p>
        </p:txBody>
      </p:sp>
      <p:sp>
        <p:nvSpPr>
          <p:cNvPr id="46" name="Text 44"/>
          <p:cNvSpPr/>
          <p:nvPr/>
        </p:nvSpPr>
        <p:spPr>
          <a:xfrm>
            <a:off x="5849126" y="6034918"/>
            <a:ext cx="586389" cy="195463"/>
          </a:xfrm>
          <a:prstGeom prst="rect">
            <a:avLst/>
          </a:prstGeom>
          <a:noFill/>
          <a:ln/>
        </p:spPr>
        <p:txBody>
          <a:bodyPr wrap="square" lIns="0" tIns="0" rIns="0" bIns="0" rtlCol="0" anchor="ctr"/>
          <a:lstStyle/>
          <a:p>
            <a:pPr>
              <a:lnSpc>
                <a:spcPct val="130000"/>
              </a:lnSpc>
            </a:pPr>
            <a:r>
              <a:rPr lang="en-US" sz="1026" dirty="0">
                <a:solidFill>
                  <a:srgbClr val="1F2937"/>
                </a:solidFill>
                <a:latin typeface="Sorts Mill Goudy" pitchFamily="34" charset="0"/>
                <a:ea typeface="Sorts Mill Goudy" pitchFamily="34" charset="-122"/>
                <a:cs typeface="Sorts Mill Goudy" pitchFamily="34" charset="-120"/>
              </a:rPr>
              <a:t>EM: </a:t>
            </a:r>
            <a:r>
              <a:rPr lang="en-US" sz="1026" b="1" dirty="0">
                <a:solidFill>
                  <a:srgbClr val="1F2937"/>
                </a:solidFill>
                <a:latin typeface="Sorts Mill Goudy" pitchFamily="34" charset="0"/>
                <a:ea typeface="Sorts Mill Goudy" pitchFamily="34" charset="-122"/>
                <a:cs typeface="Sorts Mill Goudy" pitchFamily="34" charset="-120"/>
              </a:rPr>
              <a:t>0.359</a:t>
            </a:r>
            <a:endParaRPr lang="en-US" sz="1600" dirty="0"/>
          </a:p>
        </p:txBody>
      </p:sp>
      <p:sp>
        <p:nvSpPr>
          <p:cNvPr id="47" name="Text 45"/>
          <p:cNvSpPr/>
          <p:nvPr/>
        </p:nvSpPr>
        <p:spPr>
          <a:xfrm>
            <a:off x="6501942" y="6034918"/>
            <a:ext cx="513090" cy="195463"/>
          </a:xfrm>
          <a:prstGeom prst="rect">
            <a:avLst/>
          </a:prstGeom>
          <a:noFill/>
          <a:ln/>
        </p:spPr>
        <p:txBody>
          <a:bodyPr wrap="square" lIns="0" tIns="0" rIns="0" bIns="0" rtlCol="0" anchor="ctr"/>
          <a:lstStyle/>
          <a:p>
            <a:pPr>
              <a:lnSpc>
                <a:spcPct val="130000"/>
              </a:lnSpc>
            </a:pPr>
            <a:r>
              <a:rPr lang="en-US" sz="1026" dirty="0">
                <a:solidFill>
                  <a:srgbClr val="1F2937"/>
                </a:solidFill>
                <a:latin typeface="Sorts Mill Goudy" pitchFamily="34" charset="0"/>
                <a:ea typeface="Sorts Mill Goudy" pitchFamily="34" charset="-122"/>
                <a:cs typeface="Sorts Mill Goudy" pitchFamily="34" charset="-120"/>
              </a:rPr>
              <a:t>F1: </a:t>
            </a:r>
            <a:r>
              <a:rPr lang="en-US" sz="1026" b="1" dirty="0">
                <a:solidFill>
                  <a:srgbClr val="1F2937"/>
                </a:solidFill>
                <a:latin typeface="Sorts Mill Goudy" pitchFamily="34" charset="0"/>
                <a:ea typeface="Sorts Mill Goudy" pitchFamily="34" charset="-122"/>
                <a:cs typeface="Sorts Mill Goudy" pitchFamily="34" charset="-120"/>
              </a:rPr>
              <a:t>0.530</a:t>
            </a:r>
            <a:endParaRPr lang="en-US" sz="1600" dirty="0"/>
          </a:p>
        </p:txBody>
      </p:sp>
      <p:sp>
        <p:nvSpPr>
          <p:cNvPr id="48" name="Shape 46"/>
          <p:cNvSpPr/>
          <p:nvPr/>
        </p:nvSpPr>
        <p:spPr>
          <a:xfrm>
            <a:off x="496802" y="6360689"/>
            <a:ext cx="6515431" cy="325772"/>
          </a:xfrm>
          <a:custGeom>
            <a:avLst/>
            <a:gdLst/>
            <a:ahLst/>
            <a:cxnLst/>
            <a:rect l="l" t="t" r="r" b="b"/>
            <a:pathLst>
              <a:path w="6515431" h="325772">
                <a:moveTo>
                  <a:pt x="0" y="0"/>
                </a:moveTo>
                <a:lnTo>
                  <a:pt x="6515431" y="0"/>
                </a:lnTo>
                <a:lnTo>
                  <a:pt x="6515431" y="325772"/>
                </a:lnTo>
                <a:lnTo>
                  <a:pt x="0" y="325772"/>
                </a:lnTo>
                <a:lnTo>
                  <a:pt x="0" y="0"/>
                </a:lnTo>
                <a:close/>
              </a:path>
            </a:pathLst>
          </a:custGeom>
          <a:solidFill>
            <a:srgbClr val="F9FAFB"/>
          </a:solidFill>
          <a:ln/>
        </p:spPr>
      </p:sp>
      <p:sp>
        <p:nvSpPr>
          <p:cNvPr id="49" name="Text 47"/>
          <p:cNvSpPr/>
          <p:nvPr/>
        </p:nvSpPr>
        <p:spPr>
          <a:xfrm>
            <a:off x="561956" y="6425844"/>
            <a:ext cx="586389" cy="195463"/>
          </a:xfrm>
          <a:prstGeom prst="rect">
            <a:avLst/>
          </a:prstGeom>
          <a:noFill/>
          <a:ln/>
        </p:spPr>
        <p:txBody>
          <a:bodyPr wrap="square" lIns="0" tIns="0" rIns="0" bIns="0" rtlCol="0" anchor="ctr"/>
          <a:lstStyle/>
          <a:p>
            <a:pPr>
              <a:lnSpc>
                <a:spcPct val="130000"/>
              </a:lnSpc>
            </a:pPr>
            <a:r>
              <a:rPr lang="en-US" sz="1026" b="1" dirty="0">
                <a:solidFill>
                  <a:srgbClr val="8B0000"/>
                </a:solidFill>
                <a:latin typeface="Sorts Mill Goudy" pitchFamily="34" charset="0"/>
                <a:ea typeface="Sorts Mill Goudy" pitchFamily="34" charset="-122"/>
                <a:cs typeface="Sorts Mill Goudy" pitchFamily="34" charset="-120"/>
              </a:rPr>
              <a:t>WHY</a:t>
            </a:r>
            <a:endParaRPr lang="en-US" sz="1600" dirty="0"/>
          </a:p>
        </p:txBody>
      </p:sp>
      <p:sp>
        <p:nvSpPr>
          <p:cNvPr id="50" name="Text 48"/>
          <p:cNvSpPr/>
          <p:nvPr/>
        </p:nvSpPr>
        <p:spPr>
          <a:xfrm>
            <a:off x="1180922" y="6442132"/>
            <a:ext cx="635255" cy="162886"/>
          </a:xfrm>
          <a:prstGeom prst="rect">
            <a:avLst/>
          </a:prstGeom>
          <a:noFill/>
          <a:ln/>
        </p:spPr>
        <p:txBody>
          <a:bodyPr wrap="square" lIns="0" tIns="0" rIns="0" bIns="0" rtlCol="0" anchor="ctr"/>
          <a:lstStyle/>
          <a:p>
            <a:pPr>
              <a:lnSpc>
                <a:spcPct val="120000"/>
              </a:lnSpc>
            </a:pPr>
            <a:r>
              <a:rPr lang="en-US" sz="898" dirty="0">
                <a:solidFill>
                  <a:srgbClr val="6B7280"/>
                </a:solidFill>
                <a:latin typeface="Sorts Mill Goudy" pitchFamily="34" charset="0"/>
                <a:ea typeface="Sorts Mill Goudy" pitchFamily="34" charset="-122"/>
                <a:cs typeface="Sorts Mill Goudy" pitchFamily="34" charset="-120"/>
              </a:rPr>
              <a:t>57 examples</a:t>
            </a:r>
            <a:endParaRPr lang="en-US" sz="1600" dirty="0"/>
          </a:p>
        </p:txBody>
      </p:sp>
      <p:sp>
        <p:nvSpPr>
          <p:cNvPr id="51" name="Text 49"/>
          <p:cNvSpPr/>
          <p:nvPr/>
        </p:nvSpPr>
        <p:spPr>
          <a:xfrm>
            <a:off x="5838564" y="6425844"/>
            <a:ext cx="578244" cy="195463"/>
          </a:xfrm>
          <a:prstGeom prst="rect">
            <a:avLst/>
          </a:prstGeom>
          <a:noFill/>
          <a:ln/>
        </p:spPr>
        <p:txBody>
          <a:bodyPr wrap="square" lIns="0" tIns="0" rIns="0" bIns="0" rtlCol="0" anchor="ctr"/>
          <a:lstStyle/>
          <a:p>
            <a:pPr>
              <a:lnSpc>
                <a:spcPct val="130000"/>
              </a:lnSpc>
            </a:pPr>
            <a:r>
              <a:rPr lang="en-US" sz="1026" dirty="0">
                <a:solidFill>
                  <a:srgbClr val="1F2937"/>
                </a:solidFill>
                <a:latin typeface="Sorts Mill Goudy" pitchFamily="34" charset="0"/>
                <a:ea typeface="Sorts Mill Goudy" pitchFamily="34" charset="-122"/>
                <a:cs typeface="Sorts Mill Goudy" pitchFamily="34" charset="-120"/>
              </a:rPr>
              <a:t>EM: </a:t>
            </a:r>
            <a:r>
              <a:rPr lang="en-US" sz="1026" b="1" dirty="0">
                <a:solidFill>
                  <a:srgbClr val="1F2937"/>
                </a:solidFill>
                <a:latin typeface="Sorts Mill Goudy" pitchFamily="34" charset="0"/>
                <a:ea typeface="Sorts Mill Goudy" pitchFamily="34" charset="-122"/>
                <a:cs typeface="Sorts Mill Goudy" pitchFamily="34" charset="-120"/>
              </a:rPr>
              <a:t>0.175</a:t>
            </a:r>
            <a:endParaRPr lang="en-US" sz="1600" dirty="0"/>
          </a:p>
        </p:txBody>
      </p:sp>
      <p:sp>
        <p:nvSpPr>
          <p:cNvPr id="52" name="Text 50"/>
          <p:cNvSpPr/>
          <p:nvPr/>
        </p:nvSpPr>
        <p:spPr>
          <a:xfrm>
            <a:off x="6485017" y="6425844"/>
            <a:ext cx="529379" cy="195463"/>
          </a:xfrm>
          <a:prstGeom prst="rect">
            <a:avLst/>
          </a:prstGeom>
          <a:noFill/>
          <a:ln/>
        </p:spPr>
        <p:txBody>
          <a:bodyPr wrap="square" lIns="0" tIns="0" rIns="0" bIns="0" rtlCol="0" anchor="ctr"/>
          <a:lstStyle/>
          <a:p>
            <a:pPr>
              <a:lnSpc>
                <a:spcPct val="130000"/>
              </a:lnSpc>
            </a:pPr>
            <a:r>
              <a:rPr lang="en-US" sz="1026" dirty="0">
                <a:solidFill>
                  <a:srgbClr val="1F2937"/>
                </a:solidFill>
                <a:latin typeface="Sorts Mill Goudy" pitchFamily="34" charset="0"/>
                <a:ea typeface="Sorts Mill Goudy" pitchFamily="34" charset="-122"/>
                <a:cs typeface="Sorts Mill Goudy" pitchFamily="34" charset="-120"/>
              </a:rPr>
              <a:t>F1: </a:t>
            </a:r>
            <a:r>
              <a:rPr lang="en-US" sz="1026" b="1" dirty="0">
                <a:solidFill>
                  <a:srgbClr val="1F2937"/>
                </a:solidFill>
                <a:latin typeface="Sorts Mill Goudy" pitchFamily="34" charset="0"/>
                <a:ea typeface="Sorts Mill Goudy" pitchFamily="34" charset="-122"/>
                <a:cs typeface="Sorts Mill Goudy" pitchFamily="34" charset="-120"/>
              </a:rPr>
              <a:t>0.634</a:t>
            </a:r>
            <a:endParaRPr lang="en-US" sz="1600" dirty="0"/>
          </a:p>
        </p:txBody>
      </p:sp>
      <p:sp>
        <p:nvSpPr>
          <p:cNvPr id="53" name="Shape 51"/>
          <p:cNvSpPr/>
          <p:nvPr/>
        </p:nvSpPr>
        <p:spPr>
          <a:xfrm>
            <a:off x="7351238" y="1144273"/>
            <a:ext cx="4511936" cy="1604425"/>
          </a:xfrm>
          <a:custGeom>
            <a:avLst/>
            <a:gdLst/>
            <a:ahLst/>
            <a:cxnLst/>
            <a:rect l="l" t="t" r="r" b="b"/>
            <a:pathLst>
              <a:path w="4511936" h="1604425">
                <a:moveTo>
                  <a:pt x="0" y="0"/>
                </a:moveTo>
                <a:lnTo>
                  <a:pt x="4511936" y="0"/>
                </a:lnTo>
                <a:lnTo>
                  <a:pt x="4511936" y="1604425"/>
                </a:lnTo>
                <a:lnTo>
                  <a:pt x="0" y="1604425"/>
                </a:lnTo>
                <a:lnTo>
                  <a:pt x="0" y="0"/>
                </a:lnTo>
                <a:close/>
              </a:path>
            </a:pathLst>
          </a:custGeom>
          <a:solidFill>
            <a:srgbClr val="000000">
              <a:alpha val="0"/>
            </a:srgbClr>
          </a:solidFill>
          <a:ln w="12700">
            <a:solidFill>
              <a:srgbClr val="E5E7EB"/>
            </a:solidFill>
            <a:prstDash val="solid"/>
          </a:ln>
        </p:spPr>
      </p:sp>
      <p:sp>
        <p:nvSpPr>
          <p:cNvPr id="54" name="Text 52"/>
          <p:cNvSpPr/>
          <p:nvPr/>
        </p:nvSpPr>
        <p:spPr>
          <a:xfrm>
            <a:off x="7518196" y="1311230"/>
            <a:ext cx="4251319" cy="228040"/>
          </a:xfrm>
          <a:prstGeom prst="rect">
            <a:avLst/>
          </a:prstGeom>
          <a:noFill/>
          <a:ln/>
        </p:spPr>
        <p:txBody>
          <a:bodyPr wrap="square" lIns="0" tIns="0" rIns="0" bIns="0" rtlCol="0" anchor="ctr"/>
          <a:lstStyle/>
          <a:p>
            <a:pPr>
              <a:lnSpc>
                <a:spcPct val="130000"/>
              </a:lnSpc>
            </a:pPr>
            <a:r>
              <a:rPr lang="en-US" sz="1154" b="1" dirty="0">
                <a:solidFill>
                  <a:srgbClr val="1F2937"/>
                </a:solidFill>
                <a:latin typeface="Sorts Mill Goudy" pitchFamily="34" charset="0"/>
                <a:ea typeface="Sorts Mill Goudy" pitchFamily="34" charset="-122"/>
                <a:cs typeface="Sorts Mill Goudy" pitchFamily="34" charset="-120"/>
              </a:rPr>
              <a:t>EM vs F1 Gap</a:t>
            </a:r>
            <a:endParaRPr lang="en-US" sz="1600" dirty="0"/>
          </a:p>
        </p:txBody>
      </p:sp>
      <p:sp>
        <p:nvSpPr>
          <p:cNvPr id="55" name="Text 53"/>
          <p:cNvSpPr/>
          <p:nvPr/>
        </p:nvSpPr>
        <p:spPr>
          <a:xfrm>
            <a:off x="7518196" y="1637002"/>
            <a:ext cx="4243174" cy="423503"/>
          </a:xfrm>
          <a:prstGeom prst="rect">
            <a:avLst/>
          </a:prstGeom>
          <a:noFill/>
          <a:ln/>
        </p:spPr>
        <p:txBody>
          <a:bodyPr wrap="square" lIns="0" tIns="0" rIns="0" bIns="0" rtlCol="0" anchor="ctr"/>
          <a:lstStyle/>
          <a:p>
            <a:pPr>
              <a:lnSpc>
                <a:spcPct val="140000"/>
              </a:lnSpc>
            </a:pPr>
            <a:r>
              <a:rPr lang="en-US" sz="1026" dirty="0">
                <a:solidFill>
                  <a:srgbClr val="1F2937"/>
                </a:solidFill>
                <a:latin typeface="Sorts Mill Goudy" pitchFamily="34" charset="0"/>
                <a:ea typeface="Sorts Mill Goudy" pitchFamily="34" charset="-122"/>
                <a:cs typeface="Sorts Mill Goudy" pitchFamily="34" charset="-120"/>
              </a:rPr>
              <a:t>The consistent gap between EM (0.518) and F1 (0.761) indicates the system often </a:t>
            </a:r>
            <a:r>
              <a:rPr lang="en-US" sz="1026" b="1" dirty="0">
                <a:solidFill>
                  <a:srgbClr val="1F2937"/>
                </a:solidFill>
                <a:latin typeface="Sorts Mill Goudy" pitchFamily="34" charset="0"/>
                <a:ea typeface="Sorts Mill Goudy" pitchFamily="34" charset="-122"/>
                <a:cs typeface="Sorts Mill Goudy" pitchFamily="34" charset="-120"/>
              </a:rPr>
              <a:t>identifies the correct content region</a:t>
            </a:r>
            <a:r>
              <a:rPr lang="en-US" sz="1026" dirty="0">
                <a:solidFill>
                  <a:srgbClr val="1F2937"/>
                </a:solidFill>
                <a:latin typeface="Sorts Mill Goudy" pitchFamily="34" charset="0"/>
                <a:ea typeface="Sorts Mill Goudy" pitchFamily="34" charset="-122"/>
                <a:cs typeface="Sorts Mill Goudy" pitchFamily="34" charset="-120"/>
              </a:rPr>
              <a:t> but misses exact boundaries.</a:t>
            </a:r>
            <a:endParaRPr lang="en-US" sz="1600" dirty="0"/>
          </a:p>
        </p:txBody>
      </p:sp>
      <p:sp>
        <p:nvSpPr>
          <p:cNvPr id="56" name="Text 54"/>
          <p:cNvSpPr/>
          <p:nvPr/>
        </p:nvSpPr>
        <p:spPr>
          <a:xfrm>
            <a:off x="7518196" y="2158236"/>
            <a:ext cx="4243174" cy="423503"/>
          </a:xfrm>
          <a:prstGeom prst="rect">
            <a:avLst/>
          </a:prstGeom>
          <a:noFill/>
          <a:ln/>
        </p:spPr>
        <p:txBody>
          <a:bodyPr wrap="square" lIns="0" tIns="0" rIns="0" bIns="0" rtlCol="0" anchor="ctr"/>
          <a:lstStyle/>
          <a:p>
            <a:pPr>
              <a:lnSpc>
                <a:spcPct val="140000"/>
              </a:lnSpc>
            </a:pPr>
            <a:r>
              <a:rPr lang="en-US" sz="1026" dirty="0">
                <a:solidFill>
                  <a:srgbClr val="1F2937"/>
                </a:solidFill>
                <a:latin typeface="Sorts Mill Goudy" pitchFamily="34" charset="0"/>
                <a:ea typeface="Sorts Mill Goudy" pitchFamily="34" charset="-122"/>
                <a:cs typeface="Sorts Mill Goudy" pitchFamily="34" charset="-120"/>
              </a:rPr>
              <a:t>This makes </a:t>
            </a:r>
            <a:r>
              <a:rPr lang="en-US" sz="1026" b="1" dirty="0">
                <a:solidFill>
                  <a:srgbClr val="1F2937"/>
                </a:solidFill>
                <a:latin typeface="Sorts Mill Goudy" pitchFamily="34" charset="0"/>
                <a:ea typeface="Sorts Mill Goudy" pitchFamily="34" charset="-122"/>
                <a:cs typeface="Sorts Mill Goudy" pitchFamily="34" charset="-120"/>
              </a:rPr>
              <a:t>boundary modeling</a:t>
            </a:r>
            <a:r>
              <a:rPr lang="en-US" sz="1026" dirty="0">
                <a:solidFill>
                  <a:srgbClr val="1F2937"/>
                </a:solidFill>
                <a:latin typeface="Sorts Mill Goudy" pitchFamily="34" charset="0"/>
                <a:ea typeface="Sorts Mill Goudy" pitchFamily="34" charset="-122"/>
                <a:cs typeface="Sorts Mill Goudy" pitchFamily="34" charset="-120"/>
              </a:rPr>
              <a:t> a central determinant of end-task performance, not just role classification.</a:t>
            </a:r>
            <a:endParaRPr lang="en-US" sz="1600" dirty="0"/>
          </a:p>
        </p:txBody>
      </p:sp>
      <p:sp>
        <p:nvSpPr>
          <p:cNvPr id="57" name="Shape 55"/>
          <p:cNvSpPr/>
          <p:nvPr/>
        </p:nvSpPr>
        <p:spPr>
          <a:xfrm>
            <a:off x="7351238" y="2887150"/>
            <a:ext cx="4511936" cy="1441539"/>
          </a:xfrm>
          <a:custGeom>
            <a:avLst/>
            <a:gdLst/>
            <a:ahLst/>
            <a:cxnLst/>
            <a:rect l="l" t="t" r="r" b="b"/>
            <a:pathLst>
              <a:path w="4511936" h="1441539">
                <a:moveTo>
                  <a:pt x="0" y="0"/>
                </a:moveTo>
                <a:lnTo>
                  <a:pt x="4511936" y="0"/>
                </a:lnTo>
                <a:lnTo>
                  <a:pt x="4511936" y="1441539"/>
                </a:lnTo>
                <a:lnTo>
                  <a:pt x="0" y="1441539"/>
                </a:lnTo>
                <a:lnTo>
                  <a:pt x="0" y="0"/>
                </a:lnTo>
                <a:close/>
              </a:path>
            </a:pathLst>
          </a:custGeom>
          <a:solidFill>
            <a:srgbClr val="000000">
              <a:alpha val="0"/>
            </a:srgbClr>
          </a:solidFill>
          <a:ln w="12700">
            <a:solidFill>
              <a:srgbClr val="E5E7EB"/>
            </a:solidFill>
            <a:prstDash val="solid"/>
          </a:ln>
        </p:spPr>
      </p:sp>
      <p:sp>
        <p:nvSpPr>
          <p:cNvPr id="58" name="Text 56"/>
          <p:cNvSpPr/>
          <p:nvPr/>
        </p:nvSpPr>
        <p:spPr>
          <a:xfrm>
            <a:off x="7518196" y="3054108"/>
            <a:ext cx="4251319" cy="228040"/>
          </a:xfrm>
          <a:prstGeom prst="rect">
            <a:avLst/>
          </a:prstGeom>
          <a:noFill/>
          <a:ln/>
        </p:spPr>
        <p:txBody>
          <a:bodyPr wrap="square" lIns="0" tIns="0" rIns="0" bIns="0" rtlCol="0" anchor="ctr"/>
          <a:lstStyle/>
          <a:p>
            <a:pPr>
              <a:lnSpc>
                <a:spcPct val="130000"/>
              </a:lnSpc>
            </a:pPr>
            <a:r>
              <a:rPr lang="en-US" sz="1154" b="1" dirty="0">
                <a:solidFill>
                  <a:srgbClr val="1F2937"/>
                </a:solidFill>
                <a:latin typeface="Sorts Mill Goudy" pitchFamily="34" charset="0"/>
                <a:ea typeface="Sorts Mill Goudy" pitchFamily="34" charset="-122"/>
                <a:cs typeface="Sorts Mill Goudy" pitchFamily="34" charset="-120"/>
              </a:rPr>
              <a:t>Question Type Insights</a:t>
            </a:r>
            <a:endParaRPr lang="en-US" sz="1600" dirty="0"/>
          </a:p>
        </p:txBody>
      </p:sp>
      <p:sp>
        <p:nvSpPr>
          <p:cNvPr id="59" name="Shape 57"/>
          <p:cNvSpPr/>
          <p:nvPr/>
        </p:nvSpPr>
        <p:spPr>
          <a:xfrm>
            <a:off x="7550774" y="3412457"/>
            <a:ext cx="97731" cy="130309"/>
          </a:xfrm>
          <a:custGeom>
            <a:avLst/>
            <a:gdLst/>
            <a:ahLst/>
            <a:cxnLst/>
            <a:rect l="l" t="t" r="r" b="b"/>
            <a:pathLst>
              <a:path w="97731" h="130309">
                <a:moveTo>
                  <a:pt x="54618" y="4428"/>
                </a:moveTo>
                <a:cubicBezTo>
                  <a:pt x="51436" y="1247"/>
                  <a:pt x="46270" y="1247"/>
                  <a:pt x="43088" y="4428"/>
                </a:cubicBezTo>
                <a:lnTo>
                  <a:pt x="2367" y="45150"/>
                </a:lnTo>
                <a:cubicBezTo>
                  <a:pt x="-814" y="48331"/>
                  <a:pt x="-814" y="53498"/>
                  <a:pt x="2367" y="56679"/>
                </a:cubicBezTo>
                <a:cubicBezTo>
                  <a:pt x="5548" y="59861"/>
                  <a:pt x="10715" y="59861"/>
                  <a:pt x="13896" y="56679"/>
                </a:cubicBezTo>
                <a:lnTo>
                  <a:pt x="40721" y="29854"/>
                </a:lnTo>
                <a:lnTo>
                  <a:pt x="40721" y="124200"/>
                </a:lnTo>
                <a:cubicBezTo>
                  <a:pt x="40721" y="128705"/>
                  <a:pt x="44361" y="132345"/>
                  <a:pt x="48866" y="132345"/>
                </a:cubicBezTo>
                <a:cubicBezTo>
                  <a:pt x="53371" y="132345"/>
                  <a:pt x="57010" y="128705"/>
                  <a:pt x="57010" y="124200"/>
                </a:cubicBezTo>
                <a:lnTo>
                  <a:pt x="57010" y="29854"/>
                </a:lnTo>
                <a:lnTo>
                  <a:pt x="83835" y="56679"/>
                </a:lnTo>
                <a:cubicBezTo>
                  <a:pt x="87017" y="59861"/>
                  <a:pt x="92183" y="59861"/>
                  <a:pt x="95365" y="56679"/>
                </a:cubicBezTo>
                <a:cubicBezTo>
                  <a:pt x="98546" y="53498"/>
                  <a:pt x="98546" y="48331"/>
                  <a:pt x="95365" y="45150"/>
                </a:cubicBezTo>
                <a:lnTo>
                  <a:pt x="54643" y="4428"/>
                </a:lnTo>
                <a:close/>
              </a:path>
            </a:pathLst>
          </a:custGeom>
          <a:solidFill>
            <a:srgbClr val="00A63E"/>
          </a:solidFill>
          <a:ln/>
        </p:spPr>
      </p:sp>
      <p:sp>
        <p:nvSpPr>
          <p:cNvPr id="60" name="Text 58"/>
          <p:cNvSpPr/>
          <p:nvPr/>
        </p:nvSpPr>
        <p:spPr>
          <a:xfrm>
            <a:off x="7746236" y="3379880"/>
            <a:ext cx="3127407" cy="195463"/>
          </a:xfrm>
          <a:prstGeom prst="rect">
            <a:avLst/>
          </a:prstGeom>
          <a:noFill/>
          <a:ln/>
        </p:spPr>
        <p:txBody>
          <a:bodyPr wrap="square" lIns="0" tIns="0" rIns="0" bIns="0" rtlCol="0" anchor="ctr"/>
          <a:lstStyle/>
          <a:p>
            <a:pPr>
              <a:lnSpc>
                <a:spcPct val="130000"/>
              </a:lnSpc>
            </a:pPr>
            <a:r>
              <a:rPr lang="en-US" sz="1026" b="1" dirty="0">
                <a:solidFill>
                  <a:srgbClr val="1F2937"/>
                </a:solidFill>
                <a:latin typeface="Sorts Mill Goudy" pitchFamily="34" charset="0"/>
                <a:ea typeface="Sorts Mill Goudy" pitchFamily="34" charset="-122"/>
                <a:cs typeface="Sorts Mill Goudy" pitchFamily="34" charset="-120"/>
              </a:rPr>
              <a:t>Strong:</a:t>
            </a:r>
            <a:r>
              <a:rPr lang="en-US" sz="1026" dirty="0">
                <a:solidFill>
                  <a:srgbClr val="1F2937"/>
                </a:solidFill>
                <a:latin typeface="Sorts Mill Goudy" pitchFamily="34" charset="0"/>
                <a:ea typeface="Sorts Mill Goudy" pitchFamily="34" charset="-122"/>
                <a:cs typeface="Sorts Mill Goudy" pitchFamily="34" charset="-120"/>
              </a:rPr>
              <a:t> WHO, WHAT questions (clear semantic slots)</a:t>
            </a:r>
            <a:endParaRPr lang="en-US" sz="1600" dirty="0"/>
          </a:p>
        </p:txBody>
      </p:sp>
      <p:sp>
        <p:nvSpPr>
          <p:cNvPr id="61" name="Shape 59"/>
          <p:cNvSpPr/>
          <p:nvPr/>
        </p:nvSpPr>
        <p:spPr>
          <a:xfrm>
            <a:off x="7550774" y="3705651"/>
            <a:ext cx="97731" cy="130309"/>
          </a:xfrm>
          <a:custGeom>
            <a:avLst/>
            <a:gdLst/>
            <a:ahLst/>
            <a:cxnLst/>
            <a:rect l="l" t="t" r="r" b="b"/>
            <a:pathLst>
              <a:path w="97731" h="130309">
                <a:moveTo>
                  <a:pt x="43114" y="127916"/>
                </a:moveTo>
                <a:cubicBezTo>
                  <a:pt x="46295" y="131098"/>
                  <a:pt x="51462" y="131098"/>
                  <a:pt x="54643" y="127916"/>
                </a:cubicBezTo>
                <a:lnTo>
                  <a:pt x="95365" y="87195"/>
                </a:lnTo>
                <a:cubicBezTo>
                  <a:pt x="98546" y="84013"/>
                  <a:pt x="98546" y="78847"/>
                  <a:pt x="95365" y="75666"/>
                </a:cubicBezTo>
                <a:cubicBezTo>
                  <a:pt x="92183" y="72484"/>
                  <a:pt x="87017" y="72484"/>
                  <a:pt x="83835" y="75666"/>
                </a:cubicBezTo>
                <a:lnTo>
                  <a:pt x="57010" y="102491"/>
                </a:lnTo>
                <a:lnTo>
                  <a:pt x="57010" y="8144"/>
                </a:lnTo>
                <a:cubicBezTo>
                  <a:pt x="57010" y="3639"/>
                  <a:pt x="53371" y="0"/>
                  <a:pt x="48866" y="0"/>
                </a:cubicBezTo>
                <a:cubicBezTo>
                  <a:pt x="44361" y="0"/>
                  <a:pt x="40721" y="3639"/>
                  <a:pt x="40721" y="8144"/>
                </a:cubicBezTo>
                <a:lnTo>
                  <a:pt x="40721" y="102491"/>
                </a:lnTo>
                <a:lnTo>
                  <a:pt x="13896" y="75666"/>
                </a:lnTo>
                <a:cubicBezTo>
                  <a:pt x="10715" y="72484"/>
                  <a:pt x="5548" y="72484"/>
                  <a:pt x="2367" y="75666"/>
                </a:cubicBezTo>
                <a:cubicBezTo>
                  <a:pt x="-814" y="78847"/>
                  <a:pt x="-814" y="84013"/>
                  <a:pt x="2367" y="87195"/>
                </a:cubicBezTo>
                <a:lnTo>
                  <a:pt x="43088" y="127916"/>
                </a:lnTo>
                <a:close/>
              </a:path>
            </a:pathLst>
          </a:custGeom>
          <a:solidFill>
            <a:srgbClr val="8B0000"/>
          </a:solidFill>
          <a:ln/>
        </p:spPr>
      </p:sp>
      <p:sp>
        <p:nvSpPr>
          <p:cNvPr id="62" name="Text 60"/>
          <p:cNvSpPr/>
          <p:nvPr/>
        </p:nvSpPr>
        <p:spPr>
          <a:xfrm>
            <a:off x="7746236" y="3673074"/>
            <a:ext cx="4006990" cy="195463"/>
          </a:xfrm>
          <a:prstGeom prst="rect">
            <a:avLst/>
          </a:prstGeom>
          <a:noFill/>
          <a:ln/>
        </p:spPr>
        <p:txBody>
          <a:bodyPr wrap="square" lIns="0" tIns="0" rIns="0" bIns="0" rtlCol="0" anchor="ctr"/>
          <a:lstStyle/>
          <a:p>
            <a:pPr>
              <a:lnSpc>
                <a:spcPct val="130000"/>
              </a:lnSpc>
            </a:pPr>
            <a:r>
              <a:rPr lang="en-US" sz="1026" b="1" dirty="0">
                <a:solidFill>
                  <a:srgbClr val="1F2937"/>
                </a:solidFill>
                <a:latin typeface="Sorts Mill Goudy" pitchFamily="34" charset="0"/>
                <a:ea typeface="Sorts Mill Goudy" pitchFamily="34" charset="-122"/>
                <a:cs typeface="Sorts Mill Goudy" pitchFamily="34" charset="-120"/>
              </a:rPr>
              <a:t>Weak:</a:t>
            </a:r>
            <a:r>
              <a:rPr lang="en-US" sz="1026" dirty="0">
                <a:solidFill>
                  <a:srgbClr val="1F2937"/>
                </a:solidFill>
                <a:latin typeface="Sorts Mill Goudy" pitchFamily="34" charset="0"/>
                <a:ea typeface="Sorts Mill Goudy" pitchFamily="34" charset="-122"/>
                <a:cs typeface="Sorts Mill Goudy" pitchFamily="34" charset="-120"/>
              </a:rPr>
              <a:t> WHERE, HOW, WHY (subtle boundaries, complex semantics)</a:t>
            </a:r>
            <a:endParaRPr lang="en-US" sz="1600" dirty="0"/>
          </a:p>
        </p:txBody>
      </p:sp>
      <p:sp>
        <p:nvSpPr>
          <p:cNvPr id="63" name="Shape 61"/>
          <p:cNvSpPr/>
          <p:nvPr/>
        </p:nvSpPr>
        <p:spPr>
          <a:xfrm>
            <a:off x="7534485" y="3998846"/>
            <a:ext cx="130309" cy="130309"/>
          </a:xfrm>
          <a:custGeom>
            <a:avLst/>
            <a:gdLst/>
            <a:ahLst/>
            <a:cxnLst/>
            <a:rect l="l" t="t" r="r" b="b"/>
            <a:pathLst>
              <a:path w="130309" h="130309">
                <a:moveTo>
                  <a:pt x="65154" y="130309"/>
                </a:moveTo>
                <a:cubicBezTo>
                  <a:pt x="101114" y="130309"/>
                  <a:pt x="130309" y="101114"/>
                  <a:pt x="130309" y="65154"/>
                </a:cubicBezTo>
                <a:cubicBezTo>
                  <a:pt x="130309" y="29195"/>
                  <a:pt x="101114" y="0"/>
                  <a:pt x="65154" y="0"/>
                </a:cubicBezTo>
                <a:cubicBezTo>
                  <a:pt x="29195" y="0"/>
                  <a:pt x="0" y="29195"/>
                  <a:pt x="0" y="65154"/>
                </a:cubicBezTo>
                <a:cubicBezTo>
                  <a:pt x="0" y="101114"/>
                  <a:pt x="29195" y="130309"/>
                  <a:pt x="65154" y="130309"/>
                </a:cubicBezTo>
                <a:close/>
                <a:moveTo>
                  <a:pt x="57010" y="40721"/>
                </a:moveTo>
                <a:cubicBezTo>
                  <a:pt x="57010" y="36226"/>
                  <a:pt x="60659" y="32577"/>
                  <a:pt x="65154" y="32577"/>
                </a:cubicBezTo>
                <a:cubicBezTo>
                  <a:pt x="69649" y="32577"/>
                  <a:pt x="73299" y="36226"/>
                  <a:pt x="73299" y="40721"/>
                </a:cubicBezTo>
                <a:cubicBezTo>
                  <a:pt x="73299" y="45216"/>
                  <a:pt x="69649" y="48866"/>
                  <a:pt x="65154" y="48866"/>
                </a:cubicBezTo>
                <a:cubicBezTo>
                  <a:pt x="60659" y="48866"/>
                  <a:pt x="57010" y="45216"/>
                  <a:pt x="57010" y="40721"/>
                </a:cubicBezTo>
                <a:close/>
                <a:moveTo>
                  <a:pt x="54974" y="57010"/>
                </a:moveTo>
                <a:lnTo>
                  <a:pt x="67190" y="57010"/>
                </a:lnTo>
                <a:cubicBezTo>
                  <a:pt x="70575" y="57010"/>
                  <a:pt x="73299" y="59733"/>
                  <a:pt x="73299" y="63118"/>
                </a:cubicBezTo>
                <a:lnTo>
                  <a:pt x="73299" y="85515"/>
                </a:lnTo>
                <a:lnTo>
                  <a:pt x="75335" y="85515"/>
                </a:lnTo>
                <a:cubicBezTo>
                  <a:pt x="78720" y="85515"/>
                  <a:pt x="81443" y="88238"/>
                  <a:pt x="81443" y="91623"/>
                </a:cubicBezTo>
                <a:cubicBezTo>
                  <a:pt x="81443" y="95008"/>
                  <a:pt x="78720" y="97731"/>
                  <a:pt x="75335" y="97731"/>
                </a:cubicBezTo>
                <a:lnTo>
                  <a:pt x="54974" y="97731"/>
                </a:lnTo>
                <a:cubicBezTo>
                  <a:pt x="51589" y="97731"/>
                  <a:pt x="48866" y="95008"/>
                  <a:pt x="48866" y="91623"/>
                </a:cubicBezTo>
                <a:cubicBezTo>
                  <a:pt x="48866" y="88238"/>
                  <a:pt x="51589" y="85515"/>
                  <a:pt x="54974" y="85515"/>
                </a:cubicBezTo>
                <a:lnTo>
                  <a:pt x="61082" y="85515"/>
                </a:lnTo>
                <a:lnTo>
                  <a:pt x="61082" y="69226"/>
                </a:lnTo>
                <a:lnTo>
                  <a:pt x="54974" y="69226"/>
                </a:lnTo>
                <a:cubicBezTo>
                  <a:pt x="51589" y="69226"/>
                  <a:pt x="48866" y="66503"/>
                  <a:pt x="48866" y="63118"/>
                </a:cubicBezTo>
                <a:cubicBezTo>
                  <a:pt x="48866" y="59733"/>
                  <a:pt x="51589" y="57010"/>
                  <a:pt x="54974" y="57010"/>
                </a:cubicBezTo>
                <a:close/>
              </a:path>
            </a:pathLst>
          </a:custGeom>
          <a:solidFill>
            <a:srgbClr val="8B0000"/>
          </a:solidFill>
          <a:ln/>
        </p:spPr>
      </p:sp>
      <p:sp>
        <p:nvSpPr>
          <p:cNvPr id="64" name="Text 62"/>
          <p:cNvSpPr/>
          <p:nvPr/>
        </p:nvSpPr>
        <p:spPr>
          <a:xfrm>
            <a:off x="7746236" y="3966269"/>
            <a:ext cx="3559054" cy="195463"/>
          </a:xfrm>
          <a:prstGeom prst="rect">
            <a:avLst/>
          </a:prstGeom>
          <a:noFill/>
          <a:ln/>
        </p:spPr>
        <p:txBody>
          <a:bodyPr wrap="square" lIns="0" tIns="0" rIns="0" bIns="0" rtlCol="0" anchor="ctr"/>
          <a:lstStyle/>
          <a:p>
            <a:pPr>
              <a:lnSpc>
                <a:spcPct val="130000"/>
              </a:lnSpc>
            </a:pPr>
            <a:r>
              <a:rPr lang="en-US" sz="1026" b="1" dirty="0">
                <a:solidFill>
                  <a:srgbClr val="1F2937"/>
                </a:solidFill>
                <a:latin typeface="Sorts Mill Goudy" pitchFamily="34" charset="0"/>
                <a:ea typeface="Sorts Mill Goudy" pitchFamily="34" charset="-122"/>
                <a:cs typeface="Sorts Mill Goudy" pitchFamily="34" charset="-120"/>
              </a:rPr>
              <a:t>Pattern:</a:t>
            </a:r>
            <a:r>
              <a:rPr lang="en-US" sz="1026" dirty="0">
                <a:solidFill>
                  <a:srgbClr val="1F2937"/>
                </a:solidFill>
                <a:latin typeface="Sorts Mill Goudy" pitchFamily="34" charset="0"/>
                <a:ea typeface="Sorts Mill Goudy" pitchFamily="34" charset="-122"/>
                <a:cs typeface="Sorts Mill Goudy" pitchFamily="34" charset="-120"/>
              </a:rPr>
              <a:t> Performance correlates with role frequency and clarity</a:t>
            </a:r>
            <a:endParaRPr lang="en-US" sz="1600" dirty="0"/>
          </a:p>
        </p:txBody>
      </p:sp>
      <p:sp>
        <p:nvSpPr>
          <p:cNvPr id="65" name="Shape 63"/>
          <p:cNvSpPr/>
          <p:nvPr/>
        </p:nvSpPr>
        <p:spPr>
          <a:xfrm>
            <a:off x="7347166" y="4463070"/>
            <a:ext cx="4520080" cy="1156489"/>
          </a:xfrm>
          <a:custGeom>
            <a:avLst/>
            <a:gdLst/>
            <a:ahLst/>
            <a:cxnLst/>
            <a:rect l="l" t="t" r="r" b="b"/>
            <a:pathLst>
              <a:path w="4520080" h="1156489">
                <a:moveTo>
                  <a:pt x="0" y="0"/>
                </a:moveTo>
                <a:lnTo>
                  <a:pt x="4520080" y="0"/>
                </a:lnTo>
                <a:lnTo>
                  <a:pt x="4520080" y="1156489"/>
                </a:lnTo>
                <a:lnTo>
                  <a:pt x="0" y="1156489"/>
                </a:lnTo>
                <a:lnTo>
                  <a:pt x="0" y="0"/>
                </a:lnTo>
                <a:close/>
              </a:path>
            </a:pathLst>
          </a:custGeom>
          <a:solidFill>
            <a:srgbClr val="8B0000"/>
          </a:solidFill>
          <a:ln/>
        </p:spPr>
      </p:sp>
      <p:sp>
        <p:nvSpPr>
          <p:cNvPr id="66" name="Text 64"/>
          <p:cNvSpPr/>
          <p:nvPr/>
        </p:nvSpPr>
        <p:spPr>
          <a:xfrm>
            <a:off x="7477475" y="4593379"/>
            <a:ext cx="4324617" cy="195463"/>
          </a:xfrm>
          <a:prstGeom prst="rect">
            <a:avLst/>
          </a:prstGeom>
          <a:noFill/>
          <a:ln/>
        </p:spPr>
        <p:txBody>
          <a:bodyPr wrap="square" lIns="0" tIns="0" rIns="0" bIns="0" rtlCol="0" anchor="ctr"/>
          <a:lstStyle/>
          <a:p>
            <a:pPr>
              <a:lnSpc>
                <a:spcPct val="130000"/>
              </a:lnSpc>
            </a:pPr>
            <a:r>
              <a:rPr lang="en-US" sz="1026" b="1" dirty="0">
                <a:solidFill>
                  <a:srgbClr val="FFFFFF"/>
                </a:solidFill>
                <a:latin typeface="Sorts Mill Goudy" pitchFamily="34" charset="0"/>
                <a:ea typeface="Sorts Mill Goudy" pitchFamily="34" charset="-122"/>
                <a:cs typeface="Sorts Mill Goudy" pitchFamily="34" charset="-120"/>
              </a:rPr>
              <a:t>Key Takeaway</a:t>
            </a:r>
            <a:endParaRPr lang="en-US" sz="1600" dirty="0"/>
          </a:p>
        </p:txBody>
      </p:sp>
      <p:sp>
        <p:nvSpPr>
          <p:cNvPr id="67" name="Text 65"/>
          <p:cNvSpPr/>
          <p:nvPr/>
        </p:nvSpPr>
        <p:spPr>
          <a:xfrm>
            <a:off x="7477475" y="4853996"/>
            <a:ext cx="4324617" cy="635255"/>
          </a:xfrm>
          <a:prstGeom prst="rect">
            <a:avLst/>
          </a:prstGeom>
          <a:noFill/>
          <a:ln/>
        </p:spPr>
        <p:txBody>
          <a:bodyPr wrap="square" lIns="0" tIns="0" rIns="0" bIns="0" rtlCol="0" anchor="ctr"/>
          <a:lstStyle/>
          <a:p>
            <a:pPr>
              <a:lnSpc>
                <a:spcPct val="140000"/>
              </a:lnSpc>
            </a:pPr>
            <a:r>
              <a:rPr lang="en-US" sz="1026" dirty="0">
                <a:solidFill>
                  <a:srgbClr val="FFFFFF"/>
                </a:solidFill>
                <a:latin typeface="Sorts Mill Goudy" pitchFamily="34" charset="0"/>
                <a:ea typeface="Sorts Mill Goudy" pitchFamily="34" charset="-122"/>
                <a:cs typeface="Sorts Mill Goudy" pitchFamily="34" charset="-120"/>
              </a:rPr>
              <a:t>The model is relatively stronger on WHO and WHAT questions, struggling more on WHERE, HOW, and especially WHY—plausible because causal and manner questions require more subtle phrase boundaries.</a:t>
            </a:r>
            <a:endParaRPr lang="en-US" sz="1600" dirty="0"/>
          </a:p>
        </p:txBody>
      </p:sp>
    </p:spTree>
    <p:extLst>
      <p:ext uri="{BB962C8B-B14F-4D97-AF65-F5344CB8AC3E}">
        <p14:creationId xmlns:p14="http://schemas.microsoft.com/office/powerpoint/2010/main" val="2413931487"/>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463296"/>
          </a:xfrm>
          <a:prstGeom prst="rect">
            <a:avLst/>
          </a:prstGeom>
          <a:solidFill>
            <a:srgbClr val="1B7FBF"/>
          </a:solidFill>
          <a:ln w="12700">
            <a:solidFill>
              <a:srgbClr val="1B7FBF"/>
            </a:solidFill>
            <a:prstDash val="solid"/>
          </a:ln>
        </p:spPr>
      </p:sp>
      <p:sp>
        <p:nvSpPr>
          <p:cNvPr id="3" name="Text 1"/>
          <p:cNvSpPr/>
          <p:nvPr/>
        </p:nvSpPr>
        <p:spPr>
          <a:xfrm>
            <a:off x="365760" y="0"/>
            <a:ext cx="10972800" cy="463296"/>
          </a:xfrm>
          <a:prstGeom prst="rect">
            <a:avLst/>
          </a:prstGeom>
          <a:noFill/>
          <a:ln/>
        </p:spPr>
        <p:txBody>
          <a:bodyPr wrap="square" lIns="0" tIns="0" rIns="0" bIns="0" rtlCol="0" anchor="ctr"/>
          <a:lstStyle/>
          <a:p>
            <a:r>
              <a:rPr lang="en-US" sz="1333" b="1" kern="0" spc="400" dirty="0">
                <a:solidFill>
                  <a:srgbClr val="FFFFFF"/>
                </a:solidFill>
              </a:rPr>
              <a:t>FOUNDATION</a:t>
            </a:r>
            <a:endParaRPr lang="en-US" sz="1333" dirty="0"/>
          </a:p>
        </p:txBody>
      </p:sp>
      <p:sp>
        <p:nvSpPr>
          <p:cNvPr id="4" name="Text 2"/>
          <p:cNvSpPr/>
          <p:nvPr/>
        </p:nvSpPr>
        <p:spPr>
          <a:xfrm>
            <a:off x="548640" y="609600"/>
            <a:ext cx="11094720" cy="853440"/>
          </a:xfrm>
          <a:prstGeom prst="rect">
            <a:avLst/>
          </a:prstGeom>
          <a:noFill/>
          <a:ln/>
        </p:spPr>
        <p:txBody>
          <a:bodyPr wrap="square" lIns="0" tIns="0" rIns="0" bIns="0" rtlCol="0" anchor="ctr"/>
          <a:lstStyle/>
          <a:p>
            <a:r>
              <a:rPr lang="en-US" sz="3467" b="1" dirty="0">
                <a:solidFill>
                  <a:srgbClr val="142966"/>
                </a:solidFill>
                <a:latin typeface="Calibri" pitchFamily="34" charset="0"/>
                <a:ea typeface="Calibri" pitchFamily="34" charset="-122"/>
                <a:cs typeface="Calibri" pitchFamily="34" charset="-120"/>
              </a:rPr>
              <a:t>PropBank: Semantic Role Annotation</a:t>
            </a:r>
            <a:endParaRPr lang="en-US" sz="3467" dirty="0"/>
          </a:p>
        </p:txBody>
      </p:sp>
      <p:pic>
        <p:nvPicPr>
          <p:cNvPr id="5" name="Image 0" descr="preencoded.png"/>
          <p:cNvPicPr>
            <a:picLocks noChangeAspect="1"/>
          </p:cNvPicPr>
          <p:nvPr/>
        </p:nvPicPr>
        <p:blipFill>
          <a:blip r:embed="rId3"/>
          <a:stretch>
            <a:fillRect/>
          </a:stretch>
        </p:blipFill>
        <p:spPr>
          <a:xfrm>
            <a:off x="365760" y="1341120"/>
            <a:ext cx="11460480" cy="2316480"/>
          </a:xfrm>
          <a:prstGeom prst="rect">
            <a:avLst/>
          </a:prstGeom>
        </p:spPr>
      </p:pic>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365760" y="3779520"/>
          <a:ext cx="11460480" cy="2865120"/>
        </p:xfrm>
        <a:graphic>
          <a:graphicData uri="http://schemas.openxmlformats.org/drawingml/2006/table">
            <a:tbl>
              <a:tblPr/>
              <a:tblGrid>
                <a:gridCol w="1584960">
                  <a:extLst>
                    <a:ext uri="{9D8B030D-6E8A-4147-A177-3AD203B41FA5}">
                      <a16:colId xmlns:a16="http://schemas.microsoft.com/office/drawing/2014/main" val="20000"/>
                    </a:ext>
                  </a:extLst>
                </a:gridCol>
                <a:gridCol w="4632960">
                  <a:extLst>
                    <a:ext uri="{9D8B030D-6E8A-4147-A177-3AD203B41FA5}">
                      <a16:colId xmlns:a16="http://schemas.microsoft.com/office/drawing/2014/main" val="20001"/>
                    </a:ext>
                  </a:extLst>
                </a:gridCol>
                <a:gridCol w="5242560">
                  <a:extLst>
                    <a:ext uri="{9D8B030D-6E8A-4147-A177-3AD203B41FA5}">
                      <a16:colId xmlns:a16="http://schemas.microsoft.com/office/drawing/2014/main" val="20002"/>
                    </a:ext>
                  </a:extLst>
                </a:gridCol>
              </a:tblGrid>
              <a:tr h="358140">
                <a:tc>
                  <a:txBody>
                    <a:bodyPr/>
                    <a:lstStyle/>
                    <a:p>
                      <a:pPr marL="0" indent="0">
                        <a:buNone/>
                      </a:pPr>
                      <a:r>
                        <a:rPr lang="en-US" sz="1300" b="1" dirty="0">
                          <a:solidFill>
                            <a:srgbClr val="FFFFFF"/>
                          </a:solidFill>
                        </a:rPr>
                        <a:t>Role</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2966"/>
                    </a:solidFill>
                  </a:tcPr>
                </a:tc>
                <a:tc>
                  <a:txBody>
                    <a:bodyPr/>
                    <a:lstStyle/>
                    <a:p>
                      <a:pPr marL="0" indent="0">
                        <a:buNone/>
                      </a:pPr>
                      <a:r>
                        <a:rPr lang="en-US" sz="1300" b="1" dirty="0">
                          <a:solidFill>
                            <a:srgbClr val="FFFFFF"/>
                          </a:solidFill>
                        </a:rPr>
                        <a:t>Typical Meaning</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2966"/>
                    </a:solidFill>
                  </a:tcPr>
                </a:tc>
                <a:tc>
                  <a:txBody>
                    <a:bodyPr/>
                    <a:lstStyle/>
                    <a:p>
                      <a:pPr marL="0" indent="0">
                        <a:buNone/>
                      </a:pPr>
                      <a:r>
                        <a:rPr lang="en-US" sz="1300" b="1" dirty="0">
                          <a:solidFill>
                            <a:srgbClr val="FFFFFF"/>
                          </a:solidFill>
                        </a:rPr>
                        <a:t>QA Question Mapped</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2966"/>
                    </a:solidFill>
                  </a:tcPr>
                </a:tc>
                <a:extLst>
                  <a:ext uri="{0D108BD9-81ED-4DB2-BD59-A6C34878D82A}">
                    <a16:rowId xmlns:a16="http://schemas.microsoft.com/office/drawing/2014/main" val="10000"/>
                  </a:ext>
                </a:extLst>
              </a:tr>
              <a:tr h="358140">
                <a:tc>
                  <a:txBody>
                    <a:bodyPr/>
                    <a:lstStyle/>
                    <a:p>
                      <a:pPr marL="0" indent="0">
                        <a:buNone/>
                      </a:pPr>
                      <a:r>
                        <a:rPr lang="en-US" sz="1300" dirty="0">
                          <a:solidFill>
                            <a:srgbClr val="000000"/>
                          </a:solidFill>
                        </a:rPr>
                        <a:t>ARG0</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Proto-agent / causer / experiencer</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Who did the action?</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58140">
                <a:tc>
                  <a:txBody>
                    <a:bodyPr/>
                    <a:lstStyle/>
                    <a:p>
                      <a:pPr marL="0" indent="0">
                        <a:buNone/>
                      </a:pPr>
                      <a:r>
                        <a:rPr lang="en-US" sz="1300" dirty="0">
                          <a:solidFill>
                            <a:srgbClr val="000000"/>
                          </a:solidFill>
                        </a:rPr>
                        <a:t>ARG1</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00000"/>
                          </a:solidFill>
                        </a:rPr>
                        <a:t>Patient / theme / proposition</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00000"/>
                          </a:solidFill>
                        </a:rPr>
                        <a:t>What was affected?</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extLst>
                  <a:ext uri="{0D108BD9-81ED-4DB2-BD59-A6C34878D82A}">
                    <a16:rowId xmlns:a16="http://schemas.microsoft.com/office/drawing/2014/main" val="10002"/>
                  </a:ext>
                </a:extLst>
              </a:tr>
              <a:tr h="358140">
                <a:tc>
                  <a:txBody>
                    <a:bodyPr/>
                    <a:lstStyle/>
                    <a:p>
                      <a:pPr marL="0" indent="0">
                        <a:buNone/>
                      </a:pPr>
                      <a:r>
                        <a:rPr lang="en-US" sz="1300" dirty="0">
                          <a:solidFill>
                            <a:srgbClr val="000000"/>
                          </a:solidFill>
                        </a:rPr>
                        <a:t>ARG2–ARG5</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Predicate-specific secondary roles</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To whom / with what?</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58140">
                <a:tc>
                  <a:txBody>
                    <a:bodyPr/>
                    <a:lstStyle/>
                    <a:p>
                      <a:pPr marL="0" indent="0">
                        <a:buNone/>
                      </a:pPr>
                      <a:r>
                        <a:rPr lang="en-US" sz="1300" dirty="0">
                          <a:solidFill>
                            <a:srgbClr val="000000"/>
                          </a:solidFill>
                        </a:rPr>
                        <a:t>ARGM-TMP</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00000"/>
                          </a:solidFill>
                        </a:rPr>
                        <a:t>Temporal modifier</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00000"/>
                          </a:solidFill>
                        </a:rPr>
                        <a:t>When did it happen?</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extLst>
                  <a:ext uri="{0D108BD9-81ED-4DB2-BD59-A6C34878D82A}">
                    <a16:rowId xmlns:a16="http://schemas.microsoft.com/office/drawing/2014/main" val="10004"/>
                  </a:ext>
                </a:extLst>
              </a:tr>
              <a:tr h="358140">
                <a:tc>
                  <a:txBody>
                    <a:bodyPr/>
                    <a:lstStyle/>
                    <a:p>
                      <a:pPr marL="0" indent="0">
                        <a:buNone/>
                      </a:pPr>
                      <a:r>
                        <a:rPr lang="en-US" sz="1300" dirty="0">
                          <a:solidFill>
                            <a:srgbClr val="000000"/>
                          </a:solidFill>
                        </a:rPr>
                        <a:t>ARGM-LOC</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Locative modifier</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Where did it happen?</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58140">
                <a:tc>
                  <a:txBody>
                    <a:bodyPr/>
                    <a:lstStyle/>
                    <a:p>
                      <a:pPr marL="0" indent="0">
                        <a:buNone/>
                      </a:pPr>
                      <a:r>
                        <a:rPr lang="en-US" sz="1300" dirty="0">
                          <a:solidFill>
                            <a:srgbClr val="000000"/>
                          </a:solidFill>
                        </a:rPr>
                        <a:t>ARGM-MNR</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00000"/>
                          </a:solidFill>
                        </a:rPr>
                        <a:t>Manner modifier</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00000"/>
                          </a:solidFill>
                        </a:rPr>
                        <a:t>How did it happen?</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extLst>
                  <a:ext uri="{0D108BD9-81ED-4DB2-BD59-A6C34878D82A}">
                    <a16:rowId xmlns:a16="http://schemas.microsoft.com/office/drawing/2014/main" val="10006"/>
                  </a:ext>
                </a:extLst>
              </a:tr>
              <a:tr h="358140">
                <a:tc>
                  <a:txBody>
                    <a:bodyPr/>
                    <a:lstStyle/>
                    <a:p>
                      <a:pPr marL="0" indent="0">
                        <a:buNone/>
                      </a:pPr>
                      <a:r>
                        <a:rPr lang="en-US" sz="1300" dirty="0">
                          <a:solidFill>
                            <a:srgbClr val="000000"/>
                          </a:solidFill>
                        </a:rPr>
                        <a:t>ARGM-CAU</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Causal modifier</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Why did it happen?</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0711583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463296"/>
          </a:xfrm>
          <a:prstGeom prst="rect">
            <a:avLst/>
          </a:prstGeom>
          <a:solidFill>
            <a:srgbClr val="1B7FBF"/>
          </a:solidFill>
          <a:ln w="12700">
            <a:solidFill>
              <a:srgbClr val="1B7FBF"/>
            </a:solidFill>
            <a:prstDash val="solid"/>
          </a:ln>
        </p:spPr>
      </p:sp>
      <p:sp>
        <p:nvSpPr>
          <p:cNvPr id="3" name="Text 1"/>
          <p:cNvSpPr/>
          <p:nvPr/>
        </p:nvSpPr>
        <p:spPr>
          <a:xfrm>
            <a:off x="365760" y="0"/>
            <a:ext cx="10972800" cy="463296"/>
          </a:xfrm>
          <a:prstGeom prst="rect">
            <a:avLst/>
          </a:prstGeom>
          <a:noFill/>
          <a:ln/>
        </p:spPr>
        <p:txBody>
          <a:bodyPr wrap="square" lIns="0" tIns="0" rIns="0" bIns="0" rtlCol="0" anchor="ctr"/>
          <a:lstStyle/>
          <a:p>
            <a:r>
              <a:rPr lang="en-US" sz="1333" b="1" kern="0" spc="400" dirty="0">
                <a:solidFill>
                  <a:srgbClr val="FFFFFF"/>
                </a:solidFill>
              </a:rPr>
              <a:t>DATASET</a:t>
            </a:r>
            <a:endParaRPr lang="en-US" sz="1333" dirty="0"/>
          </a:p>
        </p:txBody>
      </p:sp>
      <p:sp>
        <p:nvSpPr>
          <p:cNvPr id="4" name="Text 2"/>
          <p:cNvSpPr/>
          <p:nvPr/>
        </p:nvSpPr>
        <p:spPr>
          <a:xfrm>
            <a:off x="548640" y="609600"/>
            <a:ext cx="11094720" cy="853440"/>
          </a:xfrm>
          <a:prstGeom prst="rect">
            <a:avLst/>
          </a:prstGeom>
          <a:noFill/>
          <a:ln/>
        </p:spPr>
        <p:txBody>
          <a:bodyPr wrap="square" lIns="0" tIns="0" rIns="0" bIns="0" rtlCol="0" anchor="ctr"/>
          <a:lstStyle/>
          <a:p>
            <a:r>
              <a:rPr lang="en-US" sz="3467" b="1" dirty="0">
                <a:solidFill>
                  <a:srgbClr val="142966"/>
                </a:solidFill>
                <a:latin typeface="Calibri" pitchFamily="34" charset="0"/>
                <a:ea typeface="Calibri" pitchFamily="34" charset="-122"/>
                <a:cs typeface="Calibri" pitchFamily="34" charset="-120"/>
              </a:rPr>
              <a:t>Data Pipeline: PropBank → QA Examples</a:t>
            </a:r>
            <a:endParaRPr lang="en-US" sz="3467" dirty="0"/>
          </a:p>
        </p:txBody>
      </p:sp>
      <p:sp>
        <p:nvSpPr>
          <p:cNvPr id="5" name="Shape 3"/>
          <p:cNvSpPr/>
          <p:nvPr/>
        </p:nvSpPr>
        <p:spPr>
          <a:xfrm>
            <a:off x="365760" y="1402080"/>
            <a:ext cx="2560320" cy="1402080"/>
          </a:xfrm>
          <a:prstGeom prst="rect">
            <a:avLst/>
          </a:prstGeom>
          <a:solidFill>
            <a:srgbClr val="FFFFFF"/>
          </a:solidFill>
          <a:ln/>
          <a:effectLst>
            <a:outerShdw blurRad="101600" dist="25400" dir="8100000" algn="bl" rotWithShape="0">
              <a:srgbClr val="000000">
                <a:alpha val="12000"/>
              </a:srgbClr>
            </a:outerShdw>
          </a:effectLst>
        </p:spPr>
      </p:sp>
      <p:sp>
        <p:nvSpPr>
          <p:cNvPr id="6" name="Shape 4"/>
          <p:cNvSpPr/>
          <p:nvPr/>
        </p:nvSpPr>
        <p:spPr>
          <a:xfrm>
            <a:off x="365760" y="1402080"/>
            <a:ext cx="2560320" cy="219456"/>
          </a:xfrm>
          <a:prstGeom prst="rect">
            <a:avLst/>
          </a:prstGeom>
          <a:solidFill>
            <a:srgbClr val="0FA3B1"/>
          </a:solidFill>
          <a:ln w="12700">
            <a:solidFill>
              <a:srgbClr val="0FA3B1"/>
            </a:solidFill>
            <a:prstDash val="solid"/>
          </a:ln>
        </p:spPr>
      </p:sp>
      <p:sp>
        <p:nvSpPr>
          <p:cNvPr id="7" name="Text 5"/>
          <p:cNvSpPr/>
          <p:nvPr/>
        </p:nvSpPr>
        <p:spPr>
          <a:xfrm>
            <a:off x="426720" y="1670304"/>
            <a:ext cx="2438400" cy="670560"/>
          </a:xfrm>
          <a:prstGeom prst="rect">
            <a:avLst/>
          </a:prstGeom>
          <a:noFill/>
          <a:ln/>
        </p:spPr>
        <p:txBody>
          <a:bodyPr wrap="square" lIns="0" tIns="0" rIns="0" bIns="0" rtlCol="0" anchor="ctr"/>
          <a:lstStyle/>
          <a:p>
            <a:pPr algn="ctr"/>
            <a:r>
              <a:rPr lang="en-US" sz="3467" b="1" dirty="0">
                <a:solidFill>
                  <a:srgbClr val="142966"/>
                </a:solidFill>
              </a:rPr>
              <a:t>112,917</a:t>
            </a:r>
            <a:endParaRPr lang="en-US" sz="3467" dirty="0"/>
          </a:p>
        </p:txBody>
      </p:sp>
      <p:sp>
        <p:nvSpPr>
          <p:cNvPr id="8" name="Text 6"/>
          <p:cNvSpPr/>
          <p:nvPr/>
        </p:nvSpPr>
        <p:spPr>
          <a:xfrm>
            <a:off x="426720" y="2328672"/>
            <a:ext cx="2438400" cy="390144"/>
          </a:xfrm>
          <a:prstGeom prst="rect">
            <a:avLst/>
          </a:prstGeom>
          <a:noFill/>
          <a:ln/>
        </p:spPr>
        <p:txBody>
          <a:bodyPr wrap="square" lIns="0" tIns="0" rIns="0" bIns="0" rtlCol="0" anchor="ctr"/>
          <a:lstStyle/>
          <a:p>
            <a:pPr algn="ctr"/>
            <a:r>
              <a:rPr lang="en-US" sz="1267" dirty="0">
                <a:solidFill>
                  <a:srgbClr val="8096B8"/>
                </a:solidFill>
              </a:rPr>
              <a:t>Total PropBank Instances</a:t>
            </a:r>
            <a:endParaRPr lang="en-US" sz="1267" dirty="0"/>
          </a:p>
        </p:txBody>
      </p:sp>
      <p:sp>
        <p:nvSpPr>
          <p:cNvPr id="9" name="Shape 7"/>
          <p:cNvSpPr/>
          <p:nvPr/>
        </p:nvSpPr>
        <p:spPr>
          <a:xfrm>
            <a:off x="3230880" y="1402080"/>
            <a:ext cx="2560320" cy="1402080"/>
          </a:xfrm>
          <a:prstGeom prst="rect">
            <a:avLst/>
          </a:prstGeom>
          <a:solidFill>
            <a:srgbClr val="FFFFFF"/>
          </a:solidFill>
          <a:ln/>
          <a:effectLst>
            <a:outerShdw blurRad="101600" dist="25400" dir="8100000" algn="bl" rotWithShape="0">
              <a:srgbClr val="000000">
                <a:alpha val="12000"/>
              </a:srgbClr>
            </a:outerShdw>
          </a:effectLst>
        </p:spPr>
      </p:sp>
      <p:sp>
        <p:nvSpPr>
          <p:cNvPr id="10" name="Shape 8"/>
          <p:cNvSpPr/>
          <p:nvPr/>
        </p:nvSpPr>
        <p:spPr>
          <a:xfrm>
            <a:off x="3230880" y="1402080"/>
            <a:ext cx="2560320" cy="219456"/>
          </a:xfrm>
          <a:prstGeom prst="rect">
            <a:avLst/>
          </a:prstGeom>
          <a:solidFill>
            <a:srgbClr val="142966"/>
          </a:solidFill>
          <a:ln w="12700">
            <a:solidFill>
              <a:srgbClr val="142966"/>
            </a:solidFill>
            <a:prstDash val="solid"/>
          </a:ln>
        </p:spPr>
      </p:sp>
      <p:sp>
        <p:nvSpPr>
          <p:cNvPr id="11" name="Text 9"/>
          <p:cNvSpPr/>
          <p:nvPr/>
        </p:nvSpPr>
        <p:spPr>
          <a:xfrm>
            <a:off x="3291840" y="1670304"/>
            <a:ext cx="2438400" cy="670560"/>
          </a:xfrm>
          <a:prstGeom prst="rect">
            <a:avLst/>
          </a:prstGeom>
          <a:noFill/>
          <a:ln/>
        </p:spPr>
        <p:txBody>
          <a:bodyPr wrap="square" lIns="0" tIns="0" rIns="0" bIns="0" rtlCol="0" anchor="ctr"/>
          <a:lstStyle/>
          <a:p>
            <a:pPr algn="ctr"/>
            <a:r>
              <a:rPr lang="en-US" sz="3467" b="1" dirty="0">
                <a:solidFill>
                  <a:srgbClr val="142966"/>
                </a:solidFill>
              </a:rPr>
              <a:t>9,073</a:t>
            </a:r>
            <a:endParaRPr lang="en-US" sz="3467" dirty="0"/>
          </a:p>
        </p:txBody>
      </p:sp>
      <p:sp>
        <p:nvSpPr>
          <p:cNvPr id="12" name="Text 10"/>
          <p:cNvSpPr/>
          <p:nvPr/>
        </p:nvSpPr>
        <p:spPr>
          <a:xfrm>
            <a:off x="3291840" y="2328672"/>
            <a:ext cx="2438400" cy="390144"/>
          </a:xfrm>
          <a:prstGeom prst="rect">
            <a:avLst/>
          </a:prstGeom>
          <a:noFill/>
          <a:ln/>
        </p:spPr>
        <p:txBody>
          <a:bodyPr wrap="square" lIns="0" tIns="0" rIns="0" bIns="0" rtlCol="0" anchor="ctr"/>
          <a:lstStyle/>
          <a:p>
            <a:pPr algn="ctr"/>
            <a:r>
              <a:rPr lang="en-US" sz="1267" dirty="0">
                <a:solidFill>
                  <a:srgbClr val="8096B8"/>
                </a:solidFill>
              </a:rPr>
              <a:t>Treebank-Backed (Usable)</a:t>
            </a:r>
            <a:endParaRPr lang="en-US" sz="1267" dirty="0"/>
          </a:p>
        </p:txBody>
      </p:sp>
      <p:sp>
        <p:nvSpPr>
          <p:cNvPr id="13" name="Shape 11"/>
          <p:cNvSpPr/>
          <p:nvPr/>
        </p:nvSpPr>
        <p:spPr>
          <a:xfrm>
            <a:off x="6096000" y="1402080"/>
            <a:ext cx="2560320" cy="1402080"/>
          </a:xfrm>
          <a:prstGeom prst="rect">
            <a:avLst/>
          </a:prstGeom>
          <a:solidFill>
            <a:srgbClr val="FFFFFF"/>
          </a:solidFill>
          <a:ln/>
          <a:effectLst>
            <a:outerShdw blurRad="101600" dist="25400" dir="8100000" algn="bl" rotWithShape="0">
              <a:srgbClr val="000000">
                <a:alpha val="12000"/>
              </a:srgbClr>
            </a:outerShdw>
          </a:effectLst>
        </p:spPr>
      </p:sp>
      <p:sp>
        <p:nvSpPr>
          <p:cNvPr id="14" name="Shape 12"/>
          <p:cNvSpPr/>
          <p:nvPr/>
        </p:nvSpPr>
        <p:spPr>
          <a:xfrm>
            <a:off x="6096000" y="1402080"/>
            <a:ext cx="2560320" cy="219456"/>
          </a:xfrm>
          <a:prstGeom prst="rect">
            <a:avLst/>
          </a:prstGeom>
          <a:solidFill>
            <a:srgbClr val="1B7FBF"/>
          </a:solidFill>
          <a:ln w="12700">
            <a:solidFill>
              <a:srgbClr val="1B7FBF"/>
            </a:solidFill>
            <a:prstDash val="solid"/>
          </a:ln>
        </p:spPr>
      </p:sp>
      <p:sp>
        <p:nvSpPr>
          <p:cNvPr id="15" name="Text 13"/>
          <p:cNvSpPr/>
          <p:nvPr/>
        </p:nvSpPr>
        <p:spPr>
          <a:xfrm>
            <a:off x="6156960" y="1670304"/>
            <a:ext cx="2438400" cy="670560"/>
          </a:xfrm>
          <a:prstGeom prst="rect">
            <a:avLst/>
          </a:prstGeom>
          <a:noFill/>
          <a:ln/>
        </p:spPr>
        <p:txBody>
          <a:bodyPr wrap="square" lIns="0" tIns="0" rIns="0" bIns="0" rtlCol="0" anchor="ctr"/>
          <a:lstStyle/>
          <a:p>
            <a:pPr algn="ctr"/>
            <a:r>
              <a:rPr lang="en-US" sz="3467" b="1" dirty="0">
                <a:solidFill>
                  <a:srgbClr val="142966"/>
                </a:solidFill>
              </a:rPr>
              <a:t>23,007</a:t>
            </a:r>
            <a:endParaRPr lang="en-US" sz="3467" dirty="0"/>
          </a:p>
        </p:txBody>
      </p:sp>
      <p:sp>
        <p:nvSpPr>
          <p:cNvPr id="16" name="Text 14"/>
          <p:cNvSpPr/>
          <p:nvPr/>
        </p:nvSpPr>
        <p:spPr>
          <a:xfrm>
            <a:off x="6156960" y="2328672"/>
            <a:ext cx="2438400" cy="390144"/>
          </a:xfrm>
          <a:prstGeom prst="rect">
            <a:avLst/>
          </a:prstGeom>
          <a:noFill/>
          <a:ln/>
        </p:spPr>
        <p:txBody>
          <a:bodyPr wrap="square" lIns="0" tIns="0" rIns="0" bIns="0" rtlCol="0" anchor="ctr"/>
          <a:lstStyle/>
          <a:p>
            <a:pPr algn="ctr"/>
            <a:r>
              <a:rPr lang="en-US" sz="1267" dirty="0">
                <a:solidFill>
                  <a:srgbClr val="8096B8"/>
                </a:solidFill>
              </a:rPr>
              <a:t>QA Pairs Generated</a:t>
            </a:r>
            <a:endParaRPr lang="en-US" sz="1267" dirty="0"/>
          </a:p>
        </p:txBody>
      </p:sp>
      <p:sp>
        <p:nvSpPr>
          <p:cNvPr id="17" name="Shape 15"/>
          <p:cNvSpPr/>
          <p:nvPr/>
        </p:nvSpPr>
        <p:spPr>
          <a:xfrm>
            <a:off x="8961120" y="1402080"/>
            <a:ext cx="2560320" cy="1402080"/>
          </a:xfrm>
          <a:prstGeom prst="rect">
            <a:avLst/>
          </a:prstGeom>
          <a:solidFill>
            <a:srgbClr val="FFFFFF"/>
          </a:solidFill>
          <a:ln/>
          <a:effectLst>
            <a:outerShdw blurRad="101600" dist="25400" dir="8100000" algn="bl" rotWithShape="0">
              <a:srgbClr val="000000">
                <a:alpha val="12000"/>
              </a:srgbClr>
            </a:outerShdw>
          </a:effectLst>
        </p:spPr>
      </p:sp>
      <p:sp>
        <p:nvSpPr>
          <p:cNvPr id="18" name="Shape 16"/>
          <p:cNvSpPr/>
          <p:nvPr/>
        </p:nvSpPr>
        <p:spPr>
          <a:xfrm>
            <a:off x="8961120" y="1402080"/>
            <a:ext cx="2560320" cy="219456"/>
          </a:xfrm>
          <a:prstGeom prst="rect">
            <a:avLst/>
          </a:prstGeom>
          <a:solidFill>
            <a:srgbClr val="F4A325"/>
          </a:solidFill>
          <a:ln w="12700">
            <a:solidFill>
              <a:srgbClr val="F4A325"/>
            </a:solidFill>
            <a:prstDash val="solid"/>
          </a:ln>
        </p:spPr>
      </p:sp>
      <p:sp>
        <p:nvSpPr>
          <p:cNvPr id="19" name="Text 17"/>
          <p:cNvSpPr/>
          <p:nvPr/>
        </p:nvSpPr>
        <p:spPr>
          <a:xfrm>
            <a:off x="9022080" y="1670304"/>
            <a:ext cx="2438400" cy="670560"/>
          </a:xfrm>
          <a:prstGeom prst="rect">
            <a:avLst/>
          </a:prstGeom>
          <a:noFill/>
          <a:ln/>
        </p:spPr>
        <p:txBody>
          <a:bodyPr wrap="square" lIns="0" tIns="0" rIns="0" bIns="0" rtlCol="0" anchor="ctr"/>
          <a:lstStyle/>
          <a:p>
            <a:pPr algn="ctr"/>
            <a:r>
              <a:rPr lang="en-US" sz="3467" b="1" dirty="0">
                <a:solidFill>
                  <a:srgbClr val="142966"/>
                </a:solidFill>
              </a:rPr>
              <a:t>seed 42</a:t>
            </a:r>
            <a:endParaRPr lang="en-US" sz="3467" dirty="0"/>
          </a:p>
        </p:txBody>
      </p:sp>
      <p:sp>
        <p:nvSpPr>
          <p:cNvPr id="20" name="Text 18"/>
          <p:cNvSpPr/>
          <p:nvPr/>
        </p:nvSpPr>
        <p:spPr>
          <a:xfrm>
            <a:off x="9022080" y="2328672"/>
            <a:ext cx="2438400" cy="390144"/>
          </a:xfrm>
          <a:prstGeom prst="rect">
            <a:avLst/>
          </a:prstGeom>
          <a:noFill/>
          <a:ln/>
        </p:spPr>
        <p:txBody>
          <a:bodyPr wrap="square" lIns="0" tIns="0" rIns="0" bIns="0" rtlCol="0" anchor="ctr"/>
          <a:lstStyle/>
          <a:p>
            <a:pPr algn="ctr"/>
            <a:r>
              <a:rPr lang="en-US" sz="1267" dirty="0">
                <a:solidFill>
                  <a:srgbClr val="8096B8"/>
                </a:solidFill>
              </a:rPr>
              <a:t>Deterministic Split</a:t>
            </a:r>
            <a:endParaRPr lang="en-US" sz="1267" dirty="0"/>
          </a:p>
        </p:txBody>
      </p:sp>
      <p:sp>
        <p:nvSpPr>
          <p:cNvPr id="21" name="Shape 19"/>
          <p:cNvSpPr/>
          <p:nvPr/>
        </p:nvSpPr>
        <p:spPr>
          <a:xfrm>
            <a:off x="365760" y="3157728"/>
            <a:ext cx="438912" cy="438912"/>
          </a:xfrm>
          <a:prstGeom prst="ellipse">
            <a:avLst/>
          </a:prstGeom>
          <a:solidFill>
            <a:srgbClr val="0FA3B1"/>
          </a:solidFill>
          <a:ln w="12700">
            <a:solidFill>
              <a:srgbClr val="0FA3B1"/>
            </a:solidFill>
            <a:prstDash val="solid"/>
          </a:ln>
        </p:spPr>
      </p:sp>
      <p:sp>
        <p:nvSpPr>
          <p:cNvPr id="22" name="Text 20"/>
          <p:cNvSpPr/>
          <p:nvPr/>
        </p:nvSpPr>
        <p:spPr>
          <a:xfrm>
            <a:off x="365760" y="3157728"/>
            <a:ext cx="438912" cy="438912"/>
          </a:xfrm>
          <a:prstGeom prst="rect">
            <a:avLst/>
          </a:prstGeom>
          <a:noFill/>
          <a:ln/>
        </p:spPr>
        <p:txBody>
          <a:bodyPr wrap="square" lIns="0" tIns="0" rIns="0" bIns="0" rtlCol="0" anchor="ctr"/>
          <a:lstStyle/>
          <a:p>
            <a:pPr algn="ctr"/>
            <a:r>
              <a:rPr lang="en-US" sz="1467" b="1" dirty="0">
                <a:solidFill>
                  <a:srgbClr val="FFFFFF"/>
                </a:solidFill>
              </a:rPr>
              <a:t>1</a:t>
            </a:r>
            <a:endParaRPr lang="en-US" sz="1467" dirty="0"/>
          </a:p>
        </p:txBody>
      </p:sp>
      <p:sp>
        <p:nvSpPr>
          <p:cNvPr id="23" name="Text 21"/>
          <p:cNvSpPr/>
          <p:nvPr/>
        </p:nvSpPr>
        <p:spPr>
          <a:xfrm>
            <a:off x="950976" y="3108960"/>
            <a:ext cx="10850880" cy="512064"/>
          </a:xfrm>
          <a:prstGeom prst="rect">
            <a:avLst/>
          </a:prstGeom>
          <a:noFill/>
          <a:ln/>
        </p:spPr>
        <p:txBody>
          <a:bodyPr wrap="square" lIns="0" tIns="0" rIns="0" bIns="0" rtlCol="0" anchor="ctr"/>
          <a:lstStyle/>
          <a:p>
            <a:r>
              <a:rPr lang="en-US" sz="1467" dirty="0">
                <a:solidFill>
                  <a:srgbClr val="0A1430"/>
                </a:solidFill>
              </a:rPr>
              <a:t>Load PropBank instances via NLTK `propbank.instances()`</a:t>
            </a:r>
            <a:endParaRPr lang="en-US" sz="1467" dirty="0"/>
          </a:p>
        </p:txBody>
      </p:sp>
      <p:sp>
        <p:nvSpPr>
          <p:cNvPr id="24" name="Shape 22"/>
          <p:cNvSpPr/>
          <p:nvPr/>
        </p:nvSpPr>
        <p:spPr>
          <a:xfrm>
            <a:off x="365760" y="3730752"/>
            <a:ext cx="438912" cy="438912"/>
          </a:xfrm>
          <a:prstGeom prst="ellipse">
            <a:avLst/>
          </a:prstGeom>
          <a:solidFill>
            <a:srgbClr val="0FA3B1"/>
          </a:solidFill>
          <a:ln w="12700">
            <a:solidFill>
              <a:srgbClr val="0FA3B1"/>
            </a:solidFill>
            <a:prstDash val="solid"/>
          </a:ln>
        </p:spPr>
      </p:sp>
      <p:sp>
        <p:nvSpPr>
          <p:cNvPr id="25" name="Text 23"/>
          <p:cNvSpPr/>
          <p:nvPr/>
        </p:nvSpPr>
        <p:spPr>
          <a:xfrm>
            <a:off x="365760" y="3730752"/>
            <a:ext cx="438912" cy="438912"/>
          </a:xfrm>
          <a:prstGeom prst="rect">
            <a:avLst/>
          </a:prstGeom>
          <a:noFill/>
          <a:ln/>
        </p:spPr>
        <p:txBody>
          <a:bodyPr wrap="square" lIns="0" tIns="0" rIns="0" bIns="0" rtlCol="0" anchor="ctr"/>
          <a:lstStyle/>
          <a:p>
            <a:pPr algn="ctr"/>
            <a:r>
              <a:rPr lang="en-US" sz="1467" b="1" dirty="0">
                <a:solidFill>
                  <a:srgbClr val="FFFFFF"/>
                </a:solidFill>
              </a:rPr>
              <a:t>2</a:t>
            </a:r>
            <a:endParaRPr lang="en-US" sz="1467" dirty="0"/>
          </a:p>
        </p:txBody>
      </p:sp>
      <p:sp>
        <p:nvSpPr>
          <p:cNvPr id="26" name="Text 24"/>
          <p:cNvSpPr/>
          <p:nvPr/>
        </p:nvSpPr>
        <p:spPr>
          <a:xfrm>
            <a:off x="950976" y="3681984"/>
            <a:ext cx="10850880" cy="512064"/>
          </a:xfrm>
          <a:prstGeom prst="rect">
            <a:avLst/>
          </a:prstGeom>
          <a:noFill/>
          <a:ln/>
        </p:spPr>
        <p:txBody>
          <a:bodyPr wrap="square" lIns="0" tIns="0" rIns="0" bIns="0" rtlCol="0" anchor="ctr"/>
          <a:lstStyle/>
          <a:p>
            <a:r>
              <a:rPr lang="en-US" sz="1467" dirty="0">
                <a:solidFill>
                  <a:srgbClr val="0A1430"/>
                </a:solidFill>
              </a:rPr>
              <a:t>Align each instance to Penn Treebank parse tree (Treebank-backed subset only)</a:t>
            </a:r>
            <a:endParaRPr lang="en-US" sz="1467" dirty="0"/>
          </a:p>
        </p:txBody>
      </p:sp>
      <p:sp>
        <p:nvSpPr>
          <p:cNvPr id="27" name="Shape 25"/>
          <p:cNvSpPr/>
          <p:nvPr/>
        </p:nvSpPr>
        <p:spPr>
          <a:xfrm>
            <a:off x="365760" y="4303776"/>
            <a:ext cx="438912" cy="438912"/>
          </a:xfrm>
          <a:prstGeom prst="ellipse">
            <a:avLst/>
          </a:prstGeom>
          <a:solidFill>
            <a:srgbClr val="0FA3B1"/>
          </a:solidFill>
          <a:ln w="12700">
            <a:solidFill>
              <a:srgbClr val="0FA3B1"/>
            </a:solidFill>
            <a:prstDash val="solid"/>
          </a:ln>
        </p:spPr>
      </p:sp>
      <p:sp>
        <p:nvSpPr>
          <p:cNvPr id="28" name="Text 26"/>
          <p:cNvSpPr/>
          <p:nvPr/>
        </p:nvSpPr>
        <p:spPr>
          <a:xfrm>
            <a:off x="365760" y="4303776"/>
            <a:ext cx="438912" cy="438912"/>
          </a:xfrm>
          <a:prstGeom prst="rect">
            <a:avLst/>
          </a:prstGeom>
          <a:noFill/>
          <a:ln/>
        </p:spPr>
        <p:txBody>
          <a:bodyPr wrap="square" lIns="0" tIns="0" rIns="0" bIns="0" rtlCol="0" anchor="ctr"/>
          <a:lstStyle/>
          <a:p>
            <a:pPr algn="ctr"/>
            <a:r>
              <a:rPr lang="en-US" sz="1467" b="1" dirty="0">
                <a:solidFill>
                  <a:srgbClr val="FFFFFF"/>
                </a:solidFill>
              </a:rPr>
              <a:t>3</a:t>
            </a:r>
            <a:endParaRPr lang="en-US" sz="1467" dirty="0"/>
          </a:p>
        </p:txBody>
      </p:sp>
      <p:sp>
        <p:nvSpPr>
          <p:cNvPr id="29" name="Text 27"/>
          <p:cNvSpPr/>
          <p:nvPr/>
        </p:nvSpPr>
        <p:spPr>
          <a:xfrm>
            <a:off x="950976" y="4255008"/>
            <a:ext cx="10850880" cy="512064"/>
          </a:xfrm>
          <a:prstGeom prst="rect">
            <a:avLst/>
          </a:prstGeom>
          <a:noFill/>
          <a:ln/>
        </p:spPr>
        <p:txBody>
          <a:bodyPr wrap="square" lIns="0" tIns="0" rIns="0" bIns="0" rtlCol="0" anchor="ctr"/>
          <a:lstStyle/>
          <a:p>
            <a:r>
              <a:rPr lang="en-US" sz="1467" dirty="0">
                <a:solidFill>
                  <a:srgbClr val="0A1430"/>
                </a:solidFill>
              </a:rPr>
              <a:t>Reconstruct sentence text from Treebank leaves (exclude -NONE- traces)</a:t>
            </a:r>
            <a:endParaRPr lang="en-US" sz="1467" dirty="0"/>
          </a:p>
        </p:txBody>
      </p:sp>
      <p:sp>
        <p:nvSpPr>
          <p:cNvPr id="30" name="Shape 28"/>
          <p:cNvSpPr/>
          <p:nvPr/>
        </p:nvSpPr>
        <p:spPr>
          <a:xfrm>
            <a:off x="365760" y="4876800"/>
            <a:ext cx="438912" cy="438912"/>
          </a:xfrm>
          <a:prstGeom prst="ellipse">
            <a:avLst/>
          </a:prstGeom>
          <a:solidFill>
            <a:srgbClr val="0FA3B1"/>
          </a:solidFill>
          <a:ln w="12700">
            <a:solidFill>
              <a:srgbClr val="0FA3B1"/>
            </a:solidFill>
            <a:prstDash val="solid"/>
          </a:ln>
        </p:spPr>
      </p:sp>
      <p:sp>
        <p:nvSpPr>
          <p:cNvPr id="31" name="Text 29"/>
          <p:cNvSpPr/>
          <p:nvPr/>
        </p:nvSpPr>
        <p:spPr>
          <a:xfrm>
            <a:off x="365760" y="4876800"/>
            <a:ext cx="438912" cy="438912"/>
          </a:xfrm>
          <a:prstGeom prst="rect">
            <a:avLst/>
          </a:prstGeom>
          <a:noFill/>
          <a:ln/>
        </p:spPr>
        <p:txBody>
          <a:bodyPr wrap="square" lIns="0" tIns="0" rIns="0" bIns="0" rtlCol="0" anchor="ctr"/>
          <a:lstStyle/>
          <a:p>
            <a:pPr algn="ctr"/>
            <a:r>
              <a:rPr lang="en-US" sz="1467" b="1" dirty="0">
                <a:solidFill>
                  <a:srgbClr val="FFFFFF"/>
                </a:solidFill>
              </a:rPr>
              <a:t>4</a:t>
            </a:r>
            <a:endParaRPr lang="en-US" sz="1467" dirty="0"/>
          </a:p>
        </p:txBody>
      </p:sp>
      <p:sp>
        <p:nvSpPr>
          <p:cNvPr id="32" name="Text 30"/>
          <p:cNvSpPr/>
          <p:nvPr/>
        </p:nvSpPr>
        <p:spPr>
          <a:xfrm>
            <a:off x="950976" y="4828032"/>
            <a:ext cx="10850880" cy="512064"/>
          </a:xfrm>
          <a:prstGeom prst="rect">
            <a:avLst/>
          </a:prstGeom>
          <a:noFill/>
          <a:ln/>
        </p:spPr>
        <p:txBody>
          <a:bodyPr wrap="square" lIns="0" tIns="0" rIns="0" bIns="0" rtlCol="0" anchor="ctr"/>
          <a:lstStyle/>
          <a:p>
            <a:r>
              <a:rPr lang="en-US" sz="1467" dirty="0">
                <a:solidFill>
                  <a:srgbClr val="0A1430"/>
                </a:solidFill>
              </a:rPr>
              <a:t>Build visible BIO SRL tag sequence for each argument role</a:t>
            </a:r>
            <a:endParaRPr lang="en-US" sz="1467" dirty="0"/>
          </a:p>
        </p:txBody>
      </p:sp>
      <p:sp>
        <p:nvSpPr>
          <p:cNvPr id="33" name="Shape 31"/>
          <p:cNvSpPr/>
          <p:nvPr/>
        </p:nvSpPr>
        <p:spPr>
          <a:xfrm>
            <a:off x="365760" y="5449824"/>
            <a:ext cx="438912" cy="438912"/>
          </a:xfrm>
          <a:prstGeom prst="ellipse">
            <a:avLst/>
          </a:prstGeom>
          <a:solidFill>
            <a:srgbClr val="0FA3B1"/>
          </a:solidFill>
          <a:ln w="12700">
            <a:solidFill>
              <a:srgbClr val="0FA3B1"/>
            </a:solidFill>
            <a:prstDash val="solid"/>
          </a:ln>
        </p:spPr>
      </p:sp>
      <p:sp>
        <p:nvSpPr>
          <p:cNvPr id="34" name="Text 32"/>
          <p:cNvSpPr/>
          <p:nvPr/>
        </p:nvSpPr>
        <p:spPr>
          <a:xfrm>
            <a:off x="365760" y="5449824"/>
            <a:ext cx="438912" cy="438912"/>
          </a:xfrm>
          <a:prstGeom prst="rect">
            <a:avLst/>
          </a:prstGeom>
          <a:noFill/>
          <a:ln/>
        </p:spPr>
        <p:txBody>
          <a:bodyPr wrap="square" lIns="0" tIns="0" rIns="0" bIns="0" rtlCol="0" anchor="ctr"/>
          <a:lstStyle/>
          <a:p>
            <a:pPr algn="ctr"/>
            <a:r>
              <a:rPr lang="en-US" sz="1467" b="1" dirty="0">
                <a:solidFill>
                  <a:srgbClr val="FFFFFF"/>
                </a:solidFill>
              </a:rPr>
              <a:t>5</a:t>
            </a:r>
            <a:endParaRPr lang="en-US" sz="1467" dirty="0"/>
          </a:p>
        </p:txBody>
      </p:sp>
      <p:sp>
        <p:nvSpPr>
          <p:cNvPr id="35" name="Text 33"/>
          <p:cNvSpPr/>
          <p:nvPr/>
        </p:nvSpPr>
        <p:spPr>
          <a:xfrm>
            <a:off x="950976" y="5401056"/>
            <a:ext cx="10850880" cy="512064"/>
          </a:xfrm>
          <a:prstGeom prst="rect">
            <a:avLst/>
          </a:prstGeom>
          <a:noFill/>
          <a:ln/>
        </p:spPr>
        <p:txBody>
          <a:bodyPr wrap="square" lIns="0" tIns="0" rIns="0" bIns="0" rtlCol="0" anchor="ctr"/>
          <a:lstStyle/>
          <a:p>
            <a:r>
              <a:rPr lang="en-US" sz="1467" dirty="0">
                <a:solidFill>
                  <a:srgbClr val="0A1430"/>
                </a:solidFill>
              </a:rPr>
              <a:t>Generate natural-language question from role templates (ARG0→Who, TMP→When …)</a:t>
            </a:r>
            <a:endParaRPr lang="en-US" sz="1467" dirty="0"/>
          </a:p>
        </p:txBody>
      </p:sp>
      <p:sp>
        <p:nvSpPr>
          <p:cNvPr id="36" name="Shape 34"/>
          <p:cNvSpPr/>
          <p:nvPr/>
        </p:nvSpPr>
        <p:spPr>
          <a:xfrm>
            <a:off x="365760" y="6022848"/>
            <a:ext cx="438912" cy="438912"/>
          </a:xfrm>
          <a:prstGeom prst="ellipse">
            <a:avLst/>
          </a:prstGeom>
          <a:solidFill>
            <a:srgbClr val="0FA3B1"/>
          </a:solidFill>
          <a:ln w="12700">
            <a:solidFill>
              <a:srgbClr val="0FA3B1"/>
            </a:solidFill>
            <a:prstDash val="solid"/>
          </a:ln>
        </p:spPr>
      </p:sp>
      <p:sp>
        <p:nvSpPr>
          <p:cNvPr id="37" name="Text 35"/>
          <p:cNvSpPr/>
          <p:nvPr/>
        </p:nvSpPr>
        <p:spPr>
          <a:xfrm>
            <a:off x="365760" y="6022848"/>
            <a:ext cx="438912" cy="438912"/>
          </a:xfrm>
          <a:prstGeom prst="rect">
            <a:avLst/>
          </a:prstGeom>
          <a:noFill/>
          <a:ln/>
        </p:spPr>
        <p:txBody>
          <a:bodyPr wrap="square" lIns="0" tIns="0" rIns="0" bIns="0" rtlCol="0" anchor="ctr"/>
          <a:lstStyle/>
          <a:p>
            <a:pPr algn="ctr"/>
            <a:r>
              <a:rPr lang="en-US" sz="1467" b="1" dirty="0">
                <a:solidFill>
                  <a:srgbClr val="FFFFFF"/>
                </a:solidFill>
              </a:rPr>
              <a:t>6</a:t>
            </a:r>
            <a:endParaRPr lang="en-US" sz="1467" dirty="0"/>
          </a:p>
        </p:txBody>
      </p:sp>
      <p:sp>
        <p:nvSpPr>
          <p:cNvPr id="38" name="Text 36"/>
          <p:cNvSpPr/>
          <p:nvPr/>
        </p:nvSpPr>
        <p:spPr>
          <a:xfrm>
            <a:off x="950976" y="5974080"/>
            <a:ext cx="10850880" cy="512064"/>
          </a:xfrm>
          <a:prstGeom prst="rect">
            <a:avLst/>
          </a:prstGeom>
          <a:noFill/>
          <a:ln/>
        </p:spPr>
        <p:txBody>
          <a:bodyPr wrap="square" lIns="0" tIns="0" rIns="0" bIns="0" rtlCol="0" anchor="ctr"/>
          <a:lstStyle/>
          <a:p>
            <a:r>
              <a:rPr lang="en-US" sz="1467" dirty="0">
                <a:solidFill>
                  <a:srgbClr val="0A1430"/>
                </a:solidFill>
              </a:rPr>
              <a:t>Split 70% train / 15% val / 15% test (seed=42)</a:t>
            </a:r>
            <a:endParaRPr lang="en-US" sz="1467" dirty="0"/>
          </a:p>
        </p:txBody>
      </p:sp>
    </p:spTree>
    <p:extLst>
      <p:ext uri="{BB962C8B-B14F-4D97-AF65-F5344CB8AC3E}">
        <p14:creationId xmlns:p14="http://schemas.microsoft.com/office/powerpoint/2010/main" val="342978829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463296"/>
          </a:xfrm>
          <a:prstGeom prst="rect">
            <a:avLst/>
          </a:prstGeom>
          <a:solidFill>
            <a:srgbClr val="1B7FBF"/>
          </a:solidFill>
          <a:ln w="12700">
            <a:solidFill>
              <a:srgbClr val="1B7FBF"/>
            </a:solidFill>
            <a:prstDash val="solid"/>
          </a:ln>
        </p:spPr>
      </p:sp>
      <p:sp>
        <p:nvSpPr>
          <p:cNvPr id="3" name="Text 1"/>
          <p:cNvSpPr/>
          <p:nvPr/>
        </p:nvSpPr>
        <p:spPr>
          <a:xfrm>
            <a:off x="365760" y="0"/>
            <a:ext cx="10972800" cy="463296"/>
          </a:xfrm>
          <a:prstGeom prst="rect">
            <a:avLst/>
          </a:prstGeom>
          <a:noFill/>
          <a:ln/>
        </p:spPr>
        <p:txBody>
          <a:bodyPr wrap="square" lIns="0" tIns="0" rIns="0" bIns="0" rtlCol="0" anchor="ctr"/>
          <a:lstStyle/>
          <a:p>
            <a:r>
              <a:rPr lang="en-US" sz="1333" b="1" kern="0" spc="400" dirty="0">
                <a:solidFill>
                  <a:srgbClr val="FFFFFF"/>
                </a:solidFill>
              </a:rPr>
              <a:t>DATASET</a:t>
            </a:r>
            <a:endParaRPr lang="en-US" sz="1333" dirty="0"/>
          </a:p>
        </p:txBody>
      </p:sp>
      <p:sp>
        <p:nvSpPr>
          <p:cNvPr id="4" name="Text 2"/>
          <p:cNvSpPr/>
          <p:nvPr/>
        </p:nvSpPr>
        <p:spPr>
          <a:xfrm>
            <a:off x="548640" y="609600"/>
            <a:ext cx="11094720" cy="853440"/>
          </a:xfrm>
          <a:prstGeom prst="rect">
            <a:avLst/>
          </a:prstGeom>
          <a:noFill/>
          <a:ln/>
        </p:spPr>
        <p:txBody>
          <a:bodyPr wrap="square" lIns="0" tIns="0" rIns="0" bIns="0" rtlCol="0" anchor="ctr"/>
          <a:lstStyle/>
          <a:p>
            <a:r>
              <a:rPr lang="en-US" sz="3200" b="1" dirty="0">
                <a:solidFill>
                  <a:srgbClr val="142966"/>
                </a:solidFill>
                <a:latin typeface="Calibri" pitchFamily="34" charset="0"/>
                <a:ea typeface="Calibri" pitchFamily="34" charset="-122"/>
                <a:cs typeface="Calibri" pitchFamily="34" charset="-120"/>
              </a:rPr>
              <a:t>Dataset Distribution: Question Types &amp; Argument Roles</a:t>
            </a:r>
            <a:endParaRPr lang="en-US" sz="3200" dirty="0"/>
          </a:p>
        </p:txBody>
      </p:sp>
      <p:pic>
        <p:nvPicPr>
          <p:cNvPr id="5" name="Image 0" descr="preencoded.png"/>
          <p:cNvPicPr>
            <a:picLocks noChangeAspect="1"/>
          </p:cNvPicPr>
          <p:nvPr/>
        </p:nvPicPr>
        <p:blipFill>
          <a:blip r:embed="rId3"/>
          <a:stretch>
            <a:fillRect/>
          </a:stretch>
        </p:blipFill>
        <p:spPr>
          <a:xfrm>
            <a:off x="365760" y="1341120"/>
            <a:ext cx="11460480" cy="3901440"/>
          </a:xfrm>
          <a:prstGeom prst="rect">
            <a:avLst/>
          </a:prstGeom>
        </p:spPr>
      </p:pic>
      <p:sp>
        <p:nvSpPr>
          <p:cNvPr id="6" name="Text 3"/>
          <p:cNvSpPr/>
          <p:nvPr/>
        </p:nvSpPr>
        <p:spPr>
          <a:xfrm>
            <a:off x="487680" y="5364480"/>
            <a:ext cx="5608320" cy="548640"/>
          </a:xfrm>
          <a:prstGeom prst="rect">
            <a:avLst/>
          </a:prstGeom>
          <a:noFill/>
          <a:ln/>
        </p:spPr>
        <p:txBody>
          <a:bodyPr wrap="square" rtlCol="0" anchor="ctr"/>
          <a:lstStyle/>
          <a:p>
            <a:r>
              <a:rPr lang="en-US" sz="1400" i="1" dirty="0">
                <a:solidFill>
                  <a:srgbClr val="1B7FBF"/>
                </a:solidFill>
              </a:rPr>
              <a:t>WHAT dominates (13K+) — mirrors PropBank ARG1 dominance in the corpus</a:t>
            </a:r>
            <a:endParaRPr lang="en-US" sz="1400" dirty="0"/>
          </a:p>
        </p:txBody>
      </p:sp>
      <p:sp>
        <p:nvSpPr>
          <p:cNvPr id="7" name="Text 4"/>
          <p:cNvSpPr/>
          <p:nvPr/>
        </p:nvSpPr>
        <p:spPr>
          <a:xfrm>
            <a:off x="6217920" y="5364480"/>
            <a:ext cx="5608320" cy="548640"/>
          </a:xfrm>
          <a:prstGeom prst="rect">
            <a:avLst/>
          </a:prstGeom>
          <a:noFill/>
          <a:ln/>
        </p:spPr>
        <p:txBody>
          <a:bodyPr wrap="square" rtlCol="0" anchor="ctr"/>
          <a:lstStyle/>
          <a:p>
            <a:r>
              <a:rPr lang="en-US" sz="1400" i="1" dirty="0">
                <a:solidFill>
                  <a:srgbClr val="142966"/>
                </a:solidFill>
              </a:rPr>
              <a:t>ARG1 (~8K) and ARG0 (~6K) are far more frequent than adjunct roles</a:t>
            </a:r>
            <a:endParaRPr lang="en-US" sz="1400" dirty="0"/>
          </a:p>
        </p:txBody>
      </p:sp>
      <p:sp>
        <p:nvSpPr>
          <p:cNvPr id="8" name="Shape 5"/>
          <p:cNvSpPr/>
          <p:nvPr/>
        </p:nvSpPr>
        <p:spPr>
          <a:xfrm>
            <a:off x="487680" y="5303520"/>
            <a:ext cx="11216640" cy="0"/>
          </a:xfrm>
          <a:prstGeom prst="line">
            <a:avLst/>
          </a:prstGeom>
          <a:noFill/>
          <a:ln w="12700">
            <a:solidFill>
              <a:srgbClr val="D8E6FF"/>
            </a:solidFill>
            <a:prstDash val="solid"/>
          </a:ln>
        </p:spPr>
      </p:sp>
    </p:spTree>
    <p:extLst>
      <p:ext uri="{BB962C8B-B14F-4D97-AF65-F5344CB8AC3E}">
        <p14:creationId xmlns:p14="http://schemas.microsoft.com/office/powerpoint/2010/main" val="19673399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463296"/>
          </a:xfrm>
          <a:prstGeom prst="rect">
            <a:avLst/>
          </a:prstGeom>
          <a:solidFill>
            <a:srgbClr val="1B7FBF"/>
          </a:solidFill>
          <a:ln w="12700">
            <a:solidFill>
              <a:srgbClr val="1B7FBF"/>
            </a:solidFill>
            <a:prstDash val="solid"/>
          </a:ln>
        </p:spPr>
      </p:sp>
      <p:sp>
        <p:nvSpPr>
          <p:cNvPr id="3" name="Text 1"/>
          <p:cNvSpPr/>
          <p:nvPr/>
        </p:nvSpPr>
        <p:spPr>
          <a:xfrm>
            <a:off x="365760" y="0"/>
            <a:ext cx="10972800" cy="463296"/>
          </a:xfrm>
          <a:prstGeom prst="rect">
            <a:avLst/>
          </a:prstGeom>
          <a:noFill/>
          <a:ln/>
        </p:spPr>
        <p:txBody>
          <a:bodyPr wrap="square" lIns="0" tIns="0" rIns="0" bIns="0" rtlCol="0" anchor="ctr"/>
          <a:lstStyle/>
          <a:p>
            <a:r>
              <a:rPr lang="en-US" sz="1333" b="1" kern="0" spc="400" dirty="0">
                <a:solidFill>
                  <a:srgbClr val="FFFFFF"/>
                </a:solidFill>
              </a:rPr>
              <a:t>MODEL ARCHITECTURE</a:t>
            </a:r>
            <a:endParaRPr lang="en-US" sz="1333" dirty="0"/>
          </a:p>
        </p:txBody>
      </p:sp>
      <p:sp>
        <p:nvSpPr>
          <p:cNvPr id="4" name="Text 2"/>
          <p:cNvSpPr/>
          <p:nvPr/>
        </p:nvSpPr>
        <p:spPr>
          <a:xfrm>
            <a:off x="548640" y="609600"/>
            <a:ext cx="11094720" cy="853440"/>
          </a:xfrm>
          <a:prstGeom prst="rect">
            <a:avLst/>
          </a:prstGeom>
          <a:noFill/>
          <a:ln/>
        </p:spPr>
        <p:txBody>
          <a:bodyPr wrap="square" lIns="0" tIns="0" rIns="0" bIns="0" rtlCol="0" anchor="ctr"/>
          <a:lstStyle/>
          <a:p>
            <a:r>
              <a:rPr lang="en-US" sz="3467" b="1" dirty="0">
                <a:solidFill>
                  <a:srgbClr val="142966"/>
                </a:solidFill>
                <a:latin typeface="Calibri" pitchFamily="34" charset="0"/>
                <a:ea typeface="Calibri" pitchFamily="34" charset="-122"/>
                <a:cs typeface="Calibri" pitchFamily="34" charset="-120"/>
              </a:rPr>
              <a:t>PropQA-Net: Multi-Task BiLSTM Architecture</a:t>
            </a:r>
            <a:endParaRPr lang="en-US" sz="3467" dirty="0"/>
          </a:p>
        </p:txBody>
      </p:sp>
      <p:pic>
        <p:nvPicPr>
          <p:cNvPr id="5" name="Image 0" descr="preencoded.png"/>
          <p:cNvPicPr>
            <a:picLocks noChangeAspect="1"/>
          </p:cNvPicPr>
          <p:nvPr/>
        </p:nvPicPr>
        <p:blipFill>
          <a:blip r:embed="rId3"/>
          <a:stretch>
            <a:fillRect/>
          </a:stretch>
        </p:blipFill>
        <p:spPr>
          <a:xfrm>
            <a:off x="365760" y="1280160"/>
            <a:ext cx="11460480" cy="1828800"/>
          </a:xfrm>
          <a:prstGeom prst="rect">
            <a:avLst/>
          </a:prstGeom>
        </p:spPr>
      </p:pic>
      <p:sp>
        <p:nvSpPr>
          <p:cNvPr id="6" name="Shape 3"/>
          <p:cNvSpPr/>
          <p:nvPr/>
        </p:nvSpPr>
        <p:spPr>
          <a:xfrm>
            <a:off x="365760" y="3352800"/>
            <a:ext cx="3718560" cy="1645920"/>
          </a:xfrm>
          <a:prstGeom prst="rect">
            <a:avLst/>
          </a:prstGeom>
          <a:solidFill>
            <a:srgbClr val="FFFFFF"/>
          </a:solidFill>
          <a:ln/>
          <a:effectLst>
            <a:outerShdw blurRad="76200" dist="25400" dir="8100000" algn="bl" rotWithShape="0">
              <a:srgbClr val="000000">
                <a:alpha val="10000"/>
              </a:srgbClr>
            </a:outerShdw>
          </a:effectLst>
        </p:spPr>
      </p:sp>
      <p:sp>
        <p:nvSpPr>
          <p:cNvPr id="7" name="Shape 4"/>
          <p:cNvSpPr/>
          <p:nvPr/>
        </p:nvSpPr>
        <p:spPr>
          <a:xfrm>
            <a:off x="365760" y="3352800"/>
            <a:ext cx="85344" cy="1645920"/>
          </a:xfrm>
          <a:prstGeom prst="rect">
            <a:avLst/>
          </a:prstGeom>
          <a:solidFill>
            <a:srgbClr val="0FA3B1"/>
          </a:solidFill>
          <a:ln w="12700">
            <a:solidFill>
              <a:srgbClr val="0FA3B1"/>
            </a:solidFill>
            <a:prstDash val="solid"/>
          </a:ln>
        </p:spPr>
      </p:sp>
      <p:sp>
        <p:nvSpPr>
          <p:cNvPr id="8" name="Text 5"/>
          <p:cNvSpPr/>
          <p:nvPr/>
        </p:nvSpPr>
        <p:spPr>
          <a:xfrm>
            <a:off x="548640" y="3499104"/>
            <a:ext cx="3474720" cy="390144"/>
          </a:xfrm>
          <a:prstGeom prst="rect">
            <a:avLst/>
          </a:prstGeom>
          <a:noFill/>
          <a:ln/>
        </p:spPr>
        <p:txBody>
          <a:bodyPr wrap="square" lIns="0" tIns="0" rIns="0" bIns="0" rtlCol="0" anchor="ctr"/>
          <a:lstStyle/>
          <a:p>
            <a:r>
              <a:rPr lang="en-US" sz="1467" b="1" dirty="0">
                <a:solidFill>
                  <a:srgbClr val="142966"/>
                </a:solidFill>
              </a:rPr>
              <a:t>Context Encoder</a:t>
            </a:r>
            <a:endParaRPr lang="en-US" sz="1467" dirty="0"/>
          </a:p>
        </p:txBody>
      </p:sp>
      <p:sp>
        <p:nvSpPr>
          <p:cNvPr id="9" name="Text 6"/>
          <p:cNvSpPr/>
          <p:nvPr/>
        </p:nvSpPr>
        <p:spPr>
          <a:xfrm>
            <a:off x="548640" y="3901440"/>
            <a:ext cx="3474720" cy="975360"/>
          </a:xfrm>
          <a:prstGeom prst="rect">
            <a:avLst/>
          </a:prstGeom>
          <a:noFill/>
          <a:ln/>
        </p:spPr>
        <p:txBody>
          <a:bodyPr wrap="square" lIns="0" tIns="0" rIns="0" bIns="0" rtlCol="0" anchor="ctr"/>
          <a:lstStyle/>
          <a:p>
            <a:r>
              <a:rPr lang="en-US" sz="1333" dirty="0">
                <a:solidFill>
                  <a:srgbClr val="0A1430"/>
                </a:solidFill>
              </a:rPr>
              <a:t>Word (100d) + POS (32d) + Predicate-flag (8d) embeddings → BiLSTM(128) → Dropout(0.30)</a:t>
            </a:r>
            <a:endParaRPr lang="en-US" sz="1333" dirty="0"/>
          </a:p>
        </p:txBody>
      </p:sp>
      <p:sp>
        <p:nvSpPr>
          <p:cNvPr id="10" name="Shape 7"/>
          <p:cNvSpPr/>
          <p:nvPr/>
        </p:nvSpPr>
        <p:spPr>
          <a:xfrm>
            <a:off x="4328160" y="3352800"/>
            <a:ext cx="3718560" cy="1645920"/>
          </a:xfrm>
          <a:prstGeom prst="rect">
            <a:avLst/>
          </a:prstGeom>
          <a:solidFill>
            <a:srgbClr val="FFFFFF"/>
          </a:solidFill>
          <a:ln/>
          <a:effectLst>
            <a:outerShdw blurRad="76200" dist="25400" dir="8100000" algn="bl" rotWithShape="0">
              <a:srgbClr val="000000">
                <a:alpha val="10000"/>
              </a:srgbClr>
            </a:outerShdw>
          </a:effectLst>
        </p:spPr>
      </p:sp>
      <p:sp>
        <p:nvSpPr>
          <p:cNvPr id="11" name="Shape 8"/>
          <p:cNvSpPr/>
          <p:nvPr/>
        </p:nvSpPr>
        <p:spPr>
          <a:xfrm>
            <a:off x="4328160" y="3352800"/>
            <a:ext cx="85344" cy="1645920"/>
          </a:xfrm>
          <a:prstGeom prst="rect">
            <a:avLst/>
          </a:prstGeom>
          <a:solidFill>
            <a:srgbClr val="142966"/>
          </a:solidFill>
          <a:ln w="12700">
            <a:solidFill>
              <a:srgbClr val="142966"/>
            </a:solidFill>
            <a:prstDash val="solid"/>
          </a:ln>
        </p:spPr>
      </p:sp>
      <p:sp>
        <p:nvSpPr>
          <p:cNvPr id="12" name="Text 9"/>
          <p:cNvSpPr/>
          <p:nvPr/>
        </p:nvSpPr>
        <p:spPr>
          <a:xfrm>
            <a:off x="4511040" y="3499104"/>
            <a:ext cx="3474720" cy="390144"/>
          </a:xfrm>
          <a:prstGeom prst="rect">
            <a:avLst/>
          </a:prstGeom>
          <a:noFill/>
          <a:ln/>
        </p:spPr>
        <p:txBody>
          <a:bodyPr wrap="square" lIns="0" tIns="0" rIns="0" bIns="0" rtlCol="0" anchor="ctr"/>
          <a:lstStyle/>
          <a:p>
            <a:r>
              <a:rPr lang="en-US" sz="1467" b="1" dirty="0">
                <a:solidFill>
                  <a:srgbClr val="142966"/>
                </a:solidFill>
              </a:rPr>
              <a:t>SRL BIO Head</a:t>
            </a:r>
            <a:endParaRPr lang="en-US" sz="1467" dirty="0"/>
          </a:p>
        </p:txBody>
      </p:sp>
      <p:sp>
        <p:nvSpPr>
          <p:cNvPr id="13" name="Text 10"/>
          <p:cNvSpPr/>
          <p:nvPr/>
        </p:nvSpPr>
        <p:spPr>
          <a:xfrm>
            <a:off x="4511040" y="3901440"/>
            <a:ext cx="3474720" cy="975360"/>
          </a:xfrm>
          <a:prstGeom prst="rect">
            <a:avLst/>
          </a:prstGeom>
          <a:noFill/>
          <a:ln/>
        </p:spPr>
        <p:txBody>
          <a:bodyPr wrap="square" lIns="0" tIns="0" rIns="0" bIns="0" rtlCol="0" anchor="ctr"/>
          <a:lstStyle/>
          <a:p>
            <a:r>
              <a:rPr lang="en-US" sz="1333" dirty="0">
                <a:solidFill>
                  <a:srgbClr val="0A1430"/>
                </a:solidFill>
              </a:rPr>
              <a:t>Linear projection over context states → cross-entropy loss → BIO label per token</a:t>
            </a:r>
            <a:endParaRPr lang="en-US" sz="1333" dirty="0"/>
          </a:p>
        </p:txBody>
      </p:sp>
      <p:sp>
        <p:nvSpPr>
          <p:cNvPr id="14" name="Shape 11"/>
          <p:cNvSpPr/>
          <p:nvPr/>
        </p:nvSpPr>
        <p:spPr>
          <a:xfrm>
            <a:off x="8046720" y="3352800"/>
            <a:ext cx="3718560" cy="1645920"/>
          </a:xfrm>
          <a:prstGeom prst="rect">
            <a:avLst/>
          </a:prstGeom>
          <a:solidFill>
            <a:srgbClr val="FFFFFF"/>
          </a:solidFill>
          <a:ln/>
          <a:effectLst>
            <a:outerShdw blurRad="76200" dist="25400" dir="8100000" algn="bl" rotWithShape="0">
              <a:srgbClr val="000000">
                <a:alpha val="10000"/>
              </a:srgbClr>
            </a:outerShdw>
          </a:effectLst>
        </p:spPr>
      </p:sp>
      <p:sp>
        <p:nvSpPr>
          <p:cNvPr id="15" name="Shape 12"/>
          <p:cNvSpPr/>
          <p:nvPr/>
        </p:nvSpPr>
        <p:spPr>
          <a:xfrm>
            <a:off x="8046720" y="3352800"/>
            <a:ext cx="85344" cy="1645920"/>
          </a:xfrm>
          <a:prstGeom prst="rect">
            <a:avLst/>
          </a:prstGeom>
          <a:solidFill>
            <a:srgbClr val="F4A325"/>
          </a:solidFill>
          <a:ln w="12700">
            <a:solidFill>
              <a:srgbClr val="F4A325"/>
            </a:solidFill>
            <a:prstDash val="solid"/>
          </a:ln>
        </p:spPr>
      </p:sp>
      <p:sp>
        <p:nvSpPr>
          <p:cNvPr id="16" name="Text 13"/>
          <p:cNvSpPr/>
          <p:nvPr/>
        </p:nvSpPr>
        <p:spPr>
          <a:xfrm>
            <a:off x="8229600" y="3499104"/>
            <a:ext cx="3474720" cy="390144"/>
          </a:xfrm>
          <a:prstGeom prst="rect">
            <a:avLst/>
          </a:prstGeom>
          <a:noFill/>
          <a:ln/>
        </p:spPr>
        <p:txBody>
          <a:bodyPr wrap="square" lIns="0" tIns="0" rIns="0" bIns="0" rtlCol="0" anchor="ctr"/>
          <a:lstStyle/>
          <a:p>
            <a:r>
              <a:rPr lang="en-US" sz="1467" b="1" dirty="0">
                <a:solidFill>
                  <a:srgbClr val="142966"/>
                </a:solidFill>
              </a:rPr>
              <a:t>QA Span Head</a:t>
            </a:r>
            <a:endParaRPr lang="en-US" sz="1467" dirty="0"/>
          </a:p>
        </p:txBody>
      </p:sp>
      <p:sp>
        <p:nvSpPr>
          <p:cNvPr id="17" name="Text 14"/>
          <p:cNvSpPr/>
          <p:nvPr/>
        </p:nvSpPr>
        <p:spPr>
          <a:xfrm>
            <a:off x="8229600" y="3901440"/>
            <a:ext cx="3474720" cy="975360"/>
          </a:xfrm>
          <a:prstGeom prst="rect">
            <a:avLst/>
          </a:prstGeom>
          <a:noFill/>
          <a:ln/>
        </p:spPr>
        <p:txBody>
          <a:bodyPr wrap="square" lIns="0" tIns="0" rIns="0" bIns="0" rtlCol="0" anchor="ctr"/>
          <a:lstStyle/>
          <a:p>
            <a:r>
              <a:rPr lang="en-US" sz="1333" dirty="0">
                <a:solidFill>
                  <a:srgbClr val="0A1430"/>
                </a:solidFill>
              </a:rPr>
              <a:t>Question BiLSTM → mean pool → cosine similarity + boundary probabilities → best span</a:t>
            </a:r>
            <a:endParaRPr lang="en-US" sz="1333" dirty="0"/>
          </a:p>
        </p:txBody>
      </p:sp>
      <p:sp>
        <p:nvSpPr>
          <p:cNvPr id="18" name="Shape 15"/>
          <p:cNvSpPr/>
          <p:nvPr/>
        </p:nvSpPr>
        <p:spPr>
          <a:xfrm>
            <a:off x="365760" y="5181600"/>
            <a:ext cx="11338560" cy="1036320"/>
          </a:xfrm>
          <a:prstGeom prst="rect">
            <a:avLst/>
          </a:prstGeom>
          <a:solidFill>
            <a:srgbClr val="142966"/>
          </a:solidFill>
          <a:ln/>
          <a:effectLst>
            <a:outerShdw blurRad="63500" dist="25400" dir="8100000" algn="bl" rotWithShape="0">
              <a:srgbClr val="000000">
                <a:alpha val="12000"/>
              </a:srgbClr>
            </a:outerShdw>
          </a:effectLst>
        </p:spPr>
      </p:sp>
      <p:sp>
        <p:nvSpPr>
          <p:cNvPr id="19" name="Text 16"/>
          <p:cNvSpPr/>
          <p:nvPr/>
        </p:nvSpPr>
        <p:spPr>
          <a:xfrm>
            <a:off x="487680" y="5218176"/>
            <a:ext cx="11094720" cy="975360"/>
          </a:xfrm>
          <a:prstGeom prst="rect">
            <a:avLst/>
          </a:prstGeom>
          <a:noFill/>
          <a:ln/>
        </p:spPr>
        <p:txBody>
          <a:bodyPr wrap="square" lIns="0" tIns="0" rIns="0" bIns="0" rtlCol="0" anchor="ctr"/>
          <a:lstStyle/>
          <a:p>
            <a:pPr algn="ctr"/>
            <a:r>
              <a:rPr lang="en-US" sz="1533" b="1" dirty="0">
                <a:solidFill>
                  <a:srgbClr val="FFFFFF"/>
                </a:solidFill>
              </a:rPr>
              <a:t>Joint Loss: L = 0.5 × L_SRL  +  0.5 × L_QA   |   Decoding: score = 0.60 × cosine + 0.40 × boundary confidence</a:t>
            </a:r>
            <a:endParaRPr lang="en-US" sz="1533" dirty="0"/>
          </a:p>
        </p:txBody>
      </p:sp>
    </p:spTree>
    <p:extLst>
      <p:ext uri="{BB962C8B-B14F-4D97-AF65-F5344CB8AC3E}">
        <p14:creationId xmlns:p14="http://schemas.microsoft.com/office/powerpoint/2010/main" val="27921412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463296"/>
          </a:xfrm>
          <a:prstGeom prst="rect">
            <a:avLst/>
          </a:prstGeom>
          <a:solidFill>
            <a:srgbClr val="1B7FBF"/>
          </a:solidFill>
          <a:ln w="12700">
            <a:solidFill>
              <a:srgbClr val="1B7FBF"/>
            </a:solidFill>
            <a:prstDash val="solid"/>
          </a:ln>
        </p:spPr>
      </p:sp>
      <p:sp>
        <p:nvSpPr>
          <p:cNvPr id="3" name="Text 1"/>
          <p:cNvSpPr/>
          <p:nvPr/>
        </p:nvSpPr>
        <p:spPr>
          <a:xfrm>
            <a:off x="365760" y="0"/>
            <a:ext cx="10972800" cy="463296"/>
          </a:xfrm>
          <a:prstGeom prst="rect">
            <a:avLst/>
          </a:prstGeom>
          <a:noFill/>
          <a:ln/>
        </p:spPr>
        <p:txBody>
          <a:bodyPr wrap="square" lIns="0" tIns="0" rIns="0" bIns="0" rtlCol="0" anchor="ctr"/>
          <a:lstStyle/>
          <a:p>
            <a:r>
              <a:rPr lang="en-US" sz="1333" b="1" kern="0" spc="400" dirty="0">
                <a:solidFill>
                  <a:srgbClr val="FFFFFF"/>
                </a:solidFill>
              </a:rPr>
              <a:t>MODEL CONFIGURATION</a:t>
            </a:r>
            <a:endParaRPr lang="en-US" sz="1333" dirty="0"/>
          </a:p>
        </p:txBody>
      </p:sp>
      <p:sp>
        <p:nvSpPr>
          <p:cNvPr id="4" name="Text 2"/>
          <p:cNvSpPr/>
          <p:nvPr/>
        </p:nvSpPr>
        <p:spPr>
          <a:xfrm>
            <a:off x="548640" y="609600"/>
            <a:ext cx="11094720" cy="853440"/>
          </a:xfrm>
          <a:prstGeom prst="rect">
            <a:avLst/>
          </a:prstGeom>
          <a:noFill/>
          <a:ln/>
        </p:spPr>
        <p:txBody>
          <a:bodyPr wrap="square" lIns="0" tIns="0" rIns="0" bIns="0" rtlCol="0" anchor="ctr"/>
          <a:lstStyle/>
          <a:p>
            <a:r>
              <a:rPr lang="en-US" sz="3467" b="1" dirty="0">
                <a:solidFill>
                  <a:srgbClr val="142966"/>
                </a:solidFill>
                <a:latin typeface="Calibri" pitchFamily="34" charset="0"/>
                <a:ea typeface="Calibri" pitchFamily="34" charset="-122"/>
                <a:cs typeface="Calibri" pitchFamily="34" charset="-120"/>
              </a:rPr>
              <a:t>Hyperparameters &amp; Training Setup</a:t>
            </a:r>
            <a:endParaRPr lang="en-US" sz="3467"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609600" y="1341120"/>
          <a:ext cx="10972800" cy="4998720"/>
        </p:xfrm>
        <a:graphic>
          <a:graphicData uri="http://schemas.openxmlformats.org/drawingml/2006/table">
            <a:tbl>
              <a:tblPr/>
              <a:tblGrid>
                <a:gridCol w="3657600">
                  <a:extLst>
                    <a:ext uri="{9D8B030D-6E8A-4147-A177-3AD203B41FA5}">
                      <a16:colId xmlns:a16="http://schemas.microsoft.com/office/drawing/2014/main" val="20000"/>
                    </a:ext>
                  </a:extLst>
                </a:gridCol>
                <a:gridCol w="1828800">
                  <a:extLst>
                    <a:ext uri="{9D8B030D-6E8A-4147-A177-3AD203B41FA5}">
                      <a16:colId xmlns:a16="http://schemas.microsoft.com/office/drawing/2014/main" val="20001"/>
                    </a:ext>
                  </a:extLst>
                </a:gridCol>
                <a:gridCol w="3657600">
                  <a:extLst>
                    <a:ext uri="{9D8B030D-6E8A-4147-A177-3AD203B41FA5}">
                      <a16:colId xmlns:a16="http://schemas.microsoft.com/office/drawing/2014/main" val="20002"/>
                    </a:ext>
                  </a:extLst>
                </a:gridCol>
                <a:gridCol w="1828800">
                  <a:extLst>
                    <a:ext uri="{9D8B030D-6E8A-4147-A177-3AD203B41FA5}">
                      <a16:colId xmlns:a16="http://schemas.microsoft.com/office/drawing/2014/main" val="20003"/>
                    </a:ext>
                  </a:extLst>
                </a:gridCol>
              </a:tblGrid>
              <a:tr h="624840">
                <a:tc>
                  <a:txBody>
                    <a:bodyPr/>
                    <a:lstStyle/>
                    <a:p>
                      <a:pPr marL="0" indent="0">
                        <a:buNone/>
                      </a:pPr>
                      <a:r>
                        <a:rPr lang="en-US" sz="1500" b="1" dirty="0">
                          <a:solidFill>
                            <a:srgbClr val="FFFFFF"/>
                          </a:solidFill>
                        </a:rPr>
                        <a:t>Hyperparameter</a:t>
                      </a:r>
                      <a:endParaRPr lang="en-US" sz="15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2966"/>
                    </a:solidFill>
                  </a:tcPr>
                </a:tc>
                <a:tc>
                  <a:txBody>
                    <a:bodyPr/>
                    <a:lstStyle/>
                    <a:p>
                      <a:pPr marL="0" indent="0">
                        <a:buNone/>
                      </a:pPr>
                      <a:r>
                        <a:rPr lang="en-US" sz="1500" b="1" dirty="0">
                          <a:solidFill>
                            <a:srgbClr val="FFFFFF"/>
                          </a:solidFill>
                        </a:rPr>
                        <a:t>Value</a:t>
                      </a:r>
                      <a:endParaRPr lang="en-US" sz="15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2966"/>
                    </a:solidFill>
                  </a:tcPr>
                </a:tc>
                <a:tc>
                  <a:txBody>
                    <a:bodyPr/>
                    <a:lstStyle/>
                    <a:p>
                      <a:pPr marL="0" indent="0">
                        <a:buNone/>
                      </a:pPr>
                      <a:r>
                        <a:rPr lang="en-US" sz="1500" b="1" dirty="0">
                          <a:solidFill>
                            <a:srgbClr val="FFFFFF"/>
                          </a:solidFill>
                        </a:rPr>
                        <a:t>Hyperparameter</a:t>
                      </a:r>
                      <a:endParaRPr lang="en-US" sz="15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2966"/>
                    </a:solidFill>
                  </a:tcPr>
                </a:tc>
                <a:tc>
                  <a:txBody>
                    <a:bodyPr/>
                    <a:lstStyle/>
                    <a:p>
                      <a:pPr marL="0" indent="0">
                        <a:buNone/>
                      </a:pPr>
                      <a:r>
                        <a:rPr lang="en-US" sz="1500" b="1" dirty="0">
                          <a:solidFill>
                            <a:srgbClr val="FFFFFF"/>
                          </a:solidFill>
                        </a:rPr>
                        <a:t>Value</a:t>
                      </a:r>
                      <a:endParaRPr lang="en-US" sz="15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2966"/>
                    </a:solidFill>
                  </a:tcPr>
                </a:tc>
                <a:extLst>
                  <a:ext uri="{0D108BD9-81ED-4DB2-BD59-A6C34878D82A}">
                    <a16:rowId xmlns:a16="http://schemas.microsoft.com/office/drawing/2014/main" val="10000"/>
                  </a:ext>
                </a:extLst>
              </a:tr>
              <a:tr h="624840">
                <a:tc>
                  <a:txBody>
                    <a:bodyPr/>
                    <a:lstStyle/>
                    <a:p>
                      <a:pPr marL="0" indent="0">
                        <a:buNone/>
                      </a:pPr>
                      <a:r>
                        <a:rPr lang="en-US" sz="1500" dirty="0">
                          <a:solidFill>
                            <a:srgbClr val="000000"/>
                          </a:solidFill>
                        </a:rPr>
                        <a:t>Word embedding dim</a:t>
                      </a:r>
                      <a:endParaRPr lang="en-US" sz="15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500" dirty="0">
                          <a:solidFill>
                            <a:srgbClr val="000000"/>
                          </a:solidFill>
                        </a:rPr>
                        <a:t>100</a:t>
                      </a:r>
                      <a:endParaRPr lang="en-US" sz="15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500" dirty="0">
                          <a:solidFill>
                            <a:srgbClr val="000000"/>
                          </a:solidFill>
                        </a:rPr>
                        <a:t>POS embedding dim</a:t>
                      </a:r>
                      <a:endParaRPr lang="en-US" sz="15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500" dirty="0">
                          <a:solidFill>
                            <a:srgbClr val="000000"/>
                          </a:solidFill>
                        </a:rPr>
                        <a:t>32</a:t>
                      </a:r>
                      <a:endParaRPr lang="en-US" sz="15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extLst>
                  <a:ext uri="{0D108BD9-81ED-4DB2-BD59-A6C34878D82A}">
                    <a16:rowId xmlns:a16="http://schemas.microsoft.com/office/drawing/2014/main" val="10001"/>
                  </a:ext>
                </a:extLst>
              </a:tr>
              <a:tr h="624840">
                <a:tc>
                  <a:txBody>
                    <a:bodyPr/>
                    <a:lstStyle/>
                    <a:p>
                      <a:pPr marL="0" indent="0">
                        <a:buNone/>
                      </a:pPr>
                      <a:r>
                        <a:rPr lang="en-US" sz="1500" dirty="0">
                          <a:solidFill>
                            <a:srgbClr val="000000"/>
                          </a:solidFill>
                        </a:rPr>
                        <a:t>Predicate embed dim</a:t>
                      </a:r>
                      <a:endParaRPr lang="en-US" sz="15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500" dirty="0">
                          <a:solidFill>
                            <a:srgbClr val="000000"/>
                          </a:solidFill>
                        </a:rPr>
                        <a:t>8</a:t>
                      </a:r>
                      <a:endParaRPr lang="en-US" sz="15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500" dirty="0">
                          <a:solidFill>
                            <a:srgbClr val="000000"/>
                          </a:solidFill>
                        </a:rPr>
                        <a:t>Hidden size (BiLSTM)</a:t>
                      </a:r>
                      <a:endParaRPr lang="en-US" sz="15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500" dirty="0">
                          <a:solidFill>
                            <a:srgbClr val="000000"/>
                          </a:solidFill>
                        </a:rPr>
                        <a:t>128 per direction</a:t>
                      </a:r>
                      <a:endParaRPr lang="en-US" sz="15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624840">
                <a:tc>
                  <a:txBody>
                    <a:bodyPr/>
                    <a:lstStyle/>
                    <a:p>
                      <a:pPr marL="0" indent="0">
                        <a:buNone/>
                      </a:pPr>
                      <a:r>
                        <a:rPr lang="en-US" sz="1500" dirty="0">
                          <a:solidFill>
                            <a:srgbClr val="000000"/>
                          </a:solidFill>
                        </a:rPr>
                        <a:t>Dropout</a:t>
                      </a:r>
                      <a:endParaRPr lang="en-US" sz="15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500" dirty="0">
                          <a:solidFill>
                            <a:srgbClr val="000000"/>
                          </a:solidFill>
                        </a:rPr>
                        <a:t>0.30</a:t>
                      </a:r>
                      <a:endParaRPr lang="en-US" sz="15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500" dirty="0">
                          <a:solidFill>
                            <a:srgbClr val="000000"/>
                          </a:solidFill>
                        </a:rPr>
                        <a:t>Loss alpha (SRL/QA)</a:t>
                      </a:r>
                      <a:endParaRPr lang="en-US" sz="15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500" dirty="0">
                          <a:solidFill>
                            <a:srgbClr val="000000"/>
                          </a:solidFill>
                        </a:rPr>
                        <a:t>0.50</a:t>
                      </a:r>
                      <a:endParaRPr lang="en-US" sz="15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extLst>
                  <a:ext uri="{0D108BD9-81ED-4DB2-BD59-A6C34878D82A}">
                    <a16:rowId xmlns:a16="http://schemas.microsoft.com/office/drawing/2014/main" val="10003"/>
                  </a:ext>
                </a:extLst>
              </a:tr>
              <a:tr h="624840">
                <a:tc>
                  <a:txBody>
                    <a:bodyPr/>
                    <a:lstStyle/>
                    <a:p>
                      <a:pPr marL="0" indent="0">
                        <a:buNone/>
                      </a:pPr>
                      <a:r>
                        <a:rPr lang="en-US" sz="1500" dirty="0">
                          <a:solidFill>
                            <a:srgbClr val="000000"/>
                          </a:solidFill>
                        </a:rPr>
                        <a:t>Batch size</a:t>
                      </a:r>
                      <a:endParaRPr lang="en-US" sz="15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500" dirty="0">
                          <a:solidFill>
                            <a:srgbClr val="000000"/>
                          </a:solidFill>
                        </a:rPr>
                        <a:t>64</a:t>
                      </a:r>
                      <a:endParaRPr lang="en-US" sz="15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500" dirty="0">
                          <a:solidFill>
                            <a:srgbClr val="000000"/>
                          </a:solidFill>
                        </a:rPr>
                        <a:t>Learning rate</a:t>
                      </a:r>
                      <a:endParaRPr lang="en-US" sz="15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500" dirty="0">
                          <a:solidFill>
                            <a:srgbClr val="000000"/>
                          </a:solidFill>
                        </a:rPr>
                        <a:t>1e-3</a:t>
                      </a:r>
                      <a:endParaRPr lang="en-US" sz="15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624840">
                <a:tc>
                  <a:txBody>
                    <a:bodyPr/>
                    <a:lstStyle/>
                    <a:p>
                      <a:pPr marL="0" indent="0">
                        <a:buNone/>
                      </a:pPr>
                      <a:r>
                        <a:rPr lang="en-US" sz="1500" dirty="0">
                          <a:solidFill>
                            <a:srgbClr val="000000"/>
                          </a:solidFill>
                        </a:rPr>
                        <a:t>Gradient clip norm</a:t>
                      </a:r>
                      <a:endParaRPr lang="en-US" sz="15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500" dirty="0">
                          <a:solidFill>
                            <a:srgbClr val="000000"/>
                          </a:solidFill>
                        </a:rPr>
                        <a:t>5.0</a:t>
                      </a:r>
                      <a:endParaRPr lang="en-US" sz="15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500" dirty="0">
                          <a:solidFill>
                            <a:srgbClr val="000000"/>
                          </a:solidFill>
                        </a:rPr>
                        <a:t>Max epochs</a:t>
                      </a:r>
                      <a:endParaRPr lang="en-US" sz="15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500" dirty="0">
                          <a:solidFill>
                            <a:srgbClr val="000000"/>
                          </a:solidFill>
                        </a:rPr>
                        <a:t>6</a:t>
                      </a:r>
                      <a:endParaRPr lang="en-US" sz="15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extLst>
                  <a:ext uri="{0D108BD9-81ED-4DB2-BD59-A6C34878D82A}">
                    <a16:rowId xmlns:a16="http://schemas.microsoft.com/office/drawing/2014/main" val="10005"/>
                  </a:ext>
                </a:extLst>
              </a:tr>
              <a:tr h="624840">
                <a:tc>
                  <a:txBody>
                    <a:bodyPr/>
                    <a:lstStyle/>
                    <a:p>
                      <a:pPr marL="0" indent="0">
                        <a:buNone/>
                      </a:pPr>
                      <a:r>
                        <a:rPr lang="en-US" sz="1500" dirty="0">
                          <a:solidFill>
                            <a:srgbClr val="000000"/>
                          </a:solidFill>
                        </a:rPr>
                        <a:t>Early stop patience</a:t>
                      </a:r>
                      <a:endParaRPr lang="en-US" sz="15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500" dirty="0">
                          <a:solidFill>
                            <a:srgbClr val="000000"/>
                          </a:solidFill>
                        </a:rPr>
                        <a:t>5</a:t>
                      </a:r>
                      <a:endParaRPr lang="en-US" sz="15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500" dirty="0">
                          <a:solidFill>
                            <a:srgbClr val="000000"/>
                          </a:solidFill>
                        </a:rPr>
                        <a:t>Best epoch</a:t>
                      </a:r>
                      <a:endParaRPr lang="en-US" sz="15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500" dirty="0">
                          <a:solidFill>
                            <a:srgbClr val="000000"/>
                          </a:solidFill>
                        </a:rPr>
                        <a:t>6</a:t>
                      </a:r>
                      <a:endParaRPr lang="en-US" sz="15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624840">
                <a:tc>
                  <a:txBody>
                    <a:bodyPr/>
                    <a:lstStyle/>
                    <a:p>
                      <a:pPr marL="0" indent="0">
                        <a:buNone/>
                      </a:pPr>
                      <a:r>
                        <a:rPr lang="en-US" sz="1500" dirty="0">
                          <a:solidFill>
                            <a:srgbClr val="000000"/>
                          </a:solidFill>
                        </a:rPr>
                        <a:t>Parameters</a:t>
                      </a:r>
                      <a:endParaRPr lang="en-US" sz="15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500" dirty="0">
                          <a:solidFill>
                            <a:srgbClr val="000000"/>
                          </a:solidFill>
                        </a:rPr>
                        <a:t>1,784,352</a:t>
                      </a:r>
                      <a:endParaRPr lang="en-US" sz="15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500" dirty="0">
                          <a:solidFill>
                            <a:srgbClr val="000000"/>
                          </a:solidFill>
                        </a:rPr>
                        <a:t>Best val F1</a:t>
                      </a:r>
                      <a:endParaRPr lang="en-US" sz="15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500" dirty="0">
                          <a:solidFill>
                            <a:srgbClr val="000000"/>
                          </a:solidFill>
                        </a:rPr>
                        <a:t>0.773</a:t>
                      </a:r>
                      <a:endParaRPr lang="en-US" sz="15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46725091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463296"/>
          </a:xfrm>
          <a:prstGeom prst="rect">
            <a:avLst/>
          </a:prstGeom>
          <a:solidFill>
            <a:srgbClr val="1B7FBF"/>
          </a:solidFill>
          <a:ln w="12700">
            <a:solidFill>
              <a:srgbClr val="1B7FBF"/>
            </a:solidFill>
            <a:prstDash val="solid"/>
          </a:ln>
        </p:spPr>
      </p:sp>
      <p:sp>
        <p:nvSpPr>
          <p:cNvPr id="3" name="Text 1"/>
          <p:cNvSpPr/>
          <p:nvPr/>
        </p:nvSpPr>
        <p:spPr>
          <a:xfrm>
            <a:off x="365760" y="0"/>
            <a:ext cx="10972800" cy="463296"/>
          </a:xfrm>
          <a:prstGeom prst="rect">
            <a:avLst/>
          </a:prstGeom>
          <a:noFill/>
          <a:ln/>
        </p:spPr>
        <p:txBody>
          <a:bodyPr wrap="square" lIns="0" tIns="0" rIns="0" bIns="0" rtlCol="0" anchor="ctr"/>
          <a:lstStyle/>
          <a:p>
            <a:r>
              <a:rPr lang="en-US" sz="1333" b="1" kern="0" spc="400" dirty="0">
                <a:solidFill>
                  <a:srgbClr val="FFFFFF"/>
                </a:solidFill>
              </a:rPr>
              <a:t>TRAINING</a:t>
            </a:r>
            <a:endParaRPr lang="en-US" sz="1333" dirty="0"/>
          </a:p>
        </p:txBody>
      </p:sp>
      <p:sp>
        <p:nvSpPr>
          <p:cNvPr id="4" name="Text 2"/>
          <p:cNvSpPr/>
          <p:nvPr/>
        </p:nvSpPr>
        <p:spPr>
          <a:xfrm>
            <a:off x="548640" y="609600"/>
            <a:ext cx="11094720" cy="853440"/>
          </a:xfrm>
          <a:prstGeom prst="rect">
            <a:avLst/>
          </a:prstGeom>
          <a:noFill/>
          <a:ln/>
        </p:spPr>
        <p:txBody>
          <a:bodyPr wrap="square" lIns="0" tIns="0" rIns="0" bIns="0" rtlCol="0" anchor="ctr"/>
          <a:lstStyle/>
          <a:p>
            <a:r>
              <a:rPr lang="en-US" sz="3467" b="1" dirty="0">
                <a:solidFill>
                  <a:srgbClr val="142966"/>
                </a:solidFill>
                <a:latin typeface="Calibri" pitchFamily="34" charset="0"/>
                <a:ea typeface="Calibri" pitchFamily="34" charset="-122"/>
                <a:cs typeface="Calibri" pitchFamily="34" charset="-120"/>
              </a:rPr>
              <a:t>Training Convergence &amp; Loss Curves</a:t>
            </a:r>
            <a:endParaRPr lang="en-US" sz="3467" dirty="0"/>
          </a:p>
        </p:txBody>
      </p:sp>
      <p:graphicFrame>
        <p:nvGraphicFramePr>
          <p:cNvPr id="5" name="Chart 0"/>
          <p:cNvGraphicFramePr/>
          <p:nvPr/>
        </p:nvGraphicFramePr>
        <p:xfrm>
          <a:off x="487680" y="1280160"/>
          <a:ext cx="7071360" cy="4632960"/>
        </p:xfrm>
        <a:graphic>
          <a:graphicData uri="http://schemas.openxmlformats.org/drawingml/2006/chart">
            <c:chart xmlns:c="http://schemas.openxmlformats.org/drawingml/2006/chart" xmlns:r="http://schemas.openxmlformats.org/officeDocument/2006/relationships" r:id="rId3"/>
          </a:graphicData>
        </a:graphic>
      </p:graphicFrame>
      <p:sp>
        <p:nvSpPr>
          <p:cNvPr id="6" name="Text 3"/>
          <p:cNvSpPr/>
          <p:nvPr/>
        </p:nvSpPr>
        <p:spPr>
          <a:xfrm>
            <a:off x="7802880" y="1341120"/>
            <a:ext cx="4023360" cy="487680"/>
          </a:xfrm>
          <a:prstGeom prst="rect">
            <a:avLst/>
          </a:prstGeom>
          <a:noFill/>
          <a:ln/>
        </p:spPr>
        <p:txBody>
          <a:bodyPr wrap="square" lIns="0" tIns="0" rIns="0" bIns="0" rtlCol="0" anchor="ctr"/>
          <a:lstStyle/>
          <a:p>
            <a:r>
              <a:rPr lang="en-US" sz="1733" b="1" dirty="0">
                <a:solidFill>
                  <a:srgbClr val="142966"/>
                </a:solidFill>
              </a:rPr>
              <a:t>Key Observations</a:t>
            </a:r>
            <a:endParaRPr lang="en-US" sz="1733" dirty="0"/>
          </a:p>
        </p:txBody>
      </p:sp>
      <p:sp>
        <p:nvSpPr>
          <p:cNvPr id="7" name="Text 4"/>
          <p:cNvSpPr/>
          <p:nvPr/>
        </p:nvSpPr>
        <p:spPr>
          <a:xfrm>
            <a:off x="7802880" y="1950720"/>
            <a:ext cx="4023360" cy="3413760"/>
          </a:xfrm>
          <a:prstGeom prst="rect">
            <a:avLst/>
          </a:prstGeom>
          <a:noFill/>
          <a:ln/>
        </p:spPr>
        <p:txBody>
          <a:bodyPr wrap="square" lIns="1355" tIns="1355" rIns="1355" bIns="1355" rtlCol="0" anchor="t"/>
          <a:lstStyle/>
          <a:p>
            <a:pPr marL="457189" indent="-457189">
              <a:buSzPct val="100000"/>
              <a:buChar char="•"/>
            </a:pPr>
            <a:r>
              <a:rPr lang="en-US" sz="1467" dirty="0">
                <a:solidFill>
                  <a:srgbClr val="0A1430"/>
                </a:solidFill>
              </a:rPr>
              <a:t>Best checkpoint: Epoch 6 (val F1 = 0.773)</a:t>
            </a:r>
            <a:endParaRPr lang="en-US" sz="1467" dirty="0"/>
          </a:p>
          <a:p>
            <a:pPr marL="457189" indent="-457189">
              <a:buSzPct val="100000"/>
              <a:buChar char="•"/>
            </a:pPr>
            <a:r>
              <a:rPr lang="en-US" sz="1467" dirty="0">
                <a:solidFill>
                  <a:srgbClr val="0A1430"/>
                </a:solidFill>
              </a:rPr>
              <a:t>90% of best val F1 reached by Epoch 4</a:t>
            </a:r>
            <a:endParaRPr lang="en-US" sz="1467" dirty="0"/>
          </a:p>
          <a:p>
            <a:pPr marL="457189" indent="-457189">
              <a:buSzPct val="100000"/>
              <a:buChar char="•"/>
            </a:pPr>
            <a:r>
              <a:rPr lang="en-US" sz="1467" dirty="0">
                <a:solidFill>
                  <a:srgbClr val="0A1430"/>
                </a:solidFill>
              </a:rPr>
              <a:t>Fast convergence on frequent role-question mappings</a:t>
            </a:r>
            <a:endParaRPr lang="en-US" sz="1467" dirty="0"/>
          </a:p>
          <a:p>
            <a:pPr marL="457189" indent="-457189">
              <a:buSzPct val="100000"/>
              <a:buChar char="•"/>
            </a:pPr>
            <a:r>
              <a:rPr lang="en-US" sz="1467" dirty="0">
                <a:solidFill>
                  <a:srgbClr val="0A1430"/>
                </a:solidFill>
              </a:rPr>
              <a:t>Tail roles (rare ARG3+) remain difficult throughout</a:t>
            </a:r>
            <a:endParaRPr lang="en-US" sz="1467" dirty="0"/>
          </a:p>
          <a:p>
            <a:pPr marL="457189" indent="-457189">
              <a:buSzPct val="100000"/>
              <a:buChar char="•"/>
            </a:pPr>
            <a:r>
              <a:rPr lang="en-US" sz="1467" dirty="0">
                <a:solidFill>
                  <a:srgbClr val="0A1430"/>
                </a:solidFill>
              </a:rPr>
              <a:t>No significant overgap: training ≈ validation loss</a:t>
            </a:r>
            <a:endParaRPr lang="en-US" sz="1467" dirty="0"/>
          </a:p>
          <a:p>
            <a:pPr marL="457189" indent="-457189">
              <a:buSzPct val="100000"/>
              <a:buChar char="•"/>
            </a:pPr>
            <a:r>
              <a:rPr lang="en-US" sz="1467" dirty="0">
                <a:solidFill>
                  <a:srgbClr val="0A1430"/>
                </a:solidFill>
              </a:rPr>
              <a:t>1.78M parameters — intentionally compact &amp; inspectable</a:t>
            </a:r>
            <a:endParaRPr lang="en-US" sz="1467" dirty="0"/>
          </a:p>
        </p:txBody>
      </p:sp>
      <p:sp>
        <p:nvSpPr>
          <p:cNvPr id="8" name="Shape 5"/>
          <p:cNvSpPr/>
          <p:nvPr/>
        </p:nvSpPr>
        <p:spPr>
          <a:xfrm>
            <a:off x="7802880" y="5547360"/>
            <a:ext cx="4023360" cy="914400"/>
          </a:xfrm>
          <a:prstGeom prst="rect">
            <a:avLst/>
          </a:prstGeom>
          <a:solidFill>
            <a:srgbClr val="142966"/>
          </a:solidFill>
          <a:ln/>
        </p:spPr>
      </p:sp>
      <p:sp>
        <p:nvSpPr>
          <p:cNvPr id="9" name="Text 6"/>
          <p:cNvSpPr/>
          <p:nvPr/>
        </p:nvSpPr>
        <p:spPr>
          <a:xfrm>
            <a:off x="7863840" y="5608320"/>
            <a:ext cx="3901440" cy="792480"/>
          </a:xfrm>
          <a:prstGeom prst="rect">
            <a:avLst/>
          </a:prstGeom>
          <a:noFill/>
          <a:ln/>
        </p:spPr>
        <p:txBody>
          <a:bodyPr wrap="square" lIns="0" tIns="0" rIns="0" bIns="0" rtlCol="0" anchor="ctr"/>
          <a:lstStyle/>
          <a:p>
            <a:pPr algn="ctr"/>
            <a:r>
              <a:rPr lang="en-US" sz="1333" dirty="0">
                <a:solidFill>
                  <a:srgbClr val="FFFFFF"/>
                </a:solidFill>
              </a:rPr>
              <a:t>Seed 42 · Adam · Early Stop (patience=5)</a:t>
            </a:r>
            <a:endParaRPr lang="en-US" sz="1333" dirty="0"/>
          </a:p>
        </p:txBody>
      </p:sp>
    </p:spTree>
    <p:extLst>
      <p:ext uri="{BB962C8B-B14F-4D97-AF65-F5344CB8AC3E}">
        <p14:creationId xmlns:p14="http://schemas.microsoft.com/office/powerpoint/2010/main" val="998054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463296"/>
          </a:xfrm>
          <a:prstGeom prst="rect">
            <a:avLst/>
          </a:prstGeom>
          <a:solidFill>
            <a:srgbClr val="1B7FBF"/>
          </a:solidFill>
          <a:ln w="12700">
            <a:solidFill>
              <a:srgbClr val="1B7FBF"/>
            </a:solidFill>
            <a:prstDash val="solid"/>
          </a:ln>
        </p:spPr>
      </p:sp>
      <p:sp>
        <p:nvSpPr>
          <p:cNvPr id="3" name="Text 1"/>
          <p:cNvSpPr/>
          <p:nvPr/>
        </p:nvSpPr>
        <p:spPr>
          <a:xfrm>
            <a:off x="365760" y="0"/>
            <a:ext cx="10972800" cy="463296"/>
          </a:xfrm>
          <a:prstGeom prst="rect">
            <a:avLst/>
          </a:prstGeom>
          <a:noFill/>
          <a:ln/>
        </p:spPr>
        <p:txBody>
          <a:bodyPr wrap="square" lIns="0" tIns="0" rIns="0" bIns="0" rtlCol="0" anchor="ctr"/>
          <a:lstStyle/>
          <a:p>
            <a:r>
              <a:rPr lang="en-US" sz="1333" b="1" kern="0" spc="400" dirty="0">
                <a:solidFill>
                  <a:srgbClr val="FFFFFF"/>
                </a:solidFill>
              </a:rPr>
              <a:t>RESULTS — SRL</a:t>
            </a:r>
            <a:endParaRPr lang="en-US" sz="1333" dirty="0"/>
          </a:p>
        </p:txBody>
      </p:sp>
      <p:sp>
        <p:nvSpPr>
          <p:cNvPr id="4" name="Text 2"/>
          <p:cNvSpPr/>
          <p:nvPr/>
        </p:nvSpPr>
        <p:spPr>
          <a:xfrm>
            <a:off x="548640" y="609600"/>
            <a:ext cx="11094720" cy="853440"/>
          </a:xfrm>
          <a:prstGeom prst="rect">
            <a:avLst/>
          </a:prstGeom>
          <a:noFill/>
          <a:ln/>
        </p:spPr>
        <p:txBody>
          <a:bodyPr wrap="square" lIns="0" tIns="0" rIns="0" bIns="0" rtlCol="0" anchor="ctr"/>
          <a:lstStyle/>
          <a:p>
            <a:r>
              <a:rPr lang="en-US" sz="3467" b="1" dirty="0">
                <a:solidFill>
                  <a:srgbClr val="142966"/>
                </a:solidFill>
                <a:latin typeface="Calibri" pitchFamily="34" charset="0"/>
                <a:ea typeface="Calibri" pitchFamily="34" charset="-122"/>
                <a:cs typeface="Calibri" pitchFamily="34" charset="-120"/>
              </a:rPr>
              <a:t>Semantic Role Labeling Performance</a:t>
            </a:r>
            <a:endParaRPr lang="en-US" sz="3467" dirty="0"/>
          </a:p>
        </p:txBody>
      </p:sp>
      <p:sp>
        <p:nvSpPr>
          <p:cNvPr id="5" name="Shape 3"/>
          <p:cNvSpPr/>
          <p:nvPr/>
        </p:nvSpPr>
        <p:spPr>
          <a:xfrm>
            <a:off x="365760" y="1341120"/>
            <a:ext cx="2560320" cy="1402080"/>
          </a:xfrm>
          <a:prstGeom prst="rect">
            <a:avLst/>
          </a:prstGeom>
          <a:solidFill>
            <a:srgbClr val="FFFFFF"/>
          </a:solidFill>
          <a:ln/>
          <a:effectLst>
            <a:outerShdw blurRad="101600" dist="25400" dir="8100000" algn="bl" rotWithShape="0">
              <a:srgbClr val="000000">
                <a:alpha val="12000"/>
              </a:srgbClr>
            </a:outerShdw>
          </a:effectLst>
        </p:spPr>
      </p:sp>
      <p:sp>
        <p:nvSpPr>
          <p:cNvPr id="6" name="Shape 4"/>
          <p:cNvSpPr/>
          <p:nvPr/>
        </p:nvSpPr>
        <p:spPr>
          <a:xfrm>
            <a:off x="365760" y="1341120"/>
            <a:ext cx="2560320" cy="219456"/>
          </a:xfrm>
          <a:prstGeom prst="rect">
            <a:avLst/>
          </a:prstGeom>
          <a:solidFill>
            <a:srgbClr val="F4A325"/>
          </a:solidFill>
          <a:ln w="12700">
            <a:solidFill>
              <a:srgbClr val="F4A325"/>
            </a:solidFill>
            <a:prstDash val="solid"/>
          </a:ln>
        </p:spPr>
      </p:sp>
      <p:sp>
        <p:nvSpPr>
          <p:cNvPr id="7" name="Text 5"/>
          <p:cNvSpPr/>
          <p:nvPr/>
        </p:nvSpPr>
        <p:spPr>
          <a:xfrm>
            <a:off x="426720" y="1609344"/>
            <a:ext cx="2438400" cy="670560"/>
          </a:xfrm>
          <a:prstGeom prst="rect">
            <a:avLst/>
          </a:prstGeom>
          <a:noFill/>
          <a:ln/>
        </p:spPr>
        <p:txBody>
          <a:bodyPr wrap="square" lIns="0" tIns="0" rIns="0" bIns="0" rtlCol="0" anchor="ctr"/>
          <a:lstStyle/>
          <a:p>
            <a:pPr algn="ctr"/>
            <a:r>
              <a:rPr lang="en-US" sz="3467" b="1" dirty="0">
                <a:solidFill>
                  <a:srgbClr val="142966"/>
                </a:solidFill>
              </a:rPr>
              <a:t>0.162</a:t>
            </a:r>
            <a:endParaRPr lang="en-US" sz="3467" dirty="0"/>
          </a:p>
        </p:txBody>
      </p:sp>
      <p:sp>
        <p:nvSpPr>
          <p:cNvPr id="8" name="Text 6"/>
          <p:cNvSpPr/>
          <p:nvPr/>
        </p:nvSpPr>
        <p:spPr>
          <a:xfrm>
            <a:off x="426720" y="2267712"/>
            <a:ext cx="2438400" cy="390144"/>
          </a:xfrm>
          <a:prstGeom prst="rect">
            <a:avLst/>
          </a:prstGeom>
          <a:noFill/>
          <a:ln/>
        </p:spPr>
        <p:txBody>
          <a:bodyPr wrap="square" lIns="0" tIns="0" rIns="0" bIns="0" rtlCol="0" anchor="ctr"/>
          <a:lstStyle/>
          <a:p>
            <a:pPr algn="ctr"/>
            <a:r>
              <a:rPr lang="en-US" sz="1267" dirty="0">
                <a:solidFill>
                  <a:srgbClr val="8096B8"/>
                </a:solidFill>
              </a:rPr>
              <a:t>SRL Macro F1</a:t>
            </a:r>
            <a:endParaRPr lang="en-US" sz="1267" dirty="0"/>
          </a:p>
        </p:txBody>
      </p:sp>
      <p:sp>
        <p:nvSpPr>
          <p:cNvPr id="9" name="Shape 7"/>
          <p:cNvSpPr/>
          <p:nvPr/>
        </p:nvSpPr>
        <p:spPr>
          <a:xfrm>
            <a:off x="3230880" y="1341120"/>
            <a:ext cx="2560320" cy="1402080"/>
          </a:xfrm>
          <a:prstGeom prst="rect">
            <a:avLst/>
          </a:prstGeom>
          <a:solidFill>
            <a:srgbClr val="FFFFFF"/>
          </a:solidFill>
          <a:ln/>
          <a:effectLst>
            <a:outerShdw blurRad="101600" dist="25400" dir="8100000" algn="bl" rotWithShape="0">
              <a:srgbClr val="000000">
                <a:alpha val="12000"/>
              </a:srgbClr>
            </a:outerShdw>
          </a:effectLst>
        </p:spPr>
      </p:sp>
      <p:sp>
        <p:nvSpPr>
          <p:cNvPr id="10" name="Shape 8"/>
          <p:cNvSpPr/>
          <p:nvPr/>
        </p:nvSpPr>
        <p:spPr>
          <a:xfrm>
            <a:off x="3230880" y="1341120"/>
            <a:ext cx="2560320" cy="219456"/>
          </a:xfrm>
          <a:prstGeom prst="rect">
            <a:avLst/>
          </a:prstGeom>
          <a:solidFill>
            <a:srgbClr val="1B7FBF"/>
          </a:solidFill>
          <a:ln w="12700">
            <a:solidFill>
              <a:srgbClr val="1B7FBF"/>
            </a:solidFill>
            <a:prstDash val="solid"/>
          </a:ln>
        </p:spPr>
      </p:sp>
      <p:sp>
        <p:nvSpPr>
          <p:cNvPr id="11" name="Text 9"/>
          <p:cNvSpPr/>
          <p:nvPr/>
        </p:nvSpPr>
        <p:spPr>
          <a:xfrm>
            <a:off x="3291840" y="1609344"/>
            <a:ext cx="2438400" cy="670560"/>
          </a:xfrm>
          <a:prstGeom prst="rect">
            <a:avLst/>
          </a:prstGeom>
          <a:noFill/>
          <a:ln/>
        </p:spPr>
        <p:txBody>
          <a:bodyPr wrap="square" lIns="0" tIns="0" rIns="0" bIns="0" rtlCol="0" anchor="ctr"/>
          <a:lstStyle/>
          <a:p>
            <a:pPr algn="ctr"/>
            <a:r>
              <a:rPr lang="en-US" sz="3467" b="1" dirty="0">
                <a:solidFill>
                  <a:srgbClr val="142966"/>
                </a:solidFill>
              </a:rPr>
              <a:t>0.713</a:t>
            </a:r>
            <a:endParaRPr lang="en-US" sz="3467" dirty="0"/>
          </a:p>
        </p:txBody>
      </p:sp>
      <p:sp>
        <p:nvSpPr>
          <p:cNvPr id="12" name="Text 10"/>
          <p:cNvSpPr/>
          <p:nvPr/>
        </p:nvSpPr>
        <p:spPr>
          <a:xfrm>
            <a:off x="3291840" y="2267712"/>
            <a:ext cx="2438400" cy="390144"/>
          </a:xfrm>
          <a:prstGeom prst="rect">
            <a:avLst/>
          </a:prstGeom>
          <a:noFill/>
          <a:ln/>
        </p:spPr>
        <p:txBody>
          <a:bodyPr wrap="square" lIns="0" tIns="0" rIns="0" bIns="0" rtlCol="0" anchor="ctr"/>
          <a:lstStyle/>
          <a:p>
            <a:pPr algn="ctr"/>
            <a:r>
              <a:rPr lang="en-US" sz="1267" dirty="0">
                <a:solidFill>
                  <a:srgbClr val="8096B8"/>
                </a:solidFill>
              </a:rPr>
              <a:t>SRL Micro F1</a:t>
            </a:r>
            <a:endParaRPr lang="en-US" sz="1267" dirty="0"/>
          </a:p>
        </p:txBody>
      </p:sp>
      <p:sp>
        <p:nvSpPr>
          <p:cNvPr id="13" name="Shape 11"/>
          <p:cNvSpPr/>
          <p:nvPr/>
        </p:nvSpPr>
        <p:spPr>
          <a:xfrm>
            <a:off x="6096000" y="1341120"/>
            <a:ext cx="2560320" cy="1402080"/>
          </a:xfrm>
          <a:prstGeom prst="rect">
            <a:avLst/>
          </a:prstGeom>
          <a:solidFill>
            <a:srgbClr val="FFFFFF"/>
          </a:solidFill>
          <a:ln/>
          <a:effectLst>
            <a:outerShdw blurRad="101600" dist="25400" dir="8100000" algn="bl" rotWithShape="0">
              <a:srgbClr val="000000">
                <a:alpha val="12000"/>
              </a:srgbClr>
            </a:outerShdw>
          </a:effectLst>
        </p:spPr>
      </p:sp>
      <p:sp>
        <p:nvSpPr>
          <p:cNvPr id="14" name="Shape 12"/>
          <p:cNvSpPr/>
          <p:nvPr/>
        </p:nvSpPr>
        <p:spPr>
          <a:xfrm>
            <a:off x="6096000" y="1341120"/>
            <a:ext cx="2560320" cy="219456"/>
          </a:xfrm>
          <a:prstGeom prst="rect">
            <a:avLst/>
          </a:prstGeom>
          <a:solidFill>
            <a:srgbClr val="0FA3B1"/>
          </a:solidFill>
          <a:ln w="12700">
            <a:solidFill>
              <a:srgbClr val="0FA3B1"/>
            </a:solidFill>
            <a:prstDash val="solid"/>
          </a:ln>
        </p:spPr>
      </p:sp>
      <p:sp>
        <p:nvSpPr>
          <p:cNvPr id="15" name="Text 13"/>
          <p:cNvSpPr/>
          <p:nvPr/>
        </p:nvSpPr>
        <p:spPr>
          <a:xfrm>
            <a:off x="6156960" y="1609344"/>
            <a:ext cx="2438400" cy="670560"/>
          </a:xfrm>
          <a:prstGeom prst="rect">
            <a:avLst/>
          </a:prstGeom>
          <a:noFill/>
          <a:ln/>
        </p:spPr>
        <p:txBody>
          <a:bodyPr wrap="square" lIns="0" tIns="0" rIns="0" bIns="0" rtlCol="0" anchor="ctr"/>
          <a:lstStyle/>
          <a:p>
            <a:pPr algn="ctr"/>
            <a:r>
              <a:rPr lang="en-US" sz="3467" b="1" dirty="0">
                <a:solidFill>
                  <a:srgbClr val="142966"/>
                </a:solidFill>
              </a:rPr>
              <a:t>0.816</a:t>
            </a:r>
            <a:endParaRPr lang="en-US" sz="3467" dirty="0"/>
          </a:p>
        </p:txBody>
      </p:sp>
      <p:sp>
        <p:nvSpPr>
          <p:cNvPr id="16" name="Text 14"/>
          <p:cNvSpPr/>
          <p:nvPr/>
        </p:nvSpPr>
        <p:spPr>
          <a:xfrm>
            <a:off x="6156960" y="2267712"/>
            <a:ext cx="2438400" cy="390144"/>
          </a:xfrm>
          <a:prstGeom prst="rect">
            <a:avLst/>
          </a:prstGeom>
          <a:noFill/>
          <a:ln/>
        </p:spPr>
        <p:txBody>
          <a:bodyPr wrap="square" lIns="0" tIns="0" rIns="0" bIns="0" rtlCol="0" anchor="ctr"/>
          <a:lstStyle/>
          <a:p>
            <a:pPr algn="ctr"/>
            <a:r>
              <a:rPr lang="en-US" sz="1267" dirty="0">
                <a:solidFill>
                  <a:srgbClr val="8096B8"/>
                </a:solidFill>
              </a:rPr>
              <a:t>BIO Accuracy</a:t>
            </a:r>
            <a:endParaRPr lang="en-US" sz="1267" dirty="0"/>
          </a:p>
        </p:txBody>
      </p:sp>
      <p:sp>
        <p:nvSpPr>
          <p:cNvPr id="17" name="Shape 15"/>
          <p:cNvSpPr/>
          <p:nvPr/>
        </p:nvSpPr>
        <p:spPr>
          <a:xfrm>
            <a:off x="8961120" y="1341120"/>
            <a:ext cx="2560320" cy="1402080"/>
          </a:xfrm>
          <a:prstGeom prst="rect">
            <a:avLst/>
          </a:prstGeom>
          <a:solidFill>
            <a:srgbClr val="FFFFFF"/>
          </a:solidFill>
          <a:ln/>
          <a:effectLst>
            <a:outerShdw blurRad="101600" dist="25400" dir="8100000" algn="bl" rotWithShape="0">
              <a:srgbClr val="000000">
                <a:alpha val="12000"/>
              </a:srgbClr>
            </a:outerShdw>
          </a:effectLst>
        </p:spPr>
      </p:sp>
      <p:sp>
        <p:nvSpPr>
          <p:cNvPr id="18" name="Shape 16"/>
          <p:cNvSpPr/>
          <p:nvPr/>
        </p:nvSpPr>
        <p:spPr>
          <a:xfrm>
            <a:off x="8961120" y="1341120"/>
            <a:ext cx="2560320" cy="219456"/>
          </a:xfrm>
          <a:prstGeom prst="rect">
            <a:avLst/>
          </a:prstGeom>
          <a:solidFill>
            <a:srgbClr val="142966"/>
          </a:solidFill>
          <a:ln w="12700">
            <a:solidFill>
              <a:srgbClr val="142966"/>
            </a:solidFill>
            <a:prstDash val="solid"/>
          </a:ln>
        </p:spPr>
      </p:sp>
      <p:sp>
        <p:nvSpPr>
          <p:cNvPr id="19" name="Text 17"/>
          <p:cNvSpPr/>
          <p:nvPr/>
        </p:nvSpPr>
        <p:spPr>
          <a:xfrm>
            <a:off x="9022080" y="1609344"/>
            <a:ext cx="2438400" cy="670560"/>
          </a:xfrm>
          <a:prstGeom prst="rect">
            <a:avLst/>
          </a:prstGeom>
          <a:noFill/>
          <a:ln/>
        </p:spPr>
        <p:txBody>
          <a:bodyPr wrap="square" lIns="0" tIns="0" rIns="0" bIns="0" rtlCol="0" anchor="ctr"/>
          <a:lstStyle/>
          <a:p>
            <a:pPr algn="ctr"/>
            <a:r>
              <a:rPr lang="en-US" sz="3467" b="1" dirty="0">
                <a:solidFill>
                  <a:srgbClr val="142966"/>
                </a:solidFill>
              </a:rPr>
              <a:t>0.518</a:t>
            </a:r>
            <a:endParaRPr lang="en-US" sz="3467" dirty="0"/>
          </a:p>
        </p:txBody>
      </p:sp>
      <p:sp>
        <p:nvSpPr>
          <p:cNvPr id="20" name="Text 18"/>
          <p:cNvSpPr/>
          <p:nvPr/>
        </p:nvSpPr>
        <p:spPr>
          <a:xfrm>
            <a:off x="9022080" y="2267712"/>
            <a:ext cx="2438400" cy="390144"/>
          </a:xfrm>
          <a:prstGeom prst="rect">
            <a:avLst/>
          </a:prstGeom>
          <a:noFill/>
          <a:ln/>
        </p:spPr>
        <p:txBody>
          <a:bodyPr wrap="square" lIns="0" tIns="0" rIns="0" bIns="0" rtlCol="0" anchor="ctr"/>
          <a:lstStyle/>
          <a:p>
            <a:pPr algn="ctr"/>
            <a:r>
              <a:rPr lang="en-US" sz="1267" dirty="0">
                <a:solidFill>
                  <a:srgbClr val="8096B8"/>
                </a:solidFill>
              </a:rPr>
              <a:t>QA Exact Match</a:t>
            </a:r>
            <a:endParaRPr lang="en-US" sz="1267" dirty="0"/>
          </a:p>
        </p:txBody>
      </p:sp>
      <p:graphicFrame>
        <p:nvGraphicFramePr>
          <p:cNvPr id="21" name="Chart 0"/>
          <p:cNvGraphicFramePr/>
          <p:nvPr/>
        </p:nvGraphicFramePr>
        <p:xfrm>
          <a:off x="365760" y="3048000"/>
          <a:ext cx="11460480" cy="3474720"/>
        </p:xfrm>
        <a:graphic>
          <a:graphicData uri="http://schemas.openxmlformats.org/drawingml/2006/chart">
            <c:chart xmlns:c="http://schemas.openxmlformats.org/drawingml/2006/chart" xmlns:r="http://schemas.openxmlformats.org/officeDocument/2006/relationships" r:id="rId3"/>
          </a:graphicData>
        </a:graphic>
      </p:graphicFrame>
    </p:spTree>
    <p:extLst>
      <p:ext uri="{BB962C8B-B14F-4D97-AF65-F5344CB8AC3E}">
        <p14:creationId xmlns:p14="http://schemas.microsoft.com/office/powerpoint/2010/main" val="24570275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463296"/>
          </a:xfrm>
          <a:prstGeom prst="rect">
            <a:avLst/>
          </a:prstGeom>
          <a:solidFill>
            <a:srgbClr val="1B7FBF"/>
          </a:solidFill>
          <a:ln w="12700">
            <a:solidFill>
              <a:srgbClr val="1B7FBF"/>
            </a:solidFill>
            <a:prstDash val="solid"/>
          </a:ln>
        </p:spPr>
      </p:sp>
      <p:sp>
        <p:nvSpPr>
          <p:cNvPr id="3" name="Text 1"/>
          <p:cNvSpPr/>
          <p:nvPr/>
        </p:nvSpPr>
        <p:spPr>
          <a:xfrm>
            <a:off x="365760" y="0"/>
            <a:ext cx="10972800" cy="463296"/>
          </a:xfrm>
          <a:prstGeom prst="rect">
            <a:avLst/>
          </a:prstGeom>
          <a:noFill/>
          <a:ln/>
        </p:spPr>
        <p:txBody>
          <a:bodyPr wrap="square" lIns="0" tIns="0" rIns="0" bIns="0" rtlCol="0" anchor="ctr"/>
          <a:lstStyle/>
          <a:p>
            <a:r>
              <a:rPr lang="en-US" sz="1333" b="1" kern="0" spc="400" dirty="0">
                <a:solidFill>
                  <a:srgbClr val="FFFFFF"/>
                </a:solidFill>
              </a:rPr>
              <a:t>RESULTS — QA</a:t>
            </a:r>
            <a:endParaRPr lang="en-US" sz="1333" dirty="0"/>
          </a:p>
        </p:txBody>
      </p:sp>
      <p:sp>
        <p:nvSpPr>
          <p:cNvPr id="4" name="Text 2"/>
          <p:cNvSpPr/>
          <p:nvPr/>
        </p:nvSpPr>
        <p:spPr>
          <a:xfrm>
            <a:off x="548640" y="609600"/>
            <a:ext cx="11094720" cy="853440"/>
          </a:xfrm>
          <a:prstGeom prst="rect">
            <a:avLst/>
          </a:prstGeom>
          <a:noFill/>
          <a:ln/>
        </p:spPr>
        <p:txBody>
          <a:bodyPr wrap="square" lIns="0" tIns="0" rIns="0" bIns="0" rtlCol="0" anchor="ctr"/>
          <a:lstStyle/>
          <a:p>
            <a:r>
              <a:rPr lang="en-US" sz="3467" b="1" dirty="0">
                <a:solidFill>
                  <a:srgbClr val="142966"/>
                </a:solidFill>
                <a:latin typeface="Calibri" pitchFamily="34" charset="0"/>
                <a:ea typeface="Calibri" pitchFamily="34" charset="-122"/>
                <a:cs typeface="Calibri" pitchFamily="34" charset="-120"/>
              </a:rPr>
              <a:t>QA Performance by Question Type</a:t>
            </a:r>
            <a:endParaRPr lang="en-US" sz="3467" dirty="0"/>
          </a:p>
        </p:txBody>
      </p:sp>
      <p:graphicFrame>
        <p:nvGraphicFramePr>
          <p:cNvPr id="5" name="Chart 0"/>
          <p:cNvGraphicFramePr/>
          <p:nvPr/>
        </p:nvGraphicFramePr>
        <p:xfrm>
          <a:off x="365760" y="1341120"/>
          <a:ext cx="7559040" cy="4632960"/>
        </p:xfrm>
        <a:graphic>
          <a:graphicData uri="http://schemas.openxmlformats.org/drawingml/2006/chart">
            <c:chart xmlns:c="http://schemas.openxmlformats.org/drawingml/2006/chart" xmlns:r="http://schemas.openxmlformats.org/officeDocument/2006/relationships" r:id="rId3"/>
          </a:graphicData>
        </a:graphic>
      </p:graphicFrame>
      <p:sp>
        <p:nvSpPr>
          <p:cNvPr id="6" name="Shape 3"/>
          <p:cNvSpPr/>
          <p:nvPr/>
        </p:nvSpPr>
        <p:spPr>
          <a:xfrm>
            <a:off x="8168640" y="1341120"/>
            <a:ext cx="3657600" cy="1280160"/>
          </a:xfrm>
          <a:prstGeom prst="rect">
            <a:avLst/>
          </a:prstGeom>
          <a:solidFill>
            <a:srgbClr val="FFFFFF"/>
          </a:solidFill>
          <a:ln/>
          <a:effectLst>
            <a:outerShdw blurRad="76200" dist="25400" dir="8100000" algn="bl" rotWithShape="0">
              <a:srgbClr val="000000">
                <a:alpha val="10000"/>
              </a:srgbClr>
            </a:outerShdw>
          </a:effectLst>
        </p:spPr>
      </p:sp>
      <p:sp>
        <p:nvSpPr>
          <p:cNvPr id="7" name="Shape 4"/>
          <p:cNvSpPr/>
          <p:nvPr/>
        </p:nvSpPr>
        <p:spPr>
          <a:xfrm>
            <a:off x="8168640" y="1341120"/>
            <a:ext cx="85344" cy="1280160"/>
          </a:xfrm>
          <a:prstGeom prst="rect">
            <a:avLst/>
          </a:prstGeom>
          <a:solidFill>
            <a:srgbClr val="0FA3B1"/>
          </a:solidFill>
          <a:ln w="12700">
            <a:solidFill>
              <a:srgbClr val="0FA3B1"/>
            </a:solidFill>
            <a:prstDash val="solid"/>
          </a:ln>
        </p:spPr>
      </p:sp>
      <p:sp>
        <p:nvSpPr>
          <p:cNvPr id="8" name="Text 5"/>
          <p:cNvSpPr/>
          <p:nvPr/>
        </p:nvSpPr>
        <p:spPr>
          <a:xfrm>
            <a:off x="8351520" y="1487424"/>
            <a:ext cx="3413760" cy="390144"/>
          </a:xfrm>
          <a:prstGeom prst="rect">
            <a:avLst/>
          </a:prstGeom>
          <a:noFill/>
          <a:ln/>
        </p:spPr>
        <p:txBody>
          <a:bodyPr wrap="square" lIns="0" tIns="0" rIns="0" bIns="0" rtlCol="0" anchor="ctr"/>
          <a:lstStyle/>
          <a:p>
            <a:r>
              <a:rPr lang="en-US" sz="1467" b="1" dirty="0">
                <a:solidFill>
                  <a:srgbClr val="142966"/>
                </a:solidFill>
              </a:rPr>
              <a:t>WHO 🏆</a:t>
            </a:r>
            <a:endParaRPr lang="en-US" sz="1467" dirty="0"/>
          </a:p>
        </p:txBody>
      </p:sp>
      <p:sp>
        <p:nvSpPr>
          <p:cNvPr id="9" name="Text 6"/>
          <p:cNvSpPr/>
          <p:nvPr/>
        </p:nvSpPr>
        <p:spPr>
          <a:xfrm>
            <a:off x="8351520" y="1889760"/>
            <a:ext cx="3413760" cy="609600"/>
          </a:xfrm>
          <a:prstGeom prst="rect">
            <a:avLst/>
          </a:prstGeom>
          <a:noFill/>
          <a:ln/>
        </p:spPr>
        <p:txBody>
          <a:bodyPr wrap="square" lIns="0" tIns="0" rIns="0" bIns="0" rtlCol="0" anchor="ctr"/>
          <a:lstStyle/>
          <a:p>
            <a:r>
              <a:rPr lang="en-US" sz="1333" dirty="0">
                <a:solidFill>
                  <a:srgbClr val="0A1430"/>
                </a:solidFill>
              </a:rPr>
              <a:t>EM: 0.618</a:t>
            </a:r>
            <a:endParaRPr lang="en-US" sz="1333" dirty="0"/>
          </a:p>
          <a:p>
            <a:r>
              <a:rPr lang="en-US" sz="1333" dirty="0">
                <a:solidFill>
                  <a:srgbClr val="0A1430"/>
                </a:solidFill>
              </a:rPr>
              <a:t>F1: 0.779</a:t>
            </a:r>
            <a:endParaRPr lang="en-US" sz="1333" dirty="0"/>
          </a:p>
          <a:p>
            <a:r>
              <a:rPr lang="en-US" sz="1333" dirty="0">
                <a:solidFill>
                  <a:srgbClr val="0A1430"/>
                </a:solidFill>
              </a:rPr>
              <a:t>Agent-role questions are best supported by ARG0 structure</a:t>
            </a:r>
            <a:endParaRPr lang="en-US" sz="1333" dirty="0"/>
          </a:p>
        </p:txBody>
      </p:sp>
      <p:sp>
        <p:nvSpPr>
          <p:cNvPr id="10" name="Shape 7"/>
          <p:cNvSpPr/>
          <p:nvPr/>
        </p:nvSpPr>
        <p:spPr>
          <a:xfrm>
            <a:off x="8168640" y="2706624"/>
            <a:ext cx="3657600" cy="1280160"/>
          </a:xfrm>
          <a:prstGeom prst="rect">
            <a:avLst/>
          </a:prstGeom>
          <a:solidFill>
            <a:srgbClr val="FFFFFF"/>
          </a:solidFill>
          <a:ln/>
          <a:effectLst>
            <a:outerShdw blurRad="76200" dist="25400" dir="8100000" algn="bl" rotWithShape="0">
              <a:srgbClr val="000000">
                <a:alpha val="10000"/>
              </a:srgbClr>
            </a:outerShdw>
          </a:effectLst>
        </p:spPr>
      </p:sp>
      <p:sp>
        <p:nvSpPr>
          <p:cNvPr id="11" name="Shape 8"/>
          <p:cNvSpPr/>
          <p:nvPr/>
        </p:nvSpPr>
        <p:spPr>
          <a:xfrm>
            <a:off x="8168640" y="2706624"/>
            <a:ext cx="85344" cy="1280160"/>
          </a:xfrm>
          <a:prstGeom prst="rect">
            <a:avLst/>
          </a:prstGeom>
          <a:solidFill>
            <a:srgbClr val="1B7FBF"/>
          </a:solidFill>
          <a:ln w="12700">
            <a:solidFill>
              <a:srgbClr val="1B7FBF"/>
            </a:solidFill>
            <a:prstDash val="solid"/>
          </a:ln>
        </p:spPr>
      </p:sp>
      <p:sp>
        <p:nvSpPr>
          <p:cNvPr id="12" name="Text 9"/>
          <p:cNvSpPr/>
          <p:nvPr/>
        </p:nvSpPr>
        <p:spPr>
          <a:xfrm>
            <a:off x="8351520" y="2852928"/>
            <a:ext cx="3413760" cy="390144"/>
          </a:xfrm>
          <a:prstGeom prst="rect">
            <a:avLst/>
          </a:prstGeom>
          <a:noFill/>
          <a:ln/>
        </p:spPr>
        <p:txBody>
          <a:bodyPr wrap="square" lIns="0" tIns="0" rIns="0" bIns="0" rtlCol="0" anchor="ctr"/>
          <a:lstStyle/>
          <a:p>
            <a:r>
              <a:rPr lang="en-US" sz="1467" b="1" dirty="0">
                <a:solidFill>
                  <a:srgbClr val="142966"/>
                </a:solidFill>
              </a:rPr>
              <a:t>WHAT</a:t>
            </a:r>
            <a:endParaRPr lang="en-US" sz="1467" dirty="0"/>
          </a:p>
        </p:txBody>
      </p:sp>
      <p:sp>
        <p:nvSpPr>
          <p:cNvPr id="13" name="Text 10"/>
          <p:cNvSpPr/>
          <p:nvPr/>
        </p:nvSpPr>
        <p:spPr>
          <a:xfrm>
            <a:off x="8351520" y="3255264"/>
            <a:ext cx="3413760" cy="609600"/>
          </a:xfrm>
          <a:prstGeom prst="rect">
            <a:avLst/>
          </a:prstGeom>
          <a:noFill/>
          <a:ln/>
        </p:spPr>
        <p:txBody>
          <a:bodyPr wrap="square" lIns="0" tIns="0" rIns="0" bIns="0" rtlCol="0" anchor="ctr"/>
          <a:lstStyle/>
          <a:p>
            <a:r>
              <a:rPr lang="en-US" sz="1333" dirty="0">
                <a:solidFill>
                  <a:srgbClr val="0A1430"/>
                </a:solidFill>
              </a:rPr>
              <a:t>EM: 0.505</a:t>
            </a:r>
            <a:endParaRPr lang="en-US" sz="1333" dirty="0"/>
          </a:p>
          <a:p>
            <a:r>
              <a:rPr lang="en-US" sz="1333" dirty="0">
                <a:solidFill>
                  <a:srgbClr val="0A1430"/>
                </a:solidFill>
              </a:rPr>
              <a:t>F1: 0.802</a:t>
            </a:r>
            <a:endParaRPr lang="en-US" sz="1333" dirty="0"/>
          </a:p>
          <a:p>
            <a:r>
              <a:rPr lang="en-US" sz="1333" dirty="0">
                <a:solidFill>
                  <a:srgbClr val="0A1430"/>
                </a:solidFill>
              </a:rPr>
              <a:t>High token overlap; the largest slice of the test set</a:t>
            </a:r>
            <a:endParaRPr lang="en-US" sz="1333" dirty="0"/>
          </a:p>
        </p:txBody>
      </p:sp>
      <p:sp>
        <p:nvSpPr>
          <p:cNvPr id="14" name="Shape 11"/>
          <p:cNvSpPr/>
          <p:nvPr/>
        </p:nvSpPr>
        <p:spPr>
          <a:xfrm>
            <a:off x="8168640" y="4072128"/>
            <a:ext cx="3657600" cy="1280160"/>
          </a:xfrm>
          <a:prstGeom prst="rect">
            <a:avLst/>
          </a:prstGeom>
          <a:solidFill>
            <a:srgbClr val="FFFFFF"/>
          </a:solidFill>
          <a:ln/>
          <a:effectLst>
            <a:outerShdw blurRad="76200" dist="25400" dir="8100000" algn="bl" rotWithShape="0">
              <a:srgbClr val="000000">
                <a:alpha val="10000"/>
              </a:srgbClr>
            </a:outerShdw>
          </a:effectLst>
        </p:spPr>
      </p:sp>
      <p:sp>
        <p:nvSpPr>
          <p:cNvPr id="15" name="Shape 12"/>
          <p:cNvSpPr/>
          <p:nvPr/>
        </p:nvSpPr>
        <p:spPr>
          <a:xfrm>
            <a:off x="8168640" y="4072128"/>
            <a:ext cx="85344" cy="1280160"/>
          </a:xfrm>
          <a:prstGeom prst="rect">
            <a:avLst/>
          </a:prstGeom>
          <a:solidFill>
            <a:srgbClr val="F4A325"/>
          </a:solidFill>
          <a:ln w="12700">
            <a:solidFill>
              <a:srgbClr val="F4A325"/>
            </a:solidFill>
            <a:prstDash val="solid"/>
          </a:ln>
        </p:spPr>
      </p:sp>
      <p:sp>
        <p:nvSpPr>
          <p:cNvPr id="16" name="Text 13"/>
          <p:cNvSpPr/>
          <p:nvPr/>
        </p:nvSpPr>
        <p:spPr>
          <a:xfrm>
            <a:off x="8351520" y="4218432"/>
            <a:ext cx="3413760" cy="390144"/>
          </a:xfrm>
          <a:prstGeom prst="rect">
            <a:avLst/>
          </a:prstGeom>
          <a:noFill/>
          <a:ln/>
        </p:spPr>
        <p:txBody>
          <a:bodyPr wrap="square" lIns="0" tIns="0" rIns="0" bIns="0" rtlCol="0" anchor="ctr"/>
          <a:lstStyle/>
          <a:p>
            <a:r>
              <a:rPr lang="en-US" sz="1467" b="1" dirty="0">
                <a:solidFill>
                  <a:srgbClr val="142966"/>
                </a:solidFill>
              </a:rPr>
              <a:t>WHY ⚠️</a:t>
            </a:r>
            <a:endParaRPr lang="en-US" sz="1467" dirty="0"/>
          </a:p>
        </p:txBody>
      </p:sp>
      <p:sp>
        <p:nvSpPr>
          <p:cNvPr id="17" name="Text 14"/>
          <p:cNvSpPr/>
          <p:nvPr/>
        </p:nvSpPr>
        <p:spPr>
          <a:xfrm>
            <a:off x="8351520" y="4620768"/>
            <a:ext cx="3413760" cy="609600"/>
          </a:xfrm>
          <a:prstGeom prst="rect">
            <a:avLst/>
          </a:prstGeom>
          <a:noFill/>
          <a:ln/>
        </p:spPr>
        <p:txBody>
          <a:bodyPr wrap="square" lIns="0" tIns="0" rIns="0" bIns="0" rtlCol="0" anchor="ctr"/>
          <a:lstStyle/>
          <a:p>
            <a:r>
              <a:rPr lang="en-US" sz="1333" dirty="0">
                <a:solidFill>
                  <a:srgbClr val="0A1430"/>
                </a:solidFill>
              </a:rPr>
              <a:t>EM: 0.175</a:t>
            </a:r>
            <a:endParaRPr lang="en-US" sz="1333" dirty="0"/>
          </a:p>
          <a:p>
            <a:r>
              <a:rPr lang="en-US" sz="1333" dirty="0">
                <a:solidFill>
                  <a:srgbClr val="0A1430"/>
                </a:solidFill>
              </a:rPr>
              <a:t>F1: 0.634</a:t>
            </a:r>
            <a:endParaRPr lang="en-US" sz="1333" dirty="0"/>
          </a:p>
          <a:p>
            <a:r>
              <a:rPr lang="en-US" sz="1333" dirty="0">
                <a:solidFill>
                  <a:srgbClr val="0A1430"/>
                </a:solidFill>
              </a:rPr>
              <a:t>Smallest count (57). Causal/purpose roles are hardest</a:t>
            </a:r>
            <a:endParaRPr lang="en-US" sz="1333" dirty="0"/>
          </a:p>
        </p:txBody>
      </p:sp>
      <p:sp>
        <p:nvSpPr>
          <p:cNvPr id="18" name="Shape 15"/>
          <p:cNvSpPr/>
          <p:nvPr/>
        </p:nvSpPr>
        <p:spPr>
          <a:xfrm>
            <a:off x="8168640" y="5437632"/>
            <a:ext cx="3657600" cy="1280160"/>
          </a:xfrm>
          <a:prstGeom prst="rect">
            <a:avLst/>
          </a:prstGeom>
          <a:solidFill>
            <a:srgbClr val="FFFFFF"/>
          </a:solidFill>
          <a:ln/>
          <a:effectLst>
            <a:outerShdw blurRad="76200" dist="25400" dir="8100000" algn="bl" rotWithShape="0">
              <a:srgbClr val="000000">
                <a:alpha val="10000"/>
              </a:srgbClr>
            </a:outerShdw>
          </a:effectLst>
        </p:spPr>
      </p:sp>
      <p:sp>
        <p:nvSpPr>
          <p:cNvPr id="19" name="Shape 16"/>
          <p:cNvSpPr/>
          <p:nvPr/>
        </p:nvSpPr>
        <p:spPr>
          <a:xfrm>
            <a:off x="8168640" y="5437632"/>
            <a:ext cx="85344" cy="1280160"/>
          </a:xfrm>
          <a:prstGeom prst="rect">
            <a:avLst/>
          </a:prstGeom>
          <a:solidFill>
            <a:srgbClr val="142966"/>
          </a:solidFill>
          <a:ln w="12700">
            <a:solidFill>
              <a:srgbClr val="142966"/>
            </a:solidFill>
            <a:prstDash val="solid"/>
          </a:ln>
        </p:spPr>
      </p:sp>
      <p:sp>
        <p:nvSpPr>
          <p:cNvPr id="20" name="Text 17"/>
          <p:cNvSpPr/>
          <p:nvPr/>
        </p:nvSpPr>
        <p:spPr>
          <a:xfrm>
            <a:off x="8351520" y="5583936"/>
            <a:ext cx="3413760" cy="390144"/>
          </a:xfrm>
          <a:prstGeom prst="rect">
            <a:avLst/>
          </a:prstGeom>
          <a:noFill/>
          <a:ln/>
        </p:spPr>
        <p:txBody>
          <a:bodyPr wrap="square" lIns="0" tIns="0" rIns="0" bIns="0" rtlCol="0" anchor="ctr"/>
          <a:lstStyle/>
          <a:p>
            <a:r>
              <a:rPr lang="en-US" sz="1467" b="1" dirty="0">
                <a:solidFill>
                  <a:srgbClr val="142966"/>
                </a:solidFill>
              </a:rPr>
              <a:t>HOW ⚠️</a:t>
            </a:r>
            <a:endParaRPr lang="en-US" sz="1467" dirty="0"/>
          </a:p>
        </p:txBody>
      </p:sp>
      <p:sp>
        <p:nvSpPr>
          <p:cNvPr id="21" name="Text 18"/>
          <p:cNvSpPr/>
          <p:nvPr/>
        </p:nvSpPr>
        <p:spPr>
          <a:xfrm>
            <a:off x="8351520" y="5986272"/>
            <a:ext cx="3413760" cy="609600"/>
          </a:xfrm>
          <a:prstGeom prst="rect">
            <a:avLst/>
          </a:prstGeom>
          <a:noFill/>
          <a:ln/>
        </p:spPr>
        <p:txBody>
          <a:bodyPr wrap="square" lIns="0" tIns="0" rIns="0" bIns="0" rtlCol="0" anchor="ctr"/>
          <a:lstStyle/>
          <a:p>
            <a:r>
              <a:rPr lang="en-US" sz="1333" dirty="0">
                <a:solidFill>
                  <a:srgbClr val="0A1430"/>
                </a:solidFill>
              </a:rPr>
              <a:t>EM: 0.359</a:t>
            </a:r>
            <a:endParaRPr lang="en-US" sz="1333" dirty="0"/>
          </a:p>
          <a:p>
            <a:r>
              <a:rPr lang="en-US" sz="1333" dirty="0">
                <a:solidFill>
                  <a:srgbClr val="0A1430"/>
                </a:solidFill>
              </a:rPr>
              <a:t>F1: 0.530</a:t>
            </a:r>
            <a:endParaRPr lang="en-US" sz="1333" dirty="0"/>
          </a:p>
          <a:p>
            <a:r>
              <a:rPr lang="en-US" sz="1333" dirty="0">
                <a:solidFill>
                  <a:srgbClr val="0A1430"/>
                </a:solidFill>
              </a:rPr>
              <a:t>Manner questions are boundary-sensitive; poorest F1</a:t>
            </a:r>
            <a:endParaRPr lang="en-US" sz="1333" dirty="0"/>
          </a:p>
        </p:txBody>
      </p:sp>
    </p:spTree>
    <p:extLst>
      <p:ext uri="{BB962C8B-B14F-4D97-AF65-F5344CB8AC3E}">
        <p14:creationId xmlns:p14="http://schemas.microsoft.com/office/powerpoint/2010/main" val="38106974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463296"/>
          </a:xfrm>
          <a:prstGeom prst="rect">
            <a:avLst/>
          </a:prstGeom>
          <a:solidFill>
            <a:srgbClr val="1B7FBF"/>
          </a:solidFill>
          <a:ln w="12700">
            <a:solidFill>
              <a:srgbClr val="1B7FBF"/>
            </a:solidFill>
            <a:prstDash val="solid"/>
          </a:ln>
        </p:spPr>
      </p:sp>
      <p:sp>
        <p:nvSpPr>
          <p:cNvPr id="3" name="Text 1"/>
          <p:cNvSpPr/>
          <p:nvPr/>
        </p:nvSpPr>
        <p:spPr>
          <a:xfrm>
            <a:off x="365760" y="0"/>
            <a:ext cx="10972800" cy="463296"/>
          </a:xfrm>
          <a:prstGeom prst="rect">
            <a:avLst/>
          </a:prstGeom>
          <a:noFill/>
          <a:ln/>
        </p:spPr>
        <p:txBody>
          <a:bodyPr wrap="square" lIns="0" tIns="0" rIns="0" bIns="0" rtlCol="0" anchor="ctr"/>
          <a:lstStyle/>
          <a:p>
            <a:r>
              <a:rPr lang="en-US" sz="1333" b="1" kern="0" spc="400" dirty="0">
                <a:solidFill>
                  <a:srgbClr val="FFFFFF"/>
                </a:solidFill>
              </a:rPr>
              <a:t>RESULTS SUMMARY</a:t>
            </a:r>
            <a:endParaRPr lang="en-US" sz="1333" dirty="0"/>
          </a:p>
        </p:txBody>
      </p:sp>
      <p:sp>
        <p:nvSpPr>
          <p:cNvPr id="4" name="Text 2"/>
          <p:cNvSpPr/>
          <p:nvPr/>
        </p:nvSpPr>
        <p:spPr>
          <a:xfrm>
            <a:off x="548640" y="609600"/>
            <a:ext cx="11094720" cy="853440"/>
          </a:xfrm>
          <a:prstGeom prst="rect">
            <a:avLst/>
          </a:prstGeom>
          <a:noFill/>
          <a:ln/>
        </p:spPr>
        <p:txBody>
          <a:bodyPr wrap="square" lIns="0" tIns="0" rIns="0" bIns="0" rtlCol="0" anchor="ctr"/>
          <a:lstStyle/>
          <a:p>
            <a:r>
              <a:rPr lang="en-US" sz="3467" b="1" dirty="0">
                <a:solidFill>
                  <a:srgbClr val="142966"/>
                </a:solidFill>
                <a:latin typeface="Calibri" pitchFamily="34" charset="0"/>
                <a:ea typeface="Calibri" pitchFamily="34" charset="-122"/>
                <a:cs typeface="Calibri" pitchFamily="34" charset="-120"/>
              </a:rPr>
              <a:t>Complete Performance Summary</a:t>
            </a:r>
            <a:endParaRPr lang="en-US" sz="3467"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426720" y="1341120"/>
          <a:ext cx="11338560" cy="5181600"/>
        </p:xfrm>
        <a:graphic>
          <a:graphicData uri="http://schemas.openxmlformats.org/drawingml/2006/table">
            <a:tbl>
              <a:tblPr/>
              <a:tblGrid>
                <a:gridCol w="3413760">
                  <a:extLst>
                    <a:ext uri="{9D8B030D-6E8A-4147-A177-3AD203B41FA5}">
                      <a16:colId xmlns:a16="http://schemas.microsoft.com/office/drawing/2014/main" val="20000"/>
                    </a:ext>
                  </a:extLst>
                </a:gridCol>
                <a:gridCol w="2072640">
                  <a:extLst>
                    <a:ext uri="{9D8B030D-6E8A-4147-A177-3AD203B41FA5}">
                      <a16:colId xmlns:a16="http://schemas.microsoft.com/office/drawing/2014/main" val="20001"/>
                    </a:ext>
                  </a:extLst>
                </a:gridCol>
                <a:gridCol w="5852160">
                  <a:extLst>
                    <a:ext uri="{9D8B030D-6E8A-4147-A177-3AD203B41FA5}">
                      <a16:colId xmlns:a16="http://schemas.microsoft.com/office/drawing/2014/main" val="20002"/>
                    </a:ext>
                  </a:extLst>
                </a:gridCol>
              </a:tblGrid>
              <a:tr h="431800">
                <a:tc>
                  <a:txBody>
                    <a:bodyPr/>
                    <a:lstStyle/>
                    <a:p>
                      <a:pPr marL="0" indent="0">
                        <a:buNone/>
                      </a:pPr>
                      <a:r>
                        <a:rPr lang="en-US" sz="1500" b="1" dirty="0">
                          <a:solidFill>
                            <a:srgbClr val="FFFFFF"/>
                          </a:solidFill>
                        </a:rPr>
                        <a:t>Metric</a:t>
                      </a:r>
                      <a:endParaRPr lang="en-US" sz="15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2966"/>
                    </a:solidFill>
                  </a:tcPr>
                </a:tc>
                <a:tc>
                  <a:txBody>
                    <a:bodyPr/>
                    <a:lstStyle/>
                    <a:p>
                      <a:pPr marL="0" indent="0">
                        <a:buNone/>
                      </a:pPr>
                      <a:r>
                        <a:rPr lang="en-US" sz="1500" b="1" dirty="0">
                          <a:solidFill>
                            <a:srgbClr val="FFFFFF"/>
                          </a:solidFill>
                        </a:rPr>
                        <a:t>Value</a:t>
                      </a:r>
                      <a:endParaRPr lang="en-US" sz="15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2966"/>
                    </a:solidFill>
                  </a:tcPr>
                </a:tc>
                <a:tc>
                  <a:txBody>
                    <a:bodyPr/>
                    <a:lstStyle/>
                    <a:p>
                      <a:pPr marL="0" indent="0">
                        <a:buNone/>
                      </a:pPr>
                      <a:r>
                        <a:rPr lang="en-US" sz="1500" b="1" dirty="0">
                          <a:solidFill>
                            <a:srgbClr val="FFFFFF"/>
                          </a:solidFill>
                        </a:rPr>
                        <a:t>Interpretation</a:t>
                      </a:r>
                      <a:endParaRPr lang="en-US" sz="15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2966"/>
                    </a:solidFill>
                  </a:tcPr>
                </a:tc>
                <a:extLst>
                  <a:ext uri="{0D108BD9-81ED-4DB2-BD59-A6C34878D82A}">
                    <a16:rowId xmlns:a16="http://schemas.microsoft.com/office/drawing/2014/main" val="10000"/>
                  </a:ext>
                </a:extLst>
              </a:tr>
              <a:tr h="431800">
                <a:tc>
                  <a:txBody>
                    <a:bodyPr/>
                    <a:lstStyle/>
                    <a:p>
                      <a:pPr marL="0" indent="0">
                        <a:buNone/>
                      </a:pPr>
                      <a:r>
                        <a:rPr lang="en-US" sz="1400" dirty="0">
                          <a:solidFill>
                            <a:srgbClr val="0A1430"/>
                          </a:solidFill>
                        </a:rPr>
                        <a:t>SRL Macro F1</a:t>
                      </a:r>
                      <a:endParaRPr lang="en-US" sz="14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400" dirty="0">
                          <a:solidFill>
                            <a:srgbClr val="0A1430"/>
                          </a:solidFill>
                        </a:rPr>
                        <a:t>0.162</a:t>
                      </a:r>
                      <a:endParaRPr lang="en-US" sz="14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400" dirty="0">
                          <a:solidFill>
                            <a:srgbClr val="0A1430"/>
                          </a:solidFill>
                        </a:rPr>
                        <a:t>Low: rare roles score near 0 dragging macro down</a:t>
                      </a:r>
                      <a:endParaRPr lang="en-US" sz="14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31800">
                <a:tc>
                  <a:txBody>
                    <a:bodyPr/>
                    <a:lstStyle/>
                    <a:p>
                      <a:pPr marL="0" indent="0">
                        <a:buNone/>
                      </a:pPr>
                      <a:r>
                        <a:rPr lang="en-US" sz="1400" dirty="0">
                          <a:solidFill>
                            <a:srgbClr val="0A1430"/>
                          </a:solidFill>
                        </a:rPr>
                        <a:t>SRL Micro F1</a:t>
                      </a:r>
                      <a:endParaRPr lang="en-US" sz="14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400" dirty="0">
                          <a:solidFill>
                            <a:srgbClr val="0A1430"/>
                          </a:solidFill>
                        </a:rPr>
                        <a:t>0.713</a:t>
                      </a:r>
                      <a:endParaRPr lang="en-US" sz="14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400" dirty="0">
                          <a:solidFill>
                            <a:srgbClr val="0A1430"/>
                          </a:solidFill>
                        </a:rPr>
                        <a:t>Good: frequent roles (ARG0, ARG1, ARGM-MOD/NEG) score high</a:t>
                      </a:r>
                      <a:endParaRPr lang="en-US" sz="14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extLst>
                  <a:ext uri="{0D108BD9-81ED-4DB2-BD59-A6C34878D82A}">
                    <a16:rowId xmlns:a16="http://schemas.microsoft.com/office/drawing/2014/main" val="10002"/>
                  </a:ext>
                </a:extLst>
              </a:tr>
              <a:tr h="431800">
                <a:tc>
                  <a:txBody>
                    <a:bodyPr/>
                    <a:lstStyle/>
                    <a:p>
                      <a:pPr marL="0" indent="0">
                        <a:buNone/>
                      </a:pPr>
                      <a:r>
                        <a:rPr lang="en-US" sz="1400" dirty="0">
                          <a:solidFill>
                            <a:srgbClr val="0A1430"/>
                          </a:solidFill>
                        </a:rPr>
                        <a:t>BIO Tagging Accuracy</a:t>
                      </a:r>
                      <a:endParaRPr lang="en-US" sz="14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400" dirty="0">
                          <a:solidFill>
                            <a:srgbClr val="0A1430"/>
                          </a:solidFill>
                        </a:rPr>
                        <a:t>0.816</a:t>
                      </a:r>
                      <a:endParaRPr lang="en-US" sz="14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400" dirty="0">
                          <a:solidFill>
                            <a:srgbClr val="0A1430"/>
                          </a:solidFill>
                        </a:rPr>
                        <a:t>Strong token-level sequence labeling</a:t>
                      </a:r>
                      <a:endParaRPr lang="en-US" sz="14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31800">
                <a:tc>
                  <a:txBody>
                    <a:bodyPr/>
                    <a:lstStyle/>
                    <a:p>
                      <a:pPr marL="0" indent="0">
                        <a:buNone/>
                      </a:pPr>
                      <a:r>
                        <a:rPr lang="en-US" sz="1400" dirty="0">
                          <a:solidFill>
                            <a:srgbClr val="0A1430"/>
                          </a:solidFill>
                        </a:rPr>
                        <a:t>QA Exact Match</a:t>
                      </a:r>
                      <a:endParaRPr lang="en-US" sz="14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400" dirty="0">
                          <a:solidFill>
                            <a:srgbClr val="0A1430"/>
                          </a:solidFill>
                        </a:rPr>
                        <a:t>0.518</a:t>
                      </a:r>
                      <a:endParaRPr lang="en-US" sz="14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400" dirty="0">
                          <a:solidFill>
                            <a:srgbClr val="0A1430"/>
                          </a:solidFill>
                        </a:rPr>
                        <a:t>~52% answers match gold exactly after normalization</a:t>
                      </a:r>
                      <a:endParaRPr lang="en-US" sz="14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extLst>
                  <a:ext uri="{0D108BD9-81ED-4DB2-BD59-A6C34878D82A}">
                    <a16:rowId xmlns:a16="http://schemas.microsoft.com/office/drawing/2014/main" val="10004"/>
                  </a:ext>
                </a:extLst>
              </a:tr>
              <a:tr h="431800">
                <a:tc>
                  <a:txBody>
                    <a:bodyPr/>
                    <a:lstStyle/>
                    <a:p>
                      <a:pPr marL="0" indent="0">
                        <a:buNone/>
                      </a:pPr>
                      <a:r>
                        <a:rPr lang="en-US" sz="1400" dirty="0">
                          <a:solidFill>
                            <a:srgbClr val="0A1430"/>
                          </a:solidFill>
                        </a:rPr>
                        <a:t>QA Token F1</a:t>
                      </a:r>
                      <a:endParaRPr lang="en-US" sz="14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400" dirty="0">
                          <a:solidFill>
                            <a:srgbClr val="0A1430"/>
                          </a:solidFill>
                        </a:rPr>
                        <a:t>0.761</a:t>
                      </a:r>
                      <a:endParaRPr lang="en-US" sz="14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400" dirty="0">
                          <a:solidFill>
                            <a:srgbClr val="0A1430"/>
                          </a:solidFill>
                        </a:rPr>
                        <a:t>Most answers overlap substantially with gold spans</a:t>
                      </a:r>
                      <a:endParaRPr lang="en-US" sz="14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431800">
                <a:tc>
                  <a:txBody>
                    <a:bodyPr/>
                    <a:lstStyle/>
                    <a:p>
                      <a:pPr marL="0" indent="0">
                        <a:buNone/>
                      </a:pPr>
                      <a:r>
                        <a:rPr lang="en-US" sz="1400" dirty="0">
                          <a:solidFill>
                            <a:srgbClr val="0A1430"/>
                          </a:solidFill>
                        </a:rPr>
                        <a:t>Best Validation F1</a:t>
                      </a:r>
                      <a:endParaRPr lang="en-US" sz="14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400" dirty="0">
                          <a:solidFill>
                            <a:srgbClr val="0A1430"/>
                          </a:solidFill>
                        </a:rPr>
                        <a:t>0.773</a:t>
                      </a:r>
                      <a:endParaRPr lang="en-US" sz="14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400" dirty="0">
                          <a:solidFill>
                            <a:srgbClr val="0A1430"/>
                          </a:solidFill>
                        </a:rPr>
                        <a:t>Checkpoint selected at epoch 6</a:t>
                      </a:r>
                      <a:endParaRPr lang="en-US" sz="14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extLst>
                  <a:ext uri="{0D108BD9-81ED-4DB2-BD59-A6C34878D82A}">
                    <a16:rowId xmlns:a16="http://schemas.microsoft.com/office/drawing/2014/main" val="10006"/>
                  </a:ext>
                </a:extLst>
              </a:tr>
              <a:tr h="431800">
                <a:tc>
                  <a:txBody>
                    <a:bodyPr/>
                    <a:lstStyle/>
                    <a:p>
                      <a:pPr marL="0" indent="0">
                        <a:buNone/>
                      </a:pPr>
                      <a:r>
                        <a:rPr lang="en-US" sz="1400" dirty="0">
                          <a:solidFill>
                            <a:srgbClr val="0A1430"/>
                          </a:solidFill>
                        </a:rPr>
                        <a:t>Mean Signed Length Δ</a:t>
                      </a:r>
                      <a:endParaRPr lang="en-US" sz="14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400" dirty="0">
                          <a:solidFill>
                            <a:srgbClr val="0A1430"/>
                          </a:solidFill>
                        </a:rPr>
                        <a:t>−1.009 tok</a:t>
                      </a:r>
                      <a:endParaRPr lang="en-US" sz="14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400" dirty="0">
                          <a:solidFill>
                            <a:srgbClr val="0A1430"/>
                          </a:solidFill>
                        </a:rPr>
                        <a:t>Model slightly undershoots span boundaries</a:t>
                      </a:r>
                      <a:endParaRPr lang="en-US" sz="14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431800">
                <a:tc>
                  <a:txBody>
                    <a:bodyPr/>
                    <a:lstStyle/>
                    <a:p>
                      <a:pPr marL="0" indent="0">
                        <a:buNone/>
                      </a:pPr>
                      <a:r>
                        <a:rPr lang="en-US" sz="1400" dirty="0">
                          <a:solidFill>
                            <a:srgbClr val="0A1430"/>
                          </a:solidFill>
                        </a:rPr>
                        <a:t>Mean Absolute Length Δ</a:t>
                      </a:r>
                      <a:endParaRPr lang="en-US" sz="14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400" dirty="0">
                          <a:solidFill>
                            <a:srgbClr val="0A1430"/>
                          </a:solidFill>
                        </a:rPr>
                        <a:t>1.850 tok</a:t>
                      </a:r>
                      <a:endParaRPr lang="en-US" sz="14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400" dirty="0">
                          <a:solidFill>
                            <a:srgbClr val="0A1430"/>
                          </a:solidFill>
                        </a:rPr>
                        <a:t>Boundary precision is the primary quality lever</a:t>
                      </a:r>
                      <a:endParaRPr lang="en-US" sz="14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extLst>
                  <a:ext uri="{0D108BD9-81ED-4DB2-BD59-A6C34878D82A}">
                    <a16:rowId xmlns:a16="http://schemas.microsoft.com/office/drawing/2014/main" val="10008"/>
                  </a:ext>
                </a:extLst>
              </a:tr>
              <a:tr h="431800">
                <a:tc>
                  <a:txBody>
                    <a:bodyPr/>
                    <a:lstStyle/>
                    <a:p>
                      <a:pPr marL="0" indent="0">
                        <a:buNone/>
                      </a:pPr>
                      <a:r>
                        <a:rPr lang="en-US" sz="1400" dirty="0">
                          <a:solidFill>
                            <a:srgbClr val="0A1430"/>
                          </a:solidFill>
                        </a:rPr>
                        <a:t>ARGM-MOD F1</a:t>
                      </a:r>
                      <a:endParaRPr lang="en-US" sz="14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400" dirty="0">
                          <a:solidFill>
                            <a:srgbClr val="0A1430"/>
                          </a:solidFill>
                        </a:rPr>
                        <a:t>0.948</a:t>
                      </a:r>
                      <a:endParaRPr lang="en-US" sz="14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400" dirty="0">
                          <a:solidFill>
                            <a:srgbClr val="0A1430"/>
                          </a:solidFill>
                        </a:rPr>
                        <a:t>Near-perfect: modal markers are highly consistent</a:t>
                      </a:r>
                      <a:endParaRPr lang="en-US" sz="14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r h="431800">
                <a:tc>
                  <a:txBody>
                    <a:bodyPr/>
                    <a:lstStyle/>
                    <a:p>
                      <a:pPr marL="0" indent="0">
                        <a:buNone/>
                      </a:pPr>
                      <a:r>
                        <a:rPr lang="en-US" sz="1400" dirty="0">
                          <a:solidFill>
                            <a:srgbClr val="0A1430"/>
                          </a:solidFill>
                        </a:rPr>
                        <a:t>ARGM-NEG F1</a:t>
                      </a:r>
                      <a:endParaRPr lang="en-US" sz="14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400" dirty="0">
                          <a:solidFill>
                            <a:srgbClr val="0A1430"/>
                          </a:solidFill>
                        </a:rPr>
                        <a:t>0.942</a:t>
                      </a:r>
                      <a:endParaRPr lang="en-US" sz="14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400" dirty="0">
                          <a:solidFill>
                            <a:srgbClr val="0A1430"/>
                          </a:solidFill>
                        </a:rPr>
                        <a:t>Near-perfect: negation markers easy to detect</a:t>
                      </a:r>
                      <a:endParaRPr lang="en-US" sz="14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extLst>
                  <a:ext uri="{0D108BD9-81ED-4DB2-BD59-A6C34878D82A}">
                    <a16:rowId xmlns:a16="http://schemas.microsoft.com/office/drawing/2014/main" val="10010"/>
                  </a:ext>
                </a:extLst>
              </a:tr>
              <a:tr h="431800">
                <a:tc>
                  <a:txBody>
                    <a:bodyPr/>
                    <a:lstStyle/>
                    <a:p>
                      <a:pPr marL="0" indent="0">
                        <a:buNone/>
                      </a:pPr>
                      <a:r>
                        <a:rPr lang="en-US" sz="1400" dirty="0">
                          <a:solidFill>
                            <a:srgbClr val="0A1430"/>
                          </a:solidFill>
                        </a:rPr>
                        <a:t>ARG2 (plain) F1</a:t>
                      </a:r>
                      <a:endParaRPr lang="en-US" sz="14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400" dirty="0">
                          <a:solidFill>
                            <a:srgbClr val="0A1430"/>
                          </a:solidFill>
                        </a:rPr>
                        <a:t>0.000</a:t>
                      </a:r>
                      <a:endParaRPr lang="en-US" sz="14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400" dirty="0">
                          <a:solidFill>
                            <a:srgbClr val="0A1430"/>
                          </a:solidFill>
                        </a:rPr>
                        <a:t>Zero: predicate-specific secondary args are not recovered</a:t>
                      </a:r>
                      <a:endParaRPr lang="en-US" sz="14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Tree>
    <p:extLst>
      <p:ext uri="{BB962C8B-B14F-4D97-AF65-F5344CB8AC3E}">
        <p14:creationId xmlns:p14="http://schemas.microsoft.com/office/powerpoint/2010/main" val="87409362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463296"/>
          </a:xfrm>
          <a:prstGeom prst="rect">
            <a:avLst/>
          </a:prstGeom>
          <a:solidFill>
            <a:srgbClr val="1B7FBF"/>
          </a:solidFill>
          <a:ln w="12700">
            <a:solidFill>
              <a:srgbClr val="1B7FBF"/>
            </a:solidFill>
            <a:prstDash val="solid"/>
          </a:ln>
        </p:spPr>
      </p:sp>
      <p:sp>
        <p:nvSpPr>
          <p:cNvPr id="3" name="Text 1"/>
          <p:cNvSpPr/>
          <p:nvPr/>
        </p:nvSpPr>
        <p:spPr>
          <a:xfrm>
            <a:off x="365760" y="0"/>
            <a:ext cx="10972800" cy="463296"/>
          </a:xfrm>
          <a:prstGeom prst="rect">
            <a:avLst/>
          </a:prstGeom>
          <a:noFill/>
          <a:ln/>
        </p:spPr>
        <p:txBody>
          <a:bodyPr wrap="square" lIns="0" tIns="0" rIns="0" bIns="0" rtlCol="0" anchor="ctr"/>
          <a:lstStyle/>
          <a:p>
            <a:r>
              <a:rPr lang="en-US" sz="1333" b="1" kern="0" spc="400" dirty="0">
                <a:solidFill>
                  <a:srgbClr val="FFFFFF"/>
                </a:solidFill>
              </a:rPr>
              <a:t>HYBRID SYSTEM</a:t>
            </a:r>
            <a:endParaRPr lang="en-US" sz="1333" dirty="0"/>
          </a:p>
        </p:txBody>
      </p:sp>
      <p:sp>
        <p:nvSpPr>
          <p:cNvPr id="4" name="Text 2"/>
          <p:cNvSpPr/>
          <p:nvPr/>
        </p:nvSpPr>
        <p:spPr>
          <a:xfrm>
            <a:off x="548640" y="609600"/>
            <a:ext cx="11094720" cy="853440"/>
          </a:xfrm>
          <a:prstGeom prst="rect">
            <a:avLst/>
          </a:prstGeom>
          <a:noFill/>
          <a:ln/>
        </p:spPr>
        <p:txBody>
          <a:bodyPr wrap="square" lIns="0" tIns="0" rIns="0" bIns="0" rtlCol="0" anchor="ctr"/>
          <a:lstStyle/>
          <a:p>
            <a:r>
              <a:rPr lang="en-US" sz="3467" b="1" dirty="0">
                <a:solidFill>
                  <a:srgbClr val="142966"/>
                </a:solidFill>
                <a:latin typeface="Calibri" pitchFamily="34" charset="0"/>
                <a:ea typeface="Calibri" pitchFamily="34" charset="-122"/>
                <a:cs typeface="Calibri" pitchFamily="34" charset="-120"/>
              </a:rPr>
              <a:t>Research-Grade Hybrid SRL-QA Architecture</a:t>
            </a:r>
            <a:endParaRPr lang="en-US" sz="3467" dirty="0"/>
          </a:p>
        </p:txBody>
      </p:sp>
      <p:pic>
        <p:nvPicPr>
          <p:cNvPr id="5" name="Image 0" descr="preencoded.png"/>
          <p:cNvPicPr>
            <a:picLocks noChangeAspect="1"/>
          </p:cNvPicPr>
          <p:nvPr/>
        </p:nvPicPr>
        <p:blipFill>
          <a:blip r:embed="rId3"/>
          <a:stretch>
            <a:fillRect/>
          </a:stretch>
        </p:blipFill>
        <p:spPr>
          <a:xfrm>
            <a:off x="365760" y="1280160"/>
            <a:ext cx="11460480" cy="3535680"/>
          </a:xfrm>
          <a:prstGeom prst="rect">
            <a:avLst/>
          </a:prstGeom>
        </p:spPr>
      </p:pic>
      <p:sp>
        <p:nvSpPr>
          <p:cNvPr id="6" name="Shape 3"/>
          <p:cNvSpPr/>
          <p:nvPr/>
        </p:nvSpPr>
        <p:spPr>
          <a:xfrm>
            <a:off x="365760" y="4998720"/>
            <a:ext cx="2865120" cy="1463040"/>
          </a:xfrm>
          <a:prstGeom prst="rect">
            <a:avLst/>
          </a:prstGeom>
          <a:solidFill>
            <a:srgbClr val="FFFFFF"/>
          </a:solidFill>
          <a:ln/>
          <a:effectLst>
            <a:outerShdw blurRad="76200" dist="25400" dir="8100000" algn="bl" rotWithShape="0">
              <a:srgbClr val="000000">
                <a:alpha val="10000"/>
              </a:srgbClr>
            </a:outerShdw>
          </a:effectLst>
        </p:spPr>
      </p:sp>
      <p:sp>
        <p:nvSpPr>
          <p:cNvPr id="7" name="Shape 4"/>
          <p:cNvSpPr/>
          <p:nvPr/>
        </p:nvSpPr>
        <p:spPr>
          <a:xfrm>
            <a:off x="365760" y="4998720"/>
            <a:ext cx="85344" cy="1463040"/>
          </a:xfrm>
          <a:prstGeom prst="rect">
            <a:avLst/>
          </a:prstGeom>
          <a:solidFill>
            <a:srgbClr val="142966"/>
          </a:solidFill>
          <a:ln w="12700">
            <a:solidFill>
              <a:srgbClr val="142966"/>
            </a:solidFill>
            <a:prstDash val="solid"/>
          </a:ln>
        </p:spPr>
      </p:sp>
      <p:sp>
        <p:nvSpPr>
          <p:cNvPr id="8" name="Text 5"/>
          <p:cNvSpPr/>
          <p:nvPr/>
        </p:nvSpPr>
        <p:spPr>
          <a:xfrm>
            <a:off x="548640" y="5145024"/>
            <a:ext cx="2621280" cy="390144"/>
          </a:xfrm>
          <a:prstGeom prst="rect">
            <a:avLst/>
          </a:prstGeom>
          <a:noFill/>
          <a:ln/>
        </p:spPr>
        <p:txBody>
          <a:bodyPr wrap="square" lIns="0" tIns="0" rIns="0" bIns="0" rtlCol="0" anchor="ctr"/>
          <a:lstStyle/>
          <a:p>
            <a:r>
              <a:rPr lang="en-US" sz="1467" b="1" dirty="0">
                <a:solidFill>
                  <a:srgbClr val="142966"/>
                </a:solidFill>
              </a:rPr>
              <a:t>Classical Baseline</a:t>
            </a:r>
            <a:endParaRPr lang="en-US" sz="1467" dirty="0"/>
          </a:p>
        </p:txBody>
      </p:sp>
      <p:sp>
        <p:nvSpPr>
          <p:cNvPr id="9" name="Text 6"/>
          <p:cNvSpPr/>
          <p:nvPr/>
        </p:nvSpPr>
        <p:spPr>
          <a:xfrm>
            <a:off x="548640" y="5547360"/>
            <a:ext cx="2621280" cy="792480"/>
          </a:xfrm>
          <a:prstGeom prst="rect">
            <a:avLst/>
          </a:prstGeom>
          <a:noFill/>
          <a:ln/>
        </p:spPr>
        <p:txBody>
          <a:bodyPr wrap="square" lIns="0" tIns="0" rIns="0" bIns="0" rtlCol="0" anchor="ctr"/>
          <a:lstStyle/>
          <a:p>
            <a:r>
              <a:rPr lang="en-US" sz="1333" dirty="0">
                <a:solidFill>
                  <a:srgbClr val="0A1430"/>
                </a:solidFill>
              </a:rPr>
              <a:t>PropQA-Net alone. EM=0.10, F1=0.47. 3.96ms.</a:t>
            </a:r>
            <a:endParaRPr lang="en-US" sz="1333" dirty="0"/>
          </a:p>
        </p:txBody>
      </p:sp>
      <p:sp>
        <p:nvSpPr>
          <p:cNvPr id="10" name="Shape 7"/>
          <p:cNvSpPr/>
          <p:nvPr/>
        </p:nvSpPr>
        <p:spPr>
          <a:xfrm>
            <a:off x="3316224" y="4998720"/>
            <a:ext cx="2865120" cy="1463040"/>
          </a:xfrm>
          <a:prstGeom prst="rect">
            <a:avLst/>
          </a:prstGeom>
          <a:solidFill>
            <a:srgbClr val="FFFFFF"/>
          </a:solidFill>
          <a:ln/>
          <a:effectLst>
            <a:outerShdw blurRad="76200" dist="25400" dir="8100000" algn="bl" rotWithShape="0">
              <a:srgbClr val="000000">
                <a:alpha val="10000"/>
              </a:srgbClr>
            </a:outerShdw>
          </a:effectLst>
        </p:spPr>
      </p:sp>
      <p:sp>
        <p:nvSpPr>
          <p:cNvPr id="11" name="Shape 8"/>
          <p:cNvSpPr/>
          <p:nvPr/>
        </p:nvSpPr>
        <p:spPr>
          <a:xfrm>
            <a:off x="3316224" y="4998720"/>
            <a:ext cx="85344" cy="1463040"/>
          </a:xfrm>
          <a:prstGeom prst="rect">
            <a:avLst/>
          </a:prstGeom>
          <a:solidFill>
            <a:srgbClr val="1B7FBF"/>
          </a:solidFill>
          <a:ln w="12700">
            <a:solidFill>
              <a:srgbClr val="1B7FBF"/>
            </a:solidFill>
            <a:prstDash val="solid"/>
          </a:ln>
        </p:spPr>
      </p:sp>
      <p:sp>
        <p:nvSpPr>
          <p:cNvPr id="12" name="Text 9"/>
          <p:cNvSpPr/>
          <p:nvPr/>
        </p:nvSpPr>
        <p:spPr>
          <a:xfrm>
            <a:off x="3499104" y="5145024"/>
            <a:ext cx="2621280" cy="390144"/>
          </a:xfrm>
          <a:prstGeom prst="rect">
            <a:avLst/>
          </a:prstGeom>
          <a:noFill/>
          <a:ln/>
        </p:spPr>
        <p:txBody>
          <a:bodyPr wrap="square" lIns="0" tIns="0" rIns="0" bIns="0" rtlCol="0" anchor="ctr"/>
          <a:lstStyle/>
          <a:p>
            <a:r>
              <a:rPr lang="en-US" sz="1467" b="1" dirty="0">
                <a:solidFill>
                  <a:srgbClr val="142966"/>
                </a:solidFill>
              </a:rPr>
              <a:t>Heuristic Reranker</a:t>
            </a:r>
            <a:endParaRPr lang="en-US" sz="1467" dirty="0"/>
          </a:p>
        </p:txBody>
      </p:sp>
      <p:sp>
        <p:nvSpPr>
          <p:cNvPr id="13" name="Text 10"/>
          <p:cNvSpPr/>
          <p:nvPr/>
        </p:nvSpPr>
        <p:spPr>
          <a:xfrm>
            <a:off x="3499104" y="5547360"/>
            <a:ext cx="2621280" cy="792480"/>
          </a:xfrm>
          <a:prstGeom prst="rect">
            <a:avLst/>
          </a:prstGeom>
          <a:noFill/>
          <a:ln/>
        </p:spPr>
        <p:txBody>
          <a:bodyPr wrap="square" lIns="0" tIns="0" rIns="0" bIns="0" rtlCol="0" anchor="ctr"/>
          <a:lstStyle/>
          <a:p>
            <a:r>
              <a:rPr lang="en-US" sz="1333" dirty="0">
                <a:solidFill>
                  <a:srgbClr val="0A1430"/>
                </a:solidFill>
              </a:rPr>
              <a:t>Role-aware rules rerank candidates. EM=0.60, F1=0.78. 4.98ms.</a:t>
            </a:r>
            <a:endParaRPr lang="en-US" sz="1333" dirty="0"/>
          </a:p>
        </p:txBody>
      </p:sp>
      <p:sp>
        <p:nvSpPr>
          <p:cNvPr id="14" name="Shape 11"/>
          <p:cNvSpPr/>
          <p:nvPr/>
        </p:nvSpPr>
        <p:spPr>
          <a:xfrm>
            <a:off x="6266688" y="4998720"/>
            <a:ext cx="2865120" cy="1463040"/>
          </a:xfrm>
          <a:prstGeom prst="rect">
            <a:avLst/>
          </a:prstGeom>
          <a:solidFill>
            <a:srgbClr val="FFFFFF"/>
          </a:solidFill>
          <a:ln/>
          <a:effectLst>
            <a:outerShdw blurRad="76200" dist="25400" dir="8100000" algn="bl" rotWithShape="0">
              <a:srgbClr val="000000">
                <a:alpha val="10000"/>
              </a:srgbClr>
            </a:outerShdw>
          </a:effectLst>
        </p:spPr>
      </p:sp>
      <p:sp>
        <p:nvSpPr>
          <p:cNvPr id="15" name="Shape 12"/>
          <p:cNvSpPr/>
          <p:nvPr/>
        </p:nvSpPr>
        <p:spPr>
          <a:xfrm>
            <a:off x="6266688" y="4998720"/>
            <a:ext cx="85344" cy="1463040"/>
          </a:xfrm>
          <a:prstGeom prst="rect">
            <a:avLst/>
          </a:prstGeom>
          <a:solidFill>
            <a:srgbClr val="0FA3B1"/>
          </a:solidFill>
          <a:ln w="12700">
            <a:solidFill>
              <a:srgbClr val="0FA3B1"/>
            </a:solidFill>
            <a:prstDash val="solid"/>
          </a:ln>
        </p:spPr>
      </p:sp>
      <p:sp>
        <p:nvSpPr>
          <p:cNvPr id="16" name="Text 13"/>
          <p:cNvSpPr/>
          <p:nvPr/>
        </p:nvSpPr>
        <p:spPr>
          <a:xfrm>
            <a:off x="6449568" y="5145024"/>
            <a:ext cx="2621280" cy="390144"/>
          </a:xfrm>
          <a:prstGeom prst="rect">
            <a:avLst/>
          </a:prstGeom>
          <a:noFill/>
          <a:ln/>
        </p:spPr>
        <p:txBody>
          <a:bodyPr wrap="square" lIns="0" tIns="0" rIns="0" bIns="0" rtlCol="0" anchor="ctr"/>
          <a:lstStyle/>
          <a:p>
            <a:r>
              <a:rPr lang="en-US" sz="1467" b="1" dirty="0">
                <a:solidFill>
                  <a:srgbClr val="142966"/>
                </a:solidFill>
              </a:rPr>
              <a:t>Transformer QA Assist</a:t>
            </a:r>
            <a:endParaRPr lang="en-US" sz="1467" dirty="0"/>
          </a:p>
        </p:txBody>
      </p:sp>
      <p:sp>
        <p:nvSpPr>
          <p:cNvPr id="17" name="Text 14"/>
          <p:cNvSpPr/>
          <p:nvPr/>
        </p:nvSpPr>
        <p:spPr>
          <a:xfrm>
            <a:off x="6449568" y="5547360"/>
            <a:ext cx="2621280" cy="792480"/>
          </a:xfrm>
          <a:prstGeom prst="rect">
            <a:avLst/>
          </a:prstGeom>
          <a:noFill/>
          <a:ln/>
        </p:spPr>
        <p:txBody>
          <a:bodyPr wrap="square" lIns="0" tIns="0" rIns="0" bIns="0" rtlCol="0" anchor="ctr"/>
          <a:lstStyle/>
          <a:p>
            <a:r>
              <a:rPr lang="en-US" sz="1333" dirty="0">
                <a:solidFill>
                  <a:srgbClr val="0A1430"/>
                </a:solidFill>
              </a:rPr>
              <a:t>Adds candidate spans from transformer. EM=0.60, F1=0.78. 289ms.</a:t>
            </a:r>
            <a:endParaRPr lang="en-US" sz="1333" dirty="0"/>
          </a:p>
        </p:txBody>
      </p:sp>
      <p:sp>
        <p:nvSpPr>
          <p:cNvPr id="18" name="Shape 15"/>
          <p:cNvSpPr/>
          <p:nvPr/>
        </p:nvSpPr>
        <p:spPr>
          <a:xfrm>
            <a:off x="9217152" y="4998720"/>
            <a:ext cx="2865120" cy="1463040"/>
          </a:xfrm>
          <a:prstGeom prst="rect">
            <a:avLst/>
          </a:prstGeom>
          <a:solidFill>
            <a:srgbClr val="FFFFFF"/>
          </a:solidFill>
          <a:ln/>
          <a:effectLst>
            <a:outerShdw blurRad="76200" dist="25400" dir="8100000" algn="bl" rotWithShape="0">
              <a:srgbClr val="000000">
                <a:alpha val="10000"/>
              </a:srgbClr>
            </a:outerShdw>
          </a:effectLst>
        </p:spPr>
      </p:sp>
      <p:sp>
        <p:nvSpPr>
          <p:cNvPr id="19" name="Shape 16"/>
          <p:cNvSpPr/>
          <p:nvPr/>
        </p:nvSpPr>
        <p:spPr>
          <a:xfrm>
            <a:off x="9217152" y="4998720"/>
            <a:ext cx="85344" cy="1463040"/>
          </a:xfrm>
          <a:prstGeom prst="rect">
            <a:avLst/>
          </a:prstGeom>
          <a:solidFill>
            <a:srgbClr val="F4A325"/>
          </a:solidFill>
          <a:ln w="12700">
            <a:solidFill>
              <a:srgbClr val="F4A325"/>
            </a:solidFill>
            <a:prstDash val="solid"/>
          </a:ln>
        </p:spPr>
      </p:sp>
      <p:sp>
        <p:nvSpPr>
          <p:cNvPr id="20" name="Text 17"/>
          <p:cNvSpPr/>
          <p:nvPr/>
        </p:nvSpPr>
        <p:spPr>
          <a:xfrm>
            <a:off x="9400032" y="5145024"/>
            <a:ext cx="2621280" cy="390144"/>
          </a:xfrm>
          <a:prstGeom prst="rect">
            <a:avLst/>
          </a:prstGeom>
          <a:noFill/>
          <a:ln/>
        </p:spPr>
        <p:txBody>
          <a:bodyPr wrap="square" lIns="0" tIns="0" rIns="0" bIns="0" rtlCol="0" anchor="ctr"/>
          <a:lstStyle/>
          <a:p>
            <a:r>
              <a:rPr lang="en-US" sz="1467" b="1" dirty="0">
                <a:solidFill>
                  <a:srgbClr val="142966"/>
                </a:solidFill>
              </a:rPr>
              <a:t>Full Hybrid</a:t>
            </a:r>
            <a:endParaRPr lang="en-US" sz="1467" dirty="0"/>
          </a:p>
        </p:txBody>
      </p:sp>
      <p:sp>
        <p:nvSpPr>
          <p:cNvPr id="21" name="Text 18"/>
          <p:cNvSpPr/>
          <p:nvPr/>
        </p:nvSpPr>
        <p:spPr>
          <a:xfrm>
            <a:off x="9400032" y="5547360"/>
            <a:ext cx="2621280" cy="792480"/>
          </a:xfrm>
          <a:prstGeom prst="rect">
            <a:avLst/>
          </a:prstGeom>
          <a:noFill/>
          <a:ln/>
        </p:spPr>
        <p:txBody>
          <a:bodyPr wrap="square" lIns="0" tIns="0" rIns="0" bIns="0" rtlCol="0" anchor="ctr"/>
          <a:lstStyle/>
          <a:p>
            <a:r>
              <a:rPr lang="en-US" sz="1333" dirty="0">
                <a:solidFill>
                  <a:srgbClr val="0A1430"/>
                </a:solidFill>
              </a:rPr>
              <a:t>All channels + semantic reranker. EM=0.60, F1=0.78. 377ms.</a:t>
            </a:r>
            <a:endParaRPr lang="en-US" sz="1333" dirty="0"/>
          </a:p>
        </p:txBody>
      </p:sp>
    </p:spTree>
    <p:extLst>
      <p:ext uri="{BB962C8B-B14F-4D97-AF65-F5344CB8AC3E}">
        <p14:creationId xmlns:p14="http://schemas.microsoft.com/office/powerpoint/2010/main" val="263708828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463296"/>
          </a:xfrm>
          <a:prstGeom prst="rect">
            <a:avLst/>
          </a:prstGeom>
          <a:solidFill>
            <a:srgbClr val="1B7FBF"/>
          </a:solidFill>
          <a:ln w="12700">
            <a:solidFill>
              <a:srgbClr val="1B7FBF"/>
            </a:solidFill>
            <a:prstDash val="solid"/>
          </a:ln>
        </p:spPr>
      </p:sp>
      <p:sp>
        <p:nvSpPr>
          <p:cNvPr id="3" name="Text 1"/>
          <p:cNvSpPr/>
          <p:nvPr/>
        </p:nvSpPr>
        <p:spPr>
          <a:xfrm>
            <a:off x="365760" y="0"/>
            <a:ext cx="10972800" cy="463296"/>
          </a:xfrm>
          <a:prstGeom prst="rect">
            <a:avLst/>
          </a:prstGeom>
          <a:noFill/>
          <a:ln/>
        </p:spPr>
        <p:txBody>
          <a:bodyPr wrap="square" lIns="0" tIns="0" rIns="0" bIns="0" rtlCol="0" anchor="ctr"/>
          <a:lstStyle/>
          <a:p>
            <a:r>
              <a:rPr lang="en-US" sz="1333" b="1" kern="0" spc="400" dirty="0">
                <a:solidFill>
                  <a:srgbClr val="FFFFFF"/>
                </a:solidFill>
              </a:rPr>
              <a:t>HYBRID BENCHMARK</a:t>
            </a:r>
            <a:endParaRPr lang="en-US" sz="1333" dirty="0"/>
          </a:p>
        </p:txBody>
      </p:sp>
      <p:sp>
        <p:nvSpPr>
          <p:cNvPr id="4" name="Text 2"/>
          <p:cNvSpPr/>
          <p:nvPr/>
        </p:nvSpPr>
        <p:spPr>
          <a:xfrm>
            <a:off x="548640" y="609600"/>
            <a:ext cx="11094720" cy="853440"/>
          </a:xfrm>
          <a:prstGeom prst="rect">
            <a:avLst/>
          </a:prstGeom>
          <a:noFill/>
          <a:ln/>
        </p:spPr>
        <p:txBody>
          <a:bodyPr wrap="square" lIns="0" tIns="0" rIns="0" bIns="0" rtlCol="0" anchor="ctr"/>
          <a:lstStyle/>
          <a:p>
            <a:r>
              <a:rPr lang="en-US" sz="3467" b="1" dirty="0">
                <a:solidFill>
                  <a:srgbClr val="142966"/>
                </a:solidFill>
                <a:latin typeface="Calibri" pitchFamily="34" charset="0"/>
                <a:ea typeface="Calibri" pitchFamily="34" charset="-122"/>
                <a:cs typeface="Calibri" pitchFamily="34" charset="-120"/>
              </a:rPr>
              <a:t>Benchmark: 4 Tracks × Challenge + Test</a:t>
            </a:r>
            <a:endParaRPr lang="en-US" sz="3467" dirty="0"/>
          </a:p>
        </p:txBody>
      </p:sp>
      <p:graphicFrame>
        <p:nvGraphicFramePr>
          <p:cNvPr id="5" name="Chart 0"/>
          <p:cNvGraphicFramePr/>
          <p:nvPr/>
        </p:nvGraphicFramePr>
        <p:xfrm>
          <a:off x="365760" y="1341120"/>
          <a:ext cx="7680960" cy="463296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8168640" y="1341120"/>
          <a:ext cx="4267200" cy="4632960"/>
        </p:xfrm>
        <a:graphic>
          <a:graphicData uri="http://schemas.openxmlformats.org/drawingml/2006/table">
            <a:tbl>
              <a:tblPr/>
              <a:tblGrid>
                <a:gridCol w="170688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tblGrid>
              <a:tr h="926592">
                <a:tc>
                  <a:txBody>
                    <a:bodyPr/>
                    <a:lstStyle/>
                    <a:p>
                      <a:pPr marL="0" indent="0">
                        <a:buNone/>
                      </a:pPr>
                      <a:r>
                        <a:rPr lang="en-US" sz="1300" b="1" dirty="0">
                          <a:solidFill>
                            <a:srgbClr val="FFFFFF"/>
                          </a:solidFill>
                        </a:rPr>
                        <a:t>Track</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2966"/>
                    </a:solidFill>
                  </a:tcPr>
                </a:tc>
                <a:tc>
                  <a:txBody>
                    <a:bodyPr/>
                    <a:lstStyle/>
                    <a:p>
                      <a:pPr marL="0" indent="0">
                        <a:buNone/>
                      </a:pPr>
                      <a:r>
                        <a:rPr lang="en-US" sz="1300" b="1" dirty="0">
                          <a:solidFill>
                            <a:srgbClr val="FFFFFF"/>
                          </a:solidFill>
                        </a:rPr>
                        <a:t>Chal. EM</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2966"/>
                    </a:solidFill>
                  </a:tcPr>
                </a:tc>
                <a:tc>
                  <a:txBody>
                    <a:bodyPr/>
                    <a:lstStyle/>
                    <a:p>
                      <a:pPr marL="0" indent="0">
                        <a:buNone/>
                      </a:pPr>
                      <a:r>
                        <a:rPr lang="en-US" sz="1300" b="1" dirty="0">
                          <a:solidFill>
                            <a:srgbClr val="FFFFFF"/>
                          </a:solidFill>
                        </a:rPr>
                        <a:t>Chal. F1</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2966"/>
                    </a:solidFill>
                  </a:tcPr>
                </a:tc>
                <a:tc>
                  <a:txBody>
                    <a:bodyPr/>
                    <a:lstStyle/>
                    <a:p>
                      <a:pPr marL="0" indent="0">
                        <a:buNone/>
                      </a:pPr>
                      <a:r>
                        <a:rPr lang="en-US" sz="1300" b="1" dirty="0">
                          <a:solidFill>
                            <a:srgbClr val="FFFFFF"/>
                          </a:solidFill>
                        </a:rPr>
                        <a:t>Test F1</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2966"/>
                    </a:solidFill>
                  </a:tcPr>
                </a:tc>
                <a:tc>
                  <a:txBody>
                    <a:bodyPr/>
                    <a:lstStyle/>
                    <a:p>
                      <a:pPr marL="0" indent="0">
                        <a:buNone/>
                      </a:pPr>
                      <a:r>
                        <a:rPr lang="en-US" sz="1300" b="1" dirty="0">
                          <a:solidFill>
                            <a:srgbClr val="FFFFFF"/>
                          </a:solidFill>
                        </a:rPr>
                        <a:t>Latency</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2966"/>
                    </a:solidFill>
                  </a:tcPr>
                </a:tc>
                <a:extLst>
                  <a:ext uri="{0D108BD9-81ED-4DB2-BD59-A6C34878D82A}">
                    <a16:rowId xmlns:a16="http://schemas.microsoft.com/office/drawing/2014/main" val="10000"/>
                  </a:ext>
                </a:extLst>
              </a:tr>
              <a:tr h="926592">
                <a:tc>
                  <a:txBody>
                    <a:bodyPr/>
                    <a:lstStyle/>
                    <a:p>
                      <a:pPr marL="0" indent="0">
                        <a:buNone/>
                      </a:pPr>
                      <a:r>
                        <a:rPr lang="en-US" sz="1300" dirty="0">
                          <a:solidFill>
                            <a:srgbClr val="000000"/>
                          </a:solidFill>
                        </a:rPr>
                        <a:t>classical_baseline</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00000"/>
                          </a:solidFill>
                        </a:rPr>
                        <a:t>0.100</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00000"/>
                          </a:solidFill>
                        </a:rPr>
                        <a:t>0.470</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00000"/>
                          </a:solidFill>
                        </a:rPr>
                        <a:t>0.309</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00000"/>
                          </a:solidFill>
                        </a:rPr>
                        <a:t>3.96ms</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extLst>
                  <a:ext uri="{0D108BD9-81ED-4DB2-BD59-A6C34878D82A}">
                    <a16:rowId xmlns:a16="http://schemas.microsoft.com/office/drawing/2014/main" val="10001"/>
                  </a:ext>
                </a:extLst>
              </a:tr>
              <a:tr h="926592">
                <a:tc>
                  <a:txBody>
                    <a:bodyPr/>
                    <a:lstStyle/>
                    <a:p>
                      <a:pPr marL="0" indent="0">
                        <a:buNone/>
                      </a:pPr>
                      <a:r>
                        <a:rPr lang="en-US" sz="1300" dirty="0">
                          <a:solidFill>
                            <a:srgbClr val="000000"/>
                          </a:solidFill>
                        </a:rPr>
                        <a:t>heuristic_reranker</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0.600</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0.780</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0.418</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4.98ms</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926592">
                <a:tc>
                  <a:txBody>
                    <a:bodyPr/>
                    <a:lstStyle/>
                    <a:p>
                      <a:pPr marL="0" indent="0">
                        <a:buNone/>
                      </a:pPr>
                      <a:r>
                        <a:rPr lang="en-US" sz="1300" dirty="0">
                          <a:solidFill>
                            <a:srgbClr val="000000"/>
                          </a:solidFill>
                        </a:rPr>
                        <a:t>transformer_qa_assist</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00000"/>
                          </a:solidFill>
                        </a:rPr>
                        <a:t>0.600</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00000"/>
                          </a:solidFill>
                        </a:rPr>
                        <a:t>0.780</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00000"/>
                          </a:solidFill>
                        </a:rPr>
                        <a:t>0.418</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00000"/>
                          </a:solidFill>
                        </a:rPr>
                        <a:t>289ms</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extLst>
                  <a:ext uri="{0D108BD9-81ED-4DB2-BD59-A6C34878D82A}">
                    <a16:rowId xmlns:a16="http://schemas.microsoft.com/office/drawing/2014/main" val="10003"/>
                  </a:ext>
                </a:extLst>
              </a:tr>
              <a:tr h="926592">
                <a:tc>
                  <a:txBody>
                    <a:bodyPr/>
                    <a:lstStyle/>
                    <a:p>
                      <a:pPr marL="0" indent="0">
                        <a:buNone/>
                      </a:pPr>
                      <a:r>
                        <a:rPr lang="en-US" sz="1300" dirty="0">
                          <a:solidFill>
                            <a:srgbClr val="000000"/>
                          </a:solidFill>
                        </a:rPr>
                        <a:t>full_hybrid</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0.600</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0.780</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0.418</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377ms</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40347249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463296"/>
          </a:xfrm>
          <a:prstGeom prst="rect">
            <a:avLst/>
          </a:prstGeom>
          <a:solidFill>
            <a:srgbClr val="1B7FBF"/>
          </a:solidFill>
          <a:ln w="12700">
            <a:solidFill>
              <a:srgbClr val="1B7FBF"/>
            </a:solidFill>
            <a:prstDash val="solid"/>
          </a:ln>
        </p:spPr>
      </p:sp>
      <p:sp>
        <p:nvSpPr>
          <p:cNvPr id="3" name="Text 1"/>
          <p:cNvSpPr/>
          <p:nvPr/>
        </p:nvSpPr>
        <p:spPr>
          <a:xfrm>
            <a:off x="365760" y="0"/>
            <a:ext cx="10972800" cy="463296"/>
          </a:xfrm>
          <a:prstGeom prst="rect">
            <a:avLst/>
          </a:prstGeom>
          <a:noFill/>
          <a:ln/>
        </p:spPr>
        <p:txBody>
          <a:bodyPr wrap="square" lIns="0" tIns="0" rIns="0" bIns="0" rtlCol="0" anchor="ctr"/>
          <a:lstStyle/>
          <a:p>
            <a:r>
              <a:rPr lang="en-US" sz="1333" b="1" kern="0" spc="400" dirty="0">
                <a:solidFill>
                  <a:srgbClr val="FFFFFF"/>
                </a:solidFill>
              </a:rPr>
              <a:t>HYBRID RESULTS</a:t>
            </a:r>
            <a:endParaRPr lang="en-US" sz="1333" dirty="0"/>
          </a:p>
        </p:txBody>
      </p:sp>
      <p:sp>
        <p:nvSpPr>
          <p:cNvPr id="4" name="Text 2"/>
          <p:cNvSpPr/>
          <p:nvPr/>
        </p:nvSpPr>
        <p:spPr>
          <a:xfrm>
            <a:off x="548640" y="609600"/>
            <a:ext cx="11094720" cy="853440"/>
          </a:xfrm>
          <a:prstGeom prst="rect">
            <a:avLst/>
          </a:prstGeom>
          <a:noFill/>
          <a:ln/>
        </p:spPr>
        <p:txBody>
          <a:bodyPr wrap="square" lIns="0" tIns="0" rIns="0" bIns="0" rtlCol="0" anchor="ctr"/>
          <a:lstStyle/>
          <a:p>
            <a:r>
              <a:rPr lang="en-US" sz="3467" b="1" dirty="0">
                <a:solidFill>
                  <a:srgbClr val="142966"/>
                </a:solidFill>
                <a:latin typeface="Calibri" pitchFamily="34" charset="0"/>
                <a:ea typeface="Calibri" pitchFamily="34" charset="-122"/>
                <a:cs typeface="Calibri" pitchFamily="34" charset="-120"/>
              </a:rPr>
              <a:t>Challenge-Set Predictions: Full Hybrid</a:t>
            </a:r>
            <a:endParaRPr lang="en-US" sz="3467" dirty="0"/>
          </a:p>
        </p:txBody>
      </p:sp>
      <p:pic>
        <p:nvPicPr>
          <p:cNvPr id="5" name="Image 0" descr="preencoded.png"/>
          <p:cNvPicPr>
            <a:picLocks noChangeAspect="1"/>
          </p:cNvPicPr>
          <p:nvPr/>
        </p:nvPicPr>
        <p:blipFill>
          <a:blip r:embed="rId3"/>
          <a:stretch>
            <a:fillRect/>
          </a:stretch>
        </p:blipFill>
        <p:spPr>
          <a:xfrm>
            <a:off x="365760" y="1280160"/>
            <a:ext cx="11460480" cy="4145280"/>
          </a:xfrm>
          <a:prstGeom prst="rect">
            <a:avLst/>
          </a:prstGeom>
        </p:spPr>
      </p:pic>
      <p:sp>
        <p:nvSpPr>
          <p:cNvPr id="6" name="Shape 3"/>
          <p:cNvSpPr/>
          <p:nvPr/>
        </p:nvSpPr>
        <p:spPr>
          <a:xfrm>
            <a:off x="365760" y="5608320"/>
            <a:ext cx="11460480" cy="914400"/>
          </a:xfrm>
          <a:prstGeom prst="rect">
            <a:avLst/>
          </a:prstGeom>
          <a:solidFill>
            <a:srgbClr val="F4F7FB"/>
          </a:solidFill>
          <a:ln/>
        </p:spPr>
      </p:sp>
      <p:sp>
        <p:nvSpPr>
          <p:cNvPr id="7" name="Text 4"/>
          <p:cNvSpPr/>
          <p:nvPr/>
        </p:nvSpPr>
        <p:spPr>
          <a:xfrm>
            <a:off x="609600" y="5669280"/>
            <a:ext cx="10972800" cy="731520"/>
          </a:xfrm>
          <a:prstGeom prst="rect">
            <a:avLst/>
          </a:prstGeom>
          <a:noFill/>
          <a:ln/>
        </p:spPr>
        <p:txBody>
          <a:bodyPr wrap="square" rtlCol="0" anchor="ctr"/>
          <a:lstStyle/>
          <a:p>
            <a:pPr algn="ctr"/>
            <a:r>
              <a:rPr lang="en-US" sz="1467" i="1" dirty="0">
                <a:solidFill>
                  <a:srgbClr val="142966"/>
                </a:solidFill>
              </a:rPr>
              <a:t>9/10 exact matches on the challenge set · Only 1 span-boundary error ("the proposal during the morning")</a:t>
            </a:r>
            <a:endParaRPr lang="en-US" sz="1467" dirty="0"/>
          </a:p>
        </p:txBody>
      </p:sp>
    </p:spTree>
    <p:extLst>
      <p:ext uri="{BB962C8B-B14F-4D97-AF65-F5344CB8AC3E}">
        <p14:creationId xmlns:p14="http://schemas.microsoft.com/office/powerpoint/2010/main" val="197163350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463296"/>
          </a:xfrm>
          <a:prstGeom prst="rect">
            <a:avLst/>
          </a:prstGeom>
          <a:solidFill>
            <a:srgbClr val="1B7FBF"/>
          </a:solidFill>
          <a:ln w="12700">
            <a:solidFill>
              <a:srgbClr val="1B7FBF"/>
            </a:solidFill>
            <a:prstDash val="solid"/>
          </a:ln>
        </p:spPr>
      </p:sp>
      <p:sp>
        <p:nvSpPr>
          <p:cNvPr id="3" name="Text 1"/>
          <p:cNvSpPr/>
          <p:nvPr/>
        </p:nvSpPr>
        <p:spPr>
          <a:xfrm>
            <a:off x="365760" y="0"/>
            <a:ext cx="10972800" cy="463296"/>
          </a:xfrm>
          <a:prstGeom prst="rect">
            <a:avLst/>
          </a:prstGeom>
          <a:noFill/>
          <a:ln/>
        </p:spPr>
        <p:txBody>
          <a:bodyPr wrap="square" lIns="0" tIns="0" rIns="0" bIns="0" rtlCol="0" anchor="ctr"/>
          <a:lstStyle/>
          <a:p>
            <a:r>
              <a:rPr lang="en-US" sz="1333" b="1" kern="0" spc="400" dirty="0">
                <a:solidFill>
                  <a:srgbClr val="FFFFFF"/>
                </a:solidFill>
              </a:rPr>
              <a:t>SURVEY — RELATED WORK</a:t>
            </a:r>
            <a:endParaRPr lang="en-US" sz="1333" dirty="0"/>
          </a:p>
        </p:txBody>
      </p:sp>
      <p:sp>
        <p:nvSpPr>
          <p:cNvPr id="4" name="Text 2"/>
          <p:cNvSpPr/>
          <p:nvPr/>
        </p:nvSpPr>
        <p:spPr>
          <a:xfrm>
            <a:off x="548640" y="609600"/>
            <a:ext cx="11094720" cy="853440"/>
          </a:xfrm>
          <a:prstGeom prst="rect">
            <a:avLst/>
          </a:prstGeom>
          <a:noFill/>
          <a:ln/>
        </p:spPr>
        <p:txBody>
          <a:bodyPr wrap="square" lIns="0" tIns="0" rIns="0" bIns="0" rtlCol="0" anchor="ctr"/>
          <a:lstStyle/>
          <a:p>
            <a:r>
              <a:rPr lang="en-US" sz="3467" b="1" dirty="0">
                <a:solidFill>
                  <a:srgbClr val="142966"/>
                </a:solidFill>
                <a:latin typeface="Calibri" pitchFamily="34" charset="0"/>
                <a:ea typeface="Calibri" pitchFamily="34" charset="-122"/>
                <a:cs typeface="Calibri" pitchFamily="34" charset="-120"/>
              </a:rPr>
              <a:t>QA-SRL Lineage: From Annotation to Systems</a:t>
            </a:r>
            <a:endParaRPr lang="en-US" sz="3467"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365760" y="1341120"/>
          <a:ext cx="11460480" cy="5284120"/>
        </p:xfrm>
        <a:graphic>
          <a:graphicData uri="http://schemas.openxmlformats.org/drawingml/2006/table">
            <a:tbl>
              <a:tblPr/>
              <a:tblGrid>
                <a:gridCol w="73152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1158240">
                  <a:extLst>
                    <a:ext uri="{9D8B030D-6E8A-4147-A177-3AD203B41FA5}">
                      <a16:colId xmlns:a16="http://schemas.microsoft.com/office/drawing/2014/main" val="20002"/>
                    </a:ext>
                  </a:extLst>
                </a:gridCol>
                <a:gridCol w="7376160">
                  <a:extLst>
                    <a:ext uri="{9D8B030D-6E8A-4147-A177-3AD203B41FA5}">
                      <a16:colId xmlns:a16="http://schemas.microsoft.com/office/drawing/2014/main" val="20003"/>
                    </a:ext>
                  </a:extLst>
                </a:gridCol>
              </a:tblGrid>
              <a:tr h="476596">
                <a:tc>
                  <a:txBody>
                    <a:bodyPr/>
                    <a:lstStyle/>
                    <a:p>
                      <a:pPr marL="0" indent="0">
                        <a:buNone/>
                      </a:pPr>
                      <a:r>
                        <a:rPr lang="en-US" sz="1300" b="1" dirty="0">
                          <a:solidFill>
                            <a:srgbClr val="FFFFFF"/>
                          </a:solidFill>
                        </a:rPr>
                        <a:t>Year</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2966"/>
                    </a:solidFill>
                  </a:tcPr>
                </a:tc>
                <a:tc>
                  <a:txBody>
                    <a:bodyPr/>
                    <a:lstStyle/>
                    <a:p>
                      <a:pPr marL="0" indent="0">
                        <a:buNone/>
                      </a:pPr>
                      <a:r>
                        <a:rPr lang="en-US" sz="1300" b="1" dirty="0">
                          <a:solidFill>
                            <a:srgbClr val="FFFFFF"/>
                          </a:solidFill>
                        </a:rPr>
                        <a:t>Authors</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2966"/>
                    </a:solidFill>
                  </a:tcPr>
                </a:tc>
                <a:tc>
                  <a:txBody>
                    <a:bodyPr/>
                    <a:lstStyle/>
                    <a:p>
                      <a:pPr marL="0" indent="0">
                        <a:buNone/>
                      </a:pPr>
                      <a:r>
                        <a:rPr lang="en-US" sz="1300" b="1" dirty="0">
                          <a:solidFill>
                            <a:srgbClr val="FFFFFF"/>
                          </a:solidFill>
                        </a:rPr>
                        <a:t>Venue</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2966"/>
                    </a:solidFill>
                  </a:tcPr>
                </a:tc>
                <a:tc>
                  <a:txBody>
                    <a:bodyPr/>
                    <a:lstStyle/>
                    <a:p>
                      <a:pPr marL="0" indent="0">
                        <a:buNone/>
                      </a:pPr>
                      <a:r>
                        <a:rPr lang="en-US" sz="1300" b="1" dirty="0">
                          <a:solidFill>
                            <a:srgbClr val="FFFFFF"/>
                          </a:solidFill>
                        </a:rPr>
                        <a:t>Key Contribution</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2966"/>
                    </a:solidFill>
                  </a:tcPr>
                </a:tc>
                <a:extLst>
                  <a:ext uri="{0D108BD9-81ED-4DB2-BD59-A6C34878D82A}">
                    <a16:rowId xmlns:a16="http://schemas.microsoft.com/office/drawing/2014/main" val="10000"/>
                  </a:ext>
                </a:extLst>
              </a:tr>
              <a:tr h="508000">
                <a:tc>
                  <a:txBody>
                    <a:bodyPr/>
                    <a:lstStyle/>
                    <a:p>
                      <a:pPr marL="0" indent="0">
                        <a:buNone/>
                      </a:pPr>
                      <a:r>
                        <a:rPr lang="en-US" sz="1300" dirty="0">
                          <a:solidFill>
                            <a:srgbClr val="000000"/>
                          </a:solidFill>
                        </a:rPr>
                        <a:t>2007</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00000"/>
                          </a:solidFill>
                        </a:rPr>
                        <a:t>Shen &amp; Lapata</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00000"/>
                          </a:solidFill>
                        </a:rPr>
                        <a:t>EMNLP-CoNLL</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00000"/>
                          </a:solidFill>
                        </a:rPr>
                        <a:t>Used semantic roles to improve answer selection in factoid QA — first direct SRL-QA link</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extLst>
                  <a:ext uri="{0D108BD9-81ED-4DB2-BD59-A6C34878D82A}">
                    <a16:rowId xmlns:a16="http://schemas.microsoft.com/office/drawing/2014/main" val="10001"/>
                  </a:ext>
                </a:extLst>
              </a:tr>
              <a:tr h="476596">
                <a:tc>
                  <a:txBody>
                    <a:bodyPr/>
                    <a:lstStyle/>
                    <a:p>
                      <a:pPr marL="0" indent="0">
                        <a:buNone/>
                      </a:pPr>
                      <a:r>
                        <a:rPr lang="en-US" sz="1300" dirty="0">
                          <a:solidFill>
                            <a:srgbClr val="000000"/>
                          </a:solidFill>
                        </a:rPr>
                        <a:t>2015</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He, Lewis, Zettlemoyer</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EMNLP</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QA-SRL: reformulated SRL annotation as natural-language QA — changed who can annotate</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476596">
                <a:tc>
                  <a:txBody>
                    <a:bodyPr/>
                    <a:lstStyle/>
                    <a:p>
                      <a:pPr marL="0" indent="0">
                        <a:buNone/>
                      </a:pPr>
                      <a:r>
                        <a:rPr lang="en-US" sz="1300" dirty="0">
                          <a:solidFill>
                            <a:srgbClr val="000000"/>
                          </a:solidFill>
                        </a:rPr>
                        <a:t>2018</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00000"/>
                          </a:solidFill>
                        </a:rPr>
                        <a:t>Michael et al.</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00000"/>
                          </a:solidFill>
                        </a:rPr>
                        <a:t>NAACL</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00000"/>
                          </a:solidFill>
                        </a:rPr>
                        <a:t>QAMR: crowdsourced question-answer meaning representations at scale</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extLst>
                  <a:ext uri="{0D108BD9-81ED-4DB2-BD59-A6C34878D82A}">
                    <a16:rowId xmlns:a16="http://schemas.microsoft.com/office/drawing/2014/main" val="10003"/>
                  </a:ext>
                </a:extLst>
              </a:tr>
              <a:tr h="476596">
                <a:tc>
                  <a:txBody>
                    <a:bodyPr/>
                    <a:lstStyle/>
                    <a:p>
                      <a:pPr marL="0" indent="0">
                        <a:buNone/>
                      </a:pPr>
                      <a:r>
                        <a:rPr lang="en-US" sz="1300" dirty="0">
                          <a:solidFill>
                            <a:srgbClr val="000000"/>
                          </a:solidFill>
                        </a:rPr>
                        <a:t>2018</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FitzGerald et al.</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ACL</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Large-scale QA-SRL parsing — neural automation of question-based semantics</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476596">
                <a:tc>
                  <a:txBody>
                    <a:bodyPr/>
                    <a:lstStyle/>
                    <a:p>
                      <a:pPr marL="0" indent="0">
                        <a:buNone/>
                      </a:pPr>
                      <a:r>
                        <a:rPr lang="en-US" sz="1300" dirty="0">
                          <a:solidFill>
                            <a:srgbClr val="000000"/>
                          </a:solidFill>
                        </a:rPr>
                        <a:t>2020</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00000"/>
                          </a:solidFill>
                        </a:rPr>
                        <a:t>Roit et al.</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00000"/>
                          </a:solidFill>
                        </a:rPr>
                        <a:t>ACL</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00000"/>
                          </a:solidFill>
                        </a:rPr>
                        <a:t>Controlled crowdsourcing for high-quality QA-SRL — quality at scale</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extLst>
                  <a:ext uri="{0D108BD9-81ED-4DB2-BD59-A6C34878D82A}">
                    <a16:rowId xmlns:a16="http://schemas.microsoft.com/office/drawing/2014/main" val="10005"/>
                  </a:ext>
                </a:extLst>
              </a:tr>
              <a:tr h="476596">
                <a:tc>
                  <a:txBody>
                    <a:bodyPr/>
                    <a:lstStyle/>
                    <a:p>
                      <a:pPr marL="0" indent="0">
                        <a:buNone/>
                      </a:pPr>
                      <a:r>
                        <a:rPr lang="en-US" sz="1300" dirty="0">
                          <a:solidFill>
                            <a:srgbClr val="000000"/>
                          </a:solidFill>
                        </a:rPr>
                        <a:t>2020</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Klein et al.</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COLING</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QANom: extended QA-SRL to nominalizations — beyond verbal arguments</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476596">
                <a:tc>
                  <a:txBody>
                    <a:bodyPr/>
                    <a:lstStyle/>
                    <a:p>
                      <a:pPr marL="0" indent="0">
                        <a:buNone/>
                      </a:pPr>
                      <a:r>
                        <a:rPr lang="en-US" sz="1300" dirty="0">
                          <a:solidFill>
                            <a:srgbClr val="000000"/>
                          </a:solidFill>
                        </a:rPr>
                        <a:t>2021</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00000"/>
                          </a:solidFill>
                        </a:rPr>
                        <a:t>Pyatkin et al.</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00000"/>
                          </a:solidFill>
                        </a:rPr>
                        <a:t>EMNLP</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00000"/>
                          </a:solidFill>
                        </a:rPr>
                        <a:t>Asking It All: generates contextualized questions for any semantic role</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extLst>
                  <a:ext uri="{0D108BD9-81ED-4DB2-BD59-A6C34878D82A}">
                    <a16:rowId xmlns:a16="http://schemas.microsoft.com/office/drawing/2014/main" val="10007"/>
                  </a:ext>
                </a:extLst>
              </a:tr>
              <a:tr h="476596">
                <a:tc>
                  <a:txBody>
                    <a:bodyPr/>
                    <a:lstStyle/>
                    <a:p>
                      <a:pPr marL="0" indent="0">
                        <a:buNone/>
                      </a:pPr>
                      <a:r>
                        <a:rPr lang="en-US" sz="1300" dirty="0">
                          <a:solidFill>
                            <a:srgbClr val="000000"/>
                          </a:solidFill>
                        </a:rPr>
                        <a:t>2022</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Klein et al.</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EMNLP</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QASem: text-to-text unified semantic parsing with QA form</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476596">
                <a:tc>
                  <a:txBody>
                    <a:bodyPr/>
                    <a:lstStyle/>
                    <a:p>
                      <a:pPr marL="0" indent="0">
                        <a:buNone/>
                      </a:pPr>
                      <a:r>
                        <a:rPr lang="en-US" sz="1300" dirty="0">
                          <a:solidFill>
                            <a:srgbClr val="000000"/>
                          </a:solidFill>
                        </a:rPr>
                        <a:t>2024</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00000"/>
                          </a:solidFill>
                        </a:rPr>
                        <a:t>Bonn et al.</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00000"/>
                          </a:solidFill>
                        </a:rPr>
                        <a:t>DMR</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00000"/>
                          </a:solidFill>
                        </a:rPr>
                        <a:t>LLMs as PropBank adjudicators — explicit semantics + generative AI</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extLst>
                  <a:ext uri="{0D108BD9-81ED-4DB2-BD59-A6C34878D82A}">
                    <a16:rowId xmlns:a16="http://schemas.microsoft.com/office/drawing/2014/main" val="10009"/>
                  </a:ext>
                </a:extLst>
              </a:tr>
              <a:tr h="476596">
                <a:tc>
                  <a:txBody>
                    <a:bodyPr/>
                    <a:lstStyle/>
                    <a:p>
                      <a:pPr marL="0" indent="0">
                        <a:buNone/>
                      </a:pPr>
                      <a:r>
                        <a:rPr lang="en-US" sz="1300" dirty="0">
                          <a:solidFill>
                            <a:srgbClr val="000000"/>
                          </a:solidFill>
                        </a:rPr>
                        <a:t>2025</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Rai et al.</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*SEM</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00000"/>
                          </a:solidFill>
                        </a:rPr>
                        <a:t>Frame-semantic LoRA: injects FrameNet into LLMs via prompt fine-tuning</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bl>
          </a:graphicData>
        </a:graphic>
      </p:graphicFrame>
    </p:spTree>
    <p:extLst>
      <p:ext uri="{BB962C8B-B14F-4D97-AF65-F5344CB8AC3E}">
        <p14:creationId xmlns:p14="http://schemas.microsoft.com/office/powerpoint/2010/main" val="303897765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463296"/>
          </a:xfrm>
          <a:prstGeom prst="rect">
            <a:avLst/>
          </a:prstGeom>
          <a:solidFill>
            <a:srgbClr val="1B7FBF"/>
          </a:solidFill>
          <a:ln w="12700">
            <a:solidFill>
              <a:srgbClr val="1B7FBF"/>
            </a:solidFill>
            <a:prstDash val="solid"/>
          </a:ln>
        </p:spPr>
      </p:sp>
      <p:sp>
        <p:nvSpPr>
          <p:cNvPr id="3" name="Text 1"/>
          <p:cNvSpPr/>
          <p:nvPr/>
        </p:nvSpPr>
        <p:spPr>
          <a:xfrm>
            <a:off x="365760" y="0"/>
            <a:ext cx="10972800" cy="463296"/>
          </a:xfrm>
          <a:prstGeom prst="rect">
            <a:avLst/>
          </a:prstGeom>
          <a:noFill/>
          <a:ln/>
        </p:spPr>
        <p:txBody>
          <a:bodyPr wrap="square" lIns="0" tIns="0" rIns="0" bIns="0" rtlCol="0" anchor="ctr"/>
          <a:lstStyle/>
          <a:p>
            <a:r>
              <a:rPr lang="en-US" sz="1333" b="1" kern="0" spc="400" dirty="0">
                <a:solidFill>
                  <a:srgbClr val="FFFFFF"/>
                </a:solidFill>
              </a:rPr>
              <a:t>SURVEY — RESOURCES</a:t>
            </a:r>
            <a:endParaRPr lang="en-US" sz="1333" dirty="0"/>
          </a:p>
        </p:txBody>
      </p:sp>
      <p:sp>
        <p:nvSpPr>
          <p:cNvPr id="4" name="Text 2"/>
          <p:cNvSpPr/>
          <p:nvPr/>
        </p:nvSpPr>
        <p:spPr>
          <a:xfrm>
            <a:off x="548640" y="609600"/>
            <a:ext cx="11094720" cy="853440"/>
          </a:xfrm>
          <a:prstGeom prst="rect">
            <a:avLst/>
          </a:prstGeom>
          <a:noFill/>
          <a:ln/>
        </p:spPr>
        <p:txBody>
          <a:bodyPr wrap="square" lIns="0" tIns="0" rIns="0" bIns="0" rtlCol="0" anchor="ctr"/>
          <a:lstStyle/>
          <a:p>
            <a:r>
              <a:rPr lang="en-US" sz="3467" b="1" dirty="0">
                <a:solidFill>
                  <a:srgbClr val="142966"/>
                </a:solidFill>
                <a:latin typeface="Calibri" pitchFamily="34" charset="0"/>
                <a:ea typeface="Calibri" pitchFamily="34" charset="-122"/>
                <a:cs typeface="Calibri" pitchFamily="34" charset="-120"/>
              </a:rPr>
              <a:t>Semantic Resources: PropBank vs. Alternatives</a:t>
            </a:r>
            <a:endParaRPr lang="en-US" sz="3467"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365760" y="1341120"/>
          <a:ext cx="11460480" cy="5181596"/>
        </p:xfrm>
        <a:graphic>
          <a:graphicData uri="http://schemas.openxmlformats.org/drawingml/2006/table">
            <a:tbl>
              <a:tblPr/>
              <a:tblGrid>
                <a:gridCol w="1950720">
                  <a:extLst>
                    <a:ext uri="{9D8B030D-6E8A-4147-A177-3AD203B41FA5}">
                      <a16:colId xmlns:a16="http://schemas.microsoft.com/office/drawing/2014/main" val="20000"/>
                    </a:ext>
                  </a:extLst>
                </a:gridCol>
                <a:gridCol w="292608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1584960">
                  <a:extLst>
                    <a:ext uri="{9D8B030D-6E8A-4147-A177-3AD203B41FA5}">
                      <a16:colId xmlns:a16="http://schemas.microsoft.com/office/drawing/2014/main" val="20003"/>
                    </a:ext>
                  </a:extLst>
                </a:gridCol>
                <a:gridCol w="3169920">
                  <a:extLst>
                    <a:ext uri="{9D8B030D-6E8A-4147-A177-3AD203B41FA5}">
                      <a16:colId xmlns:a16="http://schemas.microsoft.com/office/drawing/2014/main" val="20004"/>
                    </a:ext>
                  </a:extLst>
                </a:gridCol>
              </a:tblGrid>
              <a:tr h="740228">
                <a:tc>
                  <a:txBody>
                    <a:bodyPr/>
                    <a:lstStyle/>
                    <a:p>
                      <a:pPr marL="0" indent="0">
                        <a:buNone/>
                      </a:pPr>
                      <a:r>
                        <a:rPr lang="en-US" sz="1300" b="1" dirty="0">
                          <a:solidFill>
                            <a:srgbClr val="FFFFFF"/>
                          </a:solidFill>
                        </a:rPr>
                        <a:t>Resource</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2966"/>
                    </a:solidFill>
                  </a:tcPr>
                </a:tc>
                <a:tc>
                  <a:txBody>
                    <a:bodyPr/>
                    <a:lstStyle/>
                    <a:p>
                      <a:pPr marL="0" indent="0">
                        <a:buNone/>
                      </a:pPr>
                      <a:r>
                        <a:rPr lang="en-US" sz="1300" b="1" dirty="0">
                          <a:solidFill>
                            <a:srgbClr val="FFFFFF"/>
                          </a:solidFill>
                        </a:rPr>
                        <a:t>Annotation Style</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2966"/>
                    </a:solidFill>
                  </a:tcPr>
                </a:tc>
                <a:tc>
                  <a:txBody>
                    <a:bodyPr/>
                    <a:lstStyle/>
                    <a:p>
                      <a:pPr marL="0" indent="0">
                        <a:buNone/>
                      </a:pPr>
                      <a:r>
                        <a:rPr lang="en-US" sz="1300" b="1" dirty="0">
                          <a:solidFill>
                            <a:srgbClr val="FFFFFF"/>
                          </a:solidFill>
                        </a:rPr>
                        <a:t>Granularity</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2966"/>
                    </a:solidFill>
                  </a:tcPr>
                </a:tc>
                <a:tc>
                  <a:txBody>
                    <a:bodyPr/>
                    <a:lstStyle/>
                    <a:p>
                      <a:pPr marL="0" indent="0">
                        <a:buNone/>
                      </a:pPr>
                      <a:r>
                        <a:rPr lang="en-US" sz="1300" b="1" dirty="0">
                          <a:solidFill>
                            <a:srgbClr val="FFFFFF"/>
                          </a:solidFill>
                        </a:rPr>
                        <a:t>Availability</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2966"/>
                    </a:solidFill>
                  </a:tcPr>
                </a:tc>
                <a:tc>
                  <a:txBody>
                    <a:bodyPr/>
                    <a:lstStyle/>
                    <a:p>
                      <a:pPr marL="0" indent="0">
                        <a:buNone/>
                      </a:pPr>
                      <a:r>
                        <a:rPr lang="en-US" sz="1300" b="1" dirty="0">
                          <a:solidFill>
                            <a:srgbClr val="FFFFFF"/>
                          </a:solidFill>
                        </a:rPr>
                        <a:t>Relevance to This Project</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2966"/>
                    </a:solidFill>
                  </a:tcPr>
                </a:tc>
                <a:extLst>
                  <a:ext uri="{0D108BD9-81ED-4DB2-BD59-A6C34878D82A}">
                    <a16:rowId xmlns:a16="http://schemas.microsoft.com/office/drawing/2014/main" val="10000"/>
                  </a:ext>
                </a:extLst>
              </a:tr>
              <a:tr h="740228">
                <a:tc>
                  <a:txBody>
                    <a:bodyPr/>
                    <a:lstStyle/>
                    <a:p>
                      <a:pPr marL="0" indent="0">
                        <a:buNone/>
                      </a:pPr>
                      <a:r>
                        <a:rPr lang="en-US" sz="1300" dirty="0">
                          <a:solidFill>
                            <a:srgbClr val="0A1430"/>
                          </a:solidFill>
                        </a:rPr>
                        <a:t>PropBank ★</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A1430"/>
                          </a:solidFill>
                        </a:rPr>
                        <a:t>Predicate-arg roles (ARG0-ARG5, ARGMs)</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A1430"/>
                          </a:solidFill>
                        </a:rPr>
                        <a:t>Coarse, portable, sense-local</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A1430"/>
                          </a:solidFill>
                        </a:rPr>
                        <a:t>Public (NLTK)</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A1430"/>
                          </a:solidFill>
                        </a:rPr>
                        <a:t>Primary training source (112,917 instances)</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740228">
                <a:tc>
                  <a:txBody>
                    <a:bodyPr/>
                    <a:lstStyle/>
                    <a:p>
                      <a:pPr marL="0" indent="0">
                        <a:buNone/>
                      </a:pPr>
                      <a:r>
                        <a:rPr lang="en-US" sz="1300" dirty="0">
                          <a:solidFill>
                            <a:srgbClr val="0A1430"/>
                          </a:solidFill>
                        </a:rPr>
                        <a:t>QA-SRL</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A1430"/>
                          </a:solidFill>
                        </a:rPr>
                        <a:t>Natural-language role questions</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A1430"/>
                          </a:solidFill>
                        </a:rPr>
                        <a:t>Question-based</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A1430"/>
                          </a:solidFill>
                        </a:rPr>
                        <a:t>Public</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A1430"/>
                          </a:solidFill>
                        </a:rPr>
                        <a:t>Closest direct SRL-QA benchmark</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extLst>
                  <a:ext uri="{0D108BD9-81ED-4DB2-BD59-A6C34878D82A}">
                    <a16:rowId xmlns:a16="http://schemas.microsoft.com/office/drawing/2014/main" val="10002"/>
                  </a:ext>
                </a:extLst>
              </a:tr>
              <a:tr h="740228">
                <a:tc>
                  <a:txBody>
                    <a:bodyPr/>
                    <a:lstStyle/>
                    <a:p>
                      <a:pPr marL="0" indent="0">
                        <a:buNone/>
                      </a:pPr>
                      <a:r>
                        <a:rPr lang="en-US" sz="1300" dirty="0">
                          <a:solidFill>
                            <a:srgbClr val="0A1430"/>
                          </a:solidFill>
                        </a:rPr>
                        <a:t>FrameNet</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A1430"/>
                          </a:solidFill>
                        </a:rPr>
                        <a:t>Rich frame elements</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A1430"/>
                          </a:solidFill>
                        </a:rPr>
                        <a:t>Semantically expressive</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A1430"/>
                          </a:solidFill>
                        </a:rPr>
                        <a:t>Public</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A1430"/>
                          </a:solidFill>
                        </a:rPr>
                        <a:t>Useful for innovation beyond PropBank</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740228">
                <a:tc>
                  <a:txBody>
                    <a:bodyPr/>
                    <a:lstStyle/>
                    <a:p>
                      <a:pPr marL="0" indent="0">
                        <a:buNone/>
                      </a:pPr>
                      <a:r>
                        <a:rPr lang="en-US" sz="1300" dirty="0">
                          <a:solidFill>
                            <a:srgbClr val="0A1430"/>
                          </a:solidFill>
                        </a:rPr>
                        <a:t>OntoNotes 5.0</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A1430"/>
                          </a:solidFill>
                        </a:rPr>
                        <a:t>Syntax, entities, SRL, coreference</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A1430"/>
                          </a:solidFill>
                        </a:rPr>
                        <a:t>Multi-layer</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A1430"/>
                          </a:solidFill>
                        </a:rPr>
                        <a:t>Licensed (LDC)</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A1430"/>
                          </a:solidFill>
                        </a:rPr>
                        <a:t>Common neural SRL benchmark</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extLst>
                  <a:ext uri="{0D108BD9-81ED-4DB2-BD59-A6C34878D82A}">
                    <a16:rowId xmlns:a16="http://schemas.microsoft.com/office/drawing/2014/main" val="10004"/>
                  </a:ext>
                </a:extLst>
              </a:tr>
              <a:tr h="740228">
                <a:tc>
                  <a:txBody>
                    <a:bodyPr/>
                    <a:lstStyle/>
                    <a:p>
                      <a:pPr marL="0" indent="0">
                        <a:buNone/>
                      </a:pPr>
                      <a:r>
                        <a:rPr lang="en-US" sz="1300" dirty="0">
                          <a:solidFill>
                            <a:srgbClr val="0A1430"/>
                          </a:solidFill>
                        </a:rPr>
                        <a:t>CoNLL-2009</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A1430"/>
                          </a:solidFill>
                        </a:rPr>
                        <a:t>Dependency SRL</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A1430"/>
                          </a:solidFill>
                        </a:rPr>
                        <a:t>Dependency-based</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A1430"/>
                          </a:solidFill>
                        </a:rPr>
                        <a:t>Shared-task</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buNone/>
                      </a:pPr>
                      <a:r>
                        <a:rPr lang="en-US" sz="1300" dirty="0">
                          <a:solidFill>
                            <a:srgbClr val="0A1430"/>
                          </a:solidFill>
                        </a:rPr>
                        <a:t>Multilingual SRL comparison</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740228">
                <a:tc>
                  <a:txBody>
                    <a:bodyPr/>
                    <a:lstStyle/>
                    <a:p>
                      <a:pPr marL="0" indent="0">
                        <a:buNone/>
                      </a:pPr>
                      <a:r>
                        <a:rPr lang="en-US" sz="1300" dirty="0">
                          <a:solidFill>
                            <a:srgbClr val="0A1430"/>
                          </a:solidFill>
                        </a:rPr>
                        <a:t>SQuAD / NQ</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A1430"/>
                          </a:solidFill>
                        </a:rPr>
                        <a:t>Extractive answer spans</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A1430"/>
                          </a:solidFill>
                        </a:rPr>
                        <a:t>Reading comprehension</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A1430"/>
                          </a:solidFill>
                        </a:rPr>
                        <a:t>Public</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buNone/>
                      </a:pPr>
                      <a:r>
                        <a:rPr lang="en-US" sz="1300" dirty="0">
                          <a:solidFill>
                            <a:srgbClr val="0A1430"/>
                          </a:solidFill>
                        </a:rPr>
                        <a:t>Good QA baselines but not semantically structured</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8171913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463296"/>
          </a:xfrm>
          <a:prstGeom prst="rect">
            <a:avLst/>
          </a:prstGeom>
          <a:solidFill>
            <a:srgbClr val="1B7FBF"/>
          </a:solidFill>
          <a:ln w="12700">
            <a:solidFill>
              <a:srgbClr val="1B7FBF"/>
            </a:solidFill>
            <a:prstDash val="solid"/>
          </a:ln>
        </p:spPr>
      </p:sp>
      <p:sp>
        <p:nvSpPr>
          <p:cNvPr id="3" name="Text 1"/>
          <p:cNvSpPr/>
          <p:nvPr/>
        </p:nvSpPr>
        <p:spPr>
          <a:xfrm>
            <a:off x="365760" y="0"/>
            <a:ext cx="10972800" cy="463296"/>
          </a:xfrm>
          <a:prstGeom prst="rect">
            <a:avLst/>
          </a:prstGeom>
          <a:noFill/>
          <a:ln/>
        </p:spPr>
        <p:txBody>
          <a:bodyPr wrap="square" lIns="0" tIns="0" rIns="0" bIns="0" rtlCol="0" anchor="ctr"/>
          <a:lstStyle/>
          <a:p>
            <a:r>
              <a:rPr lang="en-US" sz="1333" b="1" kern="0" spc="400" dirty="0">
                <a:solidFill>
                  <a:srgbClr val="FFFFFF"/>
                </a:solidFill>
              </a:rPr>
              <a:t>SURVEY — RESEARCH GAPS</a:t>
            </a:r>
            <a:endParaRPr lang="en-US" sz="1333" dirty="0"/>
          </a:p>
        </p:txBody>
      </p:sp>
      <p:sp>
        <p:nvSpPr>
          <p:cNvPr id="4" name="Text 2"/>
          <p:cNvSpPr/>
          <p:nvPr/>
        </p:nvSpPr>
        <p:spPr>
          <a:xfrm>
            <a:off x="548640" y="609600"/>
            <a:ext cx="11094720" cy="853440"/>
          </a:xfrm>
          <a:prstGeom prst="rect">
            <a:avLst/>
          </a:prstGeom>
          <a:noFill/>
          <a:ln/>
        </p:spPr>
        <p:txBody>
          <a:bodyPr wrap="square" lIns="0" tIns="0" rIns="0" bIns="0" rtlCol="0" anchor="ctr"/>
          <a:lstStyle/>
          <a:p>
            <a:r>
              <a:rPr lang="en-US" sz="3467" b="1" dirty="0">
                <a:solidFill>
                  <a:srgbClr val="142966"/>
                </a:solidFill>
                <a:latin typeface="Calibri" pitchFamily="34" charset="0"/>
                <a:ea typeface="Calibri" pitchFamily="34" charset="-122"/>
                <a:cs typeface="Calibri" pitchFamily="34" charset="-120"/>
              </a:rPr>
              <a:t>Open Challenges in SRL-QA Research</a:t>
            </a:r>
            <a:endParaRPr lang="en-US" sz="3467" dirty="0"/>
          </a:p>
        </p:txBody>
      </p:sp>
      <p:sp>
        <p:nvSpPr>
          <p:cNvPr id="5" name="Shape 3"/>
          <p:cNvSpPr/>
          <p:nvPr/>
        </p:nvSpPr>
        <p:spPr>
          <a:xfrm>
            <a:off x="365760" y="1402080"/>
            <a:ext cx="5486400" cy="1645920"/>
          </a:xfrm>
          <a:prstGeom prst="rect">
            <a:avLst/>
          </a:prstGeom>
          <a:solidFill>
            <a:srgbClr val="FFFFFF"/>
          </a:solidFill>
          <a:ln/>
          <a:effectLst>
            <a:outerShdw blurRad="76200" dist="25400" dir="8100000" algn="bl" rotWithShape="0">
              <a:srgbClr val="000000">
                <a:alpha val="10000"/>
              </a:srgbClr>
            </a:outerShdw>
          </a:effectLst>
        </p:spPr>
      </p:sp>
      <p:sp>
        <p:nvSpPr>
          <p:cNvPr id="6" name="Shape 4"/>
          <p:cNvSpPr/>
          <p:nvPr/>
        </p:nvSpPr>
        <p:spPr>
          <a:xfrm>
            <a:off x="365760" y="1402080"/>
            <a:ext cx="85344" cy="1645920"/>
          </a:xfrm>
          <a:prstGeom prst="rect">
            <a:avLst/>
          </a:prstGeom>
          <a:solidFill>
            <a:srgbClr val="0FA3B1"/>
          </a:solidFill>
          <a:ln w="12700">
            <a:solidFill>
              <a:srgbClr val="0FA3B1"/>
            </a:solidFill>
            <a:prstDash val="solid"/>
          </a:ln>
        </p:spPr>
      </p:sp>
      <p:sp>
        <p:nvSpPr>
          <p:cNvPr id="7" name="Text 5"/>
          <p:cNvSpPr/>
          <p:nvPr/>
        </p:nvSpPr>
        <p:spPr>
          <a:xfrm>
            <a:off x="548640" y="1548384"/>
            <a:ext cx="5242560" cy="390144"/>
          </a:xfrm>
          <a:prstGeom prst="rect">
            <a:avLst/>
          </a:prstGeom>
          <a:noFill/>
          <a:ln/>
        </p:spPr>
        <p:txBody>
          <a:bodyPr wrap="square" lIns="0" tIns="0" rIns="0" bIns="0" rtlCol="0" anchor="ctr"/>
          <a:lstStyle/>
          <a:p>
            <a:r>
              <a:rPr lang="en-US" sz="1467" b="1" dirty="0">
                <a:solidFill>
                  <a:srgbClr val="142966"/>
                </a:solidFill>
              </a:rPr>
              <a:t>Multi-predicate &amp; Cross-sentence</a:t>
            </a:r>
            <a:endParaRPr lang="en-US" sz="1467" dirty="0"/>
          </a:p>
        </p:txBody>
      </p:sp>
      <p:sp>
        <p:nvSpPr>
          <p:cNvPr id="8" name="Text 6"/>
          <p:cNvSpPr/>
          <p:nvPr/>
        </p:nvSpPr>
        <p:spPr>
          <a:xfrm>
            <a:off x="548640" y="1950720"/>
            <a:ext cx="5242560" cy="975360"/>
          </a:xfrm>
          <a:prstGeom prst="rect">
            <a:avLst/>
          </a:prstGeom>
          <a:noFill/>
          <a:ln/>
        </p:spPr>
        <p:txBody>
          <a:bodyPr wrap="square" lIns="0" tIns="0" rIns="0" bIns="0" rtlCol="0" anchor="ctr"/>
          <a:lstStyle/>
          <a:p>
            <a:r>
              <a:rPr lang="en-US" sz="1333" dirty="0">
                <a:solidFill>
                  <a:srgbClr val="0A1430"/>
                </a:solidFill>
              </a:rPr>
              <a:t>No standard benchmark for multi-predicate, multi-sentence SRL-QA. Existing resources are predicate-local or migrate away from SRL structure.</a:t>
            </a:r>
            <a:endParaRPr lang="en-US" sz="1333" dirty="0"/>
          </a:p>
        </p:txBody>
      </p:sp>
      <p:sp>
        <p:nvSpPr>
          <p:cNvPr id="9" name="Shape 7"/>
          <p:cNvSpPr/>
          <p:nvPr/>
        </p:nvSpPr>
        <p:spPr>
          <a:xfrm>
            <a:off x="365760" y="3145536"/>
            <a:ext cx="5486400" cy="1645920"/>
          </a:xfrm>
          <a:prstGeom prst="rect">
            <a:avLst/>
          </a:prstGeom>
          <a:solidFill>
            <a:srgbClr val="FFFFFF"/>
          </a:solidFill>
          <a:ln/>
          <a:effectLst>
            <a:outerShdw blurRad="76200" dist="25400" dir="8100000" algn="bl" rotWithShape="0">
              <a:srgbClr val="000000">
                <a:alpha val="10000"/>
              </a:srgbClr>
            </a:outerShdw>
          </a:effectLst>
        </p:spPr>
      </p:sp>
      <p:sp>
        <p:nvSpPr>
          <p:cNvPr id="10" name="Shape 8"/>
          <p:cNvSpPr/>
          <p:nvPr/>
        </p:nvSpPr>
        <p:spPr>
          <a:xfrm>
            <a:off x="365760" y="3145536"/>
            <a:ext cx="85344" cy="1645920"/>
          </a:xfrm>
          <a:prstGeom prst="rect">
            <a:avLst/>
          </a:prstGeom>
          <a:solidFill>
            <a:srgbClr val="142966"/>
          </a:solidFill>
          <a:ln w="12700">
            <a:solidFill>
              <a:srgbClr val="142966"/>
            </a:solidFill>
            <a:prstDash val="solid"/>
          </a:ln>
        </p:spPr>
      </p:sp>
      <p:sp>
        <p:nvSpPr>
          <p:cNvPr id="11" name="Text 9"/>
          <p:cNvSpPr/>
          <p:nvPr/>
        </p:nvSpPr>
        <p:spPr>
          <a:xfrm>
            <a:off x="548640" y="3291840"/>
            <a:ext cx="5242560" cy="390144"/>
          </a:xfrm>
          <a:prstGeom prst="rect">
            <a:avLst/>
          </a:prstGeom>
          <a:noFill/>
          <a:ln/>
        </p:spPr>
        <p:txBody>
          <a:bodyPr wrap="square" lIns="0" tIns="0" rIns="0" bIns="0" rtlCol="0" anchor="ctr"/>
          <a:lstStyle/>
          <a:p>
            <a:r>
              <a:rPr lang="en-US" sz="1467" b="1" dirty="0">
                <a:solidFill>
                  <a:srgbClr val="142966"/>
                </a:solidFill>
              </a:rPr>
              <a:t>Calibration &amp; Abstention</a:t>
            </a:r>
            <a:endParaRPr lang="en-US" sz="1467" dirty="0"/>
          </a:p>
        </p:txBody>
      </p:sp>
      <p:sp>
        <p:nvSpPr>
          <p:cNvPr id="12" name="Text 10"/>
          <p:cNvSpPr/>
          <p:nvPr/>
        </p:nvSpPr>
        <p:spPr>
          <a:xfrm>
            <a:off x="548640" y="3694176"/>
            <a:ext cx="5242560" cy="975360"/>
          </a:xfrm>
          <a:prstGeom prst="rect">
            <a:avLst/>
          </a:prstGeom>
          <a:noFill/>
          <a:ln/>
        </p:spPr>
        <p:txBody>
          <a:bodyPr wrap="square" lIns="0" tIns="0" rIns="0" bIns="0" rtlCol="0" anchor="ctr"/>
          <a:lstStyle/>
          <a:p>
            <a:r>
              <a:rPr lang="en-US" sz="1333" dirty="0">
                <a:solidFill>
                  <a:srgbClr val="0A1430"/>
                </a:solidFill>
              </a:rPr>
              <a:t>Most systems produce a best span even when uncertain. Practical deployment needs explicit refusal behavior and calibrated confidence thresholds.</a:t>
            </a:r>
            <a:endParaRPr lang="en-US" sz="1333" dirty="0"/>
          </a:p>
        </p:txBody>
      </p:sp>
      <p:sp>
        <p:nvSpPr>
          <p:cNvPr id="13" name="Shape 11"/>
          <p:cNvSpPr/>
          <p:nvPr/>
        </p:nvSpPr>
        <p:spPr>
          <a:xfrm>
            <a:off x="365760" y="4888992"/>
            <a:ext cx="5486400" cy="1645920"/>
          </a:xfrm>
          <a:prstGeom prst="rect">
            <a:avLst/>
          </a:prstGeom>
          <a:solidFill>
            <a:srgbClr val="FFFFFF"/>
          </a:solidFill>
          <a:ln/>
          <a:effectLst>
            <a:outerShdw blurRad="76200" dist="25400" dir="8100000" algn="bl" rotWithShape="0">
              <a:srgbClr val="000000">
                <a:alpha val="10000"/>
              </a:srgbClr>
            </a:outerShdw>
          </a:effectLst>
        </p:spPr>
      </p:sp>
      <p:sp>
        <p:nvSpPr>
          <p:cNvPr id="14" name="Shape 12"/>
          <p:cNvSpPr/>
          <p:nvPr/>
        </p:nvSpPr>
        <p:spPr>
          <a:xfrm>
            <a:off x="365760" y="4888992"/>
            <a:ext cx="85344" cy="1645920"/>
          </a:xfrm>
          <a:prstGeom prst="rect">
            <a:avLst/>
          </a:prstGeom>
          <a:solidFill>
            <a:srgbClr val="1B7FBF"/>
          </a:solidFill>
          <a:ln w="12700">
            <a:solidFill>
              <a:srgbClr val="1B7FBF"/>
            </a:solidFill>
            <a:prstDash val="solid"/>
          </a:ln>
        </p:spPr>
      </p:sp>
      <p:sp>
        <p:nvSpPr>
          <p:cNvPr id="15" name="Text 13"/>
          <p:cNvSpPr/>
          <p:nvPr/>
        </p:nvSpPr>
        <p:spPr>
          <a:xfrm>
            <a:off x="548640" y="5035296"/>
            <a:ext cx="5242560" cy="390144"/>
          </a:xfrm>
          <a:prstGeom prst="rect">
            <a:avLst/>
          </a:prstGeom>
          <a:noFill/>
          <a:ln/>
        </p:spPr>
        <p:txBody>
          <a:bodyPr wrap="square" lIns="0" tIns="0" rIns="0" bIns="0" rtlCol="0" anchor="ctr"/>
          <a:lstStyle/>
          <a:p>
            <a:r>
              <a:rPr lang="en-US" sz="1467" b="1" dirty="0">
                <a:solidFill>
                  <a:srgbClr val="142966"/>
                </a:solidFill>
              </a:rPr>
              <a:t>Discontinuous Arguments</a:t>
            </a:r>
            <a:endParaRPr lang="en-US" sz="1467" dirty="0"/>
          </a:p>
        </p:txBody>
      </p:sp>
      <p:sp>
        <p:nvSpPr>
          <p:cNvPr id="16" name="Text 14"/>
          <p:cNvSpPr/>
          <p:nvPr/>
        </p:nvSpPr>
        <p:spPr>
          <a:xfrm>
            <a:off x="548640" y="5437632"/>
            <a:ext cx="5242560" cy="975360"/>
          </a:xfrm>
          <a:prstGeom prst="rect">
            <a:avLst/>
          </a:prstGeom>
          <a:noFill/>
          <a:ln/>
        </p:spPr>
        <p:txBody>
          <a:bodyPr wrap="square" lIns="0" tIns="0" rIns="0" bIns="0" rtlCol="0" anchor="ctr"/>
          <a:lstStyle/>
          <a:p>
            <a:r>
              <a:rPr lang="en-US" sz="1333" dirty="0">
                <a:solidFill>
                  <a:srgbClr val="0A1430"/>
                </a:solidFill>
              </a:rPr>
              <a:t>Extractive assumptions miss a meaningful fraction of semantic space. Nested and discontinuous argument structures remain unsolved.</a:t>
            </a:r>
            <a:endParaRPr lang="en-US" sz="1333" dirty="0"/>
          </a:p>
        </p:txBody>
      </p:sp>
      <p:sp>
        <p:nvSpPr>
          <p:cNvPr id="17" name="Shape 15"/>
          <p:cNvSpPr/>
          <p:nvPr/>
        </p:nvSpPr>
        <p:spPr>
          <a:xfrm>
            <a:off x="6156960" y="1402080"/>
            <a:ext cx="5486400" cy="1645920"/>
          </a:xfrm>
          <a:prstGeom prst="rect">
            <a:avLst/>
          </a:prstGeom>
          <a:solidFill>
            <a:srgbClr val="FFFFFF"/>
          </a:solidFill>
          <a:ln/>
          <a:effectLst>
            <a:outerShdw blurRad="76200" dist="25400" dir="8100000" algn="bl" rotWithShape="0">
              <a:srgbClr val="000000">
                <a:alpha val="10000"/>
              </a:srgbClr>
            </a:outerShdw>
          </a:effectLst>
        </p:spPr>
      </p:sp>
      <p:sp>
        <p:nvSpPr>
          <p:cNvPr id="18" name="Shape 16"/>
          <p:cNvSpPr/>
          <p:nvPr/>
        </p:nvSpPr>
        <p:spPr>
          <a:xfrm>
            <a:off x="6156960" y="1402080"/>
            <a:ext cx="85344" cy="1645920"/>
          </a:xfrm>
          <a:prstGeom prst="rect">
            <a:avLst/>
          </a:prstGeom>
          <a:solidFill>
            <a:srgbClr val="F4A325"/>
          </a:solidFill>
          <a:ln w="12700">
            <a:solidFill>
              <a:srgbClr val="F4A325"/>
            </a:solidFill>
            <a:prstDash val="solid"/>
          </a:ln>
        </p:spPr>
      </p:sp>
      <p:sp>
        <p:nvSpPr>
          <p:cNvPr id="19" name="Text 17"/>
          <p:cNvSpPr/>
          <p:nvPr/>
        </p:nvSpPr>
        <p:spPr>
          <a:xfrm>
            <a:off x="6339840" y="1548384"/>
            <a:ext cx="5242560" cy="390144"/>
          </a:xfrm>
          <a:prstGeom prst="rect">
            <a:avLst/>
          </a:prstGeom>
          <a:noFill/>
          <a:ln/>
        </p:spPr>
        <p:txBody>
          <a:bodyPr wrap="square" lIns="0" tIns="0" rIns="0" bIns="0" rtlCol="0" anchor="ctr"/>
          <a:lstStyle/>
          <a:p>
            <a:r>
              <a:rPr lang="en-US" sz="1467" b="1" dirty="0">
                <a:solidFill>
                  <a:srgbClr val="142966"/>
                </a:solidFill>
              </a:rPr>
              <a:t>Evaluation Philosophy</a:t>
            </a:r>
            <a:endParaRPr lang="en-US" sz="1467" dirty="0"/>
          </a:p>
        </p:txBody>
      </p:sp>
      <p:sp>
        <p:nvSpPr>
          <p:cNvPr id="20" name="Text 18"/>
          <p:cNvSpPr/>
          <p:nvPr/>
        </p:nvSpPr>
        <p:spPr>
          <a:xfrm>
            <a:off x="6339840" y="1950720"/>
            <a:ext cx="5242560" cy="975360"/>
          </a:xfrm>
          <a:prstGeom prst="rect">
            <a:avLst/>
          </a:prstGeom>
          <a:noFill/>
          <a:ln/>
        </p:spPr>
        <p:txBody>
          <a:bodyPr wrap="square" lIns="0" tIns="0" rIns="0" bIns="0" rtlCol="0" anchor="ctr"/>
          <a:lstStyle/>
          <a:p>
            <a:r>
              <a:rPr lang="en-US" sz="1333" dirty="0">
                <a:solidFill>
                  <a:srgbClr val="0A1430"/>
                </a:solidFill>
              </a:rPr>
              <a:t>Exact match and token F1 don't reveal whether the right predicate frame was chosen, or whether the span is semantically justified under paraphrase.</a:t>
            </a:r>
            <a:endParaRPr lang="en-US" sz="1333" dirty="0"/>
          </a:p>
        </p:txBody>
      </p:sp>
      <p:sp>
        <p:nvSpPr>
          <p:cNvPr id="21" name="Shape 19"/>
          <p:cNvSpPr/>
          <p:nvPr/>
        </p:nvSpPr>
        <p:spPr>
          <a:xfrm>
            <a:off x="6156960" y="3145536"/>
            <a:ext cx="5486400" cy="1645920"/>
          </a:xfrm>
          <a:prstGeom prst="rect">
            <a:avLst/>
          </a:prstGeom>
          <a:solidFill>
            <a:srgbClr val="FFFFFF"/>
          </a:solidFill>
          <a:ln/>
          <a:effectLst>
            <a:outerShdw blurRad="76200" dist="25400" dir="8100000" algn="bl" rotWithShape="0">
              <a:srgbClr val="000000">
                <a:alpha val="10000"/>
              </a:srgbClr>
            </a:outerShdw>
          </a:effectLst>
        </p:spPr>
      </p:sp>
      <p:sp>
        <p:nvSpPr>
          <p:cNvPr id="22" name="Shape 20"/>
          <p:cNvSpPr/>
          <p:nvPr/>
        </p:nvSpPr>
        <p:spPr>
          <a:xfrm>
            <a:off x="6156960" y="3145536"/>
            <a:ext cx="85344" cy="1645920"/>
          </a:xfrm>
          <a:prstGeom prst="rect">
            <a:avLst/>
          </a:prstGeom>
          <a:solidFill>
            <a:srgbClr val="142966"/>
          </a:solidFill>
          <a:ln w="12700">
            <a:solidFill>
              <a:srgbClr val="142966"/>
            </a:solidFill>
            <a:prstDash val="solid"/>
          </a:ln>
        </p:spPr>
      </p:sp>
      <p:sp>
        <p:nvSpPr>
          <p:cNvPr id="23" name="Text 21"/>
          <p:cNvSpPr/>
          <p:nvPr/>
        </p:nvSpPr>
        <p:spPr>
          <a:xfrm>
            <a:off x="6339840" y="3291840"/>
            <a:ext cx="5242560" cy="390144"/>
          </a:xfrm>
          <a:prstGeom prst="rect">
            <a:avLst/>
          </a:prstGeom>
          <a:noFill/>
          <a:ln/>
        </p:spPr>
        <p:txBody>
          <a:bodyPr wrap="square" lIns="0" tIns="0" rIns="0" bIns="0" rtlCol="0" anchor="ctr"/>
          <a:lstStyle/>
          <a:p>
            <a:r>
              <a:rPr lang="en-US" sz="1467" b="1" dirty="0">
                <a:solidFill>
                  <a:srgbClr val="142966"/>
                </a:solidFill>
              </a:rPr>
              <a:t>Multilingual &amp; Low-resource</a:t>
            </a:r>
            <a:endParaRPr lang="en-US" sz="1467" dirty="0"/>
          </a:p>
        </p:txBody>
      </p:sp>
      <p:sp>
        <p:nvSpPr>
          <p:cNvPr id="24" name="Text 22"/>
          <p:cNvSpPr/>
          <p:nvPr/>
        </p:nvSpPr>
        <p:spPr>
          <a:xfrm>
            <a:off x="6339840" y="3694176"/>
            <a:ext cx="5242560" cy="975360"/>
          </a:xfrm>
          <a:prstGeom prst="rect">
            <a:avLst/>
          </a:prstGeom>
          <a:noFill/>
          <a:ln/>
        </p:spPr>
        <p:txBody>
          <a:bodyPr wrap="square" lIns="0" tIns="0" rIns="0" bIns="0" rtlCol="0" anchor="ctr"/>
          <a:lstStyle/>
          <a:p>
            <a:r>
              <a:rPr lang="en-US" sz="1333" dirty="0">
                <a:solidFill>
                  <a:srgbClr val="0A1430"/>
                </a:solidFill>
              </a:rPr>
              <a:t>PropBank annotation has spread across languages but QA-based semantic interfaces are still largely Anglocentric.</a:t>
            </a:r>
            <a:endParaRPr lang="en-US" sz="1333" dirty="0"/>
          </a:p>
        </p:txBody>
      </p:sp>
      <p:sp>
        <p:nvSpPr>
          <p:cNvPr id="25" name="Shape 23"/>
          <p:cNvSpPr/>
          <p:nvPr/>
        </p:nvSpPr>
        <p:spPr>
          <a:xfrm>
            <a:off x="6156960" y="4888992"/>
            <a:ext cx="5486400" cy="1645920"/>
          </a:xfrm>
          <a:prstGeom prst="rect">
            <a:avLst/>
          </a:prstGeom>
          <a:solidFill>
            <a:srgbClr val="FFFFFF"/>
          </a:solidFill>
          <a:ln/>
          <a:effectLst>
            <a:outerShdw blurRad="76200" dist="25400" dir="8100000" algn="bl" rotWithShape="0">
              <a:srgbClr val="000000">
                <a:alpha val="10000"/>
              </a:srgbClr>
            </a:outerShdw>
          </a:effectLst>
        </p:spPr>
      </p:sp>
      <p:sp>
        <p:nvSpPr>
          <p:cNvPr id="26" name="Shape 24"/>
          <p:cNvSpPr/>
          <p:nvPr/>
        </p:nvSpPr>
        <p:spPr>
          <a:xfrm>
            <a:off x="6156960" y="4888992"/>
            <a:ext cx="85344" cy="1645920"/>
          </a:xfrm>
          <a:prstGeom prst="rect">
            <a:avLst/>
          </a:prstGeom>
          <a:solidFill>
            <a:srgbClr val="0FA3B1"/>
          </a:solidFill>
          <a:ln w="12700">
            <a:solidFill>
              <a:srgbClr val="0FA3B1"/>
            </a:solidFill>
            <a:prstDash val="solid"/>
          </a:ln>
        </p:spPr>
      </p:sp>
      <p:sp>
        <p:nvSpPr>
          <p:cNvPr id="27" name="Text 25"/>
          <p:cNvSpPr/>
          <p:nvPr/>
        </p:nvSpPr>
        <p:spPr>
          <a:xfrm>
            <a:off x="6339840" y="5035296"/>
            <a:ext cx="5242560" cy="390144"/>
          </a:xfrm>
          <a:prstGeom prst="rect">
            <a:avLst/>
          </a:prstGeom>
          <a:noFill/>
          <a:ln/>
        </p:spPr>
        <p:txBody>
          <a:bodyPr wrap="square" lIns="0" tIns="0" rIns="0" bIns="0" rtlCol="0" anchor="ctr"/>
          <a:lstStyle/>
          <a:p>
            <a:r>
              <a:rPr lang="en-US" sz="1467" b="1" dirty="0">
                <a:solidFill>
                  <a:srgbClr val="142966"/>
                </a:solidFill>
              </a:rPr>
              <a:t>Tooling &amp; Reproducibility</a:t>
            </a:r>
            <a:endParaRPr lang="en-US" sz="1467" dirty="0"/>
          </a:p>
        </p:txBody>
      </p:sp>
      <p:sp>
        <p:nvSpPr>
          <p:cNvPr id="28" name="Text 26"/>
          <p:cNvSpPr/>
          <p:nvPr/>
        </p:nvSpPr>
        <p:spPr>
          <a:xfrm>
            <a:off x="6339840" y="5437632"/>
            <a:ext cx="5242560" cy="975360"/>
          </a:xfrm>
          <a:prstGeom prst="rect">
            <a:avLst/>
          </a:prstGeom>
          <a:noFill/>
          <a:ln/>
        </p:spPr>
        <p:txBody>
          <a:bodyPr wrap="square" lIns="0" tIns="0" rIns="0" bIns="0" rtlCol="0" anchor="ctr"/>
          <a:lstStyle/>
          <a:p>
            <a:r>
              <a:rPr lang="en-US" sz="1333" dirty="0">
                <a:solidFill>
                  <a:srgbClr val="0A1430"/>
                </a:solidFill>
              </a:rPr>
              <a:t>Academic papers assume large pretrained models; reproducible semantic pipelines still require careful corpus interfaces and span recoverability.</a:t>
            </a:r>
            <a:endParaRPr lang="en-US" sz="1333" dirty="0"/>
          </a:p>
        </p:txBody>
      </p:sp>
    </p:spTree>
    <p:extLst>
      <p:ext uri="{BB962C8B-B14F-4D97-AF65-F5344CB8AC3E}">
        <p14:creationId xmlns:p14="http://schemas.microsoft.com/office/powerpoint/2010/main" val="1153456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0D1F4E"/>
        </a:solidFill>
        <a:effectLst/>
      </p:bgPr>
    </p:bg>
    <p:spTree>
      <p:nvGrpSpPr>
        <p:cNvPr id="1" name=""/>
        <p:cNvGrpSpPr/>
        <p:nvPr/>
      </p:nvGrpSpPr>
      <p:grpSpPr>
        <a:xfrm>
          <a:off x="0" y="0"/>
          <a:ext cx="0" cy="0"/>
          <a:chOff x="0" y="0"/>
          <a:chExt cx="0" cy="0"/>
        </a:xfrm>
      </p:grpSpPr>
      <p:sp>
        <p:nvSpPr>
          <p:cNvPr id="2" name="Shape 0"/>
          <p:cNvSpPr/>
          <p:nvPr/>
        </p:nvSpPr>
        <p:spPr>
          <a:xfrm>
            <a:off x="0" y="0"/>
            <a:ext cx="12192000" cy="463296"/>
          </a:xfrm>
          <a:prstGeom prst="rect">
            <a:avLst/>
          </a:prstGeom>
          <a:solidFill>
            <a:srgbClr val="F4A325"/>
          </a:solidFill>
          <a:ln w="12700">
            <a:solidFill>
              <a:srgbClr val="F4A325"/>
            </a:solidFill>
            <a:prstDash val="solid"/>
          </a:ln>
        </p:spPr>
      </p:sp>
      <p:sp>
        <p:nvSpPr>
          <p:cNvPr id="3" name="Text 1"/>
          <p:cNvSpPr/>
          <p:nvPr/>
        </p:nvSpPr>
        <p:spPr>
          <a:xfrm>
            <a:off x="365760" y="0"/>
            <a:ext cx="10972800" cy="463296"/>
          </a:xfrm>
          <a:prstGeom prst="rect">
            <a:avLst/>
          </a:prstGeom>
          <a:noFill/>
          <a:ln/>
        </p:spPr>
        <p:txBody>
          <a:bodyPr wrap="square" lIns="0" tIns="0" rIns="0" bIns="0" rtlCol="0" anchor="ctr"/>
          <a:lstStyle/>
          <a:p>
            <a:r>
              <a:rPr lang="en-US" sz="1333" b="1" kern="0" spc="400" dirty="0">
                <a:solidFill>
                  <a:srgbClr val="0A1430"/>
                </a:solidFill>
              </a:rPr>
              <a:t>INNOVATION 1 — ALGORITHMIC</a:t>
            </a:r>
            <a:endParaRPr lang="en-US" sz="1333" dirty="0"/>
          </a:p>
        </p:txBody>
      </p:sp>
      <p:sp>
        <p:nvSpPr>
          <p:cNvPr id="4" name="Text 2"/>
          <p:cNvSpPr/>
          <p:nvPr/>
        </p:nvSpPr>
        <p:spPr>
          <a:xfrm>
            <a:off x="548640" y="609600"/>
            <a:ext cx="11094720" cy="792480"/>
          </a:xfrm>
          <a:prstGeom prst="rect">
            <a:avLst/>
          </a:prstGeom>
          <a:noFill/>
          <a:ln/>
        </p:spPr>
        <p:txBody>
          <a:bodyPr wrap="square" rtlCol="0" anchor="ctr"/>
          <a:lstStyle/>
          <a:p>
            <a:r>
              <a:rPr lang="en-US" sz="3733" b="1" dirty="0">
                <a:solidFill>
                  <a:srgbClr val="FFFFFF"/>
                </a:solidFill>
                <a:latin typeface="Calibri" pitchFamily="34" charset="0"/>
                <a:ea typeface="Calibri" pitchFamily="34" charset="-122"/>
                <a:cs typeface="Calibri" pitchFamily="34" charset="-120"/>
              </a:rPr>
              <a:t>Frame-Aware Predicate Disambiguation</a:t>
            </a:r>
            <a:endParaRPr lang="en-US" sz="3733" dirty="0"/>
          </a:p>
        </p:txBody>
      </p:sp>
      <p:pic>
        <p:nvPicPr>
          <p:cNvPr id="5" name="Image 0" descr="preencoded.png"/>
          <p:cNvPicPr>
            <a:picLocks noChangeAspect="1"/>
          </p:cNvPicPr>
          <p:nvPr/>
        </p:nvPicPr>
        <p:blipFill>
          <a:blip r:embed="rId3"/>
          <a:stretch>
            <a:fillRect/>
          </a:stretch>
        </p:blipFill>
        <p:spPr>
          <a:xfrm>
            <a:off x="365760" y="1524000"/>
            <a:ext cx="6705600" cy="3779520"/>
          </a:xfrm>
          <a:prstGeom prst="rect">
            <a:avLst/>
          </a:prstGeom>
        </p:spPr>
      </p:pic>
      <p:sp>
        <p:nvSpPr>
          <p:cNvPr id="6" name="Text 3"/>
          <p:cNvSpPr/>
          <p:nvPr/>
        </p:nvSpPr>
        <p:spPr>
          <a:xfrm>
            <a:off x="7437120" y="1524000"/>
            <a:ext cx="4328160" cy="4632960"/>
          </a:xfrm>
          <a:prstGeom prst="rect">
            <a:avLst/>
          </a:prstGeom>
          <a:noFill/>
          <a:ln/>
        </p:spPr>
        <p:txBody>
          <a:bodyPr wrap="square" lIns="1355" tIns="1355" rIns="1355" bIns="1355" rtlCol="0" anchor="t"/>
          <a:lstStyle/>
          <a:p>
            <a:pPr marL="457189" indent="-457189">
              <a:buSzPct val="100000"/>
              <a:buChar char="•"/>
            </a:pPr>
            <a:r>
              <a:rPr lang="en-US" sz="1467" dirty="0">
                <a:solidFill>
                  <a:srgbClr val="D8E6FF"/>
                </a:solidFill>
              </a:rPr>
              <a:t>Problem: isolated predicate embeddings cannot resolve ambiguous verbs like 'charge', 'leave', or 'hold'</a:t>
            </a:r>
            <a:endParaRPr lang="en-US" sz="1467" dirty="0"/>
          </a:p>
          <a:p>
            <a:pPr marL="457189" indent="-457189">
              <a:buSzPct val="100000"/>
              <a:buChar char="•"/>
            </a:pPr>
            <a:r>
              <a:rPr lang="en-US" sz="1467" dirty="0">
                <a:solidFill>
                  <a:srgbClr val="D8E6FF"/>
                </a:solidFill>
              </a:rPr>
              <a:t>Solution: replace with roleset memory — key-value pairs encoding role descriptions, glosses, paraphrases</a:t>
            </a:r>
            <a:endParaRPr lang="en-US" sz="1467" dirty="0"/>
          </a:p>
          <a:p>
            <a:pPr marL="457189" indent="-457189">
              <a:buSzPct val="100000"/>
              <a:buChar char="•"/>
            </a:pPr>
            <a:r>
              <a:rPr lang="en-US" sz="1467" dirty="0">
                <a:solidFill>
                  <a:srgbClr val="D8E6FF"/>
                </a:solidFill>
              </a:rPr>
              <a:t>Mechanism: attention over roleset memory during decoding → soft semantic constraints</a:t>
            </a:r>
            <a:endParaRPr lang="en-US" sz="1467" dirty="0"/>
          </a:p>
          <a:p>
            <a:pPr marL="457189" indent="-457189">
              <a:buSzPct val="100000"/>
              <a:buChar char="•"/>
            </a:pPr>
            <a:r>
              <a:rPr lang="en-US" sz="1467" dirty="0">
                <a:solidFill>
                  <a:srgbClr val="D8E6FF"/>
                </a:solidFill>
              </a:rPr>
              <a:t>Benefit: lightweight upgrade — frame files already exist in PropBank</a:t>
            </a:r>
            <a:endParaRPr lang="en-US" sz="1467" dirty="0"/>
          </a:p>
          <a:p>
            <a:pPr marL="457189" indent="-457189">
              <a:buSzPct val="100000"/>
              <a:buChar char="•"/>
            </a:pPr>
            <a:r>
              <a:rPr lang="en-US" sz="1467" dirty="0">
                <a:solidFill>
                  <a:srgbClr val="D8E6FF"/>
                </a:solidFill>
              </a:rPr>
              <a:t>Extension: semantic frame chaining links predicates as nodes in a document graph via shared args + coreference</a:t>
            </a:r>
            <a:endParaRPr lang="en-US" sz="1467" dirty="0"/>
          </a:p>
        </p:txBody>
      </p:sp>
    </p:spTree>
    <p:extLst>
      <p:ext uri="{BB962C8B-B14F-4D97-AF65-F5344CB8AC3E}">
        <p14:creationId xmlns:p14="http://schemas.microsoft.com/office/powerpoint/2010/main" val="364702166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463296"/>
          </a:xfrm>
          <a:prstGeom prst="rect">
            <a:avLst/>
          </a:prstGeom>
          <a:solidFill>
            <a:srgbClr val="1B7FBF"/>
          </a:solidFill>
          <a:ln w="12700">
            <a:solidFill>
              <a:srgbClr val="1B7FBF"/>
            </a:solidFill>
            <a:prstDash val="solid"/>
          </a:ln>
        </p:spPr>
      </p:sp>
      <p:sp>
        <p:nvSpPr>
          <p:cNvPr id="3" name="Text 1"/>
          <p:cNvSpPr/>
          <p:nvPr/>
        </p:nvSpPr>
        <p:spPr>
          <a:xfrm>
            <a:off x="365760" y="0"/>
            <a:ext cx="10972800" cy="463296"/>
          </a:xfrm>
          <a:prstGeom prst="rect">
            <a:avLst/>
          </a:prstGeom>
          <a:noFill/>
          <a:ln/>
        </p:spPr>
        <p:txBody>
          <a:bodyPr wrap="square" lIns="0" tIns="0" rIns="0" bIns="0" rtlCol="0" anchor="ctr"/>
          <a:lstStyle/>
          <a:p>
            <a:r>
              <a:rPr lang="en-US" sz="1333" b="1" kern="0" spc="400" dirty="0">
                <a:solidFill>
                  <a:srgbClr val="FFFFFF"/>
                </a:solidFill>
              </a:rPr>
              <a:t>INNOVATION 2 — SYSTEM LEVEL</a:t>
            </a:r>
            <a:endParaRPr lang="en-US" sz="1333" dirty="0"/>
          </a:p>
        </p:txBody>
      </p:sp>
      <p:sp>
        <p:nvSpPr>
          <p:cNvPr id="4" name="Text 2"/>
          <p:cNvSpPr/>
          <p:nvPr/>
        </p:nvSpPr>
        <p:spPr>
          <a:xfrm>
            <a:off x="548640" y="609600"/>
            <a:ext cx="11094720" cy="853440"/>
          </a:xfrm>
          <a:prstGeom prst="rect">
            <a:avLst/>
          </a:prstGeom>
          <a:noFill/>
          <a:ln/>
        </p:spPr>
        <p:txBody>
          <a:bodyPr wrap="square" lIns="0" tIns="0" rIns="0" bIns="0" rtlCol="0" anchor="ctr"/>
          <a:lstStyle/>
          <a:p>
            <a:r>
              <a:rPr lang="en-US" sz="3467" b="1" dirty="0">
                <a:solidFill>
                  <a:srgbClr val="142966"/>
                </a:solidFill>
                <a:latin typeface="Calibri" pitchFamily="34" charset="0"/>
                <a:ea typeface="Calibri" pitchFamily="34" charset="-122"/>
                <a:cs typeface="Calibri" pitchFamily="34" charset="-120"/>
              </a:rPr>
              <a:t>PropAgent: Automated SRL-QA Workflow</a:t>
            </a:r>
            <a:endParaRPr lang="en-US" sz="3467" dirty="0"/>
          </a:p>
        </p:txBody>
      </p:sp>
      <p:sp>
        <p:nvSpPr>
          <p:cNvPr id="5" name="Shape 3"/>
          <p:cNvSpPr/>
          <p:nvPr/>
        </p:nvSpPr>
        <p:spPr>
          <a:xfrm>
            <a:off x="304800" y="1463040"/>
            <a:ext cx="1316736" cy="731520"/>
          </a:xfrm>
          <a:prstGeom prst="rect">
            <a:avLst/>
          </a:prstGeom>
          <a:solidFill>
            <a:srgbClr val="0FA3B1"/>
          </a:solidFill>
          <a:ln w="12700">
            <a:solidFill>
              <a:srgbClr val="0FA3B1"/>
            </a:solidFill>
            <a:prstDash val="solid"/>
          </a:ln>
        </p:spPr>
      </p:sp>
      <p:sp>
        <p:nvSpPr>
          <p:cNvPr id="6" name="Text 4"/>
          <p:cNvSpPr/>
          <p:nvPr/>
        </p:nvSpPr>
        <p:spPr>
          <a:xfrm>
            <a:off x="304800" y="1463040"/>
            <a:ext cx="1316736" cy="731520"/>
          </a:xfrm>
          <a:prstGeom prst="rect">
            <a:avLst/>
          </a:prstGeom>
          <a:noFill/>
          <a:ln/>
        </p:spPr>
        <p:txBody>
          <a:bodyPr wrap="square" lIns="0" tIns="0" rIns="0" bIns="0" rtlCol="0" anchor="ctr"/>
          <a:lstStyle/>
          <a:p>
            <a:pPr algn="ctr"/>
            <a:r>
              <a:rPr lang="en-US" sz="1133" b="1" dirty="0">
                <a:solidFill>
                  <a:srgbClr val="FFFFFF"/>
                </a:solidFill>
              </a:rPr>
              <a:t>IngestAgent</a:t>
            </a:r>
            <a:endParaRPr lang="en-US" sz="1133" dirty="0"/>
          </a:p>
        </p:txBody>
      </p:sp>
      <p:sp>
        <p:nvSpPr>
          <p:cNvPr id="7" name="Shape 5"/>
          <p:cNvSpPr/>
          <p:nvPr/>
        </p:nvSpPr>
        <p:spPr>
          <a:xfrm>
            <a:off x="1621536" y="1828800"/>
            <a:ext cx="134112" cy="0"/>
          </a:xfrm>
          <a:prstGeom prst="line">
            <a:avLst/>
          </a:prstGeom>
          <a:noFill/>
          <a:ln w="19050">
            <a:solidFill>
              <a:srgbClr val="142966"/>
            </a:solidFill>
            <a:prstDash val="solid"/>
          </a:ln>
        </p:spPr>
      </p:sp>
      <p:sp>
        <p:nvSpPr>
          <p:cNvPr id="8" name="Shape 6"/>
          <p:cNvSpPr/>
          <p:nvPr/>
        </p:nvSpPr>
        <p:spPr>
          <a:xfrm>
            <a:off x="1755648" y="1463040"/>
            <a:ext cx="1316736" cy="731520"/>
          </a:xfrm>
          <a:prstGeom prst="rect">
            <a:avLst/>
          </a:prstGeom>
          <a:solidFill>
            <a:srgbClr val="1B7FBF"/>
          </a:solidFill>
          <a:ln w="12700">
            <a:solidFill>
              <a:srgbClr val="1B7FBF"/>
            </a:solidFill>
            <a:prstDash val="solid"/>
          </a:ln>
        </p:spPr>
      </p:sp>
      <p:sp>
        <p:nvSpPr>
          <p:cNvPr id="9" name="Text 7"/>
          <p:cNvSpPr/>
          <p:nvPr/>
        </p:nvSpPr>
        <p:spPr>
          <a:xfrm>
            <a:off x="1755648" y="1463040"/>
            <a:ext cx="1316736" cy="731520"/>
          </a:xfrm>
          <a:prstGeom prst="rect">
            <a:avLst/>
          </a:prstGeom>
          <a:noFill/>
          <a:ln/>
        </p:spPr>
        <p:txBody>
          <a:bodyPr wrap="square" lIns="0" tIns="0" rIns="0" bIns="0" rtlCol="0" anchor="ctr"/>
          <a:lstStyle/>
          <a:p>
            <a:pPr algn="ctr"/>
            <a:r>
              <a:rPr lang="en-US" sz="1133" b="1" dirty="0">
                <a:solidFill>
                  <a:srgbClr val="FFFFFF"/>
                </a:solidFill>
              </a:rPr>
              <a:t>ParseAgent</a:t>
            </a:r>
            <a:endParaRPr lang="en-US" sz="1133" dirty="0"/>
          </a:p>
        </p:txBody>
      </p:sp>
      <p:sp>
        <p:nvSpPr>
          <p:cNvPr id="10" name="Shape 8"/>
          <p:cNvSpPr/>
          <p:nvPr/>
        </p:nvSpPr>
        <p:spPr>
          <a:xfrm>
            <a:off x="3072384" y="1828800"/>
            <a:ext cx="134112" cy="0"/>
          </a:xfrm>
          <a:prstGeom prst="line">
            <a:avLst/>
          </a:prstGeom>
          <a:noFill/>
          <a:ln w="19050">
            <a:solidFill>
              <a:srgbClr val="142966"/>
            </a:solidFill>
            <a:prstDash val="solid"/>
          </a:ln>
        </p:spPr>
      </p:sp>
      <p:sp>
        <p:nvSpPr>
          <p:cNvPr id="11" name="Shape 9"/>
          <p:cNvSpPr/>
          <p:nvPr/>
        </p:nvSpPr>
        <p:spPr>
          <a:xfrm>
            <a:off x="3206496" y="1463040"/>
            <a:ext cx="1316736" cy="731520"/>
          </a:xfrm>
          <a:prstGeom prst="rect">
            <a:avLst/>
          </a:prstGeom>
          <a:solidFill>
            <a:srgbClr val="142966"/>
          </a:solidFill>
          <a:ln w="12700">
            <a:solidFill>
              <a:srgbClr val="142966"/>
            </a:solidFill>
            <a:prstDash val="solid"/>
          </a:ln>
        </p:spPr>
      </p:sp>
      <p:sp>
        <p:nvSpPr>
          <p:cNvPr id="12" name="Text 10"/>
          <p:cNvSpPr/>
          <p:nvPr/>
        </p:nvSpPr>
        <p:spPr>
          <a:xfrm>
            <a:off x="3206496" y="1463040"/>
            <a:ext cx="1316736" cy="731520"/>
          </a:xfrm>
          <a:prstGeom prst="rect">
            <a:avLst/>
          </a:prstGeom>
          <a:noFill/>
          <a:ln/>
        </p:spPr>
        <p:txBody>
          <a:bodyPr wrap="square" lIns="0" tIns="0" rIns="0" bIns="0" rtlCol="0" anchor="ctr"/>
          <a:lstStyle/>
          <a:p>
            <a:pPr algn="ctr"/>
            <a:r>
              <a:rPr lang="en-US" sz="1133" b="1" dirty="0">
                <a:solidFill>
                  <a:srgbClr val="FFFFFF"/>
                </a:solidFill>
              </a:rPr>
              <a:t>SRLAgent</a:t>
            </a:r>
            <a:endParaRPr lang="en-US" sz="1133" dirty="0"/>
          </a:p>
        </p:txBody>
      </p:sp>
      <p:sp>
        <p:nvSpPr>
          <p:cNvPr id="13" name="Shape 11"/>
          <p:cNvSpPr/>
          <p:nvPr/>
        </p:nvSpPr>
        <p:spPr>
          <a:xfrm>
            <a:off x="4523232" y="1828800"/>
            <a:ext cx="134112" cy="0"/>
          </a:xfrm>
          <a:prstGeom prst="line">
            <a:avLst/>
          </a:prstGeom>
          <a:noFill/>
          <a:ln w="19050">
            <a:solidFill>
              <a:srgbClr val="142966"/>
            </a:solidFill>
            <a:prstDash val="solid"/>
          </a:ln>
        </p:spPr>
      </p:sp>
      <p:sp>
        <p:nvSpPr>
          <p:cNvPr id="14" name="Shape 12"/>
          <p:cNvSpPr/>
          <p:nvPr/>
        </p:nvSpPr>
        <p:spPr>
          <a:xfrm>
            <a:off x="4657344" y="1463040"/>
            <a:ext cx="1316736" cy="731520"/>
          </a:xfrm>
          <a:prstGeom prst="rect">
            <a:avLst/>
          </a:prstGeom>
          <a:solidFill>
            <a:srgbClr val="0FA3B1"/>
          </a:solidFill>
          <a:ln w="12700">
            <a:solidFill>
              <a:srgbClr val="0FA3B1"/>
            </a:solidFill>
            <a:prstDash val="solid"/>
          </a:ln>
        </p:spPr>
      </p:sp>
      <p:sp>
        <p:nvSpPr>
          <p:cNvPr id="15" name="Text 13"/>
          <p:cNvSpPr/>
          <p:nvPr/>
        </p:nvSpPr>
        <p:spPr>
          <a:xfrm>
            <a:off x="4657344" y="1463040"/>
            <a:ext cx="1316736" cy="731520"/>
          </a:xfrm>
          <a:prstGeom prst="rect">
            <a:avLst/>
          </a:prstGeom>
          <a:noFill/>
          <a:ln/>
        </p:spPr>
        <p:txBody>
          <a:bodyPr wrap="square" lIns="0" tIns="0" rIns="0" bIns="0" rtlCol="0" anchor="ctr"/>
          <a:lstStyle/>
          <a:p>
            <a:pPr algn="ctr"/>
            <a:r>
              <a:rPr lang="en-US" sz="1133" b="1" dirty="0">
                <a:solidFill>
                  <a:srgbClr val="FFFFFF"/>
                </a:solidFill>
              </a:rPr>
              <a:t>IndexAgent</a:t>
            </a:r>
            <a:endParaRPr lang="en-US" sz="1133" dirty="0"/>
          </a:p>
        </p:txBody>
      </p:sp>
      <p:sp>
        <p:nvSpPr>
          <p:cNvPr id="16" name="Shape 14"/>
          <p:cNvSpPr/>
          <p:nvPr/>
        </p:nvSpPr>
        <p:spPr>
          <a:xfrm>
            <a:off x="5974080" y="1828800"/>
            <a:ext cx="134112" cy="0"/>
          </a:xfrm>
          <a:prstGeom prst="line">
            <a:avLst/>
          </a:prstGeom>
          <a:noFill/>
          <a:ln w="19050">
            <a:solidFill>
              <a:srgbClr val="142966"/>
            </a:solidFill>
            <a:prstDash val="solid"/>
          </a:ln>
        </p:spPr>
      </p:sp>
      <p:sp>
        <p:nvSpPr>
          <p:cNvPr id="17" name="Shape 15"/>
          <p:cNvSpPr/>
          <p:nvPr/>
        </p:nvSpPr>
        <p:spPr>
          <a:xfrm>
            <a:off x="6108192" y="1463040"/>
            <a:ext cx="1316736" cy="731520"/>
          </a:xfrm>
          <a:prstGeom prst="rect">
            <a:avLst/>
          </a:prstGeom>
          <a:solidFill>
            <a:srgbClr val="1B7FBF"/>
          </a:solidFill>
          <a:ln w="12700">
            <a:solidFill>
              <a:srgbClr val="1B7FBF"/>
            </a:solidFill>
            <a:prstDash val="solid"/>
          </a:ln>
        </p:spPr>
      </p:sp>
      <p:sp>
        <p:nvSpPr>
          <p:cNvPr id="18" name="Text 16"/>
          <p:cNvSpPr/>
          <p:nvPr/>
        </p:nvSpPr>
        <p:spPr>
          <a:xfrm>
            <a:off x="6108192" y="1463040"/>
            <a:ext cx="1316736" cy="731520"/>
          </a:xfrm>
          <a:prstGeom prst="rect">
            <a:avLst/>
          </a:prstGeom>
          <a:noFill/>
          <a:ln/>
        </p:spPr>
        <p:txBody>
          <a:bodyPr wrap="square" lIns="0" tIns="0" rIns="0" bIns="0" rtlCol="0" anchor="ctr"/>
          <a:lstStyle/>
          <a:p>
            <a:pPr algn="ctr"/>
            <a:r>
              <a:rPr lang="en-US" sz="1133" b="1" dirty="0">
                <a:solidFill>
                  <a:srgbClr val="FFFFFF"/>
                </a:solidFill>
              </a:rPr>
              <a:t>MapperAgent</a:t>
            </a:r>
            <a:endParaRPr lang="en-US" sz="1133" dirty="0"/>
          </a:p>
        </p:txBody>
      </p:sp>
      <p:sp>
        <p:nvSpPr>
          <p:cNvPr id="19" name="Shape 17"/>
          <p:cNvSpPr/>
          <p:nvPr/>
        </p:nvSpPr>
        <p:spPr>
          <a:xfrm>
            <a:off x="7424928" y="1828800"/>
            <a:ext cx="134112" cy="0"/>
          </a:xfrm>
          <a:prstGeom prst="line">
            <a:avLst/>
          </a:prstGeom>
          <a:noFill/>
          <a:ln w="19050">
            <a:solidFill>
              <a:srgbClr val="142966"/>
            </a:solidFill>
            <a:prstDash val="solid"/>
          </a:ln>
        </p:spPr>
      </p:sp>
      <p:sp>
        <p:nvSpPr>
          <p:cNvPr id="20" name="Shape 18"/>
          <p:cNvSpPr/>
          <p:nvPr/>
        </p:nvSpPr>
        <p:spPr>
          <a:xfrm>
            <a:off x="7559040" y="1463040"/>
            <a:ext cx="1316736" cy="731520"/>
          </a:xfrm>
          <a:prstGeom prst="rect">
            <a:avLst/>
          </a:prstGeom>
          <a:solidFill>
            <a:srgbClr val="142966"/>
          </a:solidFill>
          <a:ln w="12700">
            <a:solidFill>
              <a:srgbClr val="142966"/>
            </a:solidFill>
            <a:prstDash val="solid"/>
          </a:ln>
        </p:spPr>
      </p:sp>
      <p:sp>
        <p:nvSpPr>
          <p:cNvPr id="21" name="Text 19"/>
          <p:cNvSpPr/>
          <p:nvPr/>
        </p:nvSpPr>
        <p:spPr>
          <a:xfrm>
            <a:off x="7559040" y="1463040"/>
            <a:ext cx="1316736" cy="731520"/>
          </a:xfrm>
          <a:prstGeom prst="rect">
            <a:avLst/>
          </a:prstGeom>
          <a:noFill/>
          <a:ln/>
        </p:spPr>
        <p:txBody>
          <a:bodyPr wrap="square" lIns="0" tIns="0" rIns="0" bIns="0" rtlCol="0" anchor="ctr"/>
          <a:lstStyle/>
          <a:p>
            <a:pPr algn="ctr"/>
            <a:r>
              <a:rPr lang="en-US" sz="1133" b="1" dirty="0">
                <a:solidFill>
                  <a:srgbClr val="FFFFFF"/>
                </a:solidFill>
              </a:rPr>
              <a:t>ReasonerAgent</a:t>
            </a:r>
            <a:endParaRPr lang="en-US" sz="1133" dirty="0"/>
          </a:p>
        </p:txBody>
      </p:sp>
      <p:sp>
        <p:nvSpPr>
          <p:cNvPr id="22" name="Shape 20"/>
          <p:cNvSpPr/>
          <p:nvPr/>
        </p:nvSpPr>
        <p:spPr>
          <a:xfrm>
            <a:off x="8875776" y="1828800"/>
            <a:ext cx="134112" cy="0"/>
          </a:xfrm>
          <a:prstGeom prst="line">
            <a:avLst/>
          </a:prstGeom>
          <a:noFill/>
          <a:ln w="19050">
            <a:solidFill>
              <a:srgbClr val="142966"/>
            </a:solidFill>
            <a:prstDash val="solid"/>
          </a:ln>
        </p:spPr>
      </p:sp>
      <p:sp>
        <p:nvSpPr>
          <p:cNvPr id="23" name="Shape 21"/>
          <p:cNvSpPr/>
          <p:nvPr/>
        </p:nvSpPr>
        <p:spPr>
          <a:xfrm>
            <a:off x="9009888" y="1463040"/>
            <a:ext cx="1316736" cy="731520"/>
          </a:xfrm>
          <a:prstGeom prst="rect">
            <a:avLst/>
          </a:prstGeom>
          <a:solidFill>
            <a:srgbClr val="0FA3B1"/>
          </a:solidFill>
          <a:ln w="12700">
            <a:solidFill>
              <a:srgbClr val="0FA3B1"/>
            </a:solidFill>
            <a:prstDash val="solid"/>
          </a:ln>
        </p:spPr>
      </p:sp>
      <p:sp>
        <p:nvSpPr>
          <p:cNvPr id="24" name="Text 22"/>
          <p:cNvSpPr/>
          <p:nvPr/>
        </p:nvSpPr>
        <p:spPr>
          <a:xfrm>
            <a:off x="9009888" y="1463040"/>
            <a:ext cx="1316736" cy="731520"/>
          </a:xfrm>
          <a:prstGeom prst="rect">
            <a:avLst/>
          </a:prstGeom>
          <a:noFill/>
          <a:ln/>
        </p:spPr>
        <p:txBody>
          <a:bodyPr wrap="square" lIns="0" tIns="0" rIns="0" bIns="0" rtlCol="0" anchor="ctr"/>
          <a:lstStyle/>
          <a:p>
            <a:pPr algn="ctr"/>
            <a:r>
              <a:rPr lang="en-US" sz="1133" b="1" dirty="0">
                <a:solidFill>
                  <a:srgbClr val="FFFFFF"/>
                </a:solidFill>
              </a:rPr>
              <a:t>ValidatorAgent</a:t>
            </a:r>
            <a:endParaRPr lang="en-US" sz="1133" dirty="0"/>
          </a:p>
        </p:txBody>
      </p:sp>
      <p:sp>
        <p:nvSpPr>
          <p:cNvPr id="25" name="Shape 23"/>
          <p:cNvSpPr/>
          <p:nvPr/>
        </p:nvSpPr>
        <p:spPr>
          <a:xfrm>
            <a:off x="10326624" y="1828800"/>
            <a:ext cx="134112" cy="0"/>
          </a:xfrm>
          <a:prstGeom prst="line">
            <a:avLst/>
          </a:prstGeom>
          <a:noFill/>
          <a:ln w="19050">
            <a:solidFill>
              <a:srgbClr val="142966"/>
            </a:solidFill>
            <a:prstDash val="solid"/>
          </a:ln>
        </p:spPr>
      </p:sp>
      <p:sp>
        <p:nvSpPr>
          <p:cNvPr id="26" name="Shape 24"/>
          <p:cNvSpPr/>
          <p:nvPr/>
        </p:nvSpPr>
        <p:spPr>
          <a:xfrm>
            <a:off x="10460736" y="1463040"/>
            <a:ext cx="1316736" cy="731520"/>
          </a:xfrm>
          <a:prstGeom prst="rect">
            <a:avLst/>
          </a:prstGeom>
          <a:solidFill>
            <a:srgbClr val="F4A325"/>
          </a:solidFill>
          <a:ln w="12700">
            <a:solidFill>
              <a:srgbClr val="F4A325"/>
            </a:solidFill>
            <a:prstDash val="solid"/>
          </a:ln>
        </p:spPr>
      </p:sp>
      <p:sp>
        <p:nvSpPr>
          <p:cNvPr id="27" name="Text 25"/>
          <p:cNvSpPr/>
          <p:nvPr/>
        </p:nvSpPr>
        <p:spPr>
          <a:xfrm>
            <a:off x="10460736" y="1463040"/>
            <a:ext cx="1316736" cy="731520"/>
          </a:xfrm>
          <a:prstGeom prst="rect">
            <a:avLst/>
          </a:prstGeom>
          <a:noFill/>
          <a:ln/>
        </p:spPr>
        <p:txBody>
          <a:bodyPr wrap="square" lIns="0" tIns="0" rIns="0" bIns="0" rtlCol="0" anchor="ctr"/>
          <a:lstStyle/>
          <a:p>
            <a:pPr algn="ctr"/>
            <a:r>
              <a:rPr lang="en-US" sz="1133" b="1" dirty="0">
                <a:solidFill>
                  <a:srgbClr val="FFFFFF"/>
                </a:solidFill>
              </a:rPr>
              <a:t>ReportAgent</a:t>
            </a:r>
            <a:endParaRPr lang="en-US" sz="1133" dirty="0"/>
          </a:p>
        </p:txBody>
      </p:sp>
      <p:sp>
        <p:nvSpPr>
          <p:cNvPr id="28" name="Shape 26"/>
          <p:cNvSpPr/>
          <p:nvPr/>
        </p:nvSpPr>
        <p:spPr>
          <a:xfrm>
            <a:off x="365760" y="2499360"/>
            <a:ext cx="5486400" cy="1645920"/>
          </a:xfrm>
          <a:prstGeom prst="rect">
            <a:avLst/>
          </a:prstGeom>
          <a:solidFill>
            <a:srgbClr val="FFFFFF"/>
          </a:solidFill>
          <a:ln/>
          <a:effectLst>
            <a:outerShdw blurRad="76200" dist="25400" dir="8100000" algn="bl" rotWithShape="0">
              <a:srgbClr val="000000">
                <a:alpha val="10000"/>
              </a:srgbClr>
            </a:outerShdw>
          </a:effectLst>
        </p:spPr>
      </p:sp>
      <p:sp>
        <p:nvSpPr>
          <p:cNvPr id="29" name="Shape 27"/>
          <p:cNvSpPr/>
          <p:nvPr/>
        </p:nvSpPr>
        <p:spPr>
          <a:xfrm>
            <a:off x="365760" y="2499360"/>
            <a:ext cx="85344" cy="1645920"/>
          </a:xfrm>
          <a:prstGeom prst="rect">
            <a:avLst/>
          </a:prstGeom>
          <a:solidFill>
            <a:srgbClr val="0FA3B1"/>
          </a:solidFill>
          <a:ln w="12700">
            <a:solidFill>
              <a:srgbClr val="0FA3B1"/>
            </a:solidFill>
            <a:prstDash val="solid"/>
          </a:ln>
        </p:spPr>
      </p:sp>
      <p:sp>
        <p:nvSpPr>
          <p:cNvPr id="30" name="Text 28"/>
          <p:cNvSpPr/>
          <p:nvPr/>
        </p:nvSpPr>
        <p:spPr>
          <a:xfrm>
            <a:off x="548640" y="2645664"/>
            <a:ext cx="5242560" cy="390144"/>
          </a:xfrm>
          <a:prstGeom prst="rect">
            <a:avLst/>
          </a:prstGeom>
          <a:noFill/>
          <a:ln/>
        </p:spPr>
        <p:txBody>
          <a:bodyPr wrap="square" lIns="0" tIns="0" rIns="0" bIns="0" rtlCol="0" anchor="ctr"/>
          <a:lstStyle/>
          <a:p>
            <a:r>
              <a:rPr lang="en-US" sz="1467" b="1" dirty="0">
                <a:solidFill>
                  <a:srgbClr val="142966"/>
                </a:solidFill>
              </a:rPr>
              <a:t>Inspectable &amp; Fault-tolerant</a:t>
            </a:r>
            <a:endParaRPr lang="en-US" sz="1467" dirty="0"/>
          </a:p>
        </p:txBody>
      </p:sp>
      <p:sp>
        <p:nvSpPr>
          <p:cNvPr id="31" name="Text 29"/>
          <p:cNvSpPr/>
          <p:nvPr/>
        </p:nvSpPr>
        <p:spPr>
          <a:xfrm>
            <a:off x="548640" y="3048000"/>
            <a:ext cx="5242560" cy="975360"/>
          </a:xfrm>
          <a:prstGeom prst="rect">
            <a:avLst/>
          </a:prstGeom>
          <a:noFill/>
          <a:ln/>
        </p:spPr>
        <p:txBody>
          <a:bodyPr wrap="square" lIns="0" tIns="0" rIns="0" bIns="0" rtlCol="0" anchor="ctr"/>
          <a:lstStyle/>
          <a:p>
            <a:r>
              <a:rPr lang="en-US" sz="1333" dirty="0">
                <a:solidFill>
                  <a:srgbClr val="0A1430"/>
                </a:solidFill>
              </a:rPr>
              <a:t>Parsing/SRL failures don't collapse the system. Downstream agents trigger repair logic, fallback heuristics, or selective abstention.</a:t>
            </a:r>
            <a:endParaRPr lang="en-US" sz="1333" dirty="0"/>
          </a:p>
        </p:txBody>
      </p:sp>
      <p:sp>
        <p:nvSpPr>
          <p:cNvPr id="32" name="Shape 30"/>
          <p:cNvSpPr/>
          <p:nvPr/>
        </p:nvSpPr>
        <p:spPr>
          <a:xfrm>
            <a:off x="365760" y="4328160"/>
            <a:ext cx="5486400" cy="1645920"/>
          </a:xfrm>
          <a:prstGeom prst="rect">
            <a:avLst/>
          </a:prstGeom>
          <a:solidFill>
            <a:srgbClr val="FFFFFF"/>
          </a:solidFill>
          <a:ln/>
          <a:effectLst>
            <a:outerShdw blurRad="76200" dist="25400" dir="8100000" algn="bl" rotWithShape="0">
              <a:srgbClr val="000000">
                <a:alpha val="10000"/>
              </a:srgbClr>
            </a:outerShdw>
          </a:effectLst>
        </p:spPr>
      </p:sp>
      <p:sp>
        <p:nvSpPr>
          <p:cNvPr id="33" name="Shape 31"/>
          <p:cNvSpPr/>
          <p:nvPr/>
        </p:nvSpPr>
        <p:spPr>
          <a:xfrm>
            <a:off x="365760" y="4328160"/>
            <a:ext cx="85344" cy="1645920"/>
          </a:xfrm>
          <a:prstGeom prst="rect">
            <a:avLst/>
          </a:prstGeom>
          <a:solidFill>
            <a:srgbClr val="142966"/>
          </a:solidFill>
          <a:ln w="12700">
            <a:solidFill>
              <a:srgbClr val="142966"/>
            </a:solidFill>
            <a:prstDash val="solid"/>
          </a:ln>
        </p:spPr>
      </p:sp>
      <p:sp>
        <p:nvSpPr>
          <p:cNvPr id="34" name="Text 32"/>
          <p:cNvSpPr/>
          <p:nvPr/>
        </p:nvSpPr>
        <p:spPr>
          <a:xfrm>
            <a:off x="548640" y="4474464"/>
            <a:ext cx="5242560" cy="390144"/>
          </a:xfrm>
          <a:prstGeom prst="rect">
            <a:avLst/>
          </a:prstGeom>
          <a:noFill/>
          <a:ln/>
        </p:spPr>
        <p:txBody>
          <a:bodyPr wrap="square" lIns="0" tIns="0" rIns="0" bIns="0" rtlCol="0" anchor="ctr"/>
          <a:lstStyle/>
          <a:p>
            <a:r>
              <a:rPr lang="en-US" sz="1467" b="1" dirty="0">
                <a:solidFill>
                  <a:srgbClr val="142966"/>
                </a:solidFill>
              </a:rPr>
              <a:t>Shared Proposition Store</a:t>
            </a:r>
            <a:endParaRPr lang="en-US" sz="1467" dirty="0"/>
          </a:p>
        </p:txBody>
      </p:sp>
      <p:sp>
        <p:nvSpPr>
          <p:cNvPr id="35" name="Text 33"/>
          <p:cNvSpPr/>
          <p:nvPr/>
        </p:nvSpPr>
        <p:spPr>
          <a:xfrm>
            <a:off x="548640" y="4876800"/>
            <a:ext cx="5242560" cy="975360"/>
          </a:xfrm>
          <a:prstGeom prst="rect">
            <a:avLst/>
          </a:prstGeom>
          <a:noFill/>
          <a:ln/>
        </p:spPr>
        <p:txBody>
          <a:bodyPr wrap="square" lIns="0" tIns="0" rIns="0" bIns="0" rtlCol="0" anchor="ctr"/>
          <a:lstStyle/>
          <a:p>
            <a:r>
              <a:rPr lang="en-US" sz="1333" dirty="0">
                <a:solidFill>
                  <a:srgbClr val="0A1430"/>
                </a:solidFill>
              </a:rPr>
              <a:t>All agents communicate via a store indexed by: document span · predicate ID · roleset · arg role · entity links · confidence.</a:t>
            </a:r>
            <a:endParaRPr lang="en-US" sz="1333" dirty="0"/>
          </a:p>
        </p:txBody>
      </p:sp>
      <p:sp>
        <p:nvSpPr>
          <p:cNvPr id="36" name="Shape 34"/>
          <p:cNvSpPr/>
          <p:nvPr/>
        </p:nvSpPr>
        <p:spPr>
          <a:xfrm>
            <a:off x="6217920" y="2499360"/>
            <a:ext cx="5486400" cy="1645920"/>
          </a:xfrm>
          <a:prstGeom prst="rect">
            <a:avLst/>
          </a:prstGeom>
          <a:solidFill>
            <a:srgbClr val="FFFFFF"/>
          </a:solidFill>
          <a:ln/>
          <a:effectLst>
            <a:outerShdw blurRad="76200" dist="25400" dir="8100000" algn="bl" rotWithShape="0">
              <a:srgbClr val="000000">
                <a:alpha val="10000"/>
              </a:srgbClr>
            </a:outerShdw>
          </a:effectLst>
        </p:spPr>
      </p:sp>
      <p:sp>
        <p:nvSpPr>
          <p:cNvPr id="37" name="Shape 35"/>
          <p:cNvSpPr/>
          <p:nvPr/>
        </p:nvSpPr>
        <p:spPr>
          <a:xfrm>
            <a:off x="6217920" y="2499360"/>
            <a:ext cx="85344" cy="1645920"/>
          </a:xfrm>
          <a:prstGeom prst="rect">
            <a:avLst/>
          </a:prstGeom>
          <a:solidFill>
            <a:srgbClr val="1B7FBF"/>
          </a:solidFill>
          <a:ln w="12700">
            <a:solidFill>
              <a:srgbClr val="1B7FBF"/>
            </a:solidFill>
            <a:prstDash val="solid"/>
          </a:ln>
        </p:spPr>
      </p:sp>
      <p:sp>
        <p:nvSpPr>
          <p:cNvPr id="38" name="Text 36"/>
          <p:cNvSpPr/>
          <p:nvPr/>
        </p:nvSpPr>
        <p:spPr>
          <a:xfrm>
            <a:off x="6400800" y="2645664"/>
            <a:ext cx="5242560" cy="390144"/>
          </a:xfrm>
          <a:prstGeom prst="rect">
            <a:avLst/>
          </a:prstGeom>
          <a:noFill/>
          <a:ln/>
        </p:spPr>
        <p:txBody>
          <a:bodyPr wrap="square" lIns="0" tIns="0" rIns="0" bIns="0" rtlCol="0" anchor="ctr"/>
          <a:lstStyle/>
          <a:p>
            <a:r>
              <a:rPr lang="en-US" sz="1467" b="1" dirty="0">
                <a:solidFill>
                  <a:srgbClr val="142966"/>
                </a:solidFill>
              </a:rPr>
              <a:t>Explicit Recovery Policy</a:t>
            </a:r>
            <a:endParaRPr lang="en-US" sz="1467" dirty="0"/>
          </a:p>
        </p:txBody>
      </p:sp>
      <p:sp>
        <p:nvSpPr>
          <p:cNvPr id="39" name="Text 37"/>
          <p:cNvSpPr/>
          <p:nvPr/>
        </p:nvSpPr>
        <p:spPr>
          <a:xfrm>
            <a:off x="6400800" y="3048000"/>
            <a:ext cx="5242560" cy="975360"/>
          </a:xfrm>
          <a:prstGeom prst="rect">
            <a:avLst/>
          </a:prstGeom>
          <a:noFill/>
          <a:ln/>
        </p:spPr>
        <p:txBody>
          <a:bodyPr wrap="square" lIns="0" tIns="0" rIns="0" bIns="0" rtlCol="0" anchor="ctr"/>
          <a:lstStyle/>
          <a:p>
            <a:r>
              <a:rPr lang="en-US" sz="1333" dirty="0">
                <a:solidFill>
                  <a:srgbClr val="0A1430"/>
                </a:solidFill>
              </a:rPr>
              <a:t>If ParseAgent fails → lower-confidence local extraction. If SRLAgent fails → lexical fallback. If ReasonerAgent detects conflict → abstention.</a:t>
            </a:r>
            <a:endParaRPr lang="en-US" sz="1333" dirty="0"/>
          </a:p>
        </p:txBody>
      </p:sp>
      <p:sp>
        <p:nvSpPr>
          <p:cNvPr id="40" name="Shape 38"/>
          <p:cNvSpPr/>
          <p:nvPr/>
        </p:nvSpPr>
        <p:spPr>
          <a:xfrm>
            <a:off x="6217920" y="4328160"/>
            <a:ext cx="5486400" cy="1645920"/>
          </a:xfrm>
          <a:prstGeom prst="rect">
            <a:avLst/>
          </a:prstGeom>
          <a:solidFill>
            <a:srgbClr val="FFFFFF"/>
          </a:solidFill>
          <a:ln/>
          <a:effectLst>
            <a:outerShdw blurRad="76200" dist="25400" dir="8100000" algn="bl" rotWithShape="0">
              <a:srgbClr val="000000">
                <a:alpha val="10000"/>
              </a:srgbClr>
            </a:outerShdw>
          </a:effectLst>
        </p:spPr>
      </p:sp>
      <p:sp>
        <p:nvSpPr>
          <p:cNvPr id="41" name="Shape 39"/>
          <p:cNvSpPr/>
          <p:nvPr/>
        </p:nvSpPr>
        <p:spPr>
          <a:xfrm>
            <a:off x="6217920" y="4328160"/>
            <a:ext cx="85344" cy="1645920"/>
          </a:xfrm>
          <a:prstGeom prst="rect">
            <a:avLst/>
          </a:prstGeom>
          <a:solidFill>
            <a:srgbClr val="F4A325"/>
          </a:solidFill>
          <a:ln w="12700">
            <a:solidFill>
              <a:srgbClr val="F4A325"/>
            </a:solidFill>
            <a:prstDash val="solid"/>
          </a:ln>
        </p:spPr>
      </p:sp>
      <p:sp>
        <p:nvSpPr>
          <p:cNvPr id="42" name="Text 40"/>
          <p:cNvSpPr/>
          <p:nvPr/>
        </p:nvSpPr>
        <p:spPr>
          <a:xfrm>
            <a:off x="6400800" y="4474464"/>
            <a:ext cx="5242560" cy="390144"/>
          </a:xfrm>
          <a:prstGeom prst="rect">
            <a:avLst/>
          </a:prstGeom>
          <a:noFill/>
          <a:ln/>
        </p:spPr>
        <p:txBody>
          <a:bodyPr wrap="square" lIns="0" tIns="0" rIns="0" bIns="0" rtlCol="0" anchor="ctr"/>
          <a:lstStyle/>
          <a:p>
            <a:r>
              <a:rPr lang="en-US" sz="1467" b="1" dirty="0">
                <a:solidFill>
                  <a:srgbClr val="142966"/>
                </a:solidFill>
              </a:rPr>
              <a:t>Enterprise-Scale Ready</a:t>
            </a:r>
            <a:endParaRPr lang="en-US" sz="1467" dirty="0"/>
          </a:p>
        </p:txBody>
      </p:sp>
      <p:sp>
        <p:nvSpPr>
          <p:cNvPr id="43" name="Text 41"/>
          <p:cNvSpPr/>
          <p:nvPr/>
        </p:nvSpPr>
        <p:spPr>
          <a:xfrm>
            <a:off x="6400800" y="4876800"/>
            <a:ext cx="5242560" cy="975360"/>
          </a:xfrm>
          <a:prstGeom prst="rect">
            <a:avLst/>
          </a:prstGeom>
          <a:noFill/>
          <a:ln/>
        </p:spPr>
        <p:txBody>
          <a:bodyPr wrap="square" lIns="0" tIns="0" rIns="0" bIns="0" rtlCol="0" anchor="ctr"/>
          <a:lstStyle/>
          <a:p>
            <a:r>
              <a:rPr lang="en-US" sz="1333" dirty="0">
                <a:solidFill>
                  <a:srgbClr val="0A1430"/>
                </a:solidFill>
              </a:rPr>
              <a:t>Serialized predicate index lets downstream agents operate without re-running the full parser. Scales to large document collections.</a:t>
            </a:r>
            <a:endParaRPr lang="en-US" sz="1333" dirty="0"/>
          </a:p>
        </p:txBody>
      </p:sp>
    </p:spTree>
    <p:extLst>
      <p:ext uri="{BB962C8B-B14F-4D97-AF65-F5344CB8AC3E}">
        <p14:creationId xmlns:p14="http://schemas.microsoft.com/office/powerpoint/2010/main" val="6476760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463296"/>
          </a:xfrm>
          <a:prstGeom prst="rect">
            <a:avLst/>
          </a:prstGeom>
          <a:solidFill>
            <a:srgbClr val="1B7FBF"/>
          </a:solidFill>
          <a:ln w="12700">
            <a:solidFill>
              <a:srgbClr val="1B7FBF"/>
            </a:solidFill>
            <a:prstDash val="solid"/>
          </a:ln>
        </p:spPr>
      </p:sp>
      <p:sp>
        <p:nvSpPr>
          <p:cNvPr id="3" name="Text 1"/>
          <p:cNvSpPr/>
          <p:nvPr/>
        </p:nvSpPr>
        <p:spPr>
          <a:xfrm>
            <a:off x="365760" y="0"/>
            <a:ext cx="10972800" cy="463296"/>
          </a:xfrm>
          <a:prstGeom prst="rect">
            <a:avLst/>
          </a:prstGeom>
          <a:noFill/>
          <a:ln/>
        </p:spPr>
        <p:txBody>
          <a:bodyPr wrap="square" lIns="0" tIns="0" rIns="0" bIns="0" rtlCol="0" anchor="ctr"/>
          <a:lstStyle/>
          <a:p>
            <a:r>
              <a:rPr lang="en-US" sz="1333" b="1" kern="0" spc="400" dirty="0">
                <a:solidFill>
                  <a:srgbClr val="FFFFFF"/>
                </a:solidFill>
              </a:rPr>
              <a:t>INNOVATION 3 — APPLICATIONS</a:t>
            </a:r>
            <a:endParaRPr lang="en-US" sz="1333" dirty="0"/>
          </a:p>
        </p:txBody>
      </p:sp>
      <p:sp>
        <p:nvSpPr>
          <p:cNvPr id="4" name="Text 2"/>
          <p:cNvSpPr/>
          <p:nvPr/>
        </p:nvSpPr>
        <p:spPr>
          <a:xfrm>
            <a:off x="548640" y="609600"/>
            <a:ext cx="11094720" cy="853440"/>
          </a:xfrm>
          <a:prstGeom prst="rect">
            <a:avLst/>
          </a:prstGeom>
          <a:noFill/>
          <a:ln/>
        </p:spPr>
        <p:txBody>
          <a:bodyPr wrap="square" lIns="0" tIns="0" rIns="0" bIns="0" rtlCol="0" anchor="ctr"/>
          <a:lstStyle/>
          <a:p>
            <a:r>
              <a:rPr lang="en-US" sz="3467" b="1" dirty="0">
                <a:solidFill>
                  <a:srgbClr val="142966"/>
                </a:solidFill>
                <a:latin typeface="Calibri" pitchFamily="34" charset="0"/>
                <a:ea typeface="Calibri" pitchFamily="34" charset="-122"/>
                <a:cs typeface="Calibri" pitchFamily="34" charset="-120"/>
              </a:rPr>
              <a:t>SRL-QA Application Domains</a:t>
            </a:r>
            <a:endParaRPr lang="en-US" sz="3467" dirty="0"/>
          </a:p>
        </p:txBody>
      </p:sp>
      <p:sp>
        <p:nvSpPr>
          <p:cNvPr id="5" name="Shape 3"/>
          <p:cNvSpPr/>
          <p:nvPr/>
        </p:nvSpPr>
        <p:spPr>
          <a:xfrm>
            <a:off x="365760" y="1341120"/>
            <a:ext cx="3718560" cy="2133600"/>
          </a:xfrm>
          <a:prstGeom prst="rect">
            <a:avLst/>
          </a:prstGeom>
          <a:solidFill>
            <a:srgbClr val="FFFFFF"/>
          </a:solidFill>
          <a:ln/>
          <a:effectLst>
            <a:outerShdw blurRad="76200" dist="25400" dir="8100000" algn="bl" rotWithShape="0">
              <a:srgbClr val="000000">
                <a:alpha val="10000"/>
              </a:srgbClr>
            </a:outerShdw>
          </a:effectLst>
        </p:spPr>
      </p:sp>
      <p:sp>
        <p:nvSpPr>
          <p:cNvPr id="6" name="Shape 4"/>
          <p:cNvSpPr/>
          <p:nvPr/>
        </p:nvSpPr>
        <p:spPr>
          <a:xfrm>
            <a:off x="365760" y="1341120"/>
            <a:ext cx="85344" cy="2133600"/>
          </a:xfrm>
          <a:prstGeom prst="rect">
            <a:avLst/>
          </a:prstGeom>
          <a:solidFill>
            <a:srgbClr val="142966"/>
          </a:solidFill>
          <a:ln w="12700">
            <a:solidFill>
              <a:srgbClr val="142966"/>
            </a:solidFill>
            <a:prstDash val="solid"/>
          </a:ln>
        </p:spPr>
      </p:sp>
      <p:sp>
        <p:nvSpPr>
          <p:cNvPr id="7" name="Text 5"/>
          <p:cNvSpPr/>
          <p:nvPr/>
        </p:nvSpPr>
        <p:spPr>
          <a:xfrm>
            <a:off x="548640" y="1487424"/>
            <a:ext cx="3474720" cy="390144"/>
          </a:xfrm>
          <a:prstGeom prst="rect">
            <a:avLst/>
          </a:prstGeom>
          <a:noFill/>
          <a:ln/>
        </p:spPr>
        <p:txBody>
          <a:bodyPr wrap="square" lIns="0" tIns="0" rIns="0" bIns="0" rtlCol="0" anchor="ctr"/>
          <a:lstStyle/>
          <a:p>
            <a:r>
              <a:rPr lang="en-US" sz="1467" b="1" dirty="0">
                <a:solidFill>
                  <a:srgbClr val="142966"/>
                </a:solidFill>
              </a:rPr>
              <a:t>Legal Contract QA</a:t>
            </a:r>
            <a:endParaRPr lang="en-US" sz="1467" dirty="0"/>
          </a:p>
        </p:txBody>
      </p:sp>
      <p:sp>
        <p:nvSpPr>
          <p:cNvPr id="8" name="Text 6"/>
          <p:cNvSpPr/>
          <p:nvPr/>
        </p:nvSpPr>
        <p:spPr>
          <a:xfrm>
            <a:off x="548640" y="1889760"/>
            <a:ext cx="3474720" cy="1463040"/>
          </a:xfrm>
          <a:prstGeom prst="rect">
            <a:avLst/>
          </a:prstGeom>
          <a:noFill/>
          <a:ln/>
        </p:spPr>
        <p:txBody>
          <a:bodyPr wrap="square" lIns="0" tIns="0" rIns="0" bIns="0" rtlCol="0" anchor="ctr"/>
          <a:lstStyle/>
          <a:p>
            <a:r>
              <a:rPr lang="en-US" sz="1333" dirty="0">
                <a:solidFill>
                  <a:srgbClr val="0A1430"/>
                </a:solidFill>
              </a:rPr>
              <a:t>Obligations → ARG0</a:t>
            </a:r>
            <a:endParaRPr lang="en-US" sz="1333" dirty="0"/>
          </a:p>
          <a:p>
            <a:r>
              <a:rPr lang="en-US" sz="1333" dirty="0">
                <a:solidFill>
                  <a:srgbClr val="0A1430"/>
                </a:solidFill>
              </a:rPr>
              <a:t>Deliverables → ARG1</a:t>
            </a:r>
            <a:endParaRPr lang="en-US" sz="1333" dirty="0"/>
          </a:p>
          <a:p>
            <a:r>
              <a:rPr lang="en-US" sz="1333" dirty="0">
                <a:solidFill>
                  <a:srgbClr val="0A1430"/>
                </a:solidFill>
              </a:rPr>
              <a:t>Beneficiary → ARG2</a:t>
            </a:r>
            <a:endParaRPr lang="en-US" sz="1333" dirty="0"/>
          </a:p>
          <a:p>
            <a:r>
              <a:rPr lang="en-US" sz="1333" dirty="0">
                <a:solidFill>
                  <a:srgbClr val="0A1430"/>
                </a:solidFill>
              </a:rPr>
              <a:t>Deadline → ARGM-TMP</a:t>
            </a:r>
            <a:endParaRPr lang="en-US" sz="1333" dirty="0"/>
          </a:p>
          <a:p>
            <a:endParaRPr lang="en-US" sz="1333" dirty="0"/>
          </a:p>
          <a:p>
            <a:r>
              <a:rPr lang="en-US" sz="1333" dirty="0">
                <a:solidFill>
                  <a:srgbClr val="0A1430"/>
                </a:solidFill>
              </a:rPr>
              <a:t>'Who must deliver what by when under which conditions?'</a:t>
            </a:r>
            <a:endParaRPr lang="en-US" sz="1333" dirty="0"/>
          </a:p>
        </p:txBody>
      </p:sp>
      <p:sp>
        <p:nvSpPr>
          <p:cNvPr id="9" name="Shape 7"/>
          <p:cNvSpPr/>
          <p:nvPr/>
        </p:nvSpPr>
        <p:spPr>
          <a:xfrm>
            <a:off x="4267200" y="1341120"/>
            <a:ext cx="3718560" cy="2133600"/>
          </a:xfrm>
          <a:prstGeom prst="rect">
            <a:avLst/>
          </a:prstGeom>
          <a:solidFill>
            <a:srgbClr val="FFFFFF"/>
          </a:solidFill>
          <a:ln/>
          <a:effectLst>
            <a:outerShdw blurRad="76200" dist="25400" dir="8100000" algn="bl" rotWithShape="0">
              <a:srgbClr val="000000">
                <a:alpha val="10000"/>
              </a:srgbClr>
            </a:outerShdw>
          </a:effectLst>
        </p:spPr>
      </p:sp>
      <p:sp>
        <p:nvSpPr>
          <p:cNvPr id="10" name="Shape 8"/>
          <p:cNvSpPr/>
          <p:nvPr/>
        </p:nvSpPr>
        <p:spPr>
          <a:xfrm>
            <a:off x="4267200" y="1341120"/>
            <a:ext cx="85344" cy="2133600"/>
          </a:xfrm>
          <a:prstGeom prst="rect">
            <a:avLst/>
          </a:prstGeom>
          <a:solidFill>
            <a:srgbClr val="0FA3B1"/>
          </a:solidFill>
          <a:ln w="12700">
            <a:solidFill>
              <a:srgbClr val="0FA3B1"/>
            </a:solidFill>
            <a:prstDash val="solid"/>
          </a:ln>
        </p:spPr>
      </p:sp>
      <p:sp>
        <p:nvSpPr>
          <p:cNvPr id="11" name="Text 9"/>
          <p:cNvSpPr/>
          <p:nvPr/>
        </p:nvSpPr>
        <p:spPr>
          <a:xfrm>
            <a:off x="4450080" y="1487424"/>
            <a:ext cx="3474720" cy="390144"/>
          </a:xfrm>
          <a:prstGeom prst="rect">
            <a:avLst/>
          </a:prstGeom>
          <a:noFill/>
          <a:ln/>
        </p:spPr>
        <p:txBody>
          <a:bodyPr wrap="square" lIns="0" tIns="0" rIns="0" bIns="0" rtlCol="0" anchor="ctr"/>
          <a:lstStyle/>
          <a:p>
            <a:r>
              <a:rPr lang="en-US" sz="1467" b="1" dirty="0">
                <a:solidFill>
                  <a:srgbClr val="142966"/>
                </a:solidFill>
              </a:rPr>
              <a:t>Clinical Notes QA</a:t>
            </a:r>
            <a:endParaRPr lang="en-US" sz="1467" dirty="0"/>
          </a:p>
        </p:txBody>
      </p:sp>
      <p:sp>
        <p:nvSpPr>
          <p:cNvPr id="12" name="Text 10"/>
          <p:cNvSpPr/>
          <p:nvPr/>
        </p:nvSpPr>
        <p:spPr>
          <a:xfrm>
            <a:off x="4450080" y="1889760"/>
            <a:ext cx="3474720" cy="1463040"/>
          </a:xfrm>
          <a:prstGeom prst="rect">
            <a:avLst/>
          </a:prstGeom>
          <a:noFill/>
          <a:ln/>
        </p:spPr>
        <p:txBody>
          <a:bodyPr wrap="square" lIns="0" tIns="0" rIns="0" bIns="0" rtlCol="0" anchor="ctr"/>
          <a:lstStyle/>
          <a:p>
            <a:r>
              <a:rPr lang="en-US" sz="1333" dirty="0">
                <a:solidFill>
                  <a:srgbClr val="0A1430"/>
                </a:solidFill>
              </a:rPr>
              <a:t>Medication → ARG1</a:t>
            </a:r>
            <a:endParaRPr lang="en-US" sz="1333" dirty="0"/>
          </a:p>
          <a:p>
            <a:r>
              <a:rPr lang="en-US" sz="1333" dirty="0">
                <a:solidFill>
                  <a:srgbClr val="0A1430"/>
                </a:solidFill>
              </a:rPr>
              <a:t>Recipient → ARG2</a:t>
            </a:r>
            <a:endParaRPr lang="en-US" sz="1333" dirty="0"/>
          </a:p>
          <a:p>
            <a:r>
              <a:rPr lang="en-US" sz="1333" dirty="0">
                <a:solidFill>
                  <a:srgbClr val="0A1430"/>
                </a:solidFill>
              </a:rPr>
              <a:t>Dosage → ARGM-EXT</a:t>
            </a:r>
            <a:endParaRPr lang="en-US" sz="1333" dirty="0"/>
          </a:p>
          <a:p>
            <a:r>
              <a:rPr lang="en-US" sz="1333" dirty="0">
                <a:solidFill>
                  <a:srgbClr val="0A1430"/>
                </a:solidFill>
              </a:rPr>
              <a:t>Reason → ARGM-CAU</a:t>
            </a:r>
            <a:endParaRPr lang="en-US" sz="1333" dirty="0"/>
          </a:p>
          <a:p>
            <a:endParaRPr lang="en-US" sz="1333" dirty="0"/>
          </a:p>
          <a:p>
            <a:r>
              <a:rPr lang="en-US" sz="1333" dirty="0">
                <a:solidFill>
                  <a:srgbClr val="0A1430"/>
                </a:solidFill>
              </a:rPr>
              <a:t>'What was administered to whom and for what reason?'</a:t>
            </a:r>
            <a:endParaRPr lang="en-US" sz="1333" dirty="0"/>
          </a:p>
        </p:txBody>
      </p:sp>
      <p:sp>
        <p:nvSpPr>
          <p:cNvPr id="13" name="Shape 11"/>
          <p:cNvSpPr/>
          <p:nvPr/>
        </p:nvSpPr>
        <p:spPr>
          <a:xfrm>
            <a:off x="8168640" y="1341120"/>
            <a:ext cx="3718560" cy="2133600"/>
          </a:xfrm>
          <a:prstGeom prst="rect">
            <a:avLst/>
          </a:prstGeom>
          <a:solidFill>
            <a:srgbClr val="FFFFFF"/>
          </a:solidFill>
          <a:ln/>
          <a:effectLst>
            <a:outerShdw blurRad="76200" dist="25400" dir="8100000" algn="bl" rotWithShape="0">
              <a:srgbClr val="000000">
                <a:alpha val="10000"/>
              </a:srgbClr>
            </a:outerShdw>
          </a:effectLst>
        </p:spPr>
      </p:sp>
      <p:sp>
        <p:nvSpPr>
          <p:cNvPr id="14" name="Shape 12"/>
          <p:cNvSpPr/>
          <p:nvPr/>
        </p:nvSpPr>
        <p:spPr>
          <a:xfrm>
            <a:off x="8168640" y="1341120"/>
            <a:ext cx="85344" cy="2133600"/>
          </a:xfrm>
          <a:prstGeom prst="rect">
            <a:avLst/>
          </a:prstGeom>
          <a:solidFill>
            <a:srgbClr val="1B7FBF"/>
          </a:solidFill>
          <a:ln w="12700">
            <a:solidFill>
              <a:srgbClr val="1B7FBF"/>
            </a:solidFill>
            <a:prstDash val="solid"/>
          </a:ln>
        </p:spPr>
      </p:sp>
      <p:sp>
        <p:nvSpPr>
          <p:cNvPr id="15" name="Text 13"/>
          <p:cNvSpPr/>
          <p:nvPr/>
        </p:nvSpPr>
        <p:spPr>
          <a:xfrm>
            <a:off x="8351520" y="1487424"/>
            <a:ext cx="3474720" cy="390144"/>
          </a:xfrm>
          <a:prstGeom prst="rect">
            <a:avLst/>
          </a:prstGeom>
          <a:noFill/>
          <a:ln/>
        </p:spPr>
        <p:txBody>
          <a:bodyPr wrap="square" lIns="0" tIns="0" rIns="0" bIns="0" rtlCol="0" anchor="ctr"/>
          <a:lstStyle/>
          <a:p>
            <a:r>
              <a:rPr lang="en-US" sz="1467" b="1" dirty="0">
                <a:solidFill>
                  <a:srgbClr val="142966"/>
                </a:solidFill>
              </a:rPr>
              <a:t>Safety Incident Reports</a:t>
            </a:r>
            <a:endParaRPr lang="en-US" sz="1467" dirty="0"/>
          </a:p>
        </p:txBody>
      </p:sp>
      <p:sp>
        <p:nvSpPr>
          <p:cNvPr id="16" name="Text 14"/>
          <p:cNvSpPr/>
          <p:nvPr/>
        </p:nvSpPr>
        <p:spPr>
          <a:xfrm>
            <a:off x="8351520" y="1889760"/>
            <a:ext cx="3474720" cy="1463040"/>
          </a:xfrm>
          <a:prstGeom prst="rect">
            <a:avLst/>
          </a:prstGeom>
          <a:noFill/>
          <a:ln/>
        </p:spPr>
        <p:txBody>
          <a:bodyPr wrap="square" lIns="0" tIns="0" rIns="0" bIns="0" rtlCol="0" anchor="ctr"/>
          <a:lstStyle/>
          <a:p>
            <a:r>
              <a:rPr lang="en-US" sz="1333" dirty="0">
                <a:solidFill>
                  <a:srgbClr val="0A1430"/>
                </a:solidFill>
              </a:rPr>
              <a:t>Frame chaining: cause / response / outcome across sentences.</a:t>
            </a:r>
            <a:endParaRPr lang="en-US" sz="1333" dirty="0"/>
          </a:p>
          <a:p>
            <a:r>
              <a:rPr lang="en-US" sz="1333" dirty="0">
                <a:solidFill>
                  <a:srgbClr val="0A1430"/>
                </a:solidFill>
              </a:rPr>
              <a:t>Benchmark rewarding local slot-filling would miss the decision-relevant questions.</a:t>
            </a:r>
            <a:endParaRPr lang="en-US" sz="1333" dirty="0"/>
          </a:p>
        </p:txBody>
      </p:sp>
      <p:sp>
        <p:nvSpPr>
          <p:cNvPr id="17" name="Shape 15"/>
          <p:cNvSpPr/>
          <p:nvPr/>
        </p:nvSpPr>
        <p:spPr>
          <a:xfrm>
            <a:off x="1950720" y="3718560"/>
            <a:ext cx="3718560" cy="2133600"/>
          </a:xfrm>
          <a:prstGeom prst="rect">
            <a:avLst/>
          </a:prstGeom>
          <a:solidFill>
            <a:srgbClr val="FFFFFF"/>
          </a:solidFill>
          <a:ln/>
          <a:effectLst>
            <a:outerShdw blurRad="76200" dist="25400" dir="8100000" algn="bl" rotWithShape="0">
              <a:srgbClr val="000000">
                <a:alpha val="10000"/>
              </a:srgbClr>
            </a:outerShdw>
          </a:effectLst>
        </p:spPr>
      </p:sp>
      <p:sp>
        <p:nvSpPr>
          <p:cNvPr id="18" name="Shape 16"/>
          <p:cNvSpPr/>
          <p:nvPr/>
        </p:nvSpPr>
        <p:spPr>
          <a:xfrm>
            <a:off x="1950720" y="3718560"/>
            <a:ext cx="85344" cy="2133600"/>
          </a:xfrm>
          <a:prstGeom prst="rect">
            <a:avLst/>
          </a:prstGeom>
          <a:solidFill>
            <a:srgbClr val="F4A325"/>
          </a:solidFill>
          <a:ln w="12700">
            <a:solidFill>
              <a:srgbClr val="F4A325"/>
            </a:solidFill>
            <a:prstDash val="solid"/>
          </a:ln>
        </p:spPr>
      </p:sp>
      <p:sp>
        <p:nvSpPr>
          <p:cNvPr id="19" name="Text 17"/>
          <p:cNvSpPr/>
          <p:nvPr/>
        </p:nvSpPr>
        <p:spPr>
          <a:xfrm>
            <a:off x="2133600" y="3864864"/>
            <a:ext cx="3474720" cy="390144"/>
          </a:xfrm>
          <a:prstGeom prst="rect">
            <a:avLst/>
          </a:prstGeom>
          <a:noFill/>
          <a:ln/>
        </p:spPr>
        <p:txBody>
          <a:bodyPr wrap="square" lIns="0" tIns="0" rIns="0" bIns="0" rtlCol="0" anchor="ctr"/>
          <a:lstStyle/>
          <a:p>
            <a:r>
              <a:rPr lang="en-US" sz="1467" b="1" dirty="0">
                <a:solidFill>
                  <a:srgbClr val="142966"/>
                </a:solidFill>
              </a:rPr>
              <a:t>Financial Disclosures</a:t>
            </a:r>
            <a:endParaRPr lang="en-US" sz="1467" dirty="0"/>
          </a:p>
        </p:txBody>
      </p:sp>
      <p:sp>
        <p:nvSpPr>
          <p:cNvPr id="20" name="Text 18"/>
          <p:cNvSpPr/>
          <p:nvPr/>
        </p:nvSpPr>
        <p:spPr>
          <a:xfrm>
            <a:off x="2133600" y="4267200"/>
            <a:ext cx="3474720" cy="1463040"/>
          </a:xfrm>
          <a:prstGeom prst="rect">
            <a:avLst/>
          </a:prstGeom>
          <a:noFill/>
          <a:ln/>
        </p:spPr>
        <p:txBody>
          <a:bodyPr wrap="square" lIns="0" tIns="0" rIns="0" bIns="0" rtlCol="0" anchor="ctr"/>
          <a:lstStyle/>
          <a:p>
            <a:r>
              <a:rPr lang="en-US" sz="1333" dirty="0">
                <a:solidFill>
                  <a:srgbClr val="0A1430"/>
                </a:solidFill>
              </a:rPr>
              <a:t>Acquirer → ARG0, Acquired → ARG1</a:t>
            </a:r>
            <a:endParaRPr lang="en-US" sz="1333" dirty="0"/>
          </a:p>
          <a:p>
            <a:r>
              <a:rPr lang="en-US" sz="1333" dirty="0">
                <a:solidFill>
                  <a:srgbClr val="0A1430"/>
                </a:solidFill>
              </a:rPr>
              <a:t>Price → ARG2-EXT, Conditions → ARGM-CAU</a:t>
            </a:r>
            <a:endParaRPr lang="en-US" sz="1333" dirty="0"/>
          </a:p>
          <a:p>
            <a:endParaRPr lang="en-US" sz="1333" dirty="0"/>
          </a:p>
          <a:p>
            <a:r>
              <a:rPr lang="en-US" sz="1333" dirty="0">
                <a:solidFill>
                  <a:srgbClr val="0A1430"/>
                </a:solidFill>
              </a:rPr>
              <a:t>Role-aware reasoning separates event from contingent clauses.</a:t>
            </a:r>
            <a:endParaRPr lang="en-US" sz="1333" dirty="0"/>
          </a:p>
        </p:txBody>
      </p:sp>
      <p:sp>
        <p:nvSpPr>
          <p:cNvPr id="21" name="Shape 19"/>
          <p:cNvSpPr/>
          <p:nvPr/>
        </p:nvSpPr>
        <p:spPr>
          <a:xfrm>
            <a:off x="5852160" y="3718560"/>
            <a:ext cx="3718560" cy="2133600"/>
          </a:xfrm>
          <a:prstGeom prst="rect">
            <a:avLst/>
          </a:prstGeom>
          <a:solidFill>
            <a:srgbClr val="FFFFFF"/>
          </a:solidFill>
          <a:ln/>
          <a:effectLst>
            <a:outerShdw blurRad="76200" dist="25400" dir="8100000" algn="bl" rotWithShape="0">
              <a:srgbClr val="000000">
                <a:alpha val="10000"/>
              </a:srgbClr>
            </a:outerShdw>
          </a:effectLst>
        </p:spPr>
      </p:sp>
      <p:sp>
        <p:nvSpPr>
          <p:cNvPr id="22" name="Shape 20"/>
          <p:cNvSpPr/>
          <p:nvPr/>
        </p:nvSpPr>
        <p:spPr>
          <a:xfrm>
            <a:off x="5852160" y="3718560"/>
            <a:ext cx="85344" cy="2133600"/>
          </a:xfrm>
          <a:prstGeom prst="rect">
            <a:avLst/>
          </a:prstGeom>
          <a:solidFill>
            <a:srgbClr val="142966"/>
          </a:solidFill>
          <a:ln w="12700">
            <a:solidFill>
              <a:srgbClr val="142966"/>
            </a:solidFill>
            <a:prstDash val="solid"/>
          </a:ln>
        </p:spPr>
      </p:sp>
      <p:sp>
        <p:nvSpPr>
          <p:cNvPr id="23" name="Text 21"/>
          <p:cNvSpPr/>
          <p:nvPr/>
        </p:nvSpPr>
        <p:spPr>
          <a:xfrm>
            <a:off x="6035040" y="3864864"/>
            <a:ext cx="3474720" cy="390144"/>
          </a:xfrm>
          <a:prstGeom prst="rect">
            <a:avLst/>
          </a:prstGeom>
          <a:noFill/>
          <a:ln/>
        </p:spPr>
        <p:txBody>
          <a:bodyPr wrap="square" lIns="0" tIns="0" rIns="0" bIns="0" rtlCol="0" anchor="ctr"/>
          <a:lstStyle/>
          <a:p>
            <a:r>
              <a:rPr lang="en-US" sz="1467" b="1" dirty="0">
                <a:solidFill>
                  <a:srgbClr val="142966"/>
                </a:solidFill>
              </a:rPr>
              <a:t>Instructional Procedures</a:t>
            </a:r>
            <a:endParaRPr lang="en-US" sz="1467" dirty="0"/>
          </a:p>
        </p:txBody>
      </p:sp>
      <p:sp>
        <p:nvSpPr>
          <p:cNvPr id="24" name="Text 22"/>
          <p:cNvSpPr/>
          <p:nvPr/>
        </p:nvSpPr>
        <p:spPr>
          <a:xfrm>
            <a:off x="6035040" y="4267200"/>
            <a:ext cx="3474720" cy="1463040"/>
          </a:xfrm>
          <a:prstGeom prst="rect">
            <a:avLst/>
          </a:prstGeom>
          <a:noFill/>
          <a:ln/>
        </p:spPr>
        <p:txBody>
          <a:bodyPr wrap="square" lIns="0" tIns="0" rIns="0" bIns="0" rtlCol="0" anchor="ctr"/>
          <a:lstStyle/>
          <a:p>
            <a:r>
              <a:rPr lang="en-US" sz="1333" dirty="0">
                <a:solidFill>
                  <a:srgbClr val="0A1430"/>
                </a:solidFill>
              </a:rPr>
              <a:t>Temporal + prerequisite reasoning.</a:t>
            </a:r>
            <a:endParaRPr lang="en-US" sz="1333" dirty="0"/>
          </a:p>
          <a:p>
            <a:r>
              <a:rPr lang="en-US" sz="1333" dirty="0">
                <a:solidFill>
                  <a:srgbClr val="0A1430"/>
                </a:solidFill>
              </a:rPr>
              <a:t>Not only 'what must be done' but 'before which step, by whom, for what purpose'.</a:t>
            </a:r>
            <a:endParaRPr lang="en-US" sz="1333" dirty="0"/>
          </a:p>
        </p:txBody>
      </p:sp>
    </p:spTree>
    <p:extLst>
      <p:ext uri="{BB962C8B-B14F-4D97-AF65-F5344CB8AC3E}">
        <p14:creationId xmlns:p14="http://schemas.microsoft.com/office/powerpoint/2010/main" val="280871357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463296"/>
          </a:xfrm>
          <a:prstGeom prst="rect">
            <a:avLst/>
          </a:prstGeom>
          <a:solidFill>
            <a:srgbClr val="1B7FBF"/>
          </a:solidFill>
          <a:ln w="12700">
            <a:solidFill>
              <a:srgbClr val="1B7FBF"/>
            </a:solidFill>
            <a:prstDash val="solid"/>
          </a:ln>
        </p:spPr>
      </p:sp>
      <p:sp>
        <p:nvSpPr>
          <p:cNvPr id="3" name="Text 1"/>
          <p:cNvSpPr/>
          <p:nvPr/>
        </p:nvSpPr>
        <p:spPr>
          <a:xfrm>
            <a:off x="365760" y="0"/>
            <a:ext cx="10972800" cy="463296"/>
          </a:xfrm>
          <a:prstGeom prst="rect">
            <a:avLst/>
          </a:prstGeom>
          <a:noFill/>
          <a:ln/>
        </p:spPr>
        <p:txBody>
          <a:bodyPr wrap="square" lIns="0" tIns="0" rIns="0" bIns="0" rtlCol="0" anchor="ctr"/>
          <a:lstStyle/>
          <a:p>
            <a:r>
              <a:rPr lang="en-US" sz="1333" b="1" kern="0" spc="400" dirty="0">
                <a:solidFill>
                  <a:srgbClr val="FFFFFF"/>
                </a:solidFill>
              </a:rPr>
              <a:t>INNOVATION 4 — HYBRID ARCHITECTURE</a:t>
            </a:r>
            <a:endParaRPr lang="en-US" sz="1333" dirty="0"/>
          </a:p>
        </p:txBody>
      </p:sp>
      <p:sp>
        <p:nvSpPr>
          <p:cNvPr id="4" name="Text 2"/>
          <p:cNvSpPr/>
          <p:nvPr/>
        </p:nvSpPr>
        <p:spPr>
          <a:xfrm>
            <a:off x="548640" y="609600"/>
            <a:ext cx="11094720" cy="853440"/>
          </a:xfrm>
          <a:prstGeom prst="rect">
            <a:avLst/>
          </a:prstGeom>
          <a:noFill/>
          <a:ln/>
        </p:spPr>
        <p:txBody>
          <a:bodyPr wrap="square" lIns="0" tIns="0" rIns="0" bIns="0" rtlCol="0" anchor="ctr"/>
          <a:lstStyle/>
          <a:p>
            <a:r>
              <a:rPr lang="en-US" sz="3467" b="1" dirty="0">
                <a:solidFill>
                  <a:srgbClr val="142966"/>
                </a:solidFill>
                <a:latin typeface="Calibri" pitchFamily="34" charset="0"/>
                <a:ea typeface="Calibri" pitchFamily="34" charset="-122"/>
                <a:cs typeface="Calibri" pitchFamily="34" charset="-120"/>
              </a:rPr>
              <a:t>HybridPropQA: Classical SRL + LLM Grounding</a:t>
            </a:r>
            <a:endParaRPr lang="en-US" sz="3467" dirty="0"/>
          </a:p>
        </p:txBody>
      </p:sp>
      <p:pic>
        <p:nvPicPr>
          <p:cNvPr id="5" name="Image 0" descr="preencoded.png"/>
          <p:cNvPicPr>
            <a:picLocks noChangeAspect="1"/>
          </p:cNvPicPr>
          <p:nvPr/>
        </p:nvPicPr>
        <p:blipFill>
          <a:blip r:embed="rId3"/>
          <a:stretch>
            <a:fillRect/>
          </a:stretch>
        </p:blipFill>
        <p:spPr>
          <a:xfrm>
            <a:off x="365760" y="1280160"/>
            <a:ext cx="11460480" cy="1767840"/>
          </a:xfrm>
          <a:prstGeom prst="rect">
            <a:avLst/>
          </a:prstGeom>
        </p:spPr>
      </p:pic>
      <p:sp>
        <p:nvSpPr>
          <p:cNvPr id="6" name="Shape 3"/>
          <p:cNvSpPr/>
          <p:nvPr/>
        </p:nvSpPr>
        <p:spPr>
          <a:xfrm>
            <a:off x="365760" y="3230880"/>
            <a:ext cx="5486400" cy="1584960"/>
          </a:xfrm>
          <a:prstGeom prst="rect">
            <a:avLst/>
          </a:prstGeom>
          <a:solidFill>
            <a:srgbClr val="FFFFFF"/>
          </a:solidFill>
          <a:ln/>
          <a:effectLst>
            <a:outerShdw blurRad="76200" dist="25400" dir="8100000" algn="bl" rotWithShape="0">
              <a:srgbClr val="000000">
                <a:alpha val="10000"/>
              </a:srgbClr>
            </a:outerShdw>
          </a:effectLst>
        </p:spPr>
      </p:sp>
      <p:sp>
        <p:nvSpPr>
          <p:cNvPr id="7" name="Shape 4"/>
          <p:cNvSpPr/>
          <p:nvPr/>
        </p:nvSpPr>
        <p:spPr>
          <a:xfrm>
            <a:off x="365760" y="3230880"/>
            <a:ext cx="85344" cy="1584960"/>
          </a:xfrm>
          <a:prstGeom prst="rect">
            <a:avLst/>
          </a:prstGeom>
          <a:solidFill>
            <a:srgbClr val="0FA3B1"/>
          </a:solidFill>
          <a:ln w="12700">
            <a:solidFill>
              <a:srgbClr val="0FA3B1"/>
            </a:solidFill>
            <a:prstDash val="solid"/>
          </a:ln>
        </p:spPr>
      </p:sp>
      <p:sp>
        <p:nvSpPr>
          <p:cNvPr id="8" name="Text 5"/>
          <p:cNvSpPr/>
          <p:nvPr/>
        </p:nvSpPr>
        <p:spPr>
          <a:xfrm>
            <a:off x="548640" y="3377184"/>
            <a:ext cx="5242560" cy="390144"/>
          </a:xfrm>
          <a:prstGeom prst="rect">
            <a:avLst/>
          </a:prstGeom>
          <a:noFill/>
          <a:ln/>
        </p:spPr>
        <p:txBody>
          <a:bodyPr wrap="square" lIns="0" tIns="0" rIns="0" bIns="0" rtlCol="0" anchor="ctr"/>
          <a:lstStyle/>
          <a:p>
            <a:r>
              <a:rPr lang="en-US" sz="1467" b="1" dirty="0">
                <a:solidFill>
                  <a:srgbClr val="142966"/>
                </a:solidFill>
              </a:rPr>
              <a:t>Classical SRL contributes</a:t>
            </a:r>
            <a:endParaRPr lang="en-US" sz="1467" dirty="0"/>
          </a:p>
        </p:txBody>
      </p:sp>
      <p:sp>
        <p:nvSpPr>
          <p:cNvPr id="9" name="Text 6"/>
          <p:cNvSpPr/>
          <p:nvPr/>
        </p:nvSpPr>
        <p:spPr>
          <a:xfrm>
            <a:off x="548640" y="3779520"/>
            <a:ext cx="5242560" cy="914400"/>
          </a:xfrm>
          <a:prstGeom prst="rect">
            <a:avLst/>
          </a:prstGeom>
          <a:noFill/>
          <a:ln/>
        </p:spPr>
        <p:txBody>
          <a:bodyPr wrap="square" lIns="0" tIns="0" rIns="0" bIns="0" rtlCol="0" anchor="ctr"/>
          <a:lstStyle/>
          <a:p>
            <a:r>
              <a:rPr lang="en-US" sz="1333" dirty="0">
                <a:solidFill>
                  <a:srgbClr val="0A1430"/>
                </a:solidFill>
              </a:rPr>
              <a:t>Consistency, span faithfulness, explicit role inventory, reproducibility — even on CPU</a:t>
            </a:r>
            <a:endParaRPr lang="en-US" sz="1333" dirty="0"/>
          </a:p>
        </p:txBody>
      </p:sp>
      <p:sp>
        <p:nvSpPr>
          <p:cNvPr id="10" name="Shape 7"/>
          <p:cNvSpPr/>
          <p:nvPr/>
        </p:nvSpPr>
        <p:spPr>
          <a:xfrm>
            <a:off x="365760" y="4937760"/>
            <a:ext cx="5486400" cy="1584960"/>
          </a:xfrm>
          <a:prstGeom prst="rect">
            <a:avLst/>
          </a:prstGeom>
          <a:solidFill>
            <a:srgbClr val="FFFFFF"/>
          </a:solidFill>
          <a:ln/>
          <a:effectLst>
            <a:outerShdw blurRad="76200" dist="25400" dir="8100000" algn="bl" rotWithShape="0">
              <a:srgbClr val="000000">
                <a:alpha val="10000"/>
              </a:srgbClr>
            </a:outerShdw>
          </a:effectLst>
        </p:spPr>
      </p:sp>
      <p:sp>
        <p:nvSpPr>
          <p:cNvPr id="11" name="Shape 8"/>
          <p:cNvSpPr/>
          <p:nvPr/>
        </p:nvSpPr>
        <p:spPr>
          <a:xfrm>
            <a:off x="365760" y="4937760"/>
            <a:ext cx="85344" cy="1584960"/>
          </a:xfrm>
          <a:prstGeom prst="rect">
            <a:avLst/>
          </a:prstGeom>
          <a:solidFill>
            <a:srgbClr val="142966"/>
          </a:solidFill>
          <a:ln w="12700">
            <a:solidFill>
              <a:srgbClr val="142966"/>
            </a:solidFill>
            <a:prstDash val="solid"/>
          </a:ln>
        </p:spPr>
      </p:sp>
      <p:sp>
        <p:nvSpPr>
          <p:cNvPr id="12" name="Text 9"/>
          <p:cNvSpPr/>
          <p:nvPr/>
        </p:nvSpPr>
        <p:spPr>
          <a:xfrm>
            <a:off x="548640" y="5084064"/>
            <a:ext cx="5242560" cy="390144"/>
          </a:xfrm>
          <a:prstGeom prst="rect">
            <a:avLst/>
          </a:prstGeom>
          <a:noFill/>
          <a:ln/>
        </p:spPr>
        <p:txBody>
          <a:bodyPr wrap="square" lIns="0" tIns="0" rIns="0" bIns="0" rtlCol="0" anchor="ctr"/>
          <a:lstStyle/>
          <a:p>
            <a:r>
              <a:rPr lang="en-US" sz="1467" b="1" dirty="0">
                <a:solidFill>
                  <a:srgbClr val="142966"/>
                </a:solidFill>
              </a:rPr>
              <a:t>LLM contributes</a:t>
            </a:r>
            <a:endParaRPr lang="en-US" sz="1467" dirty="0"/>
          </a:p>
        </p:txBody>
      </p:sp>
      <p:sp>
        <p:nvSpPr>
          <p:cNvPr id="13" name="Text 10"/>
          <p:cNvSpPr/>
          <p:nvPr/>
        </p:nvSpPr>
        <p:spPr>
          <a:xfrm>
            <a:off x="548640" y="5486400"/>
            <a:ext cx="5242560" cy="914400"/>
          </a:xfrm>
          <a:prstGeom prst="rect">
            <a:avLst/>
          </a:prstGeom>
          <a:noFill/>
          <a:ln/>
        </p:spPr>
        <p:txBody>
          <a:bodyPr wrap="square" lIns="0" tIns="0" rIns="0" bIns="0" rtlCol="0" anchor="ctr"/>
          <a:lstStyle/>
          <a:p>
            <a:r>
              <a:rPr lang="en-US" sz="1333" dirty="0">
                <a:solidFill>
                  <a:srgbClr val="0A1430"/>
                </a:solidFill>
              </a:rPr>
              <a:t>Paraphrase handling, broader world knowledge, natural-language explanation, abstraction</a:t>
            </a:r>
            <a:endParaRPr lang="en-US" sz="1333" dirty="0"/>
          </a:p>
        </p:txBody>
      </p:sp>
      <p:sp>
        <p:nvSpPr>
          <p:cNvPr id="14" name="Shape 11"/>
          <p:cNvSpPr/>
          <p:nvPr/>
        </p:nvSpPr>
        <p:spPr>
          <a:xfrm>
            <a:off x="6217920" y="3230880"/>
            <a:ext cx="5486400" cy="1584960"/>
          </a:xfrm>
          <a:prstGeom prst="rect">
            <a:avLst/>
          </a:prstGeom>
          <a:solidFill>
            <a:srgbClr val="FFFFFF"/>
          </a:solidFill>
          <a:ln/>
          <a:effectLst>
            <a:outerShdw blurRad="76200" dist="25400" dir="8100000" algn="bl" rotWithShape="0">
              <a:srgbClr val="000000">
                <a:alpha val="10000"/>
              </a:srgbClr>
            </a:outerShdw>
          </a:effectLst>
        </p:spPr>
      </p:sp>
      <p:sp>
        <p:nvSpPr>
          <p:cNvPr id="15" name="Shape 12"/>
          <p:cNvSpPr/>
          <p:nvPr/>
        </p:nvSpPr>
        <p:spPr>
          <a:xfrm>
            <a:off x="6217920" y="3230880"/>
            <a:ext cx="85344" cy="1584960"/>
          </a:xfrm>
          <a:prstGeom prst="rect">
            <a:avLst/>
          </a:prstGeom>
          <a:solidFill>
            <a:srgbClr val="F4A325"/>
          </a:solidFill>
          <a:ln w="12700">
            <a:solidFill>
              <a:srgbClr val="F4A325"/>
            </a:solidFill>
            <a:prstDash val="solid"/>
          </a:ln>
        </p:spPr>
      </p:sp>
      <p:sp>
        <p:nvSpPr>
          <p:cNvPr id="16" name="Text 13"/>
          <p:cNvSpPr/>
          <p:nvPr/>
        </p:nvSpPr>
        <p:spPr>
          <a:xfrm>
            <a:off x="6400800" y="3377184"/>
            <a:ext cx="5242560" cy="390144"/>
          </a:xfrm>
          <a:prstGeom prst="rect">
            <a:avLst/>
          </a:prstGeom>
          <a:noFill/>
          <a:ln/>
        </p:spPr>
        <p:txBody>
          <a:bodyPr wrap="square" lIns="0" tIns="0" rIns="0" bIns="0" rtlCol="0" anchor="ctr"/>
          <a:lstStyle/>
          <a:p>
            <a:r>
              <a:rPr lang="en-US" sz="1467" b="1" dirty="0">
                <a:solidFill>
                  <a:srgbClr val="142966"/>
                </a:solidFill>
              </a:rPr>
              <a:t>Roleset grounding is the safeguard</a:t>
            </a:r>
            <a:endParaRPr lang="en-US" sz="1467" dirty="0"/>
          </a:p>
        </p:txBody>
      </p:sp>
      <p:sp>
        <p:nvSpPr>
          <p:cNvPr id="17" name="Text 14"/>
          <p:cNvSpPr/>
          <p:nvPr/>
        </p:nvSpPr>
        <p:spPr>
          <a:xfrm>
            <a:off x="6400800" y="3779520"/>
            <a:ext cx="5242560" cy="914400"/>
          </a:xfrm>
          <a:prstGeom prst="rect">
            <a:avLst/>
          </a:prstGeom>
          <a:noFill/>
          <a:ln/>
        </p:spPr>
        <p:txBody>
          <a:bodyPr wrap="square" lIns="0" tIns="0" rIns="0" bIns="0" rtlCol="0" anchor="ctr"/>
          <a:lstStyle/>
          <a:p>
            <a:r>
              <a:rPr lang="en-US" sz="1333" dirty="0">
                <a:solidFill>
                  <a:srgbClr val="0A1430"/>
                </a:solidFill>
              </a:rPr>
              <a:t>Limits LLM degrees of freedom; keeps answers tied to explicit semantic inventory</a:t>
            </a:r>
            <a:endParaRPr lang="en-US" sz="1333" dirty="0"/>
          </a:p>
        </p:txBody>
      </p:sp>
      <p:sp>
        <p:nvSpPr>
          <p:cNvPr id="18" name="Shape 15"/>
          <p:cNvSpPr/>
          <p:nvPr/>
        </p:nvSpPr>
        <p:spPr>
          <a:xfrm>
            <a:off x="6217920" y="4937760"/>
            <a:ext cx="5486400" cy="1584960"/>
          </a:xfrm>
          <a:prstGeom prst="rect">
            <a:avLst/>
          </a:prstGeom>
          <a:solidFill>
            <a:srgbClr val="FFFFFF"/>
          </a:solidFill>
          <a:ln/>
          <a:effectLst>
            <a:outerShdw blurRad="76200" dist="25400" dir="8100000" algn="bl" rotWithShape="0">
              <a:srgbClr val="000000">
                <a:alpha val="10000"/>
              </a:srgbClr>
            </a:outerShdw>
          </a:effectLst>
        </p:spPr>
      </p:sp>
      <p:sp>
        <p:nvSpPr>
          <p:cNvPr id="19" name="Shape 16"/>
          <p:cNvSpPr/>
          <p:nvPr/>
        </p:nvSpPr>
        <p:spPr>
          <a:xfrm>
            <a:off x="6217920" y="4937760"/>
            <a:ext cx="85344" cy="1584960"/>
          </a:xfrm>
          <a:prstGeom prst="rect">
            <a:avLst/>
          </a:prstGeom>
          <a:solidFill>
            <a:srgbClr val="1B7FBF"/>
          </a:solidFill>
          <a:ln w="12700">
            <a:solidFill>
              <a:srgbClr val="1B7FBF"/>
            </a:solidFill>
            <a:prstDash val="solid"/>
          </a:ln>
        </p:spPr>
      </p:sp>
      <p:sp>
        <p:nvSpPr>
          <p:cNvPr id="20" name="Text 17"/>
          <p:cNvSpPr/>
          <p:nvPr/>
        </p:nvSpPr>
        <p:spPr>
          <a:xfrm>
            <a:off x="6400800" y="5084064"/>
            <a:ext cx="5242560" cy="390144"/>
          </a:xfrm>
          <a:prstGeom prst="rect">
            <a:avLst/>
          </a:prstGeom>
          <a:noFill/>
          <a:ln/>
        </p:spPr>
        <p:txBody>
          <a:bodyPr wrap="square" lIns="0" tIns="0" rIns="0" bIns="0" rtlCol="0" anchor="ctr"/>
          <a:lstStyle/>
          <a:p>
            <a:r>
              <a:rPr lang="en-US" sz="1467" b="1" dirty="0">
                <a:solidFill>
                  <a:srgbClr val="142966"/>
                </a:solidFill>
              </a:rPr>
              <a:t>Practical compromise</a:t>
            </a:r>
            <a:endParaRPr lang="en-US" sz="1467" dirty="0"/>
          </a:p>
        </p:txBody>
      </p:sp>
      <p:sp>
        <p:nvSpPr>
          <p:cNvPr id="21" name="Text 18"/>
          <p:cNvSpPr/>
          <p:nvPr/>
        </p:nvSpPr>
        <p:spPr>
          <a:xfrm>
            <a:off x="6400800" y="5486400"/>
            <a:ext cx="5242560" cy="914400"/>
          </a:xfrm>
          <a:prstGeom prst="rect">
            <a:avLst/>
          </a:prstGeom>
          <a:noFill/>
          <a:ln/>
        </p:spPr>
        <p:txBody>
          <a:bodyPr wrap="square" lIns="0" tIns="0" rIns="0" bIns="0" rtlCol="0" anchor="ctr"/>
          <a:lstStyle/>
          <a:p>
            <a:r>
              <a:rPr lang="en-US" sz="1333" dirty="0">
                <a:solidFill>
                  <a:srgbClr val="0A1430"/>
                </a:solidFill>
              </a:rPr>
              <a:t>No need to retrain giant models end-to-end; use LLMs where strongest: explanation + reasoning over structured evidence</a:t>
            </a:r>
            <a:endParaRPr lang="en-US" sz="1333" dirty="0"/>
          </a:p>
        </p:txBody>
      </p:sp>
    </p:spTree>
    <p:extLst>
      <p:ext uri="{BB962C8B-B14F-4D97-AF65-F5344CB8AC3E}">
        <p14:creationId xmlns:p14="http://schemas.microsoft.com/office/powerpoint/2010/main" val="15349717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463296"/>
          </a:xfrm>
          <a:prstGeom prst="rect">
            <a:avLst/>
          </a:prstGeom>
          <a:solidFill>
            <a:srgbClr val="1B7FBF"/>
          </a:solidFill>
          <a:ln w="12700">
            <a:solidFill>
              <a:srgbClr val="1B7FBF"/>
            </a:solidFill>
            <a:prstDash val="solid"/>
          </a:ln>
        </p:spPr>
      </p:sp>
      <p:sp>
        <p:nvSpPr>
          <p:cNvPr id="3" name="Text 1"/>
          <p:cNvSpPr/>
          <p:nvPr/>
        </p:nvSpPr>
        <p:spPr>
          <a:xfrm>
            <a:off x="365760" y="0"/>
            <a:ext cx="10972800" cy="463296"/>
          </a:xfrm>
          <a:prstGeom prst="rect">
            <a:avLst/>
          </a:prstGeom>
          <a:noFill/>
          <a:ln/>
        </p:spPr>
        <p:txBody>
          <a:bodyPr wrap="square" lIns="0" tIns="0" rIns="0" bIns="0" rtlCol="0" anchor="ctr"/>
          <a:lstStyle/>
          <a:p>
            <a:r>
              <a:rPr lang="en-US" sz="1333" b="1" kern="0" spc="400" dirty="0">
                <a:solidFill>
                  <a:srgbClr val="FFFFFF"/>
                </a:solidFill>
              </a:rPr>
              <a:t>INNOVATION 5 — BENCHMARK PROPOSAL</a:t>
            </a:r>
            <a:endParaRPr lang="en-US" sz="1333" dirty="0"/>
          </a:p>
        </p:txBody>
      </p:sp>
      <p:sp>
        <p:nvSpPr>
          <p:cNvPr id="4" name="Text 2"/>
          <p:cNvSpPr/>
          <p:nvPr/>
        </p:nvSpPr>
        <p:spPr>
          <a:xfrm>
            <a:off x="548640" y="609600"/>
            <a:ext cx="11094720" cy="853440"/>
          </a:xfrm>
          <a:prstGeom prst="rect">
            <a:avLst/>
          </a:prstGeom>
          <a:noFill/>
          <a:ln/>
        </p:spPr>
        <p:txBody>
          <a:bodyPr wrap="square" lIns="0" tIns="0" rIns="0" bIns="0" rtlCol="0" anchor="ctr"/>
          <a:lstStyle/>
          <a:p>
            <a:r>
              <a:rPr lang="en-US" sz="3467" b="1" dirty="0">
                <a:solidFill>
                  <a:srgbClr val="142966"/>
                </a:solidFill>
                <a:latin typeface="Calibri" pitchFamily="34" charset="0"/>
                <a:ea typeface="Calibri" pitchFamily="34" charset="-122"/>
                <a:cs typeface="Calibri" pitchFamily="34" charset="-120"/>
              </a:rPr>
              <a:t>PropQA-Bench: A New Community Benchmark</a:t>
            </a:r>
            <a:endParaRPr lang="en-US" sz="3467" dirty="0"/>
          </a:p>
        </p:txBody>
      </p:sp>
      <p:sp>
        <p:nvSpPr>
          <p:cNvPr id="5" name="Shape 3"/>
          <p:cNvSpPr/>
          <p:nvPr/>
        </p:nvSpPr>
        <p:spPr>
          <a:xfrm>
            <a:off x="365760" y="1341120"/>
            <a:ext cx="1767840" cy="792480"/>
          </a:xfrm>
          <a:prstGeom prst="rect">
            <a:avLst/>
          </a:prstGeom>
          <a:solidFill>
            <a:srgbClr val="0FA3B1"/>
          </a:solidFill>
          <a:ln w="12700">
            <a:solidFill>
              <a:srgbClr val="FFFFFF"/>
            </a:solidFill>
            <a:prstDash val="solid"/>
          </a:ln>
        </p:spPr>
      </p:sp>
      <p:sp>
        <p:nvSpPr>
          <p:cNvPr id="6" name="Text 4"/>
          <p:cNvSpPr/>
          <p:nvPr/>
        </p:nvSpPr>
        <p:spPr>
          <a:xfrm>
            <a:off x="365760" y="1341120"/>
            <a:ext cx="1767840" cy="792480"/>
          </a:xfrm>
          <a:prstGeom prst="rect">
            <a:avLst/>
          </a:prstGeom>
          <a:noFill/>
          <a:ln/>
        </p:spPr>
        <p:txBody>
          <a:bodyPr wrap="square" lIns="0" tIns="0" rIns="0" bIns="0" rtlCol="0" anchor="ctr"/>
          <a:lstStyle/>
          <a:p>
            <a:pPr algn="ctr"/>
            <a:r>
              <a:rPr lang="en-US" sz="1200" b="1" dirty="0">
                <a:solidFill>
                  <a:srgbClr val="FFFFFF"/>
                </a:solidFill>
              </a:rPr>
              <a:t>Document Sampling</a:t>
            </a:r>
            <a:endParaRPr lang="en-US" sz="1200" dirty="0"/>
          </a:p>
        </p:txBody>
      </p:sp>
      <p:sp>
        <p:nvSpPr>
          <p:cNvPr id="7" name="Shape 5"/>
          <p:cNvSpPr/>
          <p:nvPr/>
        </p:nvSpPr>
        <p:spPr>
          <a:xfrm>
            <a:off x="2133600" y="1737360"/>
            <a:ext cx="182880" cy="0"/>
          </a:xfrm>
          <a:prstGeom prst="line">
            <a:avLst/>
          </a:prstGeom>
          <a:noFill/>
          <a:ln w="19050">
            <a:solidFill>
              <a:srgbClr val="142966"/>
            </a:solidFill>
            <a:prstDash val="solid"/>
          </a:ln>
        </p:spPr>
      </p:sp>
      <p:sp>
        <p:nvSpPr>
          <p:cNvPr id="8" name="Shape 6"/>
          <p:cNvSpPr/>
          <p:nvPr/>
        </p:nvSpPr>
        <p:spPr>
          <a:xfrm>
            <a:off x="2316480" y="1341120"/>
            <a:ext cx="1767840" cy="792480"/>
          </a:xfrm>
          <a:prstGeom prst="rect">
            <a:avLst/>
          </a:prstGeom>
          <a:solidFill>
            <a:srgbClr val="1B7FBF"/>
          </a:solidFill>
          <a:ln w="12700">
            <a:solidFill>
              <a:srgbClr val="FFFFFF"/>
            </a:solidFill>
            <a:prstDash val="solid"/>
          </a:ln>
        </p:spPr>
      </p:sp>
      <p:sp>
        <p:nvSpPr>
          <p:cNvPr id="9" name="Text 7"/>
          <p:cNvSpPr/>
          <p:nvPr/>
        </p:nvSpPr>
        <p:spPr>
          <a:xfrm>
            <a:off x="2316480" y="1341120"/>
            <a:ext cx="1767840" cy="792480"/>
          </a:xfrm>
          <a:prstGeom prst="rect">
            <a:avLst/>
          </a:prstGeom>
          <a:noFill/>
          <a:ln/>
        </p:spPr>
        <p:txBody>
          <a:bodyPr wrap="square" lIns="0" tIns="0" rIns="0" bIns="0" rtlCol="0" anchor="ctr"/>
          <a:lstStyle/>
          <a:p>
            <a:pPr algn="ctr"/>
            <a:r>
              <a:rPr lang="en-US" sz="1200" b="1" dirty="0">
                <a:solidFill>
                  <a:srgbClr val="FFFFFF"/>
                </a:solidFill>
              </a:rPr>
              <a:t>Predicate Selection</a:t>
            </a:r>
            <a:endParaRPr lang="en-US" sz="1200" dirty="0"/>
          </a:p>
        </p:txBody>
      </p:sp>
      <p:sp>
        <p:nvSpPr>
          <p:cNvPr id="10" name="Shape 8"/>
          <p:cNvSpPr/>
          <p:nvPr/>
        </p:nvSpPr>
        <p:spPr>
          <a:xfrm>
            <a:off x="4084320" y="1737360"/>
            <a:ext cx="182880" cy="0"/>
          </a:xfrm>
          <a:prstGeom prst="line">
            <a:avLst/>
          </a:prstGeom>
          <a:noFill/>
          <a:ln w="19050">
            <a:solidFill>
              <a:srgbClr val="142966"/>
            </a:solidFill>
            <a:prstDash val="solid"/>
          </a:ln>
        </p:spPr>
      </p:sp>
      <p:sp>
        <p:nvSpPr>
          <p:cNvPr id="11" name="Shape 9"/>
          <p:cNvSpPr/>
          <p:nvPr/>
        </p:nvSpPr>
        <p:spPr>
          <a:xfrm>
            <a:off x="4267200" y="1341120"/>
            <a:ext cx="1767840" cy="792480"/>
          </a:xfrm>
          <a:prstGeom prst="rect">
            <a:avLst/>
          </a:prstGeom>
          <a:solidFill>
            <a:srgbClr val="142966"/>
          </a:solidFill>
          <a:ln w="12700">
            <a:solidFill>
              <a:srgbClr val="FFFFFF"/>
            </a:solidFill>
            <a:prstDash val="solid"/>
          </a:ln>
        </p:spPr>
      </p:sp>
      <p:sp>
        <p:nvSpPr>
          <p:cNvPr id="12" name="Text 10"/>
          <p:cNvSpPr/>
          <p:nvPr/>
        </p:nvSpPr>
        <p:spPr>
          <a:xfrm>
            <a:off x="4267200" y="1341120"/>
            <a:ext cx="1767840" cy="792480"/>
          </a:xfrm>
          <a:prstGeom prst="rect">
            <a:avLst/>
          </a:prstGeom>
          <a:noFill/>
          <a:ln/>
        </p:spPr>
        <p:txBody>
          <a:bodyPr wrap="square" lIns="0" tIns="0" rIns="0" bIns="0" rtlCol="0" anchor="ctr"/>
          <a:lstStyle/>
          <a:p>
            <a:pPr algn="ctr"/>
            <a:r>
              <a:rPr lang="en-US" sz="1200" b="1" dirty="0">
                <a:solidFill>
                  <a:srgbClr val="FFFFFF"/>
                </a:solidFill>
              </a:rPr>
              <a:t>Question Writing</a:t>
            </a:r>
            <a:endParaRPr lang="en-US" sz="1200" dirty="0"/>
          </a:p>
        </p:txBody>
      </p:sp>
      <p:sp>
        <p:nvSpPr>
          <p:cNvPr id="13" name="Shape 11"/>
          <p:cNvSpPr/>
          <p:nvPr/>
        </p:nvSpPr>
        <p:spPr>
          <a:xfrm>
            <a:off x="6035040" y="1737360"/>
            <a:ext cx="182880" cy="0"/>
          </a:xfrm>
          <a:prstGeom prst="line">
            <a:avLst/>
          </a:prstGeom>
          <a:noFill/>
          <a:ln w="19050">
            <a:solidFill>
              <a:srgbClr val="142966"/>
            </a:solidFill>
            <a:prstDash val="solid"/>
          </a:ln>
        </p:spPr>
      </p:sp>
      <p:sp>
        <p:nvSpPr>
          <p:cNvPr id="14" name="Shape 12"/>
          <p:cNvSpPr/>
          <p:nvPr/>
        </p:nvSpPr>
        <p:spPr>
          <a:xfrm>
            <a:off x="6217920" y="1341120"/>
            <a:ext cx="1767840" cy="792480"/>
          </a:xfrm>
          <a:prstGeom prst="rect">
            <a:avLst/>
          </a:prstGeom>
          <a:solidFill>
            <a:srgbClr val="0FA3B1"/>
          </a:solidFill>
          <a:ln w="12700">
            <a:solidFill>
              <a:srgbClr val="FFFFFF"/>
            </a:solidFill>
            <a:prstDash val="solid"/>
          </a:ln>
        </p:spPr>
      </p:sp>
      <p:sp>
        <p:nvSpPr>
          <p:cNvPr id="15" name="Text 13"/>
          <p:cNvSpPr/>
          <p:nvPr/>
        </p:nvSpPr>
        <p:spPr>
          <a:xfrm>
            <a:off x="6217920" y="1341120"/>
            <a:ext cx="1767840" cy="792480"/>
          </a:xfrm>
          <a:prstGeom prst="rect">
            <a:avLst/>
          </a:prstGeom>
          <a:noFill/>
          <a:ln/>
        </p:spPr>
        <p:txBody>
          <a:bodyPr wrap="square" lIns="0" tIns="0" rIns="0" bIns="0" rtlCol="0" anchor="ctr"/>
          <a:lstStyle/>
          <a:p>
            <a:pPr algn="ctr"/>
            <a:r>
              <a:rPr lang="en-US" sz="1200" b="1" dirty="0">
                <a:solidFill>
                  <a:srgbClr val="FFFFFF"/>
                </a:solidFill>
              </a:rPr>
              <a:t>Answer Adjudication</a:t>
            </a:r>
            <a:endParaRPr lang="en-US" sz="1200" dirty="0"/>
          </a:p>
        </p:txBody>
      </p:sp>
      <p:sp>
        <p:nvSpPr>
          <p:cNvPr id="16" name="Shape 14"/>
          <p:cNvSpPr/>
          <p:nvPr/>
        </p:nvSpPr>
        <p:spPr>
          <a:xfrm>
            <a:off x="7985760" y="1737360"/>
            <a:ext cx="182880" cy="0"/>
          </a:xfrm>
          <a:prstGeom prst="line">
            <a:avLst/>
          </a:prstGeom>
          <a:noFill/>
          <a:ln w="19050">
            <a:solidFill>
              <a:srgbClr val="142966"/>
            </a:solidFill>
            <a:prstDash val="solid"/>
          </a:ln>
        </p:spPr>
      </p:sp>
      <p:sp>
        <p:nvSpPr>
          <p:cNvPr id="17" name="Shape 15"/>
          <p:cNvSpPr/>
          <p:nvPr/>
        </p:nvSpPr>
        <p:spPr>
          <a:xfrm>
            <a:off x="8168640" y="1341120"/>
            <a:ext cx="1767840" cy="792480"/>
          </a:xfrm>
          <a:prstGeom prst="rect">
            <a:avLst/>
          </a:prstGeom>
          <a:solidFill>
            <a:srgbClr val="1B7FBF"/>
          </a:solidFill>
          <a:ln w="12700">
            <a:solidFill>
              <a:srgbClr val="FFFFFF"/>
            </a:solidFill>
            <a:prstDash val="solid"/>
          </a:ln>
        </p:spPr>
      </p:sp>
      <p:sp>
        <p:nvSpPr>
          <p:cNvPr id="18" name="Text 16"/>
          <p:cNvSpPr/>
          <p:nvPr/>
        </p:nvSpPr>
        <p:spPr>
          <a:xfrm>
            <a:off x="8168640" y="1341120"/>
            <a:ext cx="1767840" cy="792480"/>
          </a:xfrm>
          <a:prstGeom prst="rect">
            <a:avLst/>
          </a:prstGeom>
          <a:noFill/>
          <a:ln/>
        </p:spPr>
        <p:txBody>
          <a:bodyPr wrap="square" lIns="0" tIns="0" rIns="0" bIns="0" rtlCol="0" anchor="ctr"/>
          <a:lstStyle/>
          <a:p>
            <a:pPr algn="ctr"/>
            <a:r>
              <a:rPr lang="en-US" sz="1200" b="1" dirty="0">
                <a:solidFill>
                  <a:srgbClr val="FFFFFF"/>
                </a:solidFill>
              </a:rPr>
              <a:t>Scoring Suite</a:t>
            </a:r>
            <a:endParaRPr lang="en-US" sz="1200" dirty="0"/>
          </a:p>
        </p:txBody>
      </p:sp>
      <p:sp>
        <p:nvSpPr>
          <p:cNvPr id="19" name="Shape 17"/>
          <p:cNvSpPr/>
          <p:nvPr/>
        </p:nvSpPr>
        <p:spPr>
          <a:xfrm>
            <a:off x="9936480" y="1737360"/>
            <a:ext cx="182880" cy="0"/>
          </a:xfrm>
          <a:prstGeom prst="line">
            <a:avLst/>
          </a:prstGeom>
          <a:noFill/>
          <a:ln w="19050">
            <a:solidFill>
              <a:srgbClr val="142966"/>
            </a:solidFill>
            <a:prstDash val="solid"/>
          </a:ln>
        </p:spPr>
      </p:sp>
      <p:sp>
        <p:nvSpPr>
          <p:cNvPr id="20" name="Shape 18"/>
          <p:cNvSpPr/>
          <p:nvPr/>
        </p:nvSpPr>
        <p:spPr>
          <a:xfrm>
            <a:off x="10119360" y="1341120"/>
            <a:ext cx="1767840" cy="792480"/>
          </a:xfrm>
          <a:prstGeom prst="rect">
            <a:avLst/>
          </a:prstGeom>
          <a:solidFill>
            <a:srgbClr val="F4A325"/>
          </a:solidFill>
          <a:ln w="12700">
            <a:solidFill>
              <a:srgbClr val="FFFFFF"/>
            </a:solidFill>
            <a:prstDash val="solid"/>
          </a:ln>
        </p:spPr>
      </p:sp>
      <p:sp>
        <p:nvSpPr>
          <p:cNvPr id="21" name="Text 19"/>
          <p:cNvSpPr/>
          <p:nvPr/>
        </p:nvSpPr>
        <p:spPr>
          <a:xfrm>
            <a:off x="10119360" y="1341120"/>
            <a:ext cx="1767840" cy="792480"/>
          </a:xfrm>
          <a:prstGeom prst="rect">
            <a:avLst/>
          </a:prstGeom>
          <a:noFill/>
          <a:ln/>
        </p:spPr>
        <p:txBody>
          <a:bodyPr wrap="square" lIns="0" tIns="0" rIns="0" bIns="0" rtlCol="0" anchor="ctr"/>
          <a:lstStyle/>
          <a:p>
            <a:pPr algn="ctr"/>
            <a:r>
              <a:rPr lang="en-US" sz="1200" b="1" dirty="0">
                <a:solidFill>
                  <a:srgbClr val="FFFFFF"/>
                </a:solidFill>
              </a:rPr>
              <a:t>Leaderboard</a:t>
            </a:r>
            <a:endParaRPr lang="en-US" sz="1200" dirty="0"/>
          </a:p>
        </p:txBody>
      </p:sp>
      <p:sp>
        <p:nvSpPr>
          <p:cNvPr id="22" name="Shape 20"/>
          <p:cNvSpPr/>
          <p:nvPr/>
        </p:nvSpPr>
        <p:spPr>
          <a:xfrm>
            <a:off x="365760" y="2438400"/>
            <a:ext cx="5486400" cy="1280160"/>
          </a:xfrm>
          <a:prstGeom prst="rect">
            <a:avLst/>
          </a:prstGeom>
          <a:solidFill>
            <a:srgbClr val="FFFFFF"/>
          </a:solidFill>
          <a:ln/>
          <a:effectLst>
            <a:outerShdw blurRad="76200" dist="25400" dir="8100000" algn="bl" rotWithShape="0">
              <a:srgbClr val="000000">
                <a:alpha val="10000"/>
              </a:srgbClr>
            </a:outerShdw>
          </a:effectLst>
        </p:spPr>
      </p:sp>
      <p:sp>
        <p:nvSpPr>
          <p:cNvPr id="23" name="Shape 21"/>
          <p:cNvSpPr/>
          <p:nvPr/>
        </p:nvSpPr>
        <p:spPr>
          <a:xfrm>
            <a:off x="365760" y="2438400"/>
            <a:ext cx="85344" cy="1280160"/>
          </a:xfrm>
          <a:prstGeom prst="rect">
            <a:avLst/>
          </a:prstGeom>
          <a:solidFill>
            <a:srgbClr val="0FA3B1"/>
          </a:solidFill>
          <a:ln w="12700">
            <a:solidFill>
              <a:srgbClr val="0FA3B1"/>
            </a:solidFill>
            <a:prstDash val="solid"/>
          </a:ln>
        </p:spPr>
      </p:sp>
      <p:sp>
        <p:nvSpPr>
          <p:cNvPr id="24" name="Text 22"/>
          <p:cNvSpPr/>
          <p:nvPr/>
        </p:nvSpPr>
        <p:spPr>
          <a:xfrm>
            <a:off x="548640" y="2584704"/>
            <a:ext cx="5242560" cy="390144"/>
          </a:xfrm>
          <a:prstGeom prst="rect">
            <a:avLst/>
          </a:prstGeom>
          <a:noFill/>
          <a:ln/>
        </p:spPr>
        <p:txBody>
          <a:bodyPr wrap="square" lIns="0" tIns="0" rIns="0" bIns="0" rtlCol="0" anchor="ctr"/>
          <a:lstStyle/>
          <a:p>
            <a:r>
              <a:rPr lang="en-US" sz="1467" b="1" dirty="0">
                <a:solidFill>
                  <a:srgbClr val="142966"/>
                </a:solidFill>
              </a:rPr>
              <a:t>Exact Match &amp; Token F1</a:t>
            </a:r>
            <a:endParaRPr lang="en-US" sz="1467" dirty="0"/>
          </a:p>
        </p:txBody>
      </p:sp>
      <p:sp>
        <p:nvSpPr>
          <p:cNvPr id="25" name="Text 23"/>
          <p:cNvSpPr/>
          <p:nvPr/>
        </p:nvSpPr>
        <p:spPr>
          <a:xfrm>
            <a:off x="548640" y="2987040"/>
            <a:ext cx="5242560" cy="609600"/>
          </a:xfrm>
          <a:prstGeom prst="rect">
            <a:avLst/>
          </a:prstGeom>
          <a:noFill/>
          <a:ln/>
        </p:spPr>
        <p:txBody>
          <a:bodyPr wrap="square" lIns="0" tIns="0" rIns="0" bIns="0" rtlCol="0" anchor="ctr"/>
          <a:lstStyle/>
          <a:p>
            <a:r>
              <a:rPr lang="en-US" sz="1333" dirty="0">
                <a:solidFill>
                  <a:srgbClr val="0A1430"/>
                </a:solidFill>
              </a:rPr>
              <a:t>Standard extractive QA metrics for span recovery accuracy</a:t>
            </a:r>
            <a:endParaRPr lang="en-US" sz="1333" dirty="0"/>
          </a:p>
        </p:txBody>
      </p:sp>
      <p:sp>
        <p:nvSpPr>
          <p:cNvPr id="26" name="Shape 24"/>
          <p:cNvSpPr/>
          <p:nvPr/>
        </p:nvSpPr>
        <p:spPr>
          <a:xfrm>
            <a:off x="365760" y="3840480"/>
            <a:ext cx="5486400" cy="1280160"/>
          </a:xfrm>
          <a:prstGeom prst="rect">
            <a:avLst/>
          </a:prstGeom>
          <a:solidFill>
            <a:srgbClr val="FFFFFF"/>
          </a:solidFill>
          <a:ln/>
          <a:effectLst>
            <a:outerShdw blurRad="76200" dist="25400" dir="8100000" algn="bl" rotWithShape="0">
              <a:srgbClr val="000000">
                <a:alpha val="10000"/>
              </a:srgbClr>
            </a:outerShdw>
          </a:effectLst>
        </p:spPr>
      </p:sp>
      <p:sp>
        <p:nvSpPr>
          <p:cNvPr id="27" name="Shape 25"/>
          <p:cNvSpPr/>
          <p:nvPr/>
        </p:nvSpPr>
        <p:spPr>
          <a:xfrm>
            <a:off x="365760" y="3840480"/>
            <a:ext cx="85344" cy="1280160"/>
          </a:xfrm>
          <a:prstGeom prst="rect">
            <a:avLst/>
          </a:prstGeom>
          <a:solidFill>
            <a:srgbClr val="142966"/>
          </a:solidFill>
          <a:ln w="12700">
            <a:solidFill>
              <a:srgbClr val="142966"/>
            </a:solidFill>
            <a:prstDash val="solid"/>
          </a:ln>
        </p:spPr>
      </p:sp>
      <p:sp>
        <p:nvSpPr>
          <p:cNvPr id="28" name="Text 26"/>
          <p:cNvSpPr/>
          <p:nvPr/>
        </p:nvSpPr>
        <p:spPr>
          <a:xfrm>
            <a:off x="548640" y="3986784"/>
            <a:ext cx="5242560" cy="390144"/>
          </a:xfrm>
          <a:prstGeom prst="rect">
            <a:avLst/>
          </a:prstGeom>
          <a:noFill/>
          <a:ln/>
        </p:spPr>
        <p:txBody>
          <a:bodyPr wrap="square" lIns="0" tIns="0" rIns="0" bIns="0" rtlCol="0" anchor="ctr"/>
          <a:lstStyle/>
          <a:p>
            <a:r>
              <a:rPr lang="en-US" sz="1467" b="1" dirty="0">
                <a:solidFill>
                  <a:srgbClr val="142966"/>
                </a:solidFill>
              </a:rPr>
              <a:t>Role Accuracy</a:t>
            </a:r>
            <a:endParaRPr lang="en-US" sz="1467" dirty="0"/>
          </a:p>
        </p:txBody>
      </p:sp>
      <p:sp>
        <p:nvSpPr>
          <p:cNvPr id="29" name="Text 27"/>
          <p:cNvSpPr/>
          <p:nvPr/>
        </p:nvSpPr>
        <p:spPr>
          <a:xfrm>
            <a:off x="548640" y="4389120"/>
            <a:ext cx="5242560" cy="609600"/>
          </a:xfrm>
          <a:prstGeom prst="rect">
            <a:avLst/>
          </a:prstGeom>
          <a:noFill/>
          <a:ln/>
        </p:spPr>
        <p:txBody>
          <a:bodyPr wrap="square" lIns="0" tIns="0" rIns="0" bIns="0" rtlCol="0" anchor="ctr"/>
          <a:lstStyle/>
          <a:p>
            <a:r>
              <a:rPr lang="en-US" sz="1333" dirty="0">
                <a:solidFill>
                  <a:srgbClr val="0A1430"/>
                </a:solidFill>
              </a:rPr>
              <a:t>Tracks whether the predicted span fills the correct semantic slot</a:t>
            </a:r>
            <a:endParaRPr lang="en-US" sz="1333" dirty="0"/>
          </a:p>
        </p:txBody>
      </p:sp>
      <p:sp>
        <p:nvSpPr>
          <p:cNvPr id="30" name="Shape 28"/>
          <p:cNvSpPr/>
          <p:nvPr/>
        </p:nvSpPr>
        <p:spPr>
          <a:xfrm>
            <a:off x="365760" y="5242560"/>
            <a:ext cx="5486400" cy="1280160"/>
          </a:xfrm>
          <a:prstGeom prst="rect">
            <a:avLst/>
          </a:prstGeom>
          <a:solidFill>
            <a:srgbClr val="FFFFFF"/>
          </a:solidFill>
          <a:ln/>
          <a:effectLst>
            <a:outerShdw blurRad="76200" dist="25400" dir="8100000" algn="bl" rotWithShape="0">
              <a:srgbClr val="000000">
                <a:alpha val="10000"/>
              </a:srgbClr>
            </a:outerShdw>
          </a:effectLst>
        </p:spPr>
      </p:sp>
      <p:sp>
        <p:nvSpPr>
          <p:cNvPr id="31" name="Shape 29"/>
          <p:cNvSpPr/>
          <p:nvPr/>
        </p:nvSpPr>
        <p:spPr>
          <a:xfrm>
            <a:off x="365760" y="5242560"/>
            <a:ext cx="85344" cy="1280160"/>
          </a:xfrm>
          <a:prstGeom prst="rect">
            <a:avLst/>
          </a:prstGeom>
          <a:solidFill>
            <a:srgbClr val="1B7FBF"/>
          </a:solidFill>
          <a:ln w="12700">
            <a:solidFill>
              <a:srgbClr val="1B7FBF"/>
            </a:solidFill>
            <a:prstDash val="solid"/>
          </a:ln>
        </p:spPr>
      </p:sp>
      <p:sp>
        <p:nvSpPr>
          <p:cNvPr id="32" name="Text 30"/>
          <p:cNvSpPr/>
          <p:nvPr/>
        </p:nvSpPr>
        <p:spPr>
          <a:xfrm>
            <a:off x="548640" y="5388864"/>
            <a:ext cx="5242560" cy="390144"/>
          </a:xfrm>
          <a:prstGeom prst="rect">
            <a:avLst/>
          </a:prstGeom>
          <a:noFill/>
          <a:ln/>
        </p:spPr>
        <p:txBody>
          <a:bodyPr wrap="square" lIns="0" tIns="0" rIns="0" bIns="0" rtlCol="0" anchor="ctr"/>
          <a:lstStyle/>
          <a:p>
            <a:r>
              <a:rPr lang="en-US" sz="1467" b="1" dirty="0">
                <a:solidFill>
                  <a:srgbClr val="142966"/>
                </a:solidFill>
              </a:rPr>
              <a:t>Calibrated Abstention</a:t>
            </a:r>
            <a:endParaRPr lang="en-US" sz="1467" dirty="0"/>
          </a:p>
        </p:txBody>
      </p:sp>
      <p:sp>
        <p:nvSpPr>
          <p:cNvPr id="33" name="Text 31"/>
          <p:cNvSpPr/>
          <p:nvPr/>
        </p:nvSpPr>
        <p:spPr>
          <a:xfrm>
            <a:off x="548640" y="5791200"/>
            <a:ext cx="5242560" cy="609600"/>
          </a:xfrm>
          <a:prstGeom prst="rect">
            <a:avLst/>
          </a:prstGeom>
          <a:noFill/>
          <a:ln/>
        </p:spPr>
        <p:txBody>
          <a:bodyPr wrap="square" lIns="0" tIns="0" rIns="0" bIns="0" rtlCol="0" anchor="ctr"/>
          <a:lstStyle/>
          <a:p>
            <a:r>
              <a:rPr lang="en-US" sz="1333" dirty="0">
                <a:solidFill>
                  <a:srgbClr val="0A1430"/>
                </a:solidFill>
              </a:rPr>
              <a:t>Rewards systems that correctly refuse to answer uncertain questions</a:t>
            </a:r>
            <a:endParaRPr lang="en-US" sz="1333" dirty="0"/>
          </a:p>
        </p:txBody>
      </p:sp>
      <p:sp>
        <p:nvSpPr>
          <p:cNvPr id="34" name="Shape 32"/>
          <p:cNvSpPr/>
          <p:nvPr/>
        </p:nvSpPr>
        <p:spPr>
          <a:xfrm>
            <a:off x="6217920" y="2438400"/>
            <a:ext cx="5486400" cy="1280160"/>
          </a:xfrm>
          <a:prstGeom prst="rect">
            <a:avLst/>
          </a:prstGeom>
          <a:solidFill>
            <a:srgbClr val="FFFFFF"/>
          </a:solidFill>
          <a:ln/>
          <a:effectLst>
            <a:outerShdw blurRad="76200" dist="25400" dir="8100000" algn="bl" rotWithShape="0">
              <a:srgbClr val="000000">
                <a:alpha val="10000"/>
              </a:srgbClr>
            </a:outerShdw>
          </a:effectLst>
        </p:spPr>
      </p:sp>
      <p:sp>
        <p:nvSpPr>
          <p:cNvPr id="35" name="Shape 33"/>
          <p:cNvSpPr/>
          <p:nvPr/>
        </p:nvSpPr>
        <p:spPr>
          <a:xfrm>
            <a:off x="6217920" y="2438400"/>
            <a:ext cx="85344" cy="1280160"/>
          </a:xfrm>
          <a:prstGeom prst="rect">
            <a:avLst/>
          </a:prstGeom>
          <a:solidFill>
            <a:srgbClr val="F4A325"/>
          </a:solidFill>
          <a:ln w="12700">
            <a:solidFill>
              <a:srgbClr val="F4A325"/>
            </a:solidFill>
            <a:prstDash val="solid"/>
          </a:ln>
        </p:spPr>
      </p:sp>
      <p:sp>
        <p:nvSpPr>
          <p:cNvPr id="36" name="Text 34"/>
          <p:cNvSpPr/>
          <p:nvPr/>
        </p:nvSpPr>
        <p:spPr>
          <a:xfrm>
            <a:off x="6400800" y="2584704"/>
            <a:ext cx="5242560" cy="390144"/>
          </a:xfrm>
          <a:prstGeom prst="rect">
            <a:avLst/>
          </a:prstGeom>
          <a:noFill/>
          <a:ln/>
        </p:spPr>
        <p:txBody>
          <a:bodyPr wrap="square" lIns="0" tIns="0" rIns="0" bIns="0" rtlCol="0" anchor="ctr"/>
          <a:lstStyle/>
          <a:p>
            <a:r>
              <a:rPr lang="en-US" sz="1467" b="1" dirty="0">
                <a:solidFill>
                  <a:srgbClr val="142966"/>
                </a:solidFill>
              </a:rPr>
              <a:t>Graph-Traversal Success</a:t>
            </a:r>
            <a:endParaRPr lang="en-US" sz="1467" dirty="0"/>
          </a:p>
        </p:txBody>
      </p:sp>
      <p:sp>
        <p:nvSpPr>
          <p:cNvPr id="37" name="Text 35"/>
          <p:cNvSpPr/>
          <p:nvPr/>
        </p:nvSpPr>
        <p:spPr>
          <a:xfrm>
            <a:off x="6400800" y="2987040"/>
            <a:ext cx="5242560" cy="609600"/>
          </a:xfrm>
          <a:prstGeom prst="rect">
            <a:avLst/>
          </a:prstGeom>
          <a:noFill/>
          <a:ln/>
        </p:spPr>
        <p:txBody>
          <a:bodyPr wrap="square" lIns="0" tIns="0" rIns="0" bIns="0" rtlCol="0" anchor="ctr"/>
          <a:lstStyle/>
          <a:p>
            <a:r>
              <a:rPr lang="en-US" sz="1333" dirty="0">
                <a:solidFill>
                  <a:srgbClr val="0A1430"/>
                </a:solidFill>
              </a:rPr>
              <a:t>Measures multi-sentence reasoning through predicate chains</a:t>
            </a:r>
            <a:endParaRPr lang="en-US" sz="1333" dirty="0"/>
          </a:p>
        </p:txBody>
      </p:sp>
      <p:sp>
        <p:nvSpPr>
          <p:cNvPr id="38" name="Shape 36"/>
          <p:cNvSpPr/>
          <p:nvPr/>
        </p:nvSpPr>
        <p:spPr>
          <a:xfrm>
            <a:off x="6217920" y="3840480"/>
            <a:ext cx="5486400" cy="1280160"/>
          </a:xfrm>
          <a:prstGeom prst="rect">
            <a:avLst/>
          </a:prstGeom>
          <a:solidFill>
            <a:srgbClr val="FFFFFF"/>
          </a:solidFill>
          <a:ln/>
          <a:effectLst>
            <a:outerShdw blurRad="76200" dist="25400" dir="8100000" algn="bl" rotWithShape="0">
              <a:srgbClr val="000000">
                <a:alpha val="10000"/>
              </a:srgbClr>
            </a:outerShdw>
          </a:effectLst>
        </p:spPr>
      </p:sp>
      <p:sp>
        <p:nvSpPr>
          <p:cNvPr id="39" name="Shape 37"/>
          <p:cNvSpPr/>
          <p:nvPr/>
        </p:nvSpPr>
        <p:spPr>
          <a:xfrm>
            <a:off x="6217920" y="3840480"/>
            <a:ext cx="85344" cy="1280160"/>
          </a:xfrm>
          <a:prstGeom prst="rect">
            <a:avLst/>
          </a:prstGeom>
          <a:solidFill>
            <a:srgbClr val="142966"/>
          </a:solidFill>
          <a:ln w="12700">
            <a:solidFill>
              <a:srgbClr val="142966"/>
            </a:solidFill>
            <a:prstDash val="solid"/>
          </a:ln>
        </p:spPr>
      </p:sp>
      <p:sp>
        <p:nvSpPr>
          <p:cNvPr id="40" name="Text 38"/>
          <p:cNvSpPr/>
          <p:nvPr/>
        </p:nvSpPr>
        <p:spPr>
          <a:xfrm>
            <a:off x="6400800" y="3986784"/>
            <a:ext cx="5242560" cy="390144"/>
          </a:xfrm>
          <a:prstGeom prst="rect">
            <a:avLst/>
          </a:prstGeom>
          <a:noFill/>
          <a:ln/>
        </p:spPr>
        <p:txBody>
          <a:bodyPr wrap="square" lIns="0" tIns="0" rIns="0" bIns="0" rtlCol="0" anchor="ctr"/>
          <a:lstStyle/>
          <a:p>
            <a:r>
              <a:rPr lang="en-US" sz="1467" b="1" dirty="0">
                <a:solidFill>
                  <a:srgbClr val="142966"/>
                </a:solidFill>
              </a:rPr>
              <a:t>Explanation Faithfulness</a:t>
            </a:r>
            <a:endParaRPr lang="en-US" sz="1467" dirty="0"/>
          </a:p>
        </p:txBody>
      </p:sp>
      <p:sp>
        <p:nvSpPr>
          <p:cNvPr id="41" name="Text 39"/>
          <p:cNvSpPr/>
          <p:nvPr/>
        </p:nvSpPr>
        <p:spPr>
          <a:xfrm>
            <a:off x="6400800" y="4389120"/>
            <a:ext cx="5242560" cy="609600"/>
          </a:xfrm>
          <a:prstGeom prst="rect">
            <a:avLst/>
          </a:prstGeom>
          <a:noFill/>
          <a:ln/>
        </p:spPr>
        <p:txBody>
          <a:bodyPr wrap="square" lIns="0" tIns="0" rIns="0" bIns="0" rtlCol="0" anchor="ctr"/>
          <a:lstStyle/>
          <a:p>
            <a:r>
              <a:rPr lang="en-US" sz="1333" dirty="0">
                <a:solidFill>
                  <a:srgbClr val="0A1430"/>
                </a:solidFill>
              </a:rPr>
              <a:t>Checks whether the reasoning trace matches the actual decision logic</a:t>
            </a:r>
            <a:endParaRPr lang="en-US" sz="1333" dirty="0"/>
          </a:p>
        </p:txBody>
      </p:sp>
      <p:sp>
        <p:nvSpPr>
          <p:cNvPr id="42" name="Shape 40"/>
          <p:cNvSpPr/>
          <p:nvPr/>
        </p:nvSpPr>
        <p:spPr>
          <a:xfrm>
            <a:off x="6217920" y="5242560"/>
            <a:ext cx="5486400" cy="1280160"/>
          </a:xfrm>
          <a:prstGeom prst="rect">
            <a:avLst/>
          </a:prstGeom>
          <a:solidFill>
            <a:srgbClr val="FFFFFF"/>
          </a:solidFill>
          <a:ln/>
          <a:effectLst>
            <a:outerShdw blurRad="76200" dist="25400" dir="8100000" algn="bl" rotWithShape="0">
              <a:srgbClr val="000000">
                <a:alpha val="10000"/>
              </a:srgbClr>
            </a:outerShdw>
          </a:effectLst>
        </p:spPr>
      </p:sp>
      <p:sp>
        <p:nvSpPr>
          <p:cNvPr id="43" name="Shape 41"/>
          <p:cNvSpPr/>
          <p:nvPr/>
        </p:nvSpPr>
        <p:spPr>
          <a:xfrm>
            <a:off x="6217920" y="5242560"/>
            <a:ext cx="85344" cy="1280160"/>
          </a:xfrm>
          <a:prstGeom prst="rect">
            <a:avLst/>
          </a:prstGeom>
          <a:solidFill>
            <a:srgbClr val="0FA3B1"/>
          </a:solidFill>
          <a:ln w="12700">
            <a:solidFill>
              <a:srgbClr val="0FA3B1"/>
            </a:solidFill>
            <a:prstDash val="solid"/>
          </a:ln>
        </p:spPr>
      </p:sp>
      <p:sp>
        <p:nvSpPr>
          <p:cNvPr id="44" name="Text 42"/>
          <p:cNvSpPr/>
          <p:nvPr/>
        </p:nvSpPr>
        <p:spPr>
          <a:xfrm>
            <a:off x="6400800" y="5388864"/>
            <a:ext cx="5242560" cy="390144"/>
          </a:xfrm>
          <a:prstGeom prst="rect">
            <a:avLst/>
          </a:prstGeom>
          <a:noFill/>
          <a:ln/>
        </p:spPr>
        <p:txBody>
          <a:bodyPr wrap="square" lIns="0" tIns="0" rIns="0" bIns="0" rtlCol="0" anchor="ctr"/>
          <a:lstStyle/>
          <a:p>
            <a:r>
              <a:rPr lang="en-US" sz="1467" b="1" dirty="0">
                <a:solidFill>
                  <a:srgbClr val="142966"/>
                </a:solidFill>
              </a:rPr>
              <a:t>Leaderboard Separation</a:t>
            </a:r>
            <a:endParaRPr lang="en-US" sz="1467" dirty="0"/>
          </a:p>
        </p:txBody>
      </p:sp>
      <p:sp>
        <p:nvSpPr>
          <p:cNvPr id="45" name="Text 43"/>
          <p:cNvSpPr/>
          <p:nvPr/>
        </p:nvSpPr>
        <p:spPr>
          <a:xfrm>
            <a:off x="6400800" y="5791200"/>
            <a:ext cx="5242560" cy="609600"/>
          </a:xfrm>
          <a:prstGeom prst="rect">
            <a:avLst/>
          </a:prstGeom>
          <a:noFill/>
          <a:ln/>
        </p:spPr>
        <p:txBody>
          <a:bodyPr wrap="square" lIns="0" tIns="0" rIns="0" bIns="0" rtlCol="0" anchor="ctr"/>
          <a:lstStyle/>
          <a:p>
            <a:r>
              <a:rPr lang="en-US" sz="1333" dirty="0">
                <a:solidFill>
                  <a:srgbClr val="0A1430"/>
                </a:solidFill>
              </a:rPr>
              <a:t>Local slot-filling vs. compositional multi-hop evaluated separately</a:t>
            </a:r>
            <a:endParaRPr lang="en-US" sz="1333" dirty="0"/>
          </a:p>
        </p:txBody>
      </p:sp>
    </p:spTree>
    <p:extLst>
      <p:ext uri="{BB962C8B-B14F-4D97-AF65-F5344CB8AC3E}">
        <p14:creationId xmlns:p14="http://schemas.microsoft.com/office/powerpoint/2010/main" val="114924879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4F7FB"/>
        </a:solidFill>
        <a:effectLst/>
      </p:bgPr>
    </p:bg>
    <p:spTree>
      <p:nvGrpSpPr>
        <p:cNvPr id="1" name=""/>
        <p:cNvGrpSpPr/>
        <p:nvPr/>
      </p:nvGrpSpPr>
      <p:grpSpPr>
        <a:xfrm>
          <a:off x="0" y="0"/>
          <a:ext cx="0" cy="0"/>
          <a:chOff x="0" y="0"/>
          <a:chExt cx="0" cy="0"/>
        </a:xfrm>
      </p:grpSpPr>
      <p:sp>
        <p:nvSpPr>
          <p:cNvPr id="2" name="Shape 0"/>
          <p:cNvSpPr/>
          <p:nvPr/>
        </p:nvSpPr>
        <p:spPr>
          <a:xfrm>
            <a:off x="0" y="0"/>
            <a:ext cx="12192000" cy="463296"/>
          </a:xfrm>
          <a:prstGeom prst="rect">
            <a:avLst/>
          </a:prstGeom>
          <a:solidFill>
            <a:srgbClr val="1B7FBF"/>
          </a:solidFill>
          <a:ln w="12700">
            <a:solidFill>
              <a:srgbClr val="1B7FBF"/>
            </a:solidFill>
            <a:prstDash val="solid"/>
          </a:ln>
        </p:spPr>
      </p:sp>
      <p:sp>
        <p:nvSpPr>
          <p:cNvPr id="3" name="Text 1"/>
          <p:cNvSpPr/>
          <p:nvPr/>
        </p:nvSpPr>
        <p:spPr>
          <a:xfrm>
            <a:off x="365760" y="0"/>
            <a:ext cx="10972800" cy="463296"/>
          </a:xfrm>
          <a:prstGeom prst="rect">
            <a:avLst/>
          </a:prstGeom>
          <a:noFill/>
          <a:ln/>
        </p:spPr>
        <p:txBody>
          <a:bodyPr wrap="square" lIns="0" tIns="0" rIns="0" bIns="0" rtlCol="0" anchor="ctr"/>
          <a:lstStyle/>
          <a:p>
            <a:r>
              <a:rPr lang="en-US" sz="1333" b="1" kern="0" spc="400" dirty="0">
                <a:solidFill>
                  <a:srgbClr val="FFFFFF"/>
                </a:solidFill>
              </a:rPr>
              <a:t>INNOVATION — ROADMAP</a:t>
            </a:r>
            <a:endParaRPr lang="en-US" sz="1333" dirty="0"/>
          </a:p>
        </p:txBody>
      </p:sp>
      <p:sp>
        <p:nvSpPr>
          <p:cNvPr id="4" name="Text 2"/>
          <p:cNvSpPr/>
          <p:nvPr/>
        </p:nvSpPr>
        <p:spPr>
          <a:xfrm>
            <a:off x="548640" y="609600"/>
            <a:ext cx="11094720" cy="853440"/>
          </a:xfrm>
          <a:prstGeom prst="rect">
            <a:avLst/>
          </a:prstGeom>
          <a:noFill/>
          <a:ln/>
        </p:spPr>
        <p:txBody>
          <a:bodyPr wrap="square" lIns="0" tIns="0" rIns="0" bIns="0" rtlCol="0" anchor="ctr"/>
          <a:lstStyle/>
          <a:p>
            <a:r>
              <a:rPr lang="en-US" sz="3467" b="1" dirty="0">
                <a:solidFill>
                  <a:srgbClr val="142966"/>
                </a:solidFill>
                <a:latin typeface="Calibri" pitchFamily="34" charset="0"/>
                <a:ea typeface="Calibri" pitchFamily="34" charset="-122"/>
                <a:cs typeface="Calibri" pitchFamily="34" charset="-120"/>
              </a:rPr>
              <a:t>Research Roadmap: Three Priorities</a:t>
            </a:r>
            <a:endParaRPr lang="en-US" sz="3467" dirty="0"/>
          </a:p>
        </p:txBody>
      </p:sp>
      <p:sp>
        <p:nvSpPr>
          <p:cNvPr id="5" name="Shape 3"/>
          <p:cNvSpPr/>
          <p:nvPr/>
        </p:nvSpPr>
        <p:spPr>
          <a:xfrm>
            <a:off x="365760" y="1341120"/>
            <a:ext cx="3779520" cy="5120640"/>
          </a:xfrm>
          <a:prstGeom prst="rect">
            <a:avLst/>
          </a:prstGeom>
          <a:solidFill>
            <a:srgbClr val="FFFFFF"/>
          </a:solidFill>
          <a:ln/>
          <a:effectLst>
            <a:outerShdw blurRad="88900" dist="25400" dir="8100000" algn="bl" rotWithShape="0">
              <a:srgbClr val="000000">
                <a:alpha val="11000"/>
              </a:srgbClr>
            </a:outerShdw>
          </a:effectLst>
        </p:spPr>
      </p:sp>
      <p:sp>
        <p:nvSpPr>
          <p:cNvPr id="6" name="Shape 4"/>
          <p:cNvSpPr/>
          <p:nvPr/>
        </p:nvSpPr>
        <p:spPr>
          <a:xfrm>
            <a:off x="365760" y="1341120"/>
            <a:ext cx="3779520" cy="487680"/>
          </a:xfrm>
          <a:prstGeom prst="rect">
            <a:avLst/>
          </a:prstGeom>
          <a:solidFill>
            <a:srgbClr val="F4A325"/>
          </a:solidFill>
          <a:ln w="12700">
            <a:solidFill>
              <a:srgbClr val="F4A325"/>
            </a:solidFill>
            <a:prstDash val="solid"/>
          </a:ln>
        </p:spPr>
      </p:sp>
      <p:sp>
        <p:nvSpPr>
          <p:cNvPr id="7" name="Text 5"/>
          <p:cNvSpPr/>
          <p:nvPr/>
        </p:nvSpPr>
        <p:spPr>
          <a:xfrm>
            <a:off x="487680" y="1365504"/>
            <a:ext cx="3535680" cy="438912"/>
          </a:xfrm>
          <a:prstGeom prst="rect">
            <a:avLst/>
          </a:prstGeom>
          <a:noFill/>
          <a:ln/>
        </p:spPr>
        <p:txBody>
          <a:bodyPr wrap="square" lIns="0" tIns="0" rIns="0" bIns="0" rtlCol="0" anchor="ctr"/>
          <a:lstStyle/>
          <a:p>
            <a:r>
              <a:rPr lang="en-US" sz="1333" b="1" dirty="0">
                <a:solidFill>
                  <a:srgbClr val="FFFFFF"/>
                </a:solidFill>
              </a:rPr>
              <a:t>Priority 1 — Now</a:t>
            </a:r>
            <a:endParaRPr lang="en-US" sz="1333" dirty="0"/>
          </a:p>
        </p:txBody>
      </p:sp>
      <p:sp>
        <p:nvSpPr>
          <p:cNvPr id="8" name="Text 6"/>
          <p:cNvSpPr/>
          <p:nvPr/>
        </p:nvSpPr>
        <p:spPr>
          <a:xfrm>
            <a:off x="487680" y="1926336"/>
            <a:ext cx="3535680" cy="609600"/>
          </a:xfrm>
          <a:prstGeom prst="rect">
            <a:avLst/>
          </a:prstGeom>
          <a:noFill/>
          <a:ln/>
        </p:spPr>
        <p:txBody>
          <a:bodyPr wrap="square" lIns="0" tIns="0" rIns="0" bIns="0" rtlCol="0" anchor="ctr"/>
          <a:lstStyle/>
          <a:p>
            <a:r>
              <a:rPr lang="en-US" sz="1733" b="1" dirty="0">
                <a:solidFill>
                  <a:srgbClr val="142966"/>
                </a:solidFill>
              </a:rPr>
              <a:t>Calibrated Answer Selection</a:t>
            </a:r>
            <a:endParaRPr lang="en-US" sz="1733" dirty="0"/>
          </a:p>
        </p:txBody>
      </p:sp>
      <p:sp>
        <p:nvSpPr>
          <p:cNvPr id="9" name="Text 7"/>
          <p:cNvSpPr/>
          <p:nvPr/>
        </p:nvSpPr>
        <p:spPr>
          <a:xfrm>
            <a:off x="487680" y="2584704"/>
            <a:ext cx="3535680" cy="3779520"/>
          </a:xfrm>
          <a:prstGeom prst="rect">
            <a:avLst/>
          </a:prstGeom>
          <a:noFill/>
          <a:ln/>
        </p:spPr>
        <p:txBody>
          <a:bodyPr wrap="square" lIns="0" tIns="0" rIns="0" bIns="0" rtlCol="0" anchor="ctr"/>
          <a:lstStyle/>
          <a:p>
            <a:r>
              <a:rPr lang="en-US" sz="1467" dirty="0">
                <a:solidFill>
                  <a:srgbClr val="0A1430"/>
                </a:solidFill>
              </a:rPr>
              <a:t>Replace hard argmax with confidence distribution.</a:t>
            </a:r>
            <a:endParaRPr lang="en-US" sz="1467" dirty="0"/>
          </a:p>
          <a:p>
            <a:r>
              <a:rPr lang="en-US" sz="1467" dirty="0">
                <a:solidFill>
                  <a:srgbClr val="0A1430"/>
                </a:solidFill>
              </a:rPr>
              <a:t>Add explicit abstain option below threshold.</a:t>
            </a:r>
            <a:endParaRPr lang="en-US" sz="1467" dirty="0"/>
          </a:p>
          <a:p>
            <a:r>
              <a:rPr lang="en-US" sz="1467" dirty="0">
                <a:solidFill>
                  <a:srgbClr val="0A1430"/>
                </a:solidFill>
              </a:rPr>
              <a:t>Direct attack on boundary errors (52% of failures).</a:t>
            </a:r>
            <a:endParaRPr lang="en-US" sz="1467" dirty="0"/>
          </a:p>
        </p:txBody>
      </p:sp>
      <p:sp>
        <p:nvSpPr>
          <p:cNvPr id="10" name="Shape 8"/>
          <p:cNvSpPr/>
          <p:nvPr/>
        </p:nvSpPr>
        <p:spPr>
          <a:xfrm>
            <a:off x="4291584" y="1341120"/>
            <a:ext cx="3779520" cy="5120640"/>
          </a:xfrm>
          <a:prstGeom prst="rect">
            <a:avLst/>
          </a:prstGeom>
          <a:solidFill>
            <a:srgbClr val="FFFFFF"/>
          </a:solidFill>
          <a:ln/>
          <a:effectLst>
            <a:outerShdw blurRad="88900" dist="25400" dir="8100000" algn="bl" rotWithShape="0">
              <a:srgbClr val="000000">
                <a:alpha val="11000"/>
              </a:srgbClr>
            </a:outerShdw>
          </a:effectLst>
        </p:spPr>
      </p:sp>
      <p:sp>
        <p:nvSpPr>
          <p:cNvPr id="11" name="Shape 9"/>
          <p:cNvSpPr/>
          <p:nvPr/>
        </p:nvSpPr>
        <p:spPr>
          <a:xfrm>
            <a:off x="4291584" y="1341120"/>
            <a:ext cx="3779520" cy="487680"/>
          </a:xfrm>
          <a:prstGeom prst="rect">
            <a:avLst/>
          </a:prstGeom>
          <a:solidFill>
            <a:srgbClr val="1B7FBF"/>
          </a:solidFill>
          <a:ln w="12700">
            <a:solidFill>
              <a:srgbClr val="1B7FBF"/>
            </a:solidFill>
            <a:prstDash val="solid"/>
          </a:ln>
        </p:spPr>
      </p:sp>
      <p:sp>
        <p:nvSpPr>
          <p:cNvPr id="12" name="Text 10"/>
          <p:cNvSpPr/>
          <p:nvPr/>
        </p:nvSpPr>
        <p:spPr>
          <a:xfrm>
            <a:off x="4413504" y="1365504"/>
            <a:ext cx="3535680" cy="438912"/>
          </a:xfrm>
          <a:prstGeom prst="rect">
            <a:avLst/>
          </a:prstGeom>
          <a:noFill/>
          <a:ln/>
        </p:spPr>
        <p:txBody>
          <a:bodyPr wrap="square" lIns="0" tIns="0" rIns="0" bIns="0" rtlCol="0" anchor="ctr"/>
          <a:lstStyle/>
          <a:p>
            <a:r>
              <a:rPr lang="en-US" sz="1333" b="1" dirty="0">
                <a:solidFill>
                  <a:srgbClr val="FFFFFF"/>
                </a:solidFill>
              </a:rPr>
              <a:t>Priority 2 — Near</a:t>
            </a:r>
            <a:endParaRPr lang="en-US" sz="1333" dirty="0"/>
          </a:p>
        </p:txBody>
      </p:sp>
      <p:sp>
        <p:nvSpPr>
          <p:cNvPr id="13" name="Text 11"/>
          <p:cNvSpPr/>
          <p:nvPr/>
        </p:nvSpPr>
        <p:spPr>
          <a:xfrm>
            <a:off x="4413504" y="1926336"/>
            <a:ext cx="3535680" cy="609600"/>
          </a:xfrm>
          <a:prstGeom prst="rect">
            <a:avLst/>
          </a:prstGeom>
          <a:noFill/>
          <a:ln/>
        </p:spPr>
        <p:txBody>
          <a:bodyPr wrap="square" lIns="0" tIns="0" rIns="0" bIns="0" rtlCol="0" anchor="ctr"/>
          <a:lstStyle/>
          <a:p>
            <a:r>
              <a:rPr lang="en-US" sz="1733" b="1" dirty="0">
                <a:solidFill>
                  <a:srgbClr val="142966"/>
                </a:solidFill>
              </a:rPr>
              <a:t>Frame-Aware Disambiguation</a:t>
            </a:r>
            <a:endParaRPr lang="en-US" sz="1733" dirty="0"/>
          </a:p>
        </p:txBody>
      </p:sp>
      <p:sp>
        <p:nvSpPr>
          <p:cNvPr id="14" name="Text 12"/>
          <p:cNvSpPr/>
          <p:nvPr/>
        </p:nvSpPr>
        <p:spPr>
          <a:xfrm>
            <a:off x="4413504" y="2584704"/>
            <a:ext cx="3535680" cy="3779520"/>
          </a:xfrm>
          <a:prstGeom prst="rect">
            <a:avLst/>
          </a:prstGeom>
          <a:noFill/>
          <a:ln/>
        </p:spPr>
        <p:txBody>
          <a:bodyPr wrap="square" lIns="0" tIns="0" rIns="0" bIns="0" rtlCol="0" anchor="ctr"/>
          <a:lstStyle/>
          <a:p>
            <a:r>
              <a:rPr lang="en-US" sz="1467" dirty="0">
                <a:solidFill>
                  <a:srgbClr val="0A1430"/>
                </a:solidFill>
              </a:rPr>
              <a:t>Precompute candidate rolesets per predicate.</a:t>
            </a:r>
            <a:endParaRPr lang="en-US" sz="1467" dirty="0"/>
          </a:p>
          <a:p>
            <a:r>
              <a:rPr lang="en-US" sz="1467" dirty="0">
                <a:solidFill>
                  <a:srgbClr val="0A1430"/>
                </a:solidFill>
              </a:rPr>
              <a:t>Encode textual role descriptions.</a:t>
            </a:r>
            <a:endParaRPr lang="en-US" sz="1467" dirty="0"/>
          </a:p>
          <a:p>
            <a:r>
              <a:rPr lang="en-US" sz="1467" dirty="0">
                <a:solidFill>
                  <a:srgbClr val="0A1430"/>
                </a:solidFill>
              </a:rPr>
              <a:t>Score jointly with contextual predicate representation before BIO decoding.</a:t>
            </a:r>
            <a:endParaRPr lang="en-US" sz="1467" dirty="0"/>
          </a:p>
        </p:txBody>
      </p:sp>
      <p:sp>
        <p:nvSpPr>
          <p:cNvPr id="15" name="Shape 13"/>
          <p:cNvSpPr/>
          <p:nvPr/>
        </p:nvSpPr>
        <p:spPr>
          <a:xfrm>
            <a:off x="8217408" y="1341120"/>
            <a:ext cx="3779520" cy="5120640"/>
          </a:xfrm>
          <a:prstGeom prst="rect">
            <a:avLst/>
          </a:prstGeom>
          <a:solidFill>
            <a:srgbClr val="FFFFFF"/>
          </a:solidFill>
          <a:ln/>
          <a:effectLst>
            <a:outerShdw blurRad="88900" dist="25400" dir="8100000" algn="bl" rotWithShape="0">
              <a:srgbClr val="000000">
                <a:alpha val="11000"/>
              </a:srgbClr>
            </a:outerShdw>
          </a:effectLst>
        </p:spPr>
      </p:sp>
      <p:sp>
        <p:nvSpPr>
          <p:cNvPr id="16" name="Shape 14"/>
          <p:cNvSpPr/>
          <p:nvPr/>
        </p:nvSpPr>
        <p:spPr>
          <a:xfrm>
            <a:off x="8217408" y="1341120"/>
            <a:ext cx="3779520" cy="487680"/>
          </a:xfrm>
          <a:prstGeom prst="rect">
            <a:avLst/>
          </a:prstGeom>
          <a:solidFill>
            <a:srgbClr val="0FA3B1"/>
          </a:solidFill>
          <a:ln w="12700">
            <a:solidFill>
              <a:srgbClr val="0FA3B1"/>
            </a:solidFill>
            <a:prstDash val="solid"/>
          </a:ln>
        </p:spPr>
      </p:sp>
      <p:sp>
        <p:nvSpPr>
          <p:cNvPr id="17" name="Text 15"/>
          <p:cNvSpPr/>
          <p:nvPr/>
        </p:nvSpPr>
        <p:spPr>
          <a:xfrm>
            <a:off x="8339328" y="1365504"/>
            <a:ext cx="3535680" cy="438912"/>
          </a:xfrm>
          <a:prstGeom prst="rect">
            <a:avLst/>
          </a:prstGeom>
          <a:noFill/>
          <a:ln/>
        </p:spPr>
        <p:txBody>
          <a:bodyPr wrap="square" lIns="0" tIns="0" rIns="0" bIns="0" rtlCol="0" anchor="ctr"/>
          <a:lstStyle/>
          <a:p>
            <a:r>
              <a:rPr lang="en-US" sz="1333" b="1" dirty="0">
                <a:solidFill>
                  <a:srgbClr val="FFFFFF"/>
                </a:solidFill>
              </a:rPr>
              <a:t>Priority 3 — Medium</a:t>
            </a:r>
            <a:endParaRPr lang="en-US" sz="1333" dirty="0"/>
          </a:p>
        </p:txBody>
      </p:sp>
      <p:sp>
        <p:nvSpPr>
          <p:cNvPr id="18" name="Text 16"/>
          <p:cNvSpPr/>
          <p:nvPr/>
        </p:nvSpPr>
        <p:spPr>
          <a:xfrm>
            <a:off x="8339328" y="1926336"/>
            <a:ext cx="3535680" cy="609600"/>
          </a:xfrm>
          <a:prstGeom prst="rect">
            <a:avLst/>
          </a:prstGeom>
          <a:noFill/>
          <a:ln/>
        </p:spPr>
        <p:txBody>
          <a:bodyPr wrap="square" lIns="0" tIns="0" rIns="0" bIns="0" rtlCol="0" anchor="ctr"/>
          <a:lstStyle/>
          <a:p>
            <a:r>
              <a:rPr lang="en-US" sz="1733" b="1" dirty="0">
                <a:solidFill>
                  <a:srgbClr val="142966"/>
                </a:solidFill>
              </a:rPr>
              <a:t>Document-Level Frame Chaining</a:t>
            </a:r>
            <a:endParaRPr lang="en-US" sz="1733" dirty="0"/>
          </a:p>
        </p:txBody>
      </p:sp>
      <p:sp>
        <p:nvSpPr>
          <p:cNvPr id="19" name="Text 17"/>
          <p:cNvSpPr/>
          <p:nvPr/>
        </p:nvSpPr>
        <p:spPr>
          <a:xfrm>
            <a:off x="8339328" y="2584704"/>
            <a:ext cx="3535680" cy="3779520"/>
          </a:xfrm>
          <a:prstGeom prst="rect">
            <a:avLst/>
          </a:prstGeom>
          <a:noFill/>
          <a:ln/>
        </p:spPr>
        <p:txBody>
          <a:bodyPr wrap="square" lIns="0" tIns="0" rIns="0" bIns="0" rtlCol="0" anchor="ctr"/>
          <a:lstStyle/>
          <a:p>
            <a:r>
              <a:rPr lang="en-US" sz="1467" dirty="0">
                <a:solidFill>
                  <a:srgbClr val="0A1430"/>
                </a:solidFill>
              </a:rPr>
              <a:t>Represent each predicate as a graph node.</a:t>
            </a:r>
            <a:endParaRPr lang="en-US" sz="1467" dirty="0"/>
          </a:p>
          <a:p>
            <a:r>
              <a:rPr lang="en-US" sz="1467" dirty="0">
                <a:solidFill>
                  <a:srgbClr val="0A1430"/>
                </a:solidFill>
              </a:rPr>
              <a:t>Link via shared arguments, coreference, temporal adjacency.</a:t>
            </a:r>
            <a:endParaRPr lang="en-US" sz="1467" dirty="0"/>
          </a:p>
          <a:p>
            <a:r>
              <a:rPr lang="en-US" sz="1467" dirty="0">
                <a:solidFill>
                  <a:srgbClr val="0A1430"/>
                </a:solidFill>
              </a:rPr>
              <a:t>Enable cross-sentence evidence traversal.</a:t>
            </a:r>
            <a:endParaRPr lang="en-US" sz="1467" dirty="0"/>
          </a:p>
        </p:txBody>
      </p:sp>
    </p:spTree>
    <p:extLst>
      <p:ext uri="{BB962C8B-B14F-4D97-AF65-F5344CB8AC3E}">
        <p14:creationId xmlns:p14="http://schemas.microsoft.com/office/powerpoint/2010/main" val="177692436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hape 0"/>
          <p:cNvSpPr/>
          <p:nvPr/>
        </p:nvSpPr>
        <p:spPr>
          <a:xfrm>
            <a:off x="0" y="0"/>
            <a:ext cx="12192000" cy="463296"/>
          </a:xfrm>
          <a:prstGeom prst="rect">
            <a:avLst/>
          </a:prstGeom>
          <a:solidFill>
            <a:srgbClr val="1B7FBF"/>
          </a:solidFill>
          <a:ln w="12700">
            <a:solidFill>
              <a:srgbClr val="1B7FBF"/>
            </a:solidFill>
            <a:prstDash val="solid"/>
          </a:ln>
        </p:spPr>
      </p:sp>
      <p:sp>
        <p:nvSpPr>
          <p:cNvPr id="3" name="Text 1"/>
          <p:cNvSpPr/>
          <p:nvPr/>
        </p:nvSpPr>
        <p:spPr>
          <a:xfrm>
            <a:off x="365760" y="0"/>
            <a:ext cx="10972800" cy="463296"/>
          </a:xfrm>
          <a:prstGeom prst="rect">
            <a:avLst/>
          </a:prstGeom>
          <a:noFill/>
          <a:ln/>
        </p:spPr>
        <p:txBody>
          <a:bodyPr wrap="square" lIns="0" tIns="0" rIns="0" bIns="0" rtlCol="0" anchor="ctr"/>
          <a:lstStyle/>
          <a:p>
            <a:r>
              <a:rPr lang="en-US" sz="1333" b="1" kern="0" spc="400" dirty="0">
                <a:solidFill>
                  <a:srgbClr val="FFFFFF"/>
                </a:solidFill>
              </a:rPr>
              <a:t>COMPARISON</a:t>
            </a:r>
            <a:endParaRPr lang="en-US" sz="1333" dirty="0"/>
          </a:p>
        </p:txBody>
      </p:sp>
      <p:sp>
        <p:nvSpPr>
          <p:cNvPr id="4" name="Text 2"/>
          <p:cNvSpPr/>
          <p:nvPr/>
        </p:nvSpPr>
        <p:spPr>
          <a:xfrm>
            <a:off x="548640" y="609600"/>
            <a:ext cx="11094720" cy="853440"/>
          </a:xfrm>
          <a:prstGeom prst="rect">
            <a:avLst/>
          </a:prstGeom>
          <a:noFill/>
          <a:ln/>
        </p:spPr>
        <p:txBody>
          <a:bodyPr wrap="square" lIns="0" tIns="0" rIns="0" bIns="0" rtlCol="0" anchor="ctr"/>
          <a:lstStyle/>
          <a:p>
            <a:r>
              <a:rPr lang="en-US" sz="3467" b="1" dirty="0">
                <a:solidFill>
                  <a:srgbClr val="142966"/>
                </a:solidFill>
                <a:latin typeface="Calibri" pitchFamily="34" charset="0"/>
                <a:ea typeface="Calibri" pitchFamily="34" charset="-122"/>
                <a:cs typeface="Calibri" pitchFamily="34" charset="-120"/>
              </a:rPr>
              <a:t>PropQA-Net vs. Prior Approaches</a:t>
            </a:r>
            <a:endParaRPr lang="en-US" sz="3467"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365760" y="1341120"/>
          <a:ext cx="11460480" cy="5181597"/>
        </p:xfrm>
        <a:graphic>
          <a:graphicData uri="http://schemas.openxmlformats.org/drawingml/2006/table">
            <a:tbl>
              <a:tblPr/>
              <a:tblGrid>
                <a:gridCol w="2438400">
                  <a:extLst>
                    <a:ext uri="{9D8B030D-6E8A-4147-A177-3AD203B41FA5}">
                      <a16:colId xmlns:a16="http://schemas.microsoft.com/office/drawing/2014/main" val="20000"/>
                    </a:ext>
                  </a:extLst>
                </a:gridCol>
                <a:gridCol w="2194560">
                  <a:extLst>
                    <a:ext uri="{9D8B030D-6E8A-4147-A177-3AD203B41FA5}">
                      <a16:colId xmlns:a16="http://schemas.microsoft.com/office/drawing/2014/main" val="20001"/>
                    </a:ext>
                  </a:extLst>
                </a:gridCol>
                <a:gridCol w="2194560">
                  <a:extLst>
                    <a:ext uri="{9D8B030D-6E8A-4147-A177-3AD203B41FA5}">
                      <a16:colId xmlns:a16="http://schemas.microsoft.com/office/drawing/2014/main" val="20002"/>
                    </a:ext>
                  </a:extLst>
                </a:gridCol>
                <a:gridCol w="2194560">
                  <a:extLst>
                    <a:ext uri="{9D8B030D-6E8A-4147-A177-3AD203B41FA5}">
                      <a16:colId xmlns:a16="http://schemas.microsoft.com/office/drawing/2014/main" val="20003"/>
                    </a:ext>
                  </a:extLst>
                </a:gridCol>
                <a:gridCol w="2438400">
                  <a:extLst>
                    <a:ext uri="{9D8B030D-6E8A-4147-A177-3AD203B41FA5}">
                      <a16:colId xmlns:a16="http://schemas.microsoft.com/office/drawing/2014/main" val="20004"/>
                    </a:ext>
                  </a:extLst>
                </a:gridCol>
              </a:tblGrid>
              <a:tr h="575733">
                <a:tc>
                  <a:txBody>
                    <a:bodyPr/>
                    <a:lstStyle/>
                    <a:p>
                      <a:pPr marL="0" indent="0" algn="l">
                        <a:buNone/>
                      </a:pPr>
                      <a:r>
                        <a:rPr lang="en-US" sz="1300" b="1" dirty="0">
                          <a:solidFill>
                            <a:srgbClr val="FFFFFF"/>
                          </a:solidFill>
                        </a:rPr>
                        <a:t>Dimension</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2966"/>
                    </a:solidFill>
                  </a:tcPr>
                </a:tc>
                <a:tc>
                  <a:txBody>
                    <a:bodyPr/>
                    <a:lstStyle/>
                    <a:p>
                      <a:pPr marL="0" indent="0" algn="ctr">
                        <a:buNone/>
                      </a:pPr>
                      <a:r>
                        <a:rPr lang="en-US" sz="1300" b="1" dirty="0">
                          <a:solidFill>
                            <a:srgbClr val="FFFFFF"/>
                          </a:solidFill>
                        </a:rPr>
                        <a:t>Classical SRL</a:t>
                      </a:r>
                      <a:endParaRPr lang="en-US" sz="1300" dirty="0"/>
                    </a:p>
                    <a:p>
                      <a:pPr marL="0" indent="0" algn="ctr">
                        <a:buNone/>
                      </a:pPr>
                      <a:r>
                        <a:rPr lang="en-US" sz="1300" b="1" dirty="0">
                          <a:solidFill>
                            <a:srgbClr val="FFFFFF"/>
                          </a:solidFill>
                        </a:rPr>
                        <a:t>(CoNLL era)</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2966"/>
                    </a:solidFill>
                  </a:tcPr>
                </a:tc>
                <a:tc>
                  <a:txBody>
                    <a:bodyPr/>
                    <a:lstStyle/>
                    <a:p>
                      <a:pPr marL="0" indent="0" algn="ctr">
                        <a:buNone/>
                      </a:pPr>
                      <a:r>
                        <a:rPr lang="en-US" sz="1300" b="1" dirty="0">
                          <a:solidFill>
                            <a:srgbClr val="FFFFFF"/>
                          </a:solidFill>
                        </a:rPr>
                        <a:t>Neural SRL</a:t>
                      </a:r>
                      <a:endParaRPr lang="en-US" sz="1300" dirty="0"/>
                    </a:p>
                    <a:p>
                      <a:pPr marL="0" indent="0" algn="ctr">
                        <a:buNone/>
                      </a:pPr>
                      <a:r>
                        <a:rPr lang="en-US" sz="1300" b="1" dirty="0">
                          <a:solidFill>
                            <a:srgbClr val="FFFFFF"/>
                          </a:solidFill>
                        </a:rPr>
                        <a:t>(He et al. 2017)</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2966"/>
                    </a:solidFill>
                  </a:tcPr>
                </a:tc>
                <a:tc>
                  <a:txBody>
                    <a:bodyPr/>
                    <a:lstStyle/>
                    <a:p>
                      <a:pPr marL="0" indent="0" algn="ctr">
                        <a:buNone/>
                      </a:pPr>
                      <a:r>
                        <a:rPr lang="en-US" sz="1300" b="1" dirty="0">
                          <a:solidFill>
                            <a:srgbClr val="FFFFFF"/>
                          </a:solidFill>
                        </a:rPr>
                        <a:t>QA-SRL</a:t>
                      </a:r>
                      <a:endParaRPr lang="en-US" sz="1300" dirty="0"/>
                    </a:p>
                    <a:p>
                      <a:pPr marL="0" indent="0" algn="ctr">
                        <a:buNone/>
                      </a:pPr>
                      <a:r>
                        <a:rPr lang="en-US" sz="1300" b="1" dirty="0">
                          <a:solidFill>
                            <a:srgbClr val="FFFFFF"/>
                          </a:solidFill>
                        </a:rPr>
                        <a:t>(He et al. 2015)</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2966"/>
                    </a:solidFill>
                  </a:tcPr>
                </a:tc>
                <a:tc>
                  <a:txBody>
                    <a:bodyPr/>
                    <a:lstStyle/>
                    <a:p>
                      <a:pPr marL="0" indent="0" algn="ctr">
                        <a:buNone/>
                      </a:pPr>
                      <a:r>
                        <a:rPr lang="en-US" sz="1300" b="1" dirty="0">
                          <a:solidFill>
                            <a:srgbClr val="FFFFFF"/>
                          </a:solidFill>
                        </a:rPr>
                        <a:t>PropQA-Net</a:t>
                      </a:r>
                      <a:endParaRPr lang="en-US" sz="1300" dirty="0"/>
                    </a:p>
                    <a:p>
                      <a:pPr marL="0" indent="0" algn="ctr">
                        <a:buNone/>
                      </a:pPr>
                      <a:r>
                        <a:rPr lang="en-US" sz="1300" b="1" dirty="0">
                          <a:solidFill>
                            <a:srgbClr val="FFFFFF"/>
                          </a:solidFill>
                        </a:rPr>
                        <a:t>(This Work)</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142966"/>
                    </a:solidFill>
                  </a:tcPr>
                </a:tc>
                <a:extLst>
                  <a:ext uri="{0D108BD9-81ED-4DB2-BD59-A6C34878D82A}">
                    <a16:rowId xmlns:a16="http://schemas.microsoft.com/office/drawing/2014/main" val="10000"/>
                  </a:ext>
                </a:extLst>
              </a:tr>
              <a:tr h="575733">
                <a:tc>
                  <a:txBody>
                    <a:bodyPr/>
                    <a:lstStyle/>
                    <a:p>
                      <a:pPr marL="0" indent="0" algn="l">
                        <a:buNone/>
                      </a:pPr>
                      <a:r>
                        <a:rPr lang="en-US" sz="1300" b="1" dirty="0">
                          <a:solidFill>
                            <a:srgbClr val="0A1430"/>
                          </a:solidFill>
                        </a:rPr>
                        <a:t>Training signal</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A1430"/>
                          </a:solidFill>
                        </a:rPr>
                        <a:t>Parse features</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A1430"/>
                          </a:solidFill>
                        </a:rPr>
                        <a:t>Contextual embeddings</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A1430"/>
                          </a:solidFill>
                        </a:rPr>
                        <a:t>QA crowdsourcing</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42966"/>
                          </a:solidFill>
                        </a:rPr>
                        <a:t>PropBank BIO + spans</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D8E6FF"/>
                    </a:solidFill>
                  </a:tcPr>
                </a:tc>
                <a:extLst>
                  <a:ext uri="{0D108BD9-81ED-4DB2-BD59-A6C34878D82A}">
                    <a16:rowId xmlns:a16="http://schemas.microsoft.com/office/drawing/2014/main" val="10001"/>
                  </a:ext>
                </a:extLst>
              </a:tr>
              <a:tr h="575733">
                <a:tc>
                  <a:txBody>
                    <a:bodyPr/>
                    <a:lstStyle/>
                    <a:p>
                      <a:pPr marL="0" indent="0" algn="l">
                        <a:buNone/>
                      </a:pPr>
                      <a:r>
                        <a:rPr lang="en-US" sz="1300" b="1" dirty="0">
                          <a:solidFill>
                            <a:srgbClr val="0A1430"/>
                          </a:solidFill>
                        </a:rPr>
                        <a:t>QA capability</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lgn="ctr">
                        <a:buNone/>
                      </a:pPr>
                      <a:r>
                        <a:rPr lang="en-US" sz="1300" dirty="0">
                          <a:solidFill>
                            <a:srgbClr val="0A1430"/>
                          </a:solidFill>
                        </a:rPr>
                        <a:t>None native</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lgn="ctr">
                        <a:buNone/>
                      </a:pPr>
                      <a:r>
                        <a:rPr lang="en-US" sz="1300" dirty="0">
                          <a:solidFill>
                            <a:srgbClr val="0A1430"/>
                          </a:solidFill>
                        </a:rPr>
                        <a:t>None native</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lgn="ctr">
                        <a:buNone/>
                      </a:pPr>
                      <a:r>
                        <a:rPr lang="en-US" sz="1300" dirty="0">
                          <a:solidFill>
                            <a:srgbClr val="0A1430"/>
                          </a:solidFill>
                        </a:rPr>
                        <a:t>Annotation-only</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lgn="ctr">
                        <a:buNone/>
                      </a:pPr>
                      <a:r>
                        <a:rPr lang="en-US" sz="1300" dirty="0">
                          <a:solidFill>
                            <a:srgbClr val="142966"/>
                          </a:solidFill>
                        </a:rPr>
                        <a:t>Joint SRL + span QA</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D8E6FF"/>
                    </a:solidFill>
                  </a:tcPr>
                </a:tc>
                <a:extLst>
                  <a:ext uri="{0D108BD9-81ED-4DB2-BD59-A6C34878D82A}">
                    <a16:rowId xmlns:a16="http://schemas.microsoft.com/office/drawing/2014/main" val="10002"/>
                  </a:ext>
                </a:extLst>
              </a:tr>
              <a:tr h="575733">
                <a:tc>
                  <a:txBody>
                    <a:bodyPr/>
                    <a:lstStyle/>
                    <a:p>
                      <a:pPr marL="0" indent="0" algn="l">
                        <a:buNone/>
                      </a:pPr>
                      <a:r>
                        <a:rPr lang="en-US" sz="1300" b="1" dirty="0">
                          <a:solidFill>
                            <a:srgbClr val="0A1430"/>
                          </a:solidFill>
                        </a:rPr>
                        <a:t>Reproducibility</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A1430"/>
                          </a:solidFill>
                        </a:rPr>
                        <a:t>High</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A1430"/>
                          </a:solidFill>
                        </a:rPr>
                        <a:t>Medium (GPU)</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A1430"/>
                          </a:solidFill>
                        </a:rPr>
                        <a:t>Dataset-level</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42966"/>
                          </a:solidFill>
                        </a:rPr>
                        <a:t>High (NLTK, seed=42)</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D8E6FF"/>
                    </a:solidFill>
                  </a:tcPr>
                </a:tc>
                <a:extLst>
                  <a:ext uri="{0D108BD9-81ED-4DB2-BD59-A6C34878D82A}">
                    <a16:rowId xmlns:a16="http://schemas.microsoft.com/office/drawing/2014/main" val="10003"/>
                  </a:ext>
                </a:extLst>
              </a:tr>
              <a:tr h="575733">
                <a:tc>
                  <a:txBody>
                    <a:bodyPr/>
                    <a:lstStyle/>
                    <a:p>
                      <a:pPr marL="0" indent="0" algn="l">
                        <a:buNone/>
                      </a:pPr>
                      <a:r>
                        <a:rPr lang="en-US" sz="1300" b="1" dirty="0">
                          <a:solidFill>
                            <a:srgbClr val="0A1430"/>
                          </a:solidFill>
                        </a:rPr>
                        <a:t>Role explainability</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lgn="ctr">
                        <a:buNone/>
                      </a:pPr>
                      <a:r>
                        <a:rPr lang="en-US" sz="1300" dirty="0">
                          <a:solidFill>
                            <a:srgbClr val="0A1430"/>
                          </a:solidFill>
                        </a:rPr>
                        <a:t>Full</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lgn="ctr">
                        <a:buNone/>
                      </a:pPr>
                      <a:r>
                        <a:rPr lang="en-US" sz="1300" dirty="0">
                          <a:solidFill>
                            <a:srgbClr val="0A1430"/>
                          </a:solidFill>
                        </a:rPr>
                        <a:t>Full</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lgn="ctr">
                        <a:buNone/>
                      </a:pPr>
                      <a:r>
                        <a:rPr lang="en-US" sz="1300" dirty="0">
                          <a:solidFill>
                            <a:srgbClr val="0A1430"/>
                          </a:solidFill>
                        </a:rPr>
                        <a:t>QA-form labels</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lgn="ctr">
                        <a:buNone/>
                      </a:pPr>
                      <a:r>
                        <a:rPr lang="en-US" sz="1300" dirty="0">
                          <a:solidFill>
                            <a:srgbClr val="142966"/>
                          </a:solidFill>
                        </a:rPr>
                        <a:t>Full + reasoning trace</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D8E6FF"/>
                    </a:solidFill>
                  </a:tcPr>
                </a:tc>
                <a:extLst>
                  <a:ext uri="{0D108BD9-81ED-4DB2-BD59-A6C34878D82A}">
                    <a16:rowId xmlns:a16="http://schemas.microsoft.com/office/drawing/2014/main" val="10004"/>
                  </a:ext>
                </a:extLst>
              </a:tr>
              <a:tr h="575733">
                <a:tc>
                  <a:txBody>
                    <a:bodyPr/>
                    <a:lstStyle/>
                    <a:p>
                      <a:pPr marL="0" indent="0" algn="l">
                        <a:buNone/>
                      </a:pPr>
                      <a:r>
                        <a:rPr lang="en-US" sz="1300" b="1" dirty="0">
                          <a:solidFill>
                            <a:srgbClr val="0A1430"/>
                          </a:solidFill>
                        </a:rPr>
                        <a:t>Multi-task</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A1430"/>
                          </a:solidFill>
                        </a:rPr>
                        <a:t>No</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A1430"/>
                          </a:solidFill>
                        </a:rPr>
                        <a:t>No</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A1430"/>
                          </a:solidFill>
                        </a:rPr>
                        <a:t>No</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42966"/>
                          </a:solidFill>
                        </a:rPr>
                        <a:t>Yes (SRL + QA jointly)</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D8E6FF"/>
                    </a:solidFill>
                  </a:tcPr>
                </a:tc>
                <a:extLst>
                  <a:ext uri="{0D108BD9-81ED-4DB2-BD59-A6C34878D82A}">
                    <a16:rowId xmlns:a16="http://schemas.microsoft.com/office/drawing/2014/main" val="10005"/>
                  </a:ext>
                </a:extLst>
              </a:tr>
              <a:tr h="575733">
                <a:tc>
                  <a:txBody>
                    <a:bodyPr/>
                    <a:lstStyle/>
                    <a:p>
                      <a:pPr marL="0" indent="0" algn="l">
                        <a:buNone/>
                      </a:pPr>
                      <a:r>
                        <a:rPr lang="en-US" sz="1300" b="1" dirty="0">
                          <a:solidFill>
                            <a:srgbClr val="0A1430"/>
                          </a:solidFill>
                        </a:rPr>
                        <a:t>Hybrid upgrade</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lgn="ctr">
                        <a:buNone/>
                      </a:pPr>
                      <a:r>
                        <a:rPr lang="en-US" sz="1300" dirty="0">
                          <a:solidFill>
                            <a:srgbClr val="0A1430"/>
                          </a:solidFill>
                        </a:rPr>
                        <a:t>No</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lgn="ctr">
                        <a:buNone/>
                      </a:pPr>
                      <a:r>
                        <a:rPr lang="en-US" sz="1300" dirty="0">
                          <a:solidFill>
                            <a:srgbClr val="0A1430"/>
                          </a:solidFill>
                        </a:rPr>
                        <a:t>No</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lgn="ctr">
                        <a:buNone/>
                      </a:pPr>
                      <a:r>
                        <a:rPr lang="en-US" sz="1300" dirty="0">
                          <a:solidFill>
                            <a:srgbClr val="0A1430"/>
                          </a:solidFill>
                        </a:rPr>
                        <a:t>No</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lgn="ctr">
                        <a:buNone/>
                      </a:pPr>
                      <a:r>
                        <a:rPr lang="en-US" sz="1300" dirty="0">
                          <a:solidFill>
                            <a:srgbClr val="142966"/>
                          </a:solidFill>
                        </a:rPr>
                        <a:t>Yes (4 inference tracks)</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D8E6FF"/>
                    </a:solidFill>
                  </a:tcPr>
                </a:tc>
                <a:extLst>
                  <a:ext uri="{0D108BD9-81ED-4DB2-BD59-A6C34878D82A}">
                    <a16:rowId xmlns:a16="http://schemas.microsoft.com/office/drawing/2014/main" val="10006"/>
                  </a:ext>
                </a:extLst>
              </a:tr>
              <a:tr h="575733">
                <a:tc>
                  <a:txBody>
                    <a:bodyPr/>
                    <a:lstStyle/>
                    <a:p>
                      <a:pPr marL="0" indent="0" algn="l">
                        <a:buNone/>
                      </a:pPr>
                      <a:r>
                        <a:rPr lang="en-US" sz="1300" b="1" dirty="0">
                          <a:solidFill>
                            <a:srgbClr val="0A1430"/>
                          </a:solidFill>
                        </a:rPr>
                        <a:t>Corpus size</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A1430"/>
                          </a:solidFill>
                        </a:rPr>
                        <a:t>PTB WSJ</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A1430"/>
                          </a:solidFill>
                        </a:rPr>
                        <a:t>OntoNotes</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0A1430"/>
                          </a:solidFill>
                        </a:rPr>
                        <a:t>QA-SRL bank</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FFFFF"/>
                    </a:solidFill>
                  </a:tcPr>
                </a:tc>
                <a:tc>
                  <a:txBody>
                    <a:bodyPr/>
                    <a:lstStyle/>
                    <a:p>
                      <a:pPr marL="0" indent="0" algn="ctr">
                        <a:buNone/>
                      </a:pPr>
                      <a:r>
                        <a:rPr lang="en-US" sz="1300" dirty="0">
                          <a:solidFill>
                            <a:srgbClr val="142966"/>
                          </a:solidFill>
                        </a:rPr>
                        <a:t>23,007 NLTK PropBank QA</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D8E6FF"/>
                    </a:solidFill>
                  </a:tcPr>
                </a:tc>
                <a:extLst>
                  <a:ext uri="{0D108BD9-81ED-4DB2-BD59-A6C34878D82A}">
                    <a16:rowId xmlns:a16="http://schemas.microsoft.com/office/drawing/2014/main" val="10007"/>
                  </a:ext>
                </a:extLst>
              </a:tr>
              <a:tr h="575733">
                <a:tc>
                  <a:txBody>
                    <a:bodyPr/>
                    <a:lstStyle/>
                    <a:p>
                      <a:pPr marL="0" indent="0" algn="l">
                        <a:buNone/>
                      </a:pPr>
                      <a:r>
                        <a:rPr lang="en-US" sz="1300" b="1" dirty="0">
                          <a:solidFill>
                            <a:srgbClr val="0A1430"/>
                          </a:solidFill>
                        </a:rPr>
                        <a:t>Approx. test F1</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lgn="ctr">
                        <a:buNone/>
                      </a:pPr>
                      <a:r>
                        <a:rPr lang="en-US" sz="1300" dirty="0">
                          <a:solidFill>
                            <a:srgbClr val="0A1430"/>
                          </a:solidFill>
                        </a:rPr>
                        <a:t>~0.75 (SRL only)</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lgn="ctr">
                        <a:buNone/>
                      </a:pPr>
                      <a:r>
                        <a:rPr lang="en-US" sz="1300" dirty="0">
                          <a:solidFill>
                            <a:srgbClr val="0A1430"/>
                          </a:solidFill>
                        </a:rPr>
                        <a:t>~0.87 (SRL only)</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lgn="ctr">
                        <a:buNone/>
                      </a:pPr>
                      <a:r>
                        <a:rPr lang="en-US" sz="1300" dirty="0">
                          <a:solidFill>
                            <a:srgbClr val="0A1430"/>
                          </a:solidFill>
                        </a:rPr>
                        <a:t>N/A</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F0F5FF"/>
                    </a:solidFill>
                  </a:tcPr>
                </a:tc>
                <a:tc>
                  <a:txBody>
                    <a:bodyPr/>
                    <a:lstStyle/>
                    <a:p>
                      <a:pPr marL="0" indent="0" algn="ctr">
                        <a:buNone/>
                      </a:pPr>
                      <a:r>
                        <a:rPr lang="en-US" sz="1300" dirty="0">
                          <a:solidFill>
                            <a:srgbClr val="142966"/>
                          </a:solidFill>
                        </a:rPr>
                        <a:t>0.761 QA token F1</a:t>
                      </a:r>
                      <a:endParaRPr lang="en-US" sz="1300" dirty="0"/>
                    </a:p>
                  </a:txBody>
                  <a:tcPr marL="121920" marR="121920" marT="60960" marB="60960">
                    <a:lnL w="6350" cap="flat" cmpd="sng" algn="ctr">
                      <a:solidFill>
                        <a:srgbClr val="CBD5E0"/>
                      </a:solidFill>
                      <a:prstDash val="solid"/>
                      <a:round/>
                      <a:headEnd type="none" w="med" len="med"/>
                      <a:tailEnd type="none" w="med" len="med"/>
                    </a:lnL>
                    <a:lnR w="6350" cap="flat" cmpd="sng" algn="ctr">
                      <a:solidFill>
                        <a:srgbClr val="CBD5E0"/>
                      </a:solidFill>
                      <a:prstDash val="solid"/>
                      <a:round/>
                      <a:headEnd type="none" w="med" len="med"/>
                      <a:tailEnd type="none" w="med" len="med"/>
                    </a:lnR>
                    <a:lnT w="6350" cap="flat" cmpd="sng" algn="ctr">
                      <a:solidFill>
                        <a:srgbClr val="CBD5E0"/>
                      </a:solidFill>
                      <a:prstDash val="solid"/>
                      <a:round/>
                      <a:headEnd type="none" w="med" len="med"/>
                      <a:tailEnd type="none" w="med" len="med"/>
                    </a:lnT>
                    <a:lnB w="6350" cap="flat" cmpd="sng" algn="ctr">
                      <a:solidFill>
                        <a:srgbClr val="CBD5E0"/>
                      </a:solidFill>
                      <a:prstDash val="solid"/>
                      <a:round/>
                      <a:headEnd type="none" w="med" len="med"/>
                      <a:tailEnd type="none" w="med" len="med"/>
                    </a:lnB>
                    <a:solidFill>
                      <a:srgbClr val="D8E6FF"/>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10846544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0A1430"/>
        </a:solidFill>
        <a:effectLst/>
      </p:bgPr>
    </p:bg>
    <p:spTree>
      <p:nvGrpSpPr>
        <p:cNvPr id="1" name=""/>
        <p:cNvGrpSpPr/>
        <p:nvPr/>
      </p:nvGrpSpPr>
      <p:grpSpPr>
        <a:xfrm>
          <a:off x="0" y="0"/>
          <a:ext cx="0" cy="0"/>
          <a:chOff x="0" y="0"/>
          <a:chExt cx="0" cy="0"/>
        </a:xfrm>
      </p:grpSpPr>
      <p:sp>
        <p:nvSpPr>
          <p:cNvPr id="2" name="Shape 0"/>
          <p:cNvSpPr/>
          <p:nvPr/>
        </p:nvSpPr>
        <p:spPr>
          <a:xfrm>
            <a:off x="0" y="0"/>
            <a:ext cx="12192000" cy="463296"/>
          </a:xfrm>
          <a:prstGeom prst="rect">
            <a:avLst/>
          </a:prstGeom>
          <a:solidFill>
            <a:srgbClr val="0FA3B1"/>
          </a:solidFill>
          <a:ln w="12700">
            <a:solidFill>
              <a:srgbClr val="0FA3B1"/>
            </a:solidFill>
            <a:prstDash val="solid"/>
          </a:ln>
        </p:spPr>
      </p:sp>
      <p:sp>
        <p:nvSpPr>
          <p:cNvPr id="3" name="Text 1"/>
          <p:cNvSpPr/>
          <p:nvPr/>
        </p:nvSpPr>
        <p:spPr>
          <a:xfrm>
            <a:off x="365760" y="0"/>
            <a:ext cx="10972800" cy="463296"/>
          </a:xfrm>
          <a:prstGeom prst="rect">
            <a:avLst/>
          </a:prstGeom>
          <a:noFill/>
          <a:ln/>
        </p:spPr>
        <p:txBody>
          <a:bodyPr wrap="square" lIns="0" tIns="0" rIns="0" bIns="0" rtlCol="0" anchor="ctr"/>
          <a:lstStyle/>
          <a:p>
            <a:r>
              <a:rPr lang="en-US" sz="1333" b="1" kern="0" spc="400" dirty="0">
                <a:solidFill>
                  <a:srgbClr val="FFFFFF"/>
                </a:solidFill>
              </a:rPr>
              <a:t>CONCLUSION</a:t>
            </a:r>
            <a:endParaRPr lang="en-US" sz="1333" dirty="0"/>
          </a:p>
        </p:txBody>
      </p:sp>
      <p:sp>
        <p:nvSpPr>
          <p:cNvPr id="4" name="Text 2"/>
          <p:cNvSpPr/>
          <p:nvPr/>
        </p:nvSpPr>
        <p:spPr>
          <a:xfrm>
            <a:off x="548640" y="609600"/>
            <a:ext cx="11094720" cy="792480"/>
          </a:xfrm>
          <a:prstGeom prst="rect">
            <a:avLst/>
          </a:prstGeom>
          <a:noFill/>
          <a:ln/>
        </p:spPr>
        <p:txBody>
          <a:bodyPr wrap="square" rtlCol="0" anchor="ctr"/>
          <a:lstStyle/>
          <a:p>
            <a:r>
              <a:rPr lang="en-US" sz="4000" b="1" dirty="0">
                <a:solidFill>
                  <a:srgbClr val="FFFFFF"/>
                </a:solidFill>
              </a:rPr>
              <a:t>PropQA-Net: Key Takeaways</a:t>
            </a:r>
            <a:endParaRPr lang="en-US" sz="4000" dirty="0"/>
          </a:p>
        </p:txBody>
      </p:sp>
      <p:sp>
        <p:nvSpPr>
          <p:cNvPr id="5" name="Shape 3"/>
          <p:cNvSpPr/>
          <p:nvPr/>
        </p:nvSpPr>
        <p:spPr>
          <a:xfrm>
            <a:off x="548640" y="1487424"/>
            <a:ext cx="9753600" cy="48768"/>
          </a:xfrm>
          <a:prstGeom prst="rect">
            <a:avLst/>
          </a:prstGeom>
          <a:solidFill>
            <a:srgbClr val="F4A325"/>
          </a:solidFill>
          <a:ln w="12700">
            <a:solidFill>
              <a:srgbClr val="F4A325"/>
            </a:solidFill>
            <a:prstDash val="solid"/>
          </a:ln>
        </p:spPr>
      </p:sp>
      <p:sp>
        <p:nvSpPr>
          <p:cNvPr id="6" name="Shape 4"/>
          <p:cNvSpPr/>
          <p:nvPr/>
        </p:nvSpPr>
        <p:spPr>
          <a:xfrm>
            <a:off x="365760" y="1706880"/>
            <a:ext cx="5547360" cy="1463040"/>
          </a:xfrm>
          <a:prstGeom prst="rect">
            <a:avLst/>
          </a:prstGeom>
          <a:solidFill>
            <a:srgbClr val="142966"/>
          </a:solidFill>
          <a:ln/>
        </p:spPr>
      </p:sp>
      <p:sp>
        <p:nvSpPr>
          <p:cNvPr id="7" name="Shape 5"/>
          <p:cNvSpPr/>
          <p:nvPr/>
        </p:nvSpPr>
        <p:spPr>
          <a:xfrm>
            <a:off x="365760" y="1706880"/>
            <a:ext cx="85344" cy="1463040"/>
          </a:xfrm>
          <a:prstGeom prst="rect">
            <a:avLst/>
          </a:prstGeom>
          <a:solidFill>
            <a:srgbClr val="0FA3B1"/>
          </a:solidFill>
          <a:ln w="12700">
            <a:solidFill>
              <a:srgbClr val="0FA3B1"/>
            </a:solidFill>
            <a:prstDash val="solid"/>
          </a:ln>
        </p:spPr>
      </p:sp>
      <p:sp>
        <p:nvSpPr>
          <p:cNvPr id="8" name="Text 6"/>
          <p:cNvSpPr/>
          <p:nvPr/>
        </p:nvSpPr>
        <p:spPr>
          <a:xfrm>
            <a:off x="548640" y="1828800"/>
            <a:ext cx="5303520" cy="365760"/>
          </a:xfrm>
          <a:prstGeom prst="rect">
            <a:avLst/>
          </a:prstGeom>
          <a:noFill/>
          <a:ln/>
        </p:spPr>
        <p:txBody>
          <a:bodyPr wrap="square" lIns="0" tIns="0" rIns="0" bIns="0" rtlCol="0" anchor="ctr"/>
          <a:lstStyle/>
          <a:p>
            <a:r>
              <a:rPr lang="en-US" sz="1467" b="1" dirty="0">
                <a:solidFill>
                  <a:srgbClr val="FFFFFF"/>
                </a:solidFill>
              </a:rPr>
              <a:t>Real PropBank dataset</a:t>
            </a:r>
            <a:endParaRPr lang="en-US" sz="1467" dirty="0"/>
          </a:p>
        </p:txBody>
      </p:sp>
      <p:sp>
        <p:nvSpPr>
          <p:cNvPr id="9" name="Text 7"/>
          <p:cNvSpPr/>
          <p:nvPr/>
        </p:nvSpPr>
        <p:spPr>
          <a:xfrm>
            <a:off x="548640" y="2218944"/>
            <a:ext cx="5303520" cy="877824"/>
          </a:xfrm>
          <a:prstGeom prst="rect">
            <a:avLst/>
          </a:prstGeom>
          <a:noFill/>
          <a:ln/>
        </p:spPr>
        <p:txBody>
          <a:bodyPr wrap="square" lIns="0" tIns="0" rIns="0" bIns="0" rtlCol="0" anchor="ctr"/>
          <a:lstStyle/>
          <a:p>
            <a:r>
              <a:rPr lang="en-US" sz="1333" dirty="0">
                <a:solidFill>
                  <a:srgbClr val="D8E6FF"/>
                </a:solidFill>
              </a:rPr>
              <a:t>23,007 QA pairs from authentic PropBank annotations via NLTK — fully reproducible pipeline</a:t>
            </a:r>
            <a:endParaRPr lang="en-US" sz="1333" dirty="0"/>
          </a:p>
        </p:txBody>
      </p:sp>
      <p:sp>
        <p:nvSpPr>
          <p:cNvPr id="10" name="Shape 8"/>
          <p:cNvSpPr/>
          <p:nvPr/>
        </p:nvSpPr>
        <p:spPr>
          <a:xfrm>
            <a:off x="365760" y="3352800"/>
            <a:ext cx="5547360" cy="1463040"/>
          </a:xfrm>
          <a:prstGeom prst="rect">
            <a:avLst/>
          </a:prstGeom>
          <a:solidFill>
            <a:srgbClr val="142966"/>
          </a:solidFill>
          <a:ln/>
        </p:spPr>
      </p:sp>
      <p:sp>
        <p:nvSpPr>
          <p:cNvPr id="11" name="Shape 9"/>
          <p:cNvSpPr/>
          <p:nvPr/>
        </p:nvSpPr>
        <p:spPr>
          <a:xfrm>
            <a:off x="365760" y="3352800"/>
            <a:ext cx="85344" cy="1463040"/>
          </a:xfrm>
          <a:prstGeom prst="rect">
            <a:avLst/>
          </a:prstGeom>
          <a:solidFill>
            <a:srgbClr val="1B7FBF"/>
          </a:solidFill>
          <a:ln w="12700">
            <a:solidFill>
              <a:srgbClr val="1B7FBF"/>
            </a:solidFill>
            <a:prstDash val="solid"/>
          </a:ln>
        </p:spPr>
      </p:sp>
      <p:sp>
        <p:nvSpPr>
          <p:cNvPr id="12" name="Text 10"/>
          <p:cNvSpPr/>
          <p:nvPr/>
        </p:nvSpPr>
        <p:spPr>
          <a:xfrm>
            <a:off x="548640" y="3474720"/>
            <a:ext cx="5303520" cy="365760"/>
          </a:xfrm>
          <a:prstGeom prst="rect">
            <a:avLst/>
          </a:prstGeom>
          <a:noFill/>
          <a:ln/>
        </p:spPr>
        <p:txBody>
          <a:bodyPr wrap="square" lIns="0" tIns="0" rIns="0" bIns="0" rtlCol="0" anchor="ctr"/>
          <a:lstStyle/>
          <a:p>
            <a:r>
              <a:rPr lang="en-US" sz="1467" b="1" dirty="0">
                <a:solidFill>
                  <a:srgbClr val="FFFFFF"/>
                </a:solidFill>
              </a:rPr>
              <a:t>Joint SRL + QA model</a:t>
            </a:r>
            <a:endParaRPr lang="en-US" sz="1467" dirty="0"/>
          </a:p>
        </p:txBody>
      </p:sp>
      <p:sp>
        <p:nvSpPr>
          <p:cNvPr id="13" name="Text 11"/>
          <p:cNvSpPr/>
          <p:nvPr/>
        </p:nvSpPr>
        <p:spPr>
          <a:xfrm>
            <a:off x="548640" y="3864864"/>
            <a:ext cx="5303520" cy="877824"/>
          </a:xfrm>
          <a:prstGeom prst="rect">
            <a:avLst/>
          </a:prstGeom>
          <a:noFill/>
          <a:ln/>
        </p:spPr>
        <p:txBody>
          <a:bodyPr wrap="square" lIns="0" tIns="0" rIns="0" bIns="0" rtlCol="0" anchor="ctr"/>
          <a:lstStyle/>
          <a:p>
            <a:r>
              <a:rPr lang="en-US" sz="1333" dirty="0">
                <a:solidFill>
                  <a:srgbClr val="D8E6FF"/>
                </a:solidFill>
              </a:rPr>
              <a:t>BiLSTM that predicts BIO roles and extracts answer spans simultaneously — 0.761 token F1</a:t>
            </a:r>
            <a:endParaRPr lang="en-US" sz="1333" dirty="0"/>
          </a:p>
        </p:txBody>
      </p:sp>
      <p:sp>
        <p:nvSpPr>
          <p:cNvPr id="14" name="Shape 12"/>
          <p:cNvSpPr/>
          <p:nvPr/>
        </p:nvSpPr>
        <p:spPr>
          <a:xfrm>
            <a:off x="365760" y="4998720"/>
            <a:ext cx="5547360" cy="1463040"/>
          </a:xfrm>
          <a:prstGeom prst="rect">
            <a:avLst/>
          </a:prstGeom>
          <a:solidFill>
            <a:srgbClr val="142966"/>
          </a:solidFill>
          <a:ln/>
        </p:spPr>
      </p:sp>
      <p:sp>
        <p:nvSpPr>
          <p:cNvPr id="15" name="Shape 13"/>
          <p:cNvSpPr/>
          <p:nvPr/>
        </p:nvSpPr>
        <p:spPr>
          <a:xfrm>
            <a:off x="365760" y="4998720"/>
            <a:ext cx="85344" cy="1463040"/>
          </a:xfrm>
          <a:prstGeom prst="rect">
            <a:avLst/>
          </a:prstGeom>
          <a:solidFill>
            <a:srgbClr val="F4A325"/>
          </a:solidFill>
          <a:ln w="12700">
            <a:solidFill>
              <a:srgbClr val="F4A325"/>
            </a:solidFill>
            <a:prstDash val="solid"/>
          </a:ln>
        </p:spPr>
      </p:sp>
      <p:sp>
        <p:nvSpPr>
          <p:cNvPr id="16" name="Text 14"/>
          <p:cNvSpPr/>
          <p:nvPr/>
        </p:nvSpPr>
        <p:spPr>
          <a:xfrm>
            <a:off x="548640" y="5120640"/>
            <a:ext cx="5303520" cy="365760"/>
          </a:xfrm>
          <a:prstGeom prst="rect">
            <a:avLst/>
          </a:prstGeom>
          <a:noFill/>
          <a:ln/>
        </p:spPr>
        <p:txBody>
          <a:bodyPr wrap="square" lIns="0" tIns="0" rIns="0" bIns="0" rtlCol="0" anchor="ctr"/>
          <a:lstStyle/>
          <a:p>
            <a:r>
              <a:rPr lang="en-US" sz="1467" b="1" dirty="0">
                <a:solidFill>
                  <a:srgbClr val="FFFFFF"/>
                </a:solidFill>
              </a:rPr>
              <a:t>Transparent failures</a:t>
            </a:r>
            <a:endParaRPr lang="en-US" sz="1467" dirty="0"/>
          </a:p>
        </p:txBody>
      </p:sp>
      <p:sp>
        <p:nvSpPr>
          <p:cNvPr id="17" name="Text 15"/>
          <p:cNvSpPr/>
          <p:nvPr/>
        </p:nvSpPr>
        <p:spPr>
          <a:xfrm>
            <a:off x="548640" y="5510784"/>
            <a:ext cx="5303520" cy="877824"/>
          </a:xfrm>
          <a:prstGeom prst="rect">
            <a:avLst/>
          </a:prstGeom>
          <a:noFill/>
          <a:ln/>
        </p:spPr>
        <p:txBody>
          <a:bodyPr wrap="square" lIns="0" tIns="0" rIns="0" bIns="0" rtlCol="0" anchor="ctr"/>
          <a:lstStyle/>
          <a:p>
            <a:r>
              <a:rPr lang="en-US" sz="1333" dirty="0">
                <a:solidFill>
                  <a:srgbClr val="D8E6FF"/>
                </a:solidFill>
              </a:rPr>
              <a:t>Error taxonomy (52% boundary, 41% wrong-role) guides a concrete research agenda</a:t>
            </a:r>
            <a:endParaRPr lang="en-US" sz="1333" dirty="0"/>
          </a:p>
        </p:txBody>
      </p:sp>
      <p:sp>
        <p:nvSpPr>
          <p:cNvPr id="18" name="Shape 16"/>
          <p:cNvSpPr/>
          <p:nvPr/>
        </p:nvSpPr>
        <p:spPr>
          <a:xfrm>
            <a:off x="6278880" y="1706880"/>
            <a:ext cx="5547360" cy="1463040"/>
          </a:xfrm>
          <a:prstGeom prst="rect">
            <a:avLst/>
          </a:prstGeom>
          <a:solidFill>
            <a:srgbClr val="142966"/>
          </a:solidFill>
          <a:ln/>
        </p:spPr>
      </p:sp>
      <p:sp>
        <p:nvSpPr>
          <p:cNvPr id="19" name="Shape 17"/>
          <p:cNvSpPr/>
          <p:nvPr/>
        </p:nvSpPr>
        <p:spPr>
          <a:xfrm>
            <a:off x="6278880" y="1706880"/>
            <a:ext cx="85344" cy="1463040"/>
          </a:xfrm>
          <a:prstGeom prst="rect">
            <a:avLst/>
          </a:prstGeom>
          <a:solidFill>
            <a:srgbClr val="1B7FBF"/>
          </a:solidFill>
          <a:ln w="12700">
            <a:solidFill>
              <a:srgbClr val="1B7FBF"/>
            </a:solidFill>
            <a:prstDash val="solid"/>
          </a:ln>
        </p:spPr>
      </p:sp>
      <p:sp>
        <p:nvSpPr>
          <p:cNvPr id="20" name="Text 18"/>
          <p:cNvSpPr/>
          <p:nvPr/>
        </p:nvSpPr>
        <p:spPr>
          <a:xfrm>
            <a:off x="6461760" y="1828800"/>
            <a:ext cx="5303520" cy="365760"/>
          </a:xfrm>
          <a:prstGeom prst="rect">
            <a:avLst/>
          </a:prstGeom>
          <a:noFill/>
          <a:ln/>
        </p:spPr>
        <p:txBody>
          <a:bodyPr wrap="square" lIns="0" tIns="0" rIns="0" bIns="0" rtlCol="0" anchor="ctr"/>
          <a:lstStyle/>
          <a:p>
            <a:r>
              <a:rPr lang="en-US" sz="1467" b="1" dirty="0">
                <a:solidFill>
                  <a:srgbClr val="FFFFFF"/>
                </a:solidFill>
              </a:rPr>
              <a:t>Hybrid upgrade</a:t>
            </a:r>
            <a:endParaRPr lang="en-US" sz="1467" dirty="0"/>
          </a:p>
        </p:txBody>
      </p:sp>
      <p:sp>
        <p:nvSpPr>
          <p:cNvPr id="21" name="Text 19"/>
          <p:cNvSpPr/>
          <p:nvPr/>
        </p:nvSpPr>
        <p:spPr>
          <a:xfrm>
            <a:off x="6461760" y="2218944"/>
            <a:ext cx="5303520" cy="877824"/>
          </a:xfrm>
          <a:prstGeom prst="rect">
            <a:avLst/>
          </a:prstGeom>
          <a:noFill/>
          <a:ln/>
        </p:spPr>
        <p:txBody>
          <a:bodyPr wrap="square" lIns="0" tIns="0" rIns="0" bIns="0" rtlCol="0" anchor="ctr"/>
          <a:lstStyle/>
          <a:p>
            <a:r>
              <a:rPr lang="en-US" sz="1333" dirty="0">
                <a:solidFill>
                  <a:srgbClr val="D8E6FF"/>
                </a:solidFill>
              </a:rPr>
              <a:t>Role-aware heuristics boost challenge F1 from 0.47 → 0.78 at near-zero latency cost</a:t>
            </a:r>
            <a:endParaRPr lang="en-US" sz="1333" dirty="0"/>
          </a:p>
        </p:txBody>
      </p:sp>
      <p:sp>
        <p:nvSpPr>
          <p:cNvPr id="22" name="Shape 20"/>
          <p:cNvSpPr/>
          <p:nvPr/>
        </p:nvSpPr>
        <p:spPr>
          <a:xfrm>
            <a:off x="6278880" y="3352800"/>
            <a:ext cx="5547360" cy="1463040"/>
          </a:xfrm>
          <a:prstGeom prst="rect">
            <a:avLst/>
          </a:prstGeom>
          <a:solidFill>
            <a:srgbClr val="142966"/>
          </a:solidFill>
          <a:ln/>
        </p:spPr>
      </p:sp>
      <p:sp>
        <p:nvSpPr>
          <p:cNvPr id="23" name="Shape 21"/>
          <p:cNvSpPr/>
          <p:nvPr/>
        </p:nvSpPr>
        <p:spPr>
          <a:xfrm>
            <a:off x="6278880" y="3352800"/>
            <a:ext cx="85344" cy="1463040"/>
          </a:xfrm>
          <a:prstGeom prst="rect">
            <a:avLst/>
          </a:prstGeom>
          <a:solidFill>
            <a:srgbClr val="0FA3B1"/>
          </a:solidFill>
          <a:ln w="12700">
            <a:solidFill>
              <a:srgbClr val="0FA3B1"/>
            </a:solidFill>
            <a:prstDash val="solid"/>
          </a:ln>
        </p:spPr>
      </p:sp>
      <p:sp>
        <p:nvSpPr>
          <p:cNvPr id="24" name="Text 22"/>
          <p:cNvSpPr/>
          <p:nvPr/>
        </p:nvSpPr>
        <p:spPr>
          <a:xfrm>
            <a:off x="6461760" y="3474720"/>
            <a:ext cx="5303520" cy="365760"/>
          </a:xfrm>
          <a:prstGeom prst="rect">
            <a:avLst/>
          </a:prstGeom>
          <a:noFill/>
          <a:ln/>
        </p:spPr>
        <p:txBody>
          <a:bodyPr wrap="square" lIns="0" tIns="0" rIns="0" bIns="0" rtlCol="0" anchor="ctr"/>
          <a:lstStyle/>
          <a:p>
            <a:r>
              <a:rPr lang="en-US" sz="1467" b="1" dirty="0">
                <a:solidFill>
                  <a:srgbClr val="FFFFFF"/>
                </a:solidFill>
              </a:rPr>
              <a:t>Innovation agenda</a:t>
            </a:r>
            <a:endParaRPr lang="en-US" sz="1467" dirty="0"/>
          </a:p>
        </p:txBody>
      </p:sp>
      <p:sp>
        <p:nvSpPr>
          <p:cNvPr id="25" name="Text 23"/>
          <p:cNvSpPr/>
          <p:nvPr/>
        </p:nvSpPr>
        <p:spPr>
          <a:xfrm>
            <a:off x="6461760" y="3864864"/>
            <a:ext cx="5303520" cy="877824"/>
          </a:xfrm>
          <a:prstGeom prst="rect">
            <a:avLst/>
          </a:prstGeom>
          <a:noFill/>
          <a:ln/>
        </p:spPr>
        <p:txBody>
          <a:bodyPr wrap="square" lIns="0" tIns="0" rIns="0" bIns="0" rtlCol="0" anchor="ctr"/>
          <a:lstStyle/>
          <a:p>
            <a:r>
              <a:rPr lang="en-US" sz="1333" dirty="0">
                <a:solidFill>
                  <a:srgbClr val="D8E6FF"/>
                </a:solidFill>
              </a:rPr>
              <a:t>Frame-aware disambiguation · PropAgent pipeline · HybridPropQA · PropQA-Bench</a:t>
            </a:r>
            <a:endParaRPr lang="en-US" sz="1333" dirty="0"/>
          </a:p>
        </p:txBody>
      </p:sp>
      <p:sp>
        <p:nvSpPr>
          <p:cNvPr id="26" name="Shape 24"/>
          <p:cNvSpPr/>
          <p:nvPr/>
        </p:nvSpPr>
        <p:spPr>
          <a:xfrm>
            <a:off x="6278880" y="4998720"/>
            <a:ext cx="5547360" cy="1463040"/>
          </a:xfrm>
          <a:prstGeom prst="rect">
            <a:avLst/>
          </a:prstGeom>
          <a:solidFill>
            <a:srgbClr val="142966"/>
          </a:solidFill>
          <a:ln/>
        </p:spPr>
      </p:sp>
      <p:sp>
        <p:nvSpPr>
          <p:cNvPr id="27" name="Shape 25"/>
          <p:cNvSpPr/>
          <p:nvPr/>
        </p:nvSpPr>
        <p:spPr>
          <a:xfrm>
            <a:off x="6278880" y="4998720"/>
            <a:ext cx="85344" cy="1463040"/>
          </a:xfrm>
          <a:prstGeom prst="rect">
            <a:avLst/>
          </a:prstGeom>
          <a:solidFill>
            <a:srgbClr val="F4A325"/>
          </a:solidFill>
          <a:ln w="12700">
            <a:solidFill>
              <a:srgbClr val="F4A325"/>
            </a:solidFill>
            <a:prstDash val="solid"/>
          </a:ln>
        </p:spPr>
      </p:sp>
      <p:sp>
        <p:nvSpPr>
          <p:cNvPr id="28" name="Text 26"/>
          <p:cNvSpPr/>
          <p:nvPr/>
        </p:nvSpPr>
        <p:spPr>
          <a:xfrm>
            <a:off x="6461760" y="5120640"/>
            <a:ext cx="5303520" cy="365760"/>
          </a:xfrm>
          <a:prstGeom prst="rect">
            <a:avLst/>
          </a:prstGeom>
          <a:noFill/>
          <a:ln/>
        </p:spPr>
        <p:txBody>
          <a:bodyPr wrap="square" lIns="0" tIns="0" rIns="0" bIns="0" rtlCol="0" anchor="ctr"/>
          <a:lstStyle/>
          <a:p>
            <a:r>
              <a:rPr lang="en-US" sz="1467" b="1" dirty="0">
                <a:solidFill>
                  <a:srgbClr val="FFFFFF"/>
                </a:solidFill>
              </a:rPr>
              <a:t>Inspectability first</a:t>
            </a:r>
            <a:endParaRPr lang="en-US" sz="1467" dirty="0"/>
          </a:p>
        </p:txBody>
      </p:sp>
      <p:sp>
        <p:nvSpPr>
          <p:cNvPr id="29" name="Text 27"/>
          <p:cNvSpPr/>
          <p:nvPr/>
        </p:nvSpPr>
        <p:spPr>
          <a:xfrm>
            <a:off x="6461760" y="5510784"/>
            <a:ext cx="5303520" cy="877824"/>
          </a:xfrm>
          <a:prstGeom prst="rect">
            <a:avLst/>
          </a:prstGeom>
          <a:noFill/>
          <a:ln/>
        </p:spPr>
        <p:txBody>
          <a:bodyPr wrap="square" lIns="0" tIns="0" rIns="0" bIns="0" rtlCol="0" anchor="ctr"/>
          <a:lstStyle/>
          <a:p>
            <a:r>
              <a:rPr lang="en-US" sz="1333" dirty="0">
                <a:solidFill>
                  <a:srgbClr val="D8E6FF"/>
                </a:solidFill>
              </a:rPr>
              <a:t>Every answer is tied to a predicate, a role span, and a reasoning trace — not a black box</a:t>
            </a:r>
            <a:endParaRPr lang="en-US" sz="1333" dirty="0"/>
          </a:p>
        </p:txBody>
      </p:sp>
    </p:spTree>
    <p:extLst>
      <p:ext uri="{BB962C8B-B14F-4D97-AF65-F5344CB8AC3E}">
        <p14:creationId xmlns:p14="http://schemas.microsoft.com/office/powerpoint/2010/main" val="130602189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0352"/>
            <a:ext cx="12191695" cy="54864"/>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8138160" cy="301752"/>
          </a:xfrm>
          <a:prstGeom prst="rect">
            <a:avLst/>
          </a:prstGeom>
          <a:noFill/>
        </p:spPr>
        <p:txBody>
          <a:bodyPr wrap="none">
            <a:spAutoFit/>
          </a:bodyPr>
          <a:lstStyle/>
          <a:p>
            <a:pPr>
              <a:defRPr sz="2800" b="1">
                <a:solidFill>
                  <a:srgbClr val="FFFFFF"/>
                </a:solidFill>
                <a:latin typeface="Aptos Display"/>
              </a:defRPr>
            </a:pPr>
            <a:r>
              <a:t>End-to-End Research System</a:t>
            </a:r>
          </a:p>
        </p:txBody>
      </p:sp>
      <p:sp>
        <p:nvSpPr>
          <p:cNvPr id="5" name="Rounded Rectangle 4"/>
          <p:cNvSpPr/>
          <p:nvPr/>
        </p:nvSpPr>
        <p:spPr>
          <a:xfrm>
            <a:off x="9966960" y="109728"/>
            <a:ext cx="1783080" cy="274320"/>
          </a:xfrm>
          <a:prstGeom prst="round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D1B2A"/>
                </a:solidFill>
                <a:latin typeface="Aptos"/>
              </a:defRPr>
            </a:pPr>
            <a:r>
              <a:t>SOLUTION</a:t>
            </a:r>
          </a:p>
        </p:txBody>
      </p:sp>
      <p:sp>
        <p:nvSpPr>
          <p:cNvPr id="6" name="Rectangle 5"/>
          <p:cNvSpPr/>
          <p:nvPr/>
        </p:nvSpPr>
        <p:spPr>
          <a:xfrm>
            <a:off x="365760" y="6519672"/>
            <a:ext cx="11430000" cy="9144"/>
          </a:xfrm>
          <a:prstGeom prst="rect">
            <a:avLst/>
          </a:prstGeom>
          <a:solidFill>
            <a:srgbClr val="D9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537960"/>
            <a:ext cx="10515600" cy="164592"/>
          </a:xfrm>
          <a:prstGeom prst="rect">
            <a:avLst/>
          </a:prstGeom>
          <a:noFill/>
        </p:spPr>
        <p:txBody>
          <a:bodyPr wrap="none">
            <a:spAutoFit/>
          </a:bodyPr>
          <a:lstStyle/>
          <a:p>
            <a:pPr>
              <a:defRPr sz="900">
                <a:solidFill>
                  <a:srgbClr val="5E6C84"/>
                </a:solidFill>
                <a:latin typeface="Aptos"/>
              </a:defRPr>
            </a:pPr>
            <a:r>
              <a:t>PropQA-Net | SRL-Anchored QA | Final Research Presentation</a:t>
            </a:r>
          </a:p>
        </p:txBody>
      </p:sp>
      <p:sp>
        <p:nvSpPr>
          <p:cNvPr id="8" name="TextBox 7"/>
          <p:cNvSpPr txBox="1"/>
          <p:nvPr/>
        </p:nvSpPr>
        <p:spPr>
          <a:xfrm>
            <a:off x="11064240" y="6510528"/>
            <a:ext cx="640080" cy="182880"/>
          </a:xfrm>
          <a:prstGeom prst="rect">
            <a:avLst/>
          </a:prstGeom>
          <a:noFill/>
        </p:spPr>
        <p:txBody>
          <a:bodyPr wrap="none">
            <a:spAutoFit/>
          </a:bodyPr>
          <a:lstStyle/>
          <a:p>
            <a:pPr algn="r">
              <a:defRPr sz="1000" b="1">
                <a:solidFill>
                  <a:srgbClr val="5E6C84"/>
                </a:solidFill>
                <a:latin typeface="Aptos"/>
              </a:defRPr>
            </a:pPr>
            <a:r>
              <a:t>2</a:t>
            </a:r>
          </a:p>
        </p:txBody>
      </p:sp>
      <p:sp>
        <p:nvSpPr>
          <p:cNvPr id="9" name="TextBox 8"/>
          <p:cNvSpPr txBox="1"/>
          <p:nvPr/>
        </p:nvSpPr>
        <p:spPr>
          <a:xfrm>
            <a:off x="548640" y="868680"/>
            <a:ext cx="4389120" cy="5394960"/>
          </a:xfrm>
          <a:prstGeom prst="rect">
            <a:avLst/>
          </a:prstGeom>
          <a:noFill/>
        </p:spPr>
        <p:txBody>
          <a:bodyPr wrap="square">
            <a:spAutoFit/>
          </a:bodyPr>
          <a:lstStyle/>
          <a:p>
            <a:pPr>
              <a:spcAft>
                <a:spcPts val="700"/>
              </a:spcAft>
              <a:defRPr sz="1800">
                <a:solidFill>
                  <a:srgbClr val="222831"/>
                </a:solidFill>
                <a:latin typeface="Aptos"/>
              </a:defRPr>
            </a:pPr>
            <a:r>
              <a:t>Local NLTK PropBank + Treebank assets ground the entire pipeline in real semantic annotations</a:t>
            </a:r>
          </a:p>
          <a:p>
            <a:pPr>
              <a:spcAft>
                <a:spcPts val="700"/>
              </a:spcAft>
              <a:defRPr sz="1800">
                <a:solidFill>
                  <a:srgbClr val="222831"/>
                </a:solidFill>
                <a:latin typeface="Aptos"/>
              </a:defRPr>
            </a:pPr>
            <a:r>
              <a:t>Data loader reconstructs spans, BIO labels, and natural-language questions deterministically</a:t>
            </a:r>
          </a:p>
          <a:p>
            <a:pPr>
              <a:spcAft>
                <a:spcPts val="700"/>
              </a:spcAft>
              <a:defRPr sz="1800">
                <a:solidFill>
                  <a:srgbClr val="222831"/>
                </a:solidFill>
                <a:latin typeface="Aptos"/>
              </a:defRPr>
            </a:pPr>
            <a:r>
              <a:t>PropQA-Net learns SRL tagging and answer extraction jointly</a:t>
            </a:r>
          </a:p>
          <a:p>
            <a:pPr>
              <a:spcAft>
                <a:spcPts val="700"/>
              </a:spcAft>
              <a:defRPr sz="1800">
                <a:solidFill>
                  <a:srgbClr val="222831"/>
                </a:solidFill>
                <a:latin typeface="Aptos"/>
              </a:defRPr>
            </a:pPr>
            <a:r>
              <a:t>Hybrid layer adds role-aware reranking, heuristics, and optional transformer candidates</a:t>
            </a:r>
          </a:p>
          <a:p>
            <a:pPr>
              <a:spcAft>
                <a:spcPts val="700"/>
              </a:spcAft>
              <a:defRPr sz="1800">
                <a:solidFill>
                  <a:srgbClr val="222831"/>
                </a:solidFill>
                <a:latin typeface="Aptos"/>
              </a:defRPr>
            </a:pPr>
            <a:r>
              <a:t>Benchmark runner, PDFs, and Streamlit app complete the research workflow</a:t>
            </a:r>
          </a:p>
        </p:txBody>
      </p:sp>
      <p:sp>
        <p:nvSpPr>
          <p:cNvPr id="10" name="Rectangle 9"/>
          <p:cNvSpPr/>
          <p:nvPr/>
        </p:nvSpPr>
        <p:spPr>
          <a:xfrm>
            <a:off x="5120640" y="960120"/>
            <a:ext cx="6492240" cy="5212080"/>
          </a:xfrm>
          <a:prstGeom prst="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research_architecture.png"/>
          <p:cNvPicPr>
            <a:picLocks noChangeAspect="1"/>
          </p:cNvPicPr>
          <p:nvPr/>
        </p:nvPicPr>
        <p:blipFill>
          <a:blip r:embed="rId3"/>
          <a:stretch>
            <a:fillRect/>
          </a:stretch>
        </p:blipFill>
        <p:spPr>
          <a:xfrm>
            <a:off x="5120640" y="2174965"/>
            <a:ext cx="6492240" cy="2782388"/>
          </a:xfrm>
          <a:prstGeom prst="rect">
            <a:avLst/>
          </a:prstGeom>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0352"/>
            <a:ext cx="12191695" cy="54864"/>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8138160" cy="301752"/>
          </a:xfrm>
          <a:prstGeom prst="rect">
            <a:avLst/>
          </a:prstGeom>
          <a:noFill/>
        </p:spPr>
        <p:txBody>
          <a:bodyPr wrap="none">
            <a:spAutoFit/>
          </a:bodyPr>
          <a:lstStyle/>
          <a:p>
            <a:pPr>
              <a:defRPr sz="2800" b="1">
                <a:solidFill>
                  <a:srgbClr val="FFFFFF"/>
                </a:solidFill>
                <a:latin typeface="Aptos Display"/>
              </a:defRPr>
            </a:pPr>
            <a:r>
              <a:t>Span and Sequence Complexity Profile</a:t>
            </a:r>
          </a:p>
        </p:txBody>
      </p:sp>
      <p:sp>
        <p:nvSpPr>
          <p:cNvPr id="5" name="Rounded Rectangle 4"/>
          <p:cNvSpPr/>
          <p:nvPr/>
        </p:nvSpPr>
        <p:spPr>
          <a:xfrm>
            <a:off x="9966960" y="109728"/>
            <a:ext cx="1783080" cy="274320"/>
          </a:xfrm>
          <a:prstGeom prst="round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D1B2A"/>
                </a:solidFill>
                <a:latin typeface="Aptos"/>
              </a:defRPr>
            </a:pPr>
            <a:r>
              <a:t>EXPERIMENTS</a:t>
            </a:r>
          </a:p>
        </p:txBody>
      </p:sp>
      <p:sp>
        <p:nvSpPr>
          <p:cNvPr id="6" name="Rectangle 5"/>
          <p:cNvSpPr/>
          <p:nvPr/>
        </p:nvSpPr>
        <p:spPr>
          <a:xfrm>
            <a:off x="365760" y="6519672"/>
            <a:ext cx="11430000" cy="9144"/>
          </a:xfrm>
          <a:prstGeom prst="rect">
            <a:avLst/>
          </a:prstGeom>
          <a:solidFill>
            <a:srgbClr val="D9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537960"/>
            <a:ext cx="10515600" cy="164592"/>
          </a:xfrm>
          <a:prstGeom prst="rect">
            <a:avLst/>
          </a:prstGeom>
          <a:noFill/>
        </p:spPr>
        <p:txBody>
          <a:bodyPr wrap="none">
            <a:spAutoFit/>
          </a:bodyPr>
          <a:lstStyle/>
          <a:p>
            <a:pPr>
              <a:defRPr sz="900">
                <a:solidFill>
                  <a:srgbClr val="5E6C84"/>
                </a:solidFill>
                <a:latin typeface="Aptos"/>
              </a:defRPr>
            </a:pPr>
            <a:r>
              <a:t>PropQA-Net | SRL-Anchored QA | Final Research Presentation</a:t>
            </a:r>
          </a:p>
        </p:txBody>
      </p:sp>
      <p:sp>
        <p:nvSpPr>
          <p:cNvPr id="8" name="TextBox 7"/>
          <p:cNvSpPr txBox="1"/>
          <p:nvPr/>
        </p:nvSpPr>
        <p:spPr>
          <a:xfrm>
            <a:off x="11064240" y="6510528"/>
            <a:ext cx="640080" cy="182880"/>
          </a:xfrm>
          <a:prstGeom prst="rect">
            <a:avLst/>
          </a:prstGeom>
          <a:noFill/>
        </p:spPr>
        <p:txBody>
          <a:bodyPr wrap="none">
            <a:spAutoFit/>
          </a:bodyPr>
          <a:lstStyle/>
          <a:p>
            <a:pPr algn="r">
              <a:defRPr sz="1000" b="1">
                <a:solidFill>
                  <a:srgbClr val="5E6C84"/>
                </a:solidFill>
                <a:latin typeface="Aptos"/>
              </a:defRPr>
            </a:pPr>
            <a:r>
              <a:t>7</a:t>
            </a:r>
          </a:p>
        </p:txBody>
      </p:sp>
      <p:sp>
        <p:nvSpPr>
          <p:cNvPr id="9" name="TextBox 8"/>
          <p:cNvSpPr txBox="1"/>
          <p:nvPr/>
        </p:nvSpPr>
        <p:spPr>
          <a:xfrm>
            <a:off x="594360" y="914400"/>
            <a:ext cx="5029200" cy="2743200"/>
          </a:xfrm>
          <a:prstGeom prst="rect">
            <a:avLst/>
          </a:prstGeom>
          <a:noFill/>
        </p:spPr>
        <p:txBody>
          <a:bodyPr wrap="square">
            <a:spAutoFit/>
          </a:bodyPr>
          <a:lstStyle/>
          <a:p>
            <a:pPr>
              <a:spcAft>
                <a:spcPts val="700"/>
              </a:spcAft>
              <a:defRPr sz="1700">
                <a:solidFill>
                  <a:srgbClr val="222831"/>
                </a:solidFill>
                <a:latin typeface="Aptos"/>
              </a:defRPr>
            </a:pPr>
            <a:r>
              <a:t>Average answer spans are short enough for extractive decoding, but the long tail still includes answers up to 62 tokens</a:t>
            </a:r>
          </a:p>
          <a:p>
            <a:pPr>
              <a:spcAft>
                <a:spcPts val="700"/>
              </a:spcAft>
              <a:defRPr sz="1700">
                <a:solidFill>
                  <a:srgbClr val="222831"/>
                </a:solidFill>
                <a:latin typeface="Aptos"/>
              </a:defRPr>
            </a:pPr>
            <a:r>
              <a:t>Sentence length ranges from 3 to 249 tokens, which justifies the max-length caps in config.py</a:t>
            </a:r>
          </a:p>
          <a:p>
            <a:pPr>
              <a:spcAft>
                <a:spcPts val="700"/>
              </a:spcAft>
              <a:defRPr sz="1700">
                <a:solidFill>
                  <a:srgbClr val="222831"/>
                </a:solidFill>
                <a:latin typeface="Aptos"/>
              </a:defRPr>
            </a:pPr>
            <a:r>
              <a:t>The model caps context at 128 tokens and questions at 32 tokens for stable batching</a:t>
            </a:r>
          </a:p>
          <a:p>
            <a:pPr>
              <a:spcAft>
                <a:spcPts val="700"/>
              </a:spcAft>
              <a:defRPr sz="1700">
                <a:solidFill>
                  <a:srgbClr val="222831"/>
                </a:solidFill>
                <a:latin typeface="Aptos"/>
              </a:defRPr>
            </a:pPr>
            <a:r>
              <a:t>Many boundary errors come from semantically valid but overly long or overly short span choices</a:t>
            </a:r>
          </a:p>
        </p:txBody>
      </p:sp>
      <p:sp>
        <p:nvSpPr>
          <p:cNvPr id="10" name="Rounded Rectangle 9"/>
          <p:cNvSpPr/>
          <p:nvPr/>
        </p:nvSpPr>
        <p:spPr>
          <a:xfrm>
            <a:off x="731520" y="4023360"/>
            <a:ext cx="2286000" cy="91440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731520" y="4023360"/>
            <a:ext cx="109728"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987552" y="4187952"/>
            <a:ext cx="1874519" cy="256032"/>
          </a:xfrm>
          <a:prstGeom prst="rect">
            <a:avLst/>
          </a:prstGeom>
          <a:noFill/>
        </p:spPr>
        <p:txBody>
          <a:bodyPr wrap="square" lIns="0" tIns="0" rIns="0" bIns="0">
            <a:spAutoFit/>
          </a:bodyPr>
          <a:lstStyle/>
          <a:p>
            <a:pPr algn="l">
              <a:defRPr sz="1100" b="1">
                <a:solidFill>
                  <a:srgbClr val="5E6C84"/>
                </a:solidFill>
                <a:latin typeface="Aptos"/>
              </a:defRPr>
            </a:pPr>
            <a:r>
              <a:t>Mean Sentence Length</a:t>
            </a:r>
          </a:p>
        </p:txBody>
      </p:sp>
      <p:sp>
        <p:nvSpPr>
          <p:cNvPr id="13" name="TextBox 12"/>
          <p:cNvSpPr txBox="1"/>
          <p:nvPr/>
        </p:nvSpPr>
        <p:spPr>
          <a:xfrm>
            <a:off x="987552" y="4434840"/>
            <a:ext cx="1874519" cy="402336"/>
          </a:xfrm>
          <a:prstGeom prst="rect">
            <a:avLst/>
          </a:prstGeom>
          <a:noFill/>
        </p:spPr>
        <p:txBody>
          <a:bodyPr wrap="square" lIns="0" tIns="0" rIns="0" bIns="0">
            <a:spAutoFit/>
          </a:bodyPr>
          <a:lstStyle/>
          <a:p>
            <a:pPr algn="l">
              <a:defRPr sz="2100" b="1">
                <a:solidFill>
                  <a:srgbClr val="0D1B2A"/>
                </a:solidFill>
                <a:latin typeface="Aptos"/>
              </a:defRPr>
            </a:pPr>
            <a:r>
              <a:t>28.6</a:t>
            </a:r>
          </a:p>
        </p:txBody>
      </p:sp>
      <p:sp>
        <p:nvSpPr>
          <p:cNvPr id="14" name="Rounded Rectangle 13"/>
          <p:cNvSpPr/>
          <p:nvPr/>
        </p:nvSpPr>
        <p:spPr>
          <a:xfrm>
            <a:off x="3246120" y="4023360"/>
            <a:ext cx="2286000" cy="91440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3246120" y="4023360"/>
            <a:ext cx="109728" cy="914400"/>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3502152" y="4187952"/>
            <a:ext cx="1874519" cy="256032"/>
          </a:xfrm>
          <a:prstGeom prst="rect">
            <a:avLst/>
          </a:prstGeom>
          <a:noFill/>
        </p:spPr>
        <p:txBody>
          <a:bodyPr wrap="square" lIns="0" tIns="0" rIns="0" bIns="0">
            <a:spAutoFit/>
          </a:bodyPr>
          <a:lstStyle/>
          <a:p>
            <a:pPr algn="l">
              <a:defRPr sz="1100" b="1">
                <a:solidFill>
                  <a:srgbClr val="5E6C84"/>
                </a:solidFill>
                <a:latin typeface="Aptos"/>
              </a:defRPr>
            </a:pPr>
            <a:r>
              <a:t>Mean Answer Length</a:t>
            </a:r>
          </a:p>
        </p:txBody>
      </p:sp>
      <p:sp>
        <p:nvSpPr>
          <p:cNvPr id="17" name="TextBox 16"/>
          <p:cNvSpPr txBox="1"/>
          <p:nvPr/>
        </p:nvSpPr>
        <p:spPr>
          <a:xfrm>
            <a:off x="3502152" y="4434840"/>
            <a:ext cx="1874519" cy="402336"/>
          </a:xfrm>
          <a:prstGeom prst="rect">
            <a:avLst/>
          </a:prstGeom>
          <a:noFill/>
        </p:spPr>
        <p:txBody>
          <a:bodyPr wrap="square" lIns="0" tIns="0" rIns="0" bIns="0">
            <a:spAutoFit/>
          </a:bodyPr>
          <a:lstStyle/>
          <a:p>
            <a:pPr algn="l">
              <a:defRPr sz="2100" b="1">
                <a:solidFill>
                  <a:srgbClr val="0D1B2A"/>
                </a:solidFill>
                <a:latin typeface="Aptos"/>
              </a:defRPr>
            </a:pPr>
            <a:r>
              <a:t>5.28</a:t>
            </a:r>
          </a:p>
        </p:txBody>
      </p:sp>
      <p:sp>
        <p:nvSpPr>
          <p:cNvPr id="18" name="Rounded Rectangle 17"/>
          <p:cNvSpPr/>
          <p:nvPr/>
        </p:nvSpPr>
        <p:spPr>
          <a:xfrm>
            <a:off x="731520" y="5074920"/>
            <a:ext cx="2286000" cy="91440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731520" y="5074920"/>
            <a:ext cx="109728" cy="914400"/>
          </a:xfrm>
          <a:prstGeom prst="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987552" y="5239512"/>
            <a:ext cx="1874519" cy="256032"/>
          </a:xfrm>
          <a:prstGeom prst="rect">
            <a:avLst/>
          </a:prstGeom>
          <a:noFill/>
        </p:spPr>
        <p:txBody>
          <a:bodyPr wrap="square" lIns="0" tIns="0" rIns="0" bIns="0">
            <a:spAutoFit/>
          </a:bodyPr>
          <a:lstStyle/>
          <a:p>
            <a:pPr algn="l">
              <a:defRPr sz="1100" b="1">
                <a:solidFill>
                  <a:srgbClr val="5E6C84"/>
                </a:solidFill>
                <a:latin typeface="Aptos"/>
              </a:defRPr>
            </a:pPr>
            <a:r>
              <a:t>Sentence Max</a:t>
            </a:r>
          </a:p>
        </p:txBody>
      </p:sp>
      <p:sp>
        <p:nvSpPr>
          <p:cNvPr id="21" name="TextBox 20"/>
          <p:cNvSpPr txBox="1"/>
          <p:nvPr/>
        </p:nvSpPr>
        <p:spPr>
          <a:xfrm>
            <a:off x="987552" y="5486400"/>
            <a:ext cx="1874519" cy="402336"/>
          </a:xfrm>
          <a:prstGeom prst="rect">
            <a:avLst/>
          </a:prstGeom>
          <a:noFill/>
        </p:spPr>
        <p:txBody>
          <a:bodyPr wrap="square" lIns="0" tIns="0" rIns="0" bIns="0">
            <a:spAutoFit/>
          </a:bodyPr>
          <a:lstStyle/>
          <a:p>
            <a:pPr algn="l">
              <a:defRPr sz="2100" b="1">
                <a:solidFill>
                  <a:srgbClr val="0D1B2A"/>
                </a:solidFill>
                <a:latin typeface="Aptos"/>
              </a:defRPr>
            </a:pPr>
            <a:r>
              <a:t>249</a:t>
            </a:r>
          </a:p>
        </p:txBody>
      </p:sp>
      <p:sp>
        <p:nvSpPr>
          <p:cNvPr id="22" name="Rounded Rectangle 21"/>
          <p:cNvSpPr/>
          <p:nvPr/>
        </p:nvSpPr>
        <p:spPr>
          <a:xfrm>
            <a:off x="3246120" y="5074920"/>
            <a:ext cx="2286000" cy="91440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ectangle 22"/>
          <p:cNvSpPr/>
          <p:nvPr/>
        </p:nvSpPr>
        <p:spPr>
          <a:xfrm>
            <a:off x="3246120" y="5074920"/>
            <a:ext cx="109728" cy="914400"/>
          </a:xfrm>
          <a:prstGeom prst="rect">
            <a:avLst/>
          </a:prstGeom>
          <a:solidFill>
            <a:srgbClr val="BF5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3502152" y="5239512"/>
            <a:ext cx="1874519" cy="256032"/>
          </a:xfrm>
          <a:prstGeom prst="rect">
            <a:avLst/>
          </a:prstGeom>
          <a:noFill/>
        </p:spPr>
        <p:txBody>
          <a:bodyPr wrap="square" lIns="0" tIns="0" rIns="0" bIns="0">
            <a:spAutoFit/>
          </a:bodyPr>
          <a:lstStyle/>
          <a:p>
            <a:pPr algn="l">
              <a:defRPr sz="1100" b="1">
                <a:solidFill>
                  <a:srgbClr val="5E6C84"/>
                </a:solidFill>
                <a:latin typeface="Aptos"/>
              </a:defRPr>
            </a:pPr>
            <a:r>
              <a:t>Answer Max</a:t>
            </a:r>
          </a:p>
        </p:txBody>
      </p:sp>
      <p:sp>
        <p:nvSpPr>
          <p:cNvPr id="25" name="TextBox 24"/>
          <p:cNvSpPr txBox="1"/>
          <p:nvPr/>
        </p:nvSpPr>
        <p:spPr>
          <a:xfrm>
            <a:off x="3502152" y="5486400"/>
            <a:ext cx="1874519" cy="402336"/>
          </a:xfrm>
          <a:prstGeom prst="rect">
            <a:avLst/>
          </a:prstGeom>
          <a:noFill/>
        </p:spPr>
        <p:txBody>
          <a:bodyPr wrap="square" lIns="0" tIns="0" rIns="0" bIns="0">
            <a:spAutoFit/>
          </a:bodyPr>
          <a:lstStyle/>
          <a:p>
            <a:pPr algn="l">
              <a:defRPr sz="2100" b="1">
                <a:solidFill>
                  <a:srgbClr val="0D1B2A"/>
                </a:solidFill>
                <a:latin typeface="Aptos"/>
              </a:defRPr>
            </a:pPr>
            <a:r>
              <a:t>62</a:t>
            </a:r>
          </a:p>
        </p:txBody>
      </p:sp>
      <p:sp>
        <p:nvSpPr>
          <p:cNvPr id="26" name="Rectangle 25"/>
          <p:cNvSpPr/>
          <p:nvPr/>
        </p:nvSpPr>
        <p:spPr>
          <a:xfrm>
            <a:off x="5852160" y="914400"/>
            <a:ext cx="5577840" cy="5394960"/>
          </a:xfrm>
          <a:prstGeom prst="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answer_length_dist.png"/>
          <p:cNvPicPr>
            <a:picLocks noChangeAspect="1"/>
          </p:cNvPicPr>
          <p:nvPr/>
        </p:nvPicPr>
        <p:blipFill>
          <a:blip r:embed="rId3"/>
          <a:stretch>
            <a:fillRect/>
          </a:stretch>
        </p:blipFill>
        <p:spPr>
          <a:xfrm>
            <a:off x="5852160" y="1868805"/>
            <a:ext cx="5577840" cy="3486150"/>
          </a:xfrm>
          <a:prstGeom prst="rect">
            <a:avLst/>
          </a:prstGeom>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0352"/>
            <a:ext cx="12191695" cy="54864"/>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8138160" cy="301752"/>
          </a:xfrm>
          <a:prstGeom prst="rect">
            <a:avLst/>
          </a:prstGeom>
          <a:noFill/>
        </p:spPr>
        <p:txBody>
          <a:bodyPr wrap="none">
            <a:spAutoFit/>
          </a:bodyPr>
          <a:lstStyle/>
          <a:p>
            <a:pPr>
              <a:defRPr sz="2800" b="1">
                <a:solidFill>
                  <a:srgbClr val="FFFFFF"/>
                </a:solidFill>
                <a:latin typeface="Aptos Display"/>
              </a:defRPr>
            </a:pPr>
            <a:r>
              <a:t>PropQA-Net Baseline Architecture</a:t>
            </a:r>
          </a:p>
        </p:txBody>
      </p:sp>
      <p:sp>
        <p:nvSpPr>
          <p:cNvPr id="5" name="Rounded Rectangle 4"/>
          <p:cNvSpPr/>
          <p:nvPr/>
        </p:nvSpPr>
        <p:spPr>
          <a:xfrm>
            <a:off x="9966960" y="109728"/>
            <a:ext cx="1783080" cy="274320"/>
          </a:xfrm>
          <a:prstGeom prst="round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D1B2A"/>
                </a:solidFill>
                <a:latin typeface="Aptos"/>
              </a:defRPr>
            </a:pPr>
            <a:r>
              <a:t>SOLUTION</a:t>
            </a:r>
          </a:p>
        </p:txBody>
      </p:sp>
      <p:sp>
        <p:nvSpPr>
          <p:cNvPr id="6" name="Rectangle 5"/>
          <p:cNvSpPr/>
          <p:nvPr/>
        </p:nvSpPr>
        <p:spPr>
          <a:xfrm>
            <a:off x="365760" y="6519672"/>
            <a:ext cx="11430000" cy="9144"/>
          </a:xfrm>
          <a:prstGeom prst="rect">
            <a:avLst/>
          </a:prstGeom>
          <a:solidFill>
            <a:srgbClr val="D9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537960"/>
            <a:ext cx="10515600" cy="164592"/>
          </a:xfrm>
          <a:prstGeom prst="rect">
            <a:avLst/>
          </a:prstGeom>
          <a:noFill/>
        </p:spPr>
        <p:txBody>
          <a:bodyPr wrap="none">
            <a:spAutoFit/>
          </a:bodyPr>
          <a:lstStyle/>
          <a:p>
            <a:pPr>
              <a:defRPr sz="900">
                <a:solidFill>
                  <a:srgbClr val="5E6C84"/>
                </a:solidFill>
                <a:latin typeface="Aptos"/>
              </a:defRPr>
            </a:pPr>
            <a:r>
              <a:t>PropQA-Net | SRL-Anchored QA | Final Research Presentation</a:t>
            </a:r>
          </a:p>
        </p:txBody>
      </p:sp>
      <p:sp>
        <p:nvSpPr>
          <p:cNvPr id="8" name="TextBox 7"/>
          <p:cNvSpPr txBox="1"/>
          <p:nvPr/>
        </p:nvSpPr>
        <p:spPr>
          <a:xfrm>
            <a:off x="11064240" y="6510528"/>
            <a:ext cx="640080" cy="182880"/>
          </a:xfrm>
          <a:prstGeom prst="rect">
            <a:avLst/>
          </a:prstGeom>
          <a:noFill/>
        </p:spPr>
        <p:txBody>
          <a:bodyPr wrap="none">
            <a:spAutoFit/>
          </a:bodyPr>
          <a:lstStyle/>
          <a:p>
            <a:pPr algn="r">
              <a:defRPr sz="1000" b="1">
                <a:solidFill>
                  <a:srgbClr val="5E6C84"/>
                </a:solidFill>
                <a:latin typeface="Aptos"/>
              </a:defRPr>
            </a:pPr>
            <a:r>
              <a:t>8</a:t>
            </a:r>
          </a:p>
        </p:txBody>
      </p:sp>
      <p:sp>
        <p:nvSpPr>
          <p:cNvPr id="9" name="TextBox 8"/>
          <p:cNvSpPr txBox="1"/>
          <p:nvPr/>
        </p:nvSpPr>
        <p:spPr>
          <a:xfrm>
            <a:off x="594360" y="914400"/>
            <a:ext cx="4754880" cy="2926080"/>
          </a:xfrm>
          <a:prstGeom prst="rect">
            <a:avLst/>
          </a:prstGeom>
          <a:noFill/>
        </p:spPr>
        <p:txBody>
          <a:bodyPr wrap="square">
            <a:spAutoFit/>
          </a:bodyPr>
          <a:lstStyle/>
          <a:p>
            <a:pPr>
              <a:spcAft>
                <a:spcPts val="700"/>
              </a:spcAft>
              <a:defRPr sz="1700">
                <a:solidFill>
                  <a:srgbClr val="222831"/>
                </a:solidFill>
                <a:latin typeface="Aptos"/>
              </a:defRPr>
            </a:pPr>
            <a:r>
              <a:t>Context encoder: shared word embeddings + POS embeddings + predicate flags into a BiLSTM</a:t>
            </a:r>
          </a:p>
          <a:p>
            <a:pPr>
              <a:spcAft>
                <a:spcPts val="700"/>
              </a:spcAft>
              <a:defRPr sz="1700">
                <a:solidFill>
                  <a:srgbClr val="222831"/>
                </a:solidFill>
                <a:latin typeface="Aptos"/>
              </a:defRPr>
            </a:pPr>
            <a:r>
              <a:t>Question encoder: shared word embeddings into a second BiLSTM followed by masked mean pooling</a:t>
            </a:r>
          </a:p>
          <a:p>
            <a:pPr>
              <a:spcAft>
                <a:spcPts val="700"/>
              </a:spcAft>
              <a:defRPr sz="1700">
                <a:solidFill>
                  <a:srgbClr val="222831"/>
                </a:solidFill>
                <a:latin typeface="Aptos"/>
              </a:defRPr>
            </a:pPr>
            <a:r>
              <a:t>Two heads: token-level SRL classifier and answer boundary predictors</a:t>
            </a:r>
          </a:p>
          <a:p>
            <a:pPr>
              <a:spcAft>
                <a:spcPts val="700"/>
              </a:spcAft>
              <a:defRPr sz="1700">
                <a:solidFill>
                  <a:srgbClr val="222831"/>
                </a:solidFill>
                <a:latin typeface="Aptos"/>
              </a:defRPr>
            </a:pPr>
            <a:r>
              <a:t>Decoding combines BIO-derived candidate spans with question alignment and boundary confidence</a:t>
            </a:r>
          </a:p>
        </p:txBody>
      </p:sp>
      <p:graphicFrame>
        <p:nvGraphicFramePr>
          <p:cNvPr id="10" name="Table 9"/>
          <p:cNvGraphicFramePr>
            <a:graphicFrameLocks noGrp="1"/>
          </p:cNvGraphicFramePr>
          <p:nvPr/>
        </p:nvGraphicFramePr>
        <p:xfrm>
          <a:off x="731520" y="3840480"/>
          <a:ext cx="3840480" cy="1965960"/>
        </p:xfrm>
        <a:graphic>
          <a:graphicData uri="http://schemas.openxmlformats.org/drawingml/2006/table">
            <a:tbl>
              <a:tblPr firstRow="1" bandRow="1">
                <a:tableStyleId>{5C22544A-7EE6-4342-B048-85BDC9FD1C3A}</a:tableStyleId>
              </a:tblPr>
              <a:tblGrid>
                <a:gridCol w="192024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tblGrid>
              <a:tr h="280851">
                <a:tc>
                  <a:txBody>
                    <a:bodyPr/>
                    <a:lstStyle/>
                    <a:p>
                      <a:pPr algn="ctr">
                        <a:defRPr sz="1200" b="1">
                          <a:solidFill>
                            <a:srgbClr val="FFFFFF"/>
                          </a:solidFill>
                          <a:latin typeface="Aptos"/>
                        </a:defRPr>
                      </a:pPr>
                      <a:r>
                        <a:t>Hyperparameter</a:t>
                      </a:r>
                    </a:p>
                  </a:txBody>
                  <a:tcPr anchor="ctr">
                    <a:solidFill>
                      <a:srgbClr val="0D1B2A"/>
                    </a:solidFill>
                  </a:tcPr>
                </a:tc>
                <a:tc>
                  <a:txBody>
                    <a:bodyPr/>
                    <a:lstStyle/>
                    <a:p>
                      <a:pPr algn="ctr">
                        <a:defRPr sz="1200" b="1">
                          <a:solidFill>
                            <a:srgbClr val="FFFFFF"/>
                          </a:solidFill>
                          <a:latin typeface="Aptos"/>
                        </a:defRPr>
                      </a:pPr>
                      <a:r>
                        <a:t>Value</a:t>
                      </a:r>
                    </a:p>
                  </a:txBody>
                  <a:tcPr anchor="ctr">
                    <a:solidFill>
                      <a:srgbClr val="0D1B2A"/>
                    </a:solidFill>
                  </a:tcPr>
                </a:tc>
                <a:extLst>
                  <a:ext uri="{0D108BD9-81ED-4DB2-BD59-A6C34878D82A}">
                    <a16:rowId xmlns:a16="http://schemas.microsoft.com/office/drawing/2014/main" val="10000"/>
                  </a:ext>
                </a:extLst>
              </a:tr>
              <a:tr h="280851">
                <a:tc>
                  <a:txBody>
                    <a:bodyPr/>
                    <a:lstStyle/>
                    <a:p>
                      <a:pPr algn="l">
                        <a:defRPr sz="1200" b="0">
                          <a:solidFill>
                            <a:srgbClr val="222831"/>
                          </a:solidFill>
                          <a:latin typeface="Aptos"/>
                        </a:defRPr>
                      </a:pPr>
                      <a:r>
                        <a:t>Word embedding dim</a:t>
                      </a:r>
                    </a:p>
                  </a:txBody>
                  <a:tcPr anchor="ctr">
                    <a:solidFill>
                      <a:srgbClr val="FFFFFF"/>
                    </a:solidFill>
                  </a:tcPr>
                </a:tc>
                <a:tc>
                  <a:txBody>
                    <a:bodyPr/>
                    <a:lstStyle/>
                    <a:p>
                      <a:pPr algn="l">
                        <a:defRPr sz="1200" b="0">
                          <a:solidFill>
                            <a:srgbClr val="222831"/>
                          </a:solidFill>
                          <a:latin typeface="Aptos"/>
                        </a:defRPr>
                      </a:pPr>
                      <a:r>
                        <a:t>100</a:t>
                      </a:r>
                    </a:p>
                  </a:txBody>
                  <a:tcPr anchor="ctr">
                    <a:solidFill>
                      <a:srgbClr val="FFFFFF"/>
                    </a:solidFill>
                  </a:tcPr>
                </a:tc>
                <a:extLst>
                  <a:ext uri="{0D108BD9-81ED-4DB2-BD59-A6C34878D82A}">
                    <a16:rowId xmlns:a16="http://schemas.microsoft.com/office/drawing/2014/main" val="10001"/>
                  </a:ext>
                </a:extLst>
              </a:tr>
              <a:tr h="280851">
                <a:tc>
                  <a:txBody>
                    <a:bodyPr/>
                    <a:lstStyle/>
                    <a:p>
                      <a:pPr algn="l">
                        <a:defRPr sz="1200" b="0">
                          <a:solidFill>
                            <a:srgbClr val="222831"/>
                          </a:solidFill>
                          <a:latin typeface="Aptos"/>
                        </a:defRPr>
                      </a:pPr>
                      <a:r>
                        <a:t>POS embedding dim</a:t>
                      </a:r>
                    </a:p>
                  </a:txBody>
                  <a:tcPr anchor="ctr">
                    <a:solidFill>
                      <a:srgbClr val="FFFFFF"/>
                    </a:solidFill>
                  </a:tcPr>
                </a:tc>
                <a:tc>
                  <a:txBody>
                    <a:bodyPr/>
                    <a:lstStyle/>
                    <a:p>
                      <a:pPr algn="l">
                        <a:defRPr sz="1200" b="0">
                          <a:solidFill>
                            <a:srgbClr val="222831"/>
                          </a:solidFill>
                          <a:latin typeface="Aptos"/>
                        </a:defRPr>
                      </a:pPr>
                      <a:r>
                        <a:t>32</a:t>
                      </a:r>
                    </a:p>
                  </a:txBody>
                  <a:tcPr anchor="ctr">
                    <a:solidFill>
                      <a:srgbClr val="FFFFFF"/>
                    </a:solidFill>
                  </a:tcPr>
                </a:tc>
                <a:extLst>
                  <a:ext uri="{0D108BD9-81ED-4DB2-BD59-A6C34878D82A}">
                    <a16:rowId xmlns:a16="http://schemas.microsoft.com/office/drawing/2014/main" val="10002"/>
                  </a:ext>
                </a:extLst>
              </a:tr>
              <a:tr h="280851">
                <a:tc>
                  <a:txBody>
                    <a:bodyPr/>
                    <a:lstStyle/>
                    <a:p>
                      <a:pPr algn="l">
                        <a:defRPr sz="1200" b="0">
                          <a:solidFill>
                            <a:srgbClr val="222831"/>
                          </a:solidFill>
                          <a:latin typeface="Aptos"/>
                        </a:defRPr>
                      </a:pPr>
                      <a:r>
                        <a:t>Predicate embedding dim</a:t>
                      </a:r>
                    </a:p>
                  </a:txBody>
                  <a:tcPr anchor="ctr">
                    <a:solidFill>
                      <a:srgbClr val="FFFFFF"/>
                    </a:solidFill>
                  </a:tcPr>
                </a:tc>
                <a:tc>
                  <a:txBody>
                    <a:bodyPr/>
                    <a:lstStyle/>
                    <a:p>
                      <a:pPr algn="l">
                        <a:defRPr sz="1200" b="0">
                          <a:solidFill>
                            <a:srgbClr val="222831"/>
                          </a:solidFill>
                          <a:latin typeface="Aptos"/>
                        </a:defRPr>
                      </a:pPr>
                      <a:r>
                        <a:t>8</a:t>
                      </a:r>
                    </a:p>
                  </a:txBody>
                  <a:tcPr anchor="ctr">
                    <a:solidFill>
                      <a:srgbClr val="FFFFFF"/>
                    </a:solidFill>
                  </a:tcPr>
                </a:tc>
                <a:extLst>
                  <a:ext uri="{0D108BD9-81ED-4DB2-BD59-A6C34878D82A}">
                    <a16:rowId xmlns:a16="http://schemas.microsoft.com/office/drawing/2014/main" val="10003"/>
                  </a:ext>
                </a:extLst>
              </a:tr>
              <a:tr h="280851">
                <a:tc>
                  <a:txBody>
                    <a:bodyPr/>
                    <a:lstStyle/>
                    <a:p>
                      <a:pPr algn="l">
                        <a:defRPr sz="1200" b="0">
                          <a:solidFill>
                            <a:srgbClr val="222831"/>
                          </a:solidFill>
                          <a:latin typeface="Aptos"/>
                        </a:defRPr>
                      </a:pPr>
                      <a:r>
                        <a:t>Hidden size</a:t>
                      </a:r>
                    </a:p>
                  </a:txBody>
                  <a:tcPr anchor="ctr">
                    <a:solidFill>
                      <a:srgbClr val="FFFFFF"/>
                    </a:solidFill>
                  </a:tcPr>
                </a:tc>
                <a:tc>
                  <a:txBody>
                    <a:bodyPr/>
                    <a:lstStyle/>
                    <a:p>
                      <a:pPr algn="l">
                        <a:defRPr sz="1200" b="0">
                          <a:solidFill>
                            <a:srgbClr val="222831"/>
                          </a:solidFill>
                          <a:latin typeface="Aptos"/>
                        </a:defRPr>
                      </a:pPr>
                      <a:r>
                        <a:t>128</a:t>
                      </a:r>
                    </a:p>
                  </a:txBody>
                  <a:tcPr anchor="ctr">
                    <a:solidFill>
                      <a:srgbClr val="FFFFFF"/>
                    </a:solidFill>
                  </a:tcPr>
                </a:tc>
                <a:extLst>
                  <a:ext uri="{0D108BD9-81ED-4DB2-BD59-A6C34878D82A}">
                    <a16:rowId xmlns:a16="http://schemas.microsoft.com/office/drawing/2014/main" val="10004"/>
                  </a:ext>
                </a:extLst>
              </a:tr>
              <a:tr h="280851">
                <a:tc>
                  <a:txBody>
                    <a:bodyPr/>
                    <a:lstStyle/>
                    <a:p>
                      <a:pPr algn="l">
                        <a:defRPr sz="1200" b="0">
                          <a:solidFill>
                            <a:srgbClr val="222831"/>
                          </a:solidFill>
                          <a:latin typeface="Aptos"/>
                        </a:defRPr>
                      </a:pPr>
                      <a:r>
                        <a:t>Dropout</a:t>
                      </a:r>
                    </a:p>
                  </a:txBody>
                  <a:tcPr anchor="ctr">
                    <a:solidFill>
                      <a:srgbClr val="FFFFFF"/>
                    </a:solidFill>
                  </a:tcPr>
                </a:tc>
                <a:tc>
                  <a:txBody>
                    <a:bodyPr/>
                    <a:lstStyle/>
                    <a:p>
                      <a:pPr algn="l">
                        <a:defRPr sz="1200" b="0">
                          <a:solidFill>
                            <a:srgbClr val="222831"/>
                          </a:solidFill>
                          <a:latin typeface="Aptos"/>
                        </a:defRPr>
                      </a:pPr>
                      <a:r>
                        <a:t>0.30</a:t>
                      </a:r>
                    </a:p>
                  </a:txBody>
                  <a:tcPr anchor="ctr">
                    <a:solidFill>
                      <a:srgbClr val="FFFFFF"/>
                    </a:solidFill>
                  </a:tcPr>
                </a:tc>
                <a:extLst>
                  <a:ext uri="{0D108BD9-81ED-4DB2-BD59-A6C34878D82A}">
                    <a16:rowId xmlns:a16="http://schemas.microsoft.com/office/drawing/2014/main" val="10005"/>
                  </a:ext>
                </a:extLst>
              </a:tr>
              <a:tr h="280854">
                <a:tc>
                  <a:txBody>
                    <a:bodyPr/>
                    <a:lstStyle/>
                    <a:p>
                      <a:pPr algn="l">
                        <a:defRPr sz="1200" b="0">
                          <a:solidFill>
                            <a:srgbClr val="222831"/>
                          </a:solidFill>
                          <a:latin typeface="Aptos"/>
                        </a:defRPr>
                      </a:pPr>
                      <a:r>
                        <a:t>Alpha</a:t>
                      </a:r>
                    </a:p>
                  </a:txBody>
                  <a:tcPr anchor="ctr">
                    <a:solidFill>
                      <a:srgbClr val="FFFFFF"/>
                    </a:solidFill>
                  </a:tcPr>
                </a:tc>
                <a:tc>
                  <a:txBody>
                    <a:bodyPr/>
                    <a:lstStyle/>
                    <a:p>
                      <a:pPr algn="l">
                        <a:defRPr sz="1200" b="0">
                          <a:solidFill>
                            <a:srgbClr val="222831"/>
                          </a:solidFill>
                          <a:latin typeface="Aptos"/>
                        </a:defRPr>
                      </a:pPr>
                      <a:r>
                        <a:t>0.50</a:t>
                      </a:r>
                    </a:p>
                  </a:txBody>
                  <a:tcPr anchor="ctr">
                    <a:solidFill>
                      <a:srgbClr val="FFFFFF"/>
                    </a:solidFill>
                  </a:tcPr>
                </a:tc>
                <a:extLst>
                  <a:ext uri="{0D108BD9-81ED-4DB2-BD59-A6C34878D82A}">
                    <a16:rowId xmlns:a16="http://schemas.microsoft.com/office/drawing/2014/main" val="10006"/>
                  </a:ext>
                </a:extLst>
              </a:tr>
            </a:tbl>
          </a:graphicData>
        </a:graphic>
      </p:graphicFrame>
      <p:sp>
        <p:nvSpPr>
          <p:cNvPr id="11" name="Rectangle 10"/>
          <p:cNvSpPr/>
          <p:nvPr/>
        </p:nvSpPr>
        <p:spPr>
          <a:xfrm>
            <a:off x="4983480" y="914400"/>
            <a:ext cx="6400800" cy="5394960"/>
          </a:xfrm>
          <a:prstGeom prst="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propqa_architecture.png"/>
          <p:cNvPicPr>
            <a:picLocks noChangeAspect="1"/>
          </p:cNvPicPr>
          <p:nvPr/>
        </p:nvPicPr>
        <p:blipFill>
          <a:blip r:embed="rId3"/>
          <a:stretch>
            <a:fillRect/>
          </a:stretch>
        </p:blipFill>
        <p:spPr>
          <a:xfrm>
            <a:off x="4983480" y="2811780"/>
            <a:ext cx="6400800" cy="1600200"/>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0352"/>
            <a:ext cx="12191695" cy="54864"/>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8138160" cy="301752"/>
          </a:xfrm>
          <a:prstGeom prst="rect">
            <a:avLst/>
          </a:prstGeom>
          <a:noFill/>
        </p:spPr>
        <p:txBody>
          <a:bodyPr wrap="none">
            <a:spAutoFit/>
          </a:bodyPr>
          <a:lstStyle/>
          <a:p>
            <a:pPr>
              <a:defRPr sz="2800" b="1">
                <a:solidFill>
                  <a:srgbClr val="FFFFFF"/>
                </a:solidFill>
                <a:latin typeface="Aptos Display"/>
              </a:defRPr>
            </a:pPr>
            <a:r>
              <a:t>Learning Objective and Decode Logic</a:t>
            </a:r>
          </a:p>
        </p:txBody>
      </p:sp>
      <p:sp>
        <p:nvSpPr>
          <p:cNvPr id="5" name="Rounded Rectangle 4"/>
          <p:cNvSpPr/>
          <p:nvPr/>
        </p:nvSpPr>
        <p:spPr>
          <a:xfrm>
            <a:off x="9966960" y="109728"/>
            <a:ext cx="1783080" cy="274320"/>
          </a:xfrm>
          <a:prstGeom prst="round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D1B2A"/>
                </a:solidFill>
                <a:latin typeface="Aptos"/>
              </a:defRPr>
            </a:pPr>
            <a:r>
              <a:t>SOLUTION</a:t>
            </a:r>
          </a:p>
        </p:txBody>
      </p:sp>
      <p:sp>
        <p:nvSpPr>
          <p:cNvPr id="6" name="Rectangle 5"/>
          <p:cNvSpPr/>
          <p:nvPr/>
        </p:nvSpPr>
        <p:spPr>
          <a:xfrm>
            <a:off x="365760" y="6519672"/>
            <a:ext cx="11430000" cy="9144"/>
          </a:xfrm>
          <a:prstGeom prst="rect">
            <a:avLst/>
          </a:prstGeom>
          <a:solidFill>
            <a:srgbClr val="D9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537960"/>
            <a:ext cx="10515600" cy="164592"/>
          </a:xfrm>
          <a:prstGeom prst="rect">
            <a:avLst/>
          </a:prstGeom>
          <a:noFill/>
        </p:spPr>
        <p:txBody>
          <a:bodyPr wrap="none">
            <a:spAutoFit/>
          </a:bodyPr>
          <a:lstStyle/>
          <a:p>
            <a:pPr>
              <a:defRPr sz="900">
                <a:solidFill>
                  <a:srgbClr val="5E6C84"/>
                </a:solidFill>
                <a:latin typeface="Aptos"/>
              </a:defRPr>
            </a:pPr>
            <a:r>
              <a:t>PropQA-Net | SRL-Anchored QA | Final Research Presentation</a:t>
            </a:r>
          </a:p>
        </p:txBody>
      </p:sp>
      <p:sp>
        <p:nvSpPr>
          <p:cNvPr id="8" name="TextBox 7"/>
          <p:cNvSpPr txBox="1"/>
          <p:nvPr/>
        </p:nvSpPr>
        <p:spPr>
          <a:xfrm>
            <a:off x="11064240" y="6510528"/>
            <a:ext cx="640080" cy="182880"/>
          </a:xfrm>
          <a:prstGeom prst="rect">
            <a:avLst/>
          </a:prstGeom>
          <a:noFill/>
        </p:spPr>
        <p:txBody>
          <a:bodyPr wrap="none">
            <a:spAutoFit/>
          </a:bodyPr>
          <a:lstStyle/>
          <a:p>
            <a:pPr algn="r">
              <a:defRPr sz="1000" b="1">
                <a:solidFill>
                  <a:srgbClr val="5E6C84"/>
                </a:solidFill>
                <a:latin typeface="Aptos"/>
              </a:defRPr>
            </a:pPr>
            <a:r>
              <a:t>9</a:t>
            </a:r>
          </a:p>
        </p:txBody>
      </p:sp>
      <p:sp>
        <p:nvSpPr>
          <p:cNvPr id="9" name="TextBox 8"/>
          <p:cNvSpPr txBox="1"/>
          <p:nvPr/>
        </p:nvSpPr>
        <p:spPr>
          <a:xfrm>
            <a:off x="685800" y="914400"/>
            <a:ext cx="3657600" cy="228600"/>
          </a:xfrm>
          <a:prstGeom prst="rect">
            <a:avLst/>
          </a:prstGeom>
          <a:noFill/>
        </p:spPr>
        <p:txBody>
          <a:bodyPr wrap="square" lIns="0" tIns="0" rIns="0" bIns="0">
            <a:spAutoFit/>
          </a:bodyPr>
          <a:lstStyle/>
          <a:p>
            <a:pPr algn="l">
              <a:defRPr sz="1800" b="1">
                <a:solidFill>
                  <a:srgbClr val="0D1B2A"/>
                </a:solidFill>
                <a:latin typeface="Aptos"/>
              </a:defRPr>
            </a:pPr>
            <a:r>
              <a:t>Multi-task training objective</a:t>
            </a:r>
          </a:p>
        </p:txBody>
      </p:sp>
      <p:sp>
        <p:nvSpPr>
          <p:cNvPr id="10" name="TextBox 9"/>
          <p:cNvSpPr txBox="1"/>
          <p:nvPr/>
        </p:nvSpPr>
        <p:spPr>
          <a:xfrm>
            <a:off x="777240" y="1325880"/>
            <a:ext cx="3840480" cy="274320"/>
          </a:xfrm>
          <a:prstGeom prst="rect">
            <a:avLst/>
          </a:prstGeom>
          <a:noFill/>
        </p:spPr>
        <p:txBody>
          <a:bodyPr wrap="square" lIns="0" tIns="0" rIns="0" bIns="0">
            <a:spAutoFit/>
          </a:bodyPr>
          <a:lstStyle/>
          <a:p>
            <a:pPr algn="l">
              <a:defRPr sz="2200" b="1">
                <a:solidFill>
                  <a:srgbClr val="1F4E79"/>
                </a:solidFill>
                <a:latin typeface="Aptos"/>
              </a:defRPr>
            </a:pPr>
            <a:r>
              <a:t>L = alpha * L_SRL + (1 - alpha) * L_QA</a:t>
            </a:r>
          </a:p>
        </p:txBody>
      </p:sp>
      <p:sp>
        <p:nvSpPr>
          <p:cNvPr id="11" name="TextBox 10"/>
          <p:cNvSpPr txBox="1"/>
          <p:nvPr/>
        </p:nvSpPr>
        <p:spPr>
          <a:xfrm>
            <a:off x="777240" y="1783080"/>
            <a:ext cx="4206240" cy="731520"/>
          </a:xfrm>
          <a:prstGeom prst="rect">
            <a:avLst/>
          </a:prstGeom>
          <a:noFill/>
        </p:spPr>
        <p:txBody>
          <a:bodyPr wrap="square" lIns="0" tIns="0" rIns="0" bIns="0">
            <a:spAutoFit/>
          </a:bodyPr>
          <a:lstStyle/>
          <a:p>
            <a:pPr algn="l">
              <a:defRPr sz="1700" b="0">
                <a:solidFill>
                  <a:srgbClr val="222831"/>
                </a:solidFill>
                <a:latin typeface="Aptos"/>
              </a:defRPr>
            </a:pPr>
            <a:r>
              <a:t>L_SRL = token-level cross-entropy over BIO labels</a:t>
            </a:r>
            <a:br/>
            <a:r>
              <a:t>L_QA = average of start and end cross-entropy</a:t>
            </a:r>
          </a:p>
        </p:txBody>
      </p:sp>
      <p:sp>
        <p:nvSpPr>
          <p:cNvPr id="12" name="TextBox 11"/>
          <p:cNvSpPr txBox="1"/>
          <p:nvPr/>
        </p:nvSpPr>
        <p:spPr>
          <a:xfrm>
            <a:off x="685800" y="2743200"/>
            <a:ext cx="3657600" cy="228600"/>
          </a:xfrm>
          <a:prstGeom prst="rect">
            <a:avLst/>
          </a:prstGeom>
          <a:noFill/>
        </p:spPr>
        <p:txBody>
          <a:bodyPr wrap="square" lIns="0" tIns="0" rIns="0" bIns="0">
            <a:spAutoFit/>
          </a:bodyPr>
          <a:lstStyle/>
          <a:p>
            <a:pPr algn="l">
              <a:defRPr sz="1800" b="1">
                <a:solidFill>
                  <a:srgbClr val="0D1B2A"/>
                </a:solidFill>
                <a:latin typeface="Aptos"/>
              </a:defRPr>
            </a:pPr>
            <a:r>
              <a:t>Decode-time fusion</a:t>
            </a:r>
          </a:p>
        </p:txBody>
      </p:sp>
      <p:sp>
        <p:nvSpPr>
          <p:cNvPr id="13" name="TextBox 12"/>
          <p:cNvSpPr txBox="1"/>
          <p:nvPr/>
        </p:nvSpPr>
        <p:spPr>
          <a:xfrm>
            <a:off x="777240" y="3154680"/>
            <a:ext cx="3931920" cy="411480"/>
          </a:xfrm>
          <a:prstGeom prst="rect">
            <a:avLst/>
          </a:prstGeom>
          <a:noFill/>
        </p:spPr>
        <p:txBody>
          <a:bodyPr wrap="square" lIns="0" tIns="0" rIns="0" bIns="0">
            <a:spAutoFit/>
          </a:bodyPr>
          <a:lstStyle/>
          <a:p>
            <a:pPr algn="l">
              <a:defRPr sz="1800" b="1">
                <a:solidFill>
                  <a:srgbClr val="1B998B"/>
                </a:solidFill>
                <a:latin typeface="Aptos"/>
              </a:defRPr>
            </a:pPr>
            <a:r>
              <a:t>score = 0.60 * cosine(span, question) + 0.40 * boundary_confidence</a:t>
            </a:r>
          </a:p>
        </p:txBody>
      </p:sp>
      <p:sp>
        <p:nvSpPr>
          <p:cNvPr id="14" name="TextBox 13"/>
          <p:cNvSpPr txBox="1"/>
          <p:nvPr/>
        </p:nvSpPr>
        <p:spPr>
          <a:xfrm>
            <a:off x="731520" y="3794760"/>
            <a:ext cx="4389120" cy="1645920"/>
          </a:xfrm>
          <a:prstGeom prst="rect">
            <a:avLst/>
          </a:prstGeom>
          <a:noFill/>
        </p:spPr>
        <p:txBody>
          <a:bodyPr wrap="square">
            <a:spAutoFit/>
          </a:bodyPr>
          <a:lstStyle/>
          <a:p>
            <a:pPr>
              <a:spcAft>
                <a:spcPts val="700"/>
              </a:spcAft>
              <a:defRPr sz="1600">
                <a:solidFill>
                  <a:srgbClr val="222831"/>
                </a:solidFill>
                <a:latin typeface="Aptos"/>
              </a:defRPr>
            </a:pPr>
            <a:r>
              <a:t>BIO decoding yields semantically plausible candidate spans</a:t>
            </a:r>
          </a:p>
          <a:p>
            <a:pPr>
              <a:spcAft>
                <a:spcPts val="700"/>
              </a:spcAft>
              <a:defRPr sz="1600">
                <a:solidFill>
                  <a:srgbClr val="222831"/>
                </a:solidFill>
                <a:latin typeface="Aptos"/>
              </a:defRPr>
            </a:pPr>
            <a:r>
              <a:t>Boundary scoring keeps answer extraction compatible with standard QA practice</a:t>
            </a:r>
          </a:p>
          <a:p>
            <a:pPr>
              <a:spcAft>
                <a:spcPts val="700"/>
              </a:spcAft>
              <a:defRPr sz="1600">
                <a:solidFill>
                  <a:srgbClr val="222831"/>
                </a:solidFill>
                <a:latin typeface="Aptos"/>
              </a:defRPr>
            </a:pPr>
            <a:r>
              <a:t>The fallback mechanism protects against malformed BIO sequences</a:t>
            </a:r>
          </a:p>
        </p:txBody>
      </p:sp>
      <p:sp>
        <p:nvSpPr>
          <p:cNvPr id="15" name="Rectangle 14"/>
          <p:cNvSpPr/>
          <p:nvPr/>
        </p:nvSpPr>
        <p:spPr>
          <a:xfrm>
            <a:off x="5212080" y="914400"/>
            <a:ext cx="6035040" cy="5303520"/>
          </a:xfrm>
          <a:prstGeom prst="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6" name="Picture 15" descr="hybridpropqa.png"/>
          <p:cNvPicPr>
            <a:picLocks noChangeAspect="1"/>
          </p:cNvPicPr>
          <p:nvPr/>
        </p:nvPicPr>
        <p:blipFill>
          <a:blip r:embed="rId3"/>
          <a:stretch>
            <a:fillRect/>
          </a:stretch>
        </p:blipFill>
        <p:spPr>
          <a:xfrm>
            <a:off x="5212080" y="2811780"/>
            <a:ext cx="6035040" cy="1508760"/>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0352"/>
            <a:ext cx="12191695" cy="54864"/>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8138160" cy="301752"/>
          </a:xfrm>
          <a:prstGeom prst="rect">
            <a:avLst/>
          </a:prstGeom>
          <a:noFill/>
        </p:spPr>
        <p:txBody>
          <a:bodyPr wrap="none">
            <a:spAutoFit/>
          </a:bodyPr>
          <a:lstStyle/>
          <a:p>
            <a:pPr>
              <a:defRPr sz="2800" b="1">
                <a:solidFill>
                  <a:srgbClr val="FFFFFF"/>
                </a:solidFill>
                <a:latin typeface="Aptos Display"/>
              </a:defRPr>
            </a:pPr>
            <a:r>
              <a:t>Training Setup and Reproducibility</a:t>
            </a:r>
          </a:p>
        </p:txBody>
      </p:sp>
      <p:sp>
        <p:nvSpPr>
          <p:cNvPr id="5" name="Rounded Rectangle 4"/>
          <p:cNvSpPr/>
          <p:nvPr/>
        </p:nvSpPr>
        <p:spPr>
          <a:xfrm>
            <a:off x="9966960" y="109728"/>
            <a:ext cx="1783080" cy="274320"/>
          </a:xfrm>
          <a:prstGeom prst="round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D1B2A"/>
                </a:solidFill>
                <a:latin typeface="Aptos"/>
              </a:defRPr>
            </a:pPr>
            <a:r>
              <a:t>EXPERIMENTS</a:t>
            </a:r>
          </a:p>
        </p:txBody>
      </p:sp>
      <p:sp>
        <p:nvSpPr>
          <p:cNvPr id="6" name="Rectangle 5"/>
          <p:cNvSpPr/>
          <p:nvPr/>
        </p:nvSpPr>
        <p:spPr>
          <a:xfrm>
            <a:off x="365760" y="6519672"/>
            <a:ext cx="11430000" cy="9144"/>
          </a:xfrm>
          <a:prstGeom prst="rect">
            <a:avLst/>
          </a:prstGeom>
          <a:solidFill>
            <a:srgbClr val="D9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537960"/>
            <a:ext cx="10515600" cy="164592"/>
          </a:xfrm>
          <a:prstGeom prst="rect">
            <a:avLst/>
          </a:prstGeom>
          <a:noFill/>
        </p:spPr>
        <p:txBody>
          <a:bodyPr wrap="none">
            <a:spAutoFit/>
          </a:bodyPr>
          <a:lstStyle/>
          <a:p>
            <a:pPr>
              <a:defRPr sz="900">
                <a:solidFill>
                  <a:srgbClr val="5E6C84"/>
                </a:solidFill>
                <a:latin typeface="Aptos"/>
              </a:defRPr>
            </a:pPr>
            <a:r>
              <a:t>PropQA-Net | SRL-Anchored QA | Final Research Presentation</a:t>
            </a:r>
          </a:p>
        </p:txBody>
      </p:sp>
      <p:sp>
        <p:nvSpPr>
          <p:cNvPr id="8" name="TextBox 7"/>
          <p:cNvSpPr txBox="1"/>
          <p:nvPr/>
        </p:nvSpPr>
        <p:spPr>
          <a:xfrm>
            <a:off x="11064240" y="6510528"/>
            <a:ext cx="640080" cy="182880"/>
          </a:xfrm>
          <a:prstGeom prst="rect">
            <a:avLst/>
          </a:prstGeom>
          <a:noFill/>
        </p:spPr>
        <p:txBody>
          <a:bodyPr wrap="none">
            <a:spAutoFit/>
          </a:bodyPr>
          <a:lstStyle/>
          <a:p>
            <a:pPr algn="r">
              <a:defRPr sz="1000" b="1">
                <a:solidFill>
                  <a:srgbClr val="5E6C84"/>
                </a:solidFill>
                <a:latin typeface="Aptos"/>
              </a:defRPr>
            </a:pPr>
            <a:r>
              <a:t>10</a:t>
            </a:r>
          </a:p>
        </p:txBody>
      </p:sp>
      <p:sp>
        <p:nvSpPr>
          <p:cNvPr id="9" name="Rounded Rectangle 8"/>
          <p:cNvSpPr/>
          <p:nvPr/>
        </p:nvSpPr>
        <p:spPr>
          <a:xfrm>
            <a:off x="731520" y="914400"/>
            <a:ext cx="1828800" cy="91440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31520" y="914400"/>
            <a:ext cx="109728"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87552" y="1078992"/>
            <a:ext cx="1417320" cy="256032"/>
          </a:xfrm>
          <a:prstGeom prst="rect">
            <a:avLst/>
          </a:prstGeom>
          <a:noFill/>
        </p:spPr>
        <p:txBody>
          <a:bodyPr wrap="square" lIns="0" tIns="0" rIns="0" bIns="0">
            <a:spAutoFit/>
          </a:bodyPr>
          <a:lstStyle/>
          <a:p>
            <a:pPr algn="l">
              <a:defRPr sz="1100" b="1">
                <a:solidFill>
                  <a:srgbClr val="5E6C84"/>
                </a:solidFill>
                <a:latin typeface="Aptos"/>
              </a:defRPr>
            </a:pPr>
            <a:r>
              <a:t>Batch Size</a:t>
            </a:r>
          </a:p>
        </p:txBody>
      </p:sp>
      <p:sp>
        <p:nvSpPr>
          <p:cNvPr id="12" name="TextBox 11"/>
          <p:cNvSpPr txBox="1"/>
          <p:nvPr/>
        </p:nvSpPr>
        <p:spPr>
          <a:xfrm>
            <a:off x="987552" y="1325880"/>
            <a:ext cx="1417320" cy="402336"/>
          </a:xfrm>
          <a:prstGeom prst="rect">
            <a:avLst/>
          </a:prstGeom>
          <a:noFill/>
        </p:spPr>
        <p:txBody>
          <a:bodyPr wrap="square" lIns="0" tIns="0" rIns="0" bIns="0">
            <a:spAutoFit/>
          </a:bodyPr>
          <a:lstStyle/>
          <a:p>
            <a:pPr algn="l">
              <a:defRPr sz="2100" b="1">
                <a:solidFill>
                  <a:srgbClr val="0D1B2A"/>
                </a:solidFill>
                <a:latin typeface="Aptos"/>
              </a:defRPr>
            </a:pPr>
            <a:r>
              <a:t>64</a:t>
            </a:r>
          </a:p>
        </p:txBody>
      </p:sp>
      <p:sp>
        <p:nvSpPr>
          <p:cNvPr id="13" name="Rounded Rectangle 12"/>
          <p:cNvSpPr/>
          <p:nvPr/>
        </p:nvSpPr>
        <p:spPr>
          <a:xfrm>
            <a:off x="2743200" y="914400"/>
            <a:ext cx="1828800" cy="91440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743200" y="914400"/>
            <a:ext cx="109728" cy="914400"/>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2999232" y="1078992"/>
            <a:ext cx="1417320" cy="256032"/>
          </a:xfrm>
          <a:prstGeom prst="rect">
            <a:avLst/>
          </a:prstGeom>
          <a:noFill/>
        </p:spPr>
        <p:txBody>
          <a:bodyPr wrap="square" lIns="0" tIns="0" rIns="0" bIns="0">
            <a:spAutoFit/>
          </a:bodyPr>
          <a:lstStyle/>
          <a:p>
            <a:pPr algn="l">
              <a:defRPr sz="1100" b="1">
                <a:solidFill>
                  <a:srgbClr val="5E6C84"/>
                </a:solidFill>
                <a:latin typeface="Aptos"/>
              </a:defRPr>
            </a:pPr>
            <a:r>
              <a:t>Max Epochs</a:t>
            </a:r>
          </a:p>
        </p:txBody>
      </p:sp>
      <p:sp>
        <p:nvSpPr>
          <p:cNvPr id="16" name="TextBox 15"/>
          <p:cNvSpPr txBox="1"/>
          <p:nvPr/>
        </p:nvSpPr>
        <p:spPr>
          <a:xfrm>
            <a:off x="2999232" y="1325880"/>
            <a:ext cx="1417320" cy="402336"/>
          </a:xfrm>
          <a:prstGeom prst="rect">
            <a:avLst/>
          </a:prstGeom>
          <a:noFill/>
        </p:spPr>
        <p:txBody>
          <a:bodyPr wrap="square" lIns="0" tIns="0" rIns="0" bIns="0">
            <a:spAutoFit/>
          </a:bodyPr>
          <a:lstStyle/>
          <a:p>
            <a:pPr algn="l">
              <a:defRPr sz="2100" b="1">
                <a:solidFill>
                  <a:srgbClr val="0D1B2A"/>
                </a:solidFill>
                <a:latin typeface="Aptos"/>
              </a:defRPr>
            </a:pPr>
            <a:r>
              <a:t>6</a:t>
            </a:r>
          </a:p>
        </p:txBody>
      </p:sp>
      <p:sp>
        <p:nvSpPr>
          <p:cNvPr id="17" name="Rounded Rectangle 16"/>
          <p:cNvSpPr/>
          <p:nvPr/>
        </p:nvSpPr>
        <p:spPr>
          <a:xfrm>
            <a:off x="4754880" y="914400"/>
            <a:ext cx="1828800" cy="91440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4754880" y="914400"/>
            <a:ext cx="109728" cy="914400"/>
          </a:xfrm>
          <a:prstGeom prst="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010912" y="1078992"/>
            <a:ext cx="1417320" cy="256032"/>
          </a:xfrm>
          <a:prstGeom prst="rect">
            <a:avLst/>
          </a:prstGeom>
          <a:noFill/>
        </p:spPr>
        <p:txBody>
          <a:bodyPr wrap="square" lIns="0" tIns="0" rIns="0" bIns="0">
            <a:spAutoFit/>
          </a:bodyPr>
          <a:lstStyle/>
          <a:p>
            <a:pPr algn="l">
              <a:defRPr sz="1100" b="1">
                <a:solidFill>
                  <a:srgbClr val="5E6C84"/>
                </a:solidFill>
                <a:latin typeface="Aptos"/>
              </a:defRPr>
            </a:pPr>
            <a:r>
              <a:t>Patience</a:t>
            </a:r>
          </a:p>
        </p:txBody>
      </p:sp>
      <p:sp>
        <p:nvSpPr>
          <p:cNvPr id="20" name="TextBox 19"/>
          <p:cNvSpPr txBox="1"/>
          <p:nvPr/>
        </p:nvSpPr>
        <p:spPr>
          <a:xfrm>
            <a:off x="5010912" y="1325880"/>
            <a:ext cx="1417320" cy="402336"/>
          </a:xfrm>
          <a:prstGeom prst="rect">
            <a:avLst/>
          </a:prstGeom>
          <a:noFill/>
        </p:spPr>
        <p:txBody>
          <a:bodyPr wrap="square" lIns="0" tIns="0" rIns="0" bIns="0">
            <a:spAutoFit/>
          </a:bodyPr>
          <a:lstStyle/>
          <a:p>
            <a:pPr algn="l">
              <a:defRPr sz="2100" b="1">
                <a:solidFill>
                  <a:srgbClr val="0D1B2A"/>
                </a:solidFill>
                <a:latin typeface="Aptos"/>
              </a:defRPr>
            </a:pPr>
            <a:r>
              <a:t>5</a:t>
            </a:r>
          </a:p>
        </p:txBody>
      </p:sp>
      <p:sp>
        <p:nvSpPr>
          <p:cNvPr id="21" name="Rounded Rectangle 20"/>
          <p:cNvSpPr/>
          <p:nvPr/>
        </p:nvSpPr>
        <p:spPr>
          <a:xfrm>
            <a:off x="6766560" y="914400"/>
            <a:ext cx="1828800" cy="91440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6766560" y="914400"/>
            <a:ext cx="109728" cy="914400"/>
          </a:xfrm>
          <a:prstGeom prst="rect">
            <a:avLst/>
          </a:prstGeom>
          <a:solidFill>
            <a:srgbClr val="2180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022592" y="1078992"/>
            <a:ext cx="1417320" cy="256032"/>
          </a:xfrm>
          <a:prstGeom prst="rect">
            <a:avLst/>
          </a:prstGeom>
          <a:noFill/>
        </p:spPr>
        <p:txBody>
          <a:bodyPr wrap="square" lIns="0" tIns="0" rIns="0" bIns="0">
            <a:spAutoFit/>
          </a:bodyPr>
          <a:lstStyle/>
          <a:p>
            <a:pPr algn="l">
              <a:defRPr sz="1100" b="1">
                <a:solidFill>
                  <a:srgbClr val="5E6C84"/>
                </a:solidFill>
                <a:latin typeface="Aptos"/>
              </a:defRPr>
            </a:pPr>
            <a:r>
              <a:t>Learning Rate</a:t>
            </a:r>
          </a:p>
        </p:txBody>
      </p:sp>
      <p:sp>
        <p:nvSpPr>
          <p:cNvPr id="24" name="TextBox 23"/>
          <p:cNvSpPr txBox="1"/>
          <p:nvPr/>
        </p:nvSpPr>
        <p:spPr>
          <a:xfrm>
            <a:off x="7022592" y="1325880"/>
            <a:ext cx="1417320" cy="402336"/>
          </a:xfrm>
          <a:prstGeom prst="rect">
            <a:avLst/>
          </a:prstGeom>
          <a:noFill/>
        </p:spPr>
        <p:txBody>
          <a:bodyPr wrap="square" lIns="0" tIns="0" rIns="0" bIns="0">
            <a:spAutoFit/>
          </a:bodyPr>
          <a:lstStyle/>
          <a:p>
            <a:pPr algn="l">
              <a:defRPr sz="2100" b="1">
                <a:solidFill>
                  <a:srgbClr val="0D1B2A"/>
                </a:solidFill>
                <a:latin typeface="Aptos"/>
              </a:defRPr>
            </a:pPr>
            <a:r>
              <a:t>1e-3</a:t>
            </a:r>
          </a:p>
        </p:txBody>
      </p:sp>
      <p:sp>
        <p:nvSpPr>
          <p:cNvPr id="25" name="Rounded Rectangle 24"/>
          <p:cNvSpPr/>
          <p:nvPr/>
        </p:nvSpPr>
        <p:spPr>
          <a:xfrm>
            <a:off x="8778240" y="914400"/>
            <a:ext cx="1828800" cy="91440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Rectangle 25"/>
          <p:cNvSpPr/>
          <p:nvPr/>
        </p:nvSpPr>
        <p:spPr>
          <a:xfrm>
            <a:off x="8778240" y="914400"/>
            <a:ext cx="109728" cy="914400"/>
          </a:xfrm>
          <a:prstGeom prst="rect">
            <a:avLst/>
          </a:prstGeom>
          <a:solidFill>
            <a:srgbClr val="BF5F2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9034272" y="1078992"/>
            <a:ext cx="1417320" cy="256032"/>
          </a:xfrm>
          <a:prstGeom prst="rect">
            <a:avLst/>
          </a:prstGeom>
          <a:noFill/>
        </p:spPr>
        <p:txBody>
          <a:bodyPr wrap="square" lIns="0" tIns="0" rIns="0" bIns="0">
            <a:spAutoFit/>
          </a:bodyPr>
          <a:lstStyle/>
          <a:p>
            <a:pPr algn="l">
              <a:defRPr sz="1100" b="1">
                <a:solidFill>
                  <a:srgbClr val="5E6C84"/>
                </a:solidFill>
                <a:latin typeface="Aptos"/>
              </a:defRPr>
            </a:pPr>
            <a:r>
              <a:t>Weight Decay</a:t>
            </a:r>
          </a:p>
        </p:txBody>
      </p:sp>
      <p:sp>
        <p:nvSpPr>
          <p:cNvPr id="28" name="TextBox 27"/>
          <p:cNvSpPr txBox="1"/>
          <p:nvPr/>
        </p:nvSpPr>
        <p:spPr>
          <a:xfrm>
            <a:off x="9034272" y="1325880"/>
            <a:ext cx="1417320" cy="402336"/>
          </a:xfrm>
          <a:prstGeom prst="rect">
            <a:avLst/>
          </a:prstGeom>
          <a:noFill/>
        </p:spPr>
        <p:txBody>
          <a:bodyPr wrap="square" lIns="0" tIns="0" rIns="0" bIns="0">
            <a:spAutoFit/>
          </a:bodyPr>
          <a:lstStyle/>
          <a:p>
            <a:pPr algn="l">
              <a:defRPr sz="2100" b="1">
                <a:solidFill>
                  <a:srgbClr val="0D1B2A"/>
                </a:solidFill>
                <a:latin typeface="Aptos"/>
              </a:defRPr>
            </a:pPr>
            <a:r>
              <a:t>1e-5</a:t>
            </a:r>
          </a:p>
        </p:txBody>
      </p:sp>
      <p:sp>
        <p:nvSpPr>
          <p:cNvPr id="29" name="TextBox 28"/>
          <p:cNvSpPr txBox="1"/>
          <p:nvPr/>
        </p:nvSpPr>
        <p:spPr>
          <a:xfrm>
            <a:off x="731520" y="2148840"/>
            <a:ext cx="4800600" cy="3200400"/>
          </a:xfrm>
          <a:prstGeom prst="rect">
            <a:avLst/>
          </a:prstGeom>
          <a:noFill/>
        </p:spPr>
        <p:txBody>
          <a:bodyPr wrap="square">
            <a:spAutoFit/>
          </a:bodyPr>
          <a:lstStyle/>
          <a:p>
            <a:pPr>
              <a:spcAft>
                <a:spcPts val="700"/>
              </a:spcAft>
              <a:defRPr sz="1700">
                <a:solidFill>
                  <a:srgbClr val="222831"/>
                </a:solidFill>
                <a:latin typeface="Aptos"/>
              </a:defRPr>
            </a:pPr>
            <a:r>
              <a:t>config.py centralizes all paths and hyperparameters</a:t>
            </a:r>
          </a:p>
          <a:p>
            <a:pPr>
              <a:spcAft>
                <a:spcPts val="700"/>
              </a:spcAft>
              <a:defRPr sz="1700">
                <a:solidFill>
                  <a:srgbClr val="222831"/>
                </a:solidFill>
                <a:latin typeface="Aptos"/>
              </a:defRPr>
            </a:pPr>
            <a:r>
              <a:t>main.py supports train, eval, infer, ask, benchmark, report, and app modes</a:t>
            </a:r>
          </a:p>
          <a:p>
            <a:pPr>
              <a:spcAft>
                <a:spcPts val="700"/>
              </a:spcAft>
              <a:defRPr sz="1700">
                <a:solidFill>
                  <a:srgbClr val="222831"/>
                </a:solidFill>
                <a:latin typeface="Aptos"/>
              </a:defRPr>
            </a:pPr>
            <a:r>
              <a:t>The pipeline saves checkpoints, metrics, plots, and report artifacts automatically</a:t>
            </a:r>
          </a:p>
          <a:p>
            <a:pPr>
              <a:spcAft>
                <a:spcPts val="700"/>
              </a:spcAft>
              <a:defRPr sz="1700">
                <a:solidFill>
                  <a:srgbClr val="222831"/>
                </a:solidFill>
                <a:latin typeface="Aptos"/>
              </a:defRPr>
            </a:pPr>
            <a:r>
              <a:t>The repo includes local corpus assets and generated PDFs, which supports offline reruns</a:t>
            </a:r>
          </a:p>
        </p:txBody>
      </p:sp>
      <p:sp>
        <p:nvSpPr>
          <p:cNvPr id="30" name="Rectangle 29"/>
          <p:cNvSpPr/>
          <p:nvPr/>
        </p:nvSpPr>
        <p:spPr>
          <a:xfrm>
            <a:off x="5623560" y="1737360"/>
            <a:ext cx="5669280" cy="4480560"/>
          </a:xfrm>
          <a:prstGeom prst="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31" name="Picture 30" descr="loss_curve.png"/>
          <p:cNvPicPr>
            <a:picLocks noChangeAspect="1"/>
          </p:cNvPicPr>
          <p:nvPr/>
        </p:nvPicPr>
        <p:blipFill>
          <a:blip r:embed="rId3"/>
          <a:stretch>
            <a:fillRect/>
          </a:stretch>
        </p:blipFill>
        <p:spPr>
          <a:xfrm>
            <a:off x="5623560" y="2205990"/>
            <a:ext cx="5669280" cy="3543299"/>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0352"/>
            <a:ext cx="12191695" cy="54864"/>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8138160" cy="301752"/>
          </a:xfrm>
          <a:prstGeom prst="rect">
            <a:avLst/>
          </a:prstGeom>
          <a:noFill/>
        </p:spPr>
        <p:txBody>
          <a:bodyPr wrap="none">
            <a:spAutoFit/>
          </a:bodyPr>
          <a:lstStyle/>
          <a:p>
            <a:pPr>
              <a:defRPr sz="2800" b="1">
                <a:solidFill>
                  <a:srgbClr val="FFFFFF"/>
                </a:solidFill>
                <a:latin typeface="Aptos Display"/>
              </a:defRPr>
            </a:pPr>
            <a:r>
              <a:t>Experiment Matrix</a:t>
            </a:r>
          </a:p>
        </p:txBody>
      </p:sp>
      <p:sp>
        <p:nvSpPr>
          <p:cNvPr id="5" name="Rounded Rectangle 4"/>
          <p:cNvSpPr/>
          <p:nvPr/>
        </p:nvSpPr>
        <p:spPr>
          <a:xfrm>
            <a:off x="9966960" y="109728"/>
            <a:ext cx="1783080" cy="274320"/>
          </a:xfrm>
          <a:prstGeom prst="round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D1B2A"/>
                </a:solidFill>
                <a:latin typeface="Aptos"/>
              </a:defRPr>
            </a:pPr>
            <a:r>
              <a:t>EXPERIMENTS</a:t>
            </a:r>
          </a:p>
        </p:txBody>
      </p:sp>
      <p:sp>
        <p:nvSpPr>
          <p:cNvPr id="6" name="Rectangle 5"/>
          <p:cNvSpPr/>
          <p:nvPr/>
        </p:nvSpPr>
        <p:spPr>
          <a:xfrm>
            <a:off x="365760" y="6519672"/>
            <a:ext cx="11430000" cy="9144"/>
          </a:xfrm>
          <a:prstGeom prst="rect">
            <a:avLst/>
          </a:prstGeom>
          <a:solidFill>
            <a:srgbClr val="D9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537960"/>
            <a:ext cx="10515600" cy="164592"/>
          </a:xfrm>
          <a:prstGeom prst="rect">
            <a:avLst/>
          </a:prstGeom>
          <a:noFill/>
        </p:spPr>
        <p:txBody>
          <a:bodyPr wrap="none">
            <a:spAutoFit/>
          </a:bodyPr>
          <a:lstStyle/>
          <a:p>
            <a:pPr>
              <a:defRPr sz="900">
                <a:solidFill>
                  <a:srgbClr val="5E6C84"/>
                </a:solidFill>
                <a:latin typeface="Aptos"/>
              </a:defRPr>
            </a:pPr>
            <a:r>
              <a:t>PropQA-Net | SRL-Anchored QA | Final Research Presentation</a:t>
            </a:r>
          </a:p>
        </p:txBody>
      </p:sp>
      <p:sp>
        <p:nvSpPr>
          <p:cNvPr id="8" name="TextBox 7"/>
          <p:cNvSpPr txBox="1"/>
          <p:nvPr/>
        </p:nvSpPr>
        <p:spPr>
          <a:xfrm>
            <a:off x="11064240" y="6510528"/>
            <a:ext cx="640080" cy="182880"/>
          </a:xfrm>
          <a:prstGeom prst="rect">
            <a:avLst/>
          </a:prstGeom>
          <a:noFill/>
        </p:spPr>
        <p:txBody>
          <a:bodyPr wrap="none">
            <a:spAutoFit/>
          </a:bodyPr>
          <a:lstStyle/>
          <a:p>
            <a:pPr algn="r">
              <a:defRPr sz="1000" b="1">
                <a:solidFill>
                  <a:srgbClr val="5E6C84"/>
                </a:solidFill>
                <a:latin typeface="Aptos"/>
              </a:defRPr>
            </a:pPr>
            <a:r>
              <a:t>11</a:t>
            </a:r>
          </a:p>
        </p:txBody>
      </p:sp>
      <p:graphicFrame>
        <p:nvGraphicFramePr>
          <p:cNvPr id="9" name="Table 8"/>
          <p:cNvGraphicFramePr>
            <a:graphicFrameLocks noGrp="1"/>
          </p:cNvGraphicFramePr>
          <p:nvPr/>
        </p:nvGraphicFramePr>
        <p:xfrm>
          <a:off x="685800" y="914400"/>
          <a:ext cx="5212080" cy="3840480"/>
        </p:xfrm>
        <a:graphic>
          <a:graphicData uri="http://schemas.openxmlformats.org/drawingml/2006/table">
            <a:tbl>
              <a:tblPr firstRow="1" bandRow="1">
                <a:tableStyleId>{5C22544A-7EE6-4342-B048-85BDC9FD1C3A}</a:tableStyleId>
              </a:tblPr>
              <a:tblGrid>
                <a:gridCol w="2606040">
                  <a:extLst>
                    <a:ext uri="{9D8B030D-6E8A-4147-A177-3AD203B41FA5}">
                      <a16:colId xmlns:a16="http://schemas.microsoft.com/office/drawing/2014/main" val="20000"/>
                    </a:ext>
                  </a:extLst>
                </a:gridCol>
                <a:gridCol w="2606040">
                  <a:extLst>
                    <a:ext uri="{9D8B030D-6E8A-4147-A177-3AD203B41FA5}">
                      <a16:colId xmlns:a16="http://schemas.microsoft.com/office/drawing/2014/main" val="20001"/>
                    </a:ext>
                  </a:extLst>
                </a:gridCol>
              </a:tblGrid>
              <a:tr h="548640">
                <a:tc>
                  <a:txBody>
                    <a:bodyPr/>
                    <a:lstStyle/>
                    <a:p>
                      <a:pPr algn="ctr">
                        <a:defRPr sz="1200" b="1">
                          <a:solidFill>
                            <a:srgbClr val="FFFFFF"/>
                          </a:solidFill>
                          <a:latin typeface="Aptos"/>
                        </a:defRPr>
                      </a:pPr>
                      <a:r>
                        <a:t>Evaluation Component</a:t>
                      </a:r>
                    </a:p>
                  </a:txBody>
                  <a:tcPr anchor="ctr">
                    <a:solidFill>
                      <a:srgbClr val="0D1B2A"/>
                    </a:solidFill>
                  </a:tcPr>
                </a:tc>
                <a:tc>
                  <a:txBody>
                    <a:bodyPr/>
                    <a:lstStyle/>
                    <a:p>
                      <a:pPr algn="ctr">
                        <a:defRPr sz="1200" b="1">
                          <a:solidFill>
                            <a:srgbClr val="FFFFFF"/>
                          </a:solidFill>
                          <a:latin typeface="Aptos"/>
                        </a:defRPr>
                      </a:pPr>
                      <a:r>
                        <a:t>Setting</a:t>
                      </a:r>
                    </a:p>
                  </a:txBody>
                  <a:tcPr anchor="ctr">
                    <a:solidFill>
                      <a:srgbClr val="0D1B2A"/>
                    </a:solidFill>
                  </a:tcPr>
                </a:tc>
                <a:extLst>
                  <a:ext uri="{0D108BD9-81ED-4DB2-BD59-A6C34878D82A}">
                    <a16:rowId xmlns:a16="http://schemas.microsoft.com/office/drawing/2014/main" val="10000"/>
                  </a:ext>
                </a:extLst>
              </a:tr>
              <a:tr h="548640">
                <a:tc>
                  <a:txBody>
                    <a:bodyPr/>
                    <a:lstStyle/>
                    <a:p>
                      <a:pPr algn="l">
                        <a:defRPr sz="1200" b="0">
                          <a:solidFill>
                            <a:srgbClr val="222831"/>
                          </a:solidFill>
                          <a:latin typeface="Aptos"/>
                        </a:defRPr>
                      </a:pPr>
                      <a:r>
                        <a:t>Full held-out test set</a:t>
                      </a:r>
                    </a:p>
                  </a:txBody>
                  <a:tcPr anchor="ctr">
                    <a:solidFill>
                      <a:srgbClr val="FFFFFF"/>
                    </a:solidFill>
                  </a:tcPr>
                </a:tc>
                <a:tc>
                  <a:txBody>
                    <a:bodyPr/>
                    <a:lstStyle/>
                    <a:p>
                      <a:pPr algn="l">
                        <a:defRPr sz="1200" b="0">
                          <a:solidFill>
                            <a:srgbClr val="222831"/>
                          </a:solidFill>
                          <a:latin typeface="Aptos"/>
                        </a:defRPr>
                      </a:pPr>
                      <a:r>
                        <a:t>3,452 examples</a:t>
                      </a:r>
                    </a:p>
                  </a:txBody>
                  <a:tcPr anchor="ctr">
                    <a:solidFill>
                      <a:srgbClr val="FFFFFF"/>
                    </a:solidFill>
                  </a:tcPr>
                </a:tc>
                <a:extLst>
                  <a:ext uri="{0D108BD9-81ED-4DB2-BD59-A6C34878D82A}">
                    <a16:rowId xmlns:a16="http://schemas.microsoft.com/office/drawing/2014/main" val="10001"/>
                  </a:ext>
                </a:extLst>
              </a:tr>
              <a:tr h="548640">
                <a:tc>
                  <a:txBody>
                    <a:bodyPr/>
                    <a:lstStyle/>
                    <a:p>
                      <a:pPr algn="l">
                        <a:defRPr sz="1200" b="0">
                          <a:solidFill>
                            <a:srgbClr val="222831"/>
                          </a:solidFill>
                          <a:latin typeface="Aptos"/>
                        </a:defRPr>
                      </a:pPr>
                      <a:r>
                        <a:t>Challenge suite</a:t>
                      </a:r>
                    </a:p>
                  </a:txBody>
                  <a:tcPr anchor="ctr">
                    <a:solidFill>
                      <a:srgbClr val="FFFFFF"/>
                    </a:solidFill>
                  </a:tcPr>
                </a:tc>
                <a:tc>
                  <a:txBody>
                    <a:bodyPr/>
                    <a:lstStyle/>
                    <a:p>
                      <a:pPr algn="l">
                        <a:defRPr sz="1200" b="0">
                          <a:solidFill>
                            <a:srgbClr val="222831"/>
                          </a:solidFill>
                          <a:latin typeface="Aptos"/>
                        </a:defRPr>
                      </a:pPr>
                      <a:r>
                        <a:t>20 curated role-sensitive examples</a:t>
                      </a:r>
                    </a:p>
                  </a:txBody>
                  <a:tcPr anchor="ctr">
                    <a:solidFill>
                      <a:srgbClr val="FFFFFF"/>
                    </a:solidFill>
                  </a:tcPr>
                </a:tc>
                <a:extLst>
                  <a:ext uri="{0D108BD9-81ED-4DB2-BD59-A6C34878D82A}">
                    <a16:rowId xmlns:a16="http://schemas.microsoft.com/office/drawing/2014/main" val="10002"/>
                  </a:ext>
                </a:extLst>
              </a:tr>
              <a:tr h="548640">
                <a:tc>
                  <a:txBody>
                    <a:bodyPr/>
                    <a:lstStyle/>
                    <a:p>
                      <a:pPr algn="l">
                        <a:defRPr sz="1200" b="0">
                          <a:solidFill>
                            <a:srgbClr val="222831"/>
                          </a:solidFill>
                          <a:latin typeface="Aptos"/>
                        </a:defRPr>
                      </a:pPr>
                      <a:r>
                        <a:t>Benchmark test subset</a:t>
                      </a:r>
                    </a:p>
                  </a:txBody>
                  <a:tcPr anchor="ctr">
                    <a:solidFill>
                      <a:srgbClr val="FFFFFF"/>
                    </a:solidFill>
                  </a:tcPr>
                </a:tc>
                <a:tc>
                  <a:txBody>
                    <a:bodyPr/>
                    <a:lstStyle/>
                    <a:p>
                      <a:pPr algn="l">
                        <a:defRPr sz="1200" b="0">
                          <a:solidFill>
                            <a:srgbClr val="222831"/>
                          </a:solidFill>
                          <a:latin typeface="Aptos"/>
                        </a:defRPr>
                      </a:pPr>
                      <a:r>
                        <a:t>40 sampled examples</a:t>
                      </a:r>
                    </a:p>
                  </a:txBody>
                  <a:tcPr anchor="ctr">
                    <a:solidFill>
                      <a:srgbClr val="FFFFFF"/>
                    </a:solidFill>
                  </a:tcPr>
                </a:tc>
                <a:extLst>
                  <a:ext uri="{0D108BD9-81ED-4DB2-BD59-A6C34878D82A}">
                    <a16:rowId xmlns:a16="http://schemas.microsoft.com/office/drawing/2014/main" val="10003"/>
                  </a:ext>
                </a:extLst>
              </a:tr>
              <a:tr h="548640">
                <a:tc>
                  <a:txBody>
                    <a:bodyPr/>
                    <a:lstStyle/>
                    <a:p>
                      <a:pPr algn="l">
                        <a:defRPr sz="1200" b="0">
                          <a:solidFill>
                            <a:srgbClr val="222831"/>
                          </a:solidFill>
                          <a:latin typeface="Aptos"/>
                        </a:defRPr>
                      </a:pPr>
                      <a:r>
                        <a:t>Primary QA metrics</a:t>
                      </a:r>
                    </a:p>
                  </a:txBody>
                  <a:tcPr anchor="ctr">
                    <a:solidFill>
                      <a:srgbClr val="FFFFFF"/>
                    </a:solidFill>
                  </a:tcPr>
                </a:tc>
                <a:tc>
                  <a:txBody>
                    <a:bodyPr/>
                    <a:lstStyle/>
                    <a:p>
                      <a:pPr algn="l">
                        <a:defRPr sz="1200" b="0">
                          <a:solidFill>
                            <a:srgbClr val="222831"/>
                          </a:solidFill>
                          <a:latin typeface="Aptos"/>
                        </a:defRPr>
                      </a:pPr>
                      <a:r>
                        <a:t>Exact Match, Token F1</a:t>
                      </a:r>
                    </a:p>
                  </a:txBody>
                  <a:tcPr anchor="ctr">
                    <a:solidFill>
                      <a:srgbClr val="FFFFFF"/>
                    </a:solidFill>
                  </a:tcPr>
                </a:tc>
                <a:extLst>
                  <a:ext uri="{0D108BD9-81ED-4DB2-BD59-A6C34878D82A}">
                    <a16:rowId xmlns:a16="http://schemas.microsoft.com/office/drawing/2014/main" val="10004"/>
                  </a:ext>
                </a:extLst>
              </a:tr>
              <a:tr h="548640">
                <a:tc>
                  <a:txBody>
                    <a:bodyPr/>
                    <a:lstStyle/>
                    <a:p>
                      <a:pPr algn="l">
                        <a:defRPr sz="1200" b="0">
                          <a:solidFill>
                            <a:srgbClr val="222831"/>
                          </a:solidFill>
                          <a:latin typeface="Aptos"/>
                        </a:defRPr>
                      </a:pPr>
                      <a:r>
                        <a:t>Primary SRL metrics</a:t>
                      </a:r>
                    </a:p>
                  </a:txBody>
                  <a:tcPr anchor="ctr">
                    <a:solidFill>
                      <a:srgbClr val="FFFFFF"/>
                    </a:solidFill>
                  </a:tcPr>
                </a:tc>
                <a:tc>
                  <a:txBody>
                    <a:bodyPr/>
                    <a:lstStyle/>
                    <a:p>
                      <a:pPr algn="l">
                        <a:defRPr sz="1200" b="0">
                          <a:solidFill>
                            <a:srgbClr val="222831"/>
                          </a:solidFill>
                          <a:latin typeface="Aptos"/>
                        </a:defRPr>
                      </a:pPr>
                      <a:r>
                        <a:t>Micro F1, Macro F1, BIO Accuracy</a:t>
                      </a:r>
                    </a:p>
                  </a:txBody>
                  <a:tcPr anchor="ctr">
                    <a:solidFill>
                      <a:srgbClr val="FFFFFF"/>
                    </a:solidFill>
                  </a:tcPr>
                </a:tc>
                <a:extLst>
                  <a:ext uri="{0D108BD9-81ED-4DB2-BD59-A6C34878D82A}">
                    <a16:rowId xmlns:a16="http://schemas.microsoft.com/office/drawing/2014/main" val="10005"/>
                  </a:ext>
                </a:extLst>
              </a:tr>
              <a:tr h="548640">
                <a:tc>
                  <a:txBody>
                    <a:bodyPr/>
                    <a:lstStyle/>
                    <a:p>
                      <a:pPr algn="l">
                        <a:defRPr sz="1200" b="0">
                          <a:solidFill>
                            <a:srgbClr val="222831"/>
                          </a:solidFill>
                          <a:latin typeface="Aptos"/>
                        </a:defRPr>
                      </a:pPr>
                      <a:r>
                        <a:t>Tracks compared</a:t>
                      </a:r>
                    </a:p>
                  </a:txBody>
                  <a:tcPr anchor="ctr">
                    <a:solidFill>
                      <a:srgbClr val="FFFFFF"/>
                    </a:solidFill>
                  </a:tcPr>
                </a:tc>
                <a:tc>
                  <a:txBody>
                    <a:bodyPr/>
                    <a:lstStyle/>
                    <a:p>
                      <a:pPr algn="l">
                        <a:defRPr sz="1200" b="0">
                          <a:solidFill>
                            <a:srgbClr val="222831"/>
                          </a:solidFill>
                          <a:latin typeface="Aptos"/>
                        </a:defRPr>
                      </a:pPr>
                      <a:r>
                        <a:t>Baseline, Heuristic, Transformer Assist, Full Hybrid</a:t>
                      </a:r>
                    </a:p>
                  </a:txBody>
                  <a:tcPr anchor="ctr">
                    <a:solidFill>
                      <a:srgbClr val="FFFFFF"/>
                    </a:solidFill>
                  </a:tcPr>
                </a:tc>
                <a:extLst>
                  <a:ext uri="{0D108BD9-81ED-4DB2-BD59-A6C34878D82A}">
                    <a16:rowId xmlns:a16="http://schemas.microsoft.com/office/drawing/2014/main" val="10006"/>
                  </a:ext>
                </a:extLst>
              </a:tr>
            </a:tbl>
          </a:graphicData>
        </a:graphic>
      </p:graphicFrame>
      <p:sp>
        <p:nvSpPr>
          <p:cNvPr id="10" name="TextBox 9"/>
          <p:cNvSpPr txBox="1"/>
          <p:nvPr/>
        </p:nvSpPr>
        <p:spPr>
          <a:xfrm>
            <a:off x="822960" y="4892040"/>
            <a:ext cx="4983480" cy="1463040"/>
          </a:xfrm>
          <a:prstGeom prst="rect">
            <a:avLst/>
          </a:prstGeom>
          <a:noFill/>
        </p:spPr>
        <p:txBody>
          <a:bodyPr wrap="square">
            <a:spAutoFit/>
          </a:bodyPr>
          <a:lstStyle/>
          <a:p>
            <a:pPr>
              <a:spcAft>
                <a:spcPts val="700"/>
              </a:spcAft>
              <a:defRPr sz="1500">
                <a:solidFill>
                  <a:srgbClr val="222831"/>
                </a:solidFill>
                <a:latin typeface="Aptos"/>
              </a:defRPr>
            </a:pPr>
            <a:r>
              <a:t>The benchmark separates authoritative repository metrics from hybrid ablation analysis</a:t>
            </a:r>
          </a:p>
          <a:p>
            <a:pPr>
              <a:spcAft>
                <a:spcPts val="700"/>
              </a:spcAft>
              <a:defRPr sz="1500">
                <a:solidFill>
                  <a:srgbClr val="222831"/>
                </a:solidFill>
                <a:latin typeface="Aptos"/>
              </a:defRPr>
            </a:pPr>
            <a:r>
              <a:t>Challenge evaluation stresses role-sensitive questions like location, manner, cause, and recipient extraction</a:t>
            </a:r>
          </a:p>
          <a:p>
            <a:pPr>
              <a:spcAft>
                <a:spcPts val="700"/>
              </a:spcAft>
              <a:defRPr sz="1500">
                <a:solidFill>
                  <a:srgbClr val="222831"/>
                </a:solidFill>
                <a:latin typeface="Aptos"/>
              </a:defRPr>
            </a:pPr>
            <a:r>
              <a:t>The test-subset benchmark measures whether those gains generalize beyond the curated challenge set</a:t>
            </a:r>
          </a:p>
        </p:txBody>
      </p:sp>
      <p:sp>
        <p:nvSpPr>
          <p:cNvPr id="11" name="Rectangle 10"/>
          <p:cNvSpPr/>
          <p:nvPr/>
        </p:nvSpPr>
        <p:spPr>
          <a:xfrm>
            <a:off x="5989320" y="1051560"/>
            <a:ext cx="5349240" cy="5120640"/>
          </a:xfrm>
          <a:prstGeom prst="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ablation_summary.png"/>
          <p:cNvPicPr>
            <a:picLocks noChangeAspect="1"/>
          </p:cNvPicPr>
          <p:nvPr/>
        </p:nvPicPr>
        <p:blipFill>
          <a:blip r:embed="rId3"/>
          <a:stretch>
            <a:fillRect/>
          </a:stretch>
        </p:blipFill>
        <p:spPr>
          <a:xfrm>
            <a:off x="5989320" y="2274570"/>
            <a:ext cx="5349240" cy="2674620"/>
          </a:xfrm>
          <a:prstGeom prst="rect">
            <a:avLst/>
          </a:prstGeom>
        </p:spPr>
      </p:pic>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0352"/>
            <a:ext cx="12191695" cy="54864"/>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8138160" cy="301752"/>
          </a:xfrm>
          <a:prstGeom prst="rect">
            <a:avLst/>
          </a:prstGeom>
          <a:noFill/>
        </p:spPr>
        <p:txBody>
          <a:bodyPr wrap="none">
            <a:spAutoFit/>
          </a:bodyPr>
          <a:lstStyle/>
          <a:p>
            <a:pPr>
              <a:defRPr sz="2800" b="1">
                <a:solidFill>
                  <a:srgbClr val="FFFFFF"/>
                </a:solidFill>
                <a:latin typeface="Aptos Display"/>
              </a:defRPr>
            </a:pPr>
            <a:r>
              <a:t>Baseline QA Results</a:t>
            </a:r>
          </a:p>
        </p:txBody>
      </p:sp>
      <p:sp>
        <p:nvSpPr>
          <p:cNvPr id="5" name="Rounded Rectangle 4"/>
          <p:cNvSpPr/>
          <p:nvPr/>
        </p:nvSpPr>
        <p:spPr>
          <a:xfrm>
            <a:off x="9966960" y="109728"/>
            <a:ext cx="1783080" cy="274320"/>
          </a:xfrm>
          <a:prstGeom prst="round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D1B2A"/>
                </a:solidFill>
                <a:latin typeface="Aptos"/>
              </a:defRPr>
            </a:pPr>
            <a:r>
              <a:t>RESULTS</a:t>
            </a:r>
          </a:p>
        </p:txBody>
      </p:sp>
      <p:sp>
        <p:nvSpPr>
          <p:cNvPr id="6" name="Rectangle 5"/>
          <p:cNvSpPr/>
          <p:nvPr/>
        </p:nvSpPr>
        <p:spPr>
          <a:xfrm>
            <a:off x="365760" y="6519672"/>
            <a:ext cx="11430000" cy="9144"/>
          </a:xfrm>
          <a:prstGeom prst="rect">
            <a:avLst/>
          </a:prstGeom>
          <a:solidFill>
            <a:srgbClr val="D9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537960"/>
            <a:ext cx="10515600" cy="164592"/>
          </a:xfrm>
          <a:prstGeom prst="rect">
            <a:avLst/>
          </a:prstGeom>
          <a:noFill/>
        </p:spPr>
        <p:txBody>
          <a:bodyPr wrap="none">
            <a:spAutoFit/>
          </a:bodyPr>
          <a:lstStyle/>
          <a:p>
            <a:pPr>
              <a:defRPr sz="900">
                <a:solidFill>
                  <a:srgbClr val="5E6C84"/>
                </a:solidFill>
                <a:latin typeface="Aptos"/>
              </a:defRPr>
            </a:pPr>
            <a:r>
              <a:t>PropQA-Net | SRL-Anchored QA | Final Research Presentation</a:t>
            </a:r>
          </a:p>
        </p:txBody>
      </p:sp>
      <p:sp>
        <p:nvSpPr>
          <p:cNvPr id="8" name="TextBox 7"/>
          <p:cNvSpPr txBox="1"/>
          <p:nvPr/>
        </p:nvSpPr>
        <p:spPr>
          <a:xfrm>
            <a:off x="11064240" y="6510528"/>
            <a:ext cx="640080" cy="182880"/>
          </a:xfrm>
          <a:prstGeom prst="rect">
            <a:avLst/>
          </a:prstGeom>
          <a:noFill/>
        </p:spPr>
        <p:txBody>
          <a:bodyPr wrap="none">
            <a:spAutoFit/>
          </a:bodyPr>
          <a:lstStyle/>
          <a:p>
            <a:pPr algn="r">
              <a:defRPr sz="1000" b="1">
                <a:solidFill>
                  <a:srgbClr val="5E6C84"/>
                </a:solidFill>
                <a:latin typeface="Aptos"/>
              </a:defRPr>
            </a:pPr>
            <a:r>
              <a:t>12</a:t>
            </a:r>
          </a:p>
        </p:txBody>
      </p:sp>
      <p:sp>
        <p:nvSpPr>
          <p:cNvPr id="9" name="Rounded Rectangle 8"/>
          <p:cNvSpPr/>
          <p:nvPr/>
        </p:nvSpPr>
        <p:spPr>
          <a:xfrm>
            <a:off x="731520" y="914400"/>
            <a:ext cx="2011680" cy="91440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31520" y="914400"/>
            <a:ext cx="109728"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87552" y="1078992"/>
            <a:ext cx="1600200" cy="256032"/>
          </a:xfrm>
          <a:prstGeom prst="rect">
            <a:avLst/>
          </a:prstGeom>
          <a:noFill/>
        </p:spPr>
        <p:txBody>
          <a:bodyPr wrap="square" lIns="0" tIns="0" rIns="0" bIns="0">
            <a:spAutoFit/>
          </a:bodyPr>
          <a:lstStyle/>
          <a:p>
            <a:pPr algn="l">
              <a:defRPr sz="1100" b="1">
                <a:solidFill>
                  <a:srgbClr val="5E6C84"/>
                </a:solidFill>
                <a:latin typeface="Aptos"/>
              </a:defRPr>
            </a:pPr>
            <a:r>
              <a:t>QA Exact Match</a:t>
            </a:r>
          </a:p>
        </p:txBody>
      </p:sp>
      <p:sp>
        <p:nvSpPr>
          <p:cNvPr id="12" name="TextBox 11"/>
          <p:cNvSpPr txBox="1"/>
          <p:nvPr/>
        </p:nvSpPr>
        <p:spPr>
          <a:xfrm>
            <a:off x="987552" y="1325880"/>
            <a:ext cx="1600200" cy="402336"/>
          </a:xfrm>
          <a:prstGeom prst="rect">
            <a:avLst/>
          </a:prstGeom>
          <a:noFill/>
        </p:spPr>
        <p:txBody>
          <a:bodyPr wrap="square" lIns="0" tIns="0" rIns="0" bIns="0">
            <a:spAutoFit/>
          </a:bodyPr>
          <a:lstStyle/>
          <a:p>
            <a:pPr algn="l">
              <a:defRPr sz="2100" b="1">
                <a:solidFill>
                  <a:srgbClr val="0D1B2A"/>
                </a:solidFill>
                <a:latin typeface="Aptos"/>
              </a:defRPr>
            </a:pPr>
            <a:r>
              <a:t>51.8%</a:t>
            </a:r>
          </a:p>
        </p:txBody>
      </p:sp>
      <p:sp>
        <p:nvSpPr>
          <p:cNvPr id="13" name="Rounded Rectangle 12"/>
          <p:cNvSpPr/>
          <p:nvPr/>
        </p:nvSpPr>
        <p:spPr>
          <a:xfrm>
            <a:off x="2971800" y="914400"/>
            <a:ext cx="2011680" cy="91440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2971800" y="914400"/>
            <a:ext cx="109728" cy="914400"/>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227832" y="1078992"/>
            <a:ext cx="1600200" cy="256032"/>
          </a:xfrm>
          <a:prstGeom prst="rect">
            <a:avLst/>
          </a:prstGeom>
          <a:noFill/>
        </p:spPr>
        <p:txBody>
          <a:bodyPr wrap="square" lIns="0" tIns="0" rIns="0" bIns="0">
            <a:spAutoFit/>
          </a:bodyPr>
          <a:lstStyle/>
          <a:p>
            <a:pPr algn="l">
              <a:defRPr sz="1100" b="1">
                <a:solidFill>
                  <a:srgbClr val="5E6C84"/>
                </a:solidFill>
                <a:latin typeface="Aptos"/>
              </a:defRPr>
            </a:pPr>
            <a:r>
              <a:t>QA Token F1</a:t>
            </a:r>
          </a:p>
        </p:txBody>
      </p:sp>
      <p:sp>
        <p:nvSpPr>
          <p:cNvPr id="16" name="TextBox 15"/>
          <p:cNvSpPr txBox="1"/>
          <p:nvPr/>
        </p:nvSpPr>
        <p:spPr>
          <a:xfrm>
            <a:off x="3227832" y="1325880"/>
            <a:ext cx="1600200" cy="402336"/>
          </a:xfrm>
          <a:prstGeom prst="rect">
            <a:avLst/>
          </a:prstGeom>
          <a:noFill/>
        </p:spPr>
        <p:txBody>
          <a:bodyPr wrap="square" lIns="0" tIns="0" rIns="0" bIns="0">
            <a:spAutoFit/>
          </a:bodyPr>
          <a:lstStyle/>
          <a:p>
            <a:pPr algn="l">
              <a:defRPr sz="2100" b="1">
                <a:solidFill>
                  <a:srgbClr val="0D1B2A"/>
                </a:solidFill>
                <a:latin typeface="Aptos"/>
              </a:defRPr>
            </a:pPr>
            <a:r>
              <a:t>76.1%</a:t>
            </a:r>
          </a:p>
        </p:txBody>
      </p:sp>
      <p:sp>
        <p:nvSpPr>
          <p:cNvPr id="17" name="Rounded Rectangle 16"/>
          <p:cNvSpPr/>
          <p:nvPr/>
        </p:nvSpPr>
        <p:spPr>
          <a:xfrm>
            <a:off x="5212080" y="914400"/>
            <a:ext cx="2011680" cy="91440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212080" y="914400"/>
            <a:ext cx="109728" cy="914400"/>
          </a:xfrm>
          <a:prstGeom prst="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468112" y="1078992"/>
            <a:ext cx="1600200" cy="256032"/>
          </a:xfrm>
          <a:prstGeom prst="rect">
            <a:avLst/>
          </a:prstGeom>
          <a:noFill/>
        </p:spPr>
        <p:txBody>
          <a:bodyPr wrap="square" lIns="0" tIns="0" rIns="0" bIns="0">
            <a:spAutoFit/>
          </a:bodyPr>
          <a:lstStyle/>
          <a:p>
            <a:pPr algn="l">
              <a:defRPr sz="1100" b="1">
                <a:solidFill>
                  <a:srgbClr val="5E6C84"/>
                </a:solidFill>
                <a:latin typeface="Aptos"/>
              </a:defRPr>
            </a:pPr>
            <a:r>
              <a:t>Length Deviation</a:t>
            </a:r>
          </a:p>
        </p:txBody>
      </p:sp>
      <p:sp>
        <p:nvSpPr>
          <p:cNvPr id="20" name="TextBox 19"/>
          <p:cNvSpPr txBox="1"/>
          <p:nvPr/>
        </p:nvSpPr>
        <p:spPr>
          <a:xfrm>
            <a:off x="5468112" y="1325880"/>
            <a:ext cx="1600200" cy="402336"/>
          </a:xfrm>
          <a:prstGeom prst="rect">
            <a:avLst/>
          </a:prstGeom>
          <a:noFill/>
        </p:spPr>
        <p:txBody>
          <a:bodyPr wrap="square" lIns="0" tIns="0" rIns="0" bIns="0">
            <a:spAutoFit/>
          </a:bodyPr>
          <a:lstStyle/>
          <a:p>
            <a:pPr algn="l">
              <a:defRPr sz="2100" b="1">
                <a:solidFill>
                  <a:srgbClr val="0D1B2A"/>
                </a:solidFill>
                <a:latin typeface="Aptos"/>
              </a:defRPr>
            </a:pPr>
            <a:r>
              <a:t>-1.01</a:t>
            </a:r>
          </a:p>
        </p:txBody>
      </p:sp>
      <p:sp>
        <p:nvSpPr>
          <p:cNvPr id="21" name="Rounded Rectangle 20"/>
          <p:cNvSpPr/>
          <p:nvPr/>
        </p:nvSpPr>
        <p:spPr>
          <a:xfrm>
            <a:off x="7452360" y="914400"/>
            <a:ext cx="2011680" cy="91440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7452360" y="914400"/>
            <a:ext cx="109728" cy="914400"/>
          </a:xfrm>
          <a:prstGeom prst="rect">
            <a:avLst/>
          </a:prstGeom>
          <a:solidFill>
            <a:srgbClr val="2180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708392" y="1078992"/>
            <a:ext cx="1600200" cy="256032"/>
          </a:xfrm>
          <a:prstGeom prst="rect">
            <a:avLst/>
          </a:prstGeom>
          <a:noFill/>
        </p:spPr>
        <p:txBody>
          <a:bodyPr wrap="square" lIns="0" tIns="0" rIns="0" bIns="0">
            <a:spAutoFit/>
          </a:bodyPr>
          <a:lstStyle/>
          <a:p>
            <a:pPr algn="l">
              <a:defRPr sz="1100" b="1">
                <a:solidFill>
                  <a:srgbClr val="5E6C84"/>
                </a:solidFill>
                <a:latin typeface="Aptos"/>
              </a:defRPr>
            </a:pPr>
            <a:r>
              <a:t>Abs. Length Dev.</a:t>
            </a:r>
          </a:p>
        </p:txBody>
      </p:sp>
      <p:sp>
        <p:nvSpPr>
          <p:cNvPr id="24" name="TextBox 23"/>
          <p:cNvSpPr txBox="1"/>
          <p:nvPr/>
        </p:nvSpPr>
        <p:spPr>
          <a:xfrm>
            <a:off x="7708392" y="1325880"/>
            <a:ext cx="1600200" cy="402336"/>
          </a:xfrm>
          <a:prstGeom prst="rect">
            <a:avLst/>
          </a:prstGeom>
          <a:noFill/>
        </p:spPr>
        <p:txBody>
          <a:bodyPr wrap="square" lIns="0" tIns="0" rIns="0" bIns="0">
            <a:spAutoFit/>
          </a:bodyPr>
          <a:lstStyle/>
          <a:p>
            <a:pPr algn="l">
              <a:defRPr sz="2100" b="1">
                <a:solidFill>
                  <a:srgbClr val="0D1B2A"/>
                </a:solidFill>
                <a:latin typeface="Aptos"/>
              </a:defRPr>
            </a:pPr>
            <a:r>
              <a:t>1.85</a:t>
            </a:r>
          </a:p>
        </p:txBody>
      </p:sp>
      <p:sp>
        <p:nvSpPr>
          <p:cNvPr id="25" name="TextBox 24"/>
          <p:cNvSpPr txBox="1"/>
          <p:nvPr/>
        </p:nvSpPr>
        <p:spPr>
          <a:xfrm>
            <a:off x="731520" y="2148840"/>
            <a:ext cx="4663440" cy="3474720"/>
          </a:xfrm>
          <a:prstGeom prst="rect">
            <a:avLst/>
          </a:prstGeom>
          <a:noFill/>
        </p:spPr>
        <p:txBody>
          <a:bodyPr wrap="square">
            <a:spAutoFit/>
          </a:bodyPr>
          <a:lstStyle/>
          <a:p>
            <a:pPr>
              <a:spcAft>
                <a:spcPts val="700"/>
              </a:spcAft>
              <a:defRPr sz="1700">
                <a:solidFill>
                  <a:srgbClr val="222831"/>
                </a:solidFill>
                <a:latin typeface="Aptos"/>
              </a:defRPr>
            </a:pPr>
            <a:r>
              <a:t>WHO and WHAT are the strongest question families by exact match and token F1</a:t>
            </a:r>
          </a:p>
          <a:p>
            <a:pPr>
              <a:spcAft>
                <a:spcPts val="700"/>
              </a:spcAft>
              <a:defRPr sz="1700">
                <a:solidFill>
                  <a:srgbClr val="222831"/>
                </a:solidFill>
                <a:latin typeface="Aptos"/>
              </a:defRPr>
            </a:pPr>
            <a:r>
              <a:t>WHEN remains relatively manageable because temporal expressions are often compact and distinctive</a:t>
            </a:r>
          </a:p>
          <a:p>
            <a:pPr>
              <a:spcAft>
                <a:spcPts val="700"/>
              </a:spcAft>
              <a:defRPr sz="1700">
                <a:solidFill>
                  <a:srgbClr val="222831"/>
                </a:solidFill>
                <a:latin typeface="Aptos"/>
              </a:defRPr>
            </a:pPr>
            <a:r>
              <a:t>WHY has the weakest exact match, indicating frequent partial-span or boundary mismatches</a:t>
            </a:r>
          </a:p>
          <a:p>
            <a:pPr>
              <a:spcAft>
                <a:spcPts val="700"/>
              </a:spcAft>
              <a:defRPr sz="1700">
                <a:solidFill>
                  <a:srgbClr val="222831"/>
                </a:solidFill>
                <a:latin typeface="Aptos"/>
              </a:defRPr>
            </a:pPr>
            <a:r>
              <a:t>The baseline is strongest on common semantic roles and weaker on the sparse long tail</a:t>
            </a:r>
          </a:p>
        </p:txBody>
      </p:sp>
      <p:pic>
        <p:nvPicPr>
          <p:cNvPr id="27" name="Picture 26" descr="qa_accuracy_by_qtype.png"/>
          <p:cNvPicPr>
            <a:picLocks noChangeAspect="1"/>
          </p:cNvPicPr>
          <p:nvPr/>
        </p:nvPicPr>
        <p:blipFill>
          <a:blip r:embed="rId3"/>
          <a:stretch>
            <a:fillRect/>
          </a:stretch>
        </p:blipFill>
        <p:spPr>
          <a:xfrm>
            <a:off x="5943600" y="2833117"/>
            <a:ext cx="5669280" cy="3543299"/>
          </a:xfrm>
          <a:prstGeom prst="rect">
            <a:avLst/>
          </a:prstGeom>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0352"/>
            <a:ext cx="12191695" cy="54864"/>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8138160" cy="301752"/>
          </a:xfrm>
          <a:prstGeom prst="rect">
            <a:avLst/>
          </a:prstGeom>
          <a:noFill/>
        </p:spPr>
        <p:txBody>
          <a:bodyPr wrap="none">
            <a:spAutoFit/>
          </a:bodyPr>
          <a:lstStyle/>
          <a:p>
            <a:pPr>
              <a:defRPr sz="2800" b="1">
                <a:solidFill>
                  <a:srgbClr val="FFFFFF"/>
                </a:solidFill>
                <a:latin typeface="Aptos Display"/>
              </a:defRPr>
            </a:pPr>
            <a:r>
              <a:t>Baseline SRL Results</a:t>
            </a:r>
          </a:p>
        </p:txBody>
      </p:sp>
      <p:sp>
        <p:nvSpPr>
          <p:cNvPr id="5" name="Rounded Rectangle 4"/>
          <p:cNvSpPr/>
          <p:nvPr/>
        </p:nvSpPr>
        <p:spPr>
          <a:xfrm>
            <a:off x="9966960" y="109728"/>
            <a:ext cx="1783080" cy="274320"/>
          </a:xfrm>
          <a:prstGeom prst="round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D1B2A"/>
                </a:solidFill>
                <a:latin typeface="Aptos"/>
              </a:defRPr>
            </a:pPr>
            <a:r>
              <a:t>RESULTS</a:t>
            </a:r>
          </a:p>
        </p:txBody>
      </p:sp>
      <p:sp>
        <p:nvSpPr>
          <p:cNvPr id="6" name="Rectangle 5"/>
          <p:cNvSpPr/>
          <p:nvPr/>
        </p:nvSpPr>
        <p:spPr>
          <a:xfrm>
            <a:off x="365760" y="6519672"/>
            <a:ext cx="11430000" cy="9144"/>
          </a:xfrm>
          <a:prstGeom prst="rect">
            <a:avLst/>
          </a:prstGeom>
          <a:solidFill>
            <a:srgbClr val="D9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537960"/>
            <a:ext cx="10515600" cy="164592"/>
          </a:xfrm>
          <a:prstGeom prst="rect">
            <a:avLst/>
          </a:prstGeom>
          <a:noFill/>
        </p:spPr>
        <p:txBody>
          <a:bodyPr wrap="none">
            <a:spAutoFit/>
          </a:bodyPr>
          <a:lstStyle/>
          <a:p>
            <a:pPr>
              <a:defRPr sz="900">
                <a:solidFill>
                  <a:srgbClr val="5E6C84"/>
                </a:solidFill>
                <a:latin typeface="Aptos"/>
              </a:defRPr>
            </a:pPr>
            <a:r>
              <a:t>PropQA-Net | SRL-Anchored QA | Final Research Presentation</a:t>
            </a:r>
          </a:p>
        </p:txBody>
      </p:sp>
      <p:sp>
        <p:nvSpPr>
          <p:cNvPr id="8" name="TextBox 7"/>
          <p:cNvSpPr txBox="1"/>
          <p:nvPr/>
        </p:nvSpPr>
        <p:spPr>
          <a:xfrm>
            <a:off x="11064240" y="6510528"/>
            <a:ext cx="640080" cy="182880"/>
          </a:xfrm>
          <a:prstGeom prst="rect">
            <a:avLst/>
          </a:prstGeom>
          <a:noFill/>
        </p:spPr>
        <p:txBody>
          <a:bodyPr wrap="none">
            <a:spAutoFit/>
          </a:bodyPr>
          <a:lstStyle/>
          <a:p>
            <a:pPr algn="r">
              <a:defRPr sz="1000" b="1">
                <a:solidFill>
                  <a:srgbClr val="5E6C84"/>
                </a:solidFill>
                <a:latin typeface="Aptos"/>
              </a:defRPr>
            </a:pPr>
            <a:r>
              <a:t>13</a:t>
            </a:r>
          </a:p>
        </p:txBody>
      </p:sp>
      <p:sp>
        <p:nvSpPr>
          <p:cNvPr id="9" name="Rounded Rectangle 8"/>
          <p:cNvSpPr/>
          <p:nvPr/>
        </p:nvSpPr>
        <p:spPr>
          <a:xfrm>
            <a:off x="731520" y="914400"/>
            <a:ext cx="2103120" cy="91440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31520" y="914400"/>
            <a:ext cx="109728"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87552" y="1078992"/>
            <a:ext cx="1691639" cy="256032"/>
          </a:xfrm>
          <a:prstGeom prst="rect">
            <a:avLst/>
          </a:prstGeom>
          <a:noFill/>
        </p:spPr>
        <p:txBody>
          <a:bodyPr wrap="square" lIns="0" tIns="0" rIns="0" bIns="0">
            <a:spAutoFit/>
          </a:bodyPr>
          <a:lstStyle/>
          <a:p>
            <a:pPr algn="l">
              <a:defRPr sz="1100" b="1">
                <a:solidFill>
                  <a:srgbClr val="5E6C84"/>
                </a:solidFill>
                <a:latin typeface="Aptos"/>
              </a:defRPr>
            </a:pPr>
            <a:r>
              <a:t>SRL Micro F1</a:t>
            </a:r>
          </a:p>
        </p:txBody>
      </p:sp>
      <p:sp>
        <p:nvSpPr>
          <p:cNvPr id="12" name="TextBox 11"/>
          <p:cNvSpPr txBox="1"/>
          <p:nvPr/>
        </p:nvSpPr>
        <p:spPr>
          <a:xfrm>
            <a:off x="987552" y="1325880"/>
            <a:ext cx="1691639" cy="402336"/>
          </a:xfrm>
          <a:prstGeom prst="rect">
            <a:avLst/>
          </a:prstGeom>
          <a:noFill/>
        </p:spPr>
        <p:txBody>
          <a:bodyPr wrap="square" lIns="0" tIns="0" rIns="0" bIns="0">
            <a:spAutoFit/>
          </a:bodyPr>
          <a:lstStyle/>
          <a:p>
            <a:pPr algn="l">
              <a:defRPr sz="2100" b="1">
                <a:solidFill>
                  <a:srgbClr val="0D1B2A"/>
                </a:solidFill>
                <a:latin typeface="Aptos"/>
              </a:defRPr>
            </a:pPr>
            <a:r>
              <a:t>71.3%</a:t>
            </a:r>
          </a:p>
        </p:txBody>
      </p:sp>
      <p:sp>
        <p:nvSpPr>
          <p:cNvPr id="13" name="Rounded Rectangle 12"/>
          <p:cNvSpPr/>
          <p:nvPr/>
        </p:nvSpPr>
        <p:spPr>
          <a:xfrm>
            <a:off x="3063240" y="914400"/>
            <a:ext cx="2103120" cy="91440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063240" y="914400"/>
            <a:ext cx="109728" cy="914400"/>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319272" y="1078992"/>
            <a:ext cx="1691639" cy="256032"/>
          </a:xfrm>
          <a:prstGeom prst="rect">
            <a:avLst/>
          </a:prstGeom>
          <a:noFill/>
        </p:spPr>
        <p:txBody>
          <a:bodyPr wrap="square" lIns="0" tIns="0" rIns="0" bIns="0">
            <a:spAutoFit/>
          </a:bodyPr>
          <a:lstStyle/>
          <a:p>
            <a:pPr algn="l">
              <a:defRPr sz="1100" b="1">
                <a:solidFill>
                  <a:srgbClr val="5E6C84"/>
                </a:solidFill>
                <a:latin typeface="Aptos"/>
              </a:defRPr>
            </a:pPr>
            <a:r>
              <a:t>SRL Macro F1</a:t>
            </a:r>
          </a:p>
        </p:txBody>
      </p:sp>
      <p:sp>
        <p:nvSpPr>
          <p:cNvPr id="16" name="TextBox 15"/>
          <p:cNvSpPr txBox="1"/>
          <p:nvPr/>
        </p:nvSpPr>
        <p:spPr>
          <a:xfrm>
            <a:off x="3319272" y="1325880"/>
            <a:ext cx="1691639" cy="402336"/>
          </a:xfrm>
          <a:prstGeom prst="rect">
            <a:avLst/>
          </a:prstGeom>
          <a:noFill/>
        </p:spPr>
        <p:txBody>
          <a:bodyPr wrap="square" lIns="0" tIns="0" rIns="0" bIns="0">
            <a:spAutoFit/>
          </a:bodyPr>
          <a:lstStyle/>
          <a:p>
            <a:pPr algn="l">
              <a:defRPr sz="2100" b="1">
                <a:solidFill>
                  <a:srgbClr val="0D1B2A"/>
                </a:solidFill>
                <a:latin typeface="Aptos"/>
              </a:defRPr>
            </a:pPr>
            <a:r>
              <a:t>16.2%</a:t>
            </a:r>
          </a:p>
        </p:txBody>
      </p:sp>
      <p:sp>
        <p:nvSpPr>
          <p:cNvPr id="17" name="Rounded Rectangle 16"/>
          <p:cNvSpPr/>
          <p:nvPr/>
        </p:nvSpPr>
        <p:spPr>
          <a:xfrm>
            <a:off x="5394960" y="914400"/>
            <a:ext cx="2103120" cy="91440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5394960" y="914400"/>
            <a:ext cx="109728" cy="914400"/>
          </a:xfrm>
          <a:prstGeom prst="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650992" y="1078992"/>
            <a:ext cx="1691639" cy="256032"/>
          </a:xfrm>
          <a:prstGeom prst="rect">
            <a:avLst/>
          </a:prstGeom>
          <a:noFill/>
        </p:spPr>
        <p:txBody>
          <a:bodyPr wrap="square" lIns="0" tIns="0" rIns="0" bIns="0">
            <a:spAutoFit/>
          </a:bodyPr>
          <a:lstStyle/>
          <a:p>
            <a:pPr algn="l">
              <a:defRPr sz="1100" b="1">
                <a:solidFill>
                  <a:srgbClr val="5E6C84"/>
                </a:solidFill>
                <a:latin typeface="Aptos"/>
              </a:defRPr>
            </a:pPr>
            <a:r>
              <a:t>BIO Accuracy</a:t>
            </a:r>
          </a:p>
        </p:txBody>
      </p:sp>
      <p:sp>
        <p:nvSpPr>
          <p:cNvPr id="20" name="TextBox 19"/>
          <p:cNvSpPr txBox="1"/>
          <p:nvPr/>
        </p:nvSpPr>
        <p:spPr>
          <a:xfrm>
            <a:off x="5650992" y="1325880"/>
            <a:ext cx="1691639" cy="402336"/>
          </a:xfrm>
          <a:prstGeom prst="rect">
            <a:avLst/>
          </a:prstGeom>
          <a:noFill/>
        </p:spPr>
        <p:txBody>
          <a:bodyPr wrap="square" lIns="0" tIns="0" rIns="0" bIns="0">
            <a:spAutoFit/>
          </a:bodyPr>
          <a:lstStyle/>
          <a:p>
            <a:pPr algn="l">
              <a:defRPr sz="2100" b="1">
                <a:solidFill>
                  <a:srgbClr val="0D1B2A"/>
                </a:solidFill>
                <a:latin typeface="Aptos"/>
              </a:defRPr>
            </a:pPr>
            <a:r>
              <a:t>81.6%</a:t>
            </a:r>
          </a:p>
        </p:txBody>
      </p:sp>
      <p:sp>
        <p:nvSpPr>
          <p:cNvPr id="21" name="TextBox 20"/>
          <p:cNvSpPr txBox="1"/>
          <p:nvPr/>
        </p:nvSpPr>
        <p:spPr>
          <a:xfrm>
            <a:off x="731520" y="2148840"/>
            <a:ext cx="4663440" cy="3566160"/>
          </a:xfrm>
          <a:prstGeom prst="rect">
            <a:avLst/>
          </a:prstGeom>
          <a:noFill/>
        </p:spPr>
        <p:txBody>
          <a:bodyPr wrap="square">
            <a:spAutoFit/>
          </a:bodyPr>
          <a:lstStyle/>
          <a:p>
            <a:pPr>
              <a:spcAft>
                <a:spcPts val="700"/>
              </a:spcAft>
              <a:defRPr sz="1700">
                <a:solidFill>
                  <a:srgbClr val="222831"/>
                </a:solidFill>
                <a:latin typeface="Aptos"/>
              </a:defRPr>
            </a:pPr>
            <a:r>
              <a:t>ARG1 and ARG0 dominate performance because they are frequent and structurally stable</a:t>
            </a:r>
          </a:p>
          <a:p>
            <a:pPr>
              <a:spcAft>
                <a:spcPts val="700"/>
              </a:spcAft>
              <a:defRPr sz="1700">
                <a:solidFill>
                  <a:srgbClr val="222831"/>
                </a:solidFill>
                <a:latin typeface="Aptos"/>
              </a:defRPr>
            </a:pPr>
            <a:r>
              <a:t>Modifier roles like ARGM-MOD and ARGM-NEG score very highly when they appear</a:t>
            </a:r>
          </a:p>
          <a:p>
            <a:pPr>
              <a:spcAft>
                <a:spcPts val="700"/>
              </a:spcAft>
              <a:defRPr sz="1700">
                <a:solidFill>
                  <a:srgbClr val="222831"/>
                </a:solidFill>
                <a:latin typeface="Aptos"/>
              </a:defRPr>
            </a:pPr>
            <a:r>
              <a:t>Macro F1 remains low because many specialized labels have extremely small support</a:t>
            </a:r>
          </a:p>
          <a:p>
            <a:pPr>
              <a:spcAft>
                <a:spcPts val="700"/>
              </a:spcAft>
              <a:defRPr sz="1700">
                <a:solidFill>
                  <a:srgbClr val="222831"/>
                </a:solidFill>
                <a:latin typeface="Aptos"/>
              </a:defRPr>
            </a:pPr>
            <a:r>
              <a:t>This gap between micro and macro is a clear long-tail effect rather than a contradiction in the model</a:t>
            </a:r>
          </a:p>
        </p:txBody>
      </p:sp>
      <p:sp>
        <p:nvSpPr>
          <p:cNvPr id="22" name="Rectangle 21"/>
          <p:cNvSpPr/>
          <p:nvPr/>
        </p:nvSpPr>
        <p:spPr>
          <a:xfrm>
            <a:off x="5577840" y="1554480"/>
            <a:ext cx="5760720" cy="4572000"/>
          </a:xfrm>
          <a:prstGeom prst="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3" name="Picture 22" descr="f1_by_argtype.png"/>
          <p:cNvPicPr>
            <a:picLocks noChangeAspect="1"/>
          </p:cNvPicPr>
          <p:nvPr/>
        </p:nvPicPr>
        <p:blipFill>
          <a:blip r:embed="rId3"/>
          <a:stretch>
            <a:fillRect/>
          </a:stretch>
        </p:blipFill>
        <p:spPr>
          <a:xfrm>
            <a:off x="5577840" y="2400300"/>
            <a:ext cx="5760720" cy="2880360"/>
          </a:xfrm>
          <a:prstGeom prst="rect">
            <a:avLst/>
          </a:prstGeom>
        </p:spPr>
      </p:pic>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0352"/>
            <a:ext cx="12191695" cy="54864"/>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8138160" cy="301752"/>
          </a:xfrm>
          <a:prstGeom prst="rect">
            <a:avLst/>
          </a:prstGeom>
          <a:noFill/>
        </p:spPr>
        <p:txBody>
          <a:bodyPr wrap="none">
            <a:spAutoFit/>
          </a:bodyPr>
          <a:lstStyle/>
          <a:p>
            <a:pPr>
              <a:defRPr sz="2800" b="1">
                <a:solidFill>
                  <a:srgbClr val="FFFFFF"/>
                </a:solidFill>
                <a:latin typeface="Aptos Display"/>
              </a:defRPr>
            </a:pPr>
            <a:r>
              <a:t>Per-Question and Per-Role Analysis</a:t>
            </a:r>
          </a:p>
        </p:txBody>
      </p:sp>
      <p:sp>
        <p:nvSpPr>
          <p:cNvPr id="5" name="Rounded Rectangle 4"/>
          <p:cNvSpPr/>
          <p:nvPr/>
        </p:nvSpPr>
        <p:spPr>
          <a:xfrm>
            <a:off x="9966960" y="109728"/>
            <a:ext cx="1783080" cy="274320"/>
          </a:xfrm>
          <a:prstGeom prst="round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D1B2A"/>
                </a:solidFill>
                <a:latin typeface="Aptos"/>
              </a:defRPr>
            </a:pPr>
            <a:r>
              <a:t>ANALYSIS</a:t>
            </a:r>
          </a:p>
        </p:txBody>
      </p:sp>
      <p:sp>
        <p:nvSpPr>
          <p:cNvPr id="6" name="Rectangle 5"/>
          <p:cNvSpPr/>
          <p:nvPr/>
        </p:nvSpPr>
        <p:spPr>
          <a:xfrm>
            <a:off x="365760" y="6519672"/>
            <a:ext cx="11430000" cy="9144"/>
          </a:xfrm>
          <a:prstGeom prst="rect">
            <a:avLst/>
          </a:prstGeom>
          <a:solidFill>
            <a:srgbClr val="D9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537960"/>
            <a:ext cx="10515600" cy="164592"/>
          </a:xfrm>
          <a:prstGeom prst="rect">
            <a:avLst/>
          </a:prstGeom>
          <a:noFill/>
        </p:spPr>
        <p:txBody>
          <a:bodyPr wrap="none">
            <a:spAutoFit/>
          </a:bodyPr>
          <a:lstStyle/>
          <a:p>
            <a:pPr>
              <a:defRPr sz="900">
                <a:solidFill>
                  <a:srgbClr val="5E6C84"/>
                </a:solidFill>
                <a:latin typeface="Aptos"/>
              </a:defRPr>
            </a:pPr>
            <a:r>
              <a:t>PropQA-Net | SRL-Anchored QA | Final Research Presentation</a:t>
            </a:r>
          </a:p>
        </p:txBody>
      </p:sp>
      <p:sp>
        <p:nvSpPr>
          <p:cNvPr id="8" name="TextBox 7"/>
          <p:cNvSpPr txBox="1"/>
          <p:nvPr/>
        </p:nvSpPr>
        <p:spPr>
          <a:xfrm>
            <a:off x="11064240" y="6510528"/>
            <a:ext cx="640080" cy="182880"/>
          </a:xfrm>
          <a:prstGeom prst="rect">
            <a:avLst/>
          </a:prstGeom>
          <a:noFill/>
        </p:spPr>
        <p:txBody>
          <a:bodyPr wrap="none">
            <a:spAutoFit/>
          </a:bodyPr>
          <a:lstStyle/>
          <a:p>
            <a:pPr algn="r">
              <a:defRPr sz="1000" b="1">
                <a:solidFill>
                  <a:srgbClr val="5E6C84"/>
                </a:solidFill>
                <a:latin typeface="Aptos"/>
              </a:defRPr>
            </a:pPr>
            <a:r>
              <a:t>14</a:t>
            </a:r>
          </a:p>
        </p:txBody>
      </p:sp>
      <p:graphicFrame>
        <p:nvGraphicFramePr>
          <p:cNvPr id="9" name="Table 8"/>
          <p:cNvGraphicFramePr>
            <a:graphicFrameLocks noGrp="1"/>
          </p:cNvGraphicFramePr>
          <p:nvPr/>
        </p:nvGraphicFramePr>
        <p:xfrm>
          <a:off x="685800" y="914400"/>
          <a:ext cx="4800600" cy="2971800"/>
        </p:xfrm>
        <a:graphic>
          <a:graphicData uri="http://schemas.openxmlformats.org/drawingml/2006/table">
            <a:tbl>
              <a:tblPr firstRow="1" bandRow="1">
                <a:tableStyleId>{5C22544A-7EE6-4342-B048-85BDC9FD1C3A}</a:tableStyleId>
              </a:tblPr>
              <a:tblGrid>
                <a:gridCol w="1200150">
                  <a:extLst>
                    <a:ext uri="{9D8B030D-6E8A-4147-A177-3AD203B41FA5}">
                      <a16:colId xmlns:a16="http://schemas.microsoft.com/office/drawing/2014/main" val="20000"/>
                    </a:ext>
                  </a:extLst>
                </a:gridCol>
                <a:gridCol w="1200150">
                  <a:extLst>
                    <a:ext uri="{9D8B030D-6E8A-4147-A177-3AD203B41FA5}">
                      <a16:colId xmlns:a16="http://schemas.microsoft.com/office/drawing/2014/main" val="20001"/>
                    </a:ext>
                  </a:extLst>
                </a:gridCol>
                <a:gridCol w="1200150">
                  <a:extLst>
                    <a:ext uri="{9D8B030D-6E8A-4147-A177-3AD203B41FA5}">
                      <a16:colId xmlns:a16="http://schemas.microsoft.com/office/drawing/2014/main" val="20002"/>
                    </a:ext>
                  </a:extLst>
                </a:gridCol>
                <a:gridCol w="1200150">
                  <a:extLst>
                    <a:ext uri="{9D8B030D-6E8A-4147-A177-3AD203B41FA5}">
                      <a16:colId xmlns:a16="http://schemas.microsoft.com/office/drawing/2014/main" val="20003"/>
                    </a:ext>
                  </a:extLst>
                </a:gridCol>
              </a:tblGrid>
              <a:tr h="424542">
                <a:tc>
                  <a:txBody>
                    <a:bodyPr/>
                    <a:lstStyle/>
                    <a:p>
                      <a:pPr algn="ctr">
                        <a:defRPr sz="1100" b="1">
                          <a:solidFill>
                            <a:srgbClr val="FFFFFF"/>
                          </a:solidFill>
                          <a:latin typeface="Aptos"/>
                        </a:defRPr>
                      </a:pPr>
                      <a:r>
                        <a:t>Question Type</a:t>
                      </a:r>
                    </a:p>
                  </a:txBody>
                  <a:tcPr anchor="ctr">
                    <a:solidFill>
                      <a:srgbClr val="0D1B2A"/>
                    </a:solidFill>
                  </a:tcPr>
                </a:tc>
                <a:tc>
                  <a:txBody>
                    <a:bodyPr/>
                    <a:lstStyle/>
                    <a:p>
                      <a:pPr algn="ctr">
                        <a:defRPr sz="1100" b="1">
                          <a:solidFill>
                            <a:srgbClr val="FFFFFF"/>
                          </a:solidFill>
                          <a:latin typeface="Aptos"/>
                        </a:defRPr>
                      </a:pPr>
                      <a:r>
                        <a:t>EM</a:t>
                      </a:r>
                    </a:p>
                  </a:txBody>
                  <a:tcPr anchor="ctr">
                    <a:solidFill>
                      <a:srgbClr val="0D1B2A"/>
                    </a:solidFill>
                  </a:tcPr>
                </a:tc>
                <a:tc>
                  <a:txBody>
                    <a:bodyPr/>
                    <a:lstStyle/>
                    <a:p>
                      <a:pPr algn="ctr">
                        <a:defRPr sz="1100" b="1">
                          <a:solidFill>
                            <a:srgbClr val="FFFFFF"/>
                          </a:solidFill>
                          <a:latin typeface="Aptos"/>
                        </a:defRPr>
                      </a:pPr>
                      <a:r>
                        <a:t>F1</a:t>
                      </a:r>
                    </a:p>
                  </a:txBody>
                  <a:tcPr anchor="ctr">
                    <a:solidFill>
                      <a:srgbClr val="0D1B2A"/>
                    </a:solidFill>
                  </a:tcPr>
                </a:tc>
                <a:tc>
                  <a:txBody>
                    <a:bodyPr/>
                    <a:lstStyle/>
                    <a:p>
                      <a:pPr algn="ctr">
                        <a:defRPr sz="1100" b="1">
                          <a:solidFill>
                            <a:srgbClr val="FFFFFF"/>
                          </a:solidFill>
                          <a:latin typeface="Aptos"/>
                        </a:defRPr>
                      </a:pPr>
                      <a:r>
                        <a:t>Count</a:t>
                      </a:r>
                    </a:p>
                  </a:txBody>
                  <a:tcPr anchor="ctr">
                    <a:solidFill>
                      <a:srgbClr val="0D1B2A"/>
                    </a:solidFill>
                  </a:tcPr>
                </a:tc>
                <a:extLst>
                  <a:ext uri="{0D108BD9-81ED-4DB2-BD59-A6C34878D82A}">
                    <a16:rowId xmlns:a16="http://schemas.microsoft.com/office/drawing/2014/main" val="10000"/>
                  </a:ext>
                </a:extLst>
              </a:tr>
              <a:tr h="424542">
                <a:tc>
                  <a:txBody>
                    <a:bodyPr/>
                    <a:lstStyle/>
                    <a:p>
                      <a:pPr algn="l">
                        <a:defRPr sz="1100" b="0">
                          <a:solidFill>
                            <a:srgbClr val="222831"/>
                          </a:solidFill>
                          <a:latin typeface="Aptos"/>
                        </a:defRPr>
                      </a:pPr>
                      <a:r>
                        <a:t>WHO</a:t>
                      </a:r>
                    </a:p>
                  </a:txBody>
                  <a:tcPr anchor="ctr">
                    <a:solidFill>
                      <a:srgbClr val="FFFFFF"/>
                    </a:solidFill>
                  </a:tcPr>
                </a:tc>
                <a:tc>
                  <a:txBody>
                    <a:bodyPr/>
                    <a:lstStyle/>
                    <a:p>
                      <a:pPr algn="l">
                        <a:defRPr sz="1100" b="0">
                          <a:solidFill>
                            <a:srgbClr val="222831"/>
                          </a:solidFill>
                          <a:latin typeface="Aptos"/>
                        </a:defRPr>
                      </a:pPr>
                      <a:r>
                        <a:t>61.8%</a:t>
                      </a:r>
                    </a:p>
                  </a:txBody>
                  <a:tcPr anchor="ctr">
                    <a:solidFill>
                      <a:srgbClr val="FFFFFF"/>
                    </a:solidFill>
                  </a:tcPr>
                </a:tc>
                <a:tc>
                  <a:txBody>
                    <a:bodyPr/>
                    <a:lstStyle/>
                    <a:p>
                      <a:pPr algn="l">
                        <a:defRPr sz="1100" b="0">
                          <a:solidFill>
                            <a:srgbClr val="222831"/>
                          </a:solidFill>
                          <a:latin typeface="Aptos"/>
                        </a:defRPr>
                      </a:pPr>
                      <a:r>
                        <a:t>77.9%</a:t>
                      </a:r>
                    </a:p>
                  </a:txBody>
                  <a:tcPr anchor="ctr">
                    <a:solidFill>
                      <a:srgbClr val="FFFFFF"/>
                    </a:solidFill>
                  </a:tcPr>
                </a:tc>
                <a:tc>
                  <a:txBody>
                    <a:bodyPr/>
                    <a:lstStyle/>
                    <a:p>
                      <a:pPr algn="l">
                        <a:defRPr sz="1100" b="0">
                          <a:solidFill>
                            <a:srgbClr val="222831"/>
                          </a:solidFill>
                          <a:latin typeface="Aptos"/>
                        </a:defRPr>
                      </a:pPr>
                      <a:r>
                        <a:t>867</a:t>
                      </a:r>
                    </a:p>
                  </a:txBody>
                  <a:tcPr anchor="ctr">
                    <a:solidFill>
                      <a:srgbClr val="FFFFFF"/>
                    </a:solidFill>
                  </a:tcPr>
                </a:tc>
                <a:extLst>
                  <a:ext uri="{0D108BD9-81ED-4DB2-BD59-A6C34878D82A}">
                    <a16:rowId xmlns:a16="http://schemas.microsoft.com/office/drawing/2014/main" val="10001"/>
                  </a:ext>
                </a:extLst>
              </a:tr>
              <a:tr h="424542">
                <a:tc>
                  <a:txBody>
                    <a:bodyPr/>
                    <a:lstStyle/>
                    <a:p>
                      <a:pPr algn="l">
                        <a:defRPr sz="1100" b="0">
                          <a:solidFill>
                            <a:srgbClr val="222831"/>
                          </a:solidFill>
                          <a:latin typeface="Aptos"/>
                        </a:defRPr>
                      </a:pPr>
                      <a:r>
                        <a:t>WHAT</a:t>
                      </a:r>
                    </a:p>
                  </a:txBody>
                  <a:tcPr anchor="ctr">
                    <a:solidFill>
                      <a:srgbClr val="FFFFFF"/>
                    </a:solidFill>
                  </a:tcPr>
                </a:tc>
                <a:tc>
                  <a:txBody>
                    <a:bodyPr/>
                    <a:lstStyle/>
                    <a:p>
                      <a:pPr algn="l">
                        <a:defRPr sz="1100" b="0">
                          <a:solidFill>
                            <a:srgbClr val="222831"/>
                          </a:solidFill>
                          <a:latin typeface="Aptos"/>
                        </a:defRPr>
                      </a:pPr>
                      <a:r>
                        <a:t>50.5%</a:t>
                      </a:r>
                    </a:p>
                  </a:txBody>
                  <a:tcPr anchor="ctr">
                    <a:solidFill>
                      <a:srgbClr val="FFFFFF"/>
                    </a:solidFill>
                  </a:tcPr>
                </a:tc>
                <a:tc>
                  <a:txBody>
                    <a:bodyPr/>
                    <a:lstStyle/>
                    <a:p>
                      <a:pPr algn="l">
                        <a:defRPr sz="1100" b="0">
                          <a:solidFill>
                            <a:srgbClr val="222831"/>
                          </a:solidFill>
                          <a:latin typeface="Aptos"/>
                        </a:defRPr>
                      </a:pPr>
                      <a:r>
                        <a:t>80.2%</a:t>
                      </a:r>
                    </a:p>
                  </a:txBody>
                  <a:tcPr anchor="ctr">
                    <a:solidFill>
                      <a:srgbClr val="FFFFFF"/>
                    </a:solidFill>
                  </a:tcPr>
                </a:tc>
                <a:tc>
                  <a:txBody>
                    <a:bodyPr/>
                    <a:lstStyle/>
                    <a:p>
                      <a:pPr algn="l">
                        <a:defRPr sz="1100" b="0">
                          <a:solidFill>
                            <a:srgbClr val="222831"/>
                          </a:solidFill>
                          <a:latin typeface="Aptos"/>
                        </a:defRPr>
                      </a:pPr>
                      <a:r>
                        <a:t>1937</a:t>
                      </a:r>
                    </a:p>
                  </a:txBody>
                  <a:tcPr anchor="ctr">
                    <a:solidFill>
                      <a:srgbClr val="FFFFFF"/>
                    </a:solidFill>
                  </a:tcPr>
                </a:tc>
                <a:extLst>
                  <a:ext uri="{0D108BD9-81ED-4DB2-BD59-A6C34878D82A}">
                    <a16:rowId xmlns:a16="http://schemas.microsoft.com/office/drawing/2014/main" val="10002"/>
                  </a:ext>
                </a:extLst>
              </a:tr>
              <a:tr h="424542">
                <a:tc>
                  <a:txBody>
                    <a:bodyPr/>
                    <a:lstStyle/>
                    <a:p>
                      <a:pPr algn="l">
                        <a:defRPr sz="1100" b="0">
                          <a:solidFill>
                            <a:srgbClr val="222831"/>
                          </a:solidFill>
                          <a:latin typeface="Aptos"/>
                        </a:defRPr>
                      </a:pPr>
                      <a:r>
                        <a:t>WHEN</a:t>
                      </a:r>
                    </a:p>
                  </a:txBody>
                  <a:tcPr anchor="ctr">
                    <a:solidFill>
                      <a:srgbClr val="FFFFFF"/>
                    </a:solidFill>
                  </a:tcPr>
                </a:tc>
                <a:tc>
                  <a:txBody>
                    <a:bodyPr/>
                    <a:lstStyle/>
                    <a:p>
                      <a:pPr algn="l">
                        <a:defRPr sz="1100" b="0">
                          <a:solidFill>
                            <a:srgbClr val="222831"/>
                          </a:solidFill>
                          <a:latin typeface="Aptos"/>
                        </a:defRPr>
                      </a:pPr>
                      <a:r>
                        <a:t>56.5%</a:t>
                      </a:r>
                    </a:p>
                  </a:txBody>
                  <a:tcPr anchor="ctr">
                    <a:solidFill>
                      <a:srgbClr val="FFFFFF"/>
                    </a:solidFill>
                  </a:tcPr>
                </a:tc>
                <a:tc>
                  <a:txBody>
                    <a:bodyPr/>
                    <a:lstStyle/>
                    <a:p>
                      <a:pPr algn="l">
                        <a:defRPr sz="1100" b="0">
                          <a:solidFill>
                            <a:srgbClr val="222831"/>
                          </a:solidFill>
                          <a:latin typeface="Aptos"/>
                        </a:defRPr>
                      </a:pPr>
                      <a:r>
                        <a:t>68.7%</a:t>
                      </a:r>
                    </a:p>
                  </a:txBody>
                  <a:tcPr anchor="ctr">
                    <a:solidFill>
                      <a:srgbClr val="FFFFFF"/>
                    </a:solidFill>
                  </a:tcPr>
                </a:tc>
                <a:tc>
                  <a:txBody>
                    <a:bodyPr/>
                    <a:lstStyle/>
                    <a:p>
                      <a:pPr algn="l">
                        <a:defRPr sz="1100" b="0">
                          <a:solidFill>
                            <a:srgbClr val="222831"/>
                          </a:solidFill>
                          <a:latin typeface="Aptos"/>
                        </a:defRPr>
                      </a:pPr>
                      <a:r>
                        <a:t>246</a:t>
                      </a:r>
                    </a:p>
                  </a:txBody>
                  <a:tcPr anchor="ctr">
                    <a:solidFill>
                      <a:srgbClr val="FFFFFF"/>
                    </a:solidFill>
                  </a:tcPr>
                </a:tc>
                <a:extLst>
                  <a:ext uri="{0D108BD9-81ED-4DB2-BD59-A6C34878D82A}">
                    <a16:rowId xmlns:a16="http://schemas.microsoft.com/office/drawing/2014/main" val="10003"/>
                  </a:ext>
                </a:extLst>
              </a:tr>
              <a:tr h="424542">
                <a:tc>
                  <a:txBody>
                    <a:bodyPr/>
                    <a:lstStyle/>
                    <a:p>
                      <a:pPr algn="l">
                        <a:defRPr sz="1100" b="0">
                          <a:solidFill>
                            <a:srgbClr val="222831"/>
                          </a:solidFill>
                          <a:latin typeface="Aptos"/>
                        </a:defRPr>
                      </a:pPr>
                      <a:r>
                        <a:t>WHERE</a:t>
                      </a:r>
                    </a:p>
                  </a:txBody>
                  <a:tcPr anchor="ctr">
                    <a:solidFill>
                      <a:srgbClr val="FFFFFF"/>
                    </a:solidFill>
                  </a:tcPr>
                </a:tc>
                <a:tc>
                  <a:txBody>
                    <a:bodyPr/>
                    <a:lstStyle/>
                    <a:p>
                      <a:pPr algn="l">
                        <a:defRPr sz="1100" b="0">
                          <a:solidFill>
                            <a:srgbClr val="222831"/>
                          </a:solidFill>
                          <a:latin typeface="Aptos"/>
                        </a:defRPr>
                      </a:pPr>
                      <a:r>
                        <a:t>38.2%</a:t>
                      </a:r>
                    </a:p>
                  </a:txBody>
                  <a:tcPr anchor="ctr">
                    <a:solidFill>
                      <a:srgbClr val="FFFFFF"/>
                    </a:solidFill>
                  </a:tcPr>
                </a:tc>
                <a:tc>
                  <a:txBody>
                    <a:bodyPr/>
                    <a:lstStyle/>
                    <a:p>
                      <a:pPr algn="l">
                        <a:defRPr sz="1100" b="0">
                          <a:solidFill>
                            <a:srgbClr val="222831"/>
                          </a:solidFill>
                          <a:latin typeface="Aptos"/>
                        </a:defRPr>
                      </a:pPr>
                      <a:r>
                        <a:t>61.9%</a:t>
                      </a:r>
                    </a:p>
                  </a:txBody>
                  <a:tcPr anchor="ctr">
                    <a:solidFill>
                      <a:srgbClr val="FFFFFF"/>
                    </a:solidFill>
                  </a:tcPr>
                </a:tc>
                <a:tc>
                  <a:txBody>
                    <a:bodyPr/>
                    <a:lstStyle/>
                    <a:p>
                      <a:pPr algn="l">
                        <a:defRPr sz="1100" b="0">
                          <a:solidFill>
                            <a:srgbClr val="222831"/>
                          </a:solidFill>
                          <a:latin typeface="Aptos"/>
                        </a:defRPr>
                      </a:pPr>
                      <a:r>
                        <a:t>110</a:t>
                      </a:r>
                    </a:p>
                  </a:txBody>
                  <a:tcPr anchor="ctr">
                    <a:solidFill>
                      <a:srgbClr val="FFFFFF"/>
                    </a:solidFill>
                  </a:tcPr>
                </a:tc>
                <a:extLst>
                  <a:ext uri="{0D108BD9-81ED-4DB2-BD59-A6C34878D82A}">
                    <a16:rowId xmlns:a16="http://schemas.microsoft.com/office/drawing/2014/main" val="10004"/>
                  </a:ext>
                </a:extLst>
              </a:tr>
              <a:tr h="424542">
                <a:tc>
                  <a:txBody>
                    <a:bodyPr/>
                    <a:lstStyle/>
                    <a:p>
                      <a:pPr algn="l">
                        <a:defRPr sz="1100" b="0">
                          <a:solidFill>
                            <a:srgbClr val="222831"/>
                          </a:solidFill>
                          <a:latin typeface="Aptos"/>
                        </a:defRPr>
                      </a:pPr>
                      <a:r>
                        <a:t>HOW</a:t>
                      </a:r>
                    </a:p>
                  </a:txBody>
                  <a:tcPr anchor="ctr">
                    <a:solidFill>
                      <a:srgbClr val="FFFFFF"/>
                    </a:solidFill>
                  </a:tcPr>
                </a:tc>
                <a:tc>
                  <a:txBody>
                    <a:bodyPr/>
                    <a:lstStyle/>
                    <a:p>
                      <a:pPr algn="l">
                        <a:defRPr sz="1100" b="0">
                          <a:solidFill>
                            <a:srgbClr val="222831"/>
                          </a:solidFill>
                          <a:latin typeface="Aptos"/>
                        </a:defRPr>
                      </a:pPr>
                      <a:r>
                        <a:t>35.9%</a:t>
                      </a:r>
                    </a:p>
                  </a:txBody>
                  <a:tcPr anchor="ctr">
                    <a:solidFill>
                      <a:srgbClr val="FFFFFF"/>
                    </a:solidFill>
                  </a:tcPr>
                </a:tc>
                <a:tc>
                  <a:txBody>
                    <a:bodyPr/>
                    <a:lstStyle/>
                    <a:p>
                      <a:pPr algn="l">
                        <a:defRPr sz="1100" b="0">
                          <a:solidFill>
                            <a:srgbClr val="222831"/>
                          </a:solidFill>
                          <a:latin typeface="Aptos"/>
                        </a:defRPr>
                      </a:pPr>
                      <a:r>
                        <a:t>53.0%</a:t>
                      </a:r>
                    </a:p>
                  </a:txBody>
                  <a:tcPr anchor="ctr">
                    <a:solidFill>
                      <a:srgbClr val="FFFFFF"/>
                    </a:solidFill>
                  </a:tcPr>
                </a:tc>
                <a:tc>
                  <a:txBody>
                    <a:bodyPr/>
                    <a:lstStyle/>
                    <a:p>
                      <a:pPr algn="l">
                        <a:defRPr sz="1100" b="0">
                          <a:solidFill>
                            <a:srgbClr val="222831"/>
                          </a:solidFill>
                          <a:latin typeface="Aptos"/>
                        </a:defRPr>
                      </a:pPr>
                      <a:r>
                        <a:t>234</a:t>
                      </a:r>
                    </a:p>
                  </a:txBody>
                  <a:tcPr anchor="ctr">
                    <a:solidFill>
                      <a:srgbClr val="FFFFFF"/>
                    </a:solidFill>
                  </a:tcPr>
                </a:tc>
                <a:extLst>
                  <a:ext uri="{0D108BD9-81ED-4DB2-BD59-A6C34878D82A}">
                    <a16:rowId xmlns:a16="http://schemas.microsoft.com/office/drawing/2014/main" val="10005"/>
                  </a:ext>
                </a:extLst>
              </a:tr>
              <a:tr h="424548">
                <a:tc>
                  <a:txBody>
                    <a:bodyPr/>
                    <a:lstStyle/>
                    <a:p>
                      <a:pPr algn="l">
                        <a:defRPr sz="1100" b="0">
                          <a:solidFill>
                            <a:srgbClr val="222831"/>
                          </a:solidFill>
                          <a:latin typeface="Aptos"/>
                        </a:defRPr>
                      </a:pPr>
                      <a:r>
                        <a:t>WHY</a:t>
                      </a:r>
                    </a:p>
                  </a:txBody>
                  <a:tcPr anchor="ctr">
                    <a:solidFill>
                      <a:srgbClr val="FFFFFF"/>
                    </a:solidFill>
                  </a:tcPr>
                </a:tc>
                <a:tc>
                  <a:txBody>
                    <a:bodyPr/>
                    <a:lstStyle/>
                    <a:p>
                      <a:pPr algn="l">
                        <a:defRPr sz="1100" b="0">
                          <a:solidFill>
                            <a:srgbClr val="222831"/>
                          </a:solidFill>
                          <a:latin typeface="Aptos"/>
                        </a:defRPr>
                      </a:pPr>
                      <a:r>
                        <a:t>17.5%</a:t>
                      </a:r>
                    </a:p>
                  </a:txBody>
                  <a:tcPr anchor="ctr">
                    <a:solidFill>
                      <a:srgbClr val="FFFFFF"/>
                    </a:solidFill>
                  </a:tcPr>
                </a:tc>
                <a:tc>
                  <a:txBody>
                    <a:bodyPr/>
                    <a:lstStyle/>
                    <a:p>
                      <a:pPr algn="l">
                        <a:defRPr sz="1100" b="0">
                          <a:solidFill>
                            <a:srgbClr val="222831"/>
                          </a:solidFill>
                          <a:latin typeface="Aptos"/>
                        </a:defRPr>
                      </a:pPr>
                      <a:r>
                        <a:t>63.4%</a:t>
                      </a:r>
                    </a:p>
                  </a:txBody>
                  <a:tcPr anchor="ctr">
                    <a:solidFill>
                      <a:srgbClr val="FFFFFF"/>
                    </a:solidFill>
                  </a:tcPr>
                </a:tc>
                <a:tc>
                  <a:txBody>
                    <a:bodyPr/>
                    <a:lstStyle/>
                    <a:p>
                      <a:pPr algn="l">
                        <a:defRPr sz="1100" b="0">
                          <a:solidFill>
                            <a:srgbClr val="222831"/>
                          </a:solidFill>
                          <a:latin typeface="Aptos"/>
                        </a:defRPr>
                      </a:pPr>
                      <a:r>
                        <a:t>57</a:t>
                      </a:r>
                    </a:p>
                  </a:txBody>
                  <a:tcPr anchor="ctr">
                    <a:solidFill>
                      <a:srgbClr val="FFFFFF"/>
                    </a:solidFill>
                  </a:tcPr>
                </a:tc>
                <a:extLst>
                  <a:ext uri="{0D108BD9-81ED-4DB2-BD59-A6C34878D82A}">
                    <a16:rowId xmlns:a16="http://schemas.microsoft.com/office/drawing/2014/main" val="10006"/>
                  </a:ext>
                </a:extLst>
              </a:tr>
            </a:tbl>
          </a:graphicData>
        </a:graphic>
      </p:graphicFrame>
      <p:graphicFrame>
        <p:nvGraphicFramePr>
          <p:cNvPr id="10" name="Table 9"/>
          <p:cNvGraphicFramePr>
            <a:graphicFrameLocks noGrp="1"/>
          </p:cNvGraphicFramePr>
          <p:nvPr/>
        </p:nvGraphicFramePr>
        <p:xfrm>
          <a:off x="685800" y="4160520"/>
          <a:ext cx="4800600" cy="1828800"/>
        </p:xfrm>
        <a:graphic>
          <a:graphicData uri="http://schemas.openxmlformats.org/drawingml/2006/table">
            <a:tbl>
              <a:tblPr firstRow="1" bandRow="1">
                <a:tableStyleId>{5C22544A-7EE6-4342-B048-85BDC9FD1C3A}</a:tableStyleId>
              </a:tblPr>
              <a:tblGrid>
                <a:gridCol w="16002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tblGrid>
              <a:tr h="261257">
                <a:tc>
                  <a:txBody>
                    <a:bodyPr/>
                    <a:lstStyle/>
                    <a:p>
                      <a:pPr algn="ctr">
                        <a:defRPr sz="1100" b="1">
                          <a:solidFill>
                            <a:srgbClr val="FFFFFF"/>
                          </a:solidFill>
                          <a:latin typeface="Aptos"/>
                        </a:defRPr>
                      </a:pPr>
                      <a:r>
                        <a:t>Role</a:t>
                      </a:r>
                    </a:p>
                  </a:txBody>
                  <a:tcPr anchor="ctr">
                    <a:solidFill>
                      <a:srgbClr val="0D1B2A"/>
                    </a:solidFill>
                  </a:tcPr>
                </a:tc>
                <a:tc>
                  <a:txBody>
                    <a:bodyPr/>
                    <a:lstStyle/>
                    <a:p>
                      <a:pPr algn="ctr">
                        <a:defRPr sz="1100" b="1">
                          <a:solidFill>
                            <a:srgbClr val="FFFFFF"/>
                          </a:solidFill>
                          <a:latin typeface="Aptos"/>
                        </a:defRPr>
                      </a:pPr>
                      <a:r>
                        <a:t>F1</a:t>
                      </a:r>
                    </a:p>
                  </a:txBody>
                  <a:tcPr anchor="ctr">
                    <a:solidFill>
                      <a:srgbClr val="0D1B2A"/>
                    </a:solidFill>
                  </a:tcPr>
                </a:tc>
                <a:tc>
                  <a:txBody>
                    <a:bodyPr/>
                    <a:lstStyle/>
                    <a:p>
                      <a:pPr algn="ctr">
                        <a:defRPr sz="1100" b="1">
                          <a:solidFill>
                            <a:srgbClr val="FFFFFF"/>
                          </a:solidFill>
                          <a:latin typeface="Aptos"/>
                        </a:defRPr>
                      </a:pPr>
                      <a:r>
                        <a:t>Support</a:t>
                      </a:r>
                    </a:p>
                  </a:txBody>
                  <a:tcPr anchor="ctr">
                    <a:solidFill>
                      <a:srgbClr val="0D1B2A"/>
                    </a:solidFill>
                  </a:tcPr>
                </a:tc>
                <a:extLst>
                  <a:ext uri="{0D108BD9-81ED-4DB2-BD59-A6C34878D82A}">
                    <a16:rowId xmlns:a16="http://schemas.microsoft.com/office/drawing/2014/main" val="10000"/>
                  </a:ext>
                </a:extLst>
              </a:tr>
              <a:tr h="261257">
                <a:tc>
                  <a:txBody>
                    <a:bodyPr/>
                    <a:lstStyle/>
                    <a:p>
                      <a:pPr algn="l">
                        <a:defRPr sz="1100" b="0">
                          <a:solidFill>
                            <a:srgbClr val="222831"/>
                          </a:solidFill>
                          <a:latin typeface="Aptos"/>
                        </a:defRPr>
                      </a:pPr>
                      <a:r>
                        <a:t>ARG1</a:t>
                      </a:r>
                    </a:p>
                  </a:txBody>
                  <a:tcPr anchor="ctr">
                    <a:solidFill>
                      <a:srgbClr val="FFFFFF"/>
                    </a:solidFill>
                  </a:tcPr>
                </a:tc>
                <a:tc>
                  <a:txBody>
                    <a:bodyPr/>
                    <a:lstStyle/>
                    <a:p>
                      <a:pPr algn="l">
                        <a:defRPr sz="1100" b="0">
                          <a:solidFill>
                            <a:srgbClr val="222831"/>
                          </a:solidFill>
                          <a:latin typeface="Aptos"/>
                        </a:defRPr>
                      </a:pPr>
                      <a:r>
                        <a:t>85.2%</a:t>
                      </a:r>
                    </a:p>
                  </a:txBody>
                  <a:tcPr anchor="ctr">
                    <a:solidFill>
                      <a:srgbClr val="FFFFFF"/>
                    </a:solidFill>
                  </a:tcPr>
                </a:tc>
                <a:tc>
                  <a:txBody>
                    <a:bodyPr/>
                    <a:lstStyle/>
                    <a:p>
                      <a:pPr algn="l">
                        <a:defRPr sz="1100" b="0">
                          <a:solidFill>
                            <a:srgbClr val="222831"/>
                          </a:solidFill>
                          <a:latin typeface="Aptos"/>
                        </a:defRPr>
                      </a:pPr>
                      <a:r>
                        <a:t>22246</a:t>
                      </a:r>
                    </a:p>
                  </a:txBody>
                  <a:tcPr anchor="ctr">
                    <a:solidFill>
                      <a:srgbClr val="FFFFFF"/>
                    </a:solidFill>
                  </a:tcPr>
                </a:tc>
                <a:extLst>
                  <a:ext uri="{0D108BD9-81ED-4DB2-BD59-A6C34878D82A}">
                    <a16:rowId xmlns:a16="http://schemas.microsoft.com/office/drawing/2014/main" val="10001"/>
                  </a:ext>
                </a:extLst>
              </a:tr>
              <a:tr h="261257">
                <a:tc>
                  <a:txBody>
                    <a:bodyPr/>
                    <a:lstStyle/>
                    <a:p>
                      <a:pPr algn="l">
                        <a:defRPr sz="1100" b="0">
                          <a:solidFill>
                            <a:srgbClr val="222831"/>
                          </a:solidFill>
                          <a:latin typeface="Aptos"/>
                        </a:defRPr>
                      </a:pPr>
                      <a:r>
                        <a:t>ARG0</a:t>
                      </a:r>
                    </a:p>
                  </a:txBody>
                  <a:tcPr anchor="ctr">
                    <a:solidFill>
                      <a:srgbClr val="FFFFFF"/>
                    </a:solidFill>
                  </a:tcPr>
                </a:tc>
                <a:tc>
                  <a:txBody>
                    <a:bodyPr/>
                    <a:lstStyle/>
                    <a:p>
                      <a:pPr algn="l">
                        <a:defRPr sz="1100" b="0">
                          <a:solidFill>
                            <a:srgbClr val="222831"/>
                          </a:solidFill>
                          <a:latin typeface="Aptos"/>
                        </a:defRPr>
                      </a:pPr>
                      <a:r>
                        <a:t>77.9%</a:t>
                      </a:r>
                    </a:p>
                  </a:txBody>
                  <a:tcPr anchor="ctr">
                    <a:solidFill>
                      <a:srgbClr val="FFFFFF"/>
                    </a:solidFill>
                  </a:tcPr>
                </a:tc>
                <a:tc>
                  <a:txBody>
                    <a:bodyPr/>
                    <a:lstStyle/>
                    <a:p>
                      <a:pPr algn="l">
                        <a:defRPr sz="1100" b="0">
                          <a:solidFill>
                            <a:srgbClr val="222831"/>
                          </a:solidFill>
                          <a:latin typeface="Aptos"/>
                        </a:defRPr>
                      </a:pPr>
                      <a:r>
                        <a:t>7546</a:t>
                      </a:r>
                    </a:p>
                  </a:txBody>
                  <a:tcPr anchor="ctr">
                    <a:solidFill>
                      <a:srgbClr val="FFFFFF"/>
                    </a:solidFill>
                  </a:tcPr>
                </a:tc>
                <a:extLst>
                  <a:ext uri="{0D108BD9-81ED-4DB2-BD59-A6C34878D82A}">
                    <a16:rowId xmlns:a16="http://schemas.microsoft.com/office/drawing/2014/main" val="10002"/>
                  </a:ext>
                </a:extLst>
              </a:tr>
              <a:tr h="261257">
                <a:tc>
                  <a:txBody>
                    <a:bodyPr/>
                    <a:lstStyle/>
                    <a:p>
                      <a:pPr algn="l">
                        <a:defRPr sz="1100" b="0">
                          <a:solidFill>
                            <a:srgbClr val="222831"/>
                          </a:solidFill>
                          <a:latin typeface="Aptos"/>
                        </a:defRPr>
                      </a:pPr>
                      <a:r>
                        <a:t>ARGM-CAU</a:t>
                      </a:r>
                    </a:p>
                  </a:txBody>
                  <a:tcPr anchor="ctr">
                    <a:solidFill>
                      <a:srgbClr val="FFFFFF"/>
                    </a:solidFill>
                  </a:tcPr>
                </a:tc>
                <a:tc>
                  <a:txBody>
                    <a:bodyPr/>
                    <a:lstStyle/>
                    <a:p>
                      <a:pPr algn="l">
                        <a:defRPr sz="1100" b="0">
                          <a:solidFill>
                            <a:srgbClr val="222831"/>
                          </a:solidFill>
                          <a:latin typeface="Aptos"/>
                        </a:defRPr>
                      </a:pPr>
                      <a:r>
                        <a:t>70.6%</a:t>
                      </a:r>
                    </a:p>
                  </a:txBody>
                  <a:tcPr anchor="ctr">
                    <a:solidFill>
                      <a:srgbClr val="FFFFFF"/>
                    </a:solidFill>
                  </a:tcPr>
                </a:tc>
                <a:tc>
                  <a:txBody>
                    <a:bodyPr/>
                    <a:lstStyle/>
                    <a:p>
                      <a:pPr algn="l">
                        <a:defRPr sz="1100" b="0">
                          <a:solidFill>
                            <a:srgbClr val="222831"/>
                          </a:solidFill>
                          <a:latin typeface="Aptos"/>
                        </a:defRPr>
                      </a:pPr>
                      <a:r>
                        <a:t>933</a:t>
                      </a:r>
                    </a:p>
                  </a:txBody>
                  <a:tcPr anchor="ctr">
                    <a:solidFill>
                      <a:srgbClr val="FFFFFF"/>
                    </a:solidFill>
                  </a:tcPr>
                </a:tc>
                <a:extLst>
                  <a:ext uri="{0D108BD9-81ED-4DB2-BD59-A6C34878D82A}">
                    <a16:rowId xmlns:a16="http://schemas.microsoft.com/office/drawing/2014/main" val="10003"/>
                  </a:ext>
                </a:extLst>
              </a:tr>
              <a:tr h="261257">
                <a:tc>
                  <a:txBody>
                    <a:bodyPr/>
                    <a:lstStyle/>
                    <a:p>
                      <a:pPr algn="l">
                        <a:defRPr sz="1100" b="0">
                          <a:solidFill>
                            <a:srgbClr val="222831"/>
                          </a:solidFill>
                          <a:latin typeface="Aptos"/>
                        </a:defRPr>
                      </a:pPr>
                      <a:r>
                        <a:t>ARGM-TMP</a:t>
                      </a:r>
                    </a:p>
                  </a:txBody>
                  <a:tcPr anchor="ctr">
                    <a:solidFill>
                      <a:srgbClr val="FFFFFF"/>
                    </a:solidFill>
                  </a:tcPr>
                </a:tc>
                <a:tc>
                  <a:txBody>
                    <a:bodyPr/>
                    <a:lstStyle/>
                    <a:p>
                      <a:pPr algn="l">
                        <a:defRPr sz="1100" b="0">
                          <a:solidFill>
                            <a:srgbClr val="222831"/>
                          </a:solidFill>
                          <a:latin typeface="Aptos"/>
                        </a:defRPr>
                      </a:pPr>
                      <a:r>
                        <a:t>58.8%</a:t>
                      </a:r>
                    </a:p>
                  </a:txBody>
                  <a:tcPr anchor="ctr">
                    <a:solidFill>
                      <a:srgbClr val="FFFFFF"/>
                    </a:solidFill>
                  </a:tcPr>
                </a:tc>
                <a:tc>
                  <a:txBody>
                    <a:bodyPr/>
                    <a:lstStyle/>
                    <a:p>
                      <a:pPr algn="l">
                        <a:defRPr sz="1100" b="0">
                          <a:solidFill>
                            <a:srgbClr val="222831"/>
                          </a:solidFill>
                          <a:latin typeface="Aptos"/>
                        </a:defRPr>
                      </a:pPr>
                      <a:r>
                        <a:t>3006</a:t>
                      </a:r>
                    </a:p>
                  </a:txBody>
                  <a:tcPr anchor="ctr">
                    <a:solidFill>
                      <a:srgbClr val="FFFFFF"/>
                    </a:solidFill>
                  </a:tcPr>
                </a:tc>
                <a:extLst>
                  <a:ext uri="{0D108BD9-81ED-4DB2-BD59-A6C34878D82A}">
                    <a16:rowId xmlns:a16="http://schemas.microsoft.com/office/drawing/2014/main" val="10004"/>
                  </a:ext>
                </a:extLst>
              </a:tr>
              <a:tr h="261257">
                <a:tc>
                  <a:txBody>
                    <a:bodyPr/>
                    <a:lstStyle/>
                    <a:p>
                      <a:pPr algn="l">
                        <a:defRPr sz="1100" b="0">
                          <a:solidFill>
                            <a:srgbClr val="222831"/>
                          </a:solidFill>
                          <a:latin typeface="Aptos"/>
                        </a:defRPr>
                      </a:pPr>
                      <a:r>
                        <a:t>ARGM-LOC</a:t>
                      </a:r>
                    </a:p>
                  </a:txBody>
                  <a:tcPr anchor="ctr">
                    <a:solidFill>
                      <a:srgbClr val="FFFFFF"/>
                    </a:solidFill>
                  </a:tcPr>
                </a:tc>
                <a:tc>
                  <a:txBody>
                    <a:bodyPr/>
                    <a:lstStyle/>
                    <a:p>
                      <a:pPr algn="l">
                        <a:defRPr sz="1100" b="0">
                          <a:solidFill>
                            <a:srgbClr val="222831"/>
                          </a:solidFill>
                          <a:latin typeface="Aptos"/>
                        </a:defRPr>
                      </a:pPr>
                      <a:r>
                        <a:t>52.2%</a:t>
                      </a:r>
                    </a:p>
                  </a:txBody>
                  <a:tcPr anchor="ctr">
                    <a:solidFill>
                      <a:srgbClr val="FFFFFF"/>
                    </a:solidFill>
                  </a:tcPr>
                </a:tc>
                <a:tc>
                  <a:txBody>
                    <a:bodyPr/>
                    <a:lstStyle/>
                    <a:p>
                      <a:pPr algn="l">
                        <a:defRPr sz="1100" b="0">
                          <a:solidFill>
                            <a:srgbClr val="222831"/>
                          </a:solidFill>
                          <a:latin typeface="Aptos"/>
                        </a:defRPr>
                      </a:pPr>
                      <a:r>
                        <a:t>1576</a:t>
                      </a:r>
                    </a:p>
                  </a:txBody>
                  <a:tcPr anchor="ctr">
                    <a:solidFill>
                      <a:srgbClr val="FFFFFF"/>
                    </a:solidFill>
                  </a:tcPr>
                </a:tc>
                <a:extLst>
                  <a:ext uri="{0D108BD9-81ED-4DB2-BD59-A6C34878D82A}">
                    <a16:rowId xmlns:a16="http://schemas.microsoft.com/office/drawing/2014/main" val="10005"/>
                  </a:ext>
                </a:extLst>
              </a:tr>
              <a:tr h="261258">
                <a:tc>
                  <a:txBody>
                    <a:bodyPr/>
                    <a:lstStyle/>
                    <a:p>
                      <a:pPr algn="l">
                        <a:defRPr sz="1100" b="0">
                          <a:solidFill>
                            <a:srgbClr val="222831"/>
                          </a:solidFill>
                          <a:latin typeface="Aptos"/>
                        </a:defRPr>
                      </a:pPr>
                      <a:r>
                        <a:t>ARGM-MNR</a:t>
                      </a:r>
                    </a:p>
                  </a:txBody>
                  <a:tcPr anchor="ctr">
                    <a:solidFill>
                      <a:srgbClr val="FFFFFF"/>
                    </a:solidFill>
                  </a:tcPr>
                </a:tc>
                <a:tc>
                  <a:txBody>
                    <a:bodyPr/>
                    <a:lstStyle/>
                    <a:p>
                      <a:pPr algn="l">
                        <a:defRPr sz="1100" b="0">
                          <a:solidFill>
                            <a:srgbClr val="222831"/>
                          </a:solidFill>
                          <a:latin typeface="Aptos"/>
                        </a:defRPr>
                      </a:pPr>
                      <a:r>
                        <a:t>30.2%</a:t>
                      </a:r>
                    </a:p>
                  </a:txBody>
                  <a:tcPr anchor="ctr">
                    <a:solidFill>
                      <a:srgbClr val="FFFFFF"/>
                    </a:solidFill>
                  </a:tcPr>
                </a:tc>
                <a:tc>
                  <a:txBody>
                    <a:bodyPr/>
                    <a:lstStyle/>
                    <a:p>
                      <a:pPr algn="l">
                        <a:defRPr sz="1100" b="0">
                          <a:solidFill>
                            <a:srgbClr val="222831"/>
                          </a:solidFill>
                          <a:latin typeface="Aptos"/>
                        </a:defRPr>
                      </a:pPr>
                      <a:r>
                        <a:t>1269</a:t>
                      </a:r>
                    </a:p>
                  </a:txBody>
                  <a:tcPr anchor="ctr">
                    <a:solidFill>
                      <a:srgbClr val="FFFFFF"/>
                    </a:solidFill>
                  </a:tcPr>
                </a:tc>
                <a:extLst>
                  <a:ext uri="{0D108BD9-81ED-4DB2-BD59-A6C34878D82A}">
                    <a16:rowId xmlns:a16="http://schemas.microsoft.com/office/drawing/2014/main" val="10006"/>
                  </a:ext>
                </a:extLst>
              </a:tr>
            </a:tbl>
          </a:graphicData>
        </a:graphic>
      </p:graphicFrame>
      <p:sp>
        <p:nvSpPr>
          <p:cNvPr id="11" name="TextBox 10"/>
          <p:cNvSpPr txBox="1"/>
          <p:nvPr/>
        </p:nvSpPr>
        <p:spPr>
          <a:xfrm>
            <a:off x="5669280" y="1005840"/>
            <a:ext cx="5486400" cy="1828800"/>
          </a:xfrm>
          <a:prstGeom prst="rect">
            <a:avLst/>
          </a:prstGeom>
          <a:noFill/>
        </p:spPr>
        <p:txBody>
          <a:bodyPr wrap="square">
            <a:spAutoFit/>
          </a:bodyPr>
          <a:lstStyle/>
          <a:p>
            <a:pPr>
              <a:spcAft>
                <a:spcPts val="700"/>
              </a:spcAft>
              <a:defRPr sz="1800">
                <a:solidFill>
                  <a:srgbClr val="222831"/>
                </a:solidFill>
                <a:latin typeface="Aptos"/>
              </a:defRPr>
            </a:pPr>
            <a:r>
              <a:t>The baseline is semantically useful, but not uniformly strong across every role or question type</a:t>
            </a:r>
          </a:p>
          <a:p>
            <a:pPr>
              <a:spcAft>
                <a:spcPts val="700"/>
              </a:spcAft>
              <a:defRPr sz="1800">
                <a:solidFill>
                  <a:srgbClr val="222831"/>
                </a:solidFill>
                <a:latin typeface="Aptos"/>
              </a:defRPr>
            </a:pPr>
            <a:r>
              <a:t>WHY and some modifier-heavy categories are the clearest opportunities for targeted improvements</a:t>
            </a:r>
          </a:p>
          <a:p>
            <a:pPr>
              <a:spcAft>
                <a:spcPts val="700"/>
              </a:spcAft>
              <a:defRPr sz="1800">
                <a:solidFill>
                  <a:srgbClr val="222831"/>
                </a:solidFill>
                <a:latin typeface="Aptos"/>
              </a:defRPr>
            </a:pPr>
            <a:r>
              <a:t>This analysis directly motivates the hybrid role-aware benchmark extension</a:t>
            </a:r>
          </a:p>
        </p:txBody>
      </p:sp>
      <p:sp>
        <p:nvSpPr>
          <p:cNvPr id="12" name="Rectangle 11"/>
          <p:cNvSpPr/>
          <p:nvPr/>
        </p:nvSpPr>
        <p:spPr>
          <a:xfrm>
            <a:off x="5623560" y="2743200"/>
            <a:ext cx="5623560" cy="3291840"/>
          </a:xfrm>
          <a:prstGeom prst="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3" name="Picture 12" descr="question_type_heatmap.png"/>
          <p:cNvPicPr>
            <a:picLocks noChangeAspect="1"/>
          </p:cNvPicPr>
          <p:nvPr/>
        </p:nvPicPr>
        <p:blipFill>
          <a:blip r:embed="rId3"/>
          <a:stretch>
            <a:fillRect/>
          </a:stretch>
        </p:blipFill>
        <p:spPr>
          <a:xfrm>
            <a:off x="5623560" y="3264408"/>
            <a:ext cx="5623560" cy="2249424"/>
          </a:xfrm>
          <a:prstGeom prst="rect">
            <a:avLst/>
          </a:prstGeom>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0352"/>
            <a:ext cx="12191695" cy="54864"/>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8138160" cy="301752"/>
          </a:xfrm>
          <a:prstGeom prst="rect">
            <a:avLst/>
          </a:prstGeom>
          <a:noFill/>
        </p:spPr>
        <p:txBody>
          <a:bodyPr wrap="none">
            <a:spAutoFit/>
          </a:bodyPr>
          <a:lstStyle/>
          <a:p>
            <a:pPr>
              <a:defRPr sz="2800" b="1">
                <a:solidFill>
                  <a:srgbClr val="FFFFFF"/>
                </a:solidFill>
                <a:latin typeface="Aptos Display"/>
              </a:defRPr>
            </a:pPr>
            <a:r>
              <a:t>Confusion Structure</a:t>
            </a:r>
          </a:p>
        </p:txBody>
      </p:sp>
      <p:sp>
        <p:nvSpPr>
          <p:cNvPr id="5" name="Rounded Rectangle 4"/>
          <p:cNvSpPr/>
          <p:nvPr/>
        </p:nvSpPr>
        <p:spPr>
          <a:xfrm>
            <a:off x="9966960" y="109728"/>
            <a:ext cx="1783080" cy="274320"/>
          </a:xfrm>
          <a:prstGeom prst="round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D1B2A"/>
                </a:solidFill>
                <a:latin typeface="Aptos"/>
              </a:defRPr>
            </a:pPr>
            <a:r>
              <a:t>ANALYSIS</a:t>
            </a:r>
          </a:p>
        </p:txBody>
      </p:sp>
      <p:sp>
        <p:nvSpPr>
          <p:cNvPr id="6" name="Rectangle 5"/>
          <p:cNvSpPr/>
          <p:nvPr/>
        </p:nvSpPr>
        <p:spPr>
          <a:xfrm>
            <a:off x="365760" y="6519672"/>
            <a:ext cx="11430000" cy="9144"/>
          </a:xfrm>
          <a:prstGeom prst="rect">
            <a:avLst/>
          </a:prstGeom>
          <a:solidFill>
            <a:srgbClr val="D9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537960"/>
            <a:ext cx="10515600" cy="164592"/>
          </a:xfrm>
          <a:prstGeom prst="rect">
            <a:avLst/>
          </a:prstGeom>
          <a:noFill/>
        </p:spPr>
        <p:txBody>
          <a:bodyPr wrap="none">
            <a:spAutoFit/>
          </a:bodyPr>
          <a:lstStyle/>
          <a:p>
            <a:pPr>
              <a:defRPr sz="900">
                <a:solidFill>
                  <a:srgbClr val="5E6C84"/>
                </a:solidFill>
                <a:latin typeface="Aptos"/>
              </a:defRPr>
            </a:pPr>
            <a:r>
              <a:t>PropQA-Net | SRL-Anchored QA | Final Research Presentation</a:t>
            </a:r>
          </a:p>
        </p:txBody>
      </p:sp>
      <p:sp>
        <p:nvSpPr>
          <p:cNvPr id="8" name="TextBox 7"/>
          <p:cNvSpPr txBox="1"/>
          <p:nvPr/>
        </p:nvSpPr>
        <p:spPr>
          <a:xfrm>
            <a:off x="11064240" y="6510528"/>
            <a:ext cx="640080" cy="182880"/>
          </a:xfrm>
          <a:prstGeom prst="rect">
            <a:avLst/>
          </a:prstGeom>
          <a:noFill/>
        </p:spPr>
        <p:txBody>
          <a:bodyPr wrap="none">
            <a:spAutoFit/>
          </a:bodyPr>
          <a:lstStyle/>
          <a:p>
            <a:pPr algn="r">
              <a:defRPr sz="1000" b="1">
                <a:solidFill>
                  <a:srgbClr val="5E6C84"/>
                </a:solidFill>
                <a:latin typeface="Aptos"/>
              </a:defRPr>
            </a:pPr>
            <a:r>
              <a:t>15</a:t>
            </a:r>
          </a:p>
        </p:txBody>
      </p:sp>
      <p:sp>
        <p:nvSpPr>
          <p:cNvPr id="9" name="TextBox 8"/>
          <p:cNvSpPr txBox="1"/>
          <p:nvPr/>
        </p:nvSpPr>
        <p:spPr>
          <a:xfrm>
            <a:off x="685800" y="914400"/>
            <a:ext cx="4389120" cy="3291840"/>
          </a:xfrm>
          <a:prstGeom prst="rect">
            <a:avLst/>
          </a:prstGeom>
          <a:noFill/>
        </p:spPr>
        <p:txBody>
          <a:bodyPr wrap="square">
            <a:spAutoFit/>
          </a:bodyPr>
          <a:lstStyle/>
          <a:p>
            <a:pPr>
              <a:spcAft>
                <a:spcPts val="700"/>
              </a:spcAft>
              <a:defRPr sz="1700">
                <a:solidFill>
                  <a:srgbClr val="222831"/>
                </a:solidFill>
                <a:latin typeface="Aptos"/>
              </a:defRPr>
            </a:pPr>
            <a:r>
              <a:t>Frequent roles dominate the prediction landscape, which is expected in PropBank-style corpora</a:t>
            </a:r>
          </a:p>
          <a:p>
            <a:pPr>
              <a:spcAft>
                <a:spcPts val="700"/>
              </a:spcAft>
              <a:defRPr sz="1700">
                <a:solidFill>
                  <a:srgbClr val="222831"/>
                </a:solidFill>
                <a:latin typeface="Aptos"/>
              </a:defRPr>
            </a:pPr>
            <a:r>
              <a:t>Confusions often occur when a plausible span fits the sentence but not the intended semantic role</a:t>
            </a:r>
          </a:p>
          <a:p>
            <a:pPr>
              <a:spcAft>
                <a:spcPts val="700"/>
              </a:spcAft>
              <a:defRPr sz="1700">
                <a:solidFill>
                  <a:srgbClr val="222831"/>
                </a:solidFill>
                <a:latin typeface="Aptos"/>
              </a:defRPr>
            </a:pPr>
            <a:r>
              <a:t>Object-like, location-like, and recipient-like spans are especially important for later reranking</a:t>
            </a:r>
          </a:p>
          <a:p>
            <a:pPr>
              <a:spcAft>
                <a:spcPts val="700"/>
              </a:spcAft>
              <a:defRPr sz="1700">
                <a:solidFill>
                  <a:srgbClr val="222831"/>
                </a:solidFill>
                <a:latin typeface="Aptos"/>
              </a:defRPr>
            </a:pPr>
            <a:r>
              <a:t>This plot motivates explicit role-match features rather than relying on boundary confidence alone</a:t>
            </a:r>
          </a:p>
        </p:txBody>
      </p:sp>
      <p:sp>
        <p:nvSpPr>
          <p:cNvPr id="10" name="Rectangle 9"/>
          <p:cNvSpPr/>
          <p:nvPr/>
        </p:nvSpPr>
        <p:spPr>
          <a:xfrm>
            <a:off x="5074920" y="868680"/>
            <a:ext cx="6400800" cy="5394960"/>
          </a:xfrm>
          <a:prstGeom prst="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confusion_matrix.png"/>
          <p:cNvPicPr>
            <a:picLocks noChangeAspect="1"/>
          </p:cNvPicPr>
          <p:nvPr/>
        </p:nvPicPr>
        <p:blipFill>
          <a:blip r:embed="rId3"/>
          <a:stretch>
            <a:fillRect/>
          </a:stretch>
        </p:blipFill>
        <p:spPr>
          <a:xfrm>
            <a:off x="5192485" y="868680"/>
            <a:ext cx="6165668" cy="5394960"/>
          </a:xfrm>
          <a:prstGeom prst="rect">
            <a:avLst/>
          </a:prstGeom>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0352"/>
            <a:ext cx="12191695" cy="54864"/>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8138160" cy="301752"/>
          </a:xfrm>
          <a:prstGeom prst="rect">
            <a:avLst/>
          </a:prstGeom>
          <a:noFill/>
        </p:spPr>
        <p:txBody>
          <a:bodyPr wrap="none">
            <a:spAutoFit/>
          </a:bodyPr>
          <a:lstStyle/>
          <a:p>
            <a:pPr>
              <a:defRPr sz="2800" b="1">
                <a:solidFill>
                  <a:srgbClr val="FFFFFF"/>
                </a:solidFill>
                <a:latin typeface="Aptos Display"/>
              </a:defRPr>
            </a:pPr>
            <a:r>
              <a:t>Challenge Benchmark Results</a:t>
            </a:r>
          </a:p>
        </p:txBody>
      </p:sp>
      <p:sp>
        <p:nvSpPr>
          <p:cNvPr id="5" name="Rounded Rectangle 4"/>
          <p:cNvSpPr/>
          <p:nvPr/>
        </p:nvSpPr>
        <p:spPr>
          <a:xfrm>
            <a:off x="9966960" y="109728"/>
            <a:ext cx="1783080" cy="274320"/>
          </a:xfrm>
          <a:prstGeom prst="round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D1B2A"/>
                </a:solidFill>
                <a:latin typeface="Aptos"/>
              </a:defRPr>
            </a:pPr>
            <a:r>
              <a:t>RESULTS</a:t>
            </a:r>
          </a:p>
        </p:txBody>
      </p:sp>
      <p:sp>
        <p:nvSpPr>
          <p:cNvPr id="6" name="Rectangle 5"/>
          <p:cNvSpPr/>
          <p:nvPr/>
        </p:nvSpPr>
        <p:spPr>
          <a:xfrm>
            <a:off x="365760" y="6519672"/>
            <a:ext cx="11430000" cy="9144"/>
          </a:xfrm>
          <a:prstGeom prst="rect">
            <a:avLst/>
          </a:prstGeom>
          <a:solidFill>
            <a:srgbClr val="D9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537960"/>
            <a:ext cx="10515600" cy="164592"/>
          </a:xfrm>
          <a:prstGeom prst="rect">
            <a:avLst/>
          </a:prstGeom>
          <a:noFill/>
        </p:spPr>
        <p:txBody>
          <a:bodyPr wrap="none">
            <a:spAutoFit/>
          </a:bodyPr>
          <a:lstStyle/>
          <a:p>
            <a:pPr>
              <a:defRPr sz="900">
                <a:solidFill>
                  <a:srgbClr val="5E6C84"/>
                </a:solidFill>
                <a:latin typeface="Aptos"/>
              </a:defRPr>
            </a:pPr>
            <a:r>
              <a:t>PropQA-Net | SRL-Anchored QA | Final Research Presentation</a:t>
            </a:r>
          </a:p>
        </p:txBody>
      </p:sp>
      <p:sp>
        <p:nvSpPr>
          <p:cNvPr id="8" name="TextBox 7"/>
          <p:cNvSpPr txBox="1"/>
          <p:nvPr/>
        </p:nvSpPr>
        <p:spPr>
          <a:xfrm>
            <a:off x="11064240" y="6510528"/>
            <a:ext cx="640080" cy="182880"/>
          </a:xfrm>
          <a:prstGeom prst="rect">
            <a:avLst/>
          </a:prstGeom>
          <a:noFill/>
        </p:spPr>
        <p:txBody>
          <a:bodyPr wrap="none">
            <a:spAutoFit/>
          </a:bodyPr>
          <a:lstStyle/>
          <a:p>
            <a:pPr algn="r">
              <a:defRPr sz="1000" b="1">
                <a:solidFill>
                  <a:srgbClr val="5E6C84"/>
                </a:solidFill>
                <a:latin typeface="Aptos"/>
              </a:defRPr>
            </a:pPr>
            <a:r>
              <a:t>18</a:t>
            </a:r>
          </a:p>
        </p:txBody>
      </p:sp>
      <p:graphicFrame>
        <p:nvGraphicFramePr>
          <p:cNvPr id="9" name="Table 8"/>
          <p:cNvGraphicFramePr>
            <a:graphicFrameLocks noGrp="1"/>
          </p:cNvGraphicFramePr>
          <p:nvPr/>
        </p:nvGraphicFramePr>
        <p:xfrm>
          <a:off x="685800" y="960120"/>
          <a:ext cx="4663440" cy="2148840"/>
        </p:xfrm>
        <a:graphic>
          <a:graphicData uri="http://schemas.openxmlformats.org/drawingml/2006/table">
            <a:tbl>
              <a:tblPr firstRow="1" bandRow="1">
                <a:tableStyleId>{5C22544A-7EE6-4342-B048-85BDC9FD1C3A}</a:tableStyleId>
              </a:tblPr>
              <a:tblGrid>
                <a:gridCol w="932688">
                  <a:extLst>
                    <a:ext uri="{9D8B030D-6E8A-4147-A177-3AD203B41FA5}">
                      <a16:colId xmlns:a16="http://schemas.microsoft.com/office/drawing/2014/main" val="20000"/>
                    </a:ext>
                  </a:extLst>
                </a:gridCol>
                <a:gridCol w="932688">
                  <a:extLst>
                    <a:ext uri="{9D8B030D-6E8A-4147-A177-3AD203B41FA5}">
                      <a16:colId xmlns:a16="http://schemas.microsoft.com/office/drawing/2014/main" val="20001"/>
                    </a:ext>
                  </a:extLst>
                </a:gridCol>
                <a:gridCol w="932688">
                  <a:extLst>
                    <a:ext uri="{9D8B030D-6E8A-4147-A177-3AD203B41FA5}">
                      <a16:colId xmlns:a16="http://schemas.microsoft.com/office/drawing/2014/main" val="20002"/>
                    </a:ext>
                  </a:extLst>
                </a:gridCol>
                <a:gridCol w="932688">
                  <a:extLst>
                    <a:ext uri="{9D8B030D-6E8A-4147-A177-3AD203B41FA5}">
                      <a16:colId xmlns:a16="http://schemas.microsoft.com/office/drawing/2014/main" val="20003"/>
                    </a:ext>
                  </a:extLst>
                </a:gridCol>
                <a:gridCol w="932688">
                  <a:extLst>
                    <a:ext uri="{9D8B030D-6E8A-4147-A177-3AD203B41FA5}">
                      <a16:colId xmlns:a16="http://schemas.microsoft.com/office/drawing/2014/main" val="20004"/>
                    </a:ext>
                  </a:extLst>
                </a:gridCol>
              </a:tblGrid>
              <a:tr h="429768">
                <a:tc>
                  <a:txBody>
                    <a:bodyPr/>
                    <a:lstStyle/>
                    <a:p>
                      <a:pPr algn="ctr">
                        <a:defRPr sz="1100" b="1">
                          <a:solidFill>
                            <a:srgbClr val="FFFFFF"/>
                          </a:solidFill>
                          <a:latin typeface="Aptos"/>
                        </a:defRPr>
                      </a:pPr>
                      <a:r>
                        <a:t>Track</a:t>
                      </a:r>
                    </a:p>
                  </a:txBody>
                  <a:tcPr anchor="ctr">
                    <a:solidFill>
                      <a:srgbClr val="0D1B2A"/>
                    </a:solidFill>
                  </a:tcPr>
                </a:tc>
                <a:tc>
                  <a:txBody>
                    <a:bodyPr/>
                    <a:lstStyle/>
                    <a:p>
                      <a:pPr algn="ctr">
                        <a:defRPr sz="1100" b="1">
                          <a:solidFill>
                            <a:srgbClr val="FFFFFF"/>
                          </a:solidFill>
                          <a:latin typeface="Aptos"/>
                        </a:defRPr>
                      </a:pPr>
                      <a:r>
                        <a:t>EM</a:t>
                      </a:r>
                    </a:p>
                  </a:txBody>
                  <a:tcPr anchor="ctr">
                    <a:solidFill>
                      <a:srgbClr val="0D1B2A"/>
                    </a:solidFill>
                  </a:tcPr>
                </a:tc>
                <a:tc>
                  <a:txBody>
                    <a:bodyPr/>
                    <a:lstStyle/>
                    <a:p>
                      <a:pPr algn="ctr">
                        <a:defRPr sz="1100" b="1">
                          <a:solidFill>
                            <a:srgbClr val="FFFFFF"/>
                          </a:solidFill>
                          <a:latin typeface="Aptos"/>
                        </a:defRPr>
                      </a:pPr>
                      <a:r>
                        <a:t>F1</a:t>
                      </a:r>
                    </a:p>
                  </a:txBody>
                  <a:tcPr anchor="ctr">
                    <a:solidFill>
                      <a:srgbClr val="0D1B2A"/>
                    </a:solidFill>
                  </a:tcPr>
                </a:tc>
                <a:tc>
                  <a:txBody>
                    <a:bodyPr/>
                    <a:lstStyle/>
                    <a:p>
                      <a:pPr algn="ctr">
                        <a:defRPr sz="1100" b="1">
                          <a:solidFill>
                            <a:srgbClr val="FFFFFF"/>
                          </a:solidFill>
                          <a:latin typeface="Aptos"/>
                        </a:defRPr>
                      </a:pPr>
                      <a:r>
                        <a:t>Role Acc.</a:t>
                      </a:r>
                    </a:p>
                  </a:txBody>
                  <a:tcPr anchor="ctr">
                    <a:solidFill>
                      <a:srgbClr val="0D1B2A"/>
                    </a:solidFill>
                  </a:tcPr>
                </a:tc>
                <a:tc>
                  <a:txBody>
                    <a:bodyPr/>
                    <a:lstStyle/>
                    <a:p>
                      <a:pPr algn="ctr">
                        <a:defRPr sz="1100" b="1">
                          <a:solidFill>
                            <a:srgbClr val="FFFFFF"/>
                          </a:solidFill>
                          <a:latin typeface="Aptos"/>
                        </a:defRPr>
                      </a:pPr>
                      <a:r>
                        <a:t>Latency (ms)</a:t>
                      </a:r>
                    </a:p>
                  </a:txBody>
                  <a:tcPr anchor="ctr">
                    <a:solidFill>
                      <a:srgbClr val="0D1B2A"/>
                    </a:solidFill>
                  </a:tcPr>
                </a:tc>
                <a:extLst>
                  <a:ext uri="{0D108BD9-81ED-4DB2-BD59-A6C34878D82A}">
                    <a16:rowId xmlns:a16="http://schemas.microsoft.com/office/drawing/2014/main" val="10000"/>
                  </a:ext>
                </a:extLst>
              </a:tr>
              <a:tr h="429768">
                <a:tc>
                  <a:txBody>
                    <a:bodyPr/>
                    <a:lstStyle/>
                    <a:p>
                      <a:pPr algn="l">
                        <a:defRPr sz="1100" b="0">
                          <a:solidFill>
                            <a:srgbClr val="222831"/>
                          </a:solidFill>
                          <a:latin typeface="Aptos"/>
                        </a:defRPr>
                      </a:pPr>
                      <a:r>
                        <a:t>Classical baseline</a:t>
                      </a:r>
                    </a:p>
                  </a:txBody>
                  <a:tcPr anchor="ctr">
                    <a:solidFill>
                      <a:srgbClr val="FFFFFF"/>
                    </a:solidFill>
                  </a:tcPr>
                </a:tc>
                <a:tc>
                  <a:txBody>
                    <a:bodyPr/>
                    <a:lstStyle/>
                    <a:p>
                      <a:pPr algn="l">
                        <a:defRPr sz="1100" b="0">
                          <a:solidFill>
                            <a:srgbClr val="222831"/>
                          </a:solidFill>
                          <a:latin typeface="Aptos"/>
                        </a:defRPr>
                      </a:pPr>
                      <a:r>
                        <a:t>10.0%</a:t>
                      </a:r>
                    </a:p>
                  </a:txBody>
                  <a:tcPr anchor="ctr">
                    <a:solidFill>
                      <a:srgbClr val="FFFFFF"/>
                    </a:solidFill>
                  </a:tcPr>
                </a:tc>
                <a:tc>
                  <a:txBody>
                    <a:bodyPr/>
                    <a:lstStyle/>
                    <a:p>
                      <a:pPr algn="l">
                        <a:defRPr sz="1100" b="0">
                          <a:solidFill>
                            <a:srgbClr val="222831"/>
                          </a:solidFill>
                          <a:latin typeface="Aptos"/>
                        </a:defRPr>
                      </a:pPr>
                      <a:r>
                        <a:t>47.0%</a:t>
                      </a:r>
                    </a:p>
                  </a:txBody>
                  <a:tcPr anchor="ctr">
                    <a:solidFill>
                      <a:srgbClr val="FFFFFF"/>
                    </a:solidFill>
                  </a:tcPr>
                </a:tc>
                <a:tc>
                  <a:txBody>
                    <a:bodyPr/>
                    <a:lstStyle/>
                    <a:p>
                      <a:pPr algn="l">
                        <a:defRPr sz="1100" b="0">
                          <a:solidFill>
                            <a:srgbClr val="222831"/>
                          </a:solidFill>
                          <a:latin typeface="Aptos"/>
                        </a:defRPr>
                      </a:pPr>
                      <a:r>
                        <a:t>20.0%</a:t>
                      </a:r>
                    </a:p>
                  </a:txBody>
                  <a:tcPr anchor="ctr">
                    <a:solidFill>
                      <a:srgbClr val="FFFFFF"/>
                    </a:solidFill>
                  </a:tcPr>
                </a:tc>
                <a:tc>
                  <a:txBody>
                    <a:bodyPr/>
                    <a:lstStyle/>
                    <a:p>
                      <a:pPr algn="l">
                        <a:defRPr sz="1100" b="0">
                          <a:solidFill>
                            <a:srgbClr val="222831"/>
                          </a:solidFill>
                          <a:latin typeface="Aptos"/>
                        </a:defRPr>
                      </a:pPr>
                      <a:r>
                        <a:t>2.89</a:t>
                      </a:r>
                    </a:p>
                  </a:txBody>
                  <a:tcPr anchor="ctr">
                    <a:solidFill>
                      <a:srgbClr val="FFFFFF"/>
                    </a:solidFill>
                  </a:tcPr>
                </a:tc>
                <a:extLst>
                  <a:ext uri="{0D108BD9-81ED-4DB2-BD59-A6C34878D82A}">
                    <a16:rowId xmlns:a16="http://schemas.microsoft.com/office/drawing/2014/main" val="10001"/>
                  </a:ext>
                </a:extLst>
              </a:tr>
              <a:tr h="429768">
                <a:tc>
                  <a:txBody>
                    <a:bodyPr/>
                    <a:lstStyle/>
                    <a:p>
                      <a:pPr algn="l">
                        <a:defRPr sz="1100" b="0">
                          <a:solidFill>
                            <a:srgbClr val="222831"/>
                          </a:solidFill>
                          <a:latin typeface="Aptos"/>
                        </a:defRPr>
                      </a:pPr>
                      <a:r>
                        <a:t>Heuristic reranker</a:t>
                      </a:r>
                    </a:p>
                  </a:txBody>
                  <a:tcPr anchor="ctr">
                    <a:solidFill>
                      <a:srgbClr val="FFFFFF"/>
                    </a:solidFill>
                  </a:tcPr>
                </a:tc>
                <a:tc>
                  <a:txBody>
                    <a:bodyPr/>
                    <a:lstStyle/>
                    <a:p>
                      <a:pPr algn="l">
                        <a:defRPr sz="1100" b="0">
                          <a:solidFill>
                            <a:srgbClr val="222831"/>
                          </a:solidFill>
                          <a:latin typeface="Aptos"/>
                        </a:defRPr>
                      </a:pPr>
                      <a:r>
                        <a:t>60.0%</a:t>
                      </a:r>
                    </a:p>
                  </a:txBody>
                  <a:tcPr anchor="ctr">
                    <a:solidFill>
                      <a:srgbClr val="FFFFFF"/>
                    </a:solidFill>
                  </a:tcPr>
                </a:tc>
                <a:tc>
                  <a:txBody>
                    <a:bodyPr/>
                    <a:lstStyle/>
                    <a:p>
                      <a:pPr algn="l">
                        <a:defRPr sz="1100" b="0">
                          <a:solidFill>
                            <a:srgbClr val="222831"/>
                          </a:solidFill>
                          <a:latin typeface="Aptos"/>
                        </a:defRPr>
                      </a:pPr>
                      <a:r>
                        <a:t>78.0%</a:t>
                      </a:r>
                    </a:p>
                  </a:txBody>
                  <a:tcPr anchor="ctr">
                    <a:solidFill>
                      <a:srgbClr val="FFFFFF"/>
                    </a:solidFill>
                  </a:tcPr>
                </a:tc>
                <a:tc>
                  <a:txBody>
                    <a:bodyPr/>
                    <a:lstStyle/>
                    <a:p>
                      <a:pPr algn="l">
                        <a:defRPr sz="1100" b="0">
                          <a:solidFill>
                            <a:srgbClr val="222831"/>
                          </a:solidFill>
                          <a:latin typeface="Aptos"/>
                        </a:defRPr>
                      </a:pPr>
                      <a:r>
                        <a:t>100.0%</a:t>
                      </a:r>
                    </a:p>
                  </a:txBody>
                  <a:tcPr anchor="ctr">
                    <a:solidFill>
                      <a:srgbClr val="FFFFFF"/>
                    </a:solidFill>
                  </a:tcPr>
                </a:tc>
                <a:tc>
                  <a:txBody>
                    <a:bodyPr/>
                    <a:lstStyle/>
                    <a:p>
                      <a:pPr algn="l">
                        <a:defRPr sz="1100" b="0">
                          <a:solidFill>
                            <a:srgbClr val="222831"/>
                          </a:solidFill>
                          <a:latin typeface="Aptos"/>
                        </a:defRPr>
                      </a:pPr>
                      <a:r>
                        <a:t>3.26</a:t>
                      </a:r>
                    </a:p>
                  </a:txBody>
                  <a:tcPr anchor="ctr">
                    <a:solidFill>
                      <a:srgbClr val="FFFFFF"/>
                    </a:solidFill>
                  </a:tcPr>
                </a:tc>
                <a:extLst>
                  <a:ext uri="{0D108BD9-81ED-4DB2-BD59-A6C34878D82A}">
                    <a16:rowId xmlns:a16="http://schemas.microsoft.com/office/drawing/2014/main" val="10002"/>
                  </a:ext>
                </a:extLst>
              </a:tr>
              <a:tr h="429768">
                <a:tc>
                  <a:txBody>
                    <a:bodyPr/>
                    <a:lstStyle/>
                    <a:p>
                      <a:pPr algn="l">
                        <a:defRPr sz="1100" b="0">
                          <a:solidFill>
                            <a:srgbClr val="222831"/>
                          </a:solidFill>
                          <a:latin typeface="Aptos"/>
                        </a:defRPr>
                      </a:pPr>
                      <a:r>
                        <a:t>Transformer assist</a:t>
                      </a:r>
                    </a:p>
                  </a:txBody>
                  <a:tcPr anchor="ctr">
                    <a:solidFill>
                      <a:srgbClr val="FFFFFF"/>
                    </a:solidFill>
                  </a:tcPr>
                </a:tc>
                <a:tc>
                  <a:txBody>
                    <a:bodyPr/>
                    <a:lstStyle/>
                    <a:p>
                      <a:pPr algn="l">
                        <a:defRPr sz="1100" b="0">
                          <a:solidFill>
                            <a:srgbClr val="222831"/>
                          </a:solidFill>
                          <a:latin typeface="Aptos"/>
                        </a:defRPr>
                      </a:pPr>
                      <a:r>
                        <a:t>60.0%</a:t>
                      </a:r>
                    </a:p>
                  </a:txBody>
                  <a:tcPr anchor="ctr">
                    <a:solidFill>
                      <a:srgbClr val="FFFFFF"/>
                    </a:solidFill>
                  </a:tcPr>
                </a:tc>
                <a:tc>
                  <a:txBody>
                    <a:bodyPr/>
                    <a:lstStyle/>
                    <a:p>
                      <a:pPr algn="l">
                        <a:defRPr sz="1100" b="0">
                          <a:solidFill>
                            <a:srgbClr val="222831"/>
                          </a:solidFill>
                          <a:latin typeface="Aptos"/>
                        </a:defRPr>
                      </a:pPr>
                      <a:r>
                        <a:t>78.0%</a:t>
                      </a:r>
                    </a:p>
                  </a:txBody>
                  <a:tcPr anchor="ctr">
                    <a:solidFill>
                      <a:srgbClr val="FFFFFF"/>
                    </a:solidFill>
                  </a:tcPr>
                </a:tc>
                <a:tc>
                  <a:txBody>
                    <a:bodyPr/>
                    <a:lstStyle/>
                    <a:p>
                      <a:pPr algn="l">
                        <a:defRPr sz="1100" b="0">
                          <a:solidFill>
                            <a:srgbClr val="222831"/>
                          </a:solidFill>
                          <a:latin typeface="Aptos"/>
                        </a:defRPr>
                      </a:pPr>
                      <a:r>
                        <a:t>100.0%</a:t>
                      </a:r>
                    </a:p>
                  </a:txBody>
                  <a:tcPr anchor="ctr">
                    <a:solidFill>
                      <a:srgbClr val="FFFFFF"/>
                    </a:solidFill>
                  </a:tcPr>
                </a:tc>
                <a:tc>
                  <a:txBody>
                    <a:bodyPr/>
                    <a:lstStyle/>
                    <a:p>
                      <a:pPr algn="l">
                        <a:defRPr sz="1100" b="0">
                          <a:solidFill>
                            <a:srgbClr val="222831"/>
                          </a:solidFill>
                          <a:latin typeface="Aptos"/>
                        </a:defRPr>
                      </a:pPr>
                      <a:r>
                        <a:t>285.43</a:t>
                      </a:r>
                    </a:p>
                  </a:txBody>
                  <a:tcPr anchor="ctr">
                    <a:solidFill>
                      <a:srgbClr val="FFFFFF"/>
                    </a:solidFill>
                  </a:tcPr>
                </a:tc>
                <a:extLst>
                  <a:ext uri="{0D108BD9-81ED-4DB2-BD59-A6C34878D82A}">
                    <a16:rowId xmlns:a16="http://schemas.microsoft.com/office/drawing/2014/main" val="10003"/>
                  </a:ext>
                </a:extLst>
              </a:tr>
              <a:tr h="429768">
                <a:tc>
                  <a:txBody>
                    <a:bodyPr/>
                    <a:lstStyle/>
                    <a:p>
                      <a:pPr algn="l">
                        <a:defRPr sz="1100" b="0">
                          <a:solidFill>
                            <a:srgbClr val="222831"/>
                          </a:solidFill>
                          <a:latin typeface="Aptos"/>
                        </a:defRPr>
                      </a:pPr>
                      <a:r>
                        <a:t>Full hybrid</a:t>
                      </a:r>
                    </a:p>
                  </a:txBody>
                  <a:tcPr anchor="ctr">
                    <a:solidFill>
                      <a:srgbClr val="FFFFFF"/>
                    </a:solidFill>
                  </a:tcPr>
                </a:tc>
                <a:tc>
                  <a:txBody>
                    <a:bodyPr/>
                    <a:lstStyle/>
                    <a:p>
                      <a:pPr algn="l">
                        <a:defRPr sz="1100" b="0">
                          <a:solidFill>
                            <a:srgbClr val="222831"/>
                          </a:solidFill>
                          <a:latin typeface="Aptos"/>
                        </a:defRPr>
                      </a:pPr>
                      <a:r>
                        <a:t>60.0%</a:t>
                      </a:r>
                    </a:p>
                  </a:txBody>
                  <a:tcPr anchor="ctr">
                    <a:solidFill>
                      <a:srgbClr val="FFFFFF"/>
                    </a:solidFill>
                  </a:tcPr>
                </a:tc>
                <a:tc>
                  <a:txBody>
                    <a:bodyPr/>
                    <a:lstStyle/>
                    <a:p>
                      <a:pPr algn="l">
                        <a:defRPr sz="1100" b="0">
                          <a:solidFill>
                            <a:srgbClr val="222831"/>
                          </a:solidFill>
                          <a:latin typeface="Aptos"/>
                        </a:defRPr>
                      </a:pPr>
                      <a:r>
                        <a:t>78.0%</a:t>
                      </a:r>
                    </a:p>
                  </a:txBody>
                  <a:tcPr anchor="ctr">
                    <a:solidFill>
                      <a:srgbClr val="FFFFFF"/>
                    </a:solidFill>
                  </a:tcPr>
                </a:tc>
                <a:tc>
                  <a:txBody>
                    <a:bodyPr/>
                    <a:lstStyle/>
                    <a:p>
                      <a:pPr algn="l">
                        <a:defRPr sz="1100" b="0">
                          <a:solidFill>
                            <a:srgbClr val="222831"/>
                          </a:solidFill>
                          <a:latin typeface="Aptos"/>
                        </a:defRPr>
                      </a:pPr>
                      <a:r>
                        <a:t>100.0%</a:t>
                      </a:r>
                    </a:p>
                  </a:txBody>
                  <a:tcPr anchor="ctr">
                    <a:solidFill>
                      <a:srgbClr val="FFFFFF"/>
                    </a:solidFill>
                  </a:tcPr>
                </a:tc>
                <a:tc>
                  <a:txBody>
                    <a:bodyPr/>
                    <a:lstStyle/>
                    <a:p>
                      <a:pPr algn="l">
                        <a:defRPr sz="1100" b="0">
                          <a:solidFill>
                            <a:srgbClr val="222831"/>
                          </a:solidFill>
                          <a:latin typeface="Aptos"/>
                        </a:defRPr>
                      </a:pPr>
                      <a:r>
                        <a:t>369.37</a:t>
                      </a:r>
                    </a:p>
                  </a:txBody>
                  <a:tcPr anchor="ctr">
                    <a:solidFill>
                      <a:srgbClr val="FFFFFF"/>
                    </a:solidFill>
                  </a:tcPr>
                </a:tc>
                <a:extLst>
                  <a:ext uri="{0D108BD9-81ED-4DB2-BD59-A6C34878D82A}">
                    <a16:rowId xmlns:a16="http://schemas.microsoft.com/office/drawing/2014/main" val="10004"/>
                  </a:ext>
                </a:extLst>
              </a:tr>
            </a:tbl>
          </a:graphicData>
        </a:graphic>
      </p:graphicFrame>
      <p:sp>
        <p:nvSpPr>
          <p:cNvPr id="10" name="TextBox 9"/>
          <p:cNvSpPr txBox="1"/>
          <p:nvPr/>
        </p:nvSpPr>
        <p:spPr>
          <a:xfrm>
            <a:off x="731520" y="3429000"/>
            <a:ext cx="4572000" cy="2011680"/>
          </a:xfrm>
          <a:prstGeom prst="rect">
            <a:avLst/>
          </a:prstGeom>
          <a:noFill/>
        </p:spPr>
        <p:txBody>
          <a:bodyPr wrap="square">
            <a:spAutoFit/>
          </a:bodyPr>
          <a:lstStyle/>
          <a:p>
            <a:pPr>
              <a:spcAft>
                <a:spcPts val="700"/>
              </a:spcAft>
              <a:defRPr sz="1600">
                <a:solidFill>
                  <a:srgbClr val="222831"/>
                </a:solidFill>
                <a:latin typeface="Aptos"/>
              </a:defRPr>
            </a:pPr>
            <a:r>
              <a:t>Role-aware upgrades lift challenge-set role accuracy from 20.0% to 100.0%</a:t>
            </a:r>
          </a:p>
          <a:p>
            <a:pPr>
              <a:spcAft>
                <a:spcPts val="700"/>
              </a:spcAft>
              <a:defRPr sz="1600">
                <a:solidFill>
                  <a:srgbClr val="222831"/>
                </a:solidFill>
                <a:latin typeface="Aptos"/>
              </a:defRPr>
            </a:pPr>
            <a:r>
              <a:t>The heuristic reranker already captures most of the measurable gain on this curated suite</a:t>
            </a:r>
          </a:p>
          <a:p>
            <a:pPr>
              <a:spcAft>
                <a:spcPts val="700"/>
              </a:spcAft>
              <a:defRPr sz="1600">
                <a:solidFill>
                  <a:srgbClr val="222831"/>
                </a:solidFill>
                <a:latin typeface="Aptos"/>
              </a:defRPr>
            </a:pPr>
            <a:r>
              <a:t>Transformer support does not improve challenge accuracy further in this environment, but it adds large latency costs</a:t>
            </a:r>
          </a:p>
        </p:txBody>
      </p:sp>
      <p:sp>
        <p:nvSpPr>
          <p:cNvPr id="11" name="Rectangle 10"/>
          <p:cNvSpPr/>
          <p:nvPr/>
        </p:nvSpPr>
        <p:spPr>
          <a:xfrm>
            <a:off x="5577840" y="914400"/>
            <a:ext cx="5669280" cy="5394960"/>
          </a:xfrm>
          <a:prstGeom prst="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challenge_table.png"/>
          <p:cNvPicPr>
            <a:picLocks noChangeAspect="1"/>
          </p:cNvPicPr>
          <p:nvPr/>
        </p:nvPicPr>
        <p:blipFill>
          <a:blip r:embed="rId3"/>
          <a:stretch>
            <a:fillRect/>
          </a:stretch>
        </p:blipFill>
        <p:spPr>
          <a:xfrm>
            <a:off x="5577840" y="2609632"/>
            <a:ext cx="5669280" cy="2004495"/>
          </a:xfrm>
          <a:prstGeom prst="rect">
            <a:avLst/>
          </a:prstGeom>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0352"/>
            <a:ext cx="12191695" cy="54864"/>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8138160" cy="301752"/>
          </a:xfrm>
          <a:prstGeom prst="rect">
            <a:avLst/>
          </a:prstGeom>
          <a:noFill/>
        </p:spPr>
        <p:txBody>
          <a:bodyPr wrap="none">
            <a:spAutoFit/>
          </a:bodyPr>
          <a:lstStyle/>
          <a:p>
            <a:pPr>
              <a:defRPr sz="2800" b="1">
                <a:solidFill>
                  <a:srgbClr val="FFFFFF"/>
                </a:solidFill>
                <a:latin typeface="Aptos Display"/>
              </a:defRPr>
            </a:pPr>
            <a:r>
              <a:t>Sampled Test-Subset Benchmark</a:t>
            </a:r>
          </a:p>
        </p:txBody>
      </p:sp>
      <p:sp>
        <p:nvSpPr>
          <p:cNvPr id="5" name="Rounded Rectangle 4"/>
          <p:cNvSpPr/>
          <p:nvPr/>
        </p:nvSpPr>
        <p:spPr>
          <a:xfrm>
            <a:off x="9966960" y="109728"/>
            <a:ext cx="1783080" cy="274320"/>
          </a:xfrm>
          <a:prstGeom prst="round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D1B2A"/>
                </a:solidFill>
                <a:latin typeface="Aptos"/>
              </a:defRPr>
            </a:pPr>
            <a:r>
              <a:t>RESULTS</a:t>
            </a:r>
          </a:p>
        </p:txBody>
      </p:sp>
      <p:sp>
        <p:nvSpPr>
          <p:cNvPr id="6" name="Rectangle 5"/>
          <p:cNvSpPr/>
          <p:nvPr/>
        </p:nvSpPr>
        <p:spPr>
          <a:xfrm>
            <a:off x="365760" y="6519672"/>
            <a:ext cx="11430000" cy="9144"/>
          </a:xfrm>
          <a:prstGeom prst="rect">
            <a:avLst/>
          </a:prstGeom>
          <a:solidFill>
            <a:srgbClr val="D9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537960"/>
            <a:ext cx="10515600" cy="164592"/>
          </a:xfrm>
          <a:prstGeom prst="rect">
            <a:avLst/>
          </a:prstGeom>
          <a:noFill/>
        </p:spPr>
        <p:txBody>
          <a:bodyPr wrap="none">
            <a:spAutoFit/>
          </a:bodyPr>
          <a:lstStyle/>
          <a:p>
            <a:pPr>
              <a:defRPr sz="900">
                <a:solidFill>
                  <a:srgbClr val="5E6C84"/>
                </a:solidFill>
                <a:latin typeface="Aptos"/>
              </a:defRPr>
            </a:pPr>
            <a:r>
              <a:t>PropQA-Net | SRL-Anchored QA | Final Research Presentation</a:t>
            </a:r>
          </a:p>
        </p:txBody>
      </p:sp>
      <p:sp>
        <p:nvSpPr>
          <p:cNvPr id="8" name="TextBox 7"/>
          <p:cNvSpPr txBox="1"/>
          <p:nvPr/>
        </p:nvSpPr>
        <p:spPr>
          <a:xfrm>
            <a:off x="11064240" y="6510528"/>
            <a:ext cx="640080" cy="182880"/>
          </a:xfrm>
          <a:prstGeom prst="rect">
            <a:avLst/>
          </a:prstGeom>
          <a:noFill/>
        </p:spPr>
        <p:txBody>
          <a:bodyPr wrap="none">
            <a:spAutoFit/>
          </a:bodyPr>
          <a:lstStyle/>
          <a:p>
            <a:pPr algn="r">
              <a:defRPr sz="1000" b="1">
                <a:solidFill>
                  <a:srgbClr val="5E6C84"/>
                </a:solidFill>
                <a:latin typeface="Aptos"/>
              </a:defRPr>
            </a:pPr>
            <a:r>
              <a:t>19</a:t>
            </a:r>
          </a:p>
        </p:txBody>
      </p:sp>
      <p:graphicFrame>
        <p:nvGraphicFramePr>
          <p:cNvPr id="9" name="Table 8"/>
          <p:cNvGraphicFramePr>
            <a:graphicFrameLocks noGrp="1"/>
          </p:cNvGraphicFramePr>
          <p:nvPr/>
        </p:nvGraphicFramePr>
        <p:xfrm>
          <a:off x="685800" y="960120"/>
          <a:ext cx="4709160" cy="2148840"/>
        </p:xfrm>
        <a:graphic>
          <a:graphicData uri="http://schemas.openxmlformats.org/drawingml/2006/table">
            <a:tbl>
              <a:tblPr firstRow="1" bandRow="1">
                <a:tableStyleId>{5C22544A-7EE6-4342-B048-85BDC9FD1C3A}</a:tableStyleId>
              </a:tblPr>
              <a:tblGrid>
                <a:gridCol w="941832">
                  <a:extLst>
                    <a:ext uri="{9D8B030D-6E8A-4147-A177-3AD203B41FA5}">
                      <a16:colId xmlns:a16="http://schemas.microsoft.com/office/drawing/2014/main" val="20000"/>
                    </a:ext>
                  </a:extLst>
                </a:gridCol>
                <a:gridCol w="941832">
                  <a:extLst>
                    <a:ext uri="{9D8B030D-6E8A-4147-A177-3AD203B41FA5}">
                      <a16:colId xmlns:a16="http://schemas.microsoft.com/office/drawing/2014/main" val="20001"/>
                    </a:ext>
                  </a:extLst>
                </a:gridCol>
                <a:gridCol w="941832">
                  <a:extLst>
                    <a:ext uri="{9D8B030D-6E8A-4147-A177-3AD203B41FA5}">
                      <a16:colId xmlns:a16="http://schemas.microsoft.com/office/drawing/2014/main" val="20002"/>
                    </a:ext>
                  </a:extLst>
                </a:gridCol>
                <a:gridCol w="941832">
                  <a:extLst>
                    <a:ext uri="{9D8B030D-6E8A-4147-A177-3AD203B41FA5}">
                      <a16:colId xmlns:a16="http://schemas.microsoft.com/office/drawing/2014/main" val="20003"/>
                    </a:ext>
                  </a:extLst>
                </a:gridCol>
                <a:gridCol w="941832">
                  <a:extLst>
                    <a:ext uri="{9D8B030D-6E8A-4147-A177-3AD203B41FA5}">
                      <a16:colId xmlns:a16="http://schemas.microsoft.com/office/drawing/2014/main" val="20004"/>
                    </a:ext>
                  </a:extLst>
                </a:gridCol>
              </a:tblGrid>
              <a:tr h="429768">
                <a:tc>
                  <a:txBody>
                    <a:bodyPr/>
                    <a:lstStyle/>
                    <a:p>
                      <a:pPr algn="ctr">
                        <a:defRPr sz="1100" b="1">
                          <a:solidFill>
                            <a:srgbClr val="FFFFFF"/>
                          </a:solidFill>
                          <a:latin typeface="Aptos"/>
                        </a:defRPr>
                      </a:pPr>
                      <a:r>
                        <a:t>Track</a:t>
                      </a:r>
                    </a:p>
                  </a:txBody>
                  <a:tcPr anchor="ctr">
                    <a:solidFill>
                      <a:srgbClr val="0D1B2A"/>
                    </a:solidFill>
                  </a:tcPr>
                </a:tc>
                <a:tc>
                  <a:txBody>
                    <a:bodyPr/>
                    <a:lstStyle/>
                    <a:p>
                      <a:pPr algn="ctr">
                        <a:defRPr sz="1100" b="1">
                          <a:solidFill>
                            <a:srgbClr val="FFFFFF"/>
                          </a:solidFill>
                          <a:latin typeface="Aptos"/>
                        </a:defRPr>
                      </a:pPr>
                      <a:r>
                        <a:t>EM</a:t>
                      </a:r>
                    </a:p>
                  </a:txBody>
                  <a:tcPr anchor="ctr">
                    <a:solidFill>
                      <a:srgbClr val="0D1B2A"/>
                    </a:solidFill>
                  </a:tcPr>
                </a:tc>
                <a:tc>
                  <a:txBody>
                    <a:bodyPr/>
                    <a:lstStyle/>
                    <a:p>
                      <a:pPr algn="ctr">
                        <a:defRPr sz="1100" b="1">
                          <a:solidFill>
                            <a:srgbClr val="FFFFFF"/>
                          </a:solidFill>
                          <a:latin typeface="Aptos"/>
                        </a:defRPr>
                      </a:pPr>
                      <a:r>
                        <a:t>F1</a:t>
                      </a:r>
                    </a:p>
                  </a:txBody>
                  <a:tcPr anchor="ctr">
                    <a:solidFill>
                      <a:srgbClr val="0D1B2A"/>
                    </a:solidFill>
                  </a:tcPr>
                </a:tc>
                <a:tc>
                  <a:txBody>
                    <a:bodyPr/>
                    <a:lstStyle/>
                    <a:p>
                      <a:pPr algn="ctr">
                        <a:defRPr sz="1100" b="1">
                          <a:solidFill>
                            <a:srgbClr val="FFFFFF"/>
                          </a:solidFill>
                          <a:latin typeface="Aptos"/>
                        </a:defRPr>
                      </a:pPr>
                      <a:r>
                        <a:t>Role Acc.</a:t>
                      </a:r>
                    </a:p>
                  </a:txBody>
                  <a:tcPr anchor="ctr">
                    <a:solidFill>
                      <a:srgbClr val="0D1B2A"/>
                    </a:solidFill>
                  </a:tcPr>
                </a:tc>
                <a:tc>
                  <a:txBody>
                    <a:bodyPr/>
                    <a:lstStyle/>
                    <a:p>
                      <a:pPr algn="ctr">
                        <a:defRPr sz="1100" b="1">
                          <a:solidFill>
                            <a:srgbClr val="FFFFFF"/>
                          </a:solidFill>
                          <a:latin typeface="Aptos"/>
                        </a:defRPr>
                      </a:pPr>
                      <a:r>
                        <a:t>Latency (ms)</a:t>
                      </a:r>
                    </a:p>
                  </a:txBody>
                  <a:tcPr anchor="ctr">
                    <a:solidFill>
                      <a:srgbClr val="0D1B2A"/>
                    </a:solidFill>
                  </a:tcPr>
                </a:tc>
                <a:extLst>
                  <a:ext uri="{0D108BD9-81ED-4DB2-BD59-A6C34878D82A}">
                    <a16:rowId xmlns:a16="http://schemas.microsoft.com/office/drawing/2014/main" val="10000"/>
                  </a:ext>
                </a:extLst>
              </a:tr>
              <a:tr h="429768">
                <a:tc>
                  <a:txBody>
                    <a:bodyPr/>
                    <a:lstStyle/>
                    <a:p>
                      <a:pPr algn="l">
                        <a:defRPr sz="1100" b="0">
                          <a:solidFill>
                            <a:srgbClr val="222831"/>
                          </a:solidFill>
                          <a:latin typeface="Aptos"/>
                        </a:defRPr>
                      </a:pPr>
                      <a:r>
                        <a:t>Classical baseline</a:t>
                      </a:r>
                    </a:p>
                  </a:txBody>
                  <a:tcPr anchor="ctr">
                    <a:solidFill>
                      <a:srgbClr val="FFFFFF"/>
                    </a:solidFill>
                  </a:tcPr>
                </a:tc>
                <a:tc>
                  <a:txBody>
                    <a:bodyPr/>
                    <a:lstStyle/>
                    <a:p>
                      <a:pPr algn="l">
                        <a:defRPr sz="1100" b="0">
                          <a:solidFill>
                            <a:srgbClr val="222831"/>
                          </a:solidFill>
                          <a:latin typeface="Aptos"/>
                        </a:defRPr>
                      </a:pPr>
                      <a:r>
                        <a:t>7.5%</a:t>
                      </a:r>
                    </a:p>
                  </a:txBody>
                  <a:tcPr anchor="ctr">
                    <a:solidFill>
                      <a:srgbClr val="FFFFFF"/>
                    </a:solidFill>
                  </a:tcPr>
                </a:tc>
                <a:tc>
                  <a:txBody>
                    <a:bodyPr/>
                    <a:lstStyle/>
                    <a:p>
                      <a:pPr algn="l">
                        <a:defRPr sz="1100" b="0">
                          <a:solidFill>
                            <a:srgbClr val="222831"/>
                          </a:solidFill>
                          <a:latin typeface="Aptos"/>
                        </a:defRPr>
                      </a:pPr>
                      <a:r>
                        <a:t>30.9%</a:t>
                      </a:r>
                    </a:p>
                  </a:txBody>
                  <a:tcPr anchor="ctr">
                    <a:solidFill>
                      <a:srgbClr val="FFFFFF"/>
                    </a:solidFill>
                  </a:tcPr>
                </a:tc>
                <a:tc>
                  <a:txBody>
                    <a:bodyPr/>
                    <a:lstStyle/>
                    <a:p>
                      <a:pPr algn="l">
                        <a:defRPr sz="1100" b="0">
                          <a:solidFill>
                            <a:srgbClr val="222831"/>
                          </a:solidFill>
                          <a:latin typeface="Aptos"/>
                        </a:defRPr>
                      </a:pPr>
                      <a:r>
                        <a:t>32.5%</a:t>
                      </a:r>
                    </a:p>
                  </a:txBody>
                  <a:tcPr anchor="ctr">
                    <a:solidFill>
                      <a:srgbClr val="FFFFFF"/>
                    </a:solidFill>
                  </a:tcPr>
                </a:tc>
                <a:tc>
                  <a:txBody>
                    <a:bodyPr/>
                    <a:lstStyle/>
                    <a:p>
                      <a:pPr algn="l">
                        <a:defRPr sz="1100" b="0">
                          <a:solidFill>
                            <a:srgbClr val="222831"/>
                          </a:solidFill>
                          <a:latin typeface="Aptos"/>
                        </a:defRPr>
                      </a:pPr>
                      <a:r>
                        <a:t>4.49</a:t>
                      </a:r>
                    </a:p>
                  </a:txBody>
                  <a:tcPr anchor="ctr">
                    <a:solidFill>
                      <a:srgbClr val="FFFFFF"/>
                    </a:solidFill>
                  </a:tcPr>
                </a:tc>
                <a:extLst>
                  <a:ext uri="{0D108BD9-81ED-4DB2-BD59-A6C34878D82A}">
                    <a16:rowId xmlns:a16="http://schemas.microsoft.com/office/drawing/2014/main" val="10001"/>
                  </a:ext>
                </a:extLst>
              </a:tr>
              <a:tr h="429768">
                <a:tc>
                  <a:txBody>
                    <a:bodyPr/>
                    <a:lstStyle/>
                    <a:p>
                      <a:pPr algn="l">
                        <a:defRPr sz="1100" b="0">
                          <a:solidFill>
                            <a:srgbClr val="222831"/>
                          </a:solidFill>
                          <a:latin typeface="Aptos"/>
                        </a:defRPr>
                      </a:pPr>
                      <a:r>
                        <a:t>Heuristic reranker</a:t>
                      </a:r>
                    </a:p>
                  </a:txBody>
                  <a:tcPr anchor="ctr">
                    <a:solidFill>
                      <a:srgbClr val="FFFFFF"/>
                    </a:solidFill>
                  </a:tcPr>
                </a:tc>
                <a:tc>
                  <a:txBody>
                    <a:bodyPr/>
                    <a:lstStyle/>
                    <a:p>
                      <a:pPr algn="l">
                        <a:defRPr sz="1100" b="0">
                          <a:solidFill>
                            <a:srgbClr val="222831"/>
                          </a:solidFill>
                          <a:latin typeface="Aptos"/>
                        </a:defRPr>
                      </a:pPr>
                      <a:r>
                        <a:t>20.0%</a:t>
                      </a:r>
                    </a:p>
                  </a:txBody>
                  <a:tcPr anchor="ctr">
                    <a:solidFill>
                      <a:srgbClr val="FFFFFF"/>
                    </a:solidFill>
                  </a:tcPr>
                </a:tc>
                <a:tc>
                  <a:txBody>
                    <a:bodyPr/>
                    <a:lstStyle/>
                    <a:p>
                      <a:pPr algn="l">
                        <a:defRPr sz="1100" b="0">
                          <a:solidFill>
                            <a:srgbClr val="222831"/>
                          </a:solidFill>
                          <a:latin typeface="Aptos"/>
                        </a:defRPr>
                      </a:pPr>
                      <a:r>
                        <a:t>41.8%</a:t>
                      </a:r>
                    </a:p>
                  </a:txBody>
                  <a:tcPr anchor="ctr">
                    <a:solidFill>
                      <a:srgbClr val="FFFFFF"/>
                    </a:solidFill>
                  </a:tcPr>
                </a:tc>
                <a:tc>
                  <a:txBody>
                    <a:bodyPr/>
                    <a:lstStyle/>
                    <a:p>
                      <a:pPr algn="l">
                        <a:defRPr sz="1100" b="0">
                          <a:solidFill>
                            <a:srgbClr val="222831"/>
                          </a:solidFill>
                          <a:latin typeface="Aptos"/>
                        </a:defRPr>
                      </a:pPr>
                      <a:r>
                        <a:t>60.0%</a:t>
                      </a:r>
                    </a:p>
                  </a:txBody>
                  <a:tcPr anchor="ctr">
                    <a:solidFill>
                      <a:srgbClr val="FFFFFF"/>
                    </a:solidFill>
                  </a:tcPr>
                </a:tc>
                <a:tc>
                  <a:txBody>
                    <a:bodyPr/>
                    <a:lstStyle/>
                    <a:p>
                      <a:pPr algn="l">
                        <a:defRPr sz="1100" b="0">
                          <a:solidFill>
                            <a:srgbClr val="222831"/>
                          </a:solidFill>
                          <a:latin typeface="Aptos"/>
                        </a:defRPr>
                      </a:pPr>
                      <a:r>
                        <a:t>5.84</a:t>
                      </a:r>
                    </a:p>
                  </a:txBody>
                  <a:tcPr anchor="ctr">
                    <a:solidFill>
                      <a:srgbClr val="FFFFFF"/>
                    </a:solidFill>
                  </a:tcPr>
                </a:tc>
                <a:extLst>
                  <a:ext uri="{0D108BD9-81ED-4DB2-BD59-A6C34878D82A}">
                    <a16:rowId xmlns:a16="http://schemas.microsoft.com/office/drawing/2014/main" val="10002"/>
                  </a:ext>
                </a:extLst>
              </a:tr>
              <a:tr h="429768">
                <a:tc>
                  <a:txBody>
                    <a:bodyPr/>
                    <a:lstStyle/>
                    <a:p>
                      <a:pPr algn="l">
                        <a:defRPr sz="1100" b="0">
                          <a:solidFill>
                            <a:srgbClr val="222831"/>
                          </a:solidFill>
                          <a:latin typeface="Aptos"/>
                        </a:defRPr>
                      </a:pPr>
                      <a:r>
                        <a:t>Transformer assist</a:t>
                      </a:r>
                    </a:p>
                  </a:txBody>
                  <a:tcPr anchor="ctr">
                    <a:solidFill>
                      <a:srgbClr val="FFFFFF"/>
                    </a:solidFill>
                  </a:tcPr>
                </a:tc>
                <a:tc>
                  <a:txBody>
                    <a:bodyPr/>
                    <a:lstStyle/>
                    <a:p>
                      <a:pPr algn="l">
                        <a:defRPr sz="1100" b="0">
                          <a:solidFill>
                            <a:srgbClr val="222831"/>
                          </a:solidFill>
                          <a:latin typeface="Aptos"/>
                        </a:defRPr>
                      </a:pPr>
                      <a:r>
                        <a:t>20.0%</a:t>
                      </a:r>
                    </a:p>
                  </a:txBody>
                  <a:tcPr anchor="ctr">
                    <a:solidFill>
                      <a:srgbClr val="FFFFFF"/>
                    </a:solidFill>
                  </a:tcPr>
                </a:tc>
                <a:tc>
                  <a:txBody>
                    <a:bodyPr/>
                    <a:lstStyle/>
                    <a:p>
                      <a:pPr algn="l">
                        <a:defRPr sz="1100" b="0">
                          <a:solidFill>
                            <a:srgbClr val="222831"/>
                          </a:solidFill>
                          <a:latin typeface="Aptos"/>
                        </a:defRPr>
                      </a:pPr>
                      <a:r>
                        <a:t>41.8%</a:t>
                      </a:r>
                    </a:p>
                  </a:txBody>
                  <a:tcPr anchor="ctr">
                    <a:solidFill>
                      <a:srgbClr val="FFFFFF"/>
                    </a:solidFill>
                  </a:tcPr>
                </a:tc>
                <a:tc>
                  <a:txBody>
                    <a:bodyPr/>
                    <a:lstStyle/>
                    <a:p>
                      <a:pPr algn="l">
                        <a:defRPr sz="1100" b="0">
                          <a:solidFill>
                            <a:srgbClr val="222831"/>
                          </a:solidFill>
                          <a:latin typeface="Aptos"/>
                        </a:defRPr>
                      </a:pPr>
                      <a:r>
                        <a:t>60.0%</a:t>
                      </a:r>
                    </a:p>
                  </a:txBody>
                  <a:tcPr anchor="ctr">
                    <a:solidFill>
                      <a:srgbClr val="FFFFFF"/>
                    </a:solidFill>
                  </a:tcPr>
                </a:tc>
                <a:tc>
                  <a:txBody>
                    <a:bodyPr/>
                    <a:lstStyle/>
                    <a:p>
                      <a:pPr algn="l">
                        <a:defRPr sz="1100" b="0">
                          <a:solidFill>
                            <a:srgbClr val="222831"/>
                          </a:solidFill>
                          <a:latin typeface="Aptos"/>
                        </a:defRPr>
                      </a:pPr>
                      <a:r>
                        <a:t>290.72</a:t>
                      </a:r>
                    </a:p>
                  </a:txBody>
                  <a:tcPr anchor="ctr">
                    <a:solidFill>
                      <a:srgbClr val="FFFFFF"/>
                    </a:solidFill>
                  </a:tcPr>
                </a:tc>
                <a:extLst>
                  <a:ext uri="{0D108BD9-81ED-4DB2-BD59-A6C34878D82A}">
                    <a16:rowId xmlns:a16="http://schemas.microsoft.com/office/drawing/2014/main" val="10003"/>
                  </a:ext>
                </a:extLst>
              </a:tr>
              <a:tr h="429768">
                <a:tc>
                  <a:txBody>
                    <a:bodyPr/>
                    <a:lstStyle/>
                    <a:p>
                      <a:pPr algn="l">
                        <a:defRPr sz="1100" b="0">
                          <a:solidFill>
                            <a:srgbClr val="222831"/>
                          </a:solidFill>
                          <a:latin typeface="Aptos"/>
                        </a:defRPr>
                      </a:pPr>
                      <a:r>
                        <a:t>Full hybrid</a:t>
                      </a:r>
                    </a:p>
                  </a:txBody>
                  <a:tcPr anchor="ctr">
                    <a:solidFill>
                      <a:srgbClr val="FFFFFF"/>
                    </a:solidFill>
                  </a:tcPr>
                </a:tc>
                <a:tc>
                  <a:txBody>
                    <a:bodyPr/>
                    <a:lstStyle/>
                    <a:p>
                      <a:pPr algn="l">
                        <a:defRPr sz="1100" b="0">
                          <a:solidFill>
                            <a:srgbClr val="222831"/>
                          </a:solidFill>
                          <a:latin typeface="Aptos"/>
                        </a:defRPr>
                      </a:pPr>
                      <a:r>
                        <a:t>20.0%</a:t>
                      </a:r>
                    </a:p>
                  </a:txBody>
                  <a:tcPr anchor="ctr">
                    <a:solidFill>
                      <a:srgbClr val="FFFFFF"/>
                    </a:solidFill>
                  </a:tcPr>
                </a:tc>
                <a:tc>
                  <a:txBody>
                    <a:bodyPr/>
                    <a:lstStyle/>
                    <a:p>
                      <a:pPr algn="l">
                        <a:defRPr sz="1100" b="0">
                          <a:solidFill>
                            <a:srgbClr val="222831"/>
                          </a:solidFill>
                          <a:latin typeface="Aptos"/>
                        </a:defRPr>
                      </a:pPr>
                      <a:r>
                        <a:t>41.8%</a:t>
                      </a:r>
                    </a:p>
                  </a:txBody>
                  <a:tcPr anchor="ctr">
                    <a:solidFill>
                      <a:srgbClr val="FFFFFF"/>
                    </a:solidFill>
                  </a:tcPr>
                </a:tc>
                <a:tc>
                  <a:txBody>
                    <a:bodyPr/>
                    <a:lstStyle/>
                    <a:p>
                      <a:pPr algn="l">
                        <a:defRPr sz="1100" b="0">
                          <a:solidFill>
                            <a:srgbClr val="222831"/>
                          </a:solidFill>
                          <a:latin typeface="Aptos"/>
                        </a:defRPr>
                      </a:pPr>
                      <a:r>
                        <a:t>60.0%</a:t>
                      </a:r>
                    </a:p>
                  </a:txBody>
                  <a:tcPr anchor="ctr">
                    <a:solidFill>
                      <a:srgbClr val="FFFFFF"/>
                    </a:solidFill>
                  </a:tcPr>
                </a:tc>
                <a:tc>
                  <a:txBody>
                    <a:bodyPr/>
                    <a:lstStyle/>
                    <a:p>
                      <a:pPr algn="l">
                        <a:defRPr sz="1100" b="0">
                          <a:solidFill>
                            <a:srgbClr val="222831"/>
                          </a:solidFill>
                          <a:latin typeface="Aptos"/>
                        </a:defRPr>
                      </a:pPr>
                      <a:r>
                        <a:t>380.99</a:t>
                      </a:r>
                    </a:p>
                  </a:txBody>
                  <a:tcPr anchor="ctr">
                    <a:solidFill>
                      <a:srgbClr val="FFFFFF"/>
                    </a:solidFill>
                  </a:tcPr>
                </a:tc>
                <a:extLst>
                  <a:ext uri="{0D108BD9-81ED-4DB2-BD59-A6C34878D82A}">
                    <a16:rowId xmlns:a16="http://schemas.microsoft.com/office/drawing/2014/main" val="10004"/>
                  </a:ext>
                </a:extLst>
              </a:tr>
            </a:tbl>
          </a:graphicData>
        </a:graphic>
      </p:graphicFrame>
      <p:sp>
        <p:nvSpPr>
          <p:cNvPr id="10" name="TextBox 9"/>
          <p:cNvSpPr txBox="1"/>
          <p:nvPr/>
        </p:nvSpPr>
        <p:spPr>
          <a:xfrm>
            <a:off x="731520" y="3474720"/>
            <a:ext cx="4572000" cy="1965960"/>
          </a:xfrm>
          <a:prstGeom prst="rect">
            <a:avLst/>
          </a:prstGeom>
          <a:noFill/>
        </p:spPr>
        <p:txBody>
          <a:bodyPr wrap="square">
            <a:spAutoFit/>
          </a:bodyPr>
          <a:lstStyle/>
          <a:p>
            <a:pPr>
              <a:spcAft>
                <a:spcPts val="700"/>
              </a:spcAft>
              <a:defRPr sz="1600">
                <a:solidFill>
                  <a:srgbClr val="222831"/>
                </a:solidFill>
                <a:latin typeface="Aptos"/>
              </a:defRPr>
            </a:pPr>
            <a:r>
              <a:t>The hybrid tracks still outperform the baseline on the sampled test subset, but the gains are smaller than on the curated challenge set</a:t>
            </a:r>
          </a:p>
          <a:p>
            <a:pPr>
              <a:spcAft>
                <a:spcPts val="700"/>
              </a:spcAft>
              <a:defRPr sz="1600">
                <a:solidFill>
                  <a:srgbClr val="222831"/>
                </a:solidFill>
                <a:latin typeface="Aptos"/>
              </a:defRPr>
            </a:pPr>
            <a:r>
              <a:t>This suggests that the extension is especially effective on role-sensitive cases rather than universally dominant</a:t>
            </a:r>
          </a:p>
          <a:p>
            <a:pPr>
              <a:spcAft>
                <a:spcPts val="700"/>
              </a:spcAft>
              <a:defRPr sz="1600">
                <a:solidFill>
                  <a:srgbClr val="222831"/>
                </a:solidFill>
                <a:latin typeface="Aptos"/>
              </a:defRPr>
            </a:pPr>
            <a:r>
              <a:t>The same-result pattern across the three upgraded tracks reinforces the value of the lightweight heuristic reranker</a:t>
            </a:r>
          </a:p>
        </p:txBody>
      </p:sp>
      <p:sp>
        <p:nvSpPr>
          <p:cNvPr id="11" name="Rectangle 10"/>
          <p:cNvSpPr/>
          <p:nvPr/>
        </p:nvSpPr>
        <p:spPr>
          <a:xfrm>
            <a:off x="5577840" y="960120"/>
            <a:ext cx="5669280" cy="5303520"/>
          </a:xfrm>
          <a:prstGeom prst="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benchmark.png"/>
          <p:cNvPicPr>
            <a:picLocks noChangeAspect="1"/>
          </p:cNvPicPr>
          <p:nvPr/>
        </p:nvPicPr>
        <p:blipFill>
          <a:blip r:embed="rId3"/>
          <a:stretch>
            <a:fillRect/>
          </a:stretch>
        </p:blipFill>
        <p:spPr>
          <a:xfrm>
            <a:off x="5577840" y="2903220"/>
            <a:ext cx="5669280" cy="1417320"/>
          </a:xfrm>
          <a:prstGeom prst="rect">
            <a:avLst/>
          </a:prstGeom>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0352"/>
            <a:ext cx="12191695" cy="54864"/>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8138160" cy="301752"/>
          </a:xfrm>
          <a:prstGeom prst="rect">
            <a:avLst/>
          </a:prstGeom>
          <a:noFill/>
        </p:spPr>
        <p:txBody>
          <a:bodyPr wrap="none">
            <a:spAutoFit/>
          </a:bodyPr>
          <a:lstStyle/>
          <a:p>
            <a:pPr>
              <a:defRPr sz="2800" b="1">
                <a:solidFill>
                  <a:srgbClr val="FFFFFF"/>
                </a:solidFill>
                <a:latin typeface="Aptos Display"/>
              </a:defRPr>
            </a:pPr>
            <a:r>
              <a:t>Challenge Performance by Question Type</a:t>
            </a:r>
          </a:p>
        </p:txBody>
      </p:sp>
      <p:sp>
        <p:nvSpPr>
          <p:cNvPr id="5" name="Rounded Rectangle 4"/>
          <p:cNvSpPr/>
          <p:nvPr/>
        </p:nvSpPr>
        <p:spPr>
          <a:xfrm>
            <a:off x="9966960" y="109728"/>
            <a:ext cx="1783080" cy="274320"/>
          </a:xfrm>
          <a:prstGeom prst="round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D1B2A"/>
                </a:solidFill>
                <a:latin typeface="Aptos"/>
              </a:defRPr>
            </a:pPr>
            <a:r>
              <a:t>ANALYSIS</a:t>
            </a:r>
          </a:p>
        </p:txBody>
      </p:sp>
      <p:sp>
        <p:nvSpPr>
          <p:cNvPr id="6" name="Rectangle 5"/>
          <p:cNvSpPr/>
          <p:nvPr/>
        </p:nvSpPr>
        <p:spPr>
          <a:xfrm>
            <a:off x="365760" y="6519672"/>
            <a:ext cx="11430000" cy="9144"/>
          </a:xfrm>
          <a:prstGeom prst="rect">
            <a:avLst/>
          </a:prstGeom>
          <a:solidFill>
            <a:srgbClr val="D9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537960"/>
            <a:ext cx="10515600" cy="164592"/>
          </a:xfrm>
          <a:prstGeom prst="rect">
            <a:avLst/>
          </a:prstGeom>
          <a:noFill/>
        </p:spPr>
        <p:txBody>
          <a:bodyPr wrap="none">
            <a:spAutoFit/>
          </a:bodyPr>
          <a:lstStyle/>
          <a:p>
            <a:pPr>
              <a:defRPr sz="900">
                <a:solidFill>
                  <a:srgbClr val="5E6C84"/>
                </a:solidFill>
                <a:latin typeface="Aptos"/>
              </a:defRPr>
            </a:pPr>
            <a:r>
              <a:t>PropQA-Net | SRL-Anchored QA | Final Research Presentation</a:t>
            </a:r>
          </a:p>
        </p:txBody>
      </p:sp>
      <p:sp>
        <p:nvSpPr>
          <p:cNvPr id="8" name="TextBox 7"/>
          <p:cNvSpPr txBox="1"/>
          <p:nvPr/>
        </p:nvSpPr>
        <p:spPr>
          <a:xfrm>
            <a:off x="11064240" y="6510528"/>
            <a:ext cx="640080" cy="182880"/>
          </a:xfrm>
          <a:prstGeom prst="rect">
            <a:avLst/>
          </a:prstGeom>
          <a:noFill/>
        </p:spPr>
        <p:txBody>
          <a:bodyPr wrap="none">
            <a:spAutoFit/>
          </a:bodyPr>
          <a:lstStyle/>
          <a:p>
            <a:pPr algn="r">
              <a:defRPr sz="1000" b="1">
                <a:solidFill>
                  <a:srgbClr val="5E6C84"/>
                </a:solidFill>
                <a:latin typeface="Aptos"/>
              </a:defRPr>
            </a:pPr>
            <a:r>
              <a:t>21</a:t>
            </a:r>
          </a:p>
        </p:txBody>
      </p:sp>
      <p:sp>
        <p:nvSpPr>
          <p:cNvPr id="9" name="TextBox 8"/>
          <p:cNvSpPr txBox="1"/>
          <p:nvPr/>
        </p:nvSpPr>
        <p:spPr>
          <a:xfrm>
            <a:off x="685800" y="1005840"/>
            <a:ext cx="4480560" cy="2194560"/>
          </a:xfrm>
          <a:prstGeom prst="rect">
            <a:avLst/>
          </a:prstGeom>
          <a:noFill/>
        </p:spPr>
        <p:txBody>
          <a:bodyPr wrap="square">
            <a:spAutoFit/>
          </a:bodyPr>
          <a:lstStyle/>
          <a:p>
            <a:pPr>
              <a:spcAft>
                <a:spcPts val="700"/>
              </a:spcAft>
              <a:defRPr sz="1800">
                <a:solidFill>
                  <a:srgbClr val="222831"/>
                </a:solidFill>
                <a:latin typeface="Aptos"/>
              </a:defRPr>
            </a:pPr>
            <a:r>
              <a:t>Role-aware reranking is especially valuable for HOW, WHERE, and TO-WHOM questions</a:t>
            </a:r>
          </a:p>
          <a:p>
            <a:pPr>
              <a:spcAft>
                <a:spcPts val="700"/>
              </a:spcAft>
              <a:defRPr sz="1800">
                <a:solidFill>
                  <a:srgbClr val="222831"/>
                </a:solidFill>
                <a:latin typeface="Aptos"/>
              </a:defRPr>
            </a:pPr>
            <a:r>
              <a:t>These categories are exactly where role identity matters more than simple lexical overlap</a:t>
            </a:r>
          </a:p>
          <a:p>
            <a:pPr>
              <a:spcAft>
                <a:spcPts val="700"/>
              </a:spcAft>
              <a:defRPr sz="1800">
                <a:solidFill>
                  <a:srgbClr val="222831"/>
                </a:solidFill>
                <a:latin typeface="Aptos"/>
              </a:defRPr>
            </a:pPr>
            <a:r>
              <a:t>The heatmap shows that targeted semantic cues provide more benefit than generic span scoring alone</a:t>
            </a:r>
          </a:p>
        </p:txBody>
      </p:sp>
      <p:sp>
        <p:nvSpPr>
          <p:cNvPr id="10" name="Rectangle 9"/>
          <p:cNvSpPr/>
          <p:nvPr/>
        </p:nvSpPr>
        <p:spPr>
          <a:xfrm>
            <a:off x="5212080" y="914400"/>
            <a:ext cx="5943600" cy="5303520"/>
          </a:xfrm>
          <a:prstGeom prst="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question_type_heatmap.png"/>
          <p:cNvPicPr>
            <a:picLocks noChangeAspect="1"/>
          </p:cNvPicPr>
          <p:nvPr/>
        </p:nvPicPr>
        <p:blipFill>
          <a:blip r:embed="rId3"/>
          <a:stretch>
            <a:fillRect/>
          </a:stretch>
        </p:blipFill>
        <p:spPr>
          <a:xfrm>
            <a:off x="5212080" y="2377440"/>
            <a:ext cx="5943600" cy="2377440"/>
          </a:xfrm>
          <a:prstGeom prst="rect">
            <a:avLst/>
          </a:prstGeom>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0352"/>
            <a:ext cx="12191695" cy="54864"/>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8138160" cy="301752"/>
          </a:xfrm>
          <a:prstGeom prst="rect">
            <a:avLst/>
          </a:prstGeom>
          <a:noFill/>
        </p:spPr>
        <p:txBody>
          <a:bodyPr wrap="none">
            <a:spAutoFit/>
          </a:bodyPr>
          <a:lstStyle/>
          <a:p>
            <a:pPr>
              <a:defRPr sz="2800" b="1">
                <a:solidFill>
                  <a:srgbClr val="FFFFFF"/>
                </a:solidFill>
                <a:latin typeface="Aptos Display"/>
              </a:defRPr>
            </a:pPr>
            <a:r>
              <a:t>Challenge Performance by Target Role</a:t>
            </a:r>
          </a:p>
        </p:txBody>
      </p:sp>
      <p:sp>
        <p:nvSpPr>
          <p:cNvPr id="5" name="Rounded Rectangle 4"/>
          <p:cNvSpPr/>
          <p:nvPr/>
        </p:nvSpPr>
        <p:spPr>
          <a:xfrm>
            <a:off x="9966960" y="109728"/>
            <a:ext cx="1783080" cy="274320"/>
          </a:xfrm>
          <a:prstGeom prst="round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D1B2A"/>
                </a:solidFill>
                <a:latin typeface="Aptos"/>
              </a:defRPr>
            </a:pPr>
            <a:r>
              <a:t>ANALYSIS</a:t>
            </a:r>
          </a:p>
        </p:txBody>
      </p:sp>
      <p:sp>
        <p:nvSpPr>
          <p:cNvPr id="6" name="Rectangle 5"/>
          <p:cNvSpPr/>
          <p:nvPr/>
        </p:nvSpPr>
        <p:spPr>
          <a:xfrm>
            <a:off x="365760" y="6519672"/>
            <a:ext cx="11430000" cy="9144"/>
          </a:xfrm>
          <a:prstGeom prst="rect">
            <a:avLst/>
          </a:prstGeom>
          <a:solidFill>
            <a:srgbClr val="D9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537960"/>
            <a:ext cx="10515600" cy="164592"/>
          </a:xfrm>
          <a:prstGeom prst="rect">
            <a:avLst/>
          </a:prstGeom>
          <a:noFill/>
        </p:spPr>
        <p:txBody>
          <a:bodyPr wrap="none">
            <a:spAutoFit/>
          </a:bodyPr>
          <a:lstStyle/>
          <a:p>
            <a:pPr>
              <a:defRPr sz="900">
                <a:solidFill>
                  <a:srgbClr val="5E6C84"/>
                </a:solidFill>
                <a:latin typeface="Aptos"/>
              </a:defRPr>
            </a:pPr>
            <a:r>
              <a:t>PropQA-Net | SRL-Anchored QA | Final Research Presentation</a:t>
            </a:r>
          </a:p>
        </p:txBody>
      </p:sp>
      <p:sp>
        <p:nvSpPr>
          <p:cNvPr id="8" name="TextBox 7"/>
          <p:cNvSpPr txBox="1"/>
          <p:nvPr/>
        </p:nvSpPr>
        <p:spPr>
          <a:xfrm>
            <a:off x="11064240" y="6510528"/>
            <a:ext cx="640080" cy="182880"/>
          </a:xfrm>
          <a:prstGeom prst="rect">
            <a:avLst/>
          </a:prstGeom>
          <a:noFill/>
        </p:spPr>
        <p:txBody>
          <a:bodyPr wrap="none">
            <a:spAutoFit/>
          </a:bodyPr>
          <a:lstStyle/>
          <a:p>
            <a:pPr algn="r">
              <a:defRPr sz="1000" b="1">
                <a:solidFill>
                  <a:srgbClr val="5E6C84"/>
                </a:solidFill>
                <a:latin typeface="Aptos"/>
              </a:defRPr>
            </a:pPr>
            <a:r>
              <a:t>22</a:t>
            </a:r>
          </a:p>
        </p:txBody>
      </p:sp>
      <p:sp>
        <p:nvSpPr>
          <p:cNvPr id="9" name="TextBox 8"/>
          <p:cNvSpPr txBox="1"/>
          <p:nvPr/>
        </p:nvSpPr>
        <p:spPr>
          <a:xfrm>
            <a:off x="685800" y="1005840"/>
            <a:ext cx="4480560" cy="2194560"/>
          </a:xfrm>
          <a:prstGeom prst="rect">
            <a:avLst/>
          </a:prstGeom>
          <a:noFill/>
        </p:spPr>
        <p:txBody>
          <a:bodyPr wrap="square">
            <a:spAutoFit/>
          </a:bodyPr>
          <a:lstStyle/>
          <a:p>
            <a:pPr>
              <a:spcAft>
                <a:spcPts val="700"/>
              </a:spcAft>
              <a:defRPr sz="1800">
                <a:solidFill>
                  <a:srgbClr val="222831"/>
                </a:solidFill>
                <a:latin typeface="Aptos"/>
              </a:defRPr>
            </a:pPr>
            <a:r>
              <a:t>Role accuracy rises most strongly for roles that align with explicit heuristic patterns and question intent</a:t>
            </a:r>
          </a:p>
          <a:p>
            <a:pPr>
              <a:spcAft>
                <a:spcPts val="700"/>
              </a:spcAft>
              <a:defRPr sz="1800">
                <a:solidFill>
                  <a:srgbClr val="222831"/>
                </a:solidFill>
                <a:latin typeface="Aptos"/>
              </a:defRPr>
            </a:pPr>
            <a:r>
              <a:t>ARGM-LOC, ARGM-MNR, and ARG2 are especially important proof points for the hybrid design</a:t>
            </a:r>
          </a:p>
          <a:p>
            <a:pPr>
              <a:spcAft>
                <a:spcPts val="700"/>
              </a:spcAft>
              <a:defRPr sz="1800">
                <a:solidFill>
                  <a:srgbClr val="222831"/>
                </a:solidFill>
                <a:latin typeface="Aptos"/>
              </a:defRPr>
            </a:pPr>
            <a:r>
              <a:t>The heatmap reinforces that semantic expectations drive better candidate selection</a:t>
            </a:r>
          </a:p>
        </p:txBody>
      </p:sp>
      <p:sp>
        <p:nvSpPr>
          <p:cNvPr id="10" name="Rectangle 9"/>
          <p:cNvSpPr/>
          <p:nvPr/>
        </p:nvSpPr>
        <p:spPr>
          <a:xfrm>
            <a:off x="5212080" y="914400"/>
            <a:ext cx="5943600" cy="5303520"/>
          </a:xfrm>
          <a:prstGeom prst="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role_heatmap.png"/>
          <p:cNvPicPr>
            <a:picLocks noChangeAspect="1"/>
          </p:cNvPicPr>
          <p:nvPr/>
        </p:nvPicPr>
        <p:blipFill>
          <a:blip r:embed="rId3"/>
          <a:stretch>
            <a:fillRect/>
          </a:stretch>
        </p:blipFill>
        <p:spPr>
          <a:xfrm>
            <a:off x="5212080" y="2377440"/>
            <a:ext cx="5943600" cy="2377440"/>
          </a:xfrm>
          <a:prstGeom prst="rect">
            <a:avLst/>
          </a:prstGeom>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0352"/>
            <a:ext cx="12191695" cy="54864"/>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8138160" cy="301752"/>
          </a:xfrm>
          <a:prstGeom prst="rect">
            <a:avLst/>
          </a:prstGeom>
          <a:noFill/>
        </p:spPr>
        <p:txBody>
          <a:bodyPr wrap="none">
            <a:spAutoFit/>
          </a:bodyPr>
          <a:lstStyle/>
          <a:p>
            <a:pPr>
              <a:defRPr sz="2800" b="1">
                <a:solidFill>
                  <a:srgbClr val="FFFFFF"/>
                </a:solidFill>
                <a:latin typeface="Aptos Display"/>
              </a:defRPr>
            </a:pPr>
            <a:r>
              <a:t>Hybrid Reasoning Example: Location</a:t>
            </a:r>
          </a:p>
        </p:txBody>
      </p:sp>
      <p:sp>
        <p:nvSpPr>
          <p:cNvPr id="5" name="Rounded Rectangle 4"/>
          <p:cNvSpPr/>
          <p:nvPr/>
        </p:nvSpPr>
        <p:spPr>
          <a:xfrm>
            <a:off x="9966960" y="109728"/>
            <a:ext cx="1783080" cy="274320"/>
          </a:xfrm>
          <a:prstGeom prst="round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D1B2A"/>
                </a:solidFill>
                <a:latin typeface="Aptos"/>
              </a:defRPr>
            </a:pPr>
            <a:r>
              <a:t>ANALYSIS</a:t>
            </a:r>
          </a:p>
        </p:txBody>
      </p:sp>
      <p:sp>
        <p:nvSpPr>
          <p:cNvPr id="6" name="Rectangle 5"/>
          <p:cNvSpPr/>
          <p:nvPr/>
        </p:nvSpPr>
        <p:spPr>
          <a:xfrm>
            <a:off x="365760" y="6519672"/>
            <a:ext cx="11430000" cy="9144"/>
          </a:xfrm>
          <a:prstGeom prst="rect">
            <a:avLst/>
          </a:prstGeom>
          <a:solidFill>
            <a:srgbClr val="D9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537960"/>
            <a:ext cx="10515600" cy="164592"/>
          </a:xfrm>
          <a:prstGeom prst="rect">
            <a:avLst/>
          </a:prstGeom>
          <a:noFill/>
        </p:spPr>
        <p:txBody>
          <a:bodyPr wrap="none">
            <a:spAutoFit/>
          </a:bodyPr>
          <a:lstStyle/>
          <a:p>
            <a:pPr>
              <a:defRPr sz="900">
                <a:solidFill>
                  <a:srgbClr val="5E6C84"/>
                </a:solidFill>
                <a:latin typeface="Aptos"/>
              </a:defRPr>
            </a:pPr>
            <a:r>
              <a:t>PropQA-Net | SRL-Anchored QA | Final Research Presentation</a:t>
            </a:r>
          </a:p>
        </p:txBody>
      </p:sp>
      <p:sp>
        <p:nvSpPr>
          <p:cNvPr id="8" name="TextBox 7"/>
          <p:cNvSpPr txBox="1"/>
          <p:nvPr/>
        </p:nvSpPr>
        <p:spPr>
          <a:xfrm>
            <a:off x="11064240" y="6510528"/>
            <a:ext cx="640080" cy="182880"/>
          </a:xfrm>
          <a:prstGeom prst="rect">
            <a:avLst/>
          </a:prstGeom>
          <a:noFill/>
        </p:spPr>
        <p:txBody>
          <a:bodyPr wrap="none">
            <a:spAutoFit/>
          </a:bodyPr>
          <a:lstStyle/>
          <a:p>
            <a:pPr algn="r">
              <a:defRPr sz="1000" b="1">
                <a:solidFill>
                  <a:srgbClr val="5E6C84"/>
                </a:solidFill>
                <a:latin typeface="Aptos"/>
              </a:defRPr>
            </a:pPr>
            <a:r>
              <a:t>23</a:t>
            </a:r>
          </a:p>
        </p:txBody>
      </p:sp>
      <p:sp>
        <p:nvSpPr>
          <p:cNvPr id="9" name="Rounded Rectangle 8"/>
          <p:cNvSpPr/>
          <p:nvPr/>
        </p:nvSpPr>
        <p:spPr>
          <a:xfrm>
            <a:off x="731520" y="868680"/>
            <a:ext cx="3017520" cy="256032"/>
          </a:xfrm>
          <a:prstGeom prst="round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Aptos"/>
              </a:defRPr>
            </a:pPr>
            <a:r>
              <a:t>Challenge Example: WHERE / ARGM-LOC</a:t>
            </a:r>
          </a:p>
        </p:txBody>
      </p:sp>
      <p:sp>
        <p:nvSpPr>
          <p:cNvPr id="10" name="TextBox 9"/>
          <p:cNvSpPr txBox="1"/>
          <p:nvPr/>
        </p:nvSpPr>
        <p:spPr>
          <a:xfrm>
            <a:off x="731520" y="1325880"/>
            <a:ext cx="4937760" cy="1097280"/>
          </a:xfrm>
          <a:prstGeom prst="rect">
            <a:avLst/>
          </a:prstGeom>
          <a:noFill/>
        </p:spPr>
        <p:txBody>
          <a:bodyPr wrap="square" lIns="0" tIns="0" rIns="0" bIns="0">
            <a:spAutoFit/>
          </a:bodyPr>
          <a:lstStyle/>
          <a:p>
            <a:pPr algn="l">
              <a:defRPr sz="1500" b="0">
                <a:solidFill>
                  <a:srgbClr val="222831"/>
                </a:solidFill>
                <a:latin typeface="Aptos"/>
              </a:defRPr>
            </a:pPr>
            <a:r>
              <a:t>Context: The courier delivered the package to the office at noon.</a:t>
            </a:r>
          </a:p>
        </p:txBody>
      </p:sp>
      <p:sp>
        <p:nvSpPr>
          <p:cNvPr id="11" name="TextBox 10"/>
          <p:cNvSpPr txBox="1"/>
          <p:nvPr/>
        </p:nvSpPr>
        <p:spPr>
          <a:xfrm>
            <a:off x="731520" y="2377440"/>
            <a:ext cx="4937760" cy="411480"/>
          </a:xfrm>
          <a:prstGeom prst="rect">
            <a:avLst/>
          </a:prstGeom>
          <a:noFill/>
        </p:spPr>
        <p:txBody>
          <a:bodyPr wrap="square" lIns="0" tIns="0" rIns="0" bIns="0">
            <a:spAutoFit/>
          </a:bodyPr>
          <a:lstStyle/>
          <a:p>
            <a:pPr algn="l">
              <a:defRPr sz="1700" b="1">
                <a:solidFill>
                  <a:srgbClr val="0D1B2A"/>
                </a:solidFill>
                <a:latin typeface="Aptos"/>
              </a:defRPr>
            </a:pPr>
            <a:r>
              <a:t>Question: Where was the package delivered?</a:t>
            </a:r>
          </a:p>
        </p:txBody>
      </p:sp>
      <p:sp>
        <p:nvSpPr>
          <p:cNvPr id="12" name="Rounded Rectangle 11"/>
          <p:cNvSpPr/>
          <p:nvPr/>
        </p:nvSpPr>
        <p:spPr>
          <a:xfrm>
            <a:off x="777240" y="2971800"/>
            <a:ext cx="2011680" cy="91440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777240" y="2971800"/>
            <a:ext cx="109728" cy="914400"/>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33271" y="3136392"/>
            <a:ext cx="1600200" cy="256032"/>
          </a:xfrm>
          <a:prstGeom prst="rect">
            <a:avLst/>
          </a:prstGeom>
          <a:noFill/>
        </p:spPr>
        <p:txBody>
          <a:bodyPr wrap="square" lIns="0" tIns="0" rIns="0" bIns="0">
            <a:spAutoFit/>
          </a:bodyPr>
          <a:lstStyle/>
          <a:p>
            <a:pPr algn="l">
              <a:defRPr sz="1100" b="1">
                <a:solidFill>
                  <a:srgbClr val="5E6C84"/>
                </a:solidFill>
                <a:latin typeface="Aptos"/>
              </a:defRPr>
            </a:pPr>
            <a:r>
              <a:t>Expected Answer</a:t>
            </a:r>
          </a:p>
        </p:txBody>
      </p:sp>
      <p:sp>
        <p:nvSpPr>
          <p:cNvPr id="15" name="TextBox 14"/>
          <p:cNvSpPr txBox="1"/>
          <p:nvPr/>
        </p:nvSpPr>
        <p:spPr>
          <a:xfrm>
            <a:off x="1033271" y="3383280"/>
            <a:ext cx="1600200" cy="402336"/>
          </a:xfrm>
          <a:prstGeom prst="rect">
            <a:avLst/>
          </a:prstGeom>
          <a:noFill/>
        </p:spPr>
        <p:txBody>
          <a:bodyPr wrap="square" lIns="0" tIns="0" rIns="0" bIns="0">
            <a:spAutoFit/>
          </a:bodyPr>
          <a:lstStyle/>
          <a:p>
            <a:pPr algn="l">
              <a:defRPr sz="2100" b="1">
                <a:solidFill>
                  <a:srgbClr val="0D1B2A"/>
                </a:solidFill>
                <a:latin typeface="Aptos"/>
              </a:defRPr>
            </a:pPr>
            <a:r>
              <a:t>to the office</a:t>
            </a:r>
          </a:p>
        </p:txBody>
      </p:sp>
      <p:sp>
        <p:nvSpPr>
          <p:cNvPr id="16" name="Rounded Rectangle 15"/>
          <p:cNvSpPr/>
          <p:nvPr/>
        </p:nvSpPr>
        <p:spPr>
          <a:xfrm>
            <a:off x="2971800" y="2971800"/>
            <a:ext cx="2011680" cy="91440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971800" y="2971800"/>
            <a:ext cx="109728"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227832" y="3136392"/>
            <a:ext cx="1600200" cy="256032"/>
          </a:xfrm>
          <a:prstGeom prst="rect">
            <a:avLst/>
          </a:prstGeom>
          <a:noFill/>
        </p:spPr>
        <p:txBody>
          <a:bodyPr wrap="square" lIns="0" tIns="0" rIns="0" bIns="0">
            <a:spAutoFit/>
          </a:bodyPr>
          <a:lstStyle/>
          <a:p>
            <a:pPr algn="l">
              <a:defRPr sz="1100" b="1">
                <a:solidFill>
                  <a:srgbClr val="5E6C84"/>
                </a:solidFill>
                <a:latin typeface="Aptos"/>
              </a:defRPr>
            </a:pPr>
            <a:r>
              <a:t>Predicted Role</a:t>
            </a:r>
          </a:p>
        </p:txBody>
      </p:sp>
      <p:sp>
        <p:nvSpPr>
          <p:cNvPr id="19" name="TextBox 18"/>
          <p:cNvSpPr txBox="1"/>
          <p:nvPr/>
        </p:nvSpPr>
        <p:spPr>
          <a:xfrm>
            <a:off x="3227832" y="3383280"/>
            <a:ext cx="1600200" cy="402336"/>
          </a:xfrm>
          <a:prstGeom prst="rect">
            <a:avLst/>
          </a:prstGeom>
          <a:noFill/>
        </p:spPr>
        <p:txBody>
          <a:bodyPr wrap="square" lIns="0" tIns="0" rIns="0" bIns="0">
            <a:spAutoFit/>
          </a:bodyPr>
          <a:lstStyle/>
          <a:p>
            <a:pPr algn="l">
              <a:defRPr sz="2100" b="1">
                <a:solidFill>
                  <a:srgbClr val="0D1B2A"/>
                </a:solidFill>
                <a:latin typeface="Aptos"/>
              </a:defRPr>
            </a:pPr>
            <a:r>
              <a:t>ARGM-LOC</a:t>
            </a:r>
          </a:p>
        </p:txBody>
      </p:sp>
      <p:sp>
        <p:nvSpPr>
          <p:cNvPr id="20" name="Rounded Rectangle 19"/>
          <p:cNvSpPr/>
          <p:nvPr/>
        </p:nvSpPr>
        <p:spPr>
          <a:xfrm>
            <a:off x="777240" y="4069080"/>
            <a:ext cx="2011680" cy="91440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777240" y="4069080"/>
            <a:ext cx="109728" cy="914400"/>
          </a:xfrm>
          <a:prstGeom prst="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33271" y="4233672"/>
            <a:ext cx="1600200" cy="256032"/>
          </a:xfrm>
          <a:prstGeom prst="rect">
            <a:avLst/>
          </a:prstGeom>
          <a:noFill/>
        </p:spPr>
        <p:txBody>
          <a:bodyPr wrap="square" lIns="0" tIns="0" rIns="0" bIns="0">
            <a:spAutoFit/>
          </a:bodyPr>
          <a:lstStyle/>
          <a:p>
            <a:pPr algn="l">
              <a:defRPr sz="1100" b="1">
                <a:solidFill>
                  <a:srgbClr val="5E6C84"/>
                </a:solidFill>
                <a:latin typeface="Aptos"/>
              </a:defRPr>
            </a:pPr>
            <a:r>
              <a:t>Exact Match</a:t>
            </a:r>
          </a:p>
        </p:txBody>
      </p:sp>
      <p:sp>
        <p:nvSpPr>
          <p:cNvPr id="23" name="TextBox 22"/>
          <p:cNvSpPr txBox="1"/>
          <p:nvPr/>
        </p:nvSpPr>
        <p:spPr>
          <a:xfrm>
            <a:off x="1033271" y="4480560"/>
            <a:ext cx="1600200" cy="402336"/>
          </a:xfrm>
          <a:prstGeom prst="rect">
            <a:avLst/>
          </a:prstGeom>
          <a:noFill/>
        </p:spPr>
        <p:txBody>
          <a:bodyPr wrap="square" lIns="0" tIns="0" rIns="0" bIns="0">
            <a:spAutoFit/>
          </a:bodyPr>
          <a:lstStyle/>
          <a:p>
            <a:pPr algn="l">
              <a:defRPr sz="2100" b="1">
                <a:solidFill>
                  <a:srgbClr val="0D1B2A"/>
                </a:solidFill>
                <a:latin typeface="Aptos"/>
              </a:defRPr>
            </a:pPr>
            <a:r>
              <a:t>100.0%</a:t>
            </a:r>
          </a:p>
        </p:txBody>
      </p:sp>
      <p:sp>
        <p:nvSpPr>
          <p:cNvPr id="24" name="Rounded Rectangle 23"/>
          <p:cNvSpPr/>
          <p:nvPr/>
        </p:nvSpPr>
        <p:spPr>
          <a:xfrm>
            <a:off x="2971800" y="4069080"/>
            <a:ext cx="2011680" cy="91440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2971800" y="4069080"/>
            <a:ext cx="109728" cy="914400"/>
          </a:xfrm>
          <a:prstGeom prst="rect">
            <a:avLst/>
          </a:prstGeom>
          <a:solidFill>
            <a:srgbClr val="2180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227832" y="4233672"/>
            <a:ext cx="1600200" cy="256032"/>
          </a:xfrm>
          <a:prstGeom prst="rect">
            <a:avLst/>
          </a:prstGeom>
          <a:noFill/>
        </p:spPr>
        <p:txBody>
          <a:bodyPr wrap="square" lIns="0" tIns="0" rIns="0" bIns="0">
            <a:spAutoFit/>
          </a:bodyPr>
          <a:lstStyle/>
          <a:p>
            <a:pPr algn="l">
              <a:defRPr sz="1100" b="1">
                <a:solidFill>
                  <a:srgbClr val="5E6C84"/>
                </a:solidFill>
                <a:latin typeface="Aptos"/>
              </a:defRPr>
            </a:pPr>
            <a:r>
              <a:t>Token F1</a:t>
            </a:r>
          </a:p>
        </p:txBody>
      </p:sp>
      <p:sp>
        <p:nvSpPr>
          <p:cNvPr id="27" name="TextBox 26"/>
          <p:cNvSpPr txBox="1"/>
          <p:nvPr/>
        </p:nvSpPr>
        <p:spPr>
          <a:xfrm>
            <a:off x="3227832" y="4480560"/>
            <a:ext cx="1600200" cy="402336"/>
          </a:xfrm>
          <a:prstGeom prst="rect">
            <a:avLst/>
          </a:prstGeom>
          <a:noFill/>
        </p:spPr>
        <p:txBody>
          <a:bodyPr wrap="square" lIns="0" tIns="0" rIns="0" bIns="0">
            <a:spAutoFit/>
          </a:bodyPr>
          <a:lstStyle/>
          <a:p>
            <a:pPr algn="l">
              <a:defRPr sz="2100" b="1">
                <a:solidFill>
                  <a:srgbClr val="0D1B2A"/>
                </a:solidFill>
                <a:latin typeface="Aptos"/>
              </a:defRPr>
            </a:pPr>
            <a:r>
              <a:t>100.0%</a:t>
            </a:r>
          </a:p>
        </p:txBody>
      </p:sp>
      <p:sp>
        <p:nvSpPr>
          <p:cNvPr id="28" name="TextBox 27"/>
          <p:cNvSpPr txBox="1"/>
          <p:nvPr/>
        </p:nvSpPr>
        <p:spPr>
          <a:xfrm>
            <a:off x="777240" y="5212080"/>
            <a:ext cx="1828800" cy="228600"/>
          </a:xfrm>
          <a:prstGeom prst="rect">
            <a:avLst/>
          </a:prstGeom>
          <a:noFill/>
        </p:spPr>
        <p:txBody>
          <a:bodyPr wrap="square" lIns="0" tIns="0" rIns="0" bIns="0">
            <a:spAutoFit/>
          </a:bodyPr>
          <a:lstStyle/>
          <a:p>
            <a:pPr algn="l">
              <a:defRPr sz="1500" b="1">
                <a:solidFill>
                  <a:srgbClr val="0D1B2A"/>
                </a:solidFill>
                <a:latin typeface="Aptos"/>
              </a:defRPr>
            </a:pPr>
            <a:r>
              <a:t>Reasoning summary</a:t>
            </a:r>
          </a:p>
        </p:txBody>
      </p:sp>
      <p:sp>
        <p:nvSpPr>
          <p:cNvPr id="29" name="TextBox 28"/>
          <p:cNvSpPr txBox="1"/>
          <p:nvPr/>
        </p:nvSpPr>
        <p:spPr>
          <a:xfrm>
            <a:off x="777240" y="5486400"/>
            <a:ext cx="4754880" cy="640080"/>
          </a:xfrm>
          <a:prstGeom prst="rect">
            <a:avLst/>
          </a:prstGeom>
          <a:noFill/>
        </p:spPr>
        <p:txBody>
          <a:bodyPr wrap="square" lIns="0" tIns="0" rIns="0" bIns="0">
            <a:spAutoFit/>
          </a:bodyPr>
          <a:lstStyle/>
          <a:p>
            <a:pPr algn="l">
              <a:defRPr sz="1200" b="0">
                <a:solidFill>
                  <a:srgbClr val="222831"/>
                </a:solidFill>
                <a:latin typeface="Aptos"/>
              </a:defRPr>
            </a:pPr>
            <a:r>
              <a:t>Question pattern 'WHERE' mapped to ARGM-LOC. The hybrid reranker aligned the predicate 'delivered' and selected 'to the office' from heuristic_location evidence because it best matched the expected role.</a:t>
            </a:r>
          </a:p>
        </p:txBody>
      </p:sp>
      <p:graphicFrame>
        <p:nvGraphicFramePr>
          <p:cNvPr id="30" name="Table 29"/>
          <p:cNvGraphicFramePr>
            <a:graphicFrameLocks noGrp="1"/>
          </p:cNvGraphicFramePr>
          <p:nvPr/>
        </p:nvGraphicFramePr>
        <p:xfrm>
          <a:off x="5806440" y="1143000"/>
          <a:ext cx="5486400" cy="4480560"/>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1371600">
                  <a:extLst>
                    <a:ext uri="{9D8B030D-6E8A-4147-A177-3AD203B41FA5}">
                      <a16:colId xmlns:a16="http://schemas.microsoft.com/office/drawing/2014/main" val="20002"/>
                    </a:ext>
                  </a:extLst>
                </a:gridCol>
                <a:gridCol w="1371600">
                  <a:extLst>
                    <a:ext uri="{9D8B030D-6E8A-4147-A177-3AD203B41FA5}">
                      <a16:colId xmlns:a16="http://schemas.microsoft.com/office/drawing/2014/main" val="20003"/>
                    </a:ext>
                  </a:extLst>
                </a:gridCol>
              </a:tblGrid>
              <a:tr h="1120140">
                <a:tc>
                  <a:txBody>
                    <a:bodyPr/>
                    <a:lstStyle/>
                    <a:p>
                      <a:pPr algn="ctr">
                        <a:defRPr sz="1100" b="1">
                          <a:solidFill>
                            <a:srgbClr val="FFFFFF"/>
                          </a:solidFill>
                          <a:latin typeface="Aptos"/>
                        </a:defRPr>
                      </a:pPr>
                      <a:r>
                        <a:t>Candidate</a:t>
                      </a:r>
                    </a:p>
                  </a:txBody>
                  <a:tcPr anchor="ctr">
                    <a:solidFill>
                      <a:srgbClr val="0D1B2A"/>
                    </a:solidFill>
                  </a:tcPr>
                </a:tc>
                <a:tc>
                  <a:txBody>
                    <a:bodyPr/>
                    <a:lstStyle/>
                    <a:p>
                      <a:pPr algn="ctr">
                        <a:defRPr sz="1100" b="1">
                          <a:solidFill>
                            <a:srgbClr val="FFFFFF"/>
                          </a:solidFill>
                          <a:latin typeface="Aptos"/>
                        </a:defRPr>
                      </a:pPr>
                      <a:r>
                        <a:t>Role</a:t>
                      </a:r>
                    </a:p>
                  </a:txBody>
                  <a:tcPr anchor="ctr">
                    <a:solidFill>
                      <a:srgbClr val="0D1B2A"/>
                    </a:solidFill>
                  </a:tcPr>
                </a:tc>
                <a:tc>
                  <a:txBody>
                    <a:bodyPr/>
                    <a:lstStyle/>
                    <a:p>
                      <a:pPr algn="ctr">
                        <a:defRPr sz="1100" b="1">
                          <a:solidFill>
                            <a:srgbClr val="FFFFFF"/>
                          </a:solidFill>
                          <a:latin typeface="Aptos"/>
                        </a:defRPr>
                      </a:pPr>
                      <a:r>
                        <a:t>Source</a:t>
                      </a:r>
                    </a:p>
                  </a:txBody>
                  <a:tcPr anchor="ctr">
                    <a:solidFill>
                      <a:srgbClr val="0D1B2A"/>
                    </a:solidFill>
                  </a:tcPr>
                </a:tc>
                <a:tc>
                  <a:txBody>
                    <a:bodyPr/>
                    <a:lstStyle/>
                    <a:p>
                      <a:pPr algn="ctr">
                        <a:defRPr sz="1100" b="1">
                          <a:solidFill>
                            <a:srgbClr val="FFFFFF"/>
                          </a:solidFill>
                          <a:latin typeface="Aptos"/>
                        </a:defRPr>
                      </a:pPr>
                      <a:r>
                        <a:t>Score</a:t>
                      </a:r>
                    </a:p>
                  </a:txBody>
                  <a:tcPr anchor="ctr">
                    <a:solidFill>
                      <a:srgbClr val="0D1B2A"/>
                    </a:solidFill>
                  </a:tcPr>
                </a:tc>
                <a:extLst>
                  <a:ext uri="{0D108BD9-81ED-4DB2-BD59-A6C34878D82A}">
                    <a16:rowId xmlns:a16="http://schemas.microsoft.com/office/drawing/2014/main" val="10000"/>
                  </a:ext>
                </a:extLst>
              </a:tr>
              <a:tr h="1120140">
                <a:tc>
                  <a:txBody>
                    <a:bodyPr/>
                    <a:lstStyle/>
                    <a:p>
                      <a:pPr algn="l">
                        <a:defRPr sz="1100" b="0">
                          <a:solidFill>
                            <a:srgbClr val="222831"/>
                          </a:solidFill>
                          <a:latin typeface="Aptos"/>
                        </a:defRPr>
                      </a:pPr>
                      <a:r>
                        <a:t>to the office</a:t>
                      </a:r>
                    </a:p>
                  </a:txBody>
                  <a:tcPr anchor="ctr">
                    <a:solidFill>
                      <a:srgbClr val="FFFFFF"/>
                    </a:solidFill>
                  </a:tcPr>
                </a:tc>
                <a:tc>
                  <a:txBody>
                    <a:bodyPr/>
                    <a:lstStyle/>
                    <a:p>
                      <a:pPr algn="l">
                        <a:defRPr sz="1100" b="0">
                          <a:solidFill>
                            <a:srgbClr val="222831"/>
                          </a:solidFill>
                          <a:latin typeface="Aptos"/>
                        </a:defRPr>
                      </a:pPr>
                      <a:r>
                        <a:t>ARGM-LOC</a:t>
                      </a:r>
                    </a:p>
                  </a:txBody>
                  <a:tcPr anchor="ctr">
                    <a:solidFill>
                      <a:srgbClr val="FFFFFF"/>
                    </a:solidFill>
                  </a:tcPr>
                </a:tc>
                <a:tc>
                  <a:txBody>
                    <a:bodyPr/>
                    <a:lstStyle/>
                    <a:p>
                      <a:pPr algn="l">
                        <a:defRPr sz="1100" b="0">
                          <a:solidFill>
                            <a:srgbClr val="222831"/>
                          </a:solidFill>
                          <a:latin typeface="Aptos"/>
                        </a:defRPr>
                      </a:pPr>
                      <a:r>
                        <a:t>heuristic_location</a:t>
                      </a:r>
                    </a:p>
                  </a:txBody>
                  <a:tcPr anchor="ctr">
                    <a:solidFill>
                      <a:srgbClr val="FFFFFF"/>
                    </a:solidFill>
                  </a:tcPr>
                </a:tc>
                <a:tc>
                  <a:txBody>
                    <a:bodyPr/>
                    <a:lstStyle/>
                    <a:p>
                      <a:pPr algn="l">
                        <a:defRPr sz="1100" b="0">
                          <a:solidFill>
                            <a:srgbClr val="222831"/>
                          </a:solidFill>
                          <a:latin typeface="Aptos"/>
                        </a:defRPr>
                      </a:pPr>
                      <a:r>
                        <a:t>0.658</a:t>
                      </a:r>
                    </a:p>
                  </a:txBody>
                  <a:tcPr anchor="ctr">
                    <a:solidFill>
                      <a:srgbClr val="FFFFFF"/>
                    </a:solidFill>
                  </a:tcPr>
                </a:tc>
                <a:extLst>
                  <a:ext uri="{0D108BD9-81ED-4DB2-BD59-A6C34878D82A}">
                    <a16:rowId xmlns:a16="http://schemas.microsoft.com/office/drawing/2014/main" val="10001"/>
                  </a:ext>
                </a:extLst>
              </a:tr>
              <a:tr h="1120140">
                <a:tc>
                  <a:txBody>
                    <a:bodyPr/>
                    <a:lstStyle/>
                    <a:p>
                      <a:pPr algn="l">
                        <a:defRPr sz="1100" b="0">
                          <a:solidFill>
                            <a:srgbClr val="222831"/>
                          </a:solidFill>
                          <a:latin typeface="Aptos"/>
                        </a:defRPr>
                      </a:pPr>
                      <a:r>
                        <a:t>at noon</a:t>
                      </a:r>
                    </a:p>
                  </a:txBody>
                  <a:tcPr anchor="ctr">
                    <a:solidFill>
                      <a:srgbClr val="FFFFFF"/>
                    </a:solidFill>
                  </a:tcPr>
                </a:tc>
                <a:tc>
                  <a:txBody>
                    <a:bodyPr/>
                    <a:lstStyle/>
                    <a:p>
                      <a:pPr algn="l">
                        <a:defRPr sz="1100" b="0">
                          <a:solidFill>
                            <a:srgbClr val="222831"/>
                          </a:solidFill>
                          <a:latin typeface="Aptos"/>
                        </a:defRPr>
                      </a:pPr>
                      <a:r>
                        <a:t>ARGM-LOC</a:t>
                      </a:r>
                    </a:p>
                  </a:txBody>
                  <a:tcPr anchor="ctr">
                    <a:solidFill>
                      <a:srgbClr val="FFFFFF"/>
                    </a:solidFill>
                  </a:tcPr>
                </a:tc>
                <a:tc>
                  <a:txBody>
                    <a:bodyPr/>
                    <a:lstStyle/>
                    <a:p>
                      <a:pPr algn="l">
                        <a:defRPr sz="1100" b="0">
                          <a:solidFill>
                            <a:srgbClr val="222831"/>
                          </a:solidFill>
                          <a:latin typeface="Aptos"/>
                        </a:defRPr>
                      </a:pPr>
                      <a:r>
                        <a:t>heuristic_location</a:t>
                      </a:r>
                    </a:p>
                  </a:txBody>
                  <a:tcPr anchor="ctr">
                    <a:solidFill>
                      <a:srgbClr val="FFFFFF"/>
                    </a:solidFill>
                  </a:tcPr>
                </a:tc>
                <a:tc>
                  <a:txBody>
                    <a:bodyPr/>
                    <a:lstStyle/>
                    <a:p>
                      <a:pPr algn="l">
                        <a:defRPr sz="1100" b="0">
                          <a:solidFill>
                            <a:srgbClr val="222831"/>
                          </a:solidFill>
                          <a:latin typeface="Aptos"/>
                        </a:defRPr>
                      </a:pPr>
                      <a:r>
                        <a:t>0.626</a:t>
                      </a:r>
                    </a:p>
                  </a:txBody>
                  <a:tcPr anchor="ctr">
                    <a:solidFill>
                      <a:srgbClr val="FFFFFF"/>
                    </a:solidFill>
                  </a:tcPr>
                </a:tc>
                <a:extLst>
                  <a:ext uri="{0D108BD9-81ED-4DB2-BD59-A6C34878D82A}">
                    <a16:rowId xmlns:a16="http://schemas.microsoft.com/office/drawing/2014/main" val="10002"/>
                  </a:ext>
                </a:extLst>
              </a:tr>
              <a:tr h="1120140">
                <a:tc>
                  <a:txBody>
                    <a:bodyPr/>
                    <a:lstStyle/>
                    <a:p>
                      <a:pPr algn="l">
                        <a:defRPr sz="1100" b="0">
                          <a:solidFill>
                            <a:srgbClr val="222831"/>
                          </a:solidFill>
                          <a:latin typeface="Aptos"/>
                        </a:defRPr>
                      </a:pPr>
                      <a:r>
                        <a:t>delivered the package to the office at noon</a:t>
                      </a:r>
                    </a:p>
                  </a:txBody>
                  <a:tcPr anchor="ctr">
                    <a:solidFill>
                      <a:srgbClr val="FFFFFF"/>
                    </a:solidFill>
                  </a:tcPr>
                </a:tc>
                <a:tc>
                  <a:txBody>
                    <a:bodyPr/>
                    <a:lstStyle/>
                    <a:p>
                      <a:pPr algn="l">
                        <a:defRPr sz="1100" b="0">
                          <a:solidFill>
                            <a:srgbClr val="222831"/>
                          </a:solidFill>
                          <a:latin typeface="Aptos"/>
                        </a:defRPr>
                      </a:pPr>
                      <a:r>
                        <a:t>ARG1</a:t>
                      </a:r>
                    </a:p>
                  </a:txBody>
                  <a:tcPr anchor="ctr">
                    <a:solidFill>
                      <a:srgbClr val="FFFFFF"/>
                    </a:solidFill>
                  </a:tcPr>
                </a:tc>
                <a:tc>
                  <a:txBody>
                    <a:bodyPr/>
                    <a:lstStyle/>
                    <a:p>
                      <a:pPr algn="l">
                        <a:defRPr sz="1100" b="0">
                          <a:solidFill>
                            <a:srgbClr val="222831"/>
                          </a:solidFill>
                          <a:latin typeface="Aptos"/>
                        </a:defRPr>
                      </a:pPr>
                      <a:r>
                        <a:t>baseline</a:t>
                      </a:r>
                    </a:p>
                  </a:txBody>
                  <a:tcPr anchor="ctr">
                    <a:solidFill>
                      <a:srgbClr val="FFFFFF"/>
                    </a:solidFill>
                  </a:tcPr>
                </a:tc>
                <a:tc>
                  <a:txBody>
                    <a:bodyPr/>
                    <a:lstStyle/>
                    <a:p>
                      <a:pPr algn="l">
                        <a:defRPr sz="1100" b="0">
                          <a:solidFill>
                            <a:srgbClr val="222831"/>
                          </a:solidFill>
                          <a:latin typeface="Aptos"/>
                        </a:defRPr>
                      </a:pPr>
                      <a:r>
                        <a:t>0.421</a:t>
                      </a:r>
                    </a:p>
                  </a:txBody>
                  <a:tcPr anchor="ctr">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0352"/>
            <a:ext cx="12191695" cy="54864"/>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8138160" cy="301752"/>
          </a:xfrm>
          <a:prstGeom prst="rect">
            <a:avLst/>
          </a:prstGeom>
          <a:noFill/>
        </p:spPr>
        <p:txBody>
          <a:bodyPr wrap="none">
            <a:spAutoFit/>
          </a:bodyPr>
          <a:lstStyle/>
          <a:p>
            <a:pPr>
              <a:defRPr sz="2800" b="1">
                <a:solidFill>
                  <a:srgbClr val="FFFFFF"/>
                </a:solidFill>
                <a:latin typeface="Aptos Display"/>
              </a:defRPr>
            </a:pPr>
            <a:r>
              <a:t>Hybrid Reasoning Example: Manner and Recipient</a:t>
            </a:r>
          </a:p>
        </p:txBody>
      </p:sp>
      <p:sp>
        <p:nvSpPr>
          <p:cNvPr id="5" name="Rounded Rectangle 4"/>
          <p:cNvSpPr/>
          <p:nvPr/>
        </p:nvSpPr>
        <p:spPr>
          <a:xfrm>
            <a:off x="9966960" y="109728"/>
            <a:ext cx="1783080" cy="274320"/>
          </a:xfrm>
          <a:prstGeom prst="round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D1B2A"/>
                </a:solidFill>
                <a:latin typeface="Aptos"/>
              </a:defRPr>
            </a:pPr>
            <a:r>
              <a:t>ANALYSIS</a:t>
            </a:r>
          </a:p>
        </p:txBody>
      </p:sp>
      <p:sp>
        <p:nvSpPr>
          <p:cNvPr id="6" name="Rectangle 5"/>
          <p:cNvSpPr/>
          <p:nvPr/>
        </p:nvSpPr>
        <p:spPr>
          <a:xfrm>
            <a:off x="365760" y="6519672"/>
            <a:ext cx="11430000" cy="9144"/>
          </a:xfrm>
          <a:prstGeom prst="rect">
            <a:avLst/>
          </a:prstGeom>
          <a:solidFill>
            <a:srgbClr val="D9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537960"/>
            <a:ext cx="10515600" cy="164592"/>
          </a:xfrm>
          <a:prstGeom prst="rect">
            <a:avLst/>
          </a:prstGeom>
          <a:noFill/>
        </p:spPr>
        <p:txBody>
          <a:bodyPr wrap="none">
            <a:spAutoFit/>
          </a:bodyPr>
          <a:lstStyle/>
          <a:p>
            <a:pPr>
              <a:defRPr sz="900">
                <a:solidFill>
                  <a:srgbClr val="5E6C84"/>
                </a:solidFill>
                <a:latin typeface="Aptos"/>
              </a:defRPr>
            </a:pPr>
            <a:r>
              <a:t>PropQA-Net | SRL-Anchored QA | Final Research Presentation</a:t>
            </a:r>
          </a:p>
        </p:txBody>
      </p:sp>
      <p:sp>
        <p:nvSpPr>
          <p:cNvPr id="8" name="TextBox 7"/>
          <p:cNvSpPr txBox="1"/>
          <p:nvPr/>
        </p:nvSpPr>
        <p:spPr>
          <a:xfrm>
            <a:off x="11064240" y="6510528"/>
            <a:ext cx="640080" cy="182880"/>
          </a:xfrm>
          <a:prstGeom prst="rect">
            <a:avLst/>
          </a:prstGeom>
          <a:noFill/>
        </p:spPr>
        <p:txBody>
          <a:bodyPr wrap="none">
            <a:spAutoFit/>
          </a:bodyPr>
          <a:lstStyle/>
          <a:p>
            <a:pPr algn="r">
              <a:defRPr sz="1000" b="1">
                <a:solidFill>
                  <a:srgbClr val="5E6C84"/>
                </a:solidFill>
                <a:latin typeface="Aptos"/>
              </a:defRPr>
            </a:pPr>
            <a:r>
              <a:t>24</a:t>
            </a:r>
          </a:p>
        </p:txBody>
      </p:sp>
      <p:sp>
        <p:nvSpPr>
          <p:cNvPr id="9" name="Rounded Rectangle 8"/>
          <p:cNvSpPr/>
          <p:nvPr/>
        </p:nvSpPr>
        <p:spPr>
          <a:xfrm>
            <a:off x="731520" y="868680"/>
            <a:ext cx="3017520" cy="256032"/>
          </a:xfrm>
          <a:prstGeom prst="round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050" b="1">
                <a:solidFill>
                  <a:srgbClr val="FFFFFF"/>
                </a:solidFill>
                <a:latin typeface="Aptos"/>
              </a:defRPr>
            </a:pPr>
            <a:r>
              <a:t>Challenge Example: HOW / ARGM-MNR</a:t>
            </a:r>
          </a:p>
        </p:txBody>
      </p:sp>
      <p:sp>
        <p:nvSpPr>
          <p:cNvPr id="10" name="TextBox 9"/>
          <p:cNvSpPr txBox="1"/>
          <p:nvPr/>
        </p:nvSpPr>
        <p:spPr>
          <a:xfrm>
            <a:off x="731520" y="1234440"/>
            <a:ext cx="4572000" cy="777240"/>
          </a:xfrm>
          <a:prstGeom prst="rect">
            <a:avLst/>
          </a:prstGeom>
          <a:noFill/>
        </p:spPr>
        <p:txBody>
          <a:bodyPr wrap="square" lIns="0" tIns="0" rIns="0" bIns="0">
            <a:spAutoFit/>
          </a:bodyPr>
          <a:lstStyle/>
          <a:p>
            <a:pPr algn="l">
              <a:defRPr sz="1400" b="0">
                <a:solidFill>
                  <a:srgbClr val="222831"/>
                </a:solidFill>
                <a:latin typeface="Aptos"/>
              </a:defRPr>
            </a:pPr>
            <a:r>
              <a:t>Context: The engineer repaired the machine carefully with a small screwdriver.</a:t>
            </a:r>
          </a:p>
        </p:txBody>
      </p:sp>
      <p:sp>
        <p:nvSpPr>
          <p:cNvPr id="11" name="TextBox 10"/>
          <p:cNvSpPr txBox="1"/>
          <p:nvPr/>
        </p:nvSpPr>
        <p:spPr>
          <a:xfrm>
            <a:off x="731520" y="1965960"/>
            <a:ext cx="4572000" cy="365760"/>
          </a:xfrm>
          <a:prstGeom prst="rect">
            <a:avLst/>
          </a:prstGeom>
          <a:noFill/>
        </p:spPr>
        <p:txBody>
          <a:bodyPr wrap="square" lIns="0" tIns="0" rIns="0" bIns="0">
            <a:spAutoFit/>
          </a:bodyPr>
          <a:lstStyle/>
          <a:p>
            <a:pPr algn="l">
              <a:defRPr sz="1600" b="1">
                <a:solidFill>
                  <a:srgbClr val="0D1B2A"/>
                </a:solidFill>
                <a:latin typeface="Aptos"/>
              </a:defRPr>
            </a:pPr>
            <a:r>
              <a:t>Question: How did the engineer repair the machine?</a:t>
            </a:r>
          </a:p>
        </p:txBody>
      </p:sp>
      <p:graphicFrame>
        <p:nvGraphicFramePr>
          <p:cNvPr id="12" name="Table 11"/>
          <p:cNvGraphicFramePr>
            <a:graphicFrameLocks noGrp="1"/>
          </p:cNvGraphicFramePr>
          <p:nvPr/>
        </p:nvGraphicFramePr>
        <p:xfrm>
          <a:off x="731520" y="2514600"/>
          <a:ext cx="4800600" cy="2484120"/>
        </p:xfrm>
        <a:graphic>
          <a:graphicData uri="http://schemas.openxmlformats.org/drawingml/2006/table">
            <a:tbl>
              <a:tblPr firstRow="1" bandRow="1">
                <a:tableStyleId>{5C22544A-7EE6-4342-B048-85BDC9FD1C3A}</a:tableStyleId>
              </a:tblPr>
              <a:tblGrid>
                <a:gridCol w="1200150">
                  <a:extLst>
                    <a:ext uri="{9D8B030D-6E8A-4147-A177-3AD203B41FA5}">
                      <a16:colId xmlns:a16="http://schemas.microsoft.com/office/drawing/2014/main" val="20000"/>
                    </a:ext>
                  </a:extLst>
                </a:gridCol>
                <a:gridCol w="1200150">
                  <a:extLst>
                    <a:ext uri="{9D8B030D-6E8A-4147-A177-3AD203B41FA5}">
                      <a16:colId xmlns:a16="http://schemas.microsoft.com/office/drawing/2014/main" val="20001"/>
                    </a:ext>
                  </a:extLst>
                </a:gridCol>
                <a:gridCol w="1200150">
                  <a:extLst>
                    <a:ext uri="{9D8B030D-6E8A-4147-A177-3AD203B41FA5}">
                      <a16:colId xmlns:a16="http://schemas.microsoft.com/office/drawing/2014/main" val="20002"/>
                    </a:ext>
                  </a:extLst>
                </a:gridCol>
                <a:gridCol w="1200150">
                  <a:extLst>
                    <a:ext uri="{9D8B030D-6E8A-4147-A177-3AD203B41FA5}">
                      <a16:colId xmlns:a16="http://schemas.microsoft.com/office/drawing/2014/main" val="20003"/>
                    </a:ext>
                  </a:extLst>
                </a:gridCol>
              </a:tblGrid>
              <a:tr h="594360">
                <a:tc>
                  <a:txBody>
                    <a:bodyPr/>
                    <a:lstStyle/>
                    <a:p>
                      <a:pPr algn="ctr">
                        <a:defRPr sz="1000" b="1">
                          <a:solidFill>
                            <a:srgbClr val="FFFFFF"/>
                          </a:solidFill>
                          <a:latin typeface="Aptos"/>
                        </a:defRPr>
                      </a:pPr>
                      <a:r>
                        <a:t>Candidate</a:t>
                      </a:r>
                    </a:p>
                  </a:txBody>
                  <a:tcPr anchor="ctr">
                    <a:solidFill>
                      <a:srgbClr val="0D1B2A"/>
                    </a:solidFill>
                  </a:tcPr>
                </a:tc>
                <a:tc>
                  <a:txBody>
                    <a:bodyPr/>
                    <a:lstStyle/>
                    <a:p>
                      <a:pPr algn="ctr">
                        <a:defRPr sz="1000" b="1">
                          <a:solidFill>
                            <a:srgbClr val="FFFFFF"/>
                          </a:solidFill>
                          <a:latin typeface="Aptos"/>
                        </a:defRPr>
                      </a:pPr>
                      <a:r>
                        <a:t>Role</a:t>
                      </a:r>
                    </a:p>
                  </a:txBody>
                  <a:tcPr anchor="ctr">
                    <a:solidFill>
                      <a:srgbClr val="0D1B2A"/>
                    </a:solidFill>
                  </a:tcPr>
                </a:tc>
                <a:tc>
                  <a:txBody>
                    <a:bodyPr/>
                    <a:lstStyle/>
                    <a:p>
                      <a:pPr algn="ctr">
                        <a:defRPr sz="1000" b="1">
                          <a:solidFill>
                            <a:srgbClr val="FFFFFF"/>
                          </a:solidFill>
                          <a:latin typeface="Aptos"/>
                        </a:defRPr>
                      </a:pPr>
                      <a:r>
                        <a:t>Source</a:t>
                      </a:r>
                    </a:p>
                  </a:txBody>
                  <a:tcPr anchor="ctr">
                    <a:solidFill>
                      <a:srgbClr val="0D1B2A"/>
                    </a:solidFill>
                  </a:tcPr>
                </a:tc>
                <a:tc>
                  <a:txBody>
                    <a:bodyPr/>
                    <a:lstStyle/>
                    <a:p>
                      <a:pPr algn="ctr">
                        <a:defRPr sz="1000" b="1">
                          <a:solidFill>
                            <a:srgbClr val="FFFFFF"/>
                          </a:solidFill>
                          <a:latin typeface="Aptos"/>
                        </a:defRPr>
                      </a:pPr>
                      <a:r>
                        <a:t>Score</a:t>
                      </a:r>
                    </a:p>
                  </a:txBody>
                  <a:tcPr anchor="ctr">
                    <a:solidFill>
                      <a:srgbClr val="0D1B2A"/>
                    </a:solidFill>
                  </a:tcPr>
                </a:tc>
                <a:extLst>
                  <a:ext uri="{0D108BD9-81ED-4DB2-BD59-A6C34878D82A}">
                    <a16:rowId xmlns:a16="http://schemas.microsoft.com/office/drawing/2014/main" val="10000"/>
                  </a:ext>
                </a:extLst>
              </a:tr>
              <a:tr h="594360">
                <a:tc>
                  <a:txBody>
                    <a:bodyPr/>
                    <a:lstStyle/>
                    <a:p>
                      <a:pPr algn="l">
                        <a:defRPr sz="1000" b="0">
                          <a:solidFill>
                            <a:srgbClr val="222831"/>
                          </a:solidFill>
                          <a:latin typeface="Aptos"/>
                        </a:defRPr>
                      </a:pPr>
                      <a:r>
                        <a:t>carefully</a:t>
                      </a:r>
                    </a:p>
                  </a:txBody>
                  <a:tcPr anchor="ctr">
                    <a:solidFill>
                      <a:srgbClr val="FFFFFF"/>
                    </a:solidFill>
                  </a:tcPr>
                </a:tc>
                <a:tc>
                  <a:txBody>
                    <a:bodyPr/>
                    <a:lstStyle/>
                    <a:p>
                      <a:pPr algn="l">
                        <a:defRPr sz="1000" b="0">
                          <a:solidFill>
                            <a:srgbClr val="222831"/>
                          </a:solidFill>
                          <a:latin typeface="Aptos"/>
                        </a:defRPr>
                      </a:pPr>
                      <a:r>
                        <a:t>ARGM-MNR</a:t>
                      </a:r>
                    </a:p>
                  </a:txBody>
                  <a:tcPr anchor="ctr">
                    <a:solidFill>
                      <a:srgbClr val="FFFFFF"/>
                    </a:solidFill>
                  </a:tcPr>
                </a:tc>
                <a:tc>
                  <a:txBody>
                    <a:bodyPr/>
                    <a:lstStyle/>
                    <a:p>
                      <a:pPr algn="l">
                        <a:defRPr sz="1000" b="0">
                          <a:solidFill>
                            <a:srgbClr val="222831"/>
                          </a:solidFill>
                          <a:latin typeface="Aptos"/>
                        </a:defRPr>
                      </a:pPr>
                      <a:r>
                        <a:t>heuristic_manner</a:t>
                      </a:r>
                    </a:p>
                  </a:txBody>
                  <a:tcPr anchor="ctr">
                    <a:solidFill>
                      <a:srgbClr val="FFFFFF"/>
                    </a:solidFill>
                  </a:tcPr>
                </a:tc>
                <a:tc>
                  <a:txBody>
                    <a:bodyPr/>
                    <a:lstStyle/>
                    <a:p>
                      <a:pPr algn="l">
                        <a:defRPr sz="1000" b="0">
                          <a:solidFill>
                            <a:srgbClr val="222831"/>
                          </a:solidFill>
                          <a:latin typeface="Aptos"/>
                        </a:defRPr>
                      </a:pPr>
                      <a:r>
                        <a:t>0.621</a:t>
                      </a:r>
                    </a:p>
                  </a:txBody>
                  <a:tcPr anchor="ctr">
                    <a:solidFill>
                      <a:srgbClr val="FFFFFF"/>
                    </a:solidFill>
                  </a:tcPr>
                </a:tc>
                <a:extLst>
                  <a:ext uri="{0D108BD9-81ED-4DB2-BD59-A6C34878D82A}">
                    <a16:rowId xmlns:a16="http://schemas.microsoft.com/office/drawing/2014/main" val="10001"/>
                  </a:ext>
                </a:extLst>
              </a:tr>
              <a:tr h="594360">
                <a:tc>
                  <a:txBody>
                    <a:bodyPr/>
                    <a:lstStyle/>
                    <a:p>
                      <a:pPr algn="l">
                        <a:defRPr sz="1000" b="0">
                          <a:solidFill>
                            <a:srgbClr val="222831"/>
                          </a:solidFill>
                          <a:latin typeface="Aptos"/>
                        </a:defRPr>
                      </a:pPr>
                      <a:r>
                        <a:t>with a small screwdriver</a:t>
                      </a:r>
                    </a:p>
                  </a:txBody>
                  <a:tcPr anchor="ctr">
                    <a:solidFill>
                      <a:srgbClr val="FFFFFF"/>
                    </a:solidFill>
                  </a:tcPr>
                </a:tc>
                <a:tc>
                  <a:txBody>
                    <a:bodyPr/>
                    <a:lstStyle/>
                    <a:p>
                      <a:pPr algn="l">
                        <a:defRPr sz="1000" b="0">
                          <a:solidFill>
                            <a:srgbClr val="222831"/>
                          </a:solidFill>
                          <a:latin typeface="Aptos"/>
                        </a:defRPr>
                      </a:pPr>
                      <a:r>
                        <a:t>ARGM-MNR</a:t>
                      </a:r>
                    </a:p>
                  </a:txBody>
                  <a:tcPr anchor="ctr">
                    <a:solidFill>
                      <a:srgbClr val="FFFFFF"/>
                    </a:solidFill>
                  </a:tcPr>
                </a:tc>
                <a:tc>
                  <a:txBody>
                    <a:bodyPr/>
                    <a:lstStyle/>
                    <a:p>
                      <a:pPr algn="l">
                        <a:defRPr sz="1000" b="0">
                          <a:solidFill>
                            <a:srgbClr val="222831"/>
                          </a:solidFill>
                          <a:latin typeface="Aptos"/>
                        </a:defRPr>
                      </a:pPr>
                      <a:r>
                        <a:t>heuristic_manner</a:t>
                      </a:r>
                    </a:p>
                  </a:txBody>
                  <a:tcPr anchor="ctr">
                    <a:solidFill>
                      <a:srgbClr val="FFFFFF"/>
                    </a:solidFill>
                  </a:tcPr>
                </a:tc>
                <a:tc>
                  <a:txBody>
                    <a:bodyPr/>
                    <a:lstStyle/>
                    <a:p>
                      <a:pPr algn="l">
                        <a:defRPr sz="1000" b="0">
                          <a:solidFill>
                            <a:srgbClr val="222831"/>
                          </a:solidFill>
                          <a:latin typeface="Aptos"/>
                        </a:defRPr>
                      </a:pPr>
                      <a:r>
                        <a:t>0.612</a:t>
                      </a:r>
                    </a:p>
                  </a:txBody>
                  <a:tcPr anchor="ctr">
                    <a:solidFill>
                      <a:srgbClr val="FFFFFF"/>
                    </a:solidFill>
                  </a:tcPr>
                </a:tc>
                <a:extLst>
                  <a:ext uri="{0D108BD9-81ED-4DB2-BD59-A6C34878D82A}">
                    <a16:rowId xmlns:a16="http://schemas.microsoft.com/office/drawing/2014/main" val="10002"/>
                  </a:ext>
                </a:extLst>
              </a:tr>
              <a:tr h="594360">
                <a:tc>
                  <a:txBody>
                    <a:bodyPr/>
                    <a:lstStyle/>
                    <a:p>
                      <a:pPr algn="l">
                        <a:defRPr sz="1000" b="0">
                          <a:solidFill>
                            <a:srgbClr val="222831"/>
                          </a:solidFill>
                          <a:latin typeface="Aptos"/>
                        </a:defRPr>
                      </a:pPr>
                      <a:r>
                        <a:t>repaired the machine carefully with a small screwdriver</a:t>
                      </a:r>
                    </a:p>
                  </a:txBody>
                  <a:tcPr anchor="ctr">
                    <a:solidFill>
                      <a:srgbClr val="FFFFFF"/>
                    </a:solidFill>
                  </a:tcPr>
                </a:tc>
                <a:tc>
                  <a:txBody>
                    <a:bodyPr/>
                    <a:lstStyle/>
                    <a:p>
                      <a:pPr algn="l">
                        <a:defRPr sz="1000" b="0">
                          <a:solidFill>
                            <a:srgbClr val="222831"/>
                          </a:solidFill>
                          <a:latin typeface="Aptos"/>
                        </a:defRPr>
                      </a:pPr>
                      <a:r>
                        <a:t>ARG1</a:t>
                      </a:r>
                    </a:p>
                  </a:txBody>
                  <a:tcPr anchor="ctr">
                    <a:solidFill>
                      <a:srgbClr val="FFFFFF"/>
                    </a:solidFill>
                  </a:tcPr>
                </a:tc>
                <a:tc>
                  <a:txBody>
                    <a:bodyPr/>
                    <a:lstStyle/>
                    <a:p>
                      <a:pPr algn="l">
                        <a:defRPr sz="1000" b="0">
                          <a:solidFill>
                            <a:srgbClr val="222831"/>
                          </a:solidFill>
                          <a:latin typeface="Aptos"/>
                        </a:defRPr>
                      </a:pPr>
                      <a:r>
                        <a:t>baseline</a:t>
                      </a:r>
                    </a:p>
                  </a:txBody>
                  <a:tcPr anchor="ctr">
                    <a:solidFill>
                      <a:srgbClr val="FFFFFF"/>
                    </a:solidFill>
                  </a:tcPr>
                </a:tc>
                <a:tc>
                  <a:txBody>
                    <a:bodyPr/>
                    <a:lstStyle/>
                    <a:p>
                      <a:pPr algn="l">
                        <a:defRPr sz="1000" b="0">
                          <a:solidFill>
                            <a:srgbClr val="222831"/>
                          </a:solidFill>
                          <a:latin typeface="Aptos"/>
                        </a:defRPr>
                      </a:pPr>
                      <a:r>
                        <a:t>0.422</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13" name="TextBox 12"/>
          <p:cNvSpPr txBox="1"/>
          <p:nvPr/>
        </p:nvSpPr>
        <p:spPr>
          <a:xfrm>
            <a:off x="5806440" y="914400"/>
            <a:ext cx="1828800" cy="274320"/>
          </a:xfrm>
          <a:prstGeom prst="rect">
            <a:avLst/>
          </a:prstGeom>
          <a:noFill/>
        </p:spPr>
        <p:txBody>
          <a:bodyPr wrap="square" lIns="0" tIns="0" rIns="0" bIns="0">
            <a:spAutoFit/>
          </a:bodyPr>
          <a:lstStyle/>
          <a:p>
            <a:pPr algn="l">
              <a:defRPr sz="1600" b="1">
                <a:solidFill>
                  <a:srgbClr val="0D1B2A"/>
                </a:solidFill>
                <a:latin typeface="Aptos"/>
              </a:defRPr>
            </a:pPr>
            <a:r>
              <a:t>Recipient example</a:t>
            </a:r>
          </a:p>
        </p:txBody>
      </p:sp>
      <p:sp>
        <p:nvSpPr>
          <p:cNvPr id="14" name="TextBox 13"/>
          <p:cNvSpPr txBox="1"/>
          <p:nvPr/>
        </p:nvSpPr>
        <p:spPr>
          <a:xfrm>
            <a:off x="5806440" y="1234440"/>
            <a:ext cx="5029200" cy="685800"/>
          </a:xfrm>
          <a:prstGeom prst="rect">
            <a:avLst/>
          </a:prstGeom>
          <a:noFill/>
        </p:spPr>
        <p:txBody>
          <a:bodyPr wrap="square" lIns="0" tIns="0" rIns="0" bIns="0">
            <a:spAutoFit/>
          </a:bodyPr>
          <a:lstStyle/>
          <a:p>
            <a:pPr algn="l">
              <a:defRPr sz="1400" b="0">
                <a:solidFill>
                  <a:srgbClr val="222831"/>
                </a:solidFill>
                <a:latin typeface="Aptos"/>
              </a:defRPr>
            </a:pPr>
            <a:r>
              <a:t>Context: Maria gave the intern a notebook for the workshop.</a:t>
            </a:r>
          </a:p>
        </p:txBody>
      </p:sp>
      <p:sp>
        <p:nvSpPr>
          <p:cNvPr id="15" name="TextBox 14"/>
          <p:cNvSpPr txBox="1"/>
          <p:nvPr/>
        </p:nvSpPr>
        <p:spPr>
          <a:xfrm>
            <a:off x="5806440" y="1920240"/>
            <a:ext cx="4937760" cy="365760"/>
          </a:xfrm>
          <a:prstGeom prst="rect">
            <a:avLst/>
          </a:prstGeom>
          <a:noFill/>
        </p:spPr>
        <p:txBody>
          <a:bodyPr wrap="square" lIns="0" tIns="0" rIns="0" bIns="0">
            <a:spAutoFit/>
          </a:bodyPr>
          <a:lstStyle/>
          <a:p>
            <a:pPr algn="l">
              <a:defRPr sz="1600" b="1">
                <a:solidFill>
                  <a:srgbClr val="0D1B2A"/>
                </a:solidFill>
                <a:latin typeface="Aptos"/>
              </a:defRPr>
            </a:pPr>
            <a:r>
              <a:t>Question: Who received a notebook?</a:t>
            </a:r>
          </a:p>
        </p:txBody>
      </p:sp>
      <p:graphicFrame>
        <p:nvGraphicFramePr>
          <p:cNvPr id="16" name="Table 15"/>
          <p:cNvGraphicFramePr>
            <a:graphicFrameLocks noGrp="1"/>
          </p:cNvGraphicFramePr>
          <p:nvPr/>
        </p:nvGraphicFramePr>
        <p:xfrm>
          <a:off x="5806440" y="2423160"/>
          <a:ext cx="4800600" cy="2468880"/>
        </p:xfrm>
        <a:graphic>
          <a:graphicData uri="http://schemas.openxmlformats.org/drawingml/2006/table">
            <a:tbl>
              <a:tblPr firstRow="1" bandRow="1">
                <a:tableStyleId>{5C22544A-7EE6-4342-B048-85BDC9FD1C3A}</a:tableStyleId>
              </a:tblPr>
              <a:tblGrid>
                <a:gridCol w="1200150">
                  <a:extLst>
                    <a:ext uri="{9D8B030D-6E8A-4147-A177-3AD203B41FA5}">
                      <a16:colId xmlns:a16="http://schemas.microsoft.com/office/drawing/2014/main" val="20000"/>
                    </a:ext>
                  </a:extLst>
                </a:gridCol>
                <a:gridCol w="1200150">
                  <a:extLst>
                    <a:ext uri="{9D8B030D-6E8A-4147-A177-3AD203B41FA5}">
                      <a16:colId xmlns:a16="http://schemas.microsoft.com/office/drawing/2014/main" val="20001"/>
                    </a:ext>
                  </a:extLst>
                </a:gridCol>
                <a:gridCol w="1200150">
                  <a:extLst>
                    <a:ext uri="{9D8B030D-6E8A-4147-A177-3AD203B41FA5}">
                      <a16:colId xmlns:a16="http://schemas.microsoft.com/office/drawing/2014/main" val="20002"/>
                    </a:ext>
                  </a:extLst>
                </a:gridCol>
                <a:gridCol w="1200150">
                  <a:extLst>
                    <a:ext uri="{9D8B030D-6E8A-4147-A177-3AD203B41FA5}">
                      <a16:colId xmlns:a16="http://schemas.microsoft.com/office/drawing/2014/main" val="20003"/>
                    </a:ext>
                  </a:extLst>
                </a:gridCol>
              </a:tblGrid>
              <a:tr h="617220">
                <a:tc>
                  <a:txBody>
                    <a:bodyPr/>
                    <a:lstStyle/>
                    <a:p>
                      <a:pPr algn="ctr">
                        <a:defRPr sz="1000" b="1">
                          <a:solidFill>
                            <a:srgbClr val="FFFFFF"/>
                          </a:solidFill>
                          <a:latin typeface="Aptos"/>
                        </a:defRPr>
                      </a:pPr>
                      <a:r>
                        <a:t>Candidate</a:t>
                      </a:r>
                    </a:p>
                  </a:txBody>
                  <a:tcPr anchor="ctr">
                    <a:solidFill>
                      <a:srgbClr val="0D1B2A"/>
                    </a:solidFill>
                  </a:tcPr>
                </a:tc>
                <a:tc>
                  <a:txBody>
                    <a:bodyPr/>
                    <a:lstStyle/>
                    <a:p>
                      <a:pPr algn="ctr">
                        <a:defRPr sz="1000" b="1">
                          <a:solidFill>
                            <a:srgbClr val="FFFFFF"/>
                          </a:solidFill>
                          <a:latin typeface="Aptos"/>
                        </a:defRPr>
                      </a:pPr>
                      <a:r>
                        <a:t>Role</a:t>
                      </a:r>
                    </a:p>
                  </a:txBody>
                  <a:tcPr anchor="ctr">
                    <a:solidFill>
                      <a:srgbClr val="0D1B2A"/>
                    </a:solidFill>
                  </a:tcPr>
                </a:tc>
                <a:tc>
                  <a:txBody>
                    <a:bodyPr/>
                    <a:lstStyle/>
                    <a:p>
                      <a:pPr algn="ctr">
                        <a:defRPr sz="1000" b="1">
                          <a:solidFill>
                            <a:srgbClr val="FFFFFF"/>
                          </a:solidFill>
                          <a:latin typeface="Aptos"/>
                        </a:defRPr>
                      </a:pPr>
                      <a:r>
                        <a:t>Source</a:t>
                      </a:r>
                    </a:p>
                  </a:txBody>
                  <a:tcPr anchor="ctr">
                    <a:solidFill>
                      <a:srgbClr val="0D1B2A"/>
                    </a:solidFill>
                  </a:tcPr>
                </a:tc>
                <a:tc>
                  <a:txBody>
                    <a:bodyPr/>
                    <a:lstStyle/>
                    <a:p>
                      <a:pPr algn="ctr">
                        <a:defRPr sz="1000" b="1">
                          <a:solidFill>
                            <a:srgbClr val="FFFFFF"/>
                          </a:solidFill>
                          <a:latin typeface="Aptos"/>
                        </a:defRPr>
                      </a:pPr>
                      <a:r>
                        <a:t>Score</a:t>
                      </a:r>
                    </a:p>
                  </a:txBody>
                  <a:tcPr anchor="ctr">
                    <a:solidFill>
                      <a:srgbClr val="0D1B2A"/>
                    </a:solidFill>
                  </a:tcPr>
                </a:tc>
                <a:extLst>
                  <a:ext uri="{0D108BD9-81ED-4DB2-BD59-A6C34878D82A}">
                    <a16:rowId xmlns:a16="http://schemas.microsoft.com/office/drawing/2014/main" val="10000"/>
                  </a:ext>
                </a:extLst>
              </a:tr>
              <a:tr h="617220">
                <a:tc>
                  <a:txBody>
                    <a:bodyPr/>
                    <a:lstStyle/>
                    <a:p>
                      <a:pPr algn="l">
                        <a:defRPr sz="1000" b="0">
                          <a:solidFill>
                            <a:srgbClr val="222831"/>
                          </a:solidFill>
                          <a:latin typeface="Aptos"/>
                        </a:defRPr>
                      </a:pPr>
                      <a:r>
                        <a:t>the intern</a:t>
                      </a:r>
                    </a:p>
                  </a:txBody>
                  <a:tcPr anchor="ctr">
                    <a:solidFill>
                      <a:srgbClr val="FFFFFF"/>
                    </a:solidFill>
                  </a:tcPr>
                </a:tc>
                <a:tc>
                  <a:txBody>
                    <a:bodyPr/>
                    <a:lstStyle/>
                    <a:p>
                      <a:pPr algn="l">
                        <a:defRPr sz="1000" b="0">
                          <a:solidFill>
                            <a:srgbClr val="222831"/>
                          </a:solidFill>
                          <a:latin typeface="Aptos"/>
                        </a:defRPr>
                      </a:pPr>
                      <a:r>
                        <a:t>ARG2</a:t>
                      </a:r>
                    </a:p>
                  </a:txBody>
                  <a:tcPr anchor="ctr">
                    <a:solidFill>
                      <a:srgbClr val="FFFFFF"/>
                    </a:solidFill>
                  </a:tcPr>
                </a:tc>
                <a:tc>
                  <a:txBody>
                    <a:bodyPr/>
                    <a:lstStyle/>
                    <a:p>
                      <a:pPr algn="l">
                        <a:defRPr sz="1000" b="0">
                          <a:solidFill>
                            <a:srgbClr val="222831"/>
                          </a:solidFill>
                          <a:latin typeface="Aptos"/>
                        </a:defRPr>
                      </a:pPr>
                      <a:r>
                        <a:t>heuristic_recipient</a:t>
                      </a:r>
                    </a:p>
                  </a:txBody>
                  <a:tcPr anchor="ctr">
                    <a:solidFill>
                      <a:srgbClr val="FFFFFF"/>
                    </a:solidFill>
                  </a:tcPr>
                </a:tc>
                <a:tc>
                  <a:txBody>
                    <a:bodyPr/>
                    <a:lstStyle/>
                    <a:p>
                      <a:pPr algn="l">
                        <a:defRPr sz="1000" b="0">
                          <a:solidFill>
                            <a:srgbClr val="222831"/>
                          </a:solidFill>
                          <a:latin typeface="Aptos"/>
                        </a:defRPr>
                      </a:pPr>
                      <a:r>
                        <a:t>0.534</a:t>
                      </a:r>
                    </a:p>
                  </a:txBody>
                  <a:tcPr anchor="ctr">
                    <a:solidFill>
                      <a:srgbClr val="FFFFFF"/>
                    </a:solidFill>
                  </a:tcPr>
                </a:tc>
                <a:extLst>
                  <a:ext uri="{0D108BD9-81ED-4DB2-BD59-A6C34878D82A}">
                    <a16:rowId xmlns:a16="http://schemas.microsoft.com/office/drawing/2014/main" val="10001"/>
                  </a:ext>
                </a:extLst>
              </a:tr>
              <a:tr h="617220">
                <a:tc>
                  <a:txBody>
                    <a:bodyPr/>
                    <a:lstStyle/>
                    <a:p>
                      <a:pPr algn="l">
                        <a:defRPr sz="1000" b="0">
                          <a:solidFill>
                            <a:srgbClr val="222831"/>
                          </a:solidFill>
                          <a:latin typeface="Aptos"/>
                        </a:defRPr>
                      </a:pPr>
                      <a:r>
                        <a:t>notebook for the workshop</a:t>
                      </a:r>
                    </a:p>
                  </a:txBody>
                  <a:tcPr anchor="ctr">
                    <a:solidFill>
                      <a:srgbClr val="FFFFFF"/>
                    </a:solidFill>
                  </a:tcPr>
                </a:tc>
                <a:tc>
                  <a:txBody>
                    <a:bodyPr/>
                    <a:lstStyle/>
                    <a:p>
                      <a:pPr algn="l">
                        <a:defRPr sz="1000" b="0">
                          <a:solidFill>
                            <a:srgbClr val="222831"/>
                          </a:solidFill>
                          <a:latin typeface="Aptos"/>
                        </a:defRPr>
                      </a:pPr>
                      <a:r>
                        <a:t>ARG1</a:t>
                      </a:r>
                    </a:p>
                  </a:txBody>
                  <a:tcPr anchor="ctr">
                    <a:solidFill>
                      <a:srgbClr val="FFFFFF"/>
                    </a:solidFill>
                  </a:tcPr>
                </a:tc>
                <a:tc>
                  <a:txBody>
                    <a:bodyPr/>
                    <a:lstStyle/>
                    <a:p>
                      <a:pPr algn="l">
                        <a:defRPr sz="1000" b="0">
                          <a:solidFill>
                            <a:srgbClr val="222831"/>
                          </a:solidFill>
                          <a:latin typeface="Aptos"/>
                        </a:defRPr>
                      </a:pPr>
                      <a:r>
                        <a:t>baseline</a:t>
                      </a:r>
                    </a:p>
                  </a:txBody>
                  <a:tcPr anchor="ctr">
                    <a:solidFill>
                      <a:srgbClr val="FFFFFF"/>
                    </a:solidFill>
                  </a:tcPr>
                </a:tc>
                <a:tc>
                  <a:txBody>
                    <a:bodyPr/>
                    <a:lstStyle/>
                    <a:p>
                      <a:pPr algn="l">
                        <a:defRPr sz="1000" b="0">
                          <a:solidFill>
                            <a:srgbClr val="222831"/>
                          </a:solidFill>
                          <a:latin typeface="Aptos"/>
                        </a:defRPr>
                      </a:pPr>
                      <a:r>
                        <a:t>0.512</a:t>
                      </a:r>
                    </a:p>
                  </a:txBody>
                  <a:tcPr anchor="ctr">
                    <a:solidFill>
                      <a:srgbClr val="FFFFFF"/>
                    </a:solidFill>
                  </a:tcPr>
                </a:tc>
                <a:extLst>
                  <a:ext uri="{0D108BD9-81ED-4DB2-BD59-A6C34878D82A}">
                    <a16:rowId xmlns:a16="http://schemas.microsoft.com/office/drawing/2014/main" val="10002"/>
                  </a:ext>
                </a:extLst>
              </a:tr>
              <a:tr h="617220">
                <a:tc>
                  <a:txBody>
                    <a:bodyPr/>
                    <a:lstStyle/>
                    <a:p>
                      <a:pPr algn="l">
                        <a:defRPr sz="1000" b="0">
                          <a:solidFill>
                            <a:srgbClr val="222831"/>
                          </a:solidFill>
                          <a:latin typeface="Aptos"/>
                        </a:defRPr>
                      </a:pPr>
                      <a:r>
                        <a:t>the intern a notebook</a:t>
                      </a:r>
                    </a:p>
                  </a:txBody>
                  <a:tcPr anchor="ctr">
                    <a:solidFill>
                      <a:srgbClr val="FFFFFF"/>
                    </a:solidFill>
                  </a:tcPr>
                </a:tc>
                <a:tc>
                  <a:txBody>
                    <a:bodyPr/>
                    <a:lstStyle/>
                    <a:p>
                      <a:pPr algn="l">
                        <a:defRPr sz="1000" b="0">
                          <a:solidFill>
                            <a:srgbClr val="222831"/>
                          </a:solidFill>
                          <a:latin typeface="Aptos"/>
                        </a:defRPr>
                      </a:pPr>
                      <a:r>
                        <a:t>ARG1</a:t>
                      </a:r>
                    </a:p>
                  </a:txBody>
                  <a:tcPr anchor="ctr">
                    <a:solidFill>
                      <a:srgbClr val="FFFFFF"/>
                    </a:solidFill>
                  </a:tcPr>
                </a:tc>
                <a:tc>
                  <a:txBody>
                    <a:bodyPr/>
                    <a:lstStyle/>
                    <a:p>
                      <a:pPr algn="l">
                        <a:defRPr sz="1000" b="0">
                          <a:solidFill>
                            <a:srgbClr val="222831"/>
                          </a:solidFill>
                          <a:latin typeface="Aptos"/>
                        </a:defRPr>
                      </a:pPr>
                      <a:r>
                        <a:t>heuristic_theme</a:t>
                      </a:r>
                    </a:p>
                  </a:txBody>
                  <a:tcPr anchor="ctr">
                    <a:solidFill>
                      <a:srgbClr val="FFFFFF"/>
                    </a:solidFill>
                  </a:tcPr>
                </a:tc>
                <a:tc>
                  <a:txBody>
                    <a:bodyPr/>
                    <a:lstStyle/>
                    <a:p>
                      <a:pPr algn="l">
                        <a:defRPr sz="1000" b="0">
                          <a:solidFill>
                            <a:srgbClr val="222831"/>
                          </a:solidFill>
                          <a:latin typeface="Aptos"/>
                        </a:defRPr>
                      </a:pPr>
                      <a:r>
                        <a:t>0.476</a:t>
                      </a:r>
                    </a:p>
                  </a:txBody>
                  <a:tcPr anchor="ctr">
                    <a:solidFill>
                      <a:srgbClr val="FFFFFF"/>
                    </a:solidFill>
                  </a:tcPr>
                </a:tc>
                <a:extLst>
                  <a:ext uri="{0D108BD9-81ED-4DB2-BD59-A6C34878D82A}">
                    <a16:rowId xmlns:a16="http://schemas.microsoft.com/office/drawing/2014/main" val="10003"/>
                  </a:ext>
                </a:extLst>
              </a:tr>
            </a:tbl>
          </a:graphicData>
        </a:graphic>
      </p:graphicFrame>
      <p:sp>
        <p:nvSpPr>
          <p:cNvPr id="17" name="TextBox 16"/>
          <p:cNvSpPr txBox="1"/>
          <p:nvPr/>
        </p:nvSpPr>
        <p:spPr>
          <a:xfrm>
            <a:off x="731520" y="5212080"/>
            <a:ext cx="10058400" cy="640080"/>
          </a:xfrm>
          <a:prstGeom prst="rect">
            <a:avLst/>
          </a:prstGeom>
          <a:noFill/>
        </p:spPr>
        <p:txBody>
          <a:bodyPr wrap="square" lIns="0" tIns="0" rIns="0" bIns="0">
            <a:spAutoFit/>
          </a:bodyPr>
          <a:lstStyle/>
          <a:p>
            <a:pPr algn="l">
              <a:defRPr sz="1400" b="0">
                <a:solidFill>
                  <a:srgbClr val="222831"/>
                </a:solidFill>
                <a:latin typeface="Aptos"/>
              </a:defRPr>
            </a:pPr>
            <a:r>
              <a:t>Both examples show the same pattern: question intent narrows the expected role, heuristics create role-aligned candidates, and weighted reranking chooses the best semantic match.</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0352"/>
            <a:ext cx="12191695" cy="54864"/>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8138160" cy="301752"/>
          </a:xfrm>
          <a:prstGeom prst="rect">
            <a:avLst/>
          </a:prstGeom>
          <a:noFill/>
        </p:spPr>
        <p:txBody>
          <a:bodyPr wrap="none">
            <a:spAutoFit/>
          </a:bodyPr>
          <a:lstStyle/>
          <a:p>
            <a:pPr>
              <a:defRPr sz="2800" b="1">
                <a:solidFill>
                  <a:srgbClr val="FFFFFF"/>
                </a:solidFill>
                <a:latin typeface="Aptos Display"/>
              </a:defRPr>
            </a:pPr>
            <a:r>
              <a:t>Why the Heuristic Reranker Matters</a:t>
            </a:r>
          </a:p>
        </p:txBody>
      </p:sp>
      <p:sp>
        <p:nvSpPr>
          <p:cNvPr id="5" name="Rounded Rectangle 4"/>
          <p:cNvSpPr/>
          <p:nvPr/>
        </p:nvSpPr>
        <p:spPr>
          <a:xfrm>
            <a:off x="9966960" y="109728"/>
            <a:ext cx="1783080" cy="274320"/>
          </a:xfrm>
          <a:prstGeom prst="round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D1B2A"/>
                </a:solidFill>
                <a:latin typeface="Aptos"/>
              </a:defRPr>
            </a:pPr>
            <a:r>
              <a:t>INNOVATION</a:t>
            </a:r>
          </a:p>
        </p:txBody>
      </p:sp>
      <p:sp>
        <p:nvSpPr>
          <p:cNvPr id="6" name="Rectangle 5"/>
          <p:cNvSpPr/>
          <p:nvPr/>
        </p:nvSpPr>
        <p:spPr>
          <a:xfrm>
            <a:off x="365760" y="6519672"/>
            <a:ext cx="11430000" cy="9144"/>
          </a:xfrm>
          <a:prstGeom prst="rect">
            <a:avLst/>
          </a:prstGeom>
          <a:solidFill>
            <a:srgbClr val="D9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537960"/>
            <a:ext cx="10515600" cy="164592"/>
          </a:xfrm>
          <a:prstGeom prst="rect">
            <a:avLst/>
          </a:prstGeom>
          <a:noFill/>
        </p:spPr>
        <p:txBody>
          <a:bodyPr wrap="none">
            <a:spAutoFit/>
          </a:bodyPr>
          <a:lstStyle/>
          <a:p>
            <a:pPr>
              <a:defRPr sz="900">
                <a:solidFill>
                  <a:srgbClr val="5E6C84"/>
                </a:solidFill>
                <a:latin typeface="Aptos"/>
              </a:defRPr>
            </a:pPr>
            <a:r>
              <a:t>PropQA-Net | SRL-Anchored QA | Final Research Presentation</a:t>
            </a:r>
          </a:p>
        </p:txBody>
      </p:sp>
      <p:sp>
        <p:nvSpPr>
          <p:cNvPr id="8" name="TextBox 7"/>
          <p:cNvSpPr txBox="1"/>
          <p:nvPr/>
        </p:nvSpPr>
        <p:spPr>
          <a:xfrm>
            <a:off x="11064240" y="6510528"/>
            <a:ext cx="640080" cy="182880"/>
          </a:xfrm>
          <a:prstGeom prst="rect">
            <a:avLst/>
          </a:prstGeom>
          <a:noFill/>
        </p:spPr>
        <p:txBody>
          <a:bodyPr wrap="none">
            <a:spAutoFit/>
          </a:bodyPr>
          <a:lstStyle/>
          <a:p>
            <a:pPr algn="r">
              <a:defRPr sz="1000" b="1">
                <a:solidFill>
                  <a:srgbClr val="5E6C84"/>
                </a:solidFill>
                <a:latin typeface="Aptos"/>
              </a:defRPr>
            </a:pPr>
            <a:r>
              <a:t>25</a:t>
            </a:r>
          </a:p>
        </p:txBody>
      </p:sp>
      <p:sp>
        <p:nvSpPr>
          <p:cNvPr id="9" name="Rectangle 8"/>
          <p:cNvSpPr/>
          <p:nvPr/>
        </p:nvSpPr>
        <p:spPr>
          <a:xfrm>
            <a:off x="5623560" y="914400"/>
            <a:ext cx="5577840" cy="4206240"/>
          </a:xfrm>
          <a:prstGeom prst="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0" name="Picture 9" descr="ablation_summary.png"/>
          <p:cNvPicPr>
            <a:picLocks noChangeAspect="1"/>
          </p:cNvPicPr>
          <p:nvPr/>
        </p:nvPicPr>
        <p:blipFill>
          <a:blip r:embed="rId3"/>
          <a:stretch>
            <a:fillRect/>
          </a:stretch>
        </p:blipFill>
        <p:spPr>
          <a:xfrm>
            <a:off x="5623560" y="1623060"/>
            <a:ext cx="5577840" cy="2788920"/>
          </a:xfrm>
          <a:prstGeom prst="rect">
            <a:avLst/>
          </a:prstGeom>
        </p:spPr>
      </p:pic>
      <p:sp>
        <p:nvSpPr>
          <p:cNvPr id="11" name="TextBox 10"/>
          <p:cNvSpPr txBox="1"/>
          <p:nvPr/>
        </p:nvSpPr>
        <p:spPr>
          <a:xfrm>
            <a:off x="731520" y="960120"/>
            <a:ext cx="4572000" cy="2194560"/>
          </a:xfrm>
          <a:prstGeom prst="rect">
            <a:avLst/>
          </a:prstGeom>
          <a:noFill/>
        </p:spPr>
        <p:txBody>
          <a:bodyPr wrap="square">
            <a:spAutoFit/>
          </a:bodyPr>
          <a:lstStyle/>
          <a:p>
            <a:pPr>
              <a:spcAft>
                <a:spcPts val="700"/>
              </a:spcAft>
              <a:defRPr sz="1800">
                <a:solidFill>
                  <a:srgbClr val="222831"/>
                </a:solidFill>
                <a:latin typeface="Aptos"/>
              </a:defRPr>
            </a:pPr>
            <a:r>
              <a:t>The heuristic reranker captures nearly all measurable gains observed on the challenge and sampled test benchmarks</a:t>
            </a:r>
          </a:p>
          <a:p>
            <a:pPr>
              <a:spcAft>
                <a:spcPts val="700"/>
              </a:spcAft>
              <a:defRPr sz="1800">
                <a:solidFill>
                  <a:srgbClr val="222831"/>
                </a:solidFill>
                <a:latin typeface="Aptos"/>
              </a:defRPr>
            </a:pPr>
            <a:r>
              <a:t>It stays fast enough for interactive local use, unlike heavier transformer-assisted modes</a:t>
            </a:r>
          </a:p>
          <a:p>
            <a:pPr>
              <a:spcAft>
                <a:spcPts val="700"/>
              </a:spcAft>
              <a:defRPr sz="1800">
                <a:solidFill>
                  <a:srgbClr val="222831"/>
                </a:solidFill>
                <a:latin typeface="Aptos"/>
              </a:defRPr>
            </a:pPr>
            <a:r>
              <a:t>The result is a strong argument for semantic feature design rather than only adding bigger models</a:t>
            </a:r>
          </a:p>
        </p:txBody>
      </p:sp>
      <p:sp>
        <p:nvSpPr>
          <p:cNvPr id="12" name="Rounded Rectangle 11"/>
          <p:cNvSpPr/>
          <p:nvPr/>
        </p:nvSpPr>
        <p:spPr>
          <a:xfrm>
            <a:off x="822960" y="3657600"/>
            <a:ext cx="1965960" cy="91440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Rectangle 12"/>
          <p:cNvSpPr/>
          <p:nvPr/>
        </p:nvSpPr>
        <p:spPr>
          <a:xfrm>
            <a:off x="822960" y="3657600"/>
            <a:ext cx="109728" cy="914400"/>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1078992" y="3822191"/>
            <a:ext cx="1554480" cy="256032"/>
          </a:xfrm>
          <a:prstGeom prst="rect">
            <a:avLst/>
          </a:prstGeom>
          <a:noFill/>
        </p:spPr>
        <p:txBody>
          <a:bodyPr wrap="square" lIns="0" tIns="0" rIns="0" bIns="0">
            <a:spAutoFit/>
          </a:bodyPr>
          <a:lstStyle/>
          <a:p>
            <a:pPr algn="l">
              <a:defRPr sz="1100" b="1">
                <a:solidFill>
                  <a:srgbClr val="5E6C84"/>
                </a:solidFill>
                <a:latin typeface="Aptos"/>
              </a:defRPr>
            </a:pPr>
            <a:r>
              <a:t>Challenge F1</a:t>
            </a:r>
          </a:p>
        </p:txBody>
      </p:sp>
      <p:sp>
        <p:nvSpPr>
          <p:cNvPr id="15" name="TextBox 14"/>
          <p:cNvSpPr txBox="1"/>
          <p:nvPr/>
        </p:nvSpPr>
        <p:spPr>
          <a:xfrm>
            <a:off x="1078992" y="4069080"/>
            <a:ext cx="1554480" cy="402336"/>
          </a:xfrm>
          <a:prstGeom prst="rect">
            <a:avLst/>
          </a:prstGeom>
          <a:noFill/>
        </p:spPr>
        <p:txBody>
          <a:bodyPr wrap="square" lIns="0" tIns="0" rIns="0" bIns="0">
            <a:spAutoFit/>
          </a:bodyPr>
          <a:lstStyle/>
          <a:p>
            <a:pPr algn="l">
              <a:defRPr sz="2100" b="1">
                <a:solidFill>
                  <a:srgbClr val="0D1B2A"/>
                </a:solidFill>
                <a:latin typeface="Aptos"/>
              </a:defRPr>
            </a:pPr>
            <a:r>
              <a:t>78.0%</a:t>
            </a:r>
          </a:p>
        </p:txBody>
      </p:sp>
      <p:sp>
        <p:nvSpPr>
          <p:cNvPr id="16" name="Rounded Rectangle 15"/>
          <p:cNvSpPr/>
          <p:nvPr/>
        </p:nvSpPr>
        <p:spPr>
          <a:xfrm>
            <a:off x="2971800" y="3657600"/>
            <a:ext cx="1965960" cy="91440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ectangle 16"/>
          <p:cNvSpPr/>
          <p:nvPr/>
        </p:nvSpPr>
        <p:spPr>
          <a:xfrm>
            <a:off x="2971800" y="3657600"/>
            <a:ext cx="109728" cy="91440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3227832" y="3822191"/>
            <a:ext cx="1554480" cy="256032"/>
          </a:xfrm>
          <a:prstGeom prst="rect">
            <a:avLst/>
          </a:prstGeom>
          <a:noFill/>
        </p:spPr>
        <p:txBody>
          <a:bodyPr wrap="square" lIns="0" tIns="0" rIns="0" bIns="0">
            <a:spAutoFit/>
          </a:bodyPr>
          <a:lstStyle/>
          <a:p>
            <a:pPr algn="l">
              <a:defRPr sz="1100" b="1">
                <a:solidFill>
                  <a:srgbClr val="5E6C84"/>
                </a:solidFill>
                <a:latin typeface="Aptos"/>
              </a:defRPr>
            </a:pPr>
            <a:r>
              <a:t>Challenge Role Acc.</a:t>
            </a:r>
          </a:p>
        </p:txBody>
      </p:sp>
      <p:sp>
        <p:nvSpPr>
          <p:cNvPr id="19" name="TextBox 18"/>
          <p:cNvSpPr txBox="1"/>
          <p:nvPr/>
        </p:nvSpPr>
        <p:spPr>
          <a:xfrm>
            <a:off x="3227832" y="4069080"/>
            <a:ext cx="1554480" cy="402336"/>
          </a:xfrm>
          <a:prstGeom prst="rect">
            <a:avLst/>
          </a:prstGeom>
          <a:noFill/>
        </p:spPr>
        <p:txBody>
          <a:bodyPr wrap="square" lIns="0" tIns="0" rIns="0" bIns="0">
            <a:spAutoFit/>
          </a:bodyPr>
          <a:lstStyle/>
          <a:p>
            <a:pPr algn="l">
              <a:defRPr sz="2100" b="1">
                <a:solidFill>
                  <a:srgbClr val="0D1B2A"/>
                </a:solidFill>
                <a:latin typeface="Aptos"/>
              </a:defRPr>
            </a:pPr>
            <a:r>
              <a:t>100.0%</a:t>
            </a:r>
          </a:p>
        </p:txBody>
      </p:sp>
      <p:sp>
        <p:nvSpPr>
          <p:cNvPr id="20" name="Rounded Rectangle 19"/>
          <p:cNvSpPr/>
          <p:nvPr/>
        </p:nvSpPr>
        <p:spPr>
          <a:xfrm>
            <a:off x="822960" y="4754880"/>
            <a:ext cx="1965960" cy="91440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ectangle 20"/>
          <p:cNvSpPr/>
          <p:nvPr/>
        </p:nvSpPr>
        <p:spPr>
          <a:xfrm>
            <a:off x="822960" y="4754880"/>
            <a:ext cx="109728" cy="914400"/>
          </a:xfrm>
          <a:prstGeom prst="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78992" y="4919472"/>
            <a:ext cx="1554480" cy="256032"/>
          </a:xfrm>
          <a:prstGeom prst="rect">
            <a:avLst/>
          </a:prstGeom>
          <a:noFill/>
        </p:spPr>
        <p:txBody>
          <a:bodyPr wrap="square" lIns="0" tIns="0" rIns="0" bIns="0">
            <a:spAutoFit/>
          </a:bodyPr>
          <a:lstStyle/>
          <a:p>
            <a:pPr algn="l">
              <a:defRPr sz="1100" b="1">
                <a:solidFill>
                  <a:srgbClr val="5E6C84"/>
                </a:solidFill>
                <a:latin typeface="Aptos"/>
              </a:defRPr>
            </a:pPr>
            <a:r>
              <a:t>Subset F1</a:t>
            </a:r>
          </a:p>
        </p:txBody>
      </p:sp>
      <p:sp>
        <p:nvSpPr>
          <p:cNvPr id="23" name="TextBox 22"/>
          <p:cNvSpPr txBox="1"/>
          <p:nvPr/>
        </p:nvSpPr>
        <p:spPr>
          <a:xfrm>
            <a:off x="1078992" y="5166360"/>
            <a:ext cx="1554480" cy="402336"/>
          </a:xfrm>
          <a:prstGeom prst="rect">
            <a:avLst/>
          </a:prstGeom>
          <a:noFill/>
        </p:spPr>
        <p:txBody>
          <a:bodyPr wrap="square" lIns="0" tIns="0" rIns="0" bIns="0">
            <a:spAutoFit/>
          </a:bodyPr>
          <a:lstStyle/>
          <a:p>
            <a:pPr algn="l">
              <a:defRPr sz="2100" b="1">
                <a:solidFill>
                  <a:srgbClr val="0D1B2A"/>
                </a:solidFill>
                <a:latin typeface="Aptos"/>
              </a:defRPr>
            </a:pPr>
            <a:r>
              <a:t>41.8%</a:t>
            </a:r>
          </a:p>
        </p:txBody>
      </p:sp>
      <p:sp>
        <p:nvSpPr>
          <p:cNvPr id="24" name="Rounded Rectangle 23"/>
          <p:cNvSpPr/>
          <p:nvPr/>
        </p:nvSpPr>
        <p:spPr>
          <a:xfrm>
            <a:off x="2971800" y="4754880"/>
            <a:ext cx="1965960" cy="91440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ectangle 24"/>
          <p:cNvSpPr/>
          <p:nvPr/>
        </p:nvSpPr>
        <p:spPr>
          <a:xfrm>
            <a:off x="2971800" y="4754880"/>
            <a:ext cx="109728" cy="914400"/>
          </a:xfrm>
          <a:prstGeom prst="rect">
            <a:avLst/>
          </a:prstGeom>
          <a:solidFill>
            <a:srgbClr val="2180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3227832" y="4919472"/>
            <a:ext cx="1554480" cy="256032"/>
          </a:xfrm>
          <a:prstGeom prst="rect">
            <a:avLst/>
          </a:prstGeom>
          <a:noFill/>
        </p:spPr>
        <p:txBody>
          <a:bodyPr wrap="square" lIns="0" tIns="0" rIns="0" bIns="0">
            <a:spAutoFit/>
          </a:bodyPr>
          <a:lstStyle/>
          <a:p>
            <a:pPr algn="l">
              <a:defRPr sz="1100" b="1">
                <a:solidFill>
                  <a:srgbClr val="5E6C84"/>
                </a:solidFill>
                <a:latin typeface="Aptos"/>
              </a:defRPr>
            </a:pPr>
            <a:r>
              <a:t>Latency</a:t>
            </a:r>
          </a:p>
        </p:txBody>
      </p:sp>
      <p:sp>
        <p:nvSpPr>
          <p:cNvPr id="27" name="TextBox 26"/>
          <p:cNvSpPr txBox="1"/>
          <p:nvPr/>
        </p:nvSpPr>
        <p:spPr>
          <a:xfrm>
            <a:off x="3227832" y="5166360"/>
            <a:ext cx="1554480" cy="402336"/>
          </a:xfrm>
          <a:prstGeom prst="rect">
            <a:avLst/>
          </a:prstGeom>
          <a:noFill/>
        </p:spPr>
        <p:txBody>
          <a:bodyPr wrap="square" lIns="0" tIns="0" rIns="0" bIns="0">
            <a:spAutoFit/>
          </a:bodyPr>
          <a:lstStyle/>
          <a:p>
            <a:pPr algn="l">
              <a:defRPr sz="2100" b="1">
                <a:solidFill>
                  <a:srgbClr val="0D1B2A"/>
                </a:solidFill>
                <a:latin typeface="Aptos"/>
              </a:defRPr>
            </a:pPr>
            <a:r>
              <a:t>5.84 ms</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0352"/>
            <a:ext cx="12191695" cy="54864"/>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8138160" cy="301752"/>
          </a:xfrm>
          <a:prstGeom prst="rect">
            <a:avLst/>
          </a:prstGeom>
          <a:noFill/>
        </p:spPr>
        <p:txBody>
          <a:bodyPr wrap="none">
            <a:spAutoFit/>
          </a:bodyPr>
          <a:lstStyle/>
          <a:p>
            <a:pPr>
              <a:defRPr sz="2800" b="1">
                <a:solidFill>
                  <a:srgbClr val="FFFFFF"/>
                </a:solidFill>
                <a:latin typeface="Aptos Display"/>
              </a:defRPr>
            </a:pPr>
            <a:r>
              <a:t>Innovation Summary</a:t>
            </a:r>
          </a:p>
        </p:txBody>
      </p:sp>
      <p:sp>
        <p:nvSpPr>
          <p:cNvPr id="5" name="Rounded Rectangle 4"/>
          <p:cNvSpPr/>
          <p:nvPr/>
        </p:nvSpPr>
        <p:spPr>
          <a:xfrm>
            <a:off x="9966960" y="109728"/>
            <a:ext cx="1783080" cy="274320"/>
          </a:xfrm>
          <a:prstGeom prst="round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D1B2A"/>
                </a:solidFill>
                <a:latin typeface="Aptos"/>
              </a:defRPr>
            </a:pPr>
            <a:r>
              <a:t>INNOVATION</a:t>
            </a:r>
          </a:p>
        </p:txBody>
      </p:sp>
      <p:sp>
        <p:nvSpPr>
          <p:cNvPr id="6" name="Rectangle 5"/>
          <p:cNvSpPr/>
          <p:nvPr/>
        </p:nvSpPr>
        <p:spPr>
          <a:xfrm>
            <a:off x="365760" y="6519672"/>
            <a:ext cx="11430000" cy="9144"/>
          </a:xfrm>
          <a:prstGeom prst="rect">
            <a:avLst/>
          </a:prstGeom>
          <a:solidFill>
            <a:srgbClr val="D9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537960"/>
            <a:ext cx="10515600" cy="164592"/>
          </a:xfrm>
          <a:prstGeom prst="rect">
            <a:avLst/>
          </a:prstGeom>
          <a:noFill/>
        </p:spPr>
        <p:txBody>
          <a:bodyPr wrap="none">
            <a:spAutoFit/>
          </a:bodyPr>
          <a:lstStyle/>
          <a:p>
            <a:pPr>
              <a:defRPr sz="900">
                <a:solidFill>
                  <a:srgbClr val="5E6C84"/>
                </a:solidFill>
                <a:latin typeface="Aptos"/>
              </a:defRPr>
            </a:pPr>
            <a:r>
              <a:t>PropQA-Net | SRL-Anchored QA | Final Research Presentation</a:t>
            </a:r>
          </a:p>
        </p:txBody>
      </p:sp>
      <p:sp>
        <p:nvSpPr>
          <p:cNvPr id="8" name="TextBox 7"/>
          <p:cNvSpPr txBox="1"/>
          <p:nvPr/>
        </p:nvSpPr>
        <p:spPr>
          <a:xfrm>
            <a:off x="11064240" y="6510528"/>
            <a:ext cx="640080" cy="182880"/>
          </a:xfrm>
          <a:prstGeom prst="rect">
            <a:avLst/>
          </a:prstGeom>
          <a:noFill/>
        </p:spPr>
        <p:txBody>
          <a:bodyPr wrap="none">
            <a:spAutoFit/>
          </a:bodyPr>
          <a:lstStyle/>
          <a:p>
            <a:pPr algn="r">
              <a:defRPr sz="1000" b="1">
                <a:solidFill>
                  <a:srgbClr val="5E6C84"/>
                </a:solidFill>
                <a:latin typeface="Aptos"/>
              </a:defRPr>
            </a:pPr>
            <a:r>
              <a:t>26</a:t>
            </a:r>
          </a:p>
        </p:txBody>
      </p:sp>
      <p:sp>
        <p:nvSpPr>
          <p:cNvPr id="9" name="Rounded Rectangle 8"/>
          <p:cNvSpPr/>
          <p:nvPr/>
        </p:nvSpPr>
        <p:spPr>
          <a:xfrm>
            <a:off x="777240" y="1005840"/>
            <a:ext cx="2514600" cy="118872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Rectangle 9"/>
          <p:cNvSpPr/>
          <p:nvPr/>
        </p:nvSpPr>
        <p:spPr>
          <a:xfrm>
            <a:off x="777240" y="1005840"/>
            <a:ext cx="109728" cy="1188720"/>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1033271" y="1170432"/>
            <a:ext cx="2103120" cy="256032"/>
          </a:xfrm>
          <a:prstGeom prst="rect">
            <a:avLst/>
          </a:prstGeom>
          <a:noFill/>
        </p:spPr>
        <p:txBody>
          <a:bodyPr wrap="square" lIns="0" tIns="0" rIns="0" bIns="0">
            <a:spAutoFit/>
          </a:bodyPr>
          <a:lstStyle/>
          <a:p>
            <a:pPr algn="l">
              <a:defRPr sz="1100" b="1">
                <a:solidFill>
                  <a:srgbClr val="5E6C84"/>
                </a:solidFill>
                <a:latin typeface="Aptos"/>
              </a:defRPr>
            </a:pPr>
            <a:r>
              <a:t>Innovation 1</a:t>
            </a:r>
          </a:p>
        </p:txBody>
      </p:sp>
      <p:sp>
        <p:nvSpPr>
          <p:cNvPr id="12" name="TextBox 11"/>
          <p:cNvSpPr txBox="1"/>
          <p:nvPr/>
        </p:nvSpPr>
        <p:spPr>
          <a:xfrm>
            <a:off x="1033271" y="1417320"/>
            <a:ext cx="2103120" cy="402336"/>
          </a:xfrm>
          <a:prstGeom prst="rect">
            <a:avLst/>
          </a:prstGeom>
          <a:noFill/>
        </p:spPr>
        <p:txBody>
          <a:bodyPr wrap="square" lIns="0" tIns="0" rIns="0" bIns="0">
            <a:spAutoFit/>
          </a:bodyPr>
          <a:lstStyle/>
          <a:p>
            <a:pPr algn="l">
              <a:defRPr sz="2100" b="1">
                <a:solidFill>
                  <a:srgbClr val="0D1B2A"/>
                </a:solidFill>
                <a:latin typeface="Aptos"/>
              </a:defRPr>
            </a:pPr>
            <a:r>
              <a:t>SRL-anchored extractive QA with joint learning</a:t>
            </a:r>
          </a:p>
        </p:txBody>
      </p:sp>
      <p:sp>
        <p:nvSpPr>
          <p:cNvPr id="13" name="Rounded Rectangle 12"/>
          <p:cNvSpPr/>
          <p:nvPr/>
        </p:nvSpPr>
        <p:spPr>
          <a:xfrm>
            <a:off x="3611880" y="1005840"/>
            <a:ext cx="2514600" cy="118872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Rectangle 13"/>
          <p:cNvSpPr/>
          <p:nvPr/>
        </p:nvSpPr>
        <p:spPr>
          <a:xfrm>
            <a:off x="3611880" y="1005840"/>
            <a:ext cx="109728" cy="1188720"/>
          </a:xfrm>
          <a:prstGeom prst="rect">
            <a:avLst/>
          </a:prstGeom>
          <a:solidFill>
            <a:srgbClr val="1F4E7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3867912" y="1170432"/>
            <a:ext cx="2103120" cy="256032"/>
          </a:xfrm>
          <a:prstGeom prst="rect">
            <a:avLst/>
          </a:prstGeom>
          <a:noFill/>
        </p:spPr>
        <p:txBody>
          <a:bodyPr wrap="square" lIns="0" tIns="0" rIns="0" bIns="0">
            <a:spAutoFit/>
          </a:bodyPr>
          <a:lstStyle/>
          <a:p>
            <a:pPr algn="l">
              <a:defRPr sz="1100" b="1">
                <a:solidFill>
                  <a:srgbClr val="5E6C84"/>
                </a:solidFill>
                <a:latin typeface="Aptos"/>
              </a:defRPr>
            </a:pPr>
            <a:r>
              <a:t>Innovation 2</a:t>
            </a:r>
          </a:p>
        </p:txBody>
      </p:sp>
      <p:sp>
        <p:nvSpPr>
          <p:cNvPr id="16" name="TextBox 15"/>
          <p:cNvSpPr txBox="1"/>
          <p:nvPr/>
        </p:nvSpPr>
        <p:spPr>
          <a:xfrm>
            <a:off x="3867912" y="1417320"/>
            <a:ext cx="2103120" cy="402336"/>
          </a:xfrm>
          <a:prstGeom prst="rect">
            <a:avLst/>
          </a:prstGeom>
          <a:noFill/>
        </p:spPr>
        <p:txBody>
          <a:bodyPr wrap="square" lIns="0" tIns="0" rIns="0" bIns="0">
            <a:spAutoFit/>
          </a:bodyPr>
          <a:lstStyle/>
          <a:p>
            <a:pPr algn="l">
              <a:defRPr sz="2100" b="1">
                <a:solidFill>
                  <a:srgbClr val="0D1B2A"/>
                </a:solidFill>
                <a:latin typeface="Aptos"/>
              </a:defRPr>
            </a:pPr>
            <a:r>
              <a:t>Role-aware question parsing and intent mapping</a:t>
            </a:r>
          </a:p>
        </p:txBody>
      </p:sp>
      <p:sp>
        <p:nvSpPr>
          <p:cNvPr id="17" name="Rounded Rectangle 16"/>
          <p:cNvSpPr/>
          <p:nvPr/>
        </p:nvSpPr>
        <p:spPr>
          <a:xfrm>
            <a:off x="6446520" y="1005840"/>
            <a:ext cx="2514600" cy="118872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ectangle 17"/>
          <p:cNvSpPr/>
          <p:nvPr/>
        </p:nvSpPr>
        <p:spPr>
          <a:xfrm>
            <a:off x="6446520" y="1005840"/>
            <a:ext cx="109728" cy="1188720"/>
          </a:xfrm>
          <a:prstGeom prst="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702552" y="1170432"/>
            <a:ext cx="2103120" cy="256032"/>
          </a:xfrm>
          <a:prstGeom prst="rect">
            <a:avLst/>
          </a:prstGeom>
          <a:noFill/>
        </p:spPr>
        <p:txBody>
          <a:bodyPr wrap="square" lIns="0" tIns="0" rIns="0" bIns="0">
            <a:spAutoFit/>
          </a:bodyPr>
          <a:lstStyle/>
          <a:p>
            <a:pPr algn="l">
              <a:defRPr sz="1100" b="1">
                <a:solidFill>
                  <a:srgbClr val="5E6C84"/>
                </a:solidFill>
                <a:latin typeface="Aptos"/>
              </a:defRPr>
            </a:pPr>
            <a:r>
              <a:t>Innovation 3</a:t>
            </a:r>
          </a:p>
        </p:txBody>
      </p:sp>
      <p:sp>
        <p:nvSpPr>
          <p:cNvPr id="20" name="TextBox 19"/>
          <p:cNvSpPr txBox="1"/>
          <p:nvPr/>
        </p:nvSpPr>
        <p:spPr>
          <a:xfrm>
            <a:off x="6702552" y="1417320"/>
            <a:ext cx="2103120" cy="402336"/>
          </a:xfrm>
          <a:prstGeom prst="rect">
            <a:avLst/>
          </a:prstGeom>
          <a:noFill/>
        </p:spPr>
        <p:txBody>
          <a:bodyPr wrap="square" lIns="0" tIns="0" rIns="0" bIns="0">
            <a:spAutoFit/>
          </a:bodyPr>
          <a:lstStyle/>
          <a:p>
            <a:pPr algn="l">
              <a:defRPr sz="2100" b="1">
                <a:solidFill>
                  <a:srgbClr val="0D1B2A"/>
                </a:solidFill>
                <a:latin typeface="Aptos"/>
              </a:defRPr>
            </a:pPr>
            <a:r>
              <a:t>Multi-channel candidates: baseline + heuristics + transformer</a:t>
            </a:r>
          </a:p>
        </p:txBody>
      </p:sp>
      <p:sp>
        <p:nvSpPr>
          <p:cNvPr id="21" name="Rounded Rectangle 20"/>
          <p:cNvSpPr/>
          <p:nvPr/>
        </p:nvSpPr>
        <p:spPr>
          <a:xfrm>
            <a:off x="9281160" y="1005840"/>
            <a:ext cx="2103120" cy="1188720"/>
          </a:xfrm>
          <a:prstGeom prst="round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Rectangle 21"/>
          <p:cNvSpPr/>
          <p:nvPr/>
        </p:nvSpPr>
        <p:spPr>
          <a:xfrm>
            <a:off x="9281160" y="1005840"/>
            <a:ext cx="109728" cy="1188720"/>
          </a:xfrm>
          <a:prstGeom prst="rect">
            <a:avLst/>
          </a:prstGeom>
          <a:solidFill>
            <a:srgbClr val="21805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9537192" y="1170432"/>
            <a:ext cx="1691639" cy="256032"/>
          </a:xfrm>
          <a:prstGeom prst="rect">
            <a:avLst/>
          </a:prstGeom>
          <a:noFill/>
        </p:spPr>
        <p:txBody>
          <a:bodyPr wrap="square" lIns="0" tIns="0" rIns="0" bIns="0">
            <a:spAutoFit/>
          </a:bodyPr>
          <a:lstStyle/>
          <a:p>
            <a:pPr algn="l">
              <a:defRPr sz="1100" b="1">
                <a:solidFill>
                  <a:srgbClr val="5E6C84"/>
                </a:solidFill>
                <a:latin typeface="Aptos"/>
              </a:defRPr>
            </a:pPr>
            <a:r>
              <a:t>Innovation 4</a:t>
            </a:r>
          </a:p>
        </p:txBody>
      </p:sp>
      <p:sp>
        <p:nvSpPr>
          <p:cNvPr id="24" name="TextBox 23"/>
          <p:cNvSpPr txBox="1"/>
          <p:nvPr/>
        </p:nvSpPr>
        <p:spPr>
          <a:xfrm>
            <a:off x="9537192" y="1417320"/>
            <a:ext cx="1691639" cy="402336"/>
          </a:xfrm>
          <a:prstGeom prst="rect">
            <a:avLst/>
          </a:prstGeom>
          <a:noFill/>
        </p:spPr>
        <p:txBody>
          <a:bodyPr wrap="square" lIns="0" tIns="0" rIns="0" bIns="0">
            <a:spAutoFit/>
          </a:bodyPr>
          <a:lstStyle/>
          <a:p>
            <a:pPr algn="l">
              <a:defRPr sz="2100" b="1">
                <a:solidFill>
                  <a:srgbClr val="0D1B2A"/>
                </a:solidFill>
                <a:latin typeface="Aptos"/>
              </a:defRPr>
            </a:pPr>
            <a:r>
              <a:t>Transparent weighted semantic reranking</a:t>
            </a:r>
          </a:p>
        </p:txBody>
      </p:sp>
      <p:sp>
        <p:nvSpPr>
          <p:cNvPr id="25" name="TextBox 24"/>
          <p:cNvSpPr txBox="1"/>
          <p:nvPr/>
        </p:nvSpPr>
        <p:spPr>
          <a:xfrm>
            <a:off x="822960" y="2743200"/>
            <a:ext cx="4754880" cy="2011680"/>
          </a:xfrm>
          <a:prstGeom prst="rect">
            <a:avLst/>
          </a:prstGeom>
          <a:noFill/>
        </p:spPr>
        <p:txBody>
          <a:bodyPr wrap="square">
            <a:spAutoFit/>
          </a:bodyPr>
          <a:lstStyle/>
          <a:p>
            <a:pPr>
              <a:spcAft>
                <a:spcPts val="700"/>
              </a:spcAft>
              <a:defRPr sz="1700">
                <a:solidFill>
                  <a:srgbClr val="222831"/>
                </a:solidFill>
                <a:latin typeface="Aptos"/>
              </a:defRPr>
            </a:pPr>
            <a:r>
              <a:t>The project innovates most strongly through integration, transparency, and research packaging rather than through a single giant model claim</a:t>
            </a:r>
          </a:p>
          <a:p>
            <a:pPr>
              <a:spcAft>
                <a:spcPts val="700"/>
              </a:spcAft>
              <a:defRPr sz="1700">
                <a:solidFill>
                  <a:srgbClr val="222831"/>
                </a:solidFill>
                <a:latin typeface="Aptos"/>
              </a:defRPr>
            </a:pPr>
            <a:r>
              <a:t>Each innovation is visible in code, measurable in artifacts, and presentable in the app and PDFs</a:t>
            </a:r>
          </a:p>
          <a:p>
            <a:pPr>
              <a:spcAft>
                <a:spcPts val="700"/>
              </a:spcAft>
              <a:defRPr sz="1700">
                <a:solidFill>
                  <a:srgbClr val="222831"/>
                </a:solidFill>
                <a:latin typeface="Aptos"/>
              </a:defRPr>
            </a:pPr>
            <a:r>
              <a:t>This makes the system defensible in both technical and academic evaluation settings</a:t>
            </a:r>
          </a:p>
        </p:txBody>
      </p:sp>
      <p:sp>
        <p:nvSpPr>
          <p:cNvPr id="26" name="Rectangle 25"/>
          <p:cNvSpPr/>
          <p:nvPr/>
        </p:nvSpPr>
        <p:spPr>
          <a:xfrm>
            <a:off x="5669280" y="2331720"/>
            <a:ext cx="5532120" cy="3657600"/>
          </a:xfrm>
          <a:prstGeom prst="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27" name="Picture 26" descr="research_architecture.png"/>
          <p:cNvPicPr>
            <a:picLocks noChangeAspect="1"/>
          </p:cNvPicPr>
          <p:nvPr/>
        </p:nvPicPr>
        <p:blipFill>
          <a:blip r:embed="rId3"/>
          <a:stretch>
            <a:fillRect/>
          </a:stretch>
        </p:blipFill>
        <p:spPr>
          <a:xfrm>
            <a:off x="5669280" y="2975065"/>
            <a:ext cx="5532120" cy="2370908"/>
          </a:xfrm>
          <a:prstGeom prst="rect">
            <a:avLst/>
          </a:prstGeom>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0352"/>
            <a:ext cx="12191695" cy="54864"/>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8138160" cy="301752"/>
          </a:xfrm>
          <a:prstGeom prst="rect">
            <a:avLst/>
          </a:prstGeom>
          <a:noFill/>
        </p:spPr>
        <p:txBody>
          <a:bodyPr wrap="none">
            <a:spAutoFit/>
          </a:bodyPr>
          <a:lstStyle/>
          <a:p>
            <a:pPr>
              <a:defRPr sz="2800" b="1">
                <a:solidFill>
                  <a:srgbClr val="FFFFFF"/>
                </a:solidFill>
                <a:latin typeface="Aptos Display"/>
              </a:defRPr>
            </a:pPr>
            <a:r>
              <a:t>Innovation Deep Dive: Role-Aware Parsing</a:t>
            </a:r>
          </a:p>
        </p:txBody>
      </p:sp>
      <p:sp>
        <p:nvSpPr>
          <p:cNvPr id="5" name="Rounded Rectangle 4"/>
          <p:cNvSpPr/>
          <p:nvPr/>
        </p:nvSpPr>
        <p:spPr>
          <a:xfrm>
            <a:off x="9966960" y="109728"/>
            <a:ext cx="1783080" cy="274320"/>
          </a:xfrm>
          <a:prstGeom prst="round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D1B2A"/>
                </a:solidFill>
                <a:latin typeface="Aptos"/>
              </a:defRPr>
            </a:pPr>
            <a:r>
              <a:t>INNOVATION</a:t>
            </a:r>
          </a:p>
        </p:txBody>
      </p:sp>
      <p:sp>
        <p:nvSpPr>
          <p:cNvPr id="6" name="Rectangle 5"/>
          <p:cNvSpPr/>
          <p:nvPr/>
        </p:nvSpPr>
        <p:spPr>
          <a:xfrm>
            <a:off x="365760" y="6519672"/>
            <a:ext cx="11430000" cy="9144"/>
          </a:xfrm>
          <a:prstGeom prst="rect">
            <a:avLst/>
          </a:prstGeom>
          <a:solidFill>
            <a:srgbClr val="D9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537960"/>
            <a:ext cx="10515600" cy="164592"/>
          </a:xfrm>
          <a:prstGeom prst="rect">
            <a:avLst/>
          </a:prstGeom>
          <a:noFill/>
        </p:spPr>
        <p:txBody>
          <a:bodyPr wrap="none">
            <a:spAutoFit/>
          </a:bodyPr>
          <a:lstStyle/>
          <a:p>
            <a:pPr>
              <a:defRPr sz="900">
                <a:solidFill>
                  <a:srgbClr val="5E6C84"/>
                </a:solidFill>
                <a:latin typeface="Aptos"/>
              </a:defRPr>
            </a:pPr>
            <a:r>
              <a:t>PropQA-Net | SRL-Anchored QA | Final Research Presentation</a:t>
            </a:r>
          </a:p>
        </p:txBody>
      </p:sp>
      <p:sp>
        <p:nvSpPr>
          <p:cNvPr id="8" name="TextBox 7"/>
          <p:cNvSpPr txBox="1"/>
          <p:nvPr/>
        </p:nvSpPr>
        <p:spPr>
          <a:xfrm>
            <a:off x="11064240" y="6510528"/>
            <a:ext cx="640080" cy="182880"/>
          </a:xfrm>
          <a:prstGeom prst="rect">
            <a:avLst/>
          </a:prstGeom>
          <a:noFill/>
        </p:spPr>
        <p:txBody>
          <a:bodyPr wrap="none">
            <a:spAutoFit/>
          </a:bodyPr>
          <a:lstStyle/>
          <a:p>
            <a:pPr algn="r">
              <a:defRPr sz="1000" b="1">
                <a:solidFill>
                  <a:srgbClr val="5E6C84"/>
                </a:solidFill>
                <a:latin typeface="Aptos"/>
              </a:defRPr>
            </a:pPr>
            <a:r>
              <a:t>27</a:t>
            </a:r>
          </a:p>
        </p:txBody>
      </p:sp>
      <p:graphicFrame>
        <p:nvGraphicFramePr>
          <p:cNvPr id="9" name="Table 8"/>
          <p:cNvGraphicFramePr>
            <a:graphicFrameLocks noGrp="1"/>
          </p:cNvGraphicFramePr>
          <p:nvPr/>
        </p:nvGraphicFramePr>
        <p:xfrm>
          <a:off x="685800" y="960120"/>
          <a:ext cx="4800600" cy="4297680"/>
        </p:xfrm>
        <a:graphic>
          <a:graphicData uri="http://schemas.openxmlformats.org/drawingml/2006/table">
            <a:tbl>
              <a:tblPr firstRow="1" bandRow="1">
                <a:tableStyleId>{5C22544A-7EE6-4342-B048-85BDC9FD1C3A}</a:tableStyleId>
              </a:tblPr>
              <a:tblGrid>
                <a:gridCol w="160020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1600200">
                  <a:extLst>
                    <a:ext uri="{9D8B030D-6E8A-4147-A177-3AD203B41FA5}">
                      <a16:colId xmlns:a16="http://schemas.microsoft.com/office/drawing/2014/main" val="20002"/>
                    </a:ext>
                  </a:extLst>
                </a:gridCol>
              </a:tblGrid>
              <a:tr h="537210">
                <a:tc>
                  <a:txBody>
                    <a:bodyPr/>
                    <a:lstStyle/>
                    <a:p>
                      <a:pPr algn="ctr">
                        <a:defRPr sz="1100" b="1">
                          <a:solidFill>
                            <a:srgbClr val="FFFFFF"/>
                          </a:solidFill>
                          <a:latin typeface="Aptos"/>
                        </a:defRPr>
                      </a:pPr>
                      <a:r>
                        <a:t>Question Pattern</a:t>
                      </a:r>
                    </a:p>
                  </a:txBody>
                  <a:tcPr anchor="ctr">
                    <a:solidFill>
                      <a:srgbClr val="0D1B2A"/>
                    </a:solidFill>
                  </a:tcPr>
                </a:tc>
                <a:tc>
                  <a:txBody>
                    <a:bodyPr/>
                    <a:lstStyle/>
                    <a:p>
                      <a:pPr algn="ctr">
                        <a:defRPr sz="1100" b="1">
                          <a:solidFill>
                            <a:srgbClr val="FFFFFF"/>
                          </a:solidFill>
                          <a:latin typeface="Aptos"/>
                        </a:defRPr>
                      </a:pPr>
                      <a:r>
                        <a:t>Mapped Type</a:t>
                      </a:r>
                    </a:p>
                  </a:txBody>
                  <a:tcPr anchor="ctr">
                    <a:solidFill>
                      <a:srgbClr val="0D1B2A"/>
                    </a:solidFill>
                  </a:tcPr>
                </a:tc>
                <a:tc>
                  <a:txBody>
                    <a:bodyPr/>
                    <a:lstStyle/>
                    <a:p>
                      <a:pPr algn="ctr">
                        <a:defRPr sz="1100" b="1">
                          <a:solidFill>
                            <a:srgbClr val="FFFFFF"/>
                          </a:solidFill>
                          <a:latin typeface="Aptos"/>
                        </a:defRPr>
                      </a:pPr>
                      <a:r>
                        <a:t>Expected Role</a:t>
                      </a:r>
                    </a:p>
                  </a:txBody>
                  <a:tcPr anchor="ctr">
                    <a:solidFill>
                      <a:srgbClr val="0D1B2A"/>
                    </a:solidFill>
                  </a:tcPr>
                </a:tc>
                <a:extLst>
                  <a:ext uri="{0D108BD9-81ED-4DB2-BD59-A6C34878D82A}">
                    <a16:rowId xmlns:a16="http://schemas.microsoft.com/office/drawing/2014/main" val="10000"/>
                  </a:ext>
                </a:extLst>
              </a:tr>
              <a:tr h="537210">
                <a:tc>
                  <a:txBody>
                    <a:bodyPr/>
                    <a:lstStyle/>
                    <a:p>
                      <a:pPr algn="l">
                        <a:defRPr sz="1100" b="0">
                          <a:solidFill>
                            <a:srgbClr val="222831"/>
                          </a:solidFill>
                          <a:latin typeface="Aptos"/>
                        </a:defRPr>
                      </a:pPr>
                      <a:r>
                        <a:t>Who ...</a:t>
                      </a:r>
                    </a:p>
                  </a:txBody>
                  <a:tcPr anchor="ctr">
                    <a:solidFill>
                      <a:srgbClr val="FFFFFF"/>
                    </a:solidFill>
                  </a:tcPr>
                </a:tc>
                <a:tc>
                  <a:txBody>
                    <a:bodyPr/>
                    <a:lstStyle/>
                    <a:p>
                      <a:pPr algn="l">
                        <a:defRPr sz="1100" b="0">
                          <a:solidFill>
                            <a:srgbClr val="222831"/>
                          </a:solidFill>
                          <a:latin typeface="Aptos"/>
                        </a:defRPr>
                      </a:pPr>
                      <a:r>
                        <a:t>WHO</a:t>
                      </a:r>
                    </a:p>
                  </a:txBody>
                  <a:tcPr anchor="ctr">
                    <a:solidFill>
                      <a:srgbClr val="FFFFFF"/>
                    </a:solidFill>
                  </a:tcPr>
                </a:tc>
                <a:tc>
                  <a:txBody>
                    <a:bodyPr/>
                    <a:lstStyle/>
                    <a:p>
                      <a:pPr algn="l">
                        <a:defRPr sz="1100" b="0">
                          <a:solidFill>
                            <a:srgbClr val="222831"/>
                          </a:solidFill>
                          <a:latin typeface="Aptos"/>
                        </a:defRPr>
                      </a:pPr>
                      <a:r>
                        <a:t>ARG0</a:t>
                      </a:r>
                    </a:p>
                  </a:txBody>
                  <a:tcPr anchor="ctr">
                    <a:solidFill>
                      <a:srgbClr val="FFFFFF"/>
                    </a:solidFill>
                  </a:tcPr>
                </a:tc>
                <a:extLst>
                  <a:ext uri="{0D108BD9-81ED-4DB2-BD59-A6C34878D82A}">
                    <a16:rowId xmlns:a16="http://schemas.microsoft.com/office/drawing/2014/main" val="10001"/>
                  </a:ext>
                </a:extLst>
              </a:tr>
              <a:tr h="537210">
                <a:tc>
                  <a:txBody>
                    <a:bodyPr/>
                    <a:lstStyle/>
                    <a:p>
                      <a:pPr algn="l">
                        <a:defRPr sz="1100" b="0">
                          <a:solidFill>
                            <a:srgbClr val="222831"/>
                          </a:solidFill>
                          <a:latin typeface="Aptos"/>
                        </a:defRPr>
                      </a:pPr>
                      <a:r>
                        <a:t>What ...</a:t>
                      </a:r>
                    </a:p>
                  </a:txBody>
                  <a:tcPr anchor="ctr">
                    <a:solidFill>
                      <a:srgbClr val="FFFFFF"/>
                    </a:solidFill>
                  </a:tcPr>
                </a:tc>
                <a:tc>
                  <a:txBody>
                    <a:bodyPr/>
                    <a:lstStyle/>
                    <a:p>
                      <a:pPr algn="l">
                        <a:defRPr sz="1100" b="0">
                          <a:solidFill>
                            <a:srgbClr val="222831"/>
                          </a:solidFill>
                          <a:latin typeface="Aptos"/>
                        </a:defRPr>
                      </a:pPr>
                      <a:r>
                        <a:t>WHAT</a:t>
                      </a:r>
                    </a:p>
                  </a:txBody>
                  <a:tcPr anchor="ctr">
                    <a:solidFill>
                      <a:srgbClr val="FFFFFF"/>
                    </a:solidFill>
                  </a:tcPr>
                </a:tc>
                <a:tc>
                  <a:txBody>
                    <a:bodyPr/>
                    <a:lstStyle/>
                    <a:p>
                      <a:pPr algn="l">
                        <a:defRPr sz="1100" b="0">
                          <a:solidFill>
                            <a:srgbClr val="222831"/>
                          </a:solidFill>
                          <a:latin typeface="Aptos"/>
                        </a:defRPr>
                      </a:pPr>
                      <a:r>
                        <a:t>ARG1</a:t>
                      </a:r>
                    </a:p>
                  </a:txBody>
                  <a:tcPr anchor="ctr">
                    <a:solidFill>
                      <a:srgbClr val="FFFFFF"/>
                    </a:solidFill>
                  </a:tcPr>
                </a:tc>
                <a:extLst>
                  <a:ext uri="{0D108BD9-81ED-4DB2-BD59-A6C34878D82A}">
                    <a16:rowId xmlns:a16="http://schemas.microsoft.com/office/drawing/2014/main" val="10002"/>
                  </a:ext>
                </a:extLst>
              </a:tr>
              <a:tr h="537210">
                <a:tc>
                  <a:txBody>
                    <a:bodyPr/>
                    <a:lstStyle/>
                    <a:p>
                      <a:pPr algn="l">
                        <a:defRPr sz="1100" b="0">
                          <a:solidFill>
                            <a:srgbClr val="222831"/>
                          </a:solidFill>
                          <a:latin typeface="Aptos"/>
                        </a:defRPr>
                      </a:pPr>
                      <a:r>
                        <a:t>When ...</a:t>
                      </a:r>
                    </a:p>
                  </a:txBody>
                  <a:tcPr anchor="ctr">
                    <a:solidFill>
                      <a:srgbClr val="FFFFFF"/>
                    </a:solidFill>
                  </a:tcPr>
                </a:tc>
                <a:tc>
                  <a:txBody>
                    <a:bodyPr/>
                    <a:lstStyle/>
                    <a:p>
                      <a:pPr algn="l">
                        <a:defRPr sz="1100" b="0">
                          <a:solidFill>
                            <a:srgbClr val="222831"/>
                          </a:solidFill>
                          <a:latin typeface="Aptos"/>
                        </a:defRPr>
                      </a:pPr>
                      <a:r>
                        <a:t>WHEN</a:t>
                      </a:r>
                    </a:p>
                  </a:txBody>
                  <a:tcPr anchor="ctr">
                    <a:solidFill>
                      <a:srgbClr val="FFFFFF"/>
                    </a:solidFill>
                  </a:tcPr>
                </a:tc>
                <a:tc>
                  <a:txBody>
                    <a:bodyPr/>
                    <a:lstStyle/>
                    <a:p>
                      <a:pPr algn="l">
                        <a:defRPr sz="1100" b="0">
                          <a:solidFill>
                            <a:srgbClr val="222831"/>
                          </a:solidFill>
                          <a:latin typeface="Aptos"/>
                        </a:defRPr>
                      </a:pPr>
                      <a:r>
                        <a:t>ARGM-TMP</a:t>
                      </a:r>
                    </a:p>
                  </a:txBody>
                  <a:tcPr anchor="ctr">
                    <a:solidFill>
                      <a:srgbClr val="FFFFFF"/>
                    </a:solidFill>
                  </a:tcPr>
                </a:tc>
                <a:extLst>
                  <a:ext uri="{0D108BD9-81ED-4DB2-BD59-A6C34878D82A}">
                    <a16:rowId xmlns:a16="http://schemas.microsoft.com/office/drawing/2014/main" val="10003"/>
                  </a:ext>
                </a:extLst>
              </a:tr>
              <a:tr h="537210">
                <a:tc>
                  <a:txBody>
                    <a:bodyPr/>
                    <a:lstStyle/>
                    <a:p>
                      <a:pPr algn="l">
                        <a:defRPr sz="1100" b="0">
                          <a:solidFill>
                            <a:srgbClr val="222831"/>
                          </a:solidFill>
                          <a:latin typeface="Aptos"/>
                        </a:defRPr>
                      </a:pPr>
                      <a:r>
                        <a:t>Where ...</a:t>
                      </a:r>
                    </a:p>
                  </a:txBody>
                  <a:tcPr anchor="ctr">
                    <a:solidFill>
                      <a:srgbClr val="FFFFFF"/>
                    </a:solidFill>
                  </a:tcPr>
                </a:tc>
                <a:tc>
                  <a:txBody>
                    <a:bodyPr/>
                    <a:lstStyle/>
                    <a:p>
                      <a:pPr algn="l">
                        <a:defRPr sz="1100" b="0">
                          <a:solidFill>
                            <a:srgbClr val="222831"/>
                          </a:solidFill>
                          <a:latin typeface="Aptos"/>
                        </a:defRPr>
                      </a:pPr>
                      <a:r>
                        <a:t>WHERE</a:t>
                      </a:r>
                    </a:p>
                  </a:txBody>
                  <a:tcPr anchor="ctr">
                    <a:solidFill>
                      <a:srgbClr val="FFFFFF"/>
                    </a:solidFill>
                  </a:tcPr>
                </a:tc>
                <a:tc>
                  <a:txBody>
                    <a:bodyPr/>
                    <a:lstStyle/>
                    <a:p>
                      <a:pPr algn="l">
                        <a:defRPr sz="1100" b="0">
                          <a:solidFill>
                            <a:srgbClr val="222831"/>
                          </a:solidFill>
                          <a:latin typeface="Aptos"/>
                        </a:defRPr>
                      </a:pPr>
                      <a:r>
                        <a:t>ARGM-LOC</a:t>
                      </a:r>
                    </a:p>
                  </a:txBody>
                  <a:tcPr anchor="ctr">
                    <a:solidFill>
                      <a:srgbClr val="FFFFFF"/>
                    </a:solidFill>
                  </a:tcPr>
                </a:tc>
                <a:extLst>
                  <a:ext uri="{0D108BD9-81ED-4DB2-BD59-A6C34878D82A}">
                    <a16:rowId xmlns:a16="http://schemas.microsoft.com/office/drawing/2014/main" val="10004"/>
                  </a:ext>
                </a:extLst>
              </a:tr>
              <a:tr h="537210">
                <a:tc>
                  <a:txBody>
                    <a:bodyPr/>
                    <a:lstStyle/>
                    <a:p>
                      <a:pPr algn="l">
                        <a:defRPr sz="1100" b="0">
                          <a:solidFill>
                            <a:srgbClr val="222831"/>
                          </a:solidFill>
                          <a:latin typeface="Aptos"/>
                        </a:defRPr>
                      </a:pPr>
                      <a:r>
                        <a:t>How ...</a:t>
                      </a:r>
                    </a:p>
                  </a:txBody>
                  <a:tcPr anchor="ctr">
                    <a:solidFill>
                      <a:srgbClr val="FFFFFF"/>
                    </a:solidFill>
                  </a:tcPr>
                </a:tc>
                <a:tc>
                  <a:txBody>
                    <a:bodyPr/>
                    <a:lstStyle/>
                    <a:p>
                      <a:pPr algn="l">
                        <a:defRPr sz="1100" b="0">
                          <a:solidFill>
                            <a:srgbClr val="222831"/>
                          </a:solidFill>
                          <a:latin typeface="Aptos"/>
                        </a:defRPr>
                      </a:pPr>
                      <a:r>
                        <a:t>HOW</a:t>
                      </a:r>
                    </a:p>
                  </a:txBody>
                  <a:tcPr anchor="ctr">
                    <a:solidFill>
                      <a:srgbClr val="FFFFFF"/>
                    </a:solidFill>
                  </a:tcPr>
                </a:tc>
                <a:tc>
                  <a:txBody>
                    <a:bodyPr/>
                    <a:lstStyle/>
                    <a:p>
                      <a:pPr algn="l">
                        <a:defRPr sz="1100" b="0">
                          <a:solidFill>
                            <a:srgbClr val="222831"/>
                          </a:solidFill>
                          <a:latin typeface="Aptos"/>
                        </a:defRPr>
                      </a:pPr>
                      <a:r>
                        <a:t>ARGM-MNR</a:t>
                      </a:r>
                    </a:p>
                  </a:txBody>
                  <a:tcPr anchor="ctr">
                    <a:solidFill>
                      <a:srgbClr val="FFFFFF"/>
                    </a:solidFill>
                  </a:tcPr>
                </a:tc>
                <a:extLst>
                  <a:ext uri="{0D108BD9-81ED-4DB2-BD59-A6C34878D82A}">
                    <a16:rowId xmlns:a16="http://schemas.microsoft.com/office/drawing/2014/main" val="10005"/>
                  </a:ext>
                </a:extLst>
              </a:tr>
              <a:tr h="537210">
                <a:tc>
                  <a:txBody>
                    <a:bodyPr/>
                    <a:lstStyle/>
                    <a:p>
                      <a:pPr algn="l">
                        <a:defRPr sz="1100" b="0">
                          <a:solidFill>
                            <a:srgbClr val="222831"/>
                          </a:solidFill>
                          <a:latin typeface="Aptos"/>
                        </a:defRPr>
                      </a:pPr>
                      <a:r>
                        <a:t>Why ...</a:t>
                      </a:r>
                    </a:p>
                  </a:txBody>
                  <a:tcPr anchor="ctr">
                    <a:solidFill>
                      <a:srgbClr val="FFFFFF"/>
                    </a:solidFill>
                  </a:tcPr>
                </a:tc>
                <a:tc>
                  <a:txBody>
                    <a:bodyPr/>
                    <a:lstStyle/>
                    <a:p>
                      <a:pPr algn="l">
                        <a:defRPr sz="1100" b="0">
                          <a:solidFill>
                            <a:srgbClr val="222831"/>
                          </a:solidFill>
                          <a:latin typeface="Aptos"/>
                        </a:defRPr>
                      </a:pPr>
                      <a:r>
                        <a:t>WHY</a:t>
                      </a:r>
                    </a:p>
                  </a:txBody>
                  <a:tcPr anchor="ctr">
                    <a:solidFill>
                      <a:srgbClr val="FFFFFF"/>
                    </a:solidFill>
                  </a:tcPr>
                </a:tc>
                <a:tc>
                  <a:txBody>
                    <a:bodyPr/>
                    <a:lstStyle/>
                    <a:p>
                      <a:pPr algn="l">
                        <a:defRPr sz="1100" b="0">
                          <a:solidFill>
                            <a:srgbClr val="222831"/>
                          </a:solidFill>
                          <a:latin typeface="Aptos"/>
                        </a:defRPr>
                      </a:pPr>
                      <a:r>
                        <a:t>ARGM-CAU</a:t>
                      </a:r>
                    </a:p>
                  </a:txBody>
                  <a:tcPr anchor="ctr">
                    <a:solidFill>
                      <a:srgbClr val="FFFFFF"/>
                    </a:solidFill>
                  </a:tcPr>
                </a:tc>
                <a:extLst>
                  <a:ext uri="{0D108BD9-81ED-4DB2-BD59-A6C34878D82A}">
                    <a16:rowId xmlns:a16="http://schemas.microsoft.com/office/drawing/2014/main" val="10006"/>
                  </a:ext>
                </a:extLst>
              </a:tr>
              <a:tr h="537210">
                <a:tc>
                  <a:txBody>
                    <a:bodyPr/>
                    <a:lstStyle/>
                    <a:p>
                      <a:pPr algn="l">
                        <a:defRPr sz="1100" b="0">
                          <a:solidFill>
                            <a:srgbClr val="222831"/>
                          </a:solidFill>
                          <a:latin typeface="Aptos"/>
                        </a:defRPr>
                      </a:pPr>
                      <a:r>
                        <a:t>Whom / Who received ...</a:t>
                      </a:r>
                    </a:p>
                  </a:txBody>
                  <a:tcPr anchor="ctr">
                    <a:solidFill>
                      <a:srgbClr val="FFFFFF"/>
                    </a:solidFill>
                  </a:tcPr>
                </a:tc>
                <a:tc>
                  <a:txBody>
                    <a:bodyPr/>
                    <a:lstStyle/>
                    <a:p>
                      <a:pPr algn="l">
                        <a:defRPr sz="1100" b="0">
                          <a:solidFill>
                            <a:srgbClr val="222831"/>
                          </a:solidFill>
                          <a:latin typeface="Aptos"/>
                        </a:defRPr>
                      </a:pPr>
                      <a:r>
                        <a:t>TO-WHOM</a:t>
                      </a:r>
                    </a:p>
                  </a:txBody>
                  <a:tcPr anchor="ctr">
                    <a:solidFill>
                      <a:srgbClr val="FFFFFF"/>
                    </a:solidFill>
                  </a:tcPr>
                </a:tc>
                <a:tc>
                  <a:txBody>
                    <a:bodyPr/>
                    <a:lstStyle/>
                    <a:p>
                      <a:pPr algn="l">
                        <a:defRPr sz="1100" b="0">
                          <a:solidFill>
                            <a:srgbClr val="222831"/>
                          </a:solidFill>
                          <a:latin typeface="Aptos"/>
                        </a:defRPr>
                      </a:pPr>
                      <a:r>
                        <a:t>ARG2</a:t>
                      </a:r>
                    </a:p>
                  </a:txBody>
                  <a:tcPr anchor="ctr">
                    <a:solidFill>
                      <a:srgbClr val="FFFFFF"/>
                    </a:solidFill>
                  </a:tcPr>
                </a:tc>
                <a:extLst>
                  <a:ext uri="{0D108BD9-81ED-4DB2-BD59-A6C34878D82A}">
                    <a16:rowId xmlns:a16="http://schemas.microsoft.com/office/drawing/2014/main" val="10007"/>
                  </a:ext>
                </a:extLst>
              </a:tr>
            </a:tbl>
          </a:graphicData>
        </a:graphic>
      </p:graphicFrame>
      <p:sp>
        <p:nvSpPr>
          <p:cNvPr id="10" name="TextBox 9"/>
          <p:cNvSpPr txBox="1"/>
          <p:nvPr/>
        </p:nvSpPr>
        <p:spPr>
          <a:xfrm>
            <a:off x="777240" y="5440680"/>
            <a:ext cx="4709160" cy="640080"/>
          </a:xfrm>
          <a:prstGeom prst="rect">
            <a:avLst/>
          </a:prstGeom>
          <a:noFill/>
        </p:spPr>
        <p:txBody>
          <a:bodyPr wrap="square">
            <a:spAutoFit/>
          </a:bodyPr>
          <a:lstStyle/>
          <a:p>
            <a:pPr>
              <a:spcAft>
                <a:spcPts val="700"/>
              </a:spcAft>
              <a:defRPr sz="1500">
                <a:solidFill>
                  <a:srgbClr val="222831"/>
                </a:solidFill>
                <a:latin typeface="Aptos"/>
              </a:defRPr>
            </a:pPr>
            <a:r>
              <a:t>Question intent is parsed before final answer selection</a:t>
            </a:r>
          </a:p>
          <a:p>
            <a:pPr>
              <a:spcAft>
                <a:spcPts val="700"/>
              </a:spcAft>
              <a:defRPr sz="1500">
                <a:solidFill>
                  <a:srgbClr val="222831"/>
                </a:solidFill>
                <a:latin typeface="Aptos"/>
              </a:defRPr>
            </a:pPr>
            <a:r>
              <a:t>Expected roles become a reusable signal for filtering and ranking candidates</a:t>
            </a:r>
          </a:p>
          <a:p>
            <a:pPr>
              <a:spcAft>
                <a:spcPts val="700"/>
              </a:spcAft>
              <a:defRPr sz="1500">
                <a:solidFill>
                  <a:srgbClr val="222831"/>
                </a:solidFill>
                <a:latin typeface="Aptos"/>
              </a:defRPr>
            </a:pPr>
            <a:r>
              <a:t>This bridges the surface form of the question with the semantic structure of the answer</a:t>
            </a:r>
          </a:p>
        </p:txBody>
      </p:sp>
      <p:sp>
        <p:nvSpPr>
          <p:cNvPr id="11" name="Rectangle 10"/>
          <p:cNvSpPr/>
          <p:nvPr/>
        </p:nvSpPr>
        <p:spPr>
          <a:xfrm>
            <a:off x="5669280" y="960120"/>
            <a:ext cx="5532120" cy="5212080"/>
          </a:xfrm>
          <a:prstGeom prst="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hybridpropqa.png"/>
          <p:cNvPicPr>
            <a:picLocks noChangeAspect="1"/>
          </p:cNvPicPr>
          <p:nvPr/>
        </p:nvPicPr>
        <p:blipFill>
          <a:blip r:embed="rId3"/>
          <a:stretch>
            <a:fillRect/>
          </a:stretch>
        </p:blipFill>
        <p:spPr>
          <a:xfrm>
            <a:off x="5669280" y="2874645"/>
            <a:ext cx="5532120" cy="138303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0352"/>
            <a:ext cx="12191695" cy="54864"/>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8138160" cy="301752"/>
          </a:xfrm>
          <a:prstGeom prst="rect">
            <a:avLst/>
          </a:prstGeom>
          <a:noFill/>
        </p:spPr>
        <p:txBody>
          <a:bodyPr wrap="none">
            <a:spAutoFit/>
          </a:bodyPr>
          <a:lstStyle/>
          <a:p>
            <a:pPr>
              <a:defRPr sz="2800" b="1">
                <a:solidFill>
                  <a:srgbClr val="FFFFFF"/>
                </a:solidFill>
                <a:latin typeface="Aptos Display"/>
              </a:defRPr>
            </a:pPr>
            <a:r>
              <a:t>Innovation Deep Dive: Transparent Reranking</a:t>
            </a:r>
          </a:p>
        </p:txBody>
      </p:sp>
      <p:sp>
        <p:nvSpPr>
          <p:cNvPr id="5" name="Rounded Rectangle 4"/>
          <p:cNvSpPr/>
          <p:nvPr/>
        </p:nvSpPr>
        <p:spPr>
          <a:xfrm>
            <a:off x="9966960" y="109728"/>
            <a:ext cx="1783080" cy="274320"/>
          </a:xfrm>
          <a:prstGeom prst="round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D1B2A"/>
                </a:solidFill>
                <a:latin typeface="Aptos"/>
              </a:defRPr>
            </a:pPr>
            <a:r>
              <a:t>INNOVATION</a:t>
            </a:r>
          </a:p>
        </p:txBody>
      </p:sp>
      <p:sp>
        <p:nvSpPr>
          <p:cNvPr id="6" name="Rectangle 5"/>
          <p:cNvSpPr/>
          <p:nvPr/>
        </p:nvSpPr>
        <p:spPr>
          <a:xfrm>
            <a:off x="365760" y="6519672"/>
            <a:ext cx="11430000" cy="9144"/>
          </a:xfrm>
          <a:prstGeom prst="rect">
            <a:avLst/>
          </a:prstGeom>
          <a:solidFill>
            <a:srgbClr val="D9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537960"/>
            <a:ext cx="10515600" cy="164592"/>
          </a:xfrm>
          <a:prstGeom prst="rect">
            <a:avLst/>
          </a:prstGeom>
          <a:noFill/>
        </p:spPr>
        <p:txBody>
          <a:bodyPr wrap="none">
            <a:spAutoFit/>
          </a:bodyPr>
          <a:lstStyle/>
          <a:p>
            <a:pPr>
              <a:defRPr sz="900">
                <a:solidFill>
                  <a:srgbClr val="5E6C84"/>
                </a:solidFill>
                <a:latin typeface="Aptos"/>
              </a:defRPr>
            </a:pPr>
            <a:r>
              <a:t>PropQA-Net | SRL-Anchored QA | Final Research Presentation</a:t>
            </a:r>
          </a:p>
        </p:txBody>
      </p:sp>
      <p:sp>
        <p:nvSpPr>
          <p:cNvPr id="8" name="TextBox 7"/>
          <p:cNvSpPr txBox="1"/>
          <p:nvPr/>
        </p:nvSpPr>
        <p:spPr>
          <a:xfrm>
            <a:off x="11064240" y="6510528"/>
            <a:ext cx="640080" cy="182880"/>
          </a:xfrm>
          <a:prstGeom prst="rect">
            <a:avLst/>
          </a:prstGeom>
          <a:noFill/>
        </p:spPr>
        <p:txBody>
          <a:bodyPr wrap="none">
            <a:spAutoFit/>
          </a:bodyPr>
          <a:lstStyle/>
          <a:p>
            <a:pPr algn="r">
              <a:defRPr sz="1000" b="1">
                <a:solidFill>
                  <a:srgbClr val="5E6C84"/>
                </a:solidFill>
                <a:latin typeface="Aptos"/>
              </a:defRPr>
            </a:pPr>
            <a:r>
              <a:t>28</a:t>
            </a:r>
          </a:p>
        </p:txBody>
      </p:sp>
      <p:graphicFrame>
        <p:nvGraphicFramePr>
          <p:cNvPr id="9" name="Table 8"/>
          <p:cNvGraphicFramePr>
            <a:graphicFrameLocks noGrp="1"/>
          </p:cNvGraphicFramePr>
          <p:nvPr/>
        </p:nvGraphicFramePr>
        <p:xfrm>
          <a:off x="685800" y="960120"/>
          <a:ext cx="5074917" cy="4023360"/>
        </p:xfrm>
        <a:graphic>
          <a:graphicData uri="http://schemas.openxmlformats.org/drawingml/2006/table">
            <a:tbl>
              <a:tblPr firstRow="1" bandRow="1">
                <a:tableStyleId>{5C22544A-7EE6-4342-B048-85BDC9FD1C3A}</a:tableStyleId>
              </a:tblPr>
              <a:tblGrid>
                <a:gridCol w="1691639">
                  <a:extLst>
                    <a:ext uri="{9D8B030D-6E8A-4147-A177-3AD203B41FA5}">
                      <a16:colId xmlns:a16="http://schemas.microsoft.com/office/drawing/2014/main" val="20000"/>
                    </a:ext>
                  </a:extLst>
                </a:gridCol>
                <a:gridCol w="1691639">
                  <a:extLst>
                    <a:ext uri="{9D8B030D-6E8A-4147-A177-3AD203B41FA5}">
                      <a16:colId xmlns:a16="http://schemas.microsoft.com/office/drawing/2014/main" val="20001"/>
                    </a:ext>
                  </a:extLst>
                </a:gridCol>
                <a:gridCol w="1691639">
                  <a:extLst>
                    <a:ext uri="{9D8B030D-6E8A-4147-A177-3AD203B41FA5}">
                      <a16:colId xmlns:a16="http://schemas.microsoft.com/office/drawing/2014/main" val="20002"/>
                    </a:ext>
                  </a:extLst>
                </a:gridCol>
              </a:tblGrid>
              <a:tr h="574765">
                <a:tc>
                  <a:txBody>
                    <a:bodyPr/>
                    <a:lstStyle/>
                    <a:p>
                      <a:pPr algn="ctr">
                        <a:defRPr sz="1100" b="1">
                          <a:solidFill>
                            <a:srgbClr val="FFFFFF"/>
                          </a:solidFill>
                          <a:latin typeface="Aptos"/>
                        </a:defRPr>
                      </a:pPr>
                      <a:r>
                        <a:t>Feature</a:t>
                      </a:r>
                    </a:p>
                  </a:txBody>
                  <a:tcPr anchor="ctr">
                    <a:solidFill>
                      <a:srgbClr val="0D1B2A"/>
                    </a:solidFill>
                  </a:tcPr>
                </a:tc>
                <a:tc>
                  <a:txBody>
                    <a:bodyPr/>
                    <a:lstStyle/>
                    <a:p>
                      <a:pPr algn="ctr">
                        <a:defRPr sz="1100" b="1">
                          <a:solidFill>
                            <a:srgbClr val="FFFFFF"/>
                          </a:solidFill>
                          <a:latin typeface="Aptos"/>
                        </a:defRPr>
                      </a:pPr>
                      <a:r>
                        <a:t>Weight</a:t>
                      </a:r>
                    </a:p>
                  </a:txBody>
                  <a:tcPr anchor="ctr">
                    <a:solidFill>
                      <a:srgbClr val="0D1B2A"/>
                    </a:solidFill>
                  </a:tcPr>
                </a:tc>
                <a:tc>
                  <a:txBody>
                    <a:bodyPr/>
                    <a:lstStyle/>
                    <a:p>
                      <a:pPr algn="ctr">
                        <a:defRPr sz="1100" b="1">
                          <a:solidFill>
                            <a:srgbClr val="FFFFFF"/>
                          </a:solidFill>
                          <a:latin typeface="Aptos"/>
                        </a:defRPr>
                      </a:pPr>
                      <a:r>
                        <a:t>Purpose</a:t>
                      </a:r>
                    </a:p>
                  </a:txBody>
                  <a:tcPr anchor="ctr">
                    <a:solidFill>
                      <a:srgbClr val="0D1B2A"/>
                    </a:solidFill>
                  </a:tcPr>
                </a:tc>
                <a:extLst>
                  <a:ext uri="{0D108BD9-81ED-4DB2-BD59-A6C34878D82A}">
                    <a16:rowId xmlns:a16="http://schemas.microsoft.com/office/drawing/2014/main" val="10000"/>
                  </a:ext>
                </a:extLst>
              </a:tr>
              <a:tr h="574765">
                <a:tc>
                  <a:txBody>
                    <a:bodyPr/>
                    <a:lstStyle/>
                    <a:p>
                      <a:pPr algn="l">
                        <a:defRPr sz="1100" b="0">
                          <a:solidFill>
                            <a:srgbClr val="222831"/>
                          </a:solidFill>
                          <a:latin typeface="Aptos"/>
                        </a:defRPr>
                      </a:pPr>
                      <a:r>
                        <a:t>Base score</a:t>
                      </a:r>
                    </a:p>
                  </a:txBody>
                  <a:tcPr anchor="ctr">
                    <a:solidFill>
                      <a:srgbClr val="FFFFFF"/>
                    </a:solidFill>
                  </a:tcPr>
                </a:tc>
                <a:tc>
                  <a:txBody>
                    <a:bodyPr/>
                    <a:lstStyle/>
                    <a:p>
                      <a:pPr algn="l">
                        <a:defRPr sz="1100" b="0">
                          <a:solidFill>
                            <a:srgbClr val="222831"/>
                          </a:solidFill>
                          <a:latin typeface="Aptos"/>
                        </a:defRPr>
                      </a:pPr>
                      <a:r>
                        <a:t>0.30</a:t>
                      </a:r>
                    </a:p>
                  </a:txBody>
                  <a:tcPr anchor="ctr">
                    <a:solidFill>
                      <a:srgbClr val="FFFFFF"/>
                    </a:solidFill>
                  </a:tcPr>
                </a:tc>
                <a:tc>
                  <a:txBody>
                    <a:bodyPr/>
                    <a:lstStyle/>
                    <a:p>
                      <a:pPr algn="l">
                        <a:defRPr sz="1100" b="0">
                          <a:solidFill>
                            <a:srgbClr val="222831"/>
                          </a:solidFill>
                          <a:latin typeface="Aptos"/>
                        </a:defRPr>
                      </a:pPr>
                      <a:r>
                        <a:t>Respect source confidence</a:t>
                      </a:r>
                    </a:p>
                  </a:txBody>
                  <a:tcPr anchor="ctr">
                    <a:solidFill>
                      <a:srgbClr val="FFFFFF"/>
                    </a:solidFill>
                  </a:tcPr>
                </a:tc>
                <a:extLst>
                  <a:ext uri="{0D108BD9-81ED-4DB2-BD59-A6C34878D82A}">
                    <a16:rowId xmlns:a16="http://schemas.microsoft.com/office/drawing/2014/main" val="10001"/>
                  </a:ext>
                </a:extLst>
              </a:tr>
              <a:tr h="574765">
                <a:tc>
                  <a:txBody>
                    <a:bodyPr/>
                    <a:lstStyle/>
                    <a:p>
                      <a:pPr algn="l">
                        <a:defRPr sz="1100" b="0">
                          <a:solidFill>
                            <a:srgbClr val="222831"/>
                          </a:solidFill>
                          <a:latin typeface="Aptos"/>
                        </a:defRPr>
                      </a:pPr>
                      <a:r>
                        <a:t>Role match</a:t>
                      </a:r>
                    </a:p>
                  </a:txBody>
                  <a:tcPr anchor="ctr">
                    <a:solidFill>
                      <a:srgbClr val="FFFFFF"/>
                    </a:solidFill>
                  </a:tcPr>
                </a:tc>
                <a:tc>
                  <a:txBody>
                    <a:bodyPr/>
                    <a:lstStyle/>
                    <a:p>
                      <a:pPr algn="l">
                        <a:defRPr sz="1100" b="0">
                          <a:solidFill>
                            <a:srgbClr val="222831"/>
                          </a:solidFill>
                          <a:latin typeface="Aptos"/>
                        </a:defRPr>
                      </a:pPr>
                      <a:r>
                        <a:t>0.32</a:t>
                      </a:r>
                    </a:p>
                  </a:txBody>
                  <a:tcPr anchor="ctr">
                    <a:solidFill>
                      <a:srgbClr val="FFFFFF"/>
                    </a:solidFill>
                  </a:tcPr>
                </a:tc>
                <a:tc>
                  <a:txBody>
                    <a:bodyPr/>
                    <a:lstStyle/>
                    <a:p>
                      <a:pPr algn="l">
                        <a:defRPr sz="1100" b="0">
                          <a:solidFill>
                            <a:srgbClr val="222831"/>
                          </a:solidFill>
                          <a:latin typeface="Aptos"/>
                        </a:defRPr>
                      </a:pPr>
                      <a:r>
                        <a:t>Prioritize semantic fit to the question</a:t>
                      </a:r>
                    </a:p>
                  </a:txBody>
                  <a:tcPr anchor="ctr">
                    <a:solidFill>
                      <a:srgbClr val="FFFFFF"/>
                    </a:solidFill>
                  </a:tcPr>
                </a:tc>
                <a:extLst>
                  <a:ext uri="{0D108BD9-81ED-4DB2-BD59-A6C34878D82A}">
                    <a16:rowId xmlns:a16="http://schemas.microsoft.com/office/drawing/2014/main" val="10002"/>
                  </a:ext>
                </a:extLst>
              </a:tr>
              <a:tr h="574765">
                <a:tc>
                  <a:txBody>
                    <a:bodyPr/>
                    <a:lstStyle/>
                    <a:p>
                      <a:pPr algn="l">
                        <a:defRPr sz="1100" b="0">
                          <a:solidFill>
                            <a:srgbClr val="222831"/>
                          </a:solidFill>
                          <a:latin typeface="Aptos"/>
                        </a:defRPr>
                      </a:pPr>
                      <a:r>
                        <a:t>Semantic alignment</a:t>
                      </a:r>
                    </a:p>
                  </a:txBody>
                  <a:tcPr anchor="ctr">
                    <a:solidFill>
                      <a:srgbClr val="FFFFFF"/>
                    </a:solidFill>
                  </a:tcPr>
                </a:tc>
                <a:tc>
                  <a:txBody>
                    <a:bodyPr/>
                    <a:lstStyle/>
                    <a:p>
                      <a:pPr algn="l">
                        <a:defRPr sz="1100" b="0">
                          <a:solidFill>
                            <a:srgbClr val="222831"/>
                          </a:solidFill>
                          <a:latin typeface="Aptos"/>
                        </a:defRPr>
                      </a:pPr>
                      <a:r>
                        <a:t>0.22</a:t>
                      </a:r>
                    </a:p>
                  </a:txBody>
                  <a:tcPr anchor="ctr">
                    <a:solidFill>
                      <a:srgbClr val="FFFFFF"/>
                    </a:solidFill>
                  </a:tcPr>
                </a:tc>
                <a:tc>
                  <a:txBody>
                    <a:bodyPr/>
                    <a:lstStyle/>
                    <a:p>
                      <a:pPr algn="l">
                        <a:defRPr sz="1100" b="0">
                          <a:solidFill>
                            <a:srgbClr val="222831"/>
                          </a:solidFill>
                          <a:latin typeface="Aptos"/>
                        </a:defRPr>
                      </a:pPr>
                      <a:r>
                        <a:t>Use sentence-level compatibility</a:t>
                      </a:r>
                    </a:p>
                  </a:txBody>
                  <a:tcPr anchor="ctr">
                    <a:solidFill>
                      <a:srgbClr val="FFFFFF"/>
                    </a:solidFill>
                  </a:tcPr>
                </a:tc>
                <a:extLst>
                  <a:ext uri="{0D108BD9-81ED-4DB2-BD59-A6C34878D82A}">
                    <a16:rowId xmlns:a16="http://schemas.microsoft.com/office/drawing/2014/main" val="10003"/>
                  </a:ext>
                </a:extLst>
              </a:tr>
              <a:tr h="574765">
                <a:tc>
                  <a:txBody>
                    <a:bodyPr/>
                    <a:lstStyle/>
                    <a:p>
                      <a:pPr algn="l">
                        <a:defRPr sz="1100" b="0">
                          <a:solidFill>
                            <a:srgbClr val="222831"/>
                          </a:solidFill>
                          <a:latin typeface="Aptos"/>
                        </a:defRPr>
                      </a:pPr>
                      <a:r>
                        <a:t>Lexical overlap</a:t>
                      </a:r>
                    </a:p>
                  </a:txBody>
                  <a:tcPr anchor="ctr">
                    <a:solidFill>
                      <a:srgbClr val="FFFFFF"/>
                    </a:solidFill>
                  </a:tcPr>
                </a:tc>
                <a:tc>
                  <a:txBody>
                    <a:bodyPr/>
                    <a:lstStyle/>
                    <a:p>
                      <a:pPr algn="l">
                        <a:defRPr sz="1100" b="0">
                          <a:solidFill>
                            <a:srgbClr val="222831"/>
                          </a:solidFill>
                          <a:latin typeface="Aptos"/>
                        </a:defRPr>
                      </a:pPr>
                      <a:r>
                        <a:t>0.06</a:t>
                      </a:r>
                    </a:p>
                  </a:txBody>
                  <a:tcPr anchor="ctr">
                    <a:solidFill>
                      <a:srgbClr val="FFFFFF"/>
                    </a:solidFill>
                  </a:tcPr>
                </a:tc>
                <a:tc>
                  <a:txBody>
                    <a:bodyPr/>
                    <a:lstStyle/>
                    <a:p>
                      <a:pPr algn="l">
                        <a:defRPr sz="1100" b="0">
                          <a:solidFill>
                            <a:srgbClr val="222831"/>
                          </a:solidFill>
                          <a:latin typeface="Aptos"/>
                        </a:defRPr>
                      </a:pPr>
                      <a:r>
                        <a:t>Reward useful content overlap</a:t>
                      </a:r>
                    </a:p>
                  </a:txBody>
                  <a:tcPr anchor="ctr">
                    <a:solidFill>
                      <a:srgbClr val="FFFFFF"/>
                    </a:solidFill>
                  </a:tcPr>
                </a:tc>
                <a:extLst>
                  <a:ext uri="{0D108BD9-81ED-4DB2-BD59-A6C34878D82A}">
                    <a16:rowId xmlns:a16="http://schemas.microsoft.com/office/drawing/2014/main" val="10004"/>
                  </a:ext>
                </a:extLst>
              </a:tr>
              <a:tr h="574765">
                <a:tc>
                  <a:txBody>
                    <a:bodyPr/>
                    <a:lstStyle/>
                    <a:p>
                      <a:pPr algn="l">
                        <a:defRPr sz="1100" b="0">
                          <a:solidFill>
                            <a:srgbClr val="222831"/>
                          </a:solidFill>
                          <a:latin typeface="Aptos"/>
                        </a:defRPr>
                      </a:pPr>
                      <a:r>
                        <a:t>Shape bonus</a:t>
                      </a:r>
                    </a:p>
                  </a:txBody>
                  <a:tcPr anchor="ctr">
                    <a:solidFill>
                      <a:srgbClr val="FFFFFF"/>
                    </a:solidFill>
                  </a:tcPr>
                </a:tc>
                <a:tc>
                  <a:txBody>
                    <a:bodyPr/>
                    <a:lstStyle/>
                    <a:p>
                      <a:pPr algn="l">
                        <a:defRPr sz="1100" b="0">
                          <a:solidFill>
                            <a:srgbClr val="222831"/>
                          </a:solidFill>
                          <a:latin typeface="Aptos"/>
                        </a:defRPr>
                      </a:pPr>
                      <a:r>
                        <a:t>0.10</a:t>
                      </a:r>
                    </a:p>
                  </a:txBody>
                  <a:tcPr anchor="ctr">
                    <a:solidFill>
                      <a:srgbClr val="FFFFFF"/>
                    </a:solidFill>
                  </a:tcPr>
                </a:tc>
                <a:tc>
                  <a:txBody>
                    <a:bodyPr/>
                    <a:lstStyle/>
                    <a:p>
                      <a:pPr algn="l">
                        <a:defRPr sz="1100" b="0">
                          <a:solidFill>
                            <a:srgbClr val="222831"/>
                          </a:solidFill>
                          <a:latin typeface="Aptos"/>
                        </a:defRPr>
                      </a:pPr>
                      <a:r>
                        <a:t>Prefer role-appropriate span forms</a:t>
                      </a:r>
                    </a:p>
                  </a:txBody>
                  <a:tcPr anchor="ctr">
                    <a:solidFill>
                      <a:srgbClr val="FFFFFF"/>
                    </a:solidFill>
                  </a:tcPr>
                </a:tc>
                <a:extLst>
                  <a:ext uri="{0D108BD9-81ED-4DB2-BD59-A6C34878D82A}">
                    <a16:rowId xmlns:a16="http://schemas.microsoft.com/office/drawing/2014/main" val="10005"/>
                  </a:ext>
                </a:extLst>
              </a:tr>
              <a:tr h="574770">
                <a:tc>
                  <a:txBody>
                    <a:bodyPr/>
                    <a:lstStyle/>
                    <a:p>
                      <a:pPr algn="l">
                        <a:defRPr sz="1100" b="0">
                          <a:solidFill>
                            <a:srgbClr val="222831"/>
                          </a:solidFill>
                          <a:latin typeface="Aptos"/>
                        </a:defRPr>
                      </a:pPr>
                      <a:r>
                        <a:t>Baseline bonus</a:t>
                      </a:r>
                    </a:p>
                  </a:txBody>
                  <a:tcPr anchor="ctr">
                    <a:solidFill>
                      <a:srgbClr val="FFFFFF"/>
                    </a:solidFill>
                  </a:tcPr>
                </a:tc>
                <a:tc>
                  <a:txBody>
                    <a:bodyPr/>
                    <a:lstStyle/>
                    <a:p>
                      <a:pPr algn="l">
                        <a:defRPr sz="1100" b="0">
                          <a:solidFill>
                            <a:srgbClr val="222831"/>
                          </a:solidFill>
                          <a:latin typeface="Aptos"/>
                        </a:defRPr>
                      </a:pPr>
                      <a:r>
                        <a:t>dynamic</a:t>
                      </a:r>
                    </a:p>
                  </a:txBody>
                  <a:tcPr anchor="ctr">
                    <a:solidFill>
                      <a:srgbClr val="FFFFFF"/>
                    </a:solidFill>
                  </a:tcPr>
                </a:tc>
                <a:tc>
                  <a:txBody>
                    <a:bodyPr/>
                    <a:lstStyle/>
                    <a:p>
                      <a:pPr algn="l">
                        <a:defRPr sz="1100" b="0">
                          <a:solidFill>
                            <a:srgbClr val="222831"/>
                          </a:solidFill>
                          <a:latin typeface="Aptos"/>
                        </a:defRPr>
                      </a:pPr>
                      <a:r>
                        <a:t>Preserve useful model agreement</a:t>
                      </a:r>
                    </a:p>
                  </a:txBody>
                  <a:tcPr anchor="ctr">
                    <a:solidFill>
                      <a:srgbClr val="FFFFFF"/>
                    </a:solidFill>
                  </a:tcPr>
                </a:tc>
                <a:extLst>
                  <a:ext uri="{0D108BD9-81ED-4DB2-BD59-A6C34878D82A}">
                    <a16:rowId xmlns:a16="http://schemas.microsoft.com/office/drawing/2014/main" val="10006"/>
                  </a:ext>
                </a:extLst>
              </a:tr>
            </a:tbl>
          </a:graphicData>
        </a:graphic>
      </p:graphicFrame>
      <p:sp>
        <p:nvSpPr>
          <p:cNvPr id="10" name="TextBox 9"/>
          <p:cNvSpPr txBox="1"/>
          <p:nvPr/>
        </p:nvSpPr>
        <p:spPr>
          <a:xfrm>
            <a:off x="777240" y="5212080"/>
            <a:ext cx="4846320" cy="822960"/>
          </a:xfrm>
          <a:prstGeom prst="rect">
            <a:avLst/>
          </a:prstGeom>
          <a:noFill/>
        </p:spPr>
        <p:txBody>
          <a:bodyPr wrap="square">
            <a:spAutoFit/>
          </a:bodyPr>
          <a:lstStyle/>
          <a:p>
            <a:pPr>
              <a:spcAft>
                <a:spcPts val="700"/>
              </a:spcAft>
              <a:defRPr sz="1500">
                <a:solidFill>
                  <a:srgbClr val="222831"/>
                </a:solidFill>
                <a:latin typeface="Aptos"/>
              </a:defRPr>
            </a:pPr>
            <a:r>
              <a:t>The weights are visible in code, easy to explain, and easy to tune</a:t>
            </a:r>
          </a:p>
          <a:p>
            <a:pPr>
              <a:spcAft>
                <a:spcPts val="700"/>
              </a:spcAft>
              <a:defRPr sz="1500">
                <a:solidFill>
                  <a:srgbClr val="222831"/>
                </a:solidFill>
                <a:latin typeface="Aptos"/>
              </a:defRPr>
            </a:pPr>
            <a:r>
              <a:t>The reranker is interpretable enough to support deterministic reasoning traces</a:t>
            </a:r>
          </a:p>
          <a:p>
            <a:pPr>
              <a:spcAft>
                <a:spcPts val="700"/>
              </a:spcAft>
              <a:defRPr sz="1500">
                <a:solidFill>
                  <a:srgbClr val="222831"/>
                </a:solidFill>
                <a:latin typeface="Aptos"/>
              </a:defRPr>
            </a:pPr>
            <a:r>
              <a:t>This is more presentation-friendly and research-friendly than a hidden black-box reranker</a:t>
            </a:r>
          </a:p>
        </p:txBody>
      </p:sp>
      <p:sp>
        <p:nvSpPr>
          <p:cNvPr id="11" name="Rectangle 10"/>
          <p:cNvSpPr/>
          <p:nvPr/>
        </p:nvSpPr>
        <p:spPr>
          <a:xfrm>
            <a:off x="5989320" y="1051560"/>
            <a:ext cx="5257800" cy="4983480"/>
          </a:xfrm>
          <a:prstGeom prst="rect">
            <a:avLst/>
          </a:prstGeom>
          <a:solidFill>
            <a:srgbClr val="FFFFFF"/>
          </a:solidFill>
          <a:ln>
            <a:solidFill>
              <a:srgbClr val="D9DF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2" name="Picture 11" descr="latency_accuracy_tradeoff.png"/>
          <p:cNvPicPr>
            <a:picLocks noChangeAspect="1"/>
          </p:cNvPicPr>
          <p:nvPr/>
        </p:nvPicPr>
        <p:blipFill>
          <a:blip r:embed="rId3"/>
          <a:stretch>
            <a:fillRect/>
          </a:stretch>
        </p:blipFill>
        <p:spPr>
          <a:xfrm>
            <a:off x="5989320" y="1900237"/>
            <a:ext cx="5257800" cy="3286125"/>
          </a:xfrm>
          <a:prstGeom prst="rect">
            <a:avLst/>
          </a:prstGeom>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bg>
      <p:bgPr>
        <a:solidFill>
          <a:srgbClr val="F5F8FC"/>
        </a:solidFill>
        <a:effectLst/>
      </p:bgPr>
    </p:bg>
    <p:spTree>
      <p:nvGrpSpPr>
        <p:cNvPr id="1" name=""/>
        <p:cNvGrpSpPr/>
        <p:nvPr/>
      </p:nvGrpSpPr>
      <p:grpSpPr>
        <a:xfrm>
          <a:off x="0" y="0"/>
          <a:ext cx="0" cy="0"/>
          <a:chOff x="0" y="0"/>
          <a:chExt cx="0" cy="0"/>
        </a:xfrm>
      </p:grpSpPr>
      <p:sp>
        <p:nvSpPr>
          <p:cNvPr id="2" name="Rectangle 1"/>
          <p:cNvSpPr/>
          <p:nvPr/>
        </p:nvSpPr>
        <p:spPr>
          <a:xfrm>
            <a:off x="0" y="0"/>
            <a:ext cx="12191695" cy="548640"/>
          </a:xfrm>
          <a:prstGeom prst="rect">
            <a:avLst/>
          </a:prstGeom>
          <a:solidFill>
            <a:srgbClr val="0D1B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530352"/>
            <a:ext cx="12191695" cy="54864"/>
          </a:xfrm>
          <a:prstGeom prst="rect">
            <a:avLst/>
          </a:prstGeom>
          <a:solidFill>
            <a:srgbClr val="1B99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11480" y="109728"/>
            <a:ext cx="8138160" cy="301752"/>
          </a:xfrm>
          <a:prstGeom prst="rect">
            <a:avLst/>
          </a:prstGeom>
          <a:noFill/>
        </p:spPr>
        <p:txBody>
          <a:bodyPr wrap="none">
            <a:spAutoFit/>
          </a:bodyPr>
          <a:lstStyle/>
          <a:p>
            <a:pPr>
              <a:defRPr sz="2800" b="1">
                <a:solidFill>
                  <a:srgbClr val="FFFFFF"/>
                </a:solidFill>
                <a:latin typeface="Aptos Display"/>
              </a:defRPr>
            </a:pPr>
            <a:r>
              <a:t>Existing Systems vs Our System</a:t>
            </a:r>
          </a:p>
        </p:txBody>
      </p:sp>
      <p:sp>
        <p:nvSpPr>
          <p:cNvPr id="5" name="Rounded Rectangle 4"/>
          <p:cNvSpPr/>
          <p:nvPr/>
        </p:nvSpPr>
        <p:spPr>
          <a:xfrm>
            <a:off x="9966960" y="109728"/>
            <a:ext cx="1783080" cy="274320"/>
          </a:xfrm>
          <a:prstGeom prst="roundRect">
            <a:avLst/>
          </a:prstGeom>
          <a:solidFill>
            <a:srgbClr val="D9A44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100" b="1">
                <a:solidFill>
                  <a:srgbClr val="0D1B2A"/>
                </a:solidFill>
                <a:latin typeface="Aptos"/>
              </a:defRPr>
            </a:pPr>
            <a:r>
              <a:t>COMPARISON</a:t>
            </a:r>
          </a:p>
        </p:txBody>
      </p:sp>
      <p:sp>
        <p:nvSpPr>
          <p:cNvPr id="6" name="Rectangle 5"/>
          <p:cNvSpPr/>
          <p:nvPr/>
        </p:nvSpPr>
        <p:spPr>
          <a:xfrm>
            <a:off x="365760" y="6519672"/>
            <a:ext cx="11430000" cy="9144"/>
          </a:xfrm>
          <a:prstGeom prst="rect">
            <a:avLst/>
          </a:prstGeom>
          <a:solidFill>
            <a:srgbClr val="D9DFE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411480" y="6537960"/>
            <a:ext cx="10515600" cy="164592"/>
          </a:xfrm>
          <a:prstGeom prst="rect">
            <a:avLst/>
          </a:prstGeom>
          <a:noFill/>
        </p:spPr>
        <p:txBody>
          <a:bodyPr wrap="none">
            <a:spAutoFit/>
          </a:bodyPr>
          <a:lstStyle/>
          <a:p>
            <a:pPr>
              <a:defRPr sz="900">
                <a:solidFill>
                  <a:srgbClr val="5E6C84"/>
                </a:solidFill>
                <a:latin typeface="Aptos"/>
              </a:defRPr>
            </a:pPr>
            <a:r>
              <a:t>PropQA-Net | SRL-Anchored QA | Final Research Presentation</a:t>
            </a:r>
          </a:p>
        </p:txBody>
      </p:sp>
      <p:sp>
        <p:nvSpPr>
          <p:cNvPr id="8" name="TextBox 7"/>
          <p:cNvSpPr txBox="1"/>
          <p:nvPr/>
        </p:nvSpPr>
        <p:spPr>
          <a:xfrm>
            <a:off x="11064240" y="6510528"/>
            <a:ext cx="640080" cy="182880"/>
          </a:xfrm>
          <a:prstGeom prst="rect">
            <a:avLst/>
          </a:prstGeom>
          <a:noFill/>
        </p:spPr>
        <p:txBody>
          <a:bodyPr wrap="none">
            <a:spAutoFit/>
          </a:bodyPr>
          <a:lstStyle/>
          <a:p>
            <a:pPr algn="r">
              <a:defRPr sz="1000" b="1">
                <a:solidFill>
                  <a:srgbClr val="5E6C84"/>
                </a:solidFill>
                <a:latin typeface="Aptos"/>
              </a:defRPr>
            </a:pPr>
            <a:r>
              <a:t>33</a:t>
            </a:r>
          </a:p>
        </p:txBody>
      </p:sp>
      <p:graphicFrame>
        <p:nvGraphicFramePr>
          <p:cNvPr id="9" name="Table 8"/>
          <p:cNvGraphicFramePr>
            <a:graphicFrameLocks noGrp="1"/>
          </p:cNvGraphicFramePr>
          <p:nvPr/>
        </p:nvGraphicFramePr>
        <p:xfrm>
          <a:off x="594360" y="960120"/>
          <a:ext cx="10972800" cy="420624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2743200">
                  <a:extLst>
                    <a:ext uri="{9D8B030D-6E8A-4147-A177-3AD203B41FA5}">
                      <a16:colId xmlns:a16="http://schemas.microsoft.com/office/drawing/2014/main" val="20003"/>
                    </a:ext>
                  </a:extLst>
                </a:gridCol>
              </a:tblGrid>
              <a:tr h="600891">
                <a:tc>
                  <a:txBody>
                    <a:bodyPr/>
                    <a:lstStyle/>
                    <a:p>
                      <a:pPr algn="ctr">
                        <a:defRPr sz="1100" b="1">
                          <a:solidFill>
                            <a:srgbClr val="FFFFFF"/>
                          </a:solidFill>
                          <a:latin typeface="Aptos"/>
                        </a:defRPr>
                      </a:pPr>
                      <a:r>
                        <a:t>System Family</a:t>
                      </a:r>
                    </a:p>
                  </a:txBody>
                  <a:tcPr anchor="ctr">
                    <a:solidFill>
                      <a:srgbClr val="0D1B2A"/>
                    </a:solidFill>
                  </a:tcPr>
                </a:tc>
                <a:tc>
                  <a:txBody>
                    <a:bodyPr/>
                    <a:lstStyle/>
                    <a:p>
                      <a:pPr algn="ctr">
                        <a:defRPr sz="1100" b="1">
                          <a:solidFill>
                            <a:srgbClr val="FFFFFF"/>
                          </a:solidFill>
                          <a:latin typeface="Aptos"/>
                        </a:defRPr>
                      </a:pPr>
                      <a:r>
                        <a:t>Strength</a:t>
                      </a:r>
                    </a:p>
                  </a:txBody>
                  <a:tcPr anchor="ctr">
                    <a:solidFill>
                      <a:srgbClr val="0D1B2A"/>
                    </a:solidFill>
                  </a:tcPr>
                </a:tc>
                <a:tc>
                  <a:txBody>
                    <a:bodyPr/>
                    <a:lstStyle/>
                    <a:p>
                      <a:pPr algn="ctr">
                        <a:defRPr sz="1100" b="1">
                          <a:solidFill>
                            <a:srgbClr val="FFFFFF"/>
                          </a:solidFill>
                          <a:latin typeface="Aptos"/>
                        </a:defRPr>
                      </a:pPr>
                      <a:r>
                        <a:t>Limitation</a:t>
                      </a:r>
                    </a:p>
                  </a:txBody>
                  <a:tcPr anchor="ctr">
                    <a:solidFill>
                      <a:srgbClr val="0D1B2A"/>
                    </a:solidFill>
                  </a:tcPr>
                </a:tc>
                <a:tc>
                  <a:txBody>
                    <a:bodyPr/>
                    <a:lstStyle/>
                    <a:p>
                      <a:pPr algn="ctr">
                        <a:defRPr sz="1100" b="1">
                          <a:solidFill>
                            <a:srgbClr val="FFFFFF"/>
                          </a:solidFill>
                          <a:latin typeface="Aptos"/>
                        </a:defRPr>
                      </a:pPr>
                      <a:r>
                        <a:t>Our Position</a:t>
                      </a:r>
                    </a:p>
                  </a:txBody>
                  <a:tcPr anchor="ctr">
                    <a:solidFill>
                      <a:srgbClr val="0D1B2A"/>
                    </a:solidFill>
                  </a:tcPr>
                </a:tc>
                <a:extLst>
                  <a:ext uri="{0D108BD9-81ED-4DB2-BD59-A6C34878D82A}">
                    <a16:rowId xmlns:a16="http://schemas.microsoft.com/office/drawing/2014/main" val="10000"/>
                  </a:ext>
                </a:extLst>
              </a:tr>
              <a:tr h="600891">
                <a:tc>
                  <a:txBody>
                    <a:bodyPr/>
                    <a:lstStyle/>
                    <a:p>
                      <a:pPr algn="l">
                        <a:defRPr sz="1100" b="0">
                          <a:solidFill>
                            <a:srgbClr val="222831"/>
                          </a:solidFill>
                          <a:latin typeface="Aptos"/>
                        </a:defRPr>
                      </a:pPr>
                      <a:r>
                        <a:t>Classical SRL</a:t>
                      </a:r>
                    </a:p>
                  </a:txBody>
                  <a:tcPr anchor="ctr">
                    <a:solidFill>
                      <a:srgbClr val="FFFFFF"/>
                    </a:solidFill>
                  </a:tcPr>
                </a:tc>
                <a:tc>
                  <a:txBody>
                    <a:bodyPr/>
                    <a:lstStyle/>
                    <a:p>
                      <a:pPr algn="l">
                        <a:defRPr sz="1100" b="0">
                          <a:solidFill>
                            <a:srgbClr val="222831"/>
                          </a:solidFill>
                          <a:latin typeface="Aptos"/>
                        </a:defRPr>
                      </a:pPr>
                      <a:r>
                        <a:t>Interpretability, syntax awareness</a:t>
                      </a:r>
                    </a:p>
                  </a:txBody>
                  <a:tcPr anchor="ctr">
                    <a:solidFill>
                      <a:srgbClr val="FFFFFF"/>
                    </a:solidFill>
                  </a:tcPr>
                </a:tc>
                <a:tc>
                  <a:txBody>
                    <a:bodyPr/>
                    <a:lstStyle/>
                    <a:p>
                      <a:pPr algn="l">
                        <a:defRPr sz="1100" b="0">
                          <a:solidFill>
                            <a:srgbClr val="222831"/>
                          </a:solidFill>
                          <a:latin typeface="Aptos"/>
                        </a:defRPr>
                      </a:pPr>
                      <a:r>
                        <a:t>Feature engineering and pipeline brittleness</a:t>
                      </a:r>
                    </a:p>
                  </a:txBody>
                  <a:tcPr anchor="ctr">
                    <a:solidFill>
                      <a:srgbClr val="FFFFFF"/>
                    </a:solidFill>
                  </a:tcPr>
                </a:tc>
                <a:tc>
                  <a:txBody>
                    <a:bodyPr/>
                    <a:lstStyle/>
                    <a:p>
                      <a:pPr algn="l">
                        <a:defRPr sz="1100" b="0">
                          <a:solidFill>
                            <a:srgbClr val="222831"/>
                          </a:solidFill>
                          <a:latin typeface="Aptos"/>
                        </a:defRPr>
                      </a:pPr>
                      <a:r>
                        <a:t>Keep semantic transparency, learn more jointly</a:t>
                      </a:r>
                    </a:p>
                  </a:txBody>
                  <a:tcPr anchor="ctr">
                    <a:solidFill>
                      <a:srgbClr val="FFFFFF"/>
                    </a:solidFill>
                  </a:tcPr>
                </a:tc>
                <a:extLst>
                  <a:ext uri="{0D108BD9-81ED-4DB2-BD59-A6C34878D82A}">
                    <a16:rowId xmlns:a16="http://schemas.microsoft.com/office/drawing/2014/main" val="10001"/>
                  </a:ext>
                </a:extLst>
              </a:tr>
              <a:tr h="600891">
                <a:tc>
                  <a:txBody>
                    <a:bodyPr/>
                    <a:lstStyle/>
                    <a:p>
                      <a:pPr algn="l">
                        <a:defRPr sz="1100" b="0">
                          <a:solidFill>
                            <a:srgbClr val="222831"/>
                          </a:solidFill>
                          <a:latin typeface="Aptos"/>
                        </a:defRPr>
                      </a:pPr>
                      <a:r>
                        <a:t>Neural SRL</a:t>
                      </a:r>
                    </a:p>
                  </a:txBody>
                  <a:tcPr anchor="ctr">
                    <a:solidFill>
                      <a:srgbClr val="FFFFFF"/>
                    </a:solidFill>
                  </a:tcPr>
                </a:tc>
                <a:tc>
                  <a:txBody>
                    <a:bodyPr/>
                    <a:lstStyle/>
                    <a:p>
                      <a:pPr algn="l">
                        <a:defRPr sz="1100" b="0">
                          <a:solidFill>
                            <a:srgbClr val="222831"/>
                          </a:solidFill>
                          <a:latin typeface="Aptos"/>
                        </a:defRPr>
                      </a:pPr>
                      <a:r>
                        <a:t>Better learned context representations</a:t>
                      </a:r>
                    </a:p>
                  </a:txBody>
                  <a:tcPr anchor="ctr">
                    <a:solidFill>
                      <a:srgbClr val="FFFFFF"/>
                    </a:solidFill>
                  </a:tcPr>
                </a:tc>
                <a:tc>
                  <a:txBody>
                    <a:bodyPr/>
                    <a:lstStyle/>
                    <a:p>
                      <a:pPr algn="l">
                        <a:defRPr sz="1100" b="0">
                          <a:solidFill>
                            <a:srgbClr val="222831"/>
                          </a:solidFill>
                          <a:latin typeface="Aptos"/>
                        </a:defRPr>
                      </a:pPr>
                      <a:r>
                        <a:t>Still role-focused rather than QA-facing</a:t>
                      </a:r>
                    </a:p>
                  </a:txBody>
                  <a:tcPr anchor="ctr">
                    <a:solidFill>
                      <a:srgbClr val="FFFFFF"/>
                    </a:solidFill>
                  </a:tcPr>
                </a:tc>
                <a:tc>
                  <a:txBody>
                    <a:bodyPr/>
                    <a:lstStyle/>
                    <a:p>
                      <a:pPr algn="l">
                        <a:defRPr sz="1100" b="0">
                          <a:solidFill>
                            <a:srgbClr val="222831"/>
                          </a:solidFill>
                          <a:latin typeface="Aptos"/>
                        </a:defRPr>
                      </a:pPr>
                      <a:r>
                        <a:t>Use multi-task learning with answer extraction</a:t>
                      </a:r>
                    </a:p>
                  </a:txBody>
                  <a:tcPr anchor="ctr">
                    <a:solidFill>
                      <a:srgbClr val="FFFFFF"/>
                    </a:solidFill>
                  </a:tcPr>
                </a:tc>
                <a:extLst>
                  <a:ext uri="{0D108BD9-81ED-4DB2-BD59-A6C34878D82A}">
                    <a16:rowId xmlns:a16="http://schemas.microsoft.com/office/drawing/2014/main" val="10002"/>
                  </a:ext>
                </a:extLst>
              </a:tr>
              <a:tr h="600891">
                <a:tc>
                  <a:txBody>
                    <a:bodyPr/>
                    <a:lstStyle/>
                    <a:p>
                      <a:pPr algn="l">
                        <a:defRPr sz="1100" b="0">
                          <a:solidFill>
                            <a:srgbClr val="222831"/>
                          </a:solidFill>
                          <a:latin typeface="Aptos"/>
                        </a:defRPr>
                      </a:pPr>
                      <a:r>
                        <a:t>Extractive QA</a:t>
                      </a:r>
                    </a:p>
                  </a:txBody>
                  <a:tcPr anchor="ctr">
                    <a:solidFill>
                      <a:srgbClr val="FFFFFF"/>
                    </a:solidFill>
                  </a:tcPr>
                </a:tc>
                <a:tc>
                  <a:txBody>
                    <a:bodyPr/>
                    <a:lstStyle/>
                    <a:p>
                      <a:pPr algn="l">
                        <a:defRPr sz="1100" b="0">
                          <a:solidFill>
                            <a:srgbClr val="222831"/>
                          </a:solidFill>
                          <a:latin typeface="Aptos"/>
                        </a:defRPr>
                      </a:pPr>
                      <a:r>
                        <a:t>Strong span prediction and mature metrics</a:t>
                      </a:r>
                    </a:p>
                  </a:txBody>
                  <a:tcPr anchor="ctr">
                    <a:solidFill>
                      <a:srgbClr val="FFFFFF"/>
                    </a:solidFill>
                  </a:tcPr>
                </a:tc>
                <a:tc>
                  <a:txBody>
                    <a:bodyPr/>
                    <a:lstStyle/>
                    <a:p>
                      <a:pPr algn="l">
                        <a:defRPr sz="1100" b="0">
                          <a:solidFill>
                            <a:srgbClr val="222831"/>
                          </a:solidFill>
                          <a:latin typeface="Aptos"/>
                        </a:defRPr>
                      </a:pPr>
                      <a:r>
                        <a:t>No explicit answer-role interpretation</a:t>
                      </a:r>
                    </a:p>
                  </a:txBody>
                  <a:tcPr anchor="ctr">
                    <a:solidFill>
                      <a:srgbClr val="FFFFFF"/>
                    </a:solidFill>
                  </a:tcPr>
                </a:tc>
                <a:tc>
                  <a:txBody>
                    <a:bodyPr/>
                    <a:lstStyle/>
                    <a:p>
                      <a:pPr algn="l">
                        <a:defRPr sz="1100" b="0">
                          <a:solidFill>
                            <a:srgbClr val="222831"/>
                          </a:solidFill>
                          <a:latin typeface="Aptos"/>
                        </a:defRPr>
                      </a:pPr>
                      <a:r>
                        <a:t>Keep span decoding, add role grounding</a:t>
                      </a:r>
                    </a:p>
                  </a:txBody>
                  <a:tcPr anchor="ctr">
                    <a:solidFill>
                      <a:srgbClr val="FFFFFF"/>
                    </a:solidFill>
                  </a:tcPr>
                </a:tc>
                <a:extLst>
                  <a:ext uri="{0D108BD9-81ED-4DB2-BD59-A6C34878D82A}">
                    <a16:rowId xmlns:a16="http://schemas.microsoft.com/office/drawing/2014/main" val="10003"/>
                  </a:ext>
                </a:extLst>
              </a:tr>
              <a:tr h="600891">
                <a:tc>
                  <a:txBody>
                    <a:bodyPr/>
                    <a:lstStyle/>
                    <a:p>
                      <a:pPr algn="l">
                        <a:defRPr sz="1100" b="0">
                          <a:solidFill>
                            <a:srgbClr val="222831"/>
                          </a:solidFill>
                          <a:latin typeface="Aptos"/>
                        </a:defRPr>
                      </a:pPr>
                      <a:r>
                        <a:t>QA-SRL</a:t>
                      </a:r>
                    </a:p>
                  </a:txBody>
                  <a:tcPr anchor="ctr">
                    <a:solidFill>
                      <a:srgbClr val="FFFFFF"/>
                    </a:solidFill>
                  </a:tcPr>
                </a:tc>
                <a:tc>
                  <a:txBody>
                    <a:bodyPr/>
                    <a:lstStyle/>
                    <a:p>
                      <a:pPr algn="l">
                        <a:defRPr sz="1100" b="0">
                          <a:solidFill>
                            <a:srgbClr val="222831"/>
                          </a:solidFill>
                          <a:latin typeface="Aptos"/>
                        </a:defRPr>
                      </a:pPr>
                      <a:r>
                        <a:t>Natural question-answer view of semantics</a:t>
                      </a:r>
                    </a:p>
                  </a:txBody>
                  <a:tcPr anchor="ctr">
                    <a:solidFill>
                      <a:srgbClr val="FFFFFF"/>
                    </a:solidFill>
                  </a:tcPr>
                </a:tc>
                <a:tc>
                  <a:txBody>
                    <a:bodyPr/>
                    <a:lstStyle/>
                    <a:p>
                      <a:pPr algn="l">
                        <a:defRPr sz="1100" b="0">
                          <a:solidFill>
                            <a:srgbClr val="222831"/>
                          </a:solidFill>
                          <a:latin typeface="Aptos"/>
                        </a:defRPr>
                      </a:pPr>
                      <a:r>
                        <a:t>Not this exact integrated local pipeline</a:t>
                      </a:r>
                    </a:p>
                  </a:txBody>
                  <a:tcPr anchor="ctr">
                    <a:solidFill>
                      <a:srgbClr val="FFFFFF"/>
                    </a:solidFill>
                  </a:tcPr>
                </a:tc>
                <a:tc>
                  <a:txBody>
                    <a:bodyPr/>
                    <a:lstStyle/>
                    <a:p>
                      <a:pPr algn="l">
                        <a:defRPr sz="1100" b="0">
                          <a:solidFill>
                            <a:srgbClr val="222831"/>
                          </a:solidFill>
                          <a:latin typeface="Aptos"/>
                        </a:defRPr>
                      </a:pPr>
                      <a:r>
                        <a:t>Operationalize the bridge with PropBank-derived supervision</a:t>
                      </a:r>
                    </a:p>
                  </a:txBody>
                  <a:tcPr anchor="ctr">
                    <a:solidFill>
                      <a:srgbClr val="FFFFFF"/>
                    </a:solidFill>
                  </a:tcPr>
                </a:tc>
                <a:extLst>
                  <a:ext uri="{0D108BD9-81ED-4DB2-BD59-A6C34878D82A}">
                    <a16:rowId xmlns:a16="http://schemas.microsoft.com/office/drawing/2014/main" val="10004"/>
                  </a:ext>
                </a:extLst>
              </a:tr>
              <a:tr h="600891">
                <a:tc>
                  <a:txBody>
                    <a:bodyPr/>
                    <a:lstStyle/>
                    <a:p>
                      <a:pPr algn="l">
                        <a:defRPr sz="1100" b="0">
                          <a:solidFill>
                            <a:srgbClr val="222831"/>
                          </a:solidFill>
                          <a:latin typeface="Aptos"/>
                        </a:defRPr>
                      </a:pPr>
                      <a:r>
                        <a:t>Transformer QA</a:t>
                      </a:r>
                    </a:p>
                  </a:txBody>
                  <a:tcPr anchor="ctr">
                    <a:solidFill>
                      <a:srgbClr val="FFFFFF"/>
                    </a:solidFill>
                  </a:tcPr>
                </a:tc>
                <a:tc>
                  <a:txBody>
                    <a:bodyPr/>
                    <a:lstStyle/>
                    <a:p>
                      <a:pPr algn="l">
                        <a:defRPr sz="1100" b="0">
                          <a:solidFill>
                            <a:srgbClr val="222831"/>
                          </a:solidFill>
                          <a:latin typeface="Aptos"/>
                        </a:defRPr>
                      </a:pPr>
                      <a:r>
                        <a:t>Strong contextual answer proposals</a:t>
                      </a:r>
                    </a:p>
                  </a:txBody>
                  <a:tcPr anchor="ctr">
                    <a:solidFill>
                      <a:srgbClr val="FFFFFF"/>
                    </a:solidFill>
                  </a:tcPr>
                </a:tc>
                <a:tc>
                  <a:txBody>
                    <a:bodyPr/>
                    <a:lstStyle/>
                    <a:p>
                      <a:pPr algn="l">
                        <a:defRPr sz="1100" b="0">
                          <a:solidFill>
                            <a:srgbClr val="222831"/>
                          </a:solidFill>
                          <a:latin typeface="Aptos"/>
                        </a:defRPr>
                      </a:pPr>
                      <a:r>
                        <a:t>Higher runtime and weaker transparency</a:t>
                      </a:r>
                    </a:p>
                  </a:txBody>
                  <a:tcPr anchor="ctr">
                    <a:solidFill>
                      <a:srgbClr val="FFFFFF"/>
                    </a:solidFill>
                  </a:tcPr>
                </a:tc>
                <a:tc>
                  <a:txBody>
                    <a:bodyPr/>
                    <a:lstStyle/>
                    <a:p>
                      <a:pPr algn="l">
                        <a:defRPr sz="1100" b="0">
                          <a:solidFill>
                            <a:srgbClr val="222831"/>
                          </a:solidFill>
                          <a:latin typeface="Aptos"/>
                        </a:defRPr>
                      </a:pPr>
                      <a:r>
                        <a:t>Use as optional support in a hybrid layer</a:t>
                      </a:r>
                    </a:p>
                  </a:txBody>
                  <a:tcPr anchor="ctr">
                    <a:solidFill>
                      <a:srgbClr val="FFFFFF"/>
                    </a:solidFill>
                  </a:tcPr>
                </a:tc>
                <a:extLst>
                  <a:ext uri="{0D108BD9-81ED-4DB2-BD59-A6C34878D82A}">
                    <a16:rowId xmlns:a16="http://schemas.microsoft.com/office/drawing/2014/main" val="10005"/>
                  </a:ext>
                </a:extLst>
              </a:tr>
              <a:tr h="600894">
                <a:tc>
                  <a:txBody>
                    <a:bodyPr/>
                    <a:lstStyle/>
                    <a:p>
                      <a:pPr algn="l">
                        <a:defRPr sz="1100" b="0">
                          <a:solidFill>
                            <a:srgbClr val="222831"/>
                          </a:solidFill>
                          <a:latin typeface="Aptos"/>
                        </a:defRPr>
                      </a:pPr>
                      <a:r>
                        <a:t>LLM-based SRL</a:t>
                      </a:r>
                    </a:p>
                  </a:txBody>
                  <a:tcPr anchor="ctr">
                    <a:solidFill>
                      <a:srgbClr val="FFFFFF"/>
                    </a:solidFill>
                  </a:tcPr>
                </a:tc>
                <a:tc>
                  <a:txBody>
                    <a:bodyPr/>
                    <a:lstStyle/>
                    <a:p>
                      <a:pPr algn="l">
                        <a:defRPr sz="1100" b="0">
                          <a:solidFill>
                            <a:srgbClr val="222831"/>
                          </a:solidFill>
                          <a:latin typeface="Aptos"/>
                        </a:defRPr>
                      </a:pPr>
                      <a:r>
                        <a:t>Strong general language competence</a:t>
                      </a:r>
                    </a:p>
                  </a:txBody>
                  <a:tcPr anchor="ctr">
                    <a:solidFill>
                      <a:srgbClr val="FFFFFF"/>
                    </a:solidFill>
                  </a:tcPr>
                </a:tc>
                <a:tc>
                  <a:txBody>
                    <a:bodyPr/>
                    <a:lstStyle/>
                    <a:p>
                      <a:pPr algn="l">
                        <a:defRPr sz="1100" b="0">
                          <a:solidFill>
                            <a:srgbClr val="222831"/>
                          </a:solidFill>
                          <a:latin typeface="Aptos"/>
                        </a:defRPr>
                      </a:pPr>
                      <a:r>
                        <a:t>Needs adaptation and can remain structurally inconsistent</a:t>
                      </a:r>
                    </a:p>
                  </a:txBody>
                  <a:tcPr anchor="ctr">
                    <a:solidFill>
                      <a:srgbClr val="FFFFFF"/>
                    </a:solidFill>
                  </a:tcPr>
                </a:tc>
                <a:tc>
                  <a:txBody>
                    <a:bodyPr/>
                    <a:lstStyle/>
                    <a:p>
                      <a:pPr algn="l">
                        <a:defRPr sz="1100" b="0">
                          <a:solidFill>
                            <a:srgbClr val="222831"/>
                          </a:solidFill>
                          <a:latin typeface="Aptos"/>
                        </a:defRPr>
                      </a:pPr>
                      <a:r>
                        <a:t>Acknowledge trend, keep deterministic structured core</a:t>
                      </a:r>
                    </a:p>
                  </a:txBody>
                  <a:tcPr anchor="ctr">
                    <a:solidFill>
                      <a:srgbClr val="FFFFFF"/>
                    </a:solidFill>
                  </a:tcPr>
                </a:tc>
                <a:extLst>
                  <a:ext uri="{0D108BD9-81ED-4DB2-BD59-A6C34878D82A}">
                    <a16:rowId xmlns:a16="http://schemas.microsoft.com/office/drawing/2014/main" val="10006"/>
                  </a:ext>
                </a:extLst>
              </a:tr>
            </a:tbl>
          </a:graphicData>
        </a:graphic>
      </p:graphicFrame>
      <p:sp>
        <p:nvSpPr>
          <p:cNvPr id="10" name="TextBox 9"/>
          <p:cNvSpPr txBox="1"/>
          <p:nvPr/>
        </p:nvSpPr>
        <p:spPr>
          <a:xfrm>
            <a:off x="731520" y="5394960"/>
            <a:ext cx="10698480" cy="640080"/>
          </a:xfrm>
          <a:prstGeom prst="rect">
            <a:avLst/>
          </a:prstGeom>
          <a:noFill/>
        </p:spPr>
        <p:txBody>
          <a:bodyPr wrap="square">
            <a:spAutoFit/>
          </a:bodyPr>
          <a:lstStyle/>
          <a:p>
            <a:pPr>
              <a:spcAft>
                <a:spcPts val="700"/>
              </a:spcAft>
              <a:defRPr sz="1600">
                <a:solidFill>
                  <a:srgbClr val="222831"/>
                </a:solidFill>
                <a:latin typeface="Aptos"/>
              </a:defRPr>
            </a:pPr>
            <a:r>
              <a:t>The project is best understood as an integrated SRL-QA research package rather than as a single-task model</a:t>
            </a:r>
          </a:p>
          <a:p>
            <a:pPr>
              <a:spcAft>
                <a:spcPts val="700"/>
              </a:spcAft>
              <a:defRPr sz="1600">
                <a:solidFill>
                  <a:srgbClr val="222831"/>
                </a:solidFill>
                <a:latin typeface="Aptos"/>
              </a:defRPr>
            </a:pPr>
            <a:r>
              <a:t>It borrows strengths from prior systems but centers semantic explainability and reproducibility</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b="1" kern="0" spc="53" dirty="0">
                <a:solidFill>
                  <a:srgbClr val="8B0000"/>
                </a:solidFill>
                <a:latin typeface="Sorts Mill Goudy" pitchFamily="34" charset="0"/>
                <a:ea typeface="Sorts Mill Goudy" pitchFamily="34" charset="-122"/>
                <a:cs typeface="Sorts Mill Goudy" pitchFamily="34" charset="-120"/>
              </a:rPr>
              <a:t>2.1 PROBLEM STATEMENT</a:t>
            </a:r>
            <a:endParaRPr lang="en-US" sz="1600" dirty="0"/>
          </a:p>
        </p:txBody>
      </p:sp>
      <p:sp>
        <p:nvSpPr>
          <p:cNvPr id="3" name="Text 1"/>
          <p:cNvSpPr/>
          <p:nvPr/>
        </p:nvSpPr>
        <p:spPr>
          <a:xfrm>
            <a:off x="381000" y="647700"/>
            <a:ext cx="11601450" cy="381000"/>
          </a:xfrm>
          <a:prstGeom prst="rect">
            <a:avLst/>
          </a:prstGeom>
          <a:noFill/>
          <a:ln/>
        </p:spPr>
        <p:txBody>
          <a:bodyPr wrap="square" lIns="0" tIns="0" rIns="0" bIns="0" rtlCol="0" anchor="ctr"/>
          <a:lstStyle/>
          <a:p>
            <a:pPr>
              <a:lnSpc>
                <a:spcPct val="90000"/>
              </a:lnSpc>
            </a:pPr>
            <a:r>
              <a:rPr lang="en-US" sz="2700" b="1" dirty="0">
                <a:solidFill>
                  <a:srgbClr val="1F2937"/>
                </a:solidFill>
                <a:latin typeface="Sorts Mill Goudy" pitchFamily="34" charset="0"/>
                <a:ea typeface="Sorts Mill Goudy" pitchFamily="34" charset="-122"/>
                <a:cs typeface="Sorts Mill Goudy" pitchFamily="34" charset="-120"/>
              </a:rPr>
              <a:t>Limitations of End-to-End QA Systems</a:t>
            </a:r>
            <a:endParaRPr lang="en-US" sz="1600" dirty="0"/>
          </a:p>
        </p:txBody>
      </p:sp>
      <p:sp>
        <p:nvSpPr>
          <p:cNvPr id="4" name="Shape 2"/>
          <p:cNvSpPr/>
          <p:nvPr/>
        </p:nvSpPr>
        <p:spPr>
          <a:xfrm>
            <a:off x="400050" y="1257300"/>
            <a:ext cx="5543550" cy="3086100"/>
          </a:xfrm>
          <a:custGeom>
            <a:avLst/>
            <a:gdLst/>
            <a:ahLst/>
            <a:cxnLst/>
            <a:rect l="l" t="t" r="r" b="b"/>
            <a:pathLst>
              <a:path w="5543550" h="3086100">
                <a:moveTo>
                  <a:pt x="0" y="0"/>
                </a:moveTo>
                <a:lnTo>
                  <a:pt x="5543550" y="0"/>
                </a:lnTo>
                <a:lnTo>
                  <a:pt x="5543550" y="3086100"/>
                </a:lnTo>
                <a:lnTo>
                  <a:pt x="0" y="3086100"/>
                </a:lnTo>
                <a:lnTo>
                  <a:pt x="0" y="0"/>
                </a:lnTo>
                <a:close/>
              </a:path>
            </a:pathLst>
          </a:custGeom>
          <a:solidFill>
            <a:srgbClr val="F9FAFB"/>
          </a:solidFill>
          <a:ln/>
        </p:spPr>
      </p:sp>
      <p:sp>
        <p:nvSpPr>
          <p:cNvPr id="5" name="Shape 3"/>
          <p:cNvSpPr/>
          <p:nvPr/>
        </p:nvSpPr>
        <p:spPr>
          <a:xfrm>
            <a:off x="400050" y="1257300"/>
            <a:ext cx="38100" cy="3086100"/>
          </a:xfrm>
          <a:custGeom>
            <a:avLst/>
            <a:gdLst/>
            <a:ahLst/>
            <a:cxnLst/>
            <a:rect l="l" t="t" r="r" b="b"/>
            <a:pathLst>
              <a:path w="38100" h="3086100">
                <a:moveTo>
                  <a:pt x="0" y="0"/>
                </a:moveTo>
                <a:lnTo>
                  <a:pt x="38100" y="0"/>
                </a:lnTo>
                <a:lnTo>
                  <a:pt x="38100" y="3086100"/>
                </a:lnTo>
                <a:lnTo>
                  <a:pt x="0" y="3086100"/>
                </a:lnTo>
                <a:lnTo>
                  <a:pt x="0" y="0"/>
                </a:lnTo>
                <a:close/>
              </a:path>
            </a:pathLst>
          </a:custGeom>
          <a:solidFill>
            <a:srgbClr val="8B0000"/>
          </a:solidFill>
          <a:ln/>
        </p:spPr>
      </p:sp>
      <p:sp>
        <p:nvSpPr>
          <p:cNvPr id="6" name="Text 4"/>
          <p:cNvSpPr/>
          <p:nvPr/>
        </p:nvSpPr>
        <p:spPr>
          <a:xfrm>
            <a:off x="647700" y="1485900"/>
            <a:ext cx="5162550" cy="266700"/>
          </a:xfrm>
          <a:prstGeom prst="rect">
            <a:avLst/>
          </a:prstGeom>
          <a:noFill/>
          <a:ln/>
        </p:spPr>
        <p:txBody>
          <a:bodyPr wrap="square" lIns="0" tIns="0" rIns="0" bIns="0" rtlCol="0" anchor="ctr"/>
          <a:lstStyle/>
          <a:p>
            <a:pPr>
              <a:lnSpc>
                <a:spcPct val="120000"/>
              </a:lnSpc>
            </a:pPr>
            <a:r>
              <a:rPr lang="en-US" sz="1500" b="1" dirty="0">
                <a:solidFill>
                  <a:srgbClr val="1F2937"/>
                </a:solidFill>
                <a:latin typeface="Sorts Mill Goudy" pitchFamily="34" charset="0"/>
                <a:ea typeface="Sorts Mill Goudy" pitchFamily="34" charset="-122"/>
                <a:cs typeface="Sorts Mill Goudy" pitchFamily="34" charset="-120"/>
              </a:rPr>
              <a:t>The Opacity Problem</a:t>
            </a:r>
            <a:endParaRPr lang="en-US" sz="1600" dirty="0"/>
          </a:p>
        </p:txBody>
      </p:sp>
      <p:sp>
        <p:nvSpPr>
          <p:cNvPr id="7" name="Text 5"/>
          <p:cNvSpPr/>
          <p:nvPr/>
        </p:nvSpPr>
        <p:spPr>
          <a:xfrm>
            <a:off x="647700" y="1866900"/>
            <a:ext cx="5143500" cy="495300"/>
          </a:xfrm>
          <a:prstGeom prst="rect">
            <a:avLst/>
          </a:prstGeom>
          <a:noFill/>
          <a:ln/>
        </p:spPr>
        <p:txBody>
          <a:bodyPr wrap="square" lIns="0" tIns="0" rIns="0" bIns="0" rtlCol="0" anchor="ctr"/>
          <a:lstStyle/>
          <a:p>
            <a:pPr>
              <a:lnSpc>
                <a:spcPct val="140000"/>
              </a:lnSpc>
            </a:pPr>
            <a:r>
              <a:rPr lang="en-US" sz="1200" dirty="0">
                <a:solidFill>
                  <a:srgbClr val="1F2937"/>
                </a:solidFill>
                <a:latin typeface="Sorts Mill Goudy" pitchFamily="34" charset="0"/>
                <a:ea typeface="Sorts Mill Goudy" pitchFamily="34" charset="-122"/>
                <a:cs typeface="Sorts Mill Goudy" pitchFamily="34" charset="-120"/>
              </a:rPr>
              <a:t>Most extractive QA systems optimize end-task accuracy without making event structure explicit. This creates several critical issues:</a:t>
            </a:r>
            <a:endParaRPr lang="en-US" sz="1600" dirty="0"/>
          </a:p>
        </p:txBody>
      </p:sp>
      <p:sp>
        <p:nvSpPr>
          <p:cNvPr id="8" name="Text 6"/>
          <p:cNvSpPr/>
          <p:nvPr/>
        </p:nvSpPr>
        <p:spPr>
          <a:xfrm>
            <a:off x="647700" y="2552700"/>
            <a:ext cx="200025" cy="228600"/>
          </a:xfrm>
          <a:prstGeom prst="rect">
            <a:avLst/>
          </a:prstGeom>
          <a:noFill/>
          <a:ln/>
        </p:spPr>
        <p:txBody>
          <a:bodyPr wrap="square" lIns="0" tIns="0" rIns="0" bIns="0" rtlCol="0" anchor="ctr"/>
          <a:lstStyle/>
          <a:p>
            <a:pPr>
              <a:lnSpc>
                <a:spcPct val="130000"/>
              </a:lnSpc>
            </a:pPr>
            <a:r>
              <a:rPr lang="en-US" sz="1200"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9" name="Text 7"/>
          <p:cNvSpPr/>
          <p:nvPr/>
        </p:nvSpPr>
        <p:spPr>
          <a:xfrm>
            <a:off x="847725" y="2514600"/>
            <a:ext cx="4943475" cy="4572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Black-box decisions:</a:t>
            </a:r>
            <a:r>
              <a:rPr lang="en-US" sz="1200" dirty="0">
                <a:solidFill>
                  <a:srgbClr val="1F2937"/>
                </a:solidFill>
                <a:latin typeface="Sorts Mill Goudy" pitchFamily="34" charset="0"/>
                <a:ea typeface="Sorts Mill Goudy" pitchFamily="34" charset="-122"/>
                <a:cs typeface="Sorts Mill Goudy" pitchFamily="34" charset="-120"/>
              </a:rPr>
              <a:t> Intermediate reasoning steps are largely latent and uninterpretable</a:t>
            </a:r>
            <a:endParaRPr lang="en-US" sz="1600" dirty="0"/>
          </a:p>
        </p:txBody>
      </p:sp>
      <p:sp>
        <p:nvSpPr>
          <p:cNvPr id="10" name="Text 8"/>
          <p:cNvSpPr/>
          <p:nvPr/>
        </p:nvSpPr>
        <p:spPr>
          <a:xfrm>
            <a:off x="647700" y="3124200"/>
            <a:ext cx="200025" cy="228600"/>
          </a:xfrm>
          <a:prstGeom prst="rect">
            <a:avLst/>
          </a:prstGeom>
          <a:noFill/>
          <a:ln/>
        </p:spPr>
        <p:txBody>
          <a:bodyPr wrap="square" lIns="0" tIns="0" rIns="0" bIns="0" rtlCol="0" anchor="ctr"/>
          <a:lstStyle/>
          <a:p>
            <a:pPr>
              <a:lnSpc>
                <a:spcPct val="130000"/>
              </a:lnSpc>
            </a:pPr>
            <a:r>
              <a:rPr lang="en-US" sz="1200"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11" name="Text 9"/>
          <p:cNvSpPr/>
          <p:nvPr/>
        </p:nvSpPr>
        <p:spPr>
          <a:xfrm>
            <a:off x="847725" y="3086100"/>
            <a:ext cx="4943475" cy="4572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Difficult error analysis:</a:t>
            </a:r>
            <a:r>
              <a:rPr lang="en-US" sz="1200" dirty="0">
                <a:solidFill>
                  <a:srgbClr val="1F2937"/>
                </a:solidFill>
                <a:latin typeface="Sorts Mill Goudy" pitchFamily="34" charset="0"/>
                <a:ea typeface="Sorts Mill Goudy" pitchFamily="34" charset="-122"/>
                <a:cs typeface="Sorts Mill Goudy" pitchFamily="34" charset="-120"/>
              </a:rPr>
              <a:t> Cannot diagnose whether failures come from span selection, relevance scoring, or reasoning</a:t>
            </a:r>
            <a:endParaRPr lang="en-US" sz="1600" dirty="0"/>
          </a:p>
        </p:txBody>
      </p:sp>
      <p:sp>
        <p:nvSpPr>
          <p:cNvPr id="12" name="Text 10"/>
          <p:cNvSpPr/>
          <p:nvPr/>
        </p:nvSpPr>
        <p:spPr>
          <a:xfrm>
            <a:off x="647700" y="3695700"/>
            <a:ext cx="200025" cy="228600"/>
          </a:xfrm>
          <a:prstGeom prst="rect">
            <a:avLst/>
          </a:prstGeom>
          <a:noFill/>
          <a:ln/>
        </p:spPr>
        <p:txBody>
          <a:bodyPr wrap="square" lIns="0" tIns="0" rIns="0" bIns="0" rtlCol="0" anchor="ctr"/>
          <a:lstStyle/>
          <a:p>
            <a:pPr>
              <a:lnSpc>
                <a:spcPct val="130000"/>
              </a:lnSpc>
            </a:pPr>
            <a:r>
              <a:rPr lang="en-US" sz="1200"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13" name="Text 11"/>
          <p:cNvSpPr/>
          <p:nvPr/>
        </p:nvSpPr>
        <p:spPr>
          <a:xfrm>
            <a:off x="847725" y="3657600"/>
            <a:ext cx="4943475" cy="4572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No semantic grounding:</a:t>
            </a:r>
            <a:r>
              <a:rPr lang="en-US" sz="1200" dirty="0">
                <a:solidFill>
                  <a:srgbClr val="1F2937"/>
                </a:solidFill>
                <a:latin typeface="Sorts Mill Goudy" pitchFamily="34" charset="0"/>
                <a:ea typeface="Sorts Mill Goudy" pitchFamily="34" charset="-122"/>
                <a:cs typeface="Sorts Mill Goudy" pitchFamily="34" charset="-120"/>
              </a:rPr>
              <a:t> Answers lack explicit connection to event participants and roles</a:t>
            </a:r>
            <a:endParaRPr lang="en-US" sz="1600" dirty="0"/>
          </a:p>
        </p:txBody>
      </p:sp>
      <p:sp>
        <p:nvSpPr>
          <p:cNvPr id="14" name="Shape 12"/>
          <p:cNvSpPr/>
          <p:nvPr/>
        </p:nvSpPr>
        <p:spPr>
          <a:xfrm>
            <a:off x="400050" y="4572000"/>
            <a:ext cx="5543550" cy="1828800"/>
          </a:xfrm>
          <a:custGeom>
            <a:avLst/>
            <a:gdLst/>
            <a:ahLst/>
            <a:cxnLst/>
            <a:rect l="l" t="t" r="r" b="b"/>
            <a:pathLst>
              <a:path w="5543550" h="1828800">
                <a:moveTo>
                  <a:pt x="0" y="0"/>
                </a:moveTo>
                <a:lnTo>
                  <a:pt x="5543550" y="0"/>
                </a:lnTo>
                <a:lnTo>
                  <a:pt x="5543550" y="1828800"/>
                </a:lnTo>
                <a:lnTo>
                  <a:pt x="0" y="1828800"/>
                </a:lnTo>
                <a:lnTo>
                  <a:pt x="0" y="0"/>
                </a:lnTo>
                <a:close/>
              </a:path>
            </a:pathLst>
          </a:custGeom>
          <a:solidFill>
            <a:srgbClr val="F9FAFB"/>
          </a:solidFill>
          <a:ln/>
        </p:spPr>
      </p:sp>
      <p:sp>
        <p:nvSpPr>
          <p:cNvPr id="15" name="Shape 13"/>
          <p:cNvSpPr/>
          <p:nvPr/>
        </p:nvSpPr>
        <p:spPr>
          <a:xfrm>
            <a:off x="400050" y="4572000"/>
            <a:ext cx="38100" cy="1828800"/>
          </a:xfrm>
          <a:custGeom>
            <a:avLst/>
            <a:gdLst/>
            <a:ahLst/>
            <a:cxnLst/>
            <a:rect l="l" t="t" r="r" b="b"/>
            <a:pathLst>
              <a:path w="38100" h="1828800">
                <a:moveTo>
                  <a:pt x="0" y="0"/>
                </a:moveTo>
                <a:lnTo>
                  <a:pt x="38100" y="0"/>
                </a:lnTo>
                <a:lnTo>
                  <a:pt x="38100" y="1828800"/>
                </a:lnTo>
                <a:lnTo>
                  <a:pt x="0" y="1828800"/>
                </a:lnTo>
                <a:lnTo>
                  <a:pt x="0" y="0"/>
                </a:lnTo>
                <a:close/>
              </a:path>
            </a:pathLst>
          </a:custGeom>
          <a:solidFill>
            <a:srgbClr val="8B0000"/>
          </a:solidFill>
          <a:ln/>
        </p:spPr>
      </p:sp>
      <p:sp>
        <p:nvSpPr>
          <p:cNvPr id="16" name="Text 14"/>
          <p:cNvSpPr/>
          <p:nvPr/>
        </p:nvSpPr>
        <p:spPr>
          <a:xfrm>
            <a:off x="647700" y="4800600"/>
            <a:ext cx="5162550" cy="266700"/>
          </a:xfrm>
          <a:prstGeom prst="rect">
            <a:avLst/>
          </a:prstGeom>
          <a:noFill/>
          <a:ln/>
        </p:spPr>
        <p:txBody>
          <a:bodyPr wrap="square" lIns="0" tIns="0" rIns="0" bIns="0" rtlCol="0" anchor="ctr"/>
          <a:lstStyle/>
          <a:p>
            <a:pPr>
              <a:lnSpc>
                <a:spcPct val="120000"/>
              </a:lnSpc>
            </a:pPr>
            <a:r>
              <a:rPr lang="en-US" sz="1500" b="1" dirty="0">
                <a:solidFill>
                  <a:srgbClr val="1F2937"/>
                </a:solidFill>
                <a:latin typeface="Sorts Mill Goudy" pitchFamily="34" charset="0"/>
                <a:ea typeface="Sorts Mill Goudy" pitchFamily="34" charset="-122"/>
                <a:cs typeface="Sorts Mill Goudy" pitchFamily="34" charset="-120"/>
              </a:rPr>
              <a:t>The Need for Structure</a:t>
            </a:r>
            <a:endParaRPr lang="en-US" sz="1600" dirty="0"/>
          </a:p>
        </p:txBody>
      </p:sp>
      <p:sp>
        <p:nvSpPr>
          <p:cNvPr id="17" name="Text 15"/>
          <p:cNvSpPr/>
          <p:nvPr/>
        </p:nvSpPr>
        <p:spPr>
          <a:xfrm>
            <a:off x="647700" y="5181600"/>
            <a:ext cx="5143500" cy="990600"/>
          </a:xfrm>
          <a:prstGeom prst="rect">
            <a:avLst/>
          </a:prstGeom>
          <a:noFill/>
          <a:ln/>
        </p:spPr>
        <p:txBody>
          <a:bodyPr wrap="square" lIns="0" tIns="0" rIns="0" bIns="0" rtlCol="0" anchor="ctr"/>
          <a:lstStyle/>
          <a:p>
            <a:pPr>
              <a:lnSpc>
                <a:spcPct val="140000"/>
              </a:lnSpc>
            </a:pPr>
            <a:r>
              <a:rPr lang="en-US" sz="1200" dirty="0">
                <a:solidFill>
                  <a:srgbClr val="1F2937"/>
                </a:solidFill>
                <a:latin typeface="Sorts Mill Goudy" pitchFamily="34" charset="0"/>
                <a:ea typeface="Sorts Mill Goudy" pitchFamily="34" charset="-122"/>
                <a:cs typeface="Sorts Mill Goudy" pitchFamily="34" charset="-120"/>
              </a:rPr>
              <a:t>High-stakes applications require more than correct strings—they need principled explanations of why that string counts as the answer. SRL-based QA addresses this by decomposing sentences into predicates and arguments before answering.</a:t>
            </a:r>
            <a:endParaRPr lang="en-US" sz="1600" dirty="0"/>
          </a:p>
        </p:txBody>
      </p:sp>
      <p:sp>
        <p:nvSpPr>
          <p:cNvPr id="18" name="Shape 16"/>
          <p:cNvSpPr/>
          <p:nvPr/>
        </p:nvSpPr>
        <p:spPr>
          <a:xfrm>
            <a:off x="6248400" y="1257300"/>
            <a:ext cx="5562600" cy="5219700"/>
          </a:xfrm>
          <a:custGeom>
            <a:avLst/>
            <a:gdLst/>
            <a:ahLst/>
            <a:cxnLst/>
            <a:rect l="l" t="t" r="r" b="b"/>
            <a:pathLst>
              <a:path w="5562600" h="5219700">
                <a:moveTo>
                  <a:pt x="0" y="0"/>
                </a:moveTo>
                <a:lnTo>
                  <a:pt x="5562600" y="0"/>
                </a:lnTo>
                <a:lnTo>
                  <a:pt x="5562600" y="5219700"/>
                </a:lnTo>
                <a:lnTo>
                  <a:pt x="0" y="5219700"/>
                </a:lnTo>
                <a:lnTo>
                  <a:pt x="0" y="0"/>
                </a:lnTo>
                <a:close/>
              </a:path>
            </a:pathLst>
          </a:custGeom>
          <a:solidFill>
            <a:srgbClr val="F9FAFB"/>
          </a:solidFill>
          <a:ln/>
        </p:spPr>
      </p:sp>
      <p:sp>
        <p:nvSpPr>
          <p:cNvPr id="19" name="Text 17"/>
          <p:cNvSpPr/>
          <p:nvPr/>
        </p:nvSpPr>
        <p:spPr>
          <a:xfrm>
            <a:off x="6477000" y="1485900"/>
            <a:ext cx="5200650" cy="266700"/>
          </a:xfrm>
          <a:prstGeom prst="rect">
            <a:avLst/>
          </a:prstGeom>
          <a:noFill/>
          <a:ln/>
        </p:spPr>
        <p:txBody>
          <a:bodyPr wrap="square" lIns="0" tIns="0" rIns="0" bIns="0" rtlCol="0" anchor="ctr"/>
          <a:lstStyle/>
          <a:p>
            <a:pPr>
              <a:lnSpc>
                <a:spcPct val="120000"/>
              </a:lnSpc>
            </a:pPr>
            <a:r>
              <a:rPr lang="en-US" sz="1500" b="1" dirty="0">
                <a:solidFill>
                  <a:srgbClr val="1F2937"/>
                </a:solidFill>
                <a:latin typeface="Sorts Mill Goudy" pitchFamily="34" charset="0"/>
                <a:ea typeface="Sorts Mill Goudy" pitchFamily="34" charset="-122"/>
                <a:cs typeface="Sorts Mill Goudy" pitchFamily="34" charset="-120"/>
              </a:rPr>
              <a:t>Current QA Paradigms</a:t>
            </a:r>
            <a:endParaRPr lang="en-US" sz="1600" dirty="0"/>
          </a:p>
        </p:txBody>
      </p:sp>
      <p:sp>
        <p:nvSpPr>
          <p:cNvPr id="20" name="Shape 18"/>
          <p:cNvSpPr/>
          <p:nvPr/>
        </p:nvSpPr>
        <p:spPr>
          <a:xfrm>
            <a:off x="6481763" y="1909762"/>
            <a:ext cx="5095875" cy="847725"/>
          </a:xfrm>
          <a:custGeom>
            <a:avLst/>
            <a:gdLst/>
            <a:ahLst/>
            <a:cxnLst/>
            <a:rect l="l" t="t" r="r" b="b"/>
            <a:pathLst>
              <a:path w="5095875" h="847725">
                <a:moveTo>
                  <a:pt x="0" y="0"/>
                </a:moveTo>
                <a:lnTo>
                  <a:pt x="5095875" y="0"/>
                </a:lnTo>
                <a:lnTo>
                  <a:pt x="5095875" y="847725"/>
                </a:lnTo>
                <a:lnTo>
                  <a:pt x="0" y="847725"/>
                </a:lnTo>
                <a:lnTo>
                  <a:pt x="0" y="0"/>
                </a:lnTo>
                <a:close/>
              </a:path>
            </a:pathLst>
          </a:custGeom>
          <a:solidFill>
            <a:srgbClr val="FFFFFF"/>
          </a:solidFill>
          <a:ln w="12700">
            <a:solidFill>
              <a:srgbClr val="E5E7EB"/>
            </a:solidFill>
            <a:prstDash val="solid"/>
          </a:ln>
        </p:spPr>
      </p:sp>
      <p:sp>
        <p:nvSpPr>
          <p:cNvPr id="21" name="Shape 19"/>
          <p:cNvSpPr/>
          <p:nvPr/>
        </p:nvSpPr>
        <p:spPr>
          <a:xfrm>
            <a:off x="6662738" y="2085975"/>
            <a:ext cx="190500" cy="190500"/>
          </a:xfrm>
          <a:custGeom>
            <a:avLst/>
            <a:gdLst/>
            <a:ahLst/>
            <a:cxnLst/>
            <a:rect l="l" t="t" r="r" b="b"/>
            <a:pathLst>
              <a:path w="190500" h="190500">
                <a:moveTo>
                  <a:pt x="95250" y="52574"/>
                </a:moveTo>
                <a:lnTo>
                  <a:pt x="95250" y="167655"/>
                </a:lnTo>
                <a:lnTo>
                  <a:pt x="95436" y="167580"/>
                </a:lnTo>
                <a:cubicBezTo>
                  <a:pt x="115751" y="159134"/>
                  <a:pt x="137554" y="154781"/>
                  <a:pt x="159544" y="154781"/>
                </a:cubicBezTo>
                <a:lnTo>
                  <a:pt x="166688" y="154781"/>
                </a:lnTo>
                <a:lnTo>
                  <a:pt x="166688" y="35719"/>
                </a:lnTo>
                <a:lnTo>
                  <a:pt x="159544" y="35719"/>
                </a:lnTo>
                <a:cubicBezTo>
                  <a:pt x="143842" y="35719"/>
                  <a:pt x="128253" y="38844"/>
                  <a:pt x="113742" y="44872"/>
                </a:cubicBezTo>
                <a:cubicBezTo>
                  <a:pt x="107491" y="47476"/>
                  <a:pt x="101315" y="50043"/>
                  <a:pt x="95250" y="52574"/>
                </a:cubicBezTo>
                <a:close/>
                <a:moveTo>
                  <a:pt x="85911" y="22882"/>
                </a:moveTo>
                <a:lnTo>
                  <a:pt x="95250" y="26789"/>
                </a:lnTo>
                <a:lnTo>
                  <a:pt x="104589" y="22882"/>
                </a:lnTo>
                <a:cubicBezTo>
                  <a:pt x="122002" y="15627"/>
                  <a:pt x="140680" y="11906"/>
                  <a:pt x="159544" y="11906"/>
                </a:cubicBezTo>
                <a:lnTo>
                  <a:pt x="172641" y="11906"/>
                </a:lnTo>
                <a:cubicBezTo>
                  <a:pt x="182500" y="11906"/>
                  <a:pt x="190500" y="19906"/>
                  <a:pt x="190500" y="29766"/>
                </a:cubicBezTo>
                <a:lnTo>
                  <a:pt x="190500" y="160734"/>
                </a:lnTo>
                <a:cubicBezTo>
                  <a:pt x="190500" y="170594"/>
                  <a:pt x="182500" y="178594"/>
                  <a:pt x="172641" y="178594"/>
                </a:cubicBezTo>
                <a:lnTo>
                  <a:pt x="159544" y="178594"/>
                </a:lnTo>
                <a:cubicBezTo>
                  <a:pt x="140680" y="178594"/>
                  <a:pt x="122002" y="182314"/>
                  <a:pt x="104589" y="189570"/>
                </a:cubicBezTo>
                <a:lnTo>
                  <a:pt x="99826" y="191542"/>
                </a:lnTo>
                <a:cubicBezTo>
                  <a:pt x="96887" y="192770"/>
                  <a:pt x="93613" y="192770"/>
                  <a:pt x="90674" y="191542"/>
                </a:cubicBezTo>
                <a:lnTo>
                  <a:pt x="85911" y="189570"/>
                </a:lnTo>
                <a:cubicBezTo>
                  <a:pt x="68498" y="182314"/>
                  <a:pt x="49820" y="178594"/>
                  <a:pt x="30956" y="178594"/>
                </a:cubicBezTo>
                <a:lnTo>
                  <a:pt x="17859" y="178594"/>
                </a:lnTo>
                <a:cubicBezTo>
                  <a:pt x="8000" y="178594"/>
                  <a:pt x="0" y="170594"/>
                  <a:pt x="0" y="160734"/>
                </a:cubicBezTo>
                <a:lnTo>
                  <a:pt x="0" y="29766"/>
                </a:lnTo>
                <a:cubicBezTo>
                  <a:pt x="0" y="19906"/>
                  <a:pt x="8000" y="11906"/>
                  <a:pt x="17859" y="11906"/>
                </a:cubicBezTo>
                <a:lnTo>
                  <a:pt x="30956" y="11906"/>
                </a:lnTo>
                <a:cubicBezTo>
                  <a:pt x="49820" y="11906"/>
                  <a:pt x="68498" y="15627"/>
                  <a:pt x="85911" y="22882"/>
                </a:cubicBezTo>
                <a:close/>
              </a:path>
            </a:pathLst>
          </a:custGeom>
          <a:solidFill>
            <a:srgbClr val="8B0000"/>
          </a:solidFill>
          <a:ln/>
        </p:spPr>
      </p:sp>
      <p:sp>
        <p:nvSpPr>
          <p:cNvPr id="22" name="Text 20"/>
          <p:cNvSpPr/>
          <p:nvPr/>
        </p:nvSpPr>
        <p:spPr>
          <a:xfrm>
            <a:off x="6991350" y="2066925"/>
            <a:ext cx="2009775"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Reading Comprehension QA</a:t>
            </a:r>
            <a:endParaRPr lang="en-US" sz="1600" dirty="0"/>
          </a:p>
        </p:txBody>
      </p:sp>
      <p:sp>
        <p:nvSpPr>
          <p:cNvPr id="23" name="Text 21"/>
          <p:cNvSpPr/>
          <p:nvPr/>
        </p:nvSpPr>
        <p:spPr>
          <a:xfrm>
            <a:off x="6638925" y="2371725"/>
            <a:ext cx="4857750" cy="228600"/>
          </a:xfrm>
          <a:prstGeom prst="rect">
            <a:avLst/>
          </a:prstGeom>
          <a:noFill/>
          <a:ln/>
        </p:spPr>
        <p:txBody>
          <a:bodyPr wrap="square" lIns="0" tIns="0" rIns="0" bIns="0" rtlCol="0" anchor="ctr"/>
          <a:lstStyle/>
          <a:p>
            <a:pPr>
              <a:lnSpc>
                <a:spcPct val="130000"/>
              </a:lnSpc>
            </a:pPr>
            <a:r>
              <a:rPr lang="en-US" sz="1200" dirty="0">
                <a:solidFill>
                  <a:srgbClr val="6B7280"/>
                </a:solidFill>
                <a:latin typeface="Sorts Mill Goudy" pitchFamily="34" charset="0"/>
                <a:ea typeface="Sorts Mill Goudy" pitchFamily="34" charset="-122"/>
                <a:cs typeface="Sorts Mill Goudy" pitchFamily="34" charset="-120"/>
              </a:rPr>
              <a:t>Optimizes span extraction but lacks event structure awareness</a:t>
            </a:r>
            <a:endParaRPr lang="en-US" sz="1600" dirty="0"/>
          </a:p>
        </p:txBody>
      </p:sp>
      <p:sp>
        <p:nvSpPr>
          <p:cNvPr id="24" name="Shape 22"/>
          <p:cNvSpPr/>
          <p:nvPr/>
        </p:nvSpPr>
        <p:spPr>
          <a:xfrm>
            <a:off x="6481763" y="2919413"/>
            <a:ext cx="5095875" cy="847725"/>
          </a:xfrm>
          <a:custGeom>
            <a:avLst/>
            <a:gdLst/>
            <a:ahLst/>
            <a:cxnLst/>
            <a:rect l="l" t="t" r="r" b="b"/>
            <a:pathLst>
              <a:path w="5095875" h="847725">
                <a:moveTo>
                  <a:pt x="0" y="0"/>
                </a:moveTo>
                <a:lnTo>
                  <a:pt x="5095875" y="0"/>
                </a:lnTo>
                <a:lnTo>
                  <a:pt x="5095875" y="847725"/>
                </a:lnTo>
                <a:lnTo>
                  <a:pt x="0" y="847725"/>
                </a:lnTo>
                <a:lnTo>
                  <a:pt x="0" y="0"/>
                </a:lnTo>
                <a:close/>
              </a:path>
            </a:pathLst>
          </a:custGeom>
          <a:solidFill>
            <a:srgbClr val="FFFFFF"/>
          </a:solidFill>
          <a:ln w="12700">
            <a:solidFill>
              <a:srgbClr val="E5E7EB"/>
            </a:solidFill>
            <a:prstDash val="solid"/>
          </a:ln>
        </p:spPr>
      </p:sp>
      <p:sp>
        <p:nvSpPr>
          <p:cNvPr id="25" name="Shape 23"/>
          <p:cNvSpPr/>
          <p:nvPr/>
        </p:nvSpPr>
        <p:spPr>
          <a:xfrm>
            <a:off x="6674644" y="3095625"/>
            <a:ext cx="166688" cy="190500"/>
          </a:xfrm>
          <a:custGeom>
            <a:avLst/>
            <a:gdLst/>
            <a:ahLst/>
            <a:cxnLst/>
            <a:rect l="l" t="t" r="r" b="b"/>
            <a:pathLst>
              <a:path w="166688" h="190500">
                <a:moveTo>
                  <a:pt x="166688" y="76572"/>
                </a:moveTo>
                <a:cubicBezTo>
                  <a:pt x="161181" y="80218"/>
                  <a:pt x="154856" y="83158"/>
                  <a:pt x="148270" y="85502"/>
                </a:cubicBezTo>
                <a:cubicBezTo>
                  <a:pt x="130783" y="91753"/>
                  <a:pt x="107826" y="95250"/>
                  <a:pt x="83344" y="95250"/>
                </a:cubicBezTo>
                <a:cubicBezTo>
                  <a:pt x="58862" y="95250"/>
                  <a:pt x="35868" y="91715"/>
                  <a:pt x="18417" y="85502"/>
                </a:cubicBezTo>
                <a:cubicBezTo>
                  <a:pt x="11869" y="83158"/>
                  <a:pt x="5507" y="80218"/>
                  <a:pt x="0" y="76572"/>
                </a:cubicBezTo>
                <a:lnTo>
                  <a:pt x="0" y="107156"/>
                </a:lnTo>
                <a:cubicBezTo>
                  <a:pt x="0" y="123602"/>
                  <a:pt x="37319" y="136922"/>
                  <a:pt x="83344" y="136922"/>
                </a:cubicBezTo>
                <a:cubicBezTo>
                  <a:pt x="129369" y="136922"/>
                  <a:pt x="166688" y="123602"/>
                  <a:pt x="166688" y="107156"/>
                </a:cubicBezTo>
                <a:lnTo>
                  <a:pt x="166688" y="76572"/>
                </a:lnTo>
                <a:close/>
                <a:moveTo>
                  <a:pt x="166688" y="47625"/>
                </a:moveTo>
                <a:lnTo>
                  <a:pt x="166688" y="29766"/>
                </a:lnTo>
                <a:cubicBezTo>
                  <a:pt x="166688" y="13320"/>
                  <a:pt x="129369" y="0"/>
                  <a:pt x="83344" y="0"/>
                </a:cubicBezTo>
                <a:cubicBezTo>
                  <a:pt x="37319" y="0"/>
                  <a:pt x="0" y="13320"/>
                  <a:pt x="0" y="29766"/>
                </a:cubicBezTo>
                <a:lnTo>
                  <a:pt x="0" y="47625"/>
                </a:lnTo>
                <a:cubicBezTo>
                  <a:pt x="0" y="64071"/>
                  <a:pt x="37319" y="77391"/>
                  <a:pt x="83344" y="77391"/>
                </a:cubicBezTo>
                <a:cubicBezTo>
                  <a:pt x="129369" y="77391"/>
                  <a:pt x="166688" y="64071"/>
                  <a:pt x="166688" y="47625"/>
                </a:cubicBezTo>
                <a:close/>
                <a:moveTo>
                  <a:pt x="148270" y="145033"/>
                </a:moveTo>
                <a:cubicBezTo>
                  <a:pt x="130820" y="151247"/>
                  <a:pt x="107863" y="154781"/>
                  <a:pt x="83344" y="154781"/>
                </a:cubicBezTo>
                <a:cubicBezTo>
                  <a:pt x="58824" y="154781"/>
                  <a:pt x="35868" y="151247"/>
                  <a:pt x="18417" y="145033"/>
                </a:cubicBezTo>
                <a:cubicBezTo>
                  <a:pt x="11869" y="142689"/>
                  <a:pt x="5507" y="139750"/>
                  <a:pt x="0" y="136103"/>
                </a:cubicBezTo>
                <a:lnTo>
                  <a:pt x="0" y="160734"/>
                </a:lnTo>
                <a:cubicBezTo>
                  <a:pt x="0" y="177180"/>
                  <a:pt x="37319" y="190500"/>
                  <a:pt x="83344" y="190500"/>
                </a:cubicBezTo>
                <a:cubicBezTo>
                  <a:pt x="129369" y="190500"/>
                  <a:pt x="166688" y="177180"/>
                  <a:pt x="166688" y="160734"/>
                </a:cubicBezTo>
                <a:lnTo>
                  <a:pt x="166688" y="136103"/>
                </a:lnTo>
                <a:cubicBezTo>
                  <a:pt x="161181" y="139750"/>
                  <a:pt x="154856" y="142689"/>
                  <a:pt x="148270" y="145033"/>
                </a:cubicBezTo>
                <a:close/>
              </a:path>
            </a:pathLst>
          </a:custGeom>
          <a:solidFill>
            <a:srgbClr val="8B0000"/>
          </a:solidFill>
          <a:ln/>
        </p:spPr>
      </p:sp>
      <p:sp>
        <p:nvSpPr>
          <p:cNvPr id="26" name="Text 24"/>
          <p:cNvSpPr/>
          <p:nvPr/>
        </p:nvSpPr>
        <p:spPr>
          <a:xfrm>
            <a:off x="6991350" y="3076575"/>
            <a:ext cx="1447800"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Knowledge-Base QA</a:t>
            </a:r>
            <a:endParaRPr lang="en-US" sz="1600" dirty="0"/>
          </a:p>
        </p:txBody>
      </p:sp>
      <p:sp>
        <p:nvSpPr>
          <p:cNvPr id="27" name="Text 25"/>
          <p:cNvSpPr/>
          <p:nvPr/>
        </p:nvSpPr>
        <p:spPr>
          <a:xfrm>
            <a:off x="6638925" y="3381375"/>
            <a:ext cx="4857750" cy="228600"/>
          </a:xfrm>
          <a:prstGeom prst="rect">
            <a:avLst/>
          </a:prstGeom>
          <a:noFill/>
          <a:ln/>
        </p:spPr>
        <p:txBody>
          <a:bodyPr wrap="square" lIns="0" tIns="0" rIns="0" bIns="0" rtlCol="0" anchor="ctr"/>
          <a:lstStyle/>
          <a:p>
            <a:pPr>
              <a:lnSpc>
                <a:spcPct val="130000"/>
              </a:lnSpc>
            </a:pPr>
            <a:r>
              <a:rPr lang="en-US" sz="1200" dirty="0">
                <a:solidFill>
                  <a:srgbClr val="6B7280"/>
                </a:solidFill>
                <a:latin typeface="Sorts Mill Goudy" pitchFamily="34" charset="0"/>
                <a:ea typeface="Sorts Mill Goudy" pitchFamily="34" charset="-122"/>
                <a:cs typeface="Sorts Mill Goudy" pitchFamily="34" charset="-120"/>
              </a:rPr>
              <a:t>Structured queries but requires formal representation</a:t>
            </a:r>
            <a:endParaRPr lang="en-US" sz="1600" dirty="0"/>
          </a:p>
        </p:txBody>
      </p:sp>
      <p:sp>
        <p:nvSpPr>
          <p:cNvPr id="28" name="Shape 26"/>
          <p:cNvSpPr/>
          <p:nvPr/>
        </p:nvSpPr>
        <p:spPr>
          <a:xfrm>
            <a:off x="6481763" y="3929063"/>
            <a:ext cx="5095875" cy="847725"/>
          </a:xfrm>
          <a:custGeom>
            <a:avLst/>
            <a:gdLst/>
            <a:ahLst/>
            <a:cxnLst/>
            <a:rect l="l" t="t" r="r" b="b"/>
            <a:pathLst>
              <a:path w="5095875" h="847725">
                <a:moveTo>
                  <a:pt x="0" y="0"/>
                </a:moveTo>
                <a:lnTo>
                  <a:pt x="5095875" y="0"/>
                </a:lnTo>
                <a:lnTo>
                  <a:pt x="5095875" y="847725"/>
                </a:lnTo>
                <a:lnTo>
                  <a:pt x="0" y="847725"/>
                </a:lnTo>
                <a:lnTo>
                  <a:pt x="0" y="0"/>
                </a:lnTo>
                <a:close/>
              </a:path>
            </a:pathLst>
          </a:custGeom>
          <a:solidFill>
            <a:srgbClr val="FFFFFF"/>
          </a:solidFill>
          <a:ln w="12700">
            <a:solidFill>
              <a:srgbClr val="E5E7EB"/>
            </a:solidFill>
            <a:prstDash val="solid"/>
          </a:ln>
        </p:spPr>
      </p:sp>
      <p:sp>
        <p:nvSpPr>
          <p:cNvPr id="29" name="Shape 27"/>
          <p:cNvSpPr/>
          <p:nvPr/>
        </p:nvSpPr>
        <p:spPr>
          <a:xfrm>
            <a:off x="6662738" y="4105275"/>
            <a:ext cx="190500" cy="190500"/>
          </a:xfrm>
          <a:custGeom>
            <a:avLst/>
            <a:gdLst/>
            <a:ahLst/>
            <a:cxnLst/>
            <a:rect l="l" t="t" r="r" b="b"/>
            <a:pathLst>
              <a:path w="190500" h="190500">
                <a:moveTo>
                  <a:pt x="130932" y="104180"/>
                </a:moveTo>
                <a:lnTo>
                  <a:pt x="59903" y="104180"/>
                </a:lnTo>
                <a:cubicBezTo>
                  <a:pt x="60982" y="128178"/>
                  <a:pt x="66303" y="150279"/>
                  <a:pt x="73856" y="166464"/>
                </a:cubicBezTo>
                <a:cubicBezTo>
                  <a:pt x="78098" y="175580"/>
                  <a:pt x="82674" y="182017"/>
                  <a:pt x="86916" y="185961"/>
                </a:cubicBezTo>
                <a:cubicBezTo>
                  <a:pt x="91083" y="189867"/>
                  <a:pt x="93948" y="190500"/>
                  <a:pt x="95436" y="190500"/>
                </a:cubicBezTo>
                <a:cubicBezTo>
                  <a:pt x="96924" y="190500"/>
                  <a:pt x="99789" y="189867"/>
                  <a:pt x="103956" y="185961"/>
                </a:cubicBezTo>
                <a:cubicBezTo>
                  <a:pt x="108198" y="182017"/>
                  <a:pt x="112775" y="175543"/>
                  <a:pt x="117016" y="166464"/>
                </a:cubicBezTo>
                <a:cubicBezTo>
                  <a:pt x="124569" y="150279"/>
                  <a:pt x="129890" y="128178"/>
                  <a:pt x="130969" y="104180"/>
                </a:cubicBezTo>
                <a:close/>
                <a:moveTo>
                  <a:pt x="59866" y="86320"/>
                </a:moveTo>
                <a:lnTo>
                  <a:pt x="130894" y="86320"/>
                </a:lnTo>
                <a:cubicBezTo>
                  <a:pt x="129853" y="62322"/>
                  <a:pt x="124532" y="40221"/>
                  <a:pt x="116979" y="24036"/>
                </a:cubicBezTo>
                <a:cubicBezTo>
                  <a:pt x="112737" y="14957"/>
                  <a:pt x="108161" y="8483"/>
                  <a:pt x="103919" y="4539"/>
                </a:cubicBezTo>
                <a:cubicBezTo>
                  <a:pt x="99752" y="633"/>
                  <a:pt x="96887" y="0"/>
                  <a:pt x="95399" y="0"/>
                </a:cubicBezTo>
                <a:cubicBezTo>
                  <a:pt x="93911" y="0"/>
                  <a:pt x="91046" y="633"/>
                  <a:pt x="86878" y="4539"/>
                </a:cubicBezTo>
                <a:cubicBezTo>
                  <a:pt x="82637" y="8483"/>
                  <a:pt x="78060" y="14957"/>
                  <a:pt x="73819" y="24036"/>
                </a:cubicBezTo>
                <a:cubicBezTo>
                  <a:pt x="66266" y="40221"/>
                  <a:pt x="60945" y="62322"/>
                  <a:pt x="59866" y="86320"/>
                </a:cubicBezTo>
                <a:close/>
                <a:moveTo>
                  <a:pt x="42007" y="86320"/>
                </a:moveTo>
                <a:cubicBezTo>
                  <a:pt x="43309" y="54471"/>
                  <a:pt x="51532" y="24892"/>
                  <a:pt x="63550" y="5469"/>
                </a:cubicBezTo>
                <a:cubicBezTo>
                  <a:pt x="29282" y="17599"/>
                  <a:pt x="4056" y="48816"/>
                  <a:pt x="558" y="86320"/>
                </a:cubicBezTo>
                <a:lnTo>
                  <a:pt x="42007" y="86320"/>
                </a:lnTo>
                <a:close/>
                <a:moveTo>
                  <a:pt x="558" y="104180"/>
                </a:moveTo>
                <a:cubicBezTo>
                  <a:pt x="4056" y="141684"/>
                  <a:pt x="29282" y="172901"/>
                  <a:pt x="63550" y="185031"/>
                </a:cubicBezTo>
                <a:cubicBezTo>
                  <a:pt x="51532" y="165608"/>
                  <a:pt x="43309" y="136029"/>
                  <a:pt x="42007" y="104180"/>
                </a:cubicBezTo>
                <a:lnTo>
                  <a:pt x="558" y="104180"/>
                </a:lnTo>
                <a:close/>
                <a:moveTo>
                  <a:pt x="148791" y="104180"/>
                </a:moveTo>
                <a:cubicBezTo>
                  <a:pt x="147489" y="136029"/>
                  <a:pt x="139266" y="165608"/>
                  <a:pt x="127248" y="185031"/>
                </a:cubicBezTo>
                <a:cubicBezTo>
                  <a:pt x="161516" y="172864"/>
                  <a:pt x="186742" y="141684"/>
                  <a:pt x="190240" y="104180"/>
                </a:cubicBezTo>
                <a:lnTo>
                  <a:pt x="148791" y="104180"/>
                </a:lnTo>
                <a:close/>
                <a:moveTo>
                  <a:pt x="190240" y="86320"/>
                </a:moveTo>
                <a:cubicBezTo>
                  <a:pt x="186742" y="48816"/>
                  <a:pt x="161516" y="17599"/>
                  <a:pt x="127248" y="5469"/>
                </a:cubicBezTo>
                <a:cubicBezTo>
                  <a:pt x="139266" y="24892"/>
                  <a:pt x="147489" y="54471"/>
                  <a:pt x="148791" y="86320"/>
                </a:cubicBezTo>
                <a:lnTo>
                  <a:pt x="190240" y="86320"/>
                </a:lnTo>
                <a:close/>
              </a:path>
            </a:pathLst>
          </a:custGeom>
          <a:solidFill>
            <a:srgbClr val="8B0000"/>
          </a:solidFill>
          <a:ln/>
        </p:spPr>
      </p:sp>
      <p:sp>
        <p:nvSpPr>
          <p:cNvPr id="30" name="Text 28"/>
          <p:cNvSpPr/>
          <p:nvPr/>
        </p:nvSpPr>
        <p:spPr>
          <a:xfrm>
            <a:off x="6991350" y="4086225"/>
            <a:ext cx="1323975"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Open-Domain QA</a:t>
            </a:r>
            <a:endParaRPr lang="en-US" sz="1600" dirty="0"/>
          </a:p>
        </p:txBody>
      </p:sp>
      <p:sp>
        <p:nvSpPr>
          <p:cNvPr id="31" name="Text 29"/>
          <p:cNvSpPr/>
          <p:nvPr/>
        </p:nvSpPr>
        <p:spPr>
          <a:xfrm>
            <a:off x="6638925" y="4391025"/>
            <a:ext cx="4857750" cy="228600"/>
          </a:xfrm>
          <a:prstGeom prst="rect">
            <a:avLst/>
          </a:prstGeom>
          <a:noFill/>
          <a:ln/>
        </p:spPr>
        <p:txBody>
          <a:bodyPr wrap="square" lIns="0" tIns="0" rIns="0" bIns="0" rtlCol="0" anchor="ctr"/>
          <a:lstStyle/>
          <a:p>
            <a:pPr>
              <a:lnSpc>
                <a:spcPct val="130000"/>
              </a:lnSpc>
            </a:pPr>
            <a:r>
              <a:rPr lang="en-US" sz="1200" dirty="0">
                <a:solidFill>
                  <a:srgbClr val="6B7280"/>
                </a:solidFill>
                <a:latin typeface="Sorts Mill Goudy" pitchFamily="34" charset="0"/>
                <a:ea typeface="Sorts Mill Goudy" pitchFamily="34" charset="-122"/>
                <a:cs typeface="Sorts Mill Goudy" pitchFamily="34" charset="-120"/>
              </a:rPr>
              <a:t>Broad coverage but limited explainability</a:t>
            </a:r>
            <a:endParaRPr lang="en-US" sz="1600" dirty="0"/>
          </a:p>
        </p:txBody>
      </p:sp>
      <p:sp>
        <p:nvSpPr>
          <p:cNvPr id="32" name="Shape 30"/>
          <p:cNvSpPr/>
          <p:nvPr/>
        </p:nvSpPr>
        <p:spPr>
          <a:xfrm>
            <a:off x="6481763" y="4938713"/>
            <a:ext cx="5095875" cy="1000125"/>
          </a:xfrm>
          <a:custGeom>
            <a:avLst/>
            <a:gdLst/>
            <a:ahLst/>
            <a:cxnLst/>
            <a:rect l="l" t="t" r="r" b="b"/>
            <a:pathLst>
              <a:path w="5095875" h="1000125">
                <a:moveTo>
                  <a:pt x="0" y="0"/>
                </a:moveTo>
                <a:lnTo>
                  <a:pt x="5095875" y="0"/>
                </a:lnTo>
                <a:lnTo>
                  <a:pt x="5095875" y="1000125"/>
                </a:lnTo>
                <a:lnTo>
                  <a:pt x="0" y="1000125"/>
                </a:lnTo>
                <a:lnTo>
                  <a:pt x="0" y="0"/>
                </a:lnTo>
                <a:close/>
              </a:path>
            </a:pathLst>
          </a:custGeom>
          <a:solidFill>
            <a:srgbClr val="8B0000">
              <a:alpha val="5098"/>
            </a:srgbClr>
          </a:solidFill>
          <a:ln w="12700">
            <a:solidFill>
              <a:srgbClr val="8B0000">
                <a:alpha val="20000"/>
              </a:srgbClr>
            </a:solidFill>
            <a:prstDash val="solid"/>
          </a:ln>
        </p:spPr>
      </p:sp>
      <p:sp>
        <p:nvSpPr>
          <p:cNvPr id="33" name="Text 31"/>
          <p:cNvSpPr/>
          <p:nvPr/>
        </p:nvSpPr>
        <p:spPr>
          <a:xfrm>
            <a:off x="6638925" y="5095875"/>
            <a:ext cx="4857750" cy="6858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Research Question:</a:t>
            </a:r>
            <a:r>
              <a:rPr lang="en-US" sz="1200" dirty="0">
                <a:solidFill>
                  <a:srgbClr val="1F2937"/>
                </a:solidFill>
                <a:latin typeface="Sorts Mill Goudy" pitchFamily="34" charset="0"/>
                <a:ea typeface="Sorts Mill Goudy" pitchFamily="34" charset="-122"/>
                <a:cs typeface="Sorts Mill Goudy" pitchFamily="34" charset="-120"/>
              </a:rPr>
              <a:t> Can we build a QA system that combines the extractive bias of reading comprehension with explicit event structure for interpretable answers?</a:t>
            </a:r>
            <a:endParaRPr lang="en-US" sz="1600" dirty="0"/>
          </a:p>
        </p:txBody>
      </p:sp>
    </p:spTree>
    <p:extLst>
      <p:ext uri="{BB962C8B-B14F-4D97-AF65-F5344CB8AC3E}">
        <p14:creationId xmlns:p14="http://schemas.microsoft.com/office/powerpoint/2010/main" val="2005144148"/>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b="1" kern="0" spc="53" dirty="0">
                <a:solidFill>
                  <a:srgbClr val="8B0000"/>
                </a:solidFill>
                <a:latin typeface="Sorts Mill Goudy" pitchFamily="34" charset="0"/>
                <a:ea typeface="Sorts Mill Goudy" pitchFamily="34" charset="-122"/>
                <a:cs typeface="Sorts Mill Goudy" pitchFamily="34" charset="-120"/>
              </a:rPr>
              <a:t>3.1 SOLUTION OVERVIEW</a:t>
            </a:r>
            <a:endParaRPr lang="en-US" sz="1600" dirty="0"/>
          </a:p>
        </p:txBody>
      </p:sp>
      <p:sp>
        <p:nvSpPr>
          <p:cNvPr id="3" name="Text 1"/>
          <p:cNvSpPr/>
          <p:nvPr/>
        </p:nvSpPr>
        <p:spPr>
          <a:xfrm>
            <a:off x="381000" y="647700"/>
            <a:ext cx="11601450" cy="381000"/>
          </a:xfrm>
          <a:prstGeom prst="rect">
            <a:avLst/>
          </a:prstGeom>
          <a:noFill/>
          <a:ln/>
        </p:spPr>
        <p:txBody>
          <a:bodyPr wrap="square" lIns="0" tIns="0" rIns="0" bIns="0" rtlCol="0" anchor="ctr"/>
          <a:lstStyle/>
          <a:p>
            <a:pPr>
              <a:lnSpc>
                <a:spcPct val="90000"/>
              </a:lnSpc>
            </a:pPr>
            <a:r>
              <a:rPr lang="en-US" sz="2700" b="1" dirty="0">
                <a:solidFill>
                  <a:srgbClr val="1F2937"/>
                </a:solidFill>
                <a:latin typeface="Sorts Mill Goudy" pitchFamily="34" charset="0"/>
                <a:ea typeface="Sorts Mill Goudy" pitchFamily="34" charset="-122"/>
                <a:cs typeface="Sorts Mill Goudy" pitchFamily="34" charset="-120"/>
              </a:rPr>
              <a:t>PropQA-Net: Core Concept</a:t>
            </a:r>
            <a:endParaRPr lang="en-US" sz="1600" dirty="0"/>
          </a:p>
        </p:txBody>
      </p:sp>
      <p:sp>
        <p:nvSpPr>
          <p:cNvPr id="4" name="Shape 2"/>
          <p:cNvSpPr/>
          <p:nvPr/>
        </p:nvSpPr>
        <p:spPr>
          <a:xfrm>
            <a:off x="400050" y="1257300"/>
            <a:ext cx="5543550" cy="1981200"/>
          </a:xfrm>
          <a:custGeom>
            <a:avLst/>
            <a:gdLst/>
            <a:ahLst/>
            <a:cxnLst/>
            <a:rect l="l" t="t" r="r" b="b"/>
            <a:pathLst>
              <a:path w="5543550" h="1981200">
                <a:moveTo>
                  <a:pt x="0" y="0"/>
                </a:moveTo>
                <a:lnTo>
                  <a:pt x="5543550" y="0"/>
                </a:lnTo>
                <a:lnTo>
                  <a:pt x="5543550" y="1981200"/>
                </a:lnTo>
                <a:lnTo>
                  <a:pt x="0" y="1981200"/>
                </a:lnTo>
                <a:lnTo>
                  <a:pt x="0" y="0"/>
                </a:lnTo>
                <a:close/>
              </a:path>
            </a:pathLst>
          </a:custGeom>
          <a:solidFill>
            <a:srgbClr val="F9FAFB"/>
          </a:solidFill>
          <a:ln/>
        </p:spPr>
      </p:sp>
      <p:sp>
        <p:nvSpPr>
          <p:cNvPr id="5" name="Shape 3"/>
          <p:cNvSpPr/>
          <p:nvPr/>
        </p:nvSpPr>
        <p:spPr>
          <a:xfrm>
            <a:off x="400050" y="1257300"/>
            <a:ext cx="38100" cy="1981200"/>
          </a:xfrm>
          <a:custGeom>
            <a:avLst/>
            <a:gdLst/>
            <a:ahLst/>
            <a:cxnLst/>
            <a:rect l="l" t="t" r="r" b="b"/>
            <a:pathLst>
              <a:path w="38100" h="1981200">
                <a:moveTo>
                  <a:pt x="0" y="0"/>
                </a:moveTo>
                <a:lnTo>
                  <a:pt x="38100" y="0"/>
                </a:lnTo>
                <a:lnTo>
                  <a:pt x="38100" y="1981200"/>
                </a:lnTo>
                <a:lnTo>
                  <a:pt x="0" y="1981200"/>
                </a:lnTo>
                <a:lnTo>
                  <a:pt x="0" y="0"/>
                </a:lnTo>
                <a:close/>
              </a:path>
            </a:pathLst>
          </a:custGeom>
          <a:solidFill>
            <a:srgbClr val="8B0000"/>
          </a:solidFill>
          <a:ln/>
        </p:spPr>
      </p:sp>
      <p:sp>
        <p:nvSpPr>
          <p:cNvPr id="6" name="Text 4"/>
          <p:cNvSpPr/>
          <p:nvPr/>
        </p:nvSpPr>
        <p:spPr>
          <a:xfrm>
            <a:off x="647700" y="1485900"/>
            <a:ext cx="5162550" cy="266700"/>
          </a:xfrm>
          <a:prstGeom prst="rect">
            <a:avLst/>
          </a:prstGeom>
          <a:noFill/>
          <a:ln/>
        </p:spPr>
        <p:txBody>
          <a:bodyPr wrap="square" lIns="0" tIns="0" rIns="0" bIns="0" rtlCol="0" anchor="ctr"/>
          <a:lstStyle/>
          <a:p>
            <a:pPr>
              <a:lnSpc>
                <a:spcPct val="120000"/>
              </a:lnSpc>
            </a:pPr>
            <a:r>
              <a:rPr lang="en-US" sz="1500" b="1" dirty="0">
                <a:solidFill>
                  <a:srgbClr val="1F2937"/>
                </a:solidFill>
                <a:latin typeface="Sorts Mill Goudy" pitchFamily="34" charset="0"/>
                <a:ea typeface="Sorts Mill Goudy" pitchFamily="34" charset="-122"/>
                <a:cs typeface="Sorts Mill Goudy" pitchFamily="34" charset="-120"/>
              </a:rPr>
              <a:t>System Definition</a:t>
            </a:r>
            <a:endParaRPr lang="en-US" sz="1600" dirty="0"/>
          </a:p>
        </p:txBody>
      </p:sp>
      <p:sp>
        <p:nvSpPr>
          <p:cNvPr id="7" name="Text 5"/>
          <p:cNvSpPr/>
          <p:nvPr/>
        </p:nvSpPr>
        <p:spPr>
          <a:xfrm>
            <a:off x="647700" y="1866900"/>
            <a:ext cx="5143500" cy="742950"/>
          </a:xfrm>
          <a:prstGeom prst="rect">
            <a:avLst/>
          </a:prstGeom>
          <a:noFill/>
          <a:ln/>
        </p:spPr>
        <p:txBody>
          <a:bodyPr wrap="square" lIns="0" tIns="0" rIns="0" bIns="0" rtlCol="0" anchor="ctr"/>
          <a:lstStyle/>
          <a:p>
            <a:pPr>
              <a:lnSpc>
                <a:spcPct val="140000"/>
              </a:lnSpc>
            </a:pPr>
            <a:r>
              <a:rPr lang="en-US" sz="1200" dirty="0">
                <a:solidFill>
                  <a:srgbClr val="1F2937"/>
                </a:solidFill>
                <a:latin typeface="Sorts Mill Goudy" pitchFamily="34" charset="0"/>
                <a:ea typeface="Sorts Mill Goudy" pitchFamily="34" charset="-122"/>
                <a:cs typeface="Sorts Mill Goudy" pitchFamily="34" charset="-120"/>
              </a:rPr>
              <a:t>PropQA-Net is a </a:t>
            </a:r>
            <a:r>
              <a:rPr lang="en-US" sz="1200" b="1" dirty="0">
                <a:solidFill>
                  <a:srgbClr val="1F2937"/>
                </a:solidFill>
                <a:latin typeface="Sorts Mill Goudy" pitchFamily="34" charset="0"/>
                <a:ea typeface="Sorts Mill Goudy" pitchFamily="34" charset="-122"/>
                <a:cs typeface="Sorts Mill Goudy" pitchFamily="34" charset="-120"/>
              </a:rPr>
              <a:t>semantic role-anchored extractive question answering system</a:t>
            </a:r>
            <a:r>
              <a:rPr lang="en-US" sz="1200" dirty="0">
                <a:solidFill>
                  <a:srgbClr val="1F2937"/>
                </a:solidFill>
                <a:latin typeface="Sorts Mill Goudy" pitchFamily="34" charset="0"/>
                <a:ea typeface="Sorts Mill Goudy" pitchFamily="34" charset="-122"/>
                <a:cs typeface="Sorts Mill Goudy" pitchFamily="34" charset="-120"/>
              </a:rPr>
              <a:t> trained on QA pairs generated from the local NLTK PropBank distribution.</a:t>
            </a:r>
            <a:endParaRPr lang="en-US" sz="1600" dirty="0"/>
          </a:p>
        </p:txBody>
      </p:sp>
      <p:sp>
        <p:nvSpPr>
          <p:cNvPr id="8" name="Text 6"/>
          <p:cNvSpPr/>
          <p:nvPr/>
        </p:nvSpPr>
        <p:spPr>
          <a:xfrm>
            <a:off x="647700" y="2762250"/>
            <a:ext cx="5143500" cy="247650"/>
          </a:xfrm>
          <a:prstGeom prst="rect">
            <a:avLst/>
          </a:prstGeom>
          <a:noFill/>
          <a:ln/>
        </p:spPr>
        <p:txBody>
          <a:bodyPr wrap="square" lIns="0" tIns="0" rIns="0" bIns="0" rtlCol="0" anchor="ctr"/>
          <a:lstStyle/>
          <a:p>
            <a:pPr>
              <a:lnSpc>
                <a:spcPct val="140000"/>
              </a:lnSpc>
            </a:pPr>
            <a:r>
              <a:rPr lang="en-US" sz="1200" dirty="0">
                <a:solidFill>
                  <a:srgbClr val="1F2937"/>
                </a:solidFill>
                <a:latin typeface="Sorts Mill Goudy" pitchFamily="34" charset="0"/>
                <a:ea typeface="Sorts Mill Goudy" pitchFamily="34" charset="-122"/>
                <a:cs typeface="Sorts Mill Goudy" pitchFamily="34" charset="-120"/>
              </a:rPr>
              <a:t>The system combines three key components:</a:t>
            </a:r>
            <a:endParaRPr lang="en-US" sz="1600" dirty="0"/>
          </a:p>
        </p:txBody>
      </p:sp>
      <p:sp>
        <p:nvSpPr>
          <p:cNvPr id="9" name="Shape 7"/>
          <p:cNvSpPr/>
          <p:nvPr/>
        </p:nvSpPr>
        <p:spPr>
          <a:xfrm>
            <a:off x="385763" y="3471863"/>
            <a:ext cx="5553075" cy="1038225"/>
          </a:xfrm>
          <a:custGeom>
            <a:avLst/>
            <a:gdLst/>
            <a:ahLst/>
            <a:cxnLst/>
            <a:rect l="l" t="t" r="r" b="b"/>
            <a:pathLst>
              <a:path w="5553075" h="1038225">
                <a:moveTo>
                  <a:pt x="0" y="0"/>
                </a:moveTo>
                <a:lnTo>
                  <a:pt x="5553075" y="0"/>
                </a:lnTo>
                <a:lnTo>
                  <a:pt x="5553075" y="1038225"/>
                </a:lnTo>
                <a:lnTo>
                  <a:pt x="0" y="1038225"/>
                </a:lnTo>
                <a:lnTo>
                  <a:pt x="0" y="0"/>
                </a:lnTo>
                <a:close/>
              </a:path>
            </a:pathLst>
          </a:custGeom>
          <a:solidFill>
            <a:srgbClr val="FFFFFF"/>
          </a:solidFill>
          <a:ln w="12700">
            <a:solidFill>
              <a:srgbClr val="E5E7EB"/>
            </a:solidFill>
            <a:prstDash val="solid"/>
          </a:ln>
        </p:spPr>
      </p:sp>
      <p:sp>
        <p:nvSpPr>
          <p:cNvPr id="10" name="Shape 8"/>
          <p:cNvSpPr/>
          <p:nvPr/>
        </p:nvSpPr>
        <p:spPr>
          <a:xfrm>
            <a:off x="542925" y="3629025"/>
            <a:ext cx="457200" cy="457200"/>
          </a:xfrm>
          <a:custGeom>
            <a:avLst/>
            <a:gdLst/>
            <a:ahLst/>
            <a:cxnLst/>
            <a:rect l="l" t="t" r="r" b="b"/>
            <a:pathLst>
              <a:path w="457200" h="457200">
                <a:moveTo>
                  <a:pt x="0" y="0"/>
                </a:moveTo>
                <a:lnTo>
                  <a:pt x="457200" y="0"/>
                </a:lnTo>
                <a:lnTo>
                  <a:pt x="457200" y="457200"/>
                </a:lnTo>
                <a:lnTo>
                  <a:pt x="0" y="457200"/>
                </a:lnTo>
                <a:lnTo>
                  <a:pt x="0" y="0"/>
                </a:lnTo>
                <a:close/>
              </a:path>
            </a:pathLst>
          </a:custGeom>
          <a:solidFill>
            <a:srgbClr val="8B0000"/>
          </a:solidFill>
          <a:ln/>
        </p:spPr>
      </p:sp>
      <p:sp>
        <p:nvSpPr>
          <p:cNvPr id="11" name="Text 9"/>
          <p:cNvSpPr/>
          <p:nvPr/>
        </p:nvSpPr>
        <p:spPr>
          <a:xfrm>
            <a:off x="495300" y="3629025"/>
            <a:ext cx="552450" cy="457200"/>
          </a:xfrm>
          <a:prstGeom prst="rect">
            <a:avLst/>
          </a:prstGeom>
          <a:noFill/>
          <a:ln/>
        </p:spPr>
        <p:txBody>
          <a:bodyPr wrap="square" lIns="0" tIns="0" rIns="0" bIns="0" rtlCol="0" anchor="ctr"/>
          <a:lstStyle/>
          <a:p>
            <a:pPr algn="ctr">
              <a:lnSpc>
                <a:spcPct val="120000"/>
              </a:lnSpc>
            </a:pPr>
            <a:r>
              <a:rPr lang="en-US" sz="1500" b="1" dirty="0">
                <a:solidFill>
                  <a:srgbClr val="FFFFFF"/>
                </a:solidFill>
                <a:latin typeface="Sorts Mill Goudy" pitchFamily="34" charset="0"/>
                <a:ea typeface="Sorts Mill Goudy" pitchFamily="34" charset="-122"/>
                <a:cs typeface="Sorts Mill Goudy" pitchFamily="34" charset="-120"/>
              </a:rPr>
              <a:t>1</a:t>
            </a:r>
            <a:endParaRPr lang="en-US" sz="1600" dirty="0"/>
          </a:p>
        </p:txBody>
      </p:sp>
      <p:sp>
        <p:nvSpPr>
          <p:cNvPr id="12" name="Text 10"/>
          <p:cNvSpPr/>
          <p:nvPr/>
        </p:nvSpPr>
        <p:spPr>
          <a:xfrm>
            <a:off x="1152525" y="3629025"/>
            <a:ext cx="4705350"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Contextual Sequence Labeling</a:t>
            </a:r>
            <a:endParaRPr lang="en-US" sz="1600" dirty="0"/>
          </a:p>
        </p:txBody>
      </p:sp>
      <p:sp>
        <p:nvSpPr>
          <p:cNvPr id="13" name="Text 11"/>
          <p:cNvSpPr/>
          <p:nvPr/>
        </p:nvSpPr>
        <p:spPr>
          <a:xfrm>
            <a:off x="1152525" y="3895725"/>
            <a:ext cx="4705350" cy="457200"/>
          </a:xfrm>
          <a:prstGeom prst="rect">
            <a:avLst/>
          </a:prstGeom>
          <a:noFill/>
          <a:ln/>
        </p:spPr>
        <p:txBody>
          <a:bodyPr wrap="square" lIns="0" tIns="0" rIns="0" bIns="0" rtlCol="0" anchor="ctr"/>
          <a:lstStyle/>
          <a:p>
            <a:pPr>
              <a:lnSpc>
                <a:spcPct val="130000"/>
              </a:lnSpc>
            </a:pPr>
            <a:r>
              <a:rPr lang="en-US" sz="1200" dirty="0">
                <a:solidFill>
                  <a:srgbClr val="6B7280"/>
                </a:solidFill>
                <a:latin typeface="Sorts Mill Goudy" pitchFamily="34" charset="0"/>
                <a:ea typeface="Sorts Mill Goudy" pitchFamily="34" charset="-122"/>
                <a:cs typeface="Sorts Mill Goudy" pitchFamily="34" charset="-120"/>
              </a:rPr>
              <a:t>BiLSTM encoder with word, POS, and predicate-indicator embeddings for BIO role tagging</a:t>
            </a:r>
            <a:endParaRPr lang="en-US" sz="1600" dirty="0"/>
          </a:p>
        </p:txBody>
      </p:sp>
      <p:sp>
        <p:nvSpPr>
          <p:cNvPr id="14" name="Shape 12"/>
          <p:cNvSpPr/>
          <p:nvPr/>
        </p:nvSpPr>
        <p:spPr>
          <a:xfrm>
            <a:off x="385763" y="4672013"/>
            <a:ext cx="5553075" cy="809625"/>
          </a:xfrm>
          <a:custGeom>
            <a:avLst/>
            <a:gdLst/>
            <a:ahLst/>
            <a:cxnLst/>
            <a:rect l="l" t="t" r="r" b="b"/>
            <a:pathLst>
              <a:path w="5553075" h="809625">
                <a:moveTo>
                  <a:pt x="0" y="0"/>
                </a:moveTo>
                <a:lnTo>
                  <a:pt x="5553075" y="0"/>
                </a:lnTo>
                <a:lnTo>
                  <a:pt x="5553075" y="809625"/>
                </a:lnTo>
                <a:lnTo>
                  <a:pt x="0" y="809625"/>
                </a:lnTo>
                <a:lnTo>
                  <a:pt x="0" y="0"/>
                </a:lnTo>
                <a:close/>
              </a:path>
            </a:pathLst>
          </a:custGeom>
          <a:solidFill>
            <a:srgbClr val="FFFFFF"/>
          </a:solidFill>
          <a:ln w="12700">
            <a:solidFill>
              <a:srgbClr val="E5E7EB"/>
            </a:solidFill>
            <a:prstDash val="solid"/>
          </a:ln>
        </p:spPr>
      </p:sp>
      <p:sp>
        <p:nvSpPr>
          <p:cNvPr id="15" name="Shape 13"/>
          <p:cNvSpPr/>
          <p:nvPr/>
        </p:nvSpPr>
        <p:spPr>
          <a:xfrm>
            <a:off x="542925" y="4829175"/>
            <a:ext cx="457200" cy="457200"/>
          </a:xfrm>
          <a:custGeom>
            <a:avLst/>
            <a:gdLst/>
            <a:ahLst/>
            <a:cxnLst/>
            <a:rect l="l" t="t" r="r" b="b"/>
            <a:pathLst>
              <a:path w="457200" h="457200">
                <a:moveTo>
                  <a:pt x="0" y="0"/>
                </a:moveTo>
                <a:lnTo>
                  <a:pt x="457200" y="0"/>
                </a:lnTo>
                <a:lnTo>
                  <a:pt x="457200" y="457200"/>
                </a:lnTo>
                <a:lnTo>
                  <a:pt x="0" y="457200"/>
                </a:lnTo>
                <a:lnTo>
                  <a:pt x="0" y="0"/>
                </a:lnTo>
                <a:close/>
              </a:path>
            </a:pathLst>
          </a:custGeom>
          <a:solidFill>
            <a:srgbClr val="8B0000"/>
          </a:solidFill>
          <a:ln/>
        </p:spPr>
      </p:sp>
      <p:sp>
        <p:nvSpPr>
          <p:cNvPr id="16" name="Text 14"/>
          <p:cNvSpPr/>
          <p:nvPr/>
        </p:nvSpPr>
        <p:spPr>
          <a:xfrm>
            <a:off x="495300" y="4829175"/>
            <a:ext cx="552450" cy="457200"/>
          </a:xfrm>
          <a:prstGeom prst="rect">
            <a:avLst/>
          </a:prstGeom>
          <a:noFill/>
          <a:ln/>
        </p:spPr>
        <p:txBody>
          <a:bodyPr wrap="square" lIns="0" tIns="0" rIns="0" bIns="0" rtlCol="0" anchor="ctr"/>
          <a:lstStyle/>
          <a:p>
            <a:pPr algn="ctr">
              <a:lnSpc>
                <a:spcPct val="120000"/>
              </a:lnSpc>
            </a:pPr>
            <a:r>
              <a:rPr lang="en-US" sz="1500" b="1" dirty="0">
                <a:solidFill>
                  <a:srgbClr val="FFFFFF"/>
                </a:solidFill>
                <a:latin typeface="Sorts Mill Goudy" pitchFamily="34" charset="0"/>
                <a:ea typeface="Sorts Mill Goudy" pitchFamily="34" charset="-122"/>
                <a:cs typeface="Sorts Mill Goudy" pitchFamily="34" charset="-120"/>
              </a:rPr>
              <a:t>2</a:t>
            </a:r>
            <a:endParaRPr lang="en-US" sz="1600" dirty="0"/>
          </a:p>
        </p:txBody>
      </p:sp>
      <p:sp>
        <p:nvSpPr>
          <p:cNvPr id="17" name="Text 15"/>
          <p:cNvSpPr/>
          <p:nvPr/>
        </p:nvSpPr>
        <p:spPr>
          <a:xfrm>
            <a:off x="1152525" y="4829175"/>
            <a:ext cx="4648200"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Question-Conditioned Span Scoring</a:t>
            </a:r>
            <a:endParaRPr lang="en-US" sz="1600" dirty="0"/>
          </a:p>
        </p:txBody>
      </p:sp>
      <p:sp>
        <p:nvSpPr>
          <p:cNvPr id="18" name="Text 16"/>
          <p:cNvSpPr/>
          <p:nvPr/>
        </p:nvSpPr>
        <p:spPr>
          <a:xfrm>
            <a:off x="1152525" y="5095875"/>
            <a:ext cx="4648200" cy="228600"/>
          </a:xfrm>
          <a:prstGeom prst="rect">
            <a:avLst/>
          </a:prstGeom>
          <a:noFill/>
          <a:ln/>
        </p:spPr>
        <p:txBody>
          <a:bodyPr wrap="square" lIns="0" tIns="0" rIns="0" bIns="0" rtlCol="0" anchor="ctr"/>
          <a:lstStyle/>
          <a:p>
            <a:pPr>
              <a:lnSpc>
                <a:spcPct val="130000"/>
              </a:lnSpc>
            </a:pPr>
            <a:r>
              <a:rPr lang="en-US" sz="1200" dirty="0">
                <a:solidFill>
                  <a:srgbClr val="6B7280"/>
                </a:solidFill>
                <a:latin typeface="Sorts Mill Goudy" pitchFamily="34" charset="0"/>
                <a:ea typeface="Sorts Mill Goudy" pitchFamily="34" charset="-122"/>
                <a:cs typeface="Sorts Mill Goudy" pitchFamily="34" charset="-120"/>
              </a:rPr>
              <a:t>Separate BiLSTM encodes questions to predict start and end positions</a:t>
            </a:r>
            <a:endParaRPr lang="en-US" sz="1600" dirty="0"/>
          </a:p>
        </p:txBody>
      </p:sp>
      <p:sp>
        <p:nvSpPr>
          <p:cNvPr id="19" name="Shape 17"/>
          <p:cNvSpPr/>
          <p:nvPr/>
        </p:nvSpPr>
        <p:spPr>
          <a:xfrm>
            <a:off x="385763" y="5643563"/>
            <a:ext cx="5553075" cy="1038225"/>
          </a:xfrm>
          <a:custGeom>
            <a:avLst/>
            <a:gdLst/>
            <a:ahLst/>
            <a:cxnLst/>
            <a:rect l="l" t="t" r="r" b="b"/>
            <a:pathLst>
              <a:path w="5553075" h="1038225">
                <a:moveTo>
                  <a:pt x="0" y="0"/>
                </a:moveTo>
                <a:lnTo>
                  <a:pt x="5553075" y="0"/>
                </a:lnTo>
                <a:lnTo>
                  <a:pt x="5553075" y="1038225"/>
                </a:lnTo>
                <a:lnTo>
                  <a:pt x="0" y="1038225"/>
                </a:lnTo>
                <a:lnTo>
                  <a:pt x="0" y="0"/>
                </a:lnTo>
                <a:close/>
              </a:path>
            </a:pathLst>
          </a:custGeom>
          <a:solidFill>
            <a:srgbClr val="FFFFFF"/>
          </a:solidFill>
          <a:ln w="12700">
            <a:solidFill>
              <a:srgbClr val="E5E7EB"/>
            </a:solidFill>
            <a:prstDash val="solid"/>
          </a:ln>
        </p:spPr>
      </p:sp>
      <p:sp>
        <p:nvSpPr>
          <p:cNvPr id="20" name="Shape 18"/>
          <p:cNvSpPr/>
          <p:nvPr/>
        </p:nvSpPr>
        <p:spPr>
          <a:xfrm>
            <a:off x="542925" y="5800725"/>
            <a:ext cx="457200" cy="457200"/>
          </a:xfrm>
          <a:custGeom>
            <a:avLst/>
            <a:gdLst/>
            <a:ahLst/>
            <a:cxnLst/>
            <a:rect l="l" t="t" r="r" b="b"/>
            <a:pathLst>
              <a:path w="457200" h="457200">
                <a:moveTo>
                  <a:pt x="0" y="0"/>
                </a:moveTo>
                <a:lnTo>
                  <a:pt x="457200" y="0"/>
                </a:lnTo>
                <a:lnTo>
                  <a:pt x="457200" y="457200"/>
                </a:lnTo>
                <a:lnTo>
                  <a:pt x="0" y="457200"/>
                </a:lnTo>
                <a:lnTo>
                  <a:pt x="0" y="0"/>
                </a:lnTo>
                <a:close/>
              </a:path>
            </a:pathLst>
          </a:custGeom>
          <a:solidFill>
            <a:srgbClr val="8B0000"/>
          </a:solidFill>
          <a:ln/>
        </p:spPr>
      </p:sp>
      <p:sp>
        <p:nvSpPr>
          <p:cNvPr id="21" name="Text 19"/>
          <p:cNvSpPr/>
          <p:nvPr/>
        </p:nvSpPr>
        <p:spPr>
          <a:xfrm>
            <a:off x="495300" y="5800725"/>
            <a:ext cx="552450" cy="457200"/>
          </a:xfrm>
          <a:prstGeom prst="rect">
            <a:avLst/>
          </a:prstGeom>
          <a:noFill/>
          <a:ln/>
        </p:spPr>
        <p:txBody>
          <a:bodyPr wrap="square" lIns="0" tIns="0" rIns="0" bIns="0" rtlCol="0" anchor="ctr"/>
          <a:lstStyle/>
          <a:p>
            <a:pPr algn="ctr">
              <a:lnSpc>
                <a:spcPct val="120000"/>
              </a:lnSpc>
            </a:pPr>
            <a:r>
              <a:rPr lang="en-US" sz="1500" b="1" dirty="0">
                <a:solidFill>
                  <a:srgbClr val="FFFFFF"/>
                </a:solidFill>
                <a:latin typeface="Sorts Mill Goudy" pitchFamily="34" charset="0"/>
                <a:ea typeface="Sorts Mill Goudy" pitchFamily="34" charset="-122"/>
                <a:cs typeface="Sorts Mill Goudy" pitchFamily="34" charset="-120"/>
              </a:rPr>
              <a:t>3</a:t>
            </a:r>
            <a:endParaRPr lang="en-US" sz="1600" dirty="0"/>
          </a:p>
        </p:txBody>
      </p:sp>
      <p:sp>
        <p:nvSpPr>
          <p:cNvPr id="22" name="Text 20"/>
          <p:cNvSpPr/>
          <p:nvPr/>
        </p:nvSpPr>
        <p:spPr>
          <a:xfrm>
            <a:off x="1152525" y="5800725"/>
            <a:ext cx="4705350"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Argument-Question Matching</a:t>
            </a:r>
            <a:endParaRPr lang="en-US" sz="1600" dirty="0"/>
          </a:p>
        </p:txBody>
      </p:sp>
      <p:sp>
        <p:nvSpPr>
          <p:cNvPr id="23" name="Text 21"/>
          <p:cNvSpPr/>
          <p:nvPr/>
        </p:nvSpPr>
        <p:spPr>
          <a:xfrm>
            <a:off x="1152525" y="6067425"/>
            <a:ext cx="4705350" cy="457200"/>
          </a:xfrm>
          <a:prstGeom prst="rect">
            <a:avLst/>
          </a:prstGeom>
          <a:noFill/>
          <a:ln/>
        </p:spPr>
        <p:txBody>
          <a:bodyPr wrap="square" lIns="0" tIns="0" rIns="0" bIns="0" rtlCol="0" anchor="ctr"/>
          <a:lstStyle/>
          <a:p>
            <a:pPr>
              <a:lnSpc>
                <a:spcPct val="130000"/>
              </a:lnSpc>
            </a:pPr>
            <a:r>
              <a:rPr lang="en-US" sz="1200" dirty="0">
                <a:solidFill>
                  <a:srgbClr val="6B7280"/>
                </a:solidFill>
                <a:latin typeface="Sorts Mill Goudy" pitchFamily="34" charset="0"/>
                <a:ea typeface="Sorts Mill Goudy" pitchFamily="34" charset="-122"/>
                <a:cs typeface="Sorts Mill Goudy" pitchFamily="34" charset="-120"/>
              </a:rPr>
              <a:t>Candidate-span matcher selects answer whose representation best matches question vector</a:t>
            </a:r>
            <a:endParaRPr lang="en-US" sz="1600" dirty="0"/>
          </a:p>
        </p:txBody>
      </p:sp>
      <p:sp>
        <p:nvSpPr>
          <p:cNvPr id="24" name="Shape 22"/>
          <p:cNvSpPr/>
          <p:nvPr/>
        </p:nvSpPr>
        <p:spPr>
          <a:xfrm>
            <a:off x="6248400" y="1257300"/>
            <a:ext cx="5562600" cy="5429250"/>
          </a:xfrm>
          <a:custGeom>
            <a:avLst/>
            <a:gdLst/>
            <a:ahLst/>
            <a:cxnLst/>
            <a:rect l="l" t="t" r="r" b="b"/>
            <a:pathLst>
              <a:path w="5562600" h="5429250">
                <a:moveTo>
                  <a:pt x="0" y="0"/>
                </a:moveTo>
                <a:lnTo>
                  <a:pt x="5562600" y="0"/>
                </a:lnTo>
                <a:lnTo>
                  <a:pt x="5562600" y="5429250"/>
                </a:lnTo>
                <a:lnTo>
                  <a:pt x="0" y="5429250"/>
                </a:lnTo>
                <a:lnTo>
                  <a:pt x="0" y="0"/>
                </a:lnTo>
                <a:close/>
              </a:path>
            </a:pathLst>
          </a:custGeom>
          <a:solidFill>
            <a:srgbClr val="F9FAFB"/>
          </a:solidFill>
          <a:ln/>
        </p:spPr>
      </p:sp>
      <p:sp>
        <p:nvSpPr>
          <p:cNvPr id="25" name="Text 23"/>
          <p:cNvSpPr/>
          <p:nvPr/>
        </p:nvSpPr>
        <p:spPr>
          <a:xfrm>
            <a:off x="6477000" y="1485900"/>
            <a:ext cx="5200650" cy="266700"/>
          </a:xfrm>
          <a:prstGeom prst="rect">
            <a:avLst/>
          </a:prstGeom>
          <a:noFill/>
          <a:ln/>
        </p:spPr>
        <p:txBody>
          <a:bodyPr wrap="square" lIns="0" tIns="0" rIns="0" bIns="0" rtlCol="0" anchor="ctr"/>
          <a:lstStyle/>
          <a:p>
            <a:pPr>
              <a:lnSpc>
                <a:spcPct val="120000"/>
              </a:lnSpc>
            </a:pPr>
            <a:r>
              <a:rPr lang="en-US" sz="1500" b="1" dirty="0">
                <a:solidFill>
                  <a:srgbClr val="1F2937"/>
                </a:solidFill>
                <a:latin typeface="Sorts Mill Goudy" pitchFamily="34" charset="0"/>
                <a:ea typeface="Sorts Mill Goudy" pitchFamily="34" charset="-122"/>
                <a:cs typeface="Sorts Mill Goudy" pitchFamily="34" charset="-120"/>
              </a:rPr>
              <a:t>Key Hypothesis</a:t>
            </a:r>
            <a:endParaRPr lang="en-US" sz="1600" dirty="0"/>
          </a:p>
        </p:txBody>
      </p:sp>
      <p:sp>
        <p:nvSpPr>
          <p:cNvPr id="26" name="Shape 24"/>
          <p:cNvSpPr/>
          <p:nvPr/>
        </p:nvSpPr>
        <p:spPr>
          <a:xfrm>
            <a:off x="6481763" y="1909762"/>
            <a:ext cx="5095875" cy="1028700"/>
          </a:xfrm>
          <a:custGeom>
            <a:avLst/>
            <a:gdLst/>
            <a:ahLst/>
            <a:cxnLst/>
            <a:rect l="l" t="t" r="r" b="b"/>
            <a:pathLst>
              <a:path w="5095875" h="1028700">
                <a:moveTo>
                  <a:pt x="0" y="0"/>
                </a:moveTo>
                <a:lnTo>
                  <a:pt x="5095875" y="0"/>
                </a:lnTo>
                <a:lnTo>
                  <a:pt x="5095875" y="1028700"/>
                </a:lnTo>
                <a:lnTo>
                  <a:pt x="0" y="1028700"/>
                </a:lnTo>
                <a:lnTo>
                  <a:pt x="0" y="0"/>
                </a:lnTo>
                <a:close/>
              </a:path>
            </a:pathLst>
          </a:custGeom>
          <a:solidFill>
            <a:srgbClr val="FFFFFF"/>
          </a:solidFill>
          <a:ln w="12700">
            <a:solidFill>
              <a:srgbClr val="E5E7EB"/>
            </a:solidFill>
            <a:prstDash val="solid"/>
          </a:ln>
        </p:spPr>
      </p:sp>
      <p:sp>
        <p:nvSpPr>
          <p:cNvPr id="27" name="Text 25"/>
          <p:cNvSpPr/>
          <p:nvPr/>
        </p:nvSpPr>
        <p:spPr>
          <a:xfrm>
            <a:off x="6715125" y="2143125"/>
            <a:ext cx="4714875" cy="561975"/>
          </a:xfrm>
          <a:prstGeom prst="rect">
            <a:avLst/>
          </a:prstGeom>
          <a:noFill/>
          <a:ln/>
        </p:spPr>
        <p:txBody>
          <a:bodyPr wrap="square" lIns="0" tIns="0" rIns="0" bIns="0" rtlCol="0" anchor="ctr"/>
          <a:lstStyle/>
          <a:p>
            <a:pPr>
              <a:lnSpc>
                <a:spcPct val="140000"/>
              </a:lnSpc>
            </a:pPr>
            <a:r>
              <a:rPr lang="en-US" sz="1350" dirty="0">
                <a:solidFill>
                  <a:srgbClr val="1F2937"/>
                </a:solidFill>
                <a:latin typeface="Sorts Mill Goudy" pitchFamily="34" charset="0"/>
                <a:ea typeface="Sorts Mill Goudy" pitchFamily="34" charset="-122"/>
                <a:cs typeface="Sorts Mill Goudy" pitchFamily="34" charset="-120"/>
              </a:rPr>
              <a:t>"Explicit predicate-argument structure supports interpretable answer extraction and finer-grained error analysis."</a:t>
            </a:r>
            <a:endParaRPr lang="en-US" sz="1600" dirty="0"/>
          </a:p>
        </p:txBody>
      </p:sp>
      <p:sp>
        <p:nvSpPr>
          <p:cNvPr id="28" name="Text 26"/>
          <p:cNvSpPr/>
          <p:nvPr/>
        </p:nvSpPr>
        <p:spPr>
          <a:xfrm>
            <a:off x="6477000" y="3167063"/>
            <a:ext cx="5200650" cy="266700"/>
          </a:xfrm>
          <a:prstGeom prst="rect">
            <a:avLst/>
          </a:prstGeom>
          <a:noFill/>
          <a:ln/>
        </p:spPr>
        <p:txBody>
          <a:bodyPr wrap="square" lIns="0" tIns="0" rIns="0" bIns="0" rtlCol="0" anchor="ctr"/>
          <a:lstStyle/>
          <a:p>
            <a:pPr>
              <a:lnSpc>
                <a:spcPct val="120000"/>
              </a:lnSpc>
            </a:pPr>
            <a:r>
              <a:rPr lang="en-US" sz="1500" b="1" dirty="0">
                <a:solidFill>
                  <a:srgbClr val="1F2937"/>
                </a:solidFill>
                <a:latin typeface="Sorts Mill Goudy" pitchFamily="34" charset="0"/>
                <a:ea typeface="Sorts Mill Goudy" pitchFamily="34" charset="-122"/>
                <a:cs typeface="Sorts Mill Goudy" pitchFamily="34" charset="-120"/>
              </a:rPr>
              <a:t>Design Philosophy</a:t>
            </a:r>
            <a:endParaRPr lang="en-US" sz="1600" dirty="0"/>
          </a:p>
        </p:txBody>
      </p:sp>
      <p:sp>
        <p:nvSpPr>
          <p:cNvPr id="29" name="Shape 27"/>
          <p:cNvSpPr/>
          <p:nvPr/>
        </p:nvSpPr>
        <p:spPr>
          <a:xfrm>
            <a:off x="6481763" y="3590925"/>
            <a:ext cx="5095875" cy="466725"/>
          </a:xfrm>
          <a:custGeom>
            <a:avLst/>
            <a:gdLst/>
            <a:ahLst/>
            <a:cxnLst/>
            <a:rect l="l" t="t" r="r" b="b"/>
            <a:pathLst>
              <a:path w="5095875" h="466725">
                <a:moveTo>
                  <a:pt x="0" y="0"/>
                </a:moveTo>
                <a:lnTo>
                  <a:pt x="5095875" y="0"/>
                </a:lnTo>
                <a:lnTo>
                  <a:pt x="5095875" y="466725"/>
                </a:lnTo>
                <a:lnTo>
                  <a:pt x="0" y="466725"/>
                </a:lnTo>
                <a:lnTo>
                  <a:pt x="0" y="0"/>
                </a:lnTo>
                <a:close/>
              </a:path>
            </a:pathLst>
          </a:custGeom>
          <a:solidFill>
            <a:srgbClr val="FFFFFF"/>
          </a:solidFill>
          <a:ln w="12700">
            <a:solidFill>
              <a:srgbClr val="E5E7EB"/>
            </a:solidFill>
            <a:prstDash val="solid"/>
          </a:ln>
        </p:spPr>
      </p:sp>
      <p:sp>
        <p:nvSpPr>
          <p:cNvPr id="30" name="Shape 28"/>
          <p:cNvSpPr/>
          <p:nvPr/>
        </p:nvSpPr>
        <p:spPr>
          <a:xfrm>
            <a:off x="6610350" y="3748087"/>
            <a:ext cx="171450" cy="152400"/>
          </a:xfrm>
          <a:custGeom>
            <a:avLst/>
            <a:gdLst/>
            <a:ahLst/>
            <a:cxnLst/>
            <a:rect l="l" t="t" r="r" b="b"/>
            <a:pathLst>
              <a:path w="171450" h="152400">
                <a:moveTo>
                  <a:pt x="85725" y="9525"/>
                </a:moveTo>
                <a:cubicBezTo>
                  <a:pt x="61674" y="9525"/>
                  <a:pt x="42416" y="20479"/>
                  <a:pt x="28396" y="33516"/>
                </a:cubicBezTo>
                <a:cubicBezTo>
                  <a:pt x="14466" y="46464"/>
                  <a:pt x="5149" y="61912"/>
                  <a:pt x="714" y="72539"/>
                </a:cubicBezTo>
                <a:cubicBezTo>
                  <a:pt x="-268" y="74890"/>
                  <a:pt x="-268" y="77510"/>
                  <a:pt x="714" y="79861"/>
                </a:cubicBezTo>
                <a:cubicBezTo>
                  <a:pt x="5149" y="90488"/>
                  <a:pt x="14466" y="105966"/>
                  <a:pt x="28396" y="118884"/>
                </a:cubicBezTo>
                <a:cubicBezTo>
                  <a:pt x="42416" y="131891"/>
                  <a:pt x="61674" y="142875"/>
                  <a:pt x="85725" y="142875"/>
                </a:cubicBezTo>
                <a:cubicBezTo>
                  <a:pt x="109776" y="142875"/>
                  <a:pt x="129034" y="131921"/>
                  <a:pt x="143054" y="118884"/>
                </a:cubicBezTo>
                <a:cubicBezTo>
                  <a:pt x="156984" y="105936"/>
                  <a:pt x="166301" y="90488"/>
                  <a:pt x="170736" y="79861"/>
                </a:cubicBezTo>
                <a:cubicBezTo>
                  <a:pt x="171718" y="77510"/>
                  <a:pt x="171718" y="74890"/>
                  <a:pt x="170736" y="72539"/>
                </a:cubicBezTo>
                <a:cubicBezTo>
                  <a:pt x="166301" y="61912"/>
                  <a:pt x="156984" y="46434"/>
                  <a:pt x="143054" y="33516"/>
                </a:cubicBezTo>
                <a:cubicBezTo>
                  <a:pt x="129034" y="20509"/>
                  <a:pt x="109776" y="9525"/>
                  <a:pt x="85725" y="9525"/>
                </a:cubicBezTo>
                <a:close/>
                <a:moveTo>
                  <a:pt x="42863" y="76200"/>
                </a:moveTo>
                <a:cubicBezTo>
                  <a:pt x="42863" y="52544"/>
                  <a:pt x="62069" y="33338"/>
                  <a:pt x="85725" y="33338"/>
                </a:cubicBezTo>
                <a:cubicBezTo>
                  <a:pt x="109381" y="33338"/>
                  <a:pt x="128588" y="52544"/>
                  <a:pt x="128588" y="76200"/>
                </a:cubicBezTo>
                <a:cubicBezTo>
                  <a:pt x="128588" y="99856"/>
                  <a:pt x="109381" y="119062"/>
                  <a:pt x="85725" y="119062"/>
                </a:cubicBezTo>
                <a:cubicBezTo>
                  <a:pt x="62069" y="119062"/>
                  <a:pt x="42863" y="99856"/>
                  <a:pt x="42863" y="76200"/>
                </a:cubicBezTo>
                <a:close/>
                <a:moveTo>
                  <a:pt x="85725" y="57150"/>
                </a:moveTo>
                <a:cubicBezTo>
                  <a:pt x="85725" y="67657"/>
                  <a:pt x="77182" y="76200"/>
                  <a:pt x="66675" y="76200"/>
                </a:cubicBezTo>
                <a:cubicBezTo>
                  <a:pt x="63252" y="76200"/>
                  <a:pt x="60037" y="75307"/>
                  <a:pt x="57239" y="73700"/>
                </a:cubicBezTo>
                <a:cubicBezTo>
                  <a:pt x="56942" y="76944"/>
                  <a:pt x="57210" y="80278"/>
                  <a:pt x="58103" y="83582"/>
                </a:cubicBezTo>
                <a:cubicBezTo>
                  <a:pt x="62180" y="98822"/>
                  <a:pt x="77867" y="107871"/>
                  <a:pt x="93107" y="103793"/>
                </a:cubicBezTo>
                <a:cubicBezTo>
                  <a:pt x="108347" y="99715"/>
                  <a:pt x="117396" y="84028"/>
                  <a:pt x="113318" y="68788"/>
                </a:cubicBezTo>
                <a:cubicBezTo>
                  <a:pt x="109686" y="55185"/>
                  <a:pt x="96798" y="46524"/>
                  <a:pt x="83225" y="47714"/>
                </a:cubicBezTo>
                <a:cubicBezTo>
                  <a:pt x="84802" y="50483"/>
                  <a:pt x="85725" y="53697"/>
                  <a:pt x="85725" y="57150"/>
                </a:cubicBezTo>
                <a:close/>
              </a:path>
            </a:pathLst>
          </a:custGeom>
          <a:solidFill>
            <a:srgbClr val="8B0000"/>
          </a:solidFill>
          <a:ln/>
        </p:spPr>
      </p:sp>
      <p:sp>
        <p:nvSpPr>
          <p:cNvPr id="31" name="Text 29"/>
          <p:cNvSpPr/>
          <p:nvPr/>
        </p:nvSpPr>
        <p:spPr>
          <a:xfrm>
            <a:off x="6905625" y="3709988"/>
            <a:ext cx="2819400"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Transparent:</a:t>
            </a:r>
            <a:r>
              <a:rPr lang="en-US" sz="1200" dirty="0">
                <a:solidFill>
                  <a:srgbClr val="1F2937"/>
                </a:solidFill>
                <a:latin typeface="Sorts Mill Goudy" pitchFamily="34" charset="0"/>
                <a:ea typeface="Sorts Mill Goudy" pitchFamily="34" charset="-122"/>
                <a:cs typeface="Sorts Mill Goudy" pitchFamily="34" charset="-120"/>
              </a:rPr>
              <a:t> Every decision is inspectable</a:t>
            </a:r>
            <a:endParaRPr lang="en-US" sz="1600" dirty="0"/>
          </a:p>
        </p:txBody>
      </p:sp>
      <p:sp>
        <p:nvSpPr>
          <p:cNvPr id="32" name="Shape 30"/>
          <p:cNvSpPr/>
          <p:nvPr/>
        </p:nvSpPr>
        <p:spPr>
          <a:xfrm>
            <a:off x="6481763" y="4181475"/>
            <a:ext cx="5095875" cy="466725"/>
          </a:xfrm>
          <a:custGeom>
            <a:avLst/>
            <a:gdLst/>
            <a:ahLst/>
            <a:cxnLst/>
            <a:rect l="l" t="t" r="r" b="b"/>
            <a:pathLst>
              <a:path w="5095875" h="466725">
                <a:moveTo>
                  <a:pt x="0" y="0"/>
                </a:moveTo>
                <a:lnTo>
                  <a:pt x="5095875" y="0"/>
                </a:lnTo>
                <a:lnTo>
                  <a:pt x="5095875" y="466725"/>
                </a:lnTo>
                <a:lnTo>
                  <a:pt x="0" y="466725"/>
                </a:lnTo>
                <a:lnTo>
                  <a:pt x="0" y="0"/>
                </a:lnTo>
                <a:close/>
              </a:path>
            </a:pathLst>
          </a:custGeom>
          <a:solidFill>
            <a:srgbClr val="FFFFFF"/>
          </a:solidFill>
          <a:ln w="12700">
            <a:solidFill>
              <a:srgbClr val="E5E7EB"/>
            </a:solidFill>
            <a:prstDash val="solid"/>
          </a:ln>
        </p:spPr>
      </p:sp>
      <p:sp>
        <p:nvSpPr>
          <p:cNvPr id="33" name="Shape 31"/>
          <p:cNvSpPr/>
          <p:nvPr/>
        </p:nvSpPr>
        <p:spPr>
          <a:xfrm>
            <a:off x="6619875" y="4338638"/>
            <a:ext cx="152400" cy="152400"/>
          </a:xfrm>
          <a:custGeom>
            <a:avLst/>
            <a:gdLst/>
            <a:ahLst/>
            <a:cxnLst/>
            <a:rect l="l" t="t" r="r" b="b"/>
            <a:pathLst>
              <a:path w="152400" h="152400">
                <a:moveTo>
                  <a:pt x="129986" y="22235"/>
                </a:moveTo>
                <a:lnTo>
                  <a:pt x="133350" y="25420"/>
                </a:lnTo>
                <a:lnTo>
                  <a:pt x="133350" y="9525"/>
                </a:lnTo>
                <a:cubicBezTo>
                  <a:pt x="133350" y="4256"/>
                  <a:pt x="137606" y="0"/>
                  <a:pt x="142875" y="0"/>
                </a:cubicBezTo>
                <a:cubicBezTo>
                  <a:pt x="148144" y="0"/>
                  <a:pt x="152400" y="4256"/>
                  <a:pt x="152400" y="9525"/>
                </a:cubicBezTo>
                <a:lnTo>
                  <a:pt x="152400" y="47625"/>
                </a:lnTo>
                <a:cubicBezTo>
                  <a:pt x="152400" y="52894"/>
                  <a:pt x="148144" y="57150"/>
                  <a:pt x="142875" y="57150"/>
                </a:cubicBezTo>
                <a:lnTo>
                  <a:pt x="104775" y="57150"/>
                </a:lnTo>
                <a:cubicBezTo>
                  <a:pt x="99506" y="57150"/>
                  <a:pt x="95250" y="52894"/>
                  <a:pt x="95250" y="47625"/>
                </a:cubicBezTo>
                <a:cubicBezTo>
                  <a:pt x="95250" y="42356"/>
                  <a:pt x="99506" y="38100"/>
                  <a:pt x="104775" y="38100"/>
                </a:cubicBezTo>
                <a:lnTo>
                  <a:pt x="119033" y="38100"/>
                </a:lnTo>
                <a:lnTo>
                  <a:pt x="116771" y="35957"/>
                </a:lnTo>
                <a:cubicBezTo>
                  <a:pt x="116711" y="35897"/>
                  <a:pt x="116651" y="35838"/>
                  <a:pt x="116592" y="35778"/>
                </a:cubicBezTo>
                <a:cubicBezTo>
                  <a:pt x="94268" y="13454"/>
                  <a:pt x="58102" y="13454"/>
                  <a:pt x="35778" y="35778"/>
                </a:cubicBezTo>
                <a:cubicBezTo>
                  <a:pt x="13454" y="58103"/>
                  <a:pt x="13454" y="94268"/>
                  <a:pt x="35778" y="116592"/>
                </a:cubicBezTo>
                <a:cubicBezTo>
                  <a:pt x="58102" y="138916"/>
                  <a:pt x="94268" y="138916"/>
                  <a:pt x="116592" y="116592"/>
                </a:cubicBezTo>
                <a:cubicBezTo>
                  <a:pt x="119033" y="114151"/>
                  <a:pt x="121206" y="111562"/>
                  <a:pt x="123111" y="108823"/>
                </a:cubicBezTo>
                <a:cubicBezTo>
                  <a:pt x="126117" y="104507"/>
                  <a:pt x="132070" y="103465"/>
                  <a:pt x="136386" y="106472"/>
                </a:cubicBezTo>
                <a:cubicBezTo>
                  <a:pt x="140702" y="109478"/>
                  <a:pt x="141744" y="115431"/>
                  <a:pt x="138738" y="119747"/>
                </a:cubicBezTo>
                <a:cubicBezTo>
                  <a:pt x="136207" y="123379"/>
                  <a:pt x="133320" y="126831"/>
                  <a:pt x="130076" y="130076"/>
                </a:cubicBezTo>
                <a:cubicBezTo>
                  <a:pt x="100310" y="159841"/>
                  <a:pt x="52060" y="159841"/>
                  <a:pt x="22324" y="130076"/>
                </a:cubicBezTo>
                <a:cubicBezTo>
                  <a:pt x="-7412" y="100310"/>
                  <a:pt x="-7441" y="52090"/>
                  <a:pt x="22324" y="22324"/>
                </a:cubicBezTo>
                <a:cubicBezTo>
                  <a:pt x="52060" y="-7412"/>
                  <a:pt x="100221" y="-7441"/>
                  <a:pt x="129986" y="22235"/>
                </a:cubicBezTo>
                <a:close/>
              </a:path>
            </a:pathLst>
          </a:custGeom>
          <a:solidFill>
            <a:srgbClr val="8B0000"/>
          </a:solidFill>
          <a:ln/>
        </p:spPr>
      </p:sp>
      <p:sp>
        <p:nvSpPr>
          <p:cNvPr id="34" name="Text 32"/>
          <p:cNvSpPr/>
          <p:nvPr/>
        </p:nvSpPr>
        <p:spPr>
          <a:xfrm>
            <a:off x="6905625" y="4300538"/>
            <a:ext cx="2771775"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Reproducible:</a:t>
            </a:r>
            <a:r>
              <a:rPr lang="en-US" sz="1200" dirty="0">
                <a:solidFill>
                  <a:srgbClr val="1F2937"/>
                </a:solidFill>
                <a:latin typeface="Sorts Mill Goudy" pitchFamily="34" charset="0"/>
                <a:ea typeface="Sorts Mill Goudy" pitchFamily="34" charset="-122"/>
                <a:cs typeface="Sorts Mill Goudy" pitchFamily="34" charset="-120"/>
              </a:rPr>
              <a:t> Deterministic with seed 42</a:t>
            </a:r>
            <a:endParaRPr lang="en-US" sz="1600" dirty="0"/>
          </a:p>
        </p:txBody>
      </p:sp>
      <p:sp>
        <p:nvSpPr>
          <p:cNvPr id="35" name="Shape 33"/>
          <p:cNvSpPr/>
          <p:nvPr/>
        </p:nvSpPr>
        <p:spPr>
          <a:xfrm>
            <a:off x="6481763" y="4772025"/>
            <a:ext cx="5095875" cy="466725"/>
          </a:xfrm>
          <a:custGeom>
            <a:avLst/>
            <a:gdLst/>
            <a:ahLst/>
            <a:cxnLst/>
            <a:rect l="l" t="t" r="r" b="b"/>
            <a:pathLst>
              <a:path w="5095875" h="466725">
                <a:moveTo>
                  <a:pt x="0" y="0"/>
                </a:moveTo>
                <a:lnTo>
                  <a:pt x="5095875" y="0"/>
                </a:lnTo>
                <a:lnTo>
                  <a:pt x="5095875" y="466725"/>
                </a:lnTo>
                <a:lnTo>
                  <a:pt x="0" y="466725"/>
                </a:lnTo>
                <a:lnTo>
                  <a:pt x="0" y="0"/>
                </a:lnTo>
                <a:close/>
              </a:path>
            </a:pathLst>
          </a:custGeom>
          <a:solidFill>
            <a:srgbClr val="FFFFFF"/>
          </a:solidFill>
          <a:ln w="12700">
            <a:solidFill>
              <a:srgbClr val="E5E7EB"/>
            </a:solidFill>
            <a:prstDash val="solid"/>
          </a:ln>
        </p:spPr>
      </p:sp>
      <p:sp>
        <p:nvSpPr>
          <p:cNvPr id="36" name="Shape 34"/>
          <p:cNvSpPr/>
          <p:nvPr/>
        </p:nvSpPr>
        <p:spPr>
          <a:xfrm>
            <a:off x="6619875" y="4929188"/>
            <a:ext cx="152400" cy="152400"/>
          </a:xfrm>
          <a:custGeom>
            <a:avLst/>
            <a:gdLst/>
            <a:ahLst/>
            <a:cxnLst/>
            <a:rect l="l" t="t" r="r" b="b"/>
            <a:pathLst>
              <a:path w="152400" h="152400">
                <a:moveTo>
                  <a:pt x="66675" y="0"/>
                </a:moveTo>
                <a:cubicBezTo>
                  <a:pt x="77182" y="0"/>
                  <a:pt x="85725" y="6400"/>
                  <a:pt x="85725" y="14288"/>
                </a:cubicBezTo>
                <a:cubicBezTo>
                  <a:pt x="85725" y="17383"/>
                  <a:pt x="84415" y="20241"/>
                  <a:pt x="82153" y="22592"/>
                </a:cubicBezTo>
                <a:cubicBezTo>
                  <a:pt x="80189" y="24646"/>
                  <a:pt x="78581" y="27146"/>
                  <a:pt x="78581" y="30004"/>
                </a:cubicBezTo>
                <a:cubicBezTo>
                  <a:pt x="78581" y="34469"/>
                  <a:pt x="82213" y="38100"/>
                  <a:pt x="86678" y="38100"/>
                </a:cubicBezTo>
                <a:lnTo>
                  <a:pt x="100013" y="38100"/>
                </a:lnTo>
                <a:cubicBezTo>
                  <a:pt x="107900" y="38100"/>
                  <a:pt x="114300" y="44500"/>
                  <a:pt x="114300" y="52388"/>
                </a:cubicBezTo>
                <a:lnTo>
                  <a:pt x="114300" y="65723"/>
                </a:lnTo>
                <a:cubicBezTo>
                  <a:pt x="114300" y="70187"/>
                  <a:pt x="117931" y="73819"/>
                  <a:pt x="122396" y="73819"/>
                </a:cubicBezTo>
                <a:cubicBezTo>
                  <a:pt x="125224" y="73819"/>
                  <a:pt x="127754" y="72211"/>
                  <a:pt x="129808" y="70247"/>
                </a:cubicBezTo>
                <a:cubicBezTo>
                  <a:pt x="132159" y="68014"/>
                  <a:pt x="135017" y="66675"/>
                  <a:pt x="138113" y="66675"/>
                </a:cubicBezTo>
                <a:cubicBezTo>
                  <a:pt x="146000" y="66675"/>
                  <a:pt x="152400" y="75218"/>
                  <a:pt x="152400" y="85725"/>
                </a:cubicBezTo>
                <a:cubicBezTo>
                  <a:pt x="152400" y="96232"/>
                  <a:pt x="146000" y="104775"/>
                  <a:pt x="138113" y="104775"/>
                </a:cubicBezTo>
                <a:cubicBezTo>
                  <a:pt x="135017" y="104775"/>
                  <a:pt x="132130" y="103465"/>
                  <a:pt x="129808" y="101203"/>
                </a:cubicBezTo>
                <a:cubicBezTo>
                  <a:pt x="127754" y="99239"/>
                  <a:pt x="125254" y="97631"/>
                  <a:pt x="122396" y="97631"/>
                </a:cubicBezTo>
                <a:cubicBezTo>
                  <a:pt x="117931" y="97631"/>
                  <a:pt x="114300" y="101263"/>
                  <a:pt x="114300" y="105728"/>
                </a:cubicBezTo>
                <a:lnTo>
                  <a:pt x="114300" y="138113"/>
                </a:lnTo>
                <a:cubicBezTo>
                  <a:pt x="114300" y="146000"/>
                  <a:pt x="107900" y="152400"/>
                  <a:pt x="100013" y="152400"/>
                </a:cubicBezTo>
                <a:lnTo>
                  <a:pt x="83106" y="152400"/>
                </a:lnTo>
                <a:cubicBezTo>
                  <a:pt x="79296" y="152400"/>
                  <a:pt x="76200" y="149304"/>
                  <a:pt x="76200" y="145494"/>
                </a:cubicBezTo>
                <a:cubicBezTo>
                  <a:pt x="76200" y="142756"/>
                  <a:pt x="77926" y="140345"/>
                  <a:pt x="80129" y="138708"/>
                </a:cubicBezTo>
                <a:cubicBezTo>
                  <a:pt x="83582" y="136118"/>
                  <a:pt x="85725" y="132546"/>
                  <a:pt x="85725" y="128588"/>
                </a:cubicBezTo>
                <a:cubicBezTo>
                  <a:pt x="85725" y="120700"/>
                  <a:pt x="77182" y="114300"/>
                  <a:pt x="66675" y="114300"/>
                </a:cubicBezTo>
                <a:cubicBezTo>
                  <a:pt x="56168" y="114300"/>
                  <a:pt x="47625" y="120700"/>
                  <a:pt x="47625" y="128588"/>
                </a:cubicBezTo>
                <a:cubicBezTo>
                  <a:pt x="47625" y="132546"/>
                  <a:pt x="49768" y="136118"/>
                  <a:pt x="53221" y="138708"/>
                </a:cubicBezTo>
                <a:cubicBezTo>
                  <a:pt x="55424" y="140345"/>
                  <a:pt x="57150" y="142726"/>
                  <a:pt x="57150" y="145494"/>
                </a:cubicBezTo>
                <a:cubicBezTo>
                  <a:pt x="57150" y="149304"/>
                  <a:pt x="54054" y="152400"/>
                  <a:pt x="50244" y="152400"/>
                </a:cubicBezTo>
                <a:lnTo>
                  <a:pt x="14288" y="152400"/>
                </a:lnTo>
                <a:cubicBezTo>
                  <a:pt x="6400" y="152400"/>
                  <a:pt x="0" y="146000"/>
                  <a:pt x="0" y="138113"/>
                </a:cubicBezTo>
                <a:lnTo>
                  <a:pt x="0" y="102156"/>
                </a:lnTo>
                <a:cubicBezTo>
                  <a:pt x="0" y="98346"/>
                  <a:pt x="3096" y="95250"/>
                  <a:pt x="6906" y="95250"/>
                </a:cubicBezTo>
                <a:cubicBezTo>
                  <a:pt x="9644" y="95250"/>
                  <a:pt x="12055" y="96976"/>
                  <a:pt x="13692" y="99179"/>
                </a:cubicBezTo>
                <a:cubicBezTo>
                  <a:pt x="16282" y="102632"/>
                  <a:pt x="19854" y="104775"/>
                  <a:pt x="23813" y="104775"/>
                </a:cubicBezTo>
                <a:cubicBezTo>
                  <a:pt x="31700" y="104775"/>
                  <a:pt x="38100" y="96232"/>
                  <a:pt x="38100" y="85725"/>
                </a:cubicBezTo>
                <a:cubicBezTo>
                  <a:pt x="38100" y="75218"/>
                  <a:pt x="31700" y="66675"/>
                  <a:pt x="23813" y="66675"/>
                </a:cubicBezTo>
                <a:cubicBezTo>
                  <a:pt x="19854" y="66675"/>
                  <a:pt x="16282" y="68818"/>
                  <a:pt x="13692" y="72271"/>
                </a:cubicBezTo>
                <a:cubicBezTo>
                  <a:pt x="12055" y="74474"/>
                  <a:pt x="9674" y="76200"/>
                  <a:pt x="6906" y="76200"/>
                </a:cubicBezTo>
                <a:cubicBezTo>
                  <a:pt x="3096" y="76200"/>
                  <a:pt x="0" y="73104"/>
                  <a:pt x="0" y="69294"/>
                </a:cubicBezTo>
                <a:lnTo>
                  <a:pt x="0" y="52388"/>
                </a:lnTo>
                <a:cubicBezTo>
                  <a:pt x="0" y="44500"/>
                  <a:pt x="6400" y="38100"/>
                  <a:pt x="14288" y="38100"/>
                </a:cubicBezTo>
                <a:lnTo>
                  <a:pt x="46673" y="38100"/>
                </a:lnTo>
                <a:cubicBezTo>
                  <a:pt x="51137" y="38100"/>
                  <a:pt x="54769" y="34469"/>
                  <a:pt x="54769" y="30004"/>
                </a:cubicBezTo>
                <a:cubicBezTo>
                  <a:pt x="54769" y="27176"/>
                  <a:pt x="53161" y="24646"/>
                  <a:pt x="51197" y="22592"/>
                </a:cubicBezTo>
                <a:cubicBezTo>
                  <a:pt x="48964" y="20241"/>
                  <a:pt x="47625" y="17383"/>
                  <a:pt x="47625" y="14288"/>
                </a:cubicBezTo>
                <a:cubicBezTo>
                  <a:pt x="47625" y="6400"/>
                  <a:pt x="56168" y="0"/>
                  <a:pt x="66675" y="0"/>
                </a:cubicBezTo>
                <a:close/>
              </a:path>
            </a:pathLst>
          </a:custGeom>
          <a:solidFill>
            <a:srgbClr val="8B0000"/>
          </a:solidFill>
          <a:ln/>
        </p:spPr>
      </p:sp>
      <p:sp>
        <p:nvSpPr>
          <p:cNvPr id="37" name="Text 35"/>
          <p:cNvSpPr/>
          <p:nvPr/>
        </p:nvSpPr>
        <p:spPr>
          <a:xfrm>
            <a:off x="6905625" y="4891088"/>
            <a:ext cx="2714625"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Extensible:</a:t>
            </a:r>
            <a:r>
              <a:rPr lang="en-US" sz="1200" dirty="0">
                <a:solidFill>
                  <a:srgbClr val="1F2937"/>
                </a:solidFill>
                <a:latin typeface="Sorts Mill Goudy" pitchFamily="34" charset="0"/>
                <a:ea typeface="Sorts Mill Goudy" pitchFamily="34" charset="-122"/>
                <a:cs typeface="Sorts Mill Goudy" pitchFamily="34" charset="-120"/>
              </a:rPr>
              <a:t> Clear interfaces for upgrades</a:t>
            </a:r>
            <a:endParaRPr lang="en-US" sz="1600" dirty="0"/>
          </a:p>
        </p:txBody>
      </p:sp>
      <p:sp>
        <p:nvSpPr>
          <p:cNvPr id="38" name="Shape 36"/>
          <p:cNvSpPr/>
          <p:nvPr/>
        </p:nvSpPr>
        <p:spPr>
          <a:xfrm>
            <a:off x="6481763" y="5362575"/>
            <a:ext cx="5095875" cy="466725"/>
          </a:xfrm>
          <a:custGeom>
            <a:avLst/>
            <a:gdLst/>
            <a:ahLst/>
            <a:cxnLst/>
            <a:rect l="l" t="t" r="r" b="b"/>
            <a:pathLst>
              <a:path w="5095875" h="466725">
                <a:moveTo>
                  <a:pt x="0" y="0"/>
                </a:moveTo>
                <a:lnTo>
                  <a:pt x="5095875" y="0"/>
                </a:lnTo>
                <a:lnTo>
                  <a:pt x="5095875" y="466725"/>
                </a:lnTo>
                <a:lnTo>
                  <a:pt x="0" y="466725"/>
                </a:lnTo>
                <a:lnTo>
                  <a:pt x="0" y="0"/>
                </a:lnTo>
                <a:close/>
              </a:path>
            </a:pathLst>
          </a:custGeom>
          <a:solidFill>
            <a:srgbClr val="FFFFFF"/>
          </a:solidFill>
          <a:ln w="12700">
            <a:solidFill>
              <a:srgbClr val="E5E7EB"/>
            </a:solidFill>
            <a:prstDash val="solid"/>
          </a:ln>
        </p:spPr>
      </p:sp>
      <p:sp>
        <p:nvSpPr>
          <p:cNvPr id="39" name="Shape 37"/>
          <p:cNvSpPr/>
          <p:nvPr/>
        </p:nvSpPr>
        <p:spPr>
          <a:xfrm>
            <a:off x="6600825" y="5519738"/>
            <a:ext cx="190500" cy="152400"/>
          </a:xfrm>
          <a:custGeom>
            <a:avLst/>
            <a:gdLst/>
            <a:ahLst/>
            <a:cxnLst/>
            <a:rect l="l" t="t" r="r" b="b"/>
            <a:pathLst>
              <a:path w="190500" h="152400">
                <a:moveTo>
                  <a:pt x="114300" y="9525"/>
                </a:moveTo>
                <a:lnTo>
                  <a:pt x="152400" y="9525"/>
                </a:lnTo>
                <a:cubicBezTo>
                  <a:pt x="157669" y="9525"/>
                  <a:pt x="161925" y="13781"/>
                  <a:pt x="161925" y="19050"/>
                </a:cubicBezTo>
                <a:cubicBezTo>
                  <a:pt x="161925" y="24319"/>
                  <a:pt x="157669" y="28575"/>
                  <a:pt x="152400" y="28575"/>
                </a:cubicBezTo>
                <a:lnTo>
                  <a:pt x="118586" y="28575"/>
                </a:lnTo>
                <a:cubicBezTo>
                  <a:pt x="117038" y="36255"/>
                  <a:pt x="111770" y="42595"/>
                  <a:pt x="104775" y="45631"/>
                </a:cubicBezTo>
                <a:lnTo>
                  <a:pt x="104775" y="133350"/>
                </a:lnTo>
                <a:lnTo>
                  <a:pt x="152400" y="133350"/>
                </a:lnTo>
                <a:cubicBezTo>
                  <a:pt x="157669" y="133350"/>
                  <a:pt x="161925" y="137606"/>
                  <a:pt x="161925" y="142875"/>
                </a:cubicBezTo>
                <a:cubicBezTo>
                  <a:pt x="161925" y="148144"/>
                  <a:pt x="157669" y="152400"/>
                  <a:pt x="152400" y="152400"/>
                </a:cubicBezTo>
                <a:lnTo>
                  <a:pt x="38100" y="152400"/>
                </a:lnTo>
                <a:cubicBezTo>
                  <a:pt x="32831" y="152400"/>
                  <a:pt x="28575" y="148144"/>
                  <a:pt x="28575" y="142875"/>
                </a:cubicBezTo>
                <a:cubicBezTo>
                  <a:pt x="28575" y="137606"/>
                  <a:pt x="32831" y="133350"/>
                  <a:pt x="38100" y="133350"/>
                </a:cubicBezTo>
                <a:lnTo>
                  <a:pt x="85725" y="133350"/>
                </a:lnTo>
                <a:lnTo>
                  <a:pt x="85725" y="45631"/>
                </a:lnTo>
                <a:cubicBezTo>
                  <a:pt x="78730" y="42565"/>
                  <a:pt x="73462" y="36225"/>
                  <a:pt x="71914" y="28575"/>
                </a:cubicBezTo>
                <a:lnTo>
                  <a:pt x="38100" y="28575"/>
                </a:lnTo>
                <a:cubicBezTo>
                  <a:pt x="32831" y="28575"/>
                  <a:pt x="28575" y="24319"/>
                  <a:pt x="28575" y="19050"/>
                </a:cubicBezTo>
                <a:cubicBezTo>
                  <a:pt x="28575" y="13781"/>
                  <a:pt x="32831" y="9525"/>
                  <a:pt x="38100" y="9525"/>
                </a:cubicBezTo>
                <a:lnTo>
                  <a:pt x="76200" y="9525"/>
                </a:lnTo>
                <a:cubicBezTo>
                  <a:pt x="80546" y="3750"/>
                  <a:pt x="87451" y="0"/>
                  <a:pt x="95250" y="0"/>
                </a:cubicBezTo>
                <a:cubicBezTo>
                  <a:pt x="103049" y="0"/>
                  <a:pt x="109954" y="3750"/>
                  <a:pt x="114300" y="9525"/>
                </a:cubicBezTo>
                <a:close/>
                <a:moveTo>
                  <a:pt x="130850" y="95250"/>
                </a:moveTo>
                <a:lnTo>
                  <a:pt x="173950" y="95250"/>
                </a:lnTo>
                <a:lnTo>
                  <a:pt x="152400" y="58281"/>
                </a:lnTo>
                <a:lnTo>
                  <a:pt x="130850" y="95250"/>
                </a:lnTo>
                <a:close/>
                <a:moveTo>
                  <a:pt x="152400" y="123825"/>
                </a:moveTo>
                <a:cubicBezTo>
                  <a:pt x="133677" y="123825"/>
                  <a:pt x="118110" y="113705"/>
                  <a:pt x="114895" y="100340"/>
                </a:cubicBezTo>
                <a:cubicBezTo>
                  <a:pt x="114121" y="97066"/>
                  <a:pt x="115193" y="93702"/>
                  <a:pt x="116890" y="90785"/>
                </a:cubicBezTo>
                <a:lnTo>
                  <a:pt x="145226" y="42208"/>
                </a:lnTo>
                <a:cubicBezTo>
                  <a:pt x="146715" y="39648"/>
                  <a:pt x="149453" y="38100"/>
                  <a:pt x="152400" y="38100"/>
                </a:cubicBezTo>
                <a:cubicBezTo>
                  <a:pt x="155347" y="38100"/>
                  <a:pt x="158085" y="39678"/>
                  <a:pt x="159574" y="42208"/>
                </a:cubicBezTo>
                <a:lnTo>
                  <a:pt x="187910" y="90785"/>
                </a:lnTo>
                <a:cubicBezTo>
                  <a:pt x="189607" y="93702"/>
                  <a:pt x="190679" y="97066"/>
                  <a:pt x="189905" y="100340"/>
                </a:cubicBezTo>
                <a:cubicBezTo>
                  <a:pt x="186690" y="113675"/>
                  <a:pt x="171123" y="123825"/>
                  <a:pt x="152400" y="123825"/>
                </a:cubicBezTo>
                <a:close/>
                <a:moveTo>
                  <a:pt x="37743" y="58281"/>
                </a:moveTo>
                <a:lnTo>
                  <a:pt x="16193" y="95250"/>
                </a:lnTo>
                <a:lnTo>
                  <a:pt x="59323" y="95250"/>
                </a:lnTo>
                <a:lnTo>
                  <a:pt x="37743" y="58281"/>
                </a:lnTo>
                <a:close/>
                <a:moveTo>
                  <a:pt x="268" y="100340"/>
                </a:moveTo>
                <a:cubicBezTo>
                  <a:pt x="-506" y="97066"/>
                  <a:pt x="566" y="93702"/>
                  <a:pt x="2262" y="90785"/>
                </a:cubicBezTo>
                <a:lnTo>
                  <a:pt x="30599" y="42208"/>
                </a:lnTo>
                <a:cubicBezTo>
                  <a:pt x="32087" y="39648"/>
                  <a:pt x="34826" y="38100"/>
                  <a:pt x="37773" y="38100"/>
                </a:cubicBezTo>
                <a:cubicBezTo>
                  <a:pt x="40719" y="38100"/>
                  <a:pt x="43458" y="39678"/>
                  <a:pt x="44946" y="42208"/>
                </a:cubicBezTo>
                <a:lnTo>
                  <a:pt x="73283" y="90785"/>
                </a:lnTo>
                <a:cubicBezTo>
                  <a:pt x="74980" y="93702"/>
                  <a:pt x="76051" y="97066"/>
                  <a:pt x="75277" y="100340"/>
                </a:cubicBezTo>
                <a:cubicBezTo>
                  <a:pt x="72063" y="113675"/>
                  <a:pt x="56495" y="123825"/>
                  <a:pt x="37773" y="123825"/>
                </a:cubicBezTo>
                <a:cubicBezTo>
                  <a:pt x="19050" y="123825"/>
                  <a:pt x="3483" y="113705"/>
                  <a:pt x="268" y="100340"/>
                </a:cubicBezTo>
                <a:close/>
              </a:path>
            </a:pathLst>
          </a:custGeom>
          <a:solidFill>
            <a:srgbClr val="8B0000"/>
          </a:solidFill>
          <a:ln/>
        </p:spPr>
      </p:sp>
      <p:sp>
        <p:nvSpPr>
          <p:cNvPr id="40" name="Text 38"/>
          <p:cNvSpPr/>
          <p:nvPr/>
        </p:nvSpPr>
        <p:spPr>
          <a:xfrm>
            <a:off x="6905625" y="5481638"/>
            <a:ext cx="3248025"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Compact:</a:t>
            </a:r>
            <a:r>
              <a:rPr lang="en-US" sz="1200" dirty="0">
                <a:solidFill>
                  <a:srgbClr val="1F2937"/>
                </a:solidFill>
                <a:latin typeface="Sorts Mill Goudy" pitchFamily="34" charset="0"/>
                <a:ea typeface="Sorts Mill Goudy" pitchFamily="34" charset="-122"/>
                <a:cs typeface="Sorts Mill Goudy" pitchFamily="34" charset="-120"/>
              </a:rPr>
              <a:t> 1.78M parameters isolate design effects</a:t>
            </a:r>
            <a:endParaRPr lang="en-US" sz="1600" dirty="0"/>
          </a:p>
        </p:txBody>
      </p:sp>
    </p:spTree>
    <p:extLst>
      <p:ext uri="{BB962C8B-B14F-4D97-AF65-F5344CB8AC3E}">
        <p14:creationId xmlns:p14="http://schemas.microsoft.com/office/powerpoint/2010/main" val="2649178317"/>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23395" y="323395"/>
            <a:ext cx="11601804" cy="161698"/>
          </a:xfrm>
          <a:prstGeom prst="rect">
            <a:avLst/>
          </a:prstGeom>
          <a:noFill/>
          <a:ln/>
        </p:spPr>
        <p:txBody>
          <a:bodyPr wrap="square" lIns="0" tIns="0" rIns="0" bIns="0" rtlCol="0" anchor="ctr"/>
          <a:lstStyle/>
          <a:p>
            <a:pPr>
              <a:lnSpc>
                <a:spcPct val="120000"/>
              </a:lnSpc>
            </a:pPr>
            <a:r>
              <a:rPr lang="en-US" sz="891" b="1" kern="0" spc="45" dirty="0">
                <a:solidFill>
                  <a:srgbClr val="8B0000"/>
                </a:solidFill>
                <a:latin typeface="Sorts Mill Goudy" pitchFamily="34" charset="0"/>
                <a:ea typeface="Sorts Mill Goudy" pitchFamily="34" charset="-122"/>
                <a:cs typeface="Sorts Mill Goudy" pitchFamily="34" charset="-120"/>
              </a:rPr>
              <a:t>4.1 SYSTEM ARCHITECTURE</a:t>
            </a:r>
            <a:endParaRPr lang="en-US" sz="1600" dirty="0"/>
          </a:p>
        </p:txBody>
      </p:sp>
      <p:sp>
        <p:nvSpPr>
          <p:cNvPr id="3" name="Text 1"/>
          <p:cNvSpPr/>
          <p:nvPr/>
        </p:nvSpPr>
        <p:spPr>
          <a:xfrm>
            <a:off x="323395" y="549772"/>
            <a:ext cx="11690737" cy="323395"/>
          </a:xfrm>
          <a:prstGeom prst="rect">
            <a:avLst/>
          </a:prstGeom>
          <a:noFill/>
          <a:ln/>
        </p:spPr>
        <p:txBody>
          <a:bodyPr wrap="square" lIns="0" tIns="0" rIns="0" bIns="0" rtlCol="0" anchor="ctr"/>
          <a:lstStyle/>
          <a:p>
            <a:pPr>
              <a:lnSpc>
                <a:spcPct val="90000"/>
              </a:lnSpc>
            </a:pPr>
            <a:r>
              <a:rPr lang="en-US" sz="2292" b="1" dirty="0">
                <a:solidFill>
                  <a:srgbClr val="1F2937"/>
                </a:solidFill>
                <a:latin typeface="Sorts Mill Goudy" pitchFamily="34" charset="0"/>
                <a:ea typeface="Sorts Mill Goudy" pitchFamily="34" charset="-122"/>
                <a:cs typeface="Sorts Mill Goudy" pitchFamily="34" charset="-120"/>
              </a:rPr>
              <a:t>PropQA-Net Architecture Overview</a:t>
            </a:r>
            <a:endParaRPr lang="en-US" sz="1600" dirty="0"/>
          </a:p>
        </p:txBody>
      </p:sp>
      <p:sp>
        <p:nvSpPr>
          <p:cNvPr id="4" name="Shape 2"/>
          <p:cNvSpPr/>
          <p:nvPr/>
        </p:nvSpPr>
        <p:spPr>
          <a:xfrm>
            <a:off x="323395" y="1067204"/>
            <a:ext cx="6767045" cy="5788775"/>
          </a:xfrm>
          <a:custGeom>
            <a:avLst/>
            <a:gdLst/>
            <a:ahLst/>
            <a:cxnLst/>
            <a:rect l="l" t="t" r="r" b="b"/>
            <a:pathLst>
              <a:path w="6767045" h="5788775">
                <a:moveTo>
                  <a:pt x="0" y="0"/>
                </a:moveTo>
                <a:lnTo>
                  <a:pt x="6767045" y="0"/>
                </a:lnTo>
                <a:lnTo>
                  <a:pt x="6767045" y="5788775"/>
                </a:lnTo>
                <a:lnTo>
                  <a:pt x="0" y="5788775"/>
                </a:lnTo>
                <a:lnTo>
                  <a:pt x="0" y="0"/>
                </a:lnTo>
                <a:close/>
              </a:path>
            </a:pathLst>
          </a:custGeom>
          <a:solidFill>
            <a:srgbClr val="F9FAFB"/>
          </a:solidFill>
          <a:ln/>
        </p:spPr>
      </p:sp>
      <p:sp>
        <p:nvSpPr>
          <p:cNvPr id="5" name="Text 3"/>
          <p:cNvSpPr/>
          <p:nvPr/>
        </p:nvSpPr>
        <p:spPr>
          <a:xfrm>
            <a:off x="517432" y="1261241"/>
            <a:ext cx="6459820" cy="226377"/>
          </a:xfrm>
          <a:prstGeom prst="rect">
            <a:avLst/>
          </a:prstGeom>
          <a:noFill/>
          <a:ln/>
        </p:spPr>
        <p:txBody>
          <a:bodyPr wrap="square" lIns="0" tIns="0" rIns="0" bIns="0" rtlCol="0" anchor="ctr"/>
          <a:lstStyle/>
          <a:p>
            <a:pPr>
              <a:lnSpc>
                <a:spcPct val="120000"/>
              </a:lnSpc>
            </a:pPr>
            <a:r>
              <a:rPr lang="en-US" sz="1273" b="1" dirty="0">
                <a:solidFill>
                  <a:srgbClr val="1F2937"/>
                </a:solidFill>
                <a:latin typeface="Sorts Mill Goudy" pitchFamily="34" charset="0"/>
                <a:ea typeface="Sorts Mill Goudy" pitchFamily="34" charset="-122"/>
                <a:cs typeface="Sorts Mill Goudy" pitchFamily="34" charset="-120"/>
              </a:rPr>
              <a:t>Architecture Flow</a:t>
            </a:r>
            <a:endParaRPr lang="en-US" sz="1600" dirty="0"/>
          </a:p>
        </p:txBody>
      </p:sp>
      <p:sp>
        <p:nvSpPr>
          <p:cNvPr id="6" name="Shape 4"/>
          <p:cNvSpPr/>
          <p:nvPr/>
        </p:nvSpPr>
        <p:spPr>
          <a:xfrm>
            <a:off x="517432" y="1625061"/>
            <a:ext cx="1034865" cy="388074"/>
          </a:xfrm>
          <a:custGeom>
            <a:avLst/>
            <a:gdLst/>
            <a:ahLst/>
            <a:cxnLst/>
            <a:rect l="l" t="t" r="r" b="b"/>
            <a:pathLst>
              <a:path w="1034865" h="388074">
                <a:moveTo>
                  <a:pt x="0" y="0"/>
                </a:moveTo>
                <a:lnTo>
                  <a:pt x="1034865" y="0"/>
                </a:lnTo>
                <a:lnTo>
                  <a:pt x="1034865" y="388074"/>
                </a:lnTo>
                <a:lnTo>
                  <a:pt x="0" y="388074"/>
                </a:lnTo>
                <a:lnTo>
                  <a:pt x="0" y="0"/>
                </a:lnTo>
                <a:close/>
              </a:path>
            </a:pathLst>
          </a:custGeom>
          <a:solidFill>
            <a:srgbClr val="8B0000"/>
          </a:solidFill>
          <a:ln/>
        </p:spPr>
      </p:sp>
      <p:sp>
        <p:nvSpPr>
          <p:cNvPr id="7" name="Text 5"/>
          <p:cNvSpPr/>
          <p:nvPr/>
        </p:nvSpPr>
        <p:spPr>
          <a:xfrm>
            <a:off x="485093" y="1625061"/>
            <a:ext cx="1099544" cy="388074"/>
          </a:xfrm>
          <a:prstGeom prst="rect">
            <a:avLst/>
          </a:prstGeom>
          <a:noFill/>
          <a:ln/>
        </p:spPr>
        <p:txBody>
          <a:bodyPr wrap="square" lIns="97019" tIns="97019" rIns="97019" bIns="97019" rtlCol="0" anchor="ctr"/>
          <a:lstStyle/>
          <a:p>
            <a:pPr algn="ctr">
              <a:lnSpc>
                <a:spcPct val="130000"/>
              </a:lnSpc>
            </a:pPr>
            <a:r>
              <a:rPr lang="en-US" sz="1019" b="1" dirty="0">
                <a:solidFill>
                  <a:srgbClr val="FFFFFF"/>
                </a:solidFill>
                <a:latin typeface="Sorts Mill Goudy" pitchFamily="34" charset="0"/>
                <a:ea typeface="Sorts Mill Goudy" pitchFamily="34" charset="-122"/>
                <a:cs typeface="Sorts Mill Goudy" pitchFamily="34" charset="-120"/>
              </a:rPr>
              <a:t>Input Layer</a:t>
            </a:r>
            <a:endParaRPr lang="en-US" sz="1600" dirty="0"/>
          </a:p>
        </p:txBody>
      </p:sp>
      <p:sp>
        <p:nvSpPr>
          <p:cNvPr id="8" name="Shape 6"/>
          <p:cNvSpPr/>
          <p:nvPr/>
        </p:nvSpPr>
        <p:spPr>
          <a:xfrm>
            <a:off x="1685698" y="1621019"/>
            <a:ext cx="5206663" cy="396159"/>
          </a:xfrm>
          <a:custGeom>
            <a:avLst/>
            <a:gdLst/>
            <a:ahLst/>
            <a:cxnLst/>
            <a:rect l="l" t="t" r="r" b="b"/>
            <a:pathLst>
              <a:path w="5206663" h="396159">
                <a:moveTo>
                  <a:pt x="0" y="0"/>
                </a:moveTo>
                <a:lnTo>
                  <a:pt x="5206663" y="0"/>
                </a:lnTo>
                <a:lnTo>
                  <a:pt x="5206663" y="396159"/>
                </a:lnTo>
                <a:lnTo>
                  <a:pt x="0" y="396159"/>
                </a:lnTo>
                <a:lnTo>
                  <a:pt x="0" y="0"/>
                </a:lnTo>
                <a:close/>
              </a:path>
            </a:pathLst>
          </a:custGeom>
          <a:solidFill>
            <a:srgbClr val="FFFFFF"/>
          </a:solidFill>
          <a:ln w="12700">
            <a:solidFill>
              <a:srgbClr val="E5E7EB"/>
            </a:solidFill>
            <a:prstDash val="solid"/>
          </a:ln>
        </p:spPr>
      </p:sp>
      <p:sp>
        <p:nvSpPr>
          <p:cNvPr id="9" name="Text 7"/>
          <p:cNvSpPr/>
          <p:nvPr/>
        </p:nvSpPr>
        <p:spPr>
          <a:xfrm>
            <a:off x="1681655" y="1616976"/>
            <a:ext cx="5263257" cy="388074"/>
          </a:xfrm>
          <a:prstGeom prst="rect">
            <a:avLst/>
          </a:prstGeom>
          <a:noFill/>
          <a:ln/>
        </p:spPr>
        <p:txBody>
          <a:bodyPr wrap="square" lIns="97019" tIns="97019" rIns="97019" bIns="97019" rtlCol="0" anchor="ctr"/>
          <a:lstStyle/>
          <a:p>
            <a:pPr>
              <a:lnSpc>
                <a:spcPct val="130000"/>
              </a:lnSpc>
            </a:pPr>
            <a:r>
              <a:rPr lang="en-US" sz="1019" dirty="0">
                <a:solidFill>
                  <a:srgbClr val="1F2937"/>
                </a:solidFill>
                <a:latin typeface="Sorts Mill Goudy" pitchFamily="34" charset="0"/>
                <a:ea typeface="Sorts Mill Goudy" pitchFamily="34" charset="-122"/>
                <a:cs typeface="Sorts Mill Goudy" pitchFamily="34" charset="-120"/>
              </a:rPr>
              <a:t>Word + POS + Predicate-indicator embeddings</a:t>
            </a:r>
            <a:endParaRPr lang="en-US" sz="1600" dirty="0"/>
          </a:p>
        </p:txBody>
      </p:sp>
      <p:sp>
        <p:nvSpPr>
          <p:cNvPr id="10" name="Shape 8"/>
          <p:cNvSpPr/>
          <p:nvPr/>
        </p:nvSpPr>
        <p:spPr>
          <a:xfrm>
            <a:off x="3635417" y="2150578"/>
            <a:ext cx="145528" cy="194037"/>
          </a:xfrm>
          <a:custGeom>
            <a:avLst/>
            <a:gdLst/>
            <a:ahLst/>
            <a:cxnLst/>
            <a:rect l="l" t="t" r="r" b="b"/>
            <a:pathLst>
              <a:path w="145528" h="194037">
                <a:moveTo>
                  <a:pt x="64199" y="190475"/>
                </a:moveTo>
                <a:cubicBezTo>
                  <a:pt x="68936" y="195212"/>
                  <a:pt x="76630" y="195212"/>
                  <a:pt x="81367" y="190475"/>
                </a:cubicBezTo>
                <a:lnTo>
                  <a:pt x="142003" y="129838"/>
                </a:lnTo>
                <a:cubicBezTo>
                  <a:pt x="146741" y="125101"/>
                  <a:pt x="146741" y="117408"/>
                  <a:pt x="142003" y="112670"/>
                </a:cubicBezTo>
                <a:cubicBezTo>
                  <a:pt x="137266" y="107933"/>
                  <a:pt x="129573" y="107933"/>
                  <a:pt x="124836" y="112670"/>
                </a:cubicBezTo>
                <a:lnTo>
                  <a:pt x="84891" y="152615"/>
                </a:lnTo>
                <a:lnTo>
                  <a:pt x="84891" y="12127"/>
                </a:lnTo>
                <a:cubicBezTo>
                  <a:pt x="84891" y="5419"/>
                  <a:pt x="79472" y="0"/>
                  <a:pt x="72764" y="0"/>
                </a:cubicBezTo>
                <a:cubicBezTo>
                  <a:pt x="66056" y="0"/>
                  <a:pt x="60637" y="5419"/>
                  <a:pt x="60637" y="12127"/>
                </a:cubicBezTo>
                <a:lnTo>
                  <a:pt x="60637" y="152615"/>
                </a:lnTo>
                <a:lnTo>
                  <a:pt x="20692" y="112670"/>
                </a:lnTo>
                <a:cubicBezTo>
                  <a:pt x="15955" y="107933"/>
                  <a:pt x="8262" y="107933"/>
                  <a:pt x="3525" y="112670"/>
                </a:cubicBezTo>
                <a:cubicBezTo>
                  <a:pt x="-1213" y="117408"/>
                  <a:pt x="-1213" y="125101"/>
                  <a:pt x="3525" y="129838"/>
                </a:cubicBezTo>
                <a:lnTo>
                  <a:pt x="64161" y="190475"/>
                </a:lnTo>
                <a:close/>
              </a:path>
            </a:pathLst>
          </a:custGeom>
          <a:solidFill>
            <a:srgbClr val="8B0000"/>
          </a:solidFill>
          <a:ln/>
        </p:spPr>
      </p:sp>
      <p:sp>
        <p:nvSpPr>
          <p:cNvPr id="11" name="Shape 9"/>
          <p:cNvSpPr/>
          <p:nvPr/>
        </p:nvSpPr>
        <p:spPr>
          <a:xfrm>
            <a:off x="517432" y="2473973"/>
            <a:ext cx="1034865" cy="582111"/>
          </a:xfrm>
          <a:custGeom>
            <a:avLst/>
            <a:gdLst/>
            <a:ahLst/>
            <a:cxnLst/>
            <a:rect l="l" t="t" r="r" b="b"/>
            <a:pathLst>
              <a:path w="1034865" h="582111">
                <a:moveTo>
                  <a:pt x="0" y="0"/>
                </a:moveTo>
                <a:lnTo>
                  <a:pt x="1034865" y="0"/>
                </a:lnTo>
                <a:lnTo>
                  <a:pt x="1034865" y="582111"/>
                </a:lnTo>
                <a:lnTo>
                  <a:pt x="0" y="582111"/>
                </a:lnTo>
                <a:lnTo>
                  <a:pt x="0" y="0"/>
                </a:lnTo>
                <a:close/>
              </a:path>
            </a:pathLst>
          </a:custGeom>
          <a:solidFill>
            <a:srgbClr val="8B0000"/>
          </a:solidFill>
          <a:ln/>
        </p:spPr>
      </p:sp>
      <p:sp>
        <p:nvSpPr>
          <p:cNvPr id="12" name="Text 10"/>
          <p:cNvSpPr/>
          <p:nvPr/>
        </p:nvSpPr>
        <p:spPr>
          <a:xfrm>
            <a:off x="485093" y="2473973"/>
            <a:ext cx="1099544" cy="582111"/>
          </a:xfrm>
          <a:prstGeom prst="rect">
            <a:avLst/>
          </a:prstGeom>
          <a:noFill/>
          <a:ln/>
        </p:spPr>
        <p:txBody>
          <a:bodyPr wrap="square" lIns="97019" tIns="97019" rIns="97019" bIns="97019" rtlCol="0" anchor="ctr"/>
          <a:lstStyle/>
          <a:p>
            <a:pPr algn="ctr">
              <a:lnSpc>
                <a:spcPct val="130000"/>
              </a:lnSpc>
            </a:pPr>
            <a:r>
              <a:rPr lang="en-US" sz="1019" b="1" dirty="0">
                <a:solidFill>
                  <a:srgbClr val="FFFFFF"/>
                </a:solidFill>
                <a:latin typeface="Sorts Mill Goudy" pitchFamily="34" charset="0"/>
                <a:ea typeface="Sorts Mill Goudy" pitchFamily="34" charset="-122"/>
                <a:cs typeface="Sorts Mill Goudy" pitchFamily="34" charset="-120"/>
              </a:rPr>
              <a:t>BiLSTM Encoder</a:t>
            </a:r>
            <a:endParaRPr lang="en-US" sz="1600" dirty="0"/>
          </a:p>
        </p:txBody>
      </p:sp>
      <p:sp>
        <p:nvSpPr>
          <p:cNvPr id="13" name="Shape 11"/>
          <p:cNvSpPr/>
          <p:nvPr/>
        </p:nvSpPr>
        <p:spPr>
          <a:xfrm>
            <a:off x="1685698" y="2566950"/>
            <a:ext cx="5206663" cy="396159"/>
          </a:xfrm>
          <a:custGeom>
            <a:avLst/>
            <a:gdLst/>
            <a:ahLst/>
            <a:cxnLst/>
            <a:rect l="l" t="t" r="r" b="b"/>
            <a:pathLst>
              <a:path w="5206663" h="396159">
                <a:moveTo>
                  <a:pt x="0" y="0"/>
                </a:moveTo>
                <a:lnTo>
                  <a:pt x="5206663" y="0"/>
                </a:lnTo>
                <a:lnTo>
                  <a:pt x="5206663" y="396159"/>
                </a:lnTo>
                <a:lnTo>
                  <a:pt x="0" y="396159"/>
                </a:lnTo>
                <a:lnTo>
                  <a:pt x="0" y="0"/>
                </a:lnTo>
                <a:close/>
              </a:path>
            </a:pathLst>
          </a:custGeom>
          <a:solidFill>
            <a:srgbClr val="FFFFFF"/>
          </a:solidFill>
          <a:ln w="12700">
            <a:solidFill>
              <a:srgbClr val="E5E7EB"/>
            </a:solidFill>
            <a:prstDash val="solid"/>
          </a:ln>
        </p:spPr>
      </p:sp>
      <p:sp>
        <p:nvSpPr>
          <p:cNvPr id="14" name="Text 12"/>
          <p:cNvSpPr/>
          <p:nvPr/>
        </p:nvSpPr>
        <p:spPr>
          <a:xfrm>
            <a:off x="1681655" y="2562907"/>
            <a:ext cx="5263257" cy="388074"/>
          </a:xfrm>
          <a:prstGeom prst="rect">
            <a:avLst/>
          </a:prstGeom>
          <a:noFill/>
          <a:ln/>
        </p:spPr>
        <p:txBody>
          <a:bodyPr wrap="square" lIns="97019" tIns="97019" rIns="97019" bIns="97019" rtlCol="0" anchor="ctr"/>
          <a:lstStyle/>
          <a:p>
            <a:pPr>
              <a:lnSpc>
                <a:spcPct val="130000"/>
              </a:lnSpc>
            </a:pPr>
            <a:r>
              <a:rPr lang="en-US" sz="1019" dirty="0">
                <a:solidFill>
                  <a:srgbClr val="1F2937"/>
                </a:solidFill>
                <a:latin typeface="Sorts Mill Goudy" pitchFamily="34" charset="0"/>
                <a:ea typeface="Sorts Mill Goudy" pitchFamily="34" charset="-122"/>
                <a:cs typeface="Sorts Mill Goudy" pitchFamily="34" charset="-120"/>
              </a:rPr>
              <a:t>Contextual sequence encoding (128 hidden × 2 directions)</a:t>
            </a:r>
            <a:endParaRPr lang="en-US" sz="1600" dirty="0"/>
          </a:p>
        </p:txBody>
      </p:sp>
      <p:sp>
        <p:nvSpPr>
          <p:cNvPr id="15" name="Shape 13"/>
          <p:cNvSpPr/>
          <p:nvPr/>
        </p:nvSpPr>
        <p:spPr>
          <a:xfrm>
            <a:off x="3635417" y="3185443"/>
            <a:ext cx="145528" cy="194037"/>
          </a:xfrm>
          <a:custGeom>
            <a:avLst/>
            <a:gdLst/>
            <a:ahLst/>
            <a:cxnLst/>
            <a:rect l="l" t="t" r="r" b="b"/>
            <a:pathLst>
              <a:path w="145528" h="194037">
                <a:moveTo>
                  <a:pt x="64199" y="190475"/>
                </a:moveTo>
                <a:cubicBezTo>
                  <a:pt x="68936" y="195212"/>
                  <a:pt x="76630" y="195212"/>
                  <a:pt x="81367" y="190475"/>
                </a:cubicBezTo>
                <a:lnTo>
                  <a:pt x="142003" y="129838"/>
                </a:lnTo>
                <a:cubicBezTo>
                  <a:pt x="146741" y="125101"/>
                  <a:pt x="146741" y="117408"/>
                  <a:pt x="142003" y="112670"/>
                </a:cubicBezTo>
                <a:cubicBezTo>
                  <a:pt x="137266" y="107933"/>
                  <a:pt x="129573" y="107933"/>
                  <a:pt x="124836" y="112670"/>
                </a:cubicBezTo>
                <a:lnTo>
                  <a:pt x="84891" y="152615"/>
                </a:lnTo>
                <a:lnTo>
                  <a:pt x="84891" y="12127"/>
                </a:lnTo>
                <a:cubicBezTo>
                  <a:pt x="84891" y="5419"/>
                  <a:pt x="79472" y="0"/>
                  <a:pt x="72764" y="0"/>
                </a:cubicBezTo>
                <a:cubicBezTo>
                  <a:pt x="66056" y="0"/>
                  <a:pt x="60637" y="5419"/>
                  <a:pt x="60637" y="12127"/>
                </a:cubicBezTo>
                <a:lnTo>
                  <a:pt x="60637" y="152615"/>
                </a:lnTo>
                <a:lnTo>
                  <a:pt x="20692" y="112670"/>
                </a:lnTo>
                <a:cubicBezTo>
                  <a:pt x="15955" y="107933"/>
                  <a:pt x="8262" y="107933"/>
                  <a:pt x="3525" y="112670"/>
                </a:cubicBezTo>
                <a:cubicBezTo>
                  <a:pt x="-1213" y="117408"/>
                  <a:pt x="-1213" y="125101"/>
                  <a:pt x="3525" y="129838"/>
                </a:cubicBezTo>
                <a:lnTo>
                  <a:pt x="64161" y="190475"/>
                </a:lnTo>
                <a:close/>
              </a:path>
            </a:pathLst>
          </a:custGeom>
          <a:solidFill>
            <a:srgbClr val="8B0000"/>
          </a:solidFill>
          <a:ln/>
        </p:spPr>
      </p:sp>
      <p:sp>
        <p:nvSpPr>
          <p:cNvPr id="16" name="Shape 14"/>
          <p:cNvSpPr/>
          <p:nvPr/>
        </p:nvSpPr>
        <p:spPr>
          <a:xfrm>
            <a:off x="517432" y="3516923"/>
            <a:ext cx="1034865" cy="388074"/>
          </a:xfrm>
          <a:custGeom>
            <a:avLst/>
            <a:gdLst/>
            <a:ahLst/>
            <a:cxnLst/>
            <a:rect l="l" t="t" r="r" b="b"/>
            <a:pathLst>
              <a:path w="1034865" h="388074">
                <a:moveTo>
                  <a:pt x="0" y="0"/>
                </a:moveTo>
                <a:lnTo>
                  <a:pt x="1034865" y="0"/>
                </a:lnTo>
                <a:lnTo>
                  <a:pt x="1034865" y="388074"/>
                </a:lnTo>
                <a:lnTo>
                  <a:pt x="0" y="388074"/>
                </a:lnTo>
                <a:lnTo>
                  <a:pt x="0" y="0"/>
                </a:lnTo>
                <a:close/>
              </a:path>
            </a:pathLst>
          </a:custGeom>
          <a:solidFill>
            <a:srgbClr val="6B7280"/>
          </a:solidFill>
          <a:ln/>
        </p:spPr>
      </p:sp>
      <p:sp>
        <p:nvSpPr>
          <p:cNvPr id="17" name="Text 15"/>
          <p:cNvSpPr/>
          <p:nvPr/>
        </p:nvSpPr>
        <p:spPr>
          <a:xfrm>
            <a:off x="485093" y="3516923"/>
            <a:ext cx="1099544" cy="388074"/>
          </a:xfrm>
          <a:prstGeom prst="rect">
            <a:avLst/>
          </a:prstGeom>
          <a:noFill/>
          <a:ln/>
        </p:spPr>
        <p:txBody>
          <a:bodyPr wrap="square" lIns="97019" tIns="97019" rIns="97019" bIns="97019" rtlCol="0" anchor="ctr"/>
          <a:lstStyle/>
          <a:p>
            <a:pPr algn="ctr">
              <a:lnSpc>
                <a:spcPct val="130000"/>
              </a:lnSpc>
            </a:pPr>
            <a:r>
              <a:rPr lang="en-US" sz="1019" b="1" dirty="0">
                <a:solidFill>
                  <a:srgbClr val="FFFFFF"/>
                </a:solidFill>
                <a:latin typeface="Sorts Mill Goudy" pitchFamily="34" charset="0"/>
                <a:ea typeface="Sorts Mill Goudy" pitchFamily="34" charset="-122"/>
                <a:cs typeface="Sorts Mill Goudy" pitchFamily="34" charset="-120"/>
              </a:rPr>
              <a:t>SRL Head</a:t>
            </a:r>
            <a:endParaRPr lang="en-US" sz="1600" dirty="0"/>
          </a:p>
        </p:txBody>
      </p:sp>
      <p:sp>
        <p:nvSpPr>
          <p:cNvPr id="18" name="Shape 16"/>
          <p:cNvSpPr/>
          <p:nvPr/>
        </p:nvSpPr>
        <p:spPr>
          <a:xfrm>
            <a:off x="1685698" y="3512881"/>
            <a:ext cx="5206663" cy="396159"/>
          </a:xfrm>
          <a:custGeom>
            <a:avLst/>
            <a:gdLst/>
            <a:ahLst/>
            <a:cxnLst/>
            <a:rect l="l" t="t" r="r" b="b"/>
            <a:pathLst>
              <a:path w="5206663" h="396159">
                <a:moveTo>
                  <a:pt x="0" y="0"/>
                </a:moveTo>
                <a:lnTo>
                  <a:pt x="5206663" y="0"/>
                </a:lnTo>
                <a:lnTo>
                  <a:pt x="5206663" y="396159"/>
                </a:lnTo>
                <a:lnTo>
                  <a:pt x="0" y="396159"/>
                </a:lnTo>
                <a:lnTo>
                  <a:pt x="0" y="0"/>
                </a:lnTo>
                <a:close/>
              </a:path>
            </a:pathLst>
          </a:custGeom>
          <a:solidFill>
            <a:srgbClr val="FFFFFF"/>
          </a:solidFill>
          <a:ln w="12700">
            <a:solidFill>
              <a:srgbClr val="E5E7EB"/>
            </a:solidFill>
            <a:prstDash val="solid"/>
          </a:ln>
        </p:spPr>
      </p:sp>
      <p:sp>
        <p:nvSpPr>
          <p:cNvPr id="19" name="Text 17"/>
          <p:cNvSpPr/>
          <p:nvPr/>
        </p:nvSpPr>
        <p:spPr>
          <a:xfrm>
            <a:off x="1681655" y="3508838"/>
            <a:ext cx="5263257" cy="388074"/>
          </a:xfrm>
          <a:prstGeom prst="rect">
            <a:avLst/>
          </a:prstGeom>
          <a:noFill/>
          <a:ln/>
        </p:spPr>
        <p:txBody>
          <a:bodyPr wrap="square" lIns="97019" tIns="97019" rIns="97019" bIns="97019" rtlCol="0" anchor="ctr"/>
          <a:lstStyle/>
          <a:p>
            <a:pPr>
              <a:lnSpc>
                <a:spcPct val="130000"/>
              </a:lnSpc>
            </a:pPr>
            <a:r>
              <a:rPr lang="en-US" sz="1019" dirty="0">
                <a:solidFill>
                  <a:srgbClr val="1F2937"/>
                </a:solidFill>
                <a:latin typeface="Sorts Mill Goudy" pitchFamily="34" charset="0"/>
                <a:ea typeface="Sorts Mill Goudy" pitchFamily="34" charset="-122"/>
                <a:cs typeface="Sorts Mill Goudy" pitchFamily="34" charset="-120"/>
              </a:rPr>
              <a:t>BIO role tag prediction for argument spans</a:t>
            </a:r>
            <a:endParaRPr lang="en-US" sz="1600" dirty="0"/>
          </a:p>
        </p:txBody>
      </p:sp>
      <p:sp>
        <p:nvSpPr>
          <p:cNvPr id="20" name="Shape 18"/>
          <p:cNvSpPr/>
          <p:nvPr/>
        </p:nvSpPr>
        <p:spPr>
          <a:xfrm>
            <a:off x="3635417" y="4042440"/>
            <a:ext cx="145528" cy="194037"/>
          </a:xfrm>
          <a:custGeom>
            <a:avLst/>
            <a:gdLst/>
            <a:ahLst/>
            <a:cxnLst/>
            <a:rect l="l" t="t" r="r" b="b"/>
            <a:pathLst>
              <a:path w="145528" h="194037">
                <a:moveTo>
                  <a:pt x="64199" y="190475"/>
                </a:moveTo>
                <a:cubicBezTo>
                  <a:pt x="68936" y="195212"/>
                  <a:pt x="76630" y="195212"/>
                  <a:pt x="81367" y="190475"/>
                </a:cubicBezTo>
                <a:lnTo>
                  <a:pt x="142003" y="129838"/>
                </a:lnTo>
                <a:cubicBezTo>
                  <a:pt x="146741" y="125101"/>
                  <a:pt x="146741" y="117408"/>
                  <a:pt x="142003" y="112670"/>
                </a:cubicBezTo>
                <a:cubicBezTo>
                  <a:pt x="137266" y="107933"/>
                  <a:pt x="129573" y="107933"/>
                  <a:pt x="124836" y="112670"/>
                </a:cubicBezTo>
                <a:lnTo>
                  <a:pt x="84891" y="152615"/>
                </a:lnTo>
                <a:lnTo>
                  <a:pt x="84891" y="12127"/>
                </a:lnTo>
                <a:cubicBezTo>
                  <a:pt x="84891" y="5419"/>
                  <a:pt x="79472" y="0"/>
                  <a:pt x="72764" y="0"/>
                </a:cubicBezTo>
                <a:cubicBezTo>
                  <a:pt x="66056" y="0"/>
                  <a:pt x="60637" y="5419"/>
                  <a:pt x="60637" y="12127"/>
                </a:cubicBezTo>
                <a:lnTo>
                  <a:pt x="60637" y="152615"/>
                </a:lnTo>
                <a:lnTo>
                  <a:pt x="20692" y="112670"/>
                </a:lnTo>
                <a:cubicBezTo>
                  <a:pt x="15955" y="107933"/>
                  <a:pt x="8262" y="107933"/>
                  <a:pt x="3525" y="112670"/>
                </a:cubicBezTo>
                <a:cubicBezTo>
                  <a:pt x="-1213" y="117408"/>
                  <a:pt x="-1213" y="125101"/>
                  <a:pt x="3525" y="129838"/>
                </a:cubicBezTo>
                <a:lnTo>
                  <a:pt x="64161" y="190475"/>
                </a:lnTo>
                <a:close/>
              </a:path>
            </a:pathLst>
          </a:custGeom>
          <a:solidFill>
            <a:srgbClr val="8B0000"/>
          </a:solidFill>
          <a:ln/>
        </p:spPr>
      </p:sp>
      <p:sp>
        <p:nvSpPr>
          <p:cNvPr id="21" name="Shape 19"/>
          <p:cNvSpPr/>
          <p:nvPr/>
        </p:nvSpPr>
        <p:spPr>
          <a:xfrm>
            <a:off x="517432" y="4365836"/>
            <a:ext cx="1034865" cy="582111"/>
          </a:xfrm>
          <a:custGeom>
            <a:avLst/>
            <a:gdLst/>
            <a:ahLst/>
            <a:cxnLst/>
            <a:rect l="l" t="t" r="r" b="b"/>
            <a:pathLst>
              <a:path w="1034865" h="582111">
                <a:moveTo>
                  <a:pt x="0" y="0"/>
                </a:moveTo>
                <a:lnTo>
                  <a:pt x="1034865" y="0"/>
                </a:lnTo>
                <a:lnTo>
                  <a:pt x="1034865" y="582111"/>
                </a:lnTo>
                <a:lnTo>
                  <a:pt x="0" y="582111"/>
                </a:lnTo>
                <a:lnTo>
                  <a:pt x="0" y="0"/>
                </a:lnTo>
                <a:close/>
              </a:path>
            </a:pathLst>
          </a:custGeom>
          <a:solidFill>
            <a:srgbClr val="6B7280"/>
          </a:solidFill>
          <a:ln/>
        </p:spPr>
      </p:sp>
      <p:sp>
        <p:nvSpPr>
          <p:cNvPr id="22" name="Text 20"/>
          <p:cNvSpPr/>
          <p:nvPr/>
        </p:nvSpPr>
        <p:spPr>
          <a:xfrm>
            <a:off x="485093" y="4365836"/>
            <a:ext cx="1099544" cy="582111"/>
          </a:xfrm>
          <a:prstGeom prst="rect">
            <a:avLst/>
          </a:prstGeom>
          <a:noFill/>
          <a:ln/>
        </p:spPr>
        <p:txBody>
          <a:bodyPr wrap="square" lIns="97019" tIns="97019" rIns="97019" bIns="97019" rtlCol="0" anchor="ctr"/>
          <a:lstStyle/>
          <a:p>
            <a:pPr algn="ctr">
              <a:lnSpc>
                <a:spcPct val="130000"/>
              </a:lnSpc>
            </a:pPr>
            <a:r>
              <a:rPr lang="en-US" sz="1019" b="1" dirty="0">
                <a:solidFill>
                  <a:srgbClr val="FFFFFF"/>
                </a:solidFill>
                <a:latin typeface="Sorts Mill Goudy" pitchFamily="34" charset="0"/>
                <a:ea typeface="Sorts Mill Goudy" pitchFamily="34" charset="-122"/>
                <a:cs typeface="Sorts Mill Goudy" pitchFamily="34" charset="-120"/>
              </a:rPr>
              <a:t>Question Encoder</a:t>
            </a:r>
            <a:endParaRPr lang="en-US" sz="1600" dirty="0"/>
          </a:p>
        </p:txBody>
      </p:sp>
      <p:sp>
        <p:nvSpPr>
          <p:cNvPr id="23" name="Shape 21"/>
          <p:cNvSpPr/>
          <p:nvPr/>
        </p:nvSpPr>
        <p:spPr>
          <a:xfrm>
            <a:off x="1685698" y="4458812"/>
            <a:ext cx="5206663" cy="396159"/>
          </a:xfrm>
          <a:custGeom>
            <a:avLst/>
            <a:gdLst/>
            <a:ahLst/>
            <a:cxnLst/>
            <a:rect l="l" t="t" r="r" b="b"/>
            <a:pathLst>
              <a:path w="5206663" h="396159">
                <a:moveTo>
                  <a:pt x="0" y="0"/>
                </a:moveTo>
                <a:lnTo>
                  <a:pt x="5206663" y="0"/>
                </a:lnTo>
                <a:lnTo>
                  <a:pt x="5206663" y="396159"/>
                </a:lnTo>
                <a:lnTo>
                  <a:pt x="0" y="396159"/>
                </a:lnTo>
                <a:lnTo>
                  <a:pt x="0" y="0"/>
                </a:lnTo>
                <a:close/>
              </a:path>
            </a:pathLst>
          </a:custGeom>
          <a:solidFill>
            <a:srgbClr val="FFFFFF"/>
          </a:solidFill>
          <a:ln w="12700">
            <a:solidFill>
              <a:srgbClr val="E5E7EB"/>
            </a:solidFill>
            <a:prstDash val="solid"/>
          </a:ln>
        </p:spPr>
      </p:sp>
      <p:sp>
        <p:nvSpPr>
          <p:cNvPr id="24" name="Text 22"/>
          <p:cNvSpPr/>
          <p:nvPr/>
        </p:nvSpPr>
        <p:spPr>
          <a:xfrm>
            <a:off x="1681655" y="4454769"/>
            <a:ext cx="5263257" cy="388074"/>
          </a:xfrm>
          <a:prstGeom prst="rect">
            <a:avLst/>
          </a:prstGeom>
          <a:noFill/>
          <a:ln/>
        </p:spPr>
        <p:txBody>
          <a:bodyPr wrap="square" lIns="97019" tIns="97019" rIns="97019" bIns="97019" rtlCol="0" anchor="ctr"/>
          <a:lstStyle/>
          <a:p>
            <a:pPr>
              <a:lnSpc>
                <a:spcPct val="130000"/>
              </a:lnSpc>
            </a:pPr>
            <a:r>
              <a:rPr lang="en-US" sz="1019" dirty="0">
                <a:solidFill>
                  <a:srgbClr val="1F2937"/>
                </a:solidFill>
                <a:latin typeface="Sorts Mill Goudy" pitchFamily="34" charset="0"/>
                <a:ea typeface="Sorts Mill Goudy" pitchFamily="34" charset="-122"/>
                <a:cs typeface="Sorts Mill Goudy" pitchFamily="34" charset="-120"/>
              </a:rPr>
              <a:t>Separate BiLSTM for question representation</a:t>
            </a:r>
            <a:endParaRPr lang="en-US" sz="1600" dirty="0"/>
          </a:p>
        </p:txBody>
      </p:sp>
      <p:sp>
        <p:nvSpPr>
          <p:cNvPr id="25" name="Shape 23"/>
          <p:cNvSpPr/>
          <p:nvPr/>
        </p:nvSpPr>
        <p:spPr>
          <a:xfrm>
            <a:off x="3635417" y="5077305"/>
            <a:ext cx="145528" cy="194037"/>
          </a:xfrm>
          <a:custGeom>
            <a:avLst/>
            <a:gdLst/>
            <a:ahLst/>
            <a:cxnLst/>
            <a:rect l="l" t="t" r="r" b="b"/>
            <a:pathLst>
              <a:path w="145528" h="194037">
                <a:moveTo>
                  <a:pt x="64199" y="190475"/>
                </a:moveTo>
                <a:cubicBezTo>
                  <a:pt x="68936" y="195212"/>
                  <a:pt x="76630" y="195212"/>
                  <a:pt x="81367" y="190475"/>
                </a:cubicBezTo>
                <a:lnTo>
                  <a:pt x="142003" y="129838"/>
                </a:lnTo>
                <a:cubicBezTo>
                  <a:pt x="146741" y="125101"/>
                  <a:pt x="146741" y="117408"/>
                  <a:pt x="142003" y="112670"/>
                </a:cubicBezTo>
                <a:cubicBezTo>
                  <a:pt x="137266" y="107933"/>
                  <a:pt x="129573" y="107933"/>
                  <a:pt x="124836" y="112670"/>
                </a:cubicBezTo>
                <a:lnTo>
                  <a:pt x="84891" y="152615"/>
                </a:lnTo>
                <a:lnTo>
                  <a:pt x="84891" y="12127"/>
                </a:lnTo>
                <a:cubicBezTo>
                  <a:pt x="84891" y="5419"/>
                  <a:pt x="79472" y="0"/>
                  <a:pt x="72764" y="0"/>
                </a:cubicBezTo>
                <a:cubicBezTo>
                  <a:pt x="66056" y="0"/>
                  <a:pt x="60637" y="5419"/>
                  <a:pt x="60637" y="12127"/>
                </a:cubicBezTo>
                <a:lnTo>
                  <a:pt x="60637" y="152615"/>
                </a:lnTo>
                <a:lnTo>
                  <a:pt x="20692" y="112670"/>
                </a:lnTo>
                <a:cubicBezTo>
                  <a:pt x="15955" y="107933"/>
                  <a:pt x="8262" y="107933"/>
                  <a:pt x="3525" y="112670"/>
                </a:cubicBezTo>
                <a:cubicBezTo>
                  <a:pt x="-1213" y="117408"/>
                  <a:pt x="-1213" y="125101"/>
                  <a:pt x="3525" y="129838"/>
                </a:cubicBezTo>
                <a:lnTo>
                  <a:pt x="64161" y="190475"/>
                </a:lnTo>
                <a:close/>
              </a:path>
            </a:pathLst>
          </a:custGeom>
          <a:solidFill>
            <a:srgbClr val="8B0000"/>
          </a:solidFill>
          <a:ln/>
        </p:spPr>
      </p:sp>
      <p:sp>
        <p:nvSpPr>
          <p:cNvPr id="26" name="Shape 24"/>
          <p:cNvSpPr/>
          <p:nvPr/>
        </p:nvSpPr>
        <p:spPr>
          <a:xfrm>
            <a:off x="517432" y="5408785"/>
            <a:ext cx="1034865" cy="388074"/>
          </a:xfrm>
          <a:custGeom>
            <a:avLst/>
            <a:gdLst/>
            <a:ahLst/>
            <a:cxnLst/>
            <a:rect l="l" t="t" r="r" b="b"/>
            <a:pathLst>
              <a:path w="1034865" h="388074">
                <a:moveTo>
                  <a:pt x="0" y="0"/>
                </a:moveTo>
                <a:lnTo>
                  <a:pt x="1034865" y="0"/>
                </a:lnTo>
                <a:lnTo>
                  <a:pt x="1034865" y="388074"/>
                </a:lnTo>
                <a:lnTo>
                  <a:pt x="0" y="388074"/>
                </a:lnTo>
                <a:lnTo>
                  <a:pt x="0" y="0"/>
                </a:lnTo>
                <a:close/>
              </a:path>
            </a:pathLst>
          </a:custGeom>
          <a:solidFill>
            <a:srgbClr val="8B0000"/>
          </a:solidFill>
          <a:ln/>
        </p:spPr>
      </p:sp>
      <p:sp>
        <p:nvSpPr>
          <p:cNvPr id="27" name="Text 25"/>
          <p:cNvSpPr/>
          <p:nvPr/>
        </p:nvSpPr>
        <p:spPr>
          <a:xfrm>
            <a:off x="485093" y="5408785"/>
            <a:ext cx="1099544" cy="388074"/>
          </a:xfrm>
          <a:prstGeom prst="rect">
            <a:avLst/>
          </a:prstGeom>
          <a:noFill/>
          <a:ln/>
        </p:spPr>
        <p:txBody>
          <a:bodyPr wrap="square" lIns="97019" tIns="97019" rIns="97019" bIns="97019" rtlCol="0" anchor="ctr"/>
          <a:lstStyle/>
          <a:p>
            <a:pPr algn="ctr">
              <a:lnSpc>
                <a:spcPct val="130000"/>
              </a:lnSpc>
            </a:pPr>
            <a:r>
              <a:rPr lang="en-US" sz="1019" b="1" dirty="0">
                <a:solidFill>
                  <a:srgbClr val="FFFFFF"/>
                </a:solidFill>
                <a:latin typeface="Sorts Mill Goudy" pitchFamily="34" charset="0"/>
                <a:ea typeface="Sorts Mill Goudy" pitchFamily="34" charset="-122"/>
                <a:cs typeface="Sorts Mill Goudy" pitchFamily="34" charset="-120"/>
              </a:rPr>
              <a:t>Span Scorer</a:t>
            </a:r>
            <a:endParaRPr lang="en-US" sz="1600" dirty="0"/>
          </a:p>
        </p:txBody>
      </p:sp>
      <p:sp>
        <p:nvSpPr>
          <p:cNvPr id="28" name="Shape 26"/>
          <p:cNvSpPr/>
          <p:nvPr/>
        </p:nvSpPr>
        <p:spPr>
          <a:xfrm>
            <a:off x="1685698" y="5404743"/>
            <a:ext cx="5206663" cy="396159"/>
          </a:xfrm>
          <a:custGeom>
            <a:avLst/>
            <a:gdLst/>
            <a:ahLst/>
            <a:cxnLst/>
            <a:rect l="l" t="t" r="r" b="b"/>
            <a:pathLst>
              <a:path w="5206663" h="396159">
                <a:moveTo>
                  <a:pt x="0" y="0"/>
                </a:moveTo>
                <a:lnTo>
                  <a:pt x="5206663" y="0"/>
                </a:lnTo>
                <a:lnTo>
                  <a:pt x="5206663" y="396159"/>
                </a:lnTo>
                <a:lnTo>
                  <a:pt x="0" y="396159"/>
                </a:lnTo>
                <a:lnTo>
                  <a:pt x="0" y="0"/>
                </a:lnTo>
                <a:close/>
              </a:path>
            </a:pathLst>
          </a:custGeom>
          <a:solidFill>
            <a:srgbClr val="FFFFFF"/>
          </a:solidFill>
          <a:ln w="12700">
            <a:solidFill>
              <a:srgbClr val="E5E7EB"/>
            </a:solidFill>
            <a:prstDash val="solid"/>
          </a:ln>
        </p:spPr>
      </p:sp>
      <p:sp>
        <p:nvSpPr>
          <p:cNvPr id="29" name="Text 27"/>
          <p:cNvSpPr/>
          <p:nvPr/>
        </p:nvSpPr>
        <p:spPr>
          <a:xfrm>
            <a:off x="1681655" y="5400700"/>
            <a:ext cx="5263257" cy="388074"/>
          </a:xfrm>
          <a:prstGeom prst="rect">
            <a:avLst/>
          </a:prstGeom>
          <a:noFill/>
          <a:ln/>
        </p:spPr>
        <p:txBody>
          <a:bodyPr wrap="square" lIns="97019" tIns="97019" rIns="97019" bIns="97019" rtlCol="0" anchor="ctr"/>
          <a:lstStyle/>
          <a:p>
            <a:pPr>
              <a:lnSpc>
                <a:spcPct val="130000"/>
              </a:lnSpc>
            </a:pPr>
            <a:r>
              <a:rPr lang="en-US" sz="1019" dirty="0">
                <a:solidFill>
                  <a:srgbClr val="1F2937"/>
                </a:solidFill>
                <a:latin typeface="Sorts Mill Goudy" pitchFamily="34" charset="0"/>
                <a:ea typeface="Sorts Mill Goudy" pitchFamily="34" charset="-122"/>
                <a:cs typeface="Sorts Mill Goudy" pitchFamily="34" charset="-120"/>
              </a:rPr>
              <a:t>Question-conditioned start/end position prediction</a:t>
            </a:r>
            <a:endParaRPr lang="en-US" sz="1600" dirty="0"/>
          </a:p>
        </p:txBody>
      </p:sp>
      <p:sp>
        <p:nvSpPr>
          <p:cNvPr id="30" name="Shape 28"/>
          <p:cNvSpPr/>
          <p:nvPr/>
        </p:nvSpPr>
        <p:spPr>
          <a:xfrm>
            <a:off x="3635417" y="5934302"/>
            <a:ext cx="145528" cy="194037"/>
          </a:xfrm>
          <a:custGeom>
            <a:avLst/>
            <a:gdLst/>
            <a:ahLst/>
            <a:cxnLst/>
            <a:rect l="l" t="t" r="r" b="b"/>
            <a:pathLst>
              <a:path w="145528" h="194037">
                <a:moveTo>
                  <a:pt x="64199" y="190475"/>
                </a:moveTo>
                <a:cubicBezTo>
                  <a:pt x="68936" y="195212"/>
                  <a:pt x="76630" y="195212"/>
                  <a:pt x="81367" y="190475"/>
                </a:cubicBezTo>
                <a:lnTo>
                  <a:pt x="142003" y="129838"/>
                </a:lnTo>
                <a:cubicBezTo>
                  <a:pt x="146741" y="125101"/>
                  <a:pt x="146741" y="117408"/>
                  <a:pt x="142003" y="112670"/>
                </a:cubicBezTo>
                <a:cubicBezTo>
                  <a:pt x="137266" y="107933"/>
                  <a:pt x="129573" y="107933"/>
                  <a:pt x="124836" y="112670"/>
                </a:cubicBezTo>
                <a:lnTo>
                  <a:pt x="84891" y="152615"/>
                </a:lnTo>
                <a:lnTo>
                  <a:pt x="84891" y="12127"/>
                </a:lnTo>
                <a:cubicBezTo>
                  <a:pt x="84891" y="5419"/>
                  <a:pt x="79472" y="0"/>
                  <a:pt x="72764" y="0"/>
                </a:cubicBezTo>
                <a:cubicBezTo>
                  <a:pt x="66056" y="0"/>
                  <a:pt x="60637" y="5419"/>
                  <a:pt x="60637" y="12127"/>
                </a:cubicBezTo>
                <a:lnTo>
                  <a:pt x="60637" y="152615"/>
                </a:lnTo>
                <a:lnTo>
                  <a:pt x="20692" y="112670"/>
                </a:lnTo>
                <a:cubicBezTo>
                  <a:pt x="15955" y="107933"/>
                  <a:pt x="8262" y="107933"/>
                  <a:pt x="3525" y="112670"/>
                </a:cubicBezTo>
                <a:cubicBezTo>
                  <a:pt x="-1213" y="117408"/>
                  <a:pt x="-1213" y="125101"/>
                  <a:pt x="3525" y="129838"/>
                </a:cubicBezTo>
                <a:lnTo>
                  <a:pt x="64161" y="190475"/>
                </a:lnTo>
                <a:close/>
              </a:path>
            </a:pathLst>
          </a:custGeom>
          <a:solidFill>
            <a:srgbClr val="8B0000"/>
          </a:solidFill>
          <a:ln/>
        </p:spPr>
      </p:sp>
      <p:sp>
        <p:nvSpPr>
          <p:cNvPr id="31" name="Shape 29"/>
          <p:cNvSpPr/>
          <p:nvPr/>
        </p:nvSpPr>
        <p:spPr>
          <a:xfrm>
            <a:off x="517432" y="6265782"/>
            <a:ext cx="1034865" cy="388074"/>
          </a:xfrm>
          <a:custGeom>
            <a:avLst/>
            <a:gdLst/>
            <a:ahLst/>
            <a:cxnLst/>
            <a:rect l="l" t="t" r="r" b="b"/>
            <a:pathLst>
              <a:path w="1034865" h="388074">
                <a:moveTo>
                  <a:pt x="0" y="0"/>
                </a:moveTo>
                <a:lnTo>
                  <a:pt x="1034865" y="0"/>
                </a:lnTo>
                <a:lnTo>
                  <a:pt x="1034865" y="388074"/>
                </a:lnTo>
                <a:lnTo>
                  <a:pt x="0" y="388074"/>
                </a:lnTo>
                <a:lnTo>
                  <a:pt x="0" y="0"/>
                </a:lnTo>
                <a:close/>
              </a:path>
            </a:pathLst>
          </a:custGeom>
          <a:solidFill>
            <a:srgbClr val="8B0000"/>
          </a:solidFill>
          <a:ln/>
        </p:spPr>
      </p:sp>
      <p:sp>
        <p:nvSpPr>
          <p:cNvPr id="32" name="Text 30"/>
          <p:cNvSpPr/>
          <p:nvPr/>
        </p:nvSpPr>
        <p:spPr>
          <a:xfrm>
            <a:off x="485093" y="6265782"/>
            <a:ext cx="1099544" cy="388074"/>
          </a:xfrm>
          <a:prstGeom prst="rect">
            <a:avLst/>
          </a:prstGeom>
          <a:noFill/>
          <a:ln/>
        </p:spPr>
        <p:txBody>
          <a:bodyPr wrap="square" lIns="97019" tIns="97019" rIns="97019" bIns="97019" rtlCol="0" anchor="ctr"/>
          <a:lstStyle/>
          <a:p>
            <a:pPr algn="ctr">
              <a:lnSpc>
                <a:spcPct val="130000"/>
              </a:lnSpc>
            </a:pPr>
            <a:r>
              <a:rPr lang="en-US" sz="1019" b="1" dirty="0">
                <a:solidFill>
                  <a:srgbClr val="FFFFFF"/>
                </a:solidFill>
                <a:latin typeface="Sorts Mill Goudy" pitchFamily="34" charset="0"/>
                <a:ea typeface="Sorts Mill Goudy" pitchFamily="34" charset="-122"/>
                <a:cs typeface="Sorts Mill Goudy" pitchFamily="34" charset="-120"/>
              </a:rPr>
              <a:t>Matcher</a:t>
            </a:r>
            <a:endParaRPr lang="en-US" sz="1600" dirty="0"/>
          </a:p>
        </p:txBody>
      </p:sp>
      <p:sp>
        <p:nvSpPr>
          <p:cNvPr id="33" name="Shape 31"/>
          <p:cNvSpPr/>
          <p:nvPr/>
        </p:nvSpPr>
        <p:spPr>
          <a:xfrm>
            <a:off x="1685698" y="6261740"/>
            <a:ext cx="5206663" cy="396159"/>
          </a:xfrm>
          <a:custGeom>
            <a:avLst/>
            <a:gdLst/>
            <a:ahLst/>
            <a:cxnLst/>
            <a:rect l="l" t="t" r="r" b="b"/>
            <a:pathLst>
              <a:path w="5206663" h="396159">
                <a:moveTo>
                  <a:pt x="0" y="0"/>
                </a:moveTo>
                <a:lnTo>
                  <a:pt x="5206663" y="0"/>
                </a:lnTo>
                <a:lnTo>
                  <a:pt x="5206663" y="396159"/>
                </a:lnTo>
                <a:lnTo>
                  <a:pt x="0" y="396159"/>
                </a:lnTo>
                <a:lnTo>
                  <a:pt x="0" y="0"/>
                </a:lnTo>
                <a:close/>
              </a:path>
            </a:pathLst>
          </a:custGeom>
          <a:solidFill>
            <a:srgbClr val="FFFFFF"/>
          </a:solidFill>
          <a:ln w="12700">
            <a:solidFill>
              <a:srgbClr val="E5E7EB"/>
            </a:solidFill>
            <a:prstDash val="solid"/>
          </a:ln>
        </p:spPr>
      </p:sp>
      <p:sp>
        <p:nvSpPr>
          <p:cNvPr id="34" name="Text 32"/>
          <p:cNvSpPr/>
          <p:nvPr/>
        </p:nvSpPr>
        <p:spPr>
          <a:xfrm>
            <a:off x="1681655" y="6257698"/>
            <a:ext cx="5263257" cy="388074"/>
          </a:xfrm>
          <a:prstGeom prst="rect">
            <a:avLst/>
          </a:prstGeom>
          <a:noFill/>
          <a:ln/>
        </p:spPr>
        <p:txBody>
          <a:bodyPr wrap="square" lIns="97019" tIns="97019" rIns="97019" bIns="97019" rtlCol="0" anchor="ctr"/>
          <a:lstStyle/>
          <a:p>
            <a:pPr>
              <a:lnSpc>
                <a:spcPct val="130000"/>
              </a:lnSpc>
            </a:pPr>
            <a:r>
              <a:rPr lang="en-US" sz="1019" dirty="0">
                <a:solidFill>
                  <a:srgbClr val="1F2937"/>
                </a:solidFill>
                <a:latin typeface="Sorts Mill Goudy" pitchFamily="34" charset="0"/>
                <a:ea typeface="Sorts Mill Goudy" pitchFamily="34" charset="-122"/>
                <a:cs typeface="Sorts Mill Goudy" pitchFamily="34" charset="-120"/>
              </a:rPr>
              <a:t>Cosine similarity + boundary probabilities → final answer</a:t>
            </a:r>
            <a:endParaRPr lang="en-US" sz="1600" dirty="0"/>
          </a:p>
        </p:txBody>
      </p:sp>
      <p:sp>
        <p:nvSpPr>
          <p:cNvPr id="35" name="Shape 33"/>
          <p:cNvSpPr/>
          <p:nvPr/>
        </p:nvSpPr>
        <p:spPr>
          <a:xfrm>
            <a:off x="7351809" y="1067204"/>
            <a:ext cx="4511363" cy="3557347"/>
          </a:xfrm>
          <a:custGeom>
            <a:avLst/>
            <a:gdLst/>
            <a:ahLst/>
            <a:cxnLst/>
            <a:rect l="l" t="t" r="r" b="b"/>
            <a:pathLst>
              <a:path w="4511363" h="3557347">
                <a:moveTo>
                  <a:pt x="0" y="0"/>
                </a:moveTo>
                <a:lnTo>
                  <a:pt x="4511363" y="0"/>
                </a:lnTo>
                <a:lnTo>
                  <a:pt x="4511363" y="3557347"/>
                </a:lnTo>
                <a:lnTo>
                  <a:pt x="0" y="3557347"/>
                </a:lnTo>
                <a:lnTo>
                  <a:pt x="0" y="0"/>
                </a:lnTo>
                <a:close/>
              </a:path>
            </a:pathLst>
          </a:custGeom>
          <a:solidFill>
            <a:srgbClr val="F9FAFB"/>
          </a:solidFill>
          <a:ln/>
        </p:spPr>
      </p:sp>
      <p:sp>
        <p:nvSpPr>
          <p:cNvPr id="36" name="Text 34"/>
          <p:cNvSpPr/>
          <p:nvPr/>
        </p:nvSpPr>
        <p:spPr>
          <a:xfrm>
            <a:off x="7545846" y="1261241"/>
            <a:ext cx="4204138" cy="226377"/>
          </a:xfrm>
          <a:prstGeom prst="rect">
            <a:avLst/>
          </a:prstGeom>
          <a:noFill/>
          <a:ln/>
        </p:spPr>
        <p:txBody>
          <a:bodyPr wrap="square" lIns="0" tIns="0" rIns="0" bIns="0" rtlCol="0" anchor="ctr"/>
          <a:lstStyle/>
          <a:p>
            <a:pPr>
              <a:lnSpc>
                <a:spcPct val="120000"/>
              </a:lnSpc>
            </a:pPr>
            <a:r>
              <a:rPr lang="en-US" sz="1273" b="1" dirty="0">
                <a:solidFill>
                  <a:srgbClr val="1F2937"/>
                </a:solidFill>
                <a:latin typeface="Sorts Mill Goudy" pitchFamily="34" charset="0"/>
                <a:ea typeface="Sorts Mill Goudy" pitchFamily="34" charset="-122"/>
                <a:cs typeface="Sorts Mill Goudy" pitchFamily="34" charset="-120"/>
              </a:rPr>
              <a:t>Key Design Decisions</a:t>
            </a:r>
            <a:endParaRPr lang="en-US" sz="1600" dirty="0"/>
          </a:p>
        </p:txBody>
      </p:sp>
      <p:sp>
        <p:nvSpPr>
          <p:cNvPr id="37" name="Shape 35"/>
          <p:cNvSpPr/>
          <p:nvPr/>
        </p:nvSpPr>
        <p:spPr>
          <a:xfrm>
            <a:off x="7549889" y="1621019"/>
            <a:ext cx="4115204" cy="622536"/>
          </a:xfrm>
          <a:custGeom>
            <a:avLst/>
            <a:gdLst/>
            <a:ahLst/>
            <a:cxnLst/>
            <a:rect l="l" t="t" r="r" b="b"/>
            <a:pathLst>
              <a:path w="4115204" h="622536">
                <a:moveTo>
                  <a:pt x="0" y="0"/>
                </a:moveTo>
                <a:lnTo>
                  <a:pt x="4115204" y="0"/>
                </a:lnTo>
                <a:lnTo>
                  <a:pt x="4115204" y="622536"/>
                </a:lnTo>
                <a:lnTo>
                  <a:pt x="0" y="622536"/>
                </a:lnTo>
                <a:lnTo>
                  <a:pt x="0" y="0"/>
                </a:lnTo>
                <a:close/>
              </a:path>
            </a:pathLst>
          </a:custGeom>
          <a:solidFill>
            <a:srgbClr val="FFFFFF"/>
          </a:solidFill>
          <a:ln w="12700">
            <a:solidFill>
              <a:srgbClr val="E5E7EB"/>
            </a:solidFill>
            <a:prstDash val="solid"/>
          </a:ln>
        </p:spPr>
      </p:sp>
      <p:sp>
        <p:nvSpPr>
          <p:cNvPr id="38" name="Text 36"/>
          <p:cNvSpPr/>
          <p:nvPr/>
        </p:nvSpPr>
        <p:spPr>
          <a:xfrm>
            <a:off x="7650950" y="1722080"/>
            <a:ext cx="3977761" cy="194037"/>
          </a:xfrm>
          <a:prstGeom prst="rect">
            <a:avLst/>
          </a:prstGeom>
          <a:noFill/>
          <a:ln/>
        </p:spPr>
        <p:txBody>
          <a:bodyPr wrap="square" lIns="0" tIns="0" rIns="0" bIns="0" rtlCol="0" anchor="ctr"/>
          <a:lstStyle/>
          <a:p>
            <a:pPr>
              <a:lnSpc>
                <a:spcPct val="130000"/>
              </a:lnSpc>
            </a:pPr>
            <a:r>
              <a:rPr lang="en-US" sz="1019" b="1" dirty="0">
                <a:solidFill>
                  <a:srgbClr val="1F2937"/>
                </a:solidFill>
                <a:latin typeface="Sorts Mill Goudy" pitchFamily="34" charset="0"/>
                <a:ea typeface="Sorts Mill Goudy" pitchFamily="34" charset="-122"/>
                <a:cs typeface="Sorts Mill Goudy" pitchFamily="34" charset="-120"/>
              </a:rPr>
              <a:t>Dual BiLSTM Encoders</a:t>
            </a:r>
            <a:endParaRPr lang="en-US" sz="1600" dirty="0"/>
          </a:p>
        </p:txBody>
      </p:sp>
      <p:sp>
        <p:nvSpPr>
          <p:cNvPr id="39" name="Text 37"/>
          <p:cNvSpPr/>
          <p:nvPr/>
        </p:nvSpPr>
        <p:spPr>
          <a:xfrm>
            <a:off x="7650950" y="1948456"/>
            <a:ext cx="3977761" cy="194037"/>
          </a:xfrm>
          <a:prstGeom prst="rect">
            <a:avLst/>
          </a:prstGeom>
          <a:noFill/>
          <a:ln/>
        </p:spPr>
        <p:txBody>
          <a:bodyPr wrap="square" lIns="0" tIns="0" rIns="0" bIns="0" rtlCol="0" anchor="ctr"/>
          <a:lstStyle/>
          <a:p>
            <a:pPr>
              <a:lnSpc>
                <a:spcPct val="130000"/>
              </a:lnSpc>
            </a:pPr>
            <a:r>
              <a:rPr lang="en-US" sz="1019" dirty="0">
                <a:solidFill>
                  <a:srgbClr val="6B7280"/>
                </a:solidFill>
                <a:latin typeface="Sorts Mill Goudy" pitchFamily="34" charset="0"/>
                <a:ea typeface="Sorts Mill Goudy" pitchFamily="34" charset="-122"/>
                <a:cs typeface="Sorts Mill Goudy" pitchFamily="34" charset="-120"/>
              </a:rPr>
              <a:t>Separate encoding for context and question enables cross-attention</a:t>
            </a:r>
            <a:endParaRPr lang="en-US" sz="1600" dirty="0"/>
          </a:p>
        </p:txBody>
      </p:sp>
      <p:sp>
        <p:nvSpPr>
          <p:cNvPr id="40" name="Shape 38"/>
          <p:cNvSpPr/>
          <p:nvPr/>
        </p:nvSpPr>
        <p:spPr>
          <a:xfrm>
            <a:off x="7549889" y="2348658"/>
            <a:ext cx="4115204" cy="622536"/>
          </a:xfrm>
          <a:custGeom>
            <a:avLst/>
            <a:gdLst/>
            <a:ahLst/>
            <a:cxnLst/>
            <a:rect l="l" t="t" r="r" b="b"/>
            <a:pathLst>
              <a:path w="4115204" h="622536">
                <a:moveTo>
                  <a:pt x="0" y="0"/>
                </a:moveTo>
                <a:lnTo>
                  <a:pt x="4115204" y="0"/>
                </a:lnTo>
                <a:lnTo>
                  <a:pt x="4115204" y="622536"/>
                </a:lnTo>
                <a:lnTo>
                  <a:pt x="0" y="622536"/>
                </a:lnTo>
                <a:lnTo>
                  <a:pt x="0" y="0"/>
                </a:lnTo>
                <a:close/>
              </a:path>
            </a:pathLst>
          </a:custGeom>
          <a:solidFill>
            <a:srgbClr val="FFFFFF"/>
          </a:solidFill>
          <a:ln w="12700">
            <a:solidFill>
              <a:srgbClr val="E5E7EB"/>
            </a:solidFill>
            <a:prstDash val="solid"/>
          </a:ln>
        </p:spPr>
      </p:sp>
      <p:sp>
        <p:nvSpPr>
          <p:cNvPr id="41" name="Text 39"/>
          <p:cNvSpPr/>
          <p:nvPr/>
        </p:nvSpPr>
        <p:spPr>
          <a:xfrm>
            <a:off x="7650950" y="2449719"/>
            <a:ext cx="3977761" cy="194037"/>
          </a:xfrm>
          <a:prstGeom prst="rect">
            <a:avLst/>
          </a:prstGeom>
          <a:noFill/>
          <a:ln/>
        </p:spPr>
        <p:txBody>
          <a:bodyPr wrap="square" lIns="0" tIns="0" rIns="0" bIns="0" rtlCol="0" anchor="ctr"/>
          <a:lstStyle/>
          <a:p>
            <a:pPr>
              <a:lnSpc>
                <a:spcPct val="130000"/>
              </a:lnSpc>
            </a:pPr>
            <a:r>
              <a:rPr lang="en-US" sz="1019" b="1" dirty="0">
                <a:solidFill>
                  <a:srgbClr val="1F2937"/>
                </a:solidFill>
                <a:latin typeface="Sorts Mill Goudy" pitchFamily="34" charset="0"/>
                <a:ea typeface="Sorts Mill Goudy" pitchFamily="34" charset="-122"/>
                <a:cs typeface="Sorts Mill Goudy" pitchFamily="34" charset="-120"/>
              </a:rPr>
              <a:t>Joint SRL-QA Training</a:t>
            </a:r>
            <a:endParaRPr lang="en-US" sz="1600" dirty="0"/>
          </a:p>
        </p:txBody>
      </p:sp>
      <p:sp>
        <p:nvSpPr>
          <p:cNvPr id="42" name="Text 40"/>
          <p:cNvSpPr/>
          <p:nvPr/>
        </p:nvSpPr>
        <p:spPr>
          <a:xfrm>
            <a:off x="7650950" y="2676095"/>
            <a:ext cx="3977761" cy="194037"/>
          </a:xfrm>
          <a:prstGeom prst="rect">
            <a:avLst/>
          </a:prstGeom>
          <a:noFill/>
          <a:ln/>
        </p:spPr>
        <p:txBody>
          <a:bodyPr wrap="square" lIns="0" tIns="0" rIns="0" bIns="0" rtlCol="0" anchor="ctr"/>
          <a:lstStyle/>
          <a:p>
            <a:pPr>
              <a:lnSpc>
                <a:spcPct val="130000"/>
              </a:lnSpc>
            </a:pPr>
            <a:r>
              <a:rPr lang="en-US" sz="1019" dirty="0">
                <a:solidFill>
                  <a:srgbClr val="6B7280"/>
                </a:solidFill>
                <a:latin typeface="Sorts Mill Goudy" pitchFamily="34" charset="0"/>
                <a:ea typeface="Sorts Mill Goudy" pitchFamily="34" charset="-122"/>
                <a:cs typeface="Sorts Mill Goudy" pitchFamily="34" charset="-120"/>
              </a:rPr>
              <a:t>Multi-task learning with shared encoder</a:t>
            </a:r>
            <a:endParaRPr lang="en-US" sz="1600" dirty="0"/>
          </a:p>
        </p:txBody>
      </p:sp>
      <p:sp>
        <p:nvSpPr>
          <p:cNvPr id="43" name="Shape 41"/>
          <p:cNvSpPr/>
          <p:nvPr/>
        </p:nvSpPr>
        <p:spPr>
          <a:xfrm>
            <a:off x="7549889" y="3076297"/>
            <a:ext cx="4115204" cy="622536"/>
          </a:xfrm>
          <a:custGeom>
            <a:avLst/>
            <a:gdLst/>
            <a:ahLst/>
            <a:cxnLst/>
            <a:rect l="l" t="t" r="r" b="b"/>
            <a:pathLst>
              <a:path w="4115204" h="622536">
                <a:moveTo>
                  <a:pt x="0" y="0"/>
                </a:moveTo>
                <a:lnTo>
                  <a:pt x="4115204" y="0"/>
                </a:lnTo>
                <a:lnTo>
                  <a:pt x="4115204" y="622536"/>
                </a:lnTo>
                <a:lnTo>
                  <a:pt x="0" y="622536"/>
                </a:lnTo>
                <a:lnTo>
                  <a:pt x="0" y="0"/>
                </a:lnTo>
                <a:close/>
              </a:path>
            </a:pathLst>
          </a:custGeom>
          <a:solidFill>
            <a:srgbClr val="FFFFFF"/>
          </a:solidFill>
          <a:ln w="12700">
            <a:solidFill>
              <a:srgbClr val="E5E7EB"/>
            </a:solidFill>
            <a:prstDash val="solid"/>
          </a:ln>
        </p:spPr>
      </p:sp>
      <p:sp>
        <p:nvSpPr>
          <p:cNvPr id="44" name="Text 42"/>
          <p:cNvSpPr/>
          <p:nvPr/>
        </p:nvSpPr>
        <p:spPr>
          <a:xfrm>
            <a:off x="7650950" y="3177358"/>
            <a:ext cx="3977761" cy="194037"/>
          </a:xfrm>
          <a:prstGeom prst="rect">
            <a:avLst/>
          </a:prstGeom>
          <a:noFill/>
          <a:ln/>
        </p:spPr>
        <p:txBody>
          <a:bodyPr wrap="square" lIns="0" tIns="0" rIns="0" bIns="0" rtlCol="0" anchor="ctr"/>
          <a:lstStyle/>
          <a:p>
            <a:pPr>
              <a:lnSpc>
                <a:spcPct val="130000"/>
              </a:lnSpc>
            </a:pPr>
            <a:r>
              <a:rPr lang="en-US" sz="1019" b="1" dirty="0">
                <a:solidFill>
                  <a:srgbClr val="1F2937"/>
                </a:solidFill>
                <a:latin typeface="Sorts Mill Goudy" pitchFamily="34" charset="0"/>
                <a:ea typeface="Sorts Mill Goudy" pitchFamily="34" charset="-122"/>
                <a:cs typeface="Sorts Mill Goudy" pitchFamily="34" charset="-120"/>
              </a:rPr>
              <a:t>Explicit Role Decoding</a:t>
            </a:r>
            <a:endParaRPr lang="en-US" sz="1600" dirty="0"/>
          </a:p>
        </p:txBody>
      </p:sp>
      <p:sp>
        <p:nvSpPr>
          <p:cNvPr id="45" name="Text 43"/>
          <p:cNvSpPr/>
          <p:nvPr/>
        </p:nvSpPr>
        <p:spPr>
          <a:xfrm>
            <a:off x="7650950" y="3403735"/>
            <a:ext cx="3977761" cy="194037"/>
          </a:xfrm>
          <a:prstGeom prst="rect">
            <a:avLst/>
          </a:prstGeom>
          <a:noFill/>
          <a:ln/>
        </p:spPr>
        <p:txBody>
          <a:bodyPr wrap="square" lIns="0" tIns="0" rIns="0" bIns="0" rtlCol="0" anchor="ctr"/>
          <a:lstStyle/>
          <a:p>
            <a:pPr>
              <a:lnSpc>
                <a:spcPct val="130000"/>
              </a:lnSpc>
            </a:pPr>
            <a:r>
              <a:rPr lang="en-US" sz="1019" dirty="0">
                <a:solidFill>
                  <a:srgbClr val="6B7280"/>
                </a:solidFill>
                <a:latin typeface="Sorts Mill Goudy" pitchFamily="34" charset="0"/>
                <a:ea typeface="Sorts Mill Goudy" pitchFamily="34" charset="-122"/>
                <a:cs typeface="Sorts Mill Goudy" pitchFamily="34" charset="-120"/>
              </a:rPr>
              <a:t>BIO tags provide interpretable intermediate representation</a:t>
            </a:r>
            <a:endParaRPr lang="en-US" sz="1600" dirty="0"/>
          </a:p>
        </p:txBody>
      </p:sp>
      <p:sp>
        <p:nvSpPr>
          <p:cNvPr id="46" name="Shape 44"/>
          <p:cNvSpPr/>
          <p:nvPr/>
        </p:nvSpPr>
        <p:spPr>
          <a:xfrm>
            <a:off x="7549889" y="3803936"/>
            <a:ext cx="4115204" cy="622536"/>
          </a:xfrm>
          <a:custGeom>
            <a:avLst/>
            <a:gdLst/>
            <a:ahLst/>
            <a:cxnLst/>
            <a:rect l="l" t="t" r="r" b="b"/>
            <a:pathLst>
              <a:path w="4115204" h="622536">
                <a:moveTo>
                  <a:pt x="0" y="0"/>
                </a:moveTo>
                <a:lnTo>
                  <a:pt x="4115204" y="0"/>
                </a:lnTo>
                <a:lnTo>
                  <a:pt x="4115204" y="622536"/>
                </a:lnTo>
                <a:lnTo>
                  <a:pt x="0" y="622536"/>
                </a:lnTo>
                <a:lnTo>
                  <a:pt x="0" y="0"/>
                </a:lnTo>
                <a:close/>
              </a:path>
            </a:pathLst>
          </a:custGeom>
          <a:solidFill>
            <a:srgbClr val="FFFFFF"/>
          </a:solidFill>
          <a:ln w="12700">
            <a:solidFill>
              <a:srgbClr val="E5E7EB"/>
            </a:solidFill>
            <a:prstDash val="solid"/>
          </a:ln>
        </p:spPr>
      </p:sp>
      <p:sp>
        <p:nvSpPr>
          <p:cNvPr id="47" name="Text 45"/>
          <p:cNvSpPr/>
          <p:nvPr/>
        </p:nvSpPr>
        <p:spPr>
          <a:xfrm>
            <a:off x="7650950" y="3904997"/>
            <a:ext cx="3977761" cy="194037"/>
          </a:xfrm>
          <a:prstGeom prst="rect">
            <a:avLst/>
          </a:prstGeom>
          <a:noFill/>
          <a:ln/>
        </p:spPr>
        <p:txBody>
          <a:bodyPr wrap="square" lIns="0" tIns="0" rIns="0" bIns="0" rtlCol="0" anchor="ctr"/>
          <a:lstStyle/>
          <a:p>
            <a:pPr>
              <a:lnSpc>
                <a:spcPct val="130000"/>
              </a:lnSpc>
            </a:pPr>
            <a:r>
              <a:rPr lang="en-US" sz="1019" b="1" dirty="0">
                <a:solidFill>
                  <a:srgbClr val="1F2937"/>
                </a:solidFill>
                <a:latin typeface="Sorts Mill Goudy" pitchFamily="34" charset="0"/>
                <a:ea typeface="Sorts Mill Goudy" pitchFamily="34" charset="-122"/>
                <a:cs typeface="Sorts Mill Goudy" pitchFamily="34" charset="-120"/>
              </a:rPr>
              <a:t>Compact by Design</a:t>
            </a:r>
            <a:endParaRPr lang="en-US" sz="1600" dirty="0"/>
          </a:p>
        </p:txBody>
      </p:sp>
      <p:sp>
        <p:nvSpPr>
          <p:cNvPr id="48" name="Text 46"/>
          <p:cNvSpPr/>
          <p:nvPr/>
        </p:nvSpPr>
        <p:spPr>
          <a:xfrm>
            <a:off x="7650950" y="4131374"/>
            <a:ext cx="3977761" cy="194037"/>
          </a:xfrm>
          <a:prstGeom prst="rect">
            <a:avLst/>
          </a:prstGeom>
          <a:noFill/>
          <a:ln/>
        </p:spPr>
        <p:txBody>
          <a:bodyPr wrap="square" lIns="0" tIns="0" rIns="0" bIns="0" rtlCol="0" anchor="ctr"/>
          <a:lstStyle/>
          <a:p>
            <a:pPr>
              <a:lnSpc>
                <a:spcPct val="130000"/>
              </a:lnSpc>
            </a:pPr>
            <a:r>
              <a:rPr lang="en-US" sz="1019" dirty="0">
                <a:solidFill>
                  <a:srgbClr val="6B7280"/>
                </a:solidFill>
                <a:latin typeface="Sorts Mill Goudy" pitchFamily="34" charset="0"/>
                <a:ea typeface="Sorts Mill Goudy" pitchFamily="34" charset="-122"/>
                <a:cs typeface="Sorts Mill Goudy" pitchFamily="34" charset="-120"/>
              </a:rPr>
              <a:t>1.78M parameters isolate architectural effects</a:t>
            </a:r>
            <a:endParaRPr lang="en-US" sz="1600" dirty="0"/>
          </a:p>
        </p:txBody>
      </p:sp>
      <p:sp>
        <p:nvSpPr>
          <p:cNvPr id="49" name="Shape 47"/>
          <p:cNvSpPr/>
          <p:nvPr/>
        </p:nvSpPr>
        <p:spPr>
          <a:xfrm>
            <a:off x="7355852" y="4822631"/>
            <a:ext cx="4503279" cy="848912"/>
          </a:xfrm>
          <a:custGeom>
            <a:avLst/>
            <a:gdLst/>
            <a:ahLst/>
            <a:cxnLst/>
            <a:rect l="l" t="t" r="r" b="b"/>
            <a:pathLst>
              <a:path w="4503279" h="848912">
                <a:moveTo>
                  <a:pt x="0" y="0"/>
                </a:moveTo>
                <a:lnTo>
                  <a:pt x="4503279" y="0"/>
                </a:lnTo>
                <a:lnTo>
                  <a:pt x="4503279" y="848912"/>
                </a:lnTo>
                <a:lnTo>
                  <a:pt x="0" y="848912"/>
                </a:lnTo>
                <a:lnTo>
                  <a:pt x="0" y="0"/>
                </a:lnTo>
                <a:close/>
              </a:path>
            </a:pathLst>
          </a:custGeom>
          <a:solidFill>
            <a:srgbClr val="8B0000">
              <a:alpha val="5098"/>
            </a:srgbClr>
          </a:solidFill>
          <a:ln w="12700">
            <a:solidFill>
              <a:srgbClr val="8B0000">
                <a:alpha val="20000"/>
              </a:srgbClr>
            </a:solidFill>
            <a:prstDash val="solid"/>
          </a:ln>
        </p:spPr>
      </p:sp>
      <p:sp>
        <p:nvSpPr>
          <p:cNvPr id="50" name="Text 48"/>
          <p:cNvSpPr/>
          <p:nvPr/>
        </p:nvSpPr>
        <p:spPr>
          <a:xfrm>
            <a:off x="7489252" y="4956032"/>
            <a:ext cx="4301156" cy="582111"/>
          </a:xfrm>
          <a:prstGeom prst="rect">
            <a:avLst/>
          </a:prstGeom>
          <a:noFill/>
          <a:ln/>
        </p:spPr>
        <p:txBody>
          <a:bodyPr wrap="square" lIns="0" tIns="0" rIns="0" bIns="0" rtlCol="0" anchor="ctr"/>
          <a:lstStyle/>
          <a:p>
            <a:pPr>
              <a:lnSpc>
                <a:spcPct val="130000"/>
              </a:lnSpc>
            </a:pPr>
            <a:r>
              <a:rPr lang="en-US" sz="1019" b="1" dirty="0">
                <a:solidFill>
                  <a:srgbClr val="1F2937"/>
                </a:solidFill>
                <a:latin typeface="Sorts Mill Goudy" pitchFamily="34" charset="0"/>
                <a:ea typeface="Sorts Mill Goudy" pitchFamily="34" charset="-122"/>
                <a:cs typeface="Sorts Mill Goudy" pitchFamily="34" charset="-120"/>
              </a:rPr>
              <a:t>Critical Feature:</a:t>
            </a:r>
            <a:r>
              <a:rPr lang="en-US" sz="1019" dirty="0">
                <a:solidFill>
                  <a:srgbClr val="1F2937"/>
                </a:solidFill>
                <a:latin typeface="Sorts Mill Goudy" pitchFamily="34" charset="0"/>
                <a:ea typeface="Sorts Mill Goudy" pitchFamily="34" charset="-122"/>
                <a:cs typeface="Sorts Mill Goudy" pitchFamily="34" charset="-120"/>
              </a:rPr>
              <a:t> The architecture preserves a clear connection between role structure and answer extraction—answers remain tied to explicit semantic slots.</a:t>
            </a:r>
            <a:endParaRPr lang="en-US" sz="1600" dirty="0"/>
          </a:p>
        </p:txBody>
      </p:sp>
    </p:spTree>
    <p:extLst>
      <p:ext uri="{BB962C8B-B14F-4D97-AF65-F5344CB8AC3E}">
        <p14:creationId xmlns:p14="http://schemas.microsoft.com/office/powerpoint/2010/main" val="2327192434"/>
      </p:ext>
    </p:extLst>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67783" y="367783"/>
            <a:ext cx="11520796" cy="183891"/>
          </a:xfrm>
          <a:prstGeom prst="rect">
            <a:avLst/>
          </a:prstGeom>
          <a:noFill/>
          <a:ln/>
        </p:spPr>
        <p:txBody>
          <a:bodyPr wrap="square" lIns="0" tIns="0" rIns="0" bIns="0" rtlCol="0" anchor="ctr"/>
          <a:lstStyle/>
          <a:p>
            <a:pPr>
              <a:lnSpc>
                <a:spcPct val="120000"/>
              </a:lnSpc>
            </a:pPr>
            <a:r>
              <a:rPr lang="en-US" sz="1014" b="1" kern="0" spc="51" dirty="0">
                <a:solidFill>
                  <a:srgbClr val="8B0000"/>
                </a:solidFill>
                <a:latin typeface="Sorts Mill Goudy" pitchFamily="34" charset="0"/>
                <a:ea typeface="Sorts Mill Goudy" pitchFamily="34" charset="-122"/>
                <a:cs typeface="Sorts Mill Goudy" pitchFamily="34" charset="-120"/>
              </a:rPr>
              <a:t>4.2 SYSTEM ARCHITECTURE</a:t>
            </a:r>
            <a:endParaRPr lang="en-US" sz="1600" dirty="0"/>
          </a:p>
        </p:txBody>
      </p:sp>
      <p:sp>
        <p:nvSpPr>
          <p:cNvPr id="3" name="Text 1"/>
          <p:cNvSpPr/>
          <p:nvPr/>
        </p:nvSpPr>
        <p:spPr>
          <a:xfrm>
            <a:off x="367783" y="625231"/>
            <a:ext cx="11621937" cy="367783"/>
          </a:xfrm>
          <a:prstGeom prst="rect">
            <a:avLst/>
          </a:prstGeom>
          <a:noFill/>
          <a:ln/>
        </p:spPr>
        <p:txBody>
          <a:bodyPr wrap="square" lIns="0" tIns="0" rIns="0" bIns="0" rtlCol="0" anchor="ctr"/>
          <a:lstStyle/>
          <a:p>
            <a:pPr>
              <a:lnSpc>
                <a:spcPct val="90000"/>
              </a:lnSpc>
            </a:pPr>
            <a:r>
              <a:rPr lang="en-US" sz="2606" b="1" dirty="0">
                <a:solidFill>
                  <a:srgbClr val="1F2937"/>
                </a:solidFill>
                <a:latin typeface="Sorts Mill Goudy" pitchFamily="34" charset="0"/>
                <a:ea typeface="Sorts Mill Goudy" pitchFamily="34" charset="-122"/>
                <a:cs typeface="Sorts Mill Goudy" pitchFamily="34" charset="-120"/>
              </a:rPr>
              <a:t>Training and Inference Pipeline</a:t>
            </a:r>
            <a:endParaRPr lang="en-US" sz="1600" dirty="0"/>
          </a:p>
        </p:txBody>
      </p:sp>
      <p:sp>
        <p:nvSpPr>
          <p:cNvPr id="4" name="Shape 2"/>
          <p:cNvSpPr/>
          <p:nvPr/>
        </p:nvSpPr>
        <p:spPr>
          <a:xfrm>
            <a:off x="386172" y="1213683"/>
            <a:ext cx="5562715" cy="2758371"/>
          </a:xfrm>
          <a:custGeom>
            <a:avLst/>
            <a:gdLst/>
            <a:ahLst/>
            <a:cxnLst/>
            <a:rect l="l" t="t" r="r" b="b"/>
            <a:pathLst>
              <a:path w="5562715" h="2758371">
                <a:moveTo>
                  <a:pt x="0" y="0"/>
                </a:moveTo>
                <a:lnTo>
                  <a:pt x="5562715" y="0"/>
                </a:lnTo>
                <a:lnTo>
                  <a:pt x="5562715" y="2758371"/>
                </a:lnTo>
                <a:lnTo>
                  <a:pt x="0" y="2758371"/>
                </a:lnTo>
                <a:lnTo>
                  <a:pt x="0" y="0"/>
                </a:lnTo>
                <a:close/>
              </a:path>
            </a:pathLst>
          </a:custGeom>
          <a:solidFill>
            <a:srgbClr val="F9FAFB"/>
          </a:solidFill>
          <a:ln/>
        </p:spPr>
      </p:sp>
      <p:sp>
        <p:nvSpPr>
          <p:cNvPr id="5" name="Shape 3"/>
          <p:cNvSpPr/>
          <p:nvPr/>
        </p:nvSpPr>
        <p:spPr>
          <a:xfrm>
            <a:off x="386172" y="1213683"/>
            <a:ext cx="36778" cy="2758371"/>
          </a:xfrm>
          <a:custGeom>
            <a:avLst/>
            <a:gdLst/>
            <a:ahLst/>
            <a:cxnLst/>
            <a:rect l="l" t="t" r="r" b="b"/>
            <a:pathLst>
              <a:path w="36778" h="2758371">
                <a:moveTo>
                  <a:pt x="0" y="0"/>
                </a:moveTo>
                <a:lnTo>
                  <a:pt x="36778" y="0"/>
                </a:lnTo>
                <a:lnTo>
                  <a:pt x="36778" y="2758371"/>
                </a:lnTo>
                <a:lnTo>
                  <a:pt x="0" y="2758371"/>
                </a:lnTo>
                <a:lnTo>
                  <a:pt x="0" y="0"/>
                </a:lnTo>
                <a:close/>
              </a:path>
            </a:pathLst>
          </a:custGeom>
          <a:solidFill>
            <a:srgbClr val="8B0000"/>
          </a:solidFill>
          <a:ln/>
        </p:spPr>
      </p:sp>
      <p:sp>
        <p:nvSpPr>
          <p:cNvPr id="6" name="Text 4"/>
          <p:cNvSpPr/>
          <p:nvPr/>
        </p:nvSpPr>
        <p:spPr>
          <a:xfrm>
            <a:off x="625231" y="1434353"/>
            <a:ext cx="5194932" cy="257448"/>
          </a:xfrm>
          <a:prstGeom prst="rect">
            <a:avLst/>
          </a:prstGeom>
          <a:noFill/>
          <a:ln/>
        </p:spPr>
        <p:txBody>
          <a:bodyPr wrap="square" lIns="0" tIns="0" rIns="0" bIns="0" rtlCol="0" anchor="ctr"/>
          <a:lstStyle/>
          <a:p>
            <a:pPr>
              <a:lnSpc>
                <a:spcPct val="120000"/>
              </a:lnSpc>
            </a:pPr>
            <a:r>
              <a:rPr lang="en-US" sz="1448" b="1" dirty="0">
                <a:solidFill>
                  <a:srgbClr val="1F2937"/>
                </a:solidFill>
                <a:latin typeface="Sorts Mill Goudy" pitchFamily="34" charset="0"/>
                <a:ea typeface="Sorts Mill Goudy" pitchFamily="34" charset="-122"/>
                <a:cs typeface="Sorts Mill Goudy" pitchFamily="34" charset="-120"/>
              </a:rPr>
              <a:t>Training Objective</a:t>
            </a:r>
            <a:endParaRPr lang="en-US" sz="1600" dirty="0"/>
          </a:p>
        </p:txBody>
      </p:sp>
      <p:sp>
        <p:nvSpPr>
          <p:cNvPr id="7" name="Text 5"/>
          <p:cNvSpPr/>
          <p:nvPr/>
        </p:nvSpPr>
        <p:spPr>
          <a:xfrm>
            <a:off x="625231" y="1838914"/>
            <a:ext cx="5176543" cy="239059"/>
          </a:xfrm>
          <a:prstGeom prst="rect">
            <a:avLst/>
          </a:prstGeom>
          <a:noFill/>
          <a:ln/>
        </p:spPr>
        <p:txBody>
          <a:bodyPr wrap="square" lIns="0" tIns="0" rIns="0" bIns="0" rtlCol="0" anchor="ctr"/>
          <a:lstStyle/>
          <a:p>
            <a:pPr>
              <a:lnSpc>
                <a:spcPct val="140000"/>
              </a:lnSpc>
            </a:pPr>
            <a:r>
              <a:rPr lang="en-US" sz="1158" dirty="0">
                <a:solidFill>
                  <a:srgbClr val="1F2937"/>
                </a:solidFill>
                <a:latin typeface="Sorts Mill Goudy" pitchFamily="34" charset="0"/>
                <a:ea typeface="Sorts Mill Goudy" pitchFamily="34" charset="-122"/>
                <a:cs typeface="Sorts Mill Goudy" pitchFamily="34" charset="-120"/>
              </a:rPr>
              <a:t>Training minimizes a </a:t>
            </a:r>
            <a:r>
              <a:rPr lang="en-US" sz="1158" b="1" dirty="0">
                <a:solidFill>
                  <a:srgbClr val="1F2937"/>
                </a:solidFill>
                <a:latin typeface="Sorts Mill Goudy" pitchFamily="34" charset="0"/>
                <a:ea typeface="Sorts Mill Goudy" pitchFamily="34" charset="-122"/>
                <a:cs typeface="Sorts Mill Goudy" pitchFamily="34" charset="-120"/>
              </a:rPr>
              <a:t>convex combination</a:t>
            </a:r>
            <a:r>
              <a:rPr lang="en-US" sz="1158" dirty="0">
                <a:solidFill>
                  <a:srgbClr val="1F2937"/>
                </a:solidFill>
                <a:latin typeface="Sorts Mill Goudy" pitchFamily="34" charset="0"/>
                <a:ea typeface="Sorts Mill Goudy" pitchFamily="34" charset="-122"/>
                <a:cs typeface="Sorts Mill Goudy" pitchFamily="34" charset="-120"/>
              </a:rPr>
              <a:t> of SRL loss and QA span loss:</a:t>
            </a:r>
            <a:endParaRPr lang="en-US" sz="1600" dirty="0"/>
          </a:p>
        </p:txBody>
      </p:sp>
      <p:sp>
        <p:nvSpPr>
          <p:cNvPr id="8" name="Shape 6"/>
          <p:cNvSpPr/>
          <p:nvPr/>
        </p:nvSpPr>
        <p:spPr>
          <a:xfrm>
            <a:off x="629828" y="2229683"/>
            <a:ext cx="5093792" cy="560869"/>
          </a:xfrm>
          <a:custGeom>
            <a:avLst/>
            <a:gdLst/>
            <a:ahLst/>
            <a:cxnLst/>
            <a:rect l="l" t="t" r="r" b="b"/>
            <a:pathLst>
              <a:path w="5093792" h="560869">
                <a:moveTo>
                  <a:pt x="0" y="0"/>
                </a:moveTo>
                <a:lnTo>
                  <a:pt x="5093792" y="0"/>
                </a:lnTo>
                <a:lnTo>
                  <a:pt x="5093792" y="560869"/>
                </a:lnTo>
                <a:lnTo>
                  <a:pt x="0" y="560869"/>
                </a:lnTo>
                <a:lnTo>
                  <a:pt x="0" y="0"/>
                </a:lnTo>
                <a:close/>
              </a:path>
            </a:pathLst>
          </a:custGeom>
          <a:solidFill>
            <a:srgbClr val="FFFFFF"/>
          </a:solidFill>
          <a:ln w="12700">
            <a:solidFill>
              <a:srgbClr val="E5E7EB"/>
            </a:solidFill>
            <a:prstDash val="solid"/>
          </a:ln>
        </p:spPr>
      </p:sp>
      <p:sp>
        <p:nvSpPr>
          <p:cNvPr id="9" name="Text 7"/>
          <p:cNvSpPr/>
          <p:nvPr/>
        </p:nvSpPr>
        <p:spPr>
          <a:xfrm>
            <a:off x="735566" y="2381394"/>
            <a:ext cx="4882317" cy="257448"/>
          </a:xfrm>
          <a:prstGeom prst="rect">
            <a:avLst/>
          </a:prstGeom>
          <a:noFill/>
          <a:ln/>
        </p:spPr>
        <p:txBody>
          <a:bodyPr wrap="square" lIns="0" tIns="0" rIns="0" bIns="0" rtlCol="0" anchor="ctr"/>
          <a:lstStyle/>
          <a:p>
            <a:pPr algn="ctr">
              <a:lnSpc>
                <a:spcPct val="120000"/>
              </a:lnSpc>
            </a:pPr>
            <a:r>
              <a:rPr lang="en-US" sz="1448" b="1" dirty="0">
                <a:solidFill>
                  <a:srgbClr val="1F2937"/>
                </a:solidFill>
                <a:latin typeface="Sorts Mill Goudy" pitchFamily="34" charset="0"/>
                <a:ea typeface="Sorts Mill Goudy" pitchFamily="34" charset="-122"/>
                <a:cs typeface="Sorts Mill Goudy" pitchFamily="34" charset="-120"/>
              </a:rPr>
              <a:t>L = α · L</a:t>
            </a:r>
            <a:r>
              <a:rPr lang="en-US" sz="1086" b="1" dirty="0">
                <a:solidFill>
                  <a:srgbClr val="1F2937"/>
                </a:solidFill>
                <a:latin typeface="Sorts Mill Goudy" pitchFamily="34" charset="0"/>
                <a:ea typeface="Sorts Mill Goudy" pitchFamily="34" charset="-122"/>
                <a:cs typeface="Sorts Mill Goudy" pitchFamily="34" charset="-120"/>
              </a:rPr>
              <a:t>SRL</a:t>
            </a:r>
            <a:r>
              <a:rPr lang="en-US" sz="1448" b="1" dirty="0">
                <a:solidFill>
                  <a:srgbClr val="1F2937"/>
                </a:solidFill>
                <a:latin typeface="Sorts Mill Goudy" pitchFamily="34" charset="0"/>
                <a:ea typeface="Sorts Mill Goudy" pitchFamily="34" charset="-122"/>
                <a:cs typeface="Sorts Mill Goudy" pitchFamily="34" charset="-120"/>
              </a:rPr>
              <a:t> + (1-α) · L</a:t>
            </a:r>
            <a:r>
              <a:rPr lang="en-US" sz="1086" b="1" dirty="0">
                <a:solidFill>
                  <a:srgbClr val="1F2937"/>
                </a:solidFill>
                <a:latin typeface="Sorts Mill Goudy" pitchFamily="34" charset="0"/>
                <a:ea typeface="Sorts Mill Goudy" pitchFamily="34" charset="-122"/>
                <a:cs typeface="Sorts Mill Goudy" pitchFamily="34" charset="-120"/>
              </a:rPr>
              <a:t>QA</a:t>
            </a:r>
            <a:endParaRPr lang="en-US" sz="1600" dirty="0"/>
          </a:p>
        </p:txBody>
      </p:sp>
      <p:sp>
        <p:nvSpPr>
          <p:cNvPr id="10" name="Text 8"/>
          <p:cNvSpPr/>
          <p:nvPr/>
        </p:nvSpPr>
        <p:spPr>
          <a:xfrm>
            <a:off x="625231" y="2942262"/>
            <a:ext cx="5176543" cy="220670"/>
          </a:xfrm>
          <a:prstGeom prst="rect">
            <a:avLst/>
          </a:prstGeom>
          <a:noFill/>
          <a:ln/>
        </p:spPr>
        <p:txBody>
          <a:bodyPr wrap="square" lIns="0" tIns="0" rIns="0" bIns="0" rtlCol="0" anchor="ctr"/>
          <a:lstStyle/>
          <a:p>
            <a:pPr>
              <a:lnSpc>
                <a:spcPct val="120000"/>
              </a:lnSpc>
            </a:pPr>
            <a:r>
              <a:rPr lang="en-US" sz="1158" b="1" dirty="0">
                <a:solidFill>
                  <a:srgbClr val="1F2937"/>
                </a:solidFill>
                <a:latin typeface="Sorts Mill Goudy" pitchFamily="34" charset="0"/>
                <a:ea typeface="Sorts Mill Goudy" pitchFamily="34" charset="-122"/>
                <a:cs typeface="Sorts Mill Goudy" pitchFamily="34" charset="-120"/>
              </a:rPr>
              <a:t>LSRL:</a:t>
            </a:r>
            <a:r>
              <a:rPr lang="en-US" sz="1158" dirty="0">
                <a:solidFill>
                  <a:srgbClr val="1F2937"/>
                </a:solidFill>
                <a:latin typeface="Sorts Mill Goudy" pitchFamily="34" charset="0"/>
                <a:ea typeface="Sorts Mill Goudy" pitchFamily="34" charset="-122"/>
                <a:cs typeface="Sorts Mill Goudy" pitchFamily="34" charset="-120"/>
              </a:rPr>
              <a:t> Cross-entropy loss for BIO tag prediction</a:t>
            </a:r>
            <a:endParaRPr lang="en-US" sz="1600" dirty="0"/>
          </a:p>
        </p:txBody>
      </p:sp>
      <p:sp>
        <p:nvSpPr>
          <p:cNvPr id="11" name="Text 9"/>
          <p:cNvSpPr/>
          <p:nvPr/>
        </p:nvSpPr>
        <p:spPr>
          <a:xfrm>
            <a:off x="625231" y="3236489"/>
            <a:ext cx="5176543" cy="220670"/>
          </a:xfrm>
          <a:prstGeom prst="rect">
            <a:avLst/>
          </a:prstGeom>
          <a:noFill/>
          <a:ln/>
        </p:spPr>
        <p:txBody>
          <a:bodyPr wrap="square" lIns="0" tIns="0" rIns="0" bIns="0" rtlCol="0" anchor="ctr"/>
          <a:lstStyle/>
          <a:p>
            <a:pPr>
              <a:lnSpc>
                <a:spcPct val="120000"/>
              </a:lnSpc>
            </a:pPr>
            <a:r>
              <a:rPr lang="en-US" sz="1158" b="1" dirty="0">
                <a:solidFill>
                  <a:srgbClr val="1F2937"/>
                </a:solidFill>
                <a:latin typeface="Sorts Mill Goudy" pitchFamily="34" charset="0"/>
                <a:ea typeface="Sorts Mill Goudy" pitchFamily="34" charset="-122"/>
                <a:cs typeface="Sorts Mill Goudy" pitchFamily="34" charset="-120"/>
              </a:rPr>
              <a:t>LQA:</a:t>
            </a:r>
            <a:r>
              <a:rPr lang="en-US" sz="1158" dirty="0">
                <a:solidFill>
                  <a:srgbClr val="1F2937"/>
                </a:solidFill>
                <a:latin typeface="Sorts Mill Goudy" pitchFamily="34" charset="0"/>
                <a:ea typeface="Sorts Mill Goudy" pitchFamily="34" charset="-122"/>
                <a:cs typeface="Sorts Mill Goudy" pitchFamily="34" charset="-120"/>
              </a:rPr>
              <a:t> Span loss for start/end position prediction</a:t>
            </a:r>
            <a:endParaRPr lang="en-US" sz="1600" dirty="0"/>
          </a:p>
        </p:txBody>
      </p:sp>
      <p:sp>
        <p:nvSpPr>
          <p:cNvPr id="12" name="Text 10"/>
          <p:cNvSpPr/>
          <p:nvPr/>
        </p:nvSpPr>
        <p:spPr>
          <a:xfrm>
            <a:off x="625231" y="3530715"/>
            <a:ext cx="5176543" cy="220670"/>
          </a:xfrm>
          <a:prstGeom prst="rect">
            <a:avLst/>
          </a:prstGeom>
          <a:noFill/>
          <a:ln/>
        </p:spPr>
        <p:txBody>
          <a:bodyPr wrap="square" lIns="0" tIns="0" rIns="0" bIns="0" rtlCol="0" anchor="ctr"/>
          <a:lstStyle/>
          <a:p>
            <a:pPr>
              <a:lnSpc>
                <a:spcPct val="120000"/>
              </a:lnSpc>
            </a:pPr>
            <a:r>
              <a:rPr lang="en-US" sz="1158" b="1" dirty="0">
                <a:solidFill>
                  <a:srgbClr val="1F2937"/>
                </a:solidFill>
                <a:latin typeface="Sorts Mill Goudy" pitchFamily="34" charset="0"/>
                <a:ea typeface="Sorts Mill Goudy" pitchFamily="34" charset="-122"/>
                <a:cs typeface="Sorts Mill Goudy" pitchFamily="34" charset="-120"/>
              </a:rPr>
              <a:t>α = 0.50:</a:t>
            </a:r>
            <a:r>
              <a:rPr lang="en-US" sz="1158" dirty="0">
                <a:solidFill>
                  <a:srgbClr val="1F2937"/>
                </a:solidFill>
                <a:latin typeface="Sorts Mill Goudy" pitchFamily="34" charset="0"/>
                <a:ea typeface="Sorts Mill Goudy" pitchFamily="34" charset="-122"/>
                <a:cs typeface="Sorts Mill Goudy" pitchFamily="34" charset="-120"/>
              </a:rPr>
              <a:t> Equal weighting of both objectives</a:t>
            </a:r>
            <a:endParaRPr lang="en-US" sz="1600" dirty="0"/>
          </a:p>
        </p:txBody>
      </p:sp>
      <p:sp>
        <p:nvSpPr>
          <p:cNvPr id="13" name="Shape 11"/>
          <p:cNvSpPr/>
          <p:nvPr/>
        </p:nvSpPr>
        <p:spPr>
          <a:xfrm>
            <a:off x="386172" y="4192724"/>
            <a:ext cx="5562715" cy="2317032"/>
          </a:xfrm>
          <a:custGeom>
            <a:avLst/>
            <a:gdLst/>
            <a:ahLst/>
            <a:cxnLst/>
            <a:rect l="l" t="t" r="r" b="b"/>
            <a:pathLst>
              <a:path w="5562715" h="2317032">
                <a:moveTo>
                  <a:pt x="0" y="0"/>
                </a:moveTo>
                <a:lnTo>
                  <a:pt x="5562715" y="0"/>
                </a:lnTo>
                <a:lnTo>
                  <a:pt x="5562715" y="2317032"/>
                </a:lnTo>
                <a:lnTo>
                  <a:pt x="0" y="2317032"/>
                </a:lnTo>
                <a:lnTo>
                  <a:pt x="0" y="0"/>
                </a:lnTo>
                <a:close/>
              </a:path>
            </a:pathLst>
          </a:custGeom>
          <a:solidFill>
            <a:srgbClr val="F9FAFB"/>
          </a:solidFill>
          <a:ln/>
        </p:spPr>
      </p:sp>
      <p:sp>
        <p:nvSpPr>
          <p:cNvPr id="14" name="Shape 12"/>
          <p:cNvSpPr/>
          <p:nvPr/>
        </p:nvSpPr>
        <p:spPr>
          <a:xfrm>
            <a:off x="386172" y="4192724"/>
            <a:ext cx="36778" cy="2317032"/>
          </a:xfrm>
          <a:custGeom>
            <a:avLst/>
            <a:gdLst/>
            <a:ahLst/>
            <a:cxnLst/>
            <a:rect l="l" t="t" r="r" b="b"/>
            <a:pathLst>
              <a:path w="36778" h="2317032">
                <a:moveTo>
                  <a:pt x="0" y="0"/>
                </a:moveTo>
                <a:lnTo>
                  <a:pt x="36778" y="0"/>
                </a:lnTo>
                <a:lnTo>
                  <a:pt x="36778" y="2317032"/>
                </a:lnTo>
                <a:lnTo>
                  <a:pt x="0" y="2317032"/>
                </a:lnTo>
                <a:lnTo>
                  <a:pt x="0" y="0"/>
                </a:lnTo>
                <a:close/>
              </a:path>
            </a:pathLst>
          </a:custGeom>
          <a:solidFill>
            <a:srgbClr val="8B0000"/>
          </a:solidFill>
          <a:ln/>
        </p:spPr>
      </p:sp>
      <p:sp>
        <p:nvSpPr>
          <p:cNvPr id="15" name="Text 13"/>
          <p:cNvSpPr/>
          <p:nvPr/>
        </p:nvSpPr>
        <p:spPr>
          <a:xfrm>
            <a:off x="625231" y="4413394"/>
            <a:ext cx="5194932" cy="257448"/>
          </a:xfrm>
          <a:prstGeom prst="rect">
            <a:avLst/>
          </a:prstGeom>
          <a:noFill/>
          <a:ln/>
        </p:spPr>
        <p:txBody>
          <a:bodyPr wrap="square" lIns="0" tIns="0" rIns="0" bIns="0" rtlCol="0" anchor="ctr"/>
          <a:lstStyle/>
          <a:p>
            <a:pPr>
              <a:lnSpc>
                <a:spcPct val="120000"/>
              </a:lnSpc>
            </a:pPr>
            <a:r>
              <a:rPr lang="en-US" sz="1448" b="1" dirty="0">
                <a:solidFill>
                  <a:srgbClr val="1F2937"/>
                </a:solidFill>
                <a:latin typeface="Sorts Mill Goudy" pitchFamily="34" charset="0"/>
                <a:ea typeface="Sorts Mill Goudy" pitchFamily="34" charset="-122"/>
                <a:cs typeface="Sorts Mill Goudy" pitchFamily="34" charset="-120"/>
              </a:rPr>
              <a:t>Training Configuration</a:t>
            </a:r>
            <a:endParaRPr lang="en-US" sz="1600" dirty="0"/>
          </a:p>
        </p:txBody>
      </p:sp>
      <p:sp>
        <p:nvSpPr>
          <p:cNvPr id="16" name="Shape 14"/>
          <p:cNvSpPr/>
          <p:nvPr/>
        </p:nvSpPr>
        <p:spPr>
          <a:xfrm>
            <a:off x="629828" y="4822552"/>
            <a:ext cx="2491729" cy="671204"/>
          </a:xfrm>
          <a:custGeom>
            <a:avLst/>
            <a:gdLst/>
            <a:ahLst/>
            <a:cxnLst/>
            <a:rect l="l" t="t" r="r" b="b"/>
            <a:pathLst>
              <a:path w="2491729" h="671204">
                <a:moveTo>
                  <a:pt x="0" y="0"/>
                </a:moveTo>
                <a:lnTo>
                  <a:pt x="2491729" y="0"/>
                </a:lnTo>
                <a:lnTo>
                  <a:pt x="2491729" y="671204"/>
                </a:lnTo>
                <a:lnTo>
                  <a:pt x="0" y="671204"/>
                </a:lnTo>
                <a:lnTo>
                  <a:pt x="0" y="0"/>
                </a:lnTo>
                <a:close/>
              </a:path>
            </a:pathLst>
          </a:custGeom>
          <a:solidFill>
            <a:srgbClr val="FFFFFF"/>
          </a:solidFill>
          <a:ln w="12700">
            <a:solidFill>
              <a:srgbClr val="E5E7EB"/>
            </a:solidFill>
            <a:prstDash val="solid"/>
          </a:ln>
        </p:spPr>
      </p:sp>
      <p:sp>
        <p:nvSpPr>
          <p:cNvPr id="17" name="Text 15"/>
          <p:cNvSpPr/>
          <p:nvPr/>
        </p:nvSpPr>
        <p:spPr>
          <a:xfrm>
            <a:off x="744760" y="4937484"/>
            <a:ext cx="2326226" cy="183891"/>
          </a:xfrm>
          <a:prstGeom prst="rect">
            <a:avLst/>
          </a:prstGeom>
          <a:noFill/>
          <a:ln/>
        </p:spPr>
        <p:txBody>
          <a:bodyPr wrap="square" lIns="0" tIns="0" rIns="0" bIns="0" rtlCol="0" anchor="ctr"/>
          <a:lstStyle/>
          <a:p>
            <a:pPr>
              <a:lnSpc>
                <a:spcPct val="120000"/>
              </a:lnSpc>
            </a:pPr>
            <a:r>
              <a:rPr lang="en-US" sz="1014" dirty="0">
                <a:solidFill>
                  <a:srgbClr val="6B7280"/>
                </a:solidFill>
                <a:latin typeface="Sorts Mill Goudy" pitchFamily="34" charset="0"/>
                <a:ea typeface="Sorts Mill Goudy" pitchFamily="34" charset="-122"/>
                <a:cs typeface="Sorts Mill Goudy" pitchFamily="34" charset="-120"/>
              </a:rPr>
              <a:t>Learning Rate</a:t>
            </a:r>
            <a:endParaRPr lang="en-US" sz="1600" dirty="0"/>
          </a:p>
        </p:txBody>
      </p:sp>
      <p:sp>
        <p:nvSpPr>
          <p:cNvPr id="18" name="Text 16"/>
          <p:cNvSpPr/>
          <p:nvPr/>
        </p:nvSpPr>
        <p:spPr>
          <a:xfrm>
            <a:off x="744760" y="5121376"/>
            <a:ext cx="2344615" cy="257448"/>
          </a:xfrm>
          <a:prstGeom prst="rect">
            <a:avLst/>
          </a:prstGeom>
          <a:noFill/>
          <a:ln/>
        </p:spPr>
        <p:txBody>
          <a:bodyPr wrap="square" lIns="0" tIns="0" rIns="0" bIns="0" rtlCol="0" anchor="ctr"/>
          <a:lstStyle/>
          <a:p>
            <a:pPr>
              <a:lnSpc>
                <a:spcPct val="130000"/>
              </a:lnSpc>
            </a:pPr>
            <a:r>
              <a:rPr lang="en-US" sz="1303" b="1" dirty="0">
                <a:solidFill>
                  <a:srgbClr val="8B0000"/>
                </a:solidFill>
                <a:latin typeface="Sorts Mill Goudy" pitchFamily="34" charset="0"/>
                <a:ea typeface="Sorts Mill Goudy" pitchFamily="34" charset="-122"/>
                <a:cs typeface="Sorts Mill Goudy" pitchFamily="34" charset="-120"/>
              </a:rPr>
              <a:t>0.001</a:t>
            </a:r>
            <a:endParaRPr lang="en-US" sz="1600" dirty="0"/>
          </a:p>
        </p:txBody>
      </p:sp>
      <p:sp>
        <p:nvSpPr>
          <p:cNvPr id="19" name="Shape 17"/>
          <p:cNvSpPr/>
          <p:nvPr/>
        </p:nvSpPr>
        <p:spPr>
          <a:xfrm>
            <a:off x="3236920" y="4822552"/>
            <a:ext cx="2491729" cy="671204"/>
          </a:xfrm>
          <a:custGeom>
            <a:avLst/>
            <a:gdLst/>
            <a:ahLst/>
            <a:cxnLst/>
            <a:rect l="l" t="t" r="r" b="b"/>
            <a:pathLst>
              <a:path w="2491729" h="671204">
                <a:moveTo>
                  <a:pt x="0" y="0"/>
                </a:moveTo>
                <a:lnTo>
                  <a:pt x="2491729" y="0"/>
                </a:lnTo>
                <a:lnTo>
                  <a:pt x="2491729" y="671204"/>
                </a:lnTo>
                <a:lnTo>
                  <a:pt x="0" y="671204"/>
                </a:lnTo>
                <a:lnTo>
                  <a:pt x="0" y="0"/>
                </a:lnTo>
                <a:close/>
              </a:path>
            </a:pathLst>
          </a:custGeom>
          <a:solidFill>
            <a:srgbClr val="FFFFFF"/>
          </a:solidFill>
          <a:ln w="12700">
            <a:solidFill>
              <a:srgbClr val="E5E7EB"/>
            </a:solidFill>
            <a:prstDash val="solid"/>
          </a:ln>
        </p:spPr>
      </p:sp>
      <p:sp>
        <p:nvSpPr>
          <p:cNvPr id="20" name="Text 18"/>
          <p:cNvSpPr/>
          <p:nvPr/>
        </p:nvSpPr>
        <p:spPr>
          <a:xfrm>
            <a:off x="3351852" y="4937484"/>
            <a:ext cx="2326226" cy="183891"/>
          </a:xfrm>
          <a:prstGeom prst="rect">
            <a:avLst/>
          </a:prstGeom>
          <a:noFill/>
          <a:ln/>
        </p:spPr>
        <p:txBody>
          <a:bodyPr wrap="square" lIns="0" tIns="0" rIns="0" bIns="0" rtlCol="0" anchor="ctr"/>
          <a:lstStyle/>
          <a:p>
            <a:pPr>
              <a:lnSpc>
                <a:spcPct val="120000"/>
              </a:lnSpc>
            </a:pPr>
            <a:r>
              <a:rPr lang="en-US" sz="1014" dirty="0">
                <a:solidFill>
                  <a:srgbClr val="6B7280"/>
                </a:solidFill>
                <a:latin typeface="Sorts Mill Goudy" pitchFamily="34" charset="0"/>
                <a:ea typeface="Sorts Mill Goudy" pitchFamily="34" charset="-122"/>
                <a:cs typeface="Sorts Mill Goudy" pitchFamily="34" charset="-120"/>
              </a:rPr>
              <a:t>Batch Size</a:t>
            </a:r>
            <a:endParaRPr lang="en-US" sz="1600" dirty="0"/>
          </a:p>
        </p:txBody>
      </p:sp>
      <p:sp>
        <p:nvSpPr>
          <p:cNvPr id="21" name="Text 19"/>
          <p:cNvSpPr/>
          <p:nvPr/>
        </p:nvSpPr>
        <p:spPr>
          <a:xfrm>
            <a:off x="3351852" y="5121376"/>
            <a:ext cx="2344615" cy="257448"/>
          </a:xfrm>
          <a:prstGeom prst="rect">
            <a:avLst/>
          </a:prstGeom>
          <a:noFill/>
          <a:ln/>
        </p:spPr>
        <p:txBody>
          <a:bodyPr wrap="square" lIns="0" tIns="0" rIns="0" bIns="0" rtlCol="0" anchor="ctr"/>
          <a:lstStyle/>
          <a:p>
            <a:pPr>
              <a:lnSpc>
                <a:spcPct val="130000"/>
              </a:lnSpc>
            </a:pPr>
            <a:r>
              <a:rPr lang="en-US" sz="1303" b="1" dirty="0">
                <a:solidFill>
                  <a:srgbClr val="8B0000"/>
                </a:solidFill>
                <a:latin typeface="Sorts Mill Goudy" pitchFamily="34" charset="0"/>
                <a:ea typeface="Sorts Mill Goudy" pitchFamily="34" charset="-122"/>
                <a:cs typeface="Sorts Mill Goudy" pitchFamily="34" charset="-120"/>
              </a:rPr>
              <a:t>64</a:t>
            </a:r>
            <a:endParaRPr lang="en-US" sz="1600" dirty="0"/>
          </a:p>
        </p:txBody>
      </p:sp>
      <p:sp>
        <p:nvSpPr>
          <p:cNvPr id="22" name="Shape 20"/>
          <p:cNvSpPr/>
          <p:nvPr/>
        </p:nvSpPr>
        <p:spPr>
          <a:xfrm>
            <a:off x="629828" y="5613285"/>
            <a:ext cx="2491729" cy="671204"/>
          </a:xfrm>
          <a:custGeom>
            <a:avLst/>
            <a:gdLst/>
            <a:ahLst/>
            <a:cxnLst/>
            <a:rect l="l" t="t" r="r" b="b"/>
            <a:pathLst>
              <a:path w="2491729" h="671204">
                <a:moveTo>
                  <a:pt x="0" y="0"/>
                </a:moveTo>
                <a:lnTo>
                  <a:pt x="2491729" y="0"/>
                </a:lnTo>
                <a:lnTo>
                  <a:pt x="2491729" y="671204"/>
                </a:lnTo>
                <a:lnTo>
                  <a:pt x="0" y="671204"/>
                </a:lnTo>
                <a:lnTo>
                  <a:pt x="0" y="0"/>
                </a:lnTo>
                <a:close/>
              </a:path>
            </a:pathLst>
          </a:custGeom>
          <a:solidFill>
            <a:srgbClr val="FFFFFF"/>
          </a:solidFill>
          <a:ln w="12700">
            <a:solidFill>
              <a:srgbClr val="E5E7EB"/>
            </a:solidFill>
            <a:prstDash val="solid"/>
          </a:ln>
        </p:spPr>
      </p:sp>
      <p:sp>
        <p:nvSpPr>
          <p:cNvPr id="23" name="Text 21"/>
          <p:cNvSpPr/>
          <p:nvPr/>
        </p:nvSpPr>
        <p:spPr>
          <a:xfrm>
            <a:off x="744760" y="5728217"/>
            <a:ext cx="2326226" cy="183891"/>
          </a:xfrm>
          <a:prstGeom prst="rect">
            <a:avLst/>
          </a:prstGeom>
          <a:noFill/>
          <a:ln/>
        </p:spPr>
        <p:txBody>
          <a:bodyPr wrap="square" lIns="0" tIns="0" rIns="0" bIns="0" rtlCol="0" anchor="ctr"/>
          <a:lstStyle/>
          <a:p>
            <a:pPr>
              <a:lnSpc>
                <a:spcPct val="120000"/>
              </a:lnSpc>
            </a:pPr>
            <a:r>
              <a:rPr lang="en-US" sz="1014" dirty="0">
                <a:solidFill>
                  <a:srgbClr val="6B7280"/>
                </a:solidFill>
                <a:latin typeface="Sorts Mill Goudy" pitchFamily="34" charset="0"/>
                <a:ea typeface="Sorts Mill Goudy" pitchFamily="34" charset="-122"/>
                <a:cs typeface="Sorts Mill Goudy" pitchFamily="34" charset="-120"/>
              </a:rPr>
              <a:t>Dropout</a:t>
            </a:r>
            <a:endParaRPr lang="en-US" sz="1600" dirty="0"/>
          </a:p>
        </p:txBody>
      </p:sp>
      <p:sp>
        <p:nvSpPr>
          <p:cNvPr id="24" name="Text 22"/>
          <p:cNvSpPr/>
          <p:nvPr/>
        </p:nvSpPr>
        <p:spPr>
          <a:xfrm>
            <a:off x="744760" y="5912109"/>
            <a:ext cx="2344615" cy="257448"/>
          </a:xfrm>
          <a:prstGeom prst="rect">
            <a:avLst/>
          </a:prstGeom>
          <a:noFill/>
          <a:ln/>
        </p:spPr>
        <p:txBody>
          <a:bodyPr wrap="square" lIns="0" tIns="0" rIns="0" bIns="0" rtlCol="0" anchor="ctr"/>
          <a:lstStyle/>
          <a:p>
            <a:pPr>
              <a:lnSpc>
                <a:spcPct val="130000"/>
              </a:lnSpc>
            </a:pPr>
            <a:r>
              <a:rPr lang="en-US" sz="1303" b="1" dirty="0">
                <a:solidFill>
                  <a:srgbClr val="8B0000"/>
                </a:solidFill>
                <a:latin typeface="Sorts Mill Goudy" pitchFamily="34" charset="0"/>
                <a:ea typeface="Sorts Mill Goudy" pitchFamily="34" charset="-122"/>
                <a:cs typeface="Sorts Mill Goudy" pitchFamily="34" charset="-120"/>
              </a:rPr>
              <a:t>0.30</a:t>
            </a:r>
            <a:endParaRPr lang="en-US" sz="1600" dirty="0"/>
          </a:p>
        </p:txBody>
      </p:sp>
      <p:sp>
        <p:nvSpPr>
          <p:cNvPr id="25" name="Shape 23"/>
          <p:cNvSpPr/>
          <p:nvPr/>
        </p:nvSpPr>
        <p:spPr>
          <a:xfrm>
            <a:off x="3236920" y="5613285"/>
            <a:ext cx="2491729" cy="671204"/>
          </a:xfrm>
          <a:custGeom>
            <a:avLst/>
            <a:gdLst/>
            <a:ahLst/>
            <a:cxnLst/>
            <a:rect l="l" t="t" r="r" b="b"/>
            <a:pathLst>
              <a:path w="2491729" h="671204">
                <a:moveTo>
                  <a:pt x="0" y="0"/>
                </a:moveTo>
                <a:lnTo>
                  <a:pt x="2491729" y="0"/>
                </a:lnTo>
                <a:lnTo>
                  <a:pt x="2491729" y="671204"/>
                </a:lnTo>
                <a:lnTo>
                  <a:pt x="0" y="671204"/>
                </a:lnTo>
                <a:lnTo>
                  <a:pt x="0" y="0"/>
                </a:lnTo>
                <a:close/>
              </a:path>
            </a:pathLst>
          </a:custGeom>
          <a:solidFill>
            <a:srgbClr val="FFFFFF"/>
          </a:solidFill>
          <a:ln w="12700">
            <a:solidFill>
              <a:srgbClr val="E5E7EB"/>
            </a:solidFill>
            <a:prstDash val="solid"/>
          </a:ln>
        </p:spPr>
      </p:sp>
      <p:sp>
        <p:nvSpPr>
          <p:cNvPr id="26" name="Text 24"/>
          <p:cNvSpPr/>
          <p:nvPr/>
        </p:nvSpPr>
        <p:spPr>
          <a:xfrm>
            <a:off x="3351852" y="5728217"/>
            <a:ext cx="2326226" cy="183891"/>
          </a:xfrm>
          <a:prstGeom prst="rect">
            <a:avLst/>
          </a:prstGeom>
          <a:noFill/>
          <a:ln/>
        </p:spPr>
        <p:txBody>
          <a:bodyPr wrap="square" lIns="0" tIns="0" rIns="0" bIns="0" rtlCol="0" anchor="ctr"/>
          <a:lstStyle/>
          <a:p>
            <a:pPr>
              <a:lnSpc>
                <a:spcPct val="120000"/>
              </a:lnSpc>
            </a:pPr>
            <a:r>
              <a:rPr lang="en-US" sz="1014" dirty="0">
                <a:solidFill>
                  <a:srgbClr val="6B7280"/>
                </a:solidFill>
                <a:latin typeface="Sorts Mill Goudy" pitchFamily="34" charset="0"/>
                <a:ea typeface="Sorts Mill Goudy" pitchFamily="34" charset="-122"/>
                <a:cs typeface="Sorts Mill Goudy" pitchFamily="34" charset="-120"/>
              </a:rPr>
              <a:t>Best Epoch</a:t>
            </a:r>
            <a:endParaRPr lang="en-US" sz="1600" dirty="0"/>
          </a:p>
        </p:txBody>
      </p:sp>
      <p:sp>
        <p:nvSpPr>
          <p:cNvPr id="27" name="Text 25"/>
          <p:cNvSpPr/>
          <p:nvPr/>
        </p:nvSpPr>
        <p:spPr>
          <a:xfrm>
            <a:off x="3351852" y="5912109"/>
            <a:ext cx="2344615" cy="257448"/>
          </a:xfrm>
          <a:prstGeom prst="rect">
            <a:avLst/>
          </a:prstGeom>
          <a:noFill/>
          <a:ln/>
        </p:spPr>
        <p:txBody>
          <a:bodyPr wrap="square" lIns="0" tIns="0" rIns="0" bIns="0" rtlCol="0" anchor="ctr"/>
          <a:lstStyle/>
          <a:p>
            <a:pPr>
              <a:lnSpc>
                <a:spcPct val="130000"/>
              </a:lnSpc>
            </a:pPr>
            <a:r>
              <a:rPr lang="en-US" sz="1303" b="1" dirty="0">
                <a:solidFill>
                  <a:srgbClr val="8B0000"/>
                </a:solidFill>
                <a:latin typeface="Sorts Mill Goudy" pitchFamily="34" charset="0"/>
                <a:ea typeface="Sorts Mill Goudy" pitchFamily="34" charset="-122"/>
                <a:cs typeface="Sorts Mill Goudy" pitchFamily="34" charset="-120"/>
              </a:rPr>
              <a:t>6</a:t>
            </a:r>
            <a:endParaRPr lang="en-US" sz="1600" dirty="0"/>
          </a:p>
        </p:txBody>
      </p:sp>
      <p:sp>
        <p:nvSpPr>
          <p:cNvPr id="28" name="Shape 26"/>
          <p:cNvSpPr/>
          <p:nvPr/>
        </p:nvSpPr>
        <p:spPr>
          <a:xfrm>
            <a:off x="6244119" y="1213683"/>
            <a:ext cx="5581104" cy="4670842"/>
          </a:xfrm>
          <a:custGeom>
            <a:avLst/>
            <a:gdLst/>
            <a:ahLst/>
            <a:cxnLst/>
            <a:rect l="l" t="t" r="r" b="b"/>
            <a:pathLst>
              <a:path w="5581104" h="4670842">
                <a:moveTo>
                  <a:pt x="0" y="0"/>
                </a:moveTo>
                <a:lnTo>
                  <a:pt x="5581104" y="0"/>
                </a:lnTo>
                <a:lnTo>
                  <a:pt x="5581104" y="4670842"/>
                </a:lnTo>
                <a:lnTo>
                  <a:pt x="0" y="4670842"/>
                </a:lnTo>
                <a:lnTo>
                  <a:pt x="0" y="0"/>
                </a:lnTo>
                <a:close/>
              </a:path>
            </a:pathLst>
          </a:custGeom>
          <a:solidFill>
            <a:srgbClr val="F9FAFB"/>
          </a:solidFill>
          <a:ln/>
        </p:spPr>
      </p:sp>
      <p:sp>
        <p:nvSpPr>
          <p:cNvPr id="29" name="Text 27"/>
          <p:cNvSpPr/>
          <p:nvPr/>
        </p:nvSpPr>
        <p:spPr>
          <a:xfrm>
            <a:off x="6464788" y="1434353"/>
            <a:ext cx="5231710" cy="257448"/>
          </a:xfrm>
          <a:prstGeom prst="rect">
            <a:avLst/>
          </a:prstGeom>
          <a:noFill/>
          <a:ln/>
        </p:spPr>
        <p:txBody>
          <a:bodyPr wrap="square" lIns="0" tIns="0" rIns="0" bIns="0" rtlCol="0" anchor="ctr"/>
          <a:lstStyle/>
          <a:p>
            <a:pPr>
              <a:lnSpc>
                <a:spcPct val="120000"/>
              </a:lnSpc>
            </a:pPr>
            <a:r>
              <a:rPr lang="en-US" sz="1448" b="1" dirty="0">
                <a:solidFill>
                  <a:srgbClr val="1F2937"/>
                </a:solidFill>
                <a:latin typeface="Sorts Mill Goudy" pitchFamily="34" charset="0"/>
                <a:ea typeface="Sorts Mill Goudy" pitchFamily="34" charset="-122"/>
                <a:cs typeface="Sorts Mill Goudy" pitchFamily="34" charset="-120"/>
              </a:rPr>
              <a:t>Inference Process</a:t>
            </a:r>
            <a:endParaRPr lang="en-US" sz="1600" dirty="0"/>
          </a:p>
        </p:txBody>
      </p:sp>
      <p:sp>
        <p:nvSpPr>
          <p:cNvPr id="30" name="Shape 28"/>
          <p:cNvSpPr/>
          <p:nvPr/>
        </p:nvSpPr>
        <p:spPr>
          <a:xfrm>
            <a:off x="6464788" y="1838914"/>
            <a:ext cx="367783" cy="367783"/>
          </a:xfrm>
          <a:custGeom>
            <a:avLst/>
            <a:gdLst/>
            <a:ahLst/>
            <a:cxnLst/>
            <a:rect l="l" t="t" r="r" b="b"/>
            <a:pathLst>
              <a:path w="367783" h="367783">
                <a:moveTo>
                  <a:pt x="0" y="0"/>
                </a:moveTo>
                <a:lnTo>
                  <a:pt x="367783" y="0"/>
                </a:lnTo>
                <a:lnTo>
                  <a:pt x="367783" y="367783"/>
                </a:lnTo>
                <a:lnTo>
                  <a:pt x="0" y="367783"/>
                </a:lnTo>
                <a:lnTo>
                  <a:pt x="0" y="0"/>
                </a:lnTo>
                <a:close/>
              </a:path>
            </a:pathLst>
          </a:custGeom>
          <a:solidFill>
            <a:srgbClr val="8B0000"/>
          </a:solidFill>
          <a:ln/>
        </p:spPr>
      </p:sp>
      <p:sp>
        <p:nvSpPr>
          <p:cNvPr id="31" name="Text 29"/>
          <p:cNvSpPr/>
          <p:nvPr/>
        </p:nvSpPr>
        <p:spPr>
          <a:xfrm>
            <a:off x="6428010" y="1838914"/>
            <a:ext cx="441339" cy="367783"/>
          </a:xfrm>
          <a:prstGeom prst="rect">
            <a:avLst/>
          </a:prstGeom>
          <a:noFill/>
          <a:ln/>
        </p:spPr>
        <p:txBody>
          <a:bodyPr wrap="square" lIns="0" tIns="0" rIns="0" bIns="0" rtlCol="0" anchor="ctr"/>
          <a:lstStyle/>
          <a:p>
            <a:pPr algn="ctr">
              <a:lnSpc>
                <a:spcPct val="120000"/>
              </a:lnSpc>
            </a:pPr>
            <a:r>
              <a:rPr lang="en-US" sz="1158" b="1" dirty="0">
                <a:solidFill>
                  <a:srgbClr val="FFFFFF"/>
                </a:solidFill>
                <a:latin typeface="Sorts Mill Goudy" pitchFamily="34" charset="0"/>
                <a:ea typeface="Sorts Mill Goudy" pitchFamily="34" charset="-122"/>
                <a:cs typeface="Sorts Mill Goudy" pitchFamily="34" charset="-120"/>
              </a:rPr>
              <a:t>1</a:t>
            </a:r>
            <a:endParaRPr lang="en-US" sz="1600" dirty="0"/>
          </a:p>
        </p:txBody>
      </p:sp>
      <p:sp>
        <p:nvSpPr>
          <p:cNvPr id="32" name="Shape 30"/>
          <p:cNvSpPr/>
          <p:nvPr/>
        </p:nvSpPr>
        <p:spPr>
          <a:xfrm>
            <a:off x="6984282" y="1843511"/>
            <a:ext cx="4615674" cy="781538"/>
          </a:xfrm>
          <a:custGeom>
            <a:avLst/>
            <a:gdLst/>
            <a:ahLst/>
            <a:cxnLst/>
            <a:rect l="l" t="t" r="r" b="b"/>
            <a:pathLst>
              <a:path w="4615674" h="781538">
                <a:moveTo>
                  <a:pt x="0" y="0"/>
                </a:moveTo>
                <a:lnTo>
                  <a:pt x="4615674" y="0"/>
                </a:lnTo>
                <a:lnTo>
                  <a:pt x="4615674" y="781538"/>
                </a:lnTo>
                <a:lnTo>
                  <a:pt x="0" y="781538"/>
                </a:lnTo>
                <a:lnTo>
                  <a:pt x="0" y="0"/>
                </a:lnTo>
                <a:close/>
              </a:path>
            </a:pathLst>
          </a:custGeom>
          <a:solidFill>
            <a:srgbClr val="FFFFFF"/>
          </a:solidFill>
          <a:ln w="12700">
            <a:solidFill>
              <a:srgbClr val="E5E7EB"/>
            </a:solidFill>
            <a:prstDash val="solid"/>
          </a:ln>
        </p:spPr>
      </p:sp>
      <p:sp>
        <p:nvSpPr>
          <p:cNvPr id="33" name="Text 31"/>
          <p:cNvSpPr/>
          <p:nvPr/>
        </p:nvSpPr>
        <p:spPr>
          <a:xfrm>
            <a:off x="7135992" y="1995222"/>
            <a:ext cx="4385810" cy="220670"/>
          </a:xfrm>
          <a:prstGeom prst="rect">
            <a:avLst/>
          </a:prstGeom>
          <a:noFill/>
          <a:ln/>
        </p:spPr>
        <p:txBody>
          <a:bodyPr wrap="square" lIns="0" tIns="0" rIns="0" bIns="0" rtlCol="0" anchor="ctr"/>
          <a:lstStyle/>
          <a:p>
            <a:pPr>
              <a:lnSpc>
                <a:spcPct val="120000"/>
              </a:lnSpc>
            </a:pPr>
            <a:r>
              <a:rPr lang="en-US" sz="1158" b="1" dirty="0">
                <a:solidFill>
                  <a:srgbClr val="1F2937"/>
                </a:solidFill>
                <a:latin typeface="Sorts Mill Goudy" pitchFamily="34" charset="0"/>
                <a:ea typeface="Sorts Mill Goudy" pitchFamily="34" charset="-122"/>
                <a:cs typeface="Sorts Mill Goudy" pitchFamily="34" charset="-120"/>
              </a:rPr>
              <a:t>Decode Role Spans</a:t>
            </a:r>
            <a:endParaRPr lang="en-US" sz="1600" dirty="0"/>
          </a:p>
        </p:txBody>
      </p:sp>
      <p:sp>
        <p:nvSpPr>
          <p:cNvPr id="34" name="Text 32"/>
          <p:cNvSpPr/>
          <p:nvPr/>
        </p:nvSpPr>
        <p:spPr>
          <a:xfrm>
            <a:off x="7135992" y="2252670"/>
            <a:ext cx="4385810" cy="220670"/>
          </a:xfrm>
          <a:prstGeom prst="rect">
            <a:avLst/>
          </a:prstGeom>
          <a:noFill/>
          <a:ln/>
        </p:spPr>
        <p:txBody>
          <a:bodyPr wrap="square" lIns="0" tIns="0" rIns="0" bIns="0" rtlCol="0" anchor="ctr"/>
          <a:lstStyle/>
          <a:p>
            <a:pPr>
              <a:lnSpc>
                <a:spcPct val="120000"/>
              </a:lnSpc>
            </a:pPr>
            <a:r>
              <a:rPr lang="en-US" sz="1158" dirty="0">
                <a:solidFill>
                  <a:srgbClr val="6B7280"/>
                </a:solidFill>
                <a:latin typeface="Sorts Mill Goudy" pitchFamily="34" charset="0"/>
                <a:ea typeface="Sorts Mill Goudy" pitchFamily="34" charset="-122"/>
                <a:cs typeface="Sorts Mill Goudy" pitchFamily="34" charset="-120"/>
              </a:rPr>
              <a:t>Extract candidate argument spans from BIO predictions</a:t>
            </a:r>
            <a:endParaRPr lang="en-US" sz="1600" dirty="0"/>
          </a:p>
        </p:txBody>
      </p:sp>
      <p:sp>
        <p:nvSpPr>
          <p:cNvPr id="35" name="Shape 33"/>
          <p:cNvSpPr/>
          <p:nvPr/>
        </p:nvSpPr>
        <p:spPr>
          <a:xfrm>
            <a:off x="6464788" y="2776760"/>
            <a:ext cx="367783" cy="367783"/>
          </a:xfrm>
          <a:custGeom>
            <a:avLst/>
            <a:gdLst/>
            <a:ahLst/>
            <a:cxnLst/>
            <a:rect l="l" t="t" r="r" b="b"/>
            <a:pathLst>
              <a:path w="367783" h="367783">
                <a:moveTo>
                  <a:pt x="0" y="0"/>
                </a:moveTo>
                <a:lnTo>
                  <a:pt x="367783" y="0"/>
                </a:lnTo>
                <a:lnTo>
                  <a:pt x="367783" y="367783"/>
                </a:lnTo>
                <a:lnTo>
                  <a:pt x="0" y="367783"/>
                </a:lnTo>
                <a:lnTo>
                  <a:pt x="0" y="0"/>
                </a:lnTo>
                <a:close/>
              </a:path>
            </a:pathLst>
          </a:custGeom>
          <a:solidFill>
            <a:srgbClr val="8B0000"/>
          </a:solidFill>
          <a:ln/>
        </p:spPr>
      </p:sp>
      <p:sp>
        <p:nvSpPr>
          <p:cNvPr id="36" name="Text 34"/>
          <p:cNvSpPr/>
          <p:nvPr/>
        </p:nvSpPr>
        <p:spPr>
          <a:xfrm>
            <a:off x="6428010" y="2776760"/>
            <a:ext cx="441339" cy="367783"/>
          </a:xfrm>
          <a:prstGeom prst="rect">
            <a:avLst/>
          </a:prstGeom>
          <a:noFill/>
          <a:ln/>
        </p:spPr>
        <p:txBody>
          <a:bodyPr wrap="square" lIns="0" tIns="0" rIns="0" bIns="0" rtlCol="0" anchor="ctr"/>
          <a:lstStyle/>
          <a:p>
            <a:pPr algn="ctr">
              <a:lnSpc>
                <a:spcPct val="120000"/>
              </a:lnSpc>
            </a:pPr>
            <a:r>
              <a:rPr lang="en-US" sz="1158" b="1" dirty="0">
                <a:solidFill>
                  <a:srgbClr val="FFFFFF"/>
                </a:solidFill>
                <a:latin typeface="Sorts Mill Goudy" pitchFamily="34" charset="0"/>
                <a:ea typeface="Sorts Mill Goudy" pitchFamily="34" charset="-122"/>
                <a:cs typeface="Sorts Mill Goudy" pitchFamily="34" charset="-120"/>
              </a:rPr>
              <a:t>2</a:t>
            </a:r>
            <a:endParaRPr lang="en-US" sz="1600" dirty="0"/>
          </a:p>
        </p:txBody>
      </p:sp>
      <p:sp>
        <p:nvSpPr>
          <p:cNvPr id="37" name="Shape 35"/>
          <p:cNvSpPr/>
          <p:nvPr/>
        </p:nvSpPr>
        <p:spPr>
          <a:xfrm>
            <a:off x="6984282" y="2781357"/>
            <a:ext cx="4615674" cy="1002208"/>
          </a:xfrm>
          <a:custGeom>
            <a:avLst/>
            <a:gdLst/>
            <a:ahLst/>
            <a:cxnLst/>
            <a:rect l="l" t="t" r="r" b="b"/>
            <a:pathLst>
              <a:path w="4615674" h="1002208">
                <a:moveTo>
                  <a:pt x="0" y="0"/>
                </a:moveTo>
                <a:lnTo>
                  <a:pt x="4615674" y="0"/>
                </a:lnTo>
                <a:lnTo>
                  <a:pt x="4615674" y="1002208"/>
                </a:lnTo>
                <a:lnTo>
                  <a:pt x="0" y="1002208"/>
                </a:lnTo>
                <a:lnTo>
                  <a:pt x="0" y="0"/>
                </a:lnTo>
                <a:close/>
              </a:path>
            </a:pathLst>
          </a:custGeom>
          <a:solidFill>
            <a:srgbClr val="FFFFFF"/>
          </a:solidFill>
          <a:ln w="12700">
            <a:solidFill>
              <a:srgbClr val="E5E7EB"/>
            </a:solidFill>
            <a:prstDash val="solid"/>
          </a:ln>
        </p:spPr>
      </p:sp>
      <p:sp>
        <p:nvSpPr>
          <p:cNvPr id="38" name="Text 36"/>
          <p:cNvSpPr/>
          <p:nvPr/>
        </p:nvSpPr>
        <p:spPr>
          <a:xfrm>
            <a:off x="7135992" y="2933068"/>
            <a:ext cx="4385810" cy="220670"/>
          </a:xfrm>
          <a:prstGeom prst="rect">
            <a:avLst/>
          </a:prstGeom>
          <a:noFill/>
          <a:ln/>
        </p:spPr>
        <p:txBody>
          <a:bodyPr wrap="square" lIns="0" tIns="0" rIns="0" bIns="0" rtlCol="0" anchor="ctr"/>
          <a:lstStyle/>
          <a:p>
            <a:pPr>
              <a:lnSpc>
                <a:spcPct val="120000"/>
              </a:lnSpc>
            </a:pPr>
            <a:r>
              <a:rPr lang="en-US" sz="1158" b="1" dirty="0">
                <a:solidFill>
                  <a:srgbClr val="1F2937"/>
                </a:solidFill>
                <a:latin typeface="Sorts Mill Goudy" pitchFamily="34" charset="0"/>
                <a:ea typeface="Sorts Mill Goudy" pitchFamily="34" charset="-122"/>
                <a:cs typeface="Sorts Mill Goudy" pitchFamily="34" charset="-120"/>
              </a:rPr>
              <a:t>Compute Similarity</a:t>
            </a:r>
            <a:endParaRPr lang="en-US" sz="1600" dirty="0"/>
          </a:p>
        </p:txBody>
      </p:sp>
      <p:sp>
        <p:nvSpPr>
          <p:cNvPr id="39" name="Text 37"/>
          <p:cNvSpPr/>
          <p:nvPr/>
        </p:nvSpPr>
        <p:spPr>
          <a:xfrm>
            <a:off x="7135992" y="3190516"/>
            <a:ext cx="4385810" cy="441339"/>
          </a:xfrm>
          <a:prstGeom prst="rect">
            <a:avLst/>
          </a:prstGeom>
          <a:noFill/>
          <a:ln/>
        </p:spPr>
        <p:txBody>
          <a:bodyPr wrap="square" lIns="0" tIns="0" rIns="0" bIns="0" rtlCol="0" anchor="ctr"/>
          <a:lstStyle/>
          <a:p>
            <a:pPr>
              <a:lnSpc>
                <a:spcPct val="120000"/>
              </a:lnSpc>
            </a:pPr>
            <a:r>
              <a:rPr lang="en-US" sz="1158" dirty="0">
                <a:solidFill>
                  <a:srgbClr val="6B7280"/>
                </a:solidFill>
                <a:latin typeface="Sorts Mill Goudy" pitchFamily="34" charset="0"/>
                <a:ea typeface="Sorts Mill Goudy" pitchFamily="34" charset="-122"/>
                <a:cs typeface="Sorts Mill Goudy" pitchFamily="34" charset="-120"/>
              </a:rPr>
              <a:t>Calculate cosine similarity between question vector and each candidate span</a:t>
            </a:r>
            <a:endParaRPr lang="en-US" sz="1600" dirty="0"/>
          </a:p>
        </p:txBody>
      </p:sp>
      <p:sp>
        <p:nvSpPr>
          <p:cNvPr id="40" name="Shape 38"/>
          <p:cNvSpPr/>
          <p:nvPr/>
        </p:nvSpPr>
        <p:spPr>
          <a:xfrm>
            <a:off x="6464788" y="3935276"/>
            <a:ext cx="367783" cy="367783"/>
          </a:xfrm>
          <a:custGeom>
            <a:avLst/>
            <a:gdLst/>
            <a:ahLst/>
            <a:cxnLst/>
            <a:rect l="l" t="t" r="r" b="b"/>
            <a:pathLst>
              <a:path w="367783" h="367783">
                <a:moveTo>
                  <a:pt x="0" y="0"/>
                </a:moveTo>
                <a:lnTo>
                  <a:pt x="367783" y="0"/>
                </a:lnTo>
                <a:lnTo>
                  <a:pt x="367783" y="367783"/>
                </a:lnTo>
                <a:lnTo>
                  <a:pt x="0" y="367783"/>
                </a:lnTo>
                <a:lnTo>
                  <a:pt x="0" y="0"/>
                </a:lnTo>
                <a:close/>
              </a:path>
            </a:pathLst>
          </a:custGeom>
          <a:solidFill>
            <a:srgbClr val="8B0000"/>
          </a:solidFill>
          <a:ln/>
        </p:spPr>
      </p:sp>
      <p:sp>
        <p:nvSpPr>
          <p:cNvPr id="41" name="Text 39"/>
          <p:cNvSpPr/>
          <p:nvPr/>
        </p:nvSpPr>
        <p:spPr>
          <a:xfrm>
            <a:off x="6428010" y="3935276"/>
            <a:ext cx="441339" cy="367783"/>
          </a:xfrm>
          <a:prstGeom prst="rect">
            <a:avLst/>
          </a:prstGeom>
          <a:noFill/>
          <a:ln/>
        </p:spPr>
        <p:txBody>
          <a:bodyPr wrap="square" lIns="0" tIns="0" rIns="0" bIns="0" rtlCol="0" anchor="ctr"/>
          <a:lstStyle/>
          <a:p>
            <a:pPr algn="ctr">
              <a:lnSpc>
                <a:spcPct val="120000"/>
              </a:lnSpc>
            </a:pPr>
            <a:r>
              <a:rPr lang="en-US" sz="1158" b="1" dirty="0">
                <a:solidFill>
                  <a:srgbClr val="FFFFFF"/>
                </a:solidFill>
                <a:latin typeface="Sorts Mill Goudy" pitchFamily="34" charset="0"/>
                <a:ea typeface="Sorts Mill Goudy" pitchFamily="34" charset="-122"/>
                <a:cs typeface="Sorts Mill Goudy" pitchFamily="34" charset="-120"/>
              </a:rPr>
              <a:t>3</a:t>
            </a:r>
            <a:endParaRPr lang="en-US" sz="1600" dirty="0"/>
          </a:p>
        </p:txBody>
      </p:sp>
      <p:sp>
        <p:nvSpPr>
          <p:cNvPr id="42" name="Shape 40"/>
          <p:cNvSpPr/>
          <p:nvPr/>
        </p:nvSpPr>
        <p:spPr>
          <a:xfrm>
            <a:off x="6984282" y="3939873"/>
            <a:ext cx="4615674" cy="781538"/>
          </a:xfrm>
          <a:custGeom>
            <a:avLst/>
            <a:gdLst/>
            <a:ahLst/>
            <a:cxnLst/>
            <a:rect l="l" t="t" r="r" b="b"/>
            <a:pathLst>
              <a:path w="4615674" h="781538">
                <a:moveTo>
                  <a:pt x="0" y="0"/>
                </a:moveTo>
                <a:lnTo>
                  <a:pt x="4615674" y="0"/>
                </a:lnTo>
                <a:lnTo>
                  <a:pt x="4615674" y="781538"/>
                </a:lnTo>
                <a:lnTo>
                  <a:pt x="0" y="781538"/>
                </a:lnTo>
                <a:lnTo>
                  <a:pt x="0" y="0"/>
                </a:lnTo>
                <a:close/>
              </a:path>
            </a:pathLst>
          </a:custGeom>
          <a:solidFill>
            <a:srgbClr val="FFFFFF"/>
          </a:solidFill>
          <a:ln w="12700">
            <a:solidFill>
              <a:srgbClr val="E5E7EB"/>
            </a:solidFill>
            <a:prstDash val="solid"/>
          </a:ln>
        </p:spPr>
      </p:sp>
      <p:sp>
        <p:nvSpPr>
          <p:cNvPr id="43" name="Text 41"/>
          <p:cNvSpPr/>
          <p:nvPr/>
        </p:nvSpPr>
        <p:spPr>
          <a:xfrm>
            <a:off x="7135992" y="4091584"/>
            <a:ext cx="4385810" cy="220670"/>
          </a:xfrm>
          <a:prstGeom prst="rect">
            <a:avLst/>
          </a:prstGeom>
          <a:noFill/>
          <a:ln/>
        </p:spPr>
        <p:txBody>
          <a:bodyPr wrap="square" lIns="0" tIns="0" rIns="0" bIns="0" rtlCol="0" anchor="ctr"/>
          <a:lstStyle/>
          <a:p>
            <a:pPr>
              <a:lnSpc>
                <a:spcPct val="120000"/>
              </a:lnSpc>
            </a:pPr>
            <a:r>
              <a:rPr lang="en-US" sz="1158" b="1" dirty="0">
                <a:solidFill>
                  <a:srgbClr val="1F2937"/>
                </a:solidFill>
                <a:latin typeface="Sorts Mill Goudy" pitchFamily="34" charset="0"/>
                <a:ea typeface="Sorts Mill Goudy" pitchFamily="34" charset="-122"/>
                <a:cs typeface="Sorts Mill Goudy" pitchFamily="34" charset="-120"/>
              </a:rPr>
              <a:t>Combine Scores</a:t>
            </a:r>
            <a:endParaRPr lang="en-US" sz="1600" dirty="0"/>
          </a:p>
        </p:txBody>
      </p:sp>
      <p:sp>
        <p:nvSpPr>
          <p:cNvPr id="44" name="Text 42"/>
          <p:cNvSpPr/>
          <p:nvPr/>
        </p:nvSpPr>
        <p:spPr>
          <a:xfrm>
            <a:off x="7135992" y="4349032"/>
            <a:ext cx="4385810" cy="220670"/>
          </a:xfrm>
          <a:prstGeom prst="rect">
            <a:avLst/>
          </a:prstGeom>
          <a:noFill/>
          <a:ln/>
        </p:spPr>
        <p:txBody>
          <a:bodyPr wrap="square" lIns="0" tIns="0" rIns="0" bIns="0" rtlCol="0" anchor="ctr"/>
          <a:lstStyle/>
          <a:p>
            <a:pPr>
              <a:lnSpc>
                <a:spcPct val="120000"/>
              </a:lnSpc>
            </a:pPr>
            <a:r>
              <a:rPr lang="en-US" sz="1158" dirty="0">
                <a:solidFill>
                  <a:srgbClr val="6B7280"/>
                </a:solidFill>
                <a:latin typeface="Sorts Mill Goudy" pitchFamily="34" charset="0"/>
                <a:ea typeface="Sorts Mill Goudy" pitchFamily="34" charset="-122"/>
                <a:cs typeface="Sorts Mill Goudy" pitchFamily="34" charset="-120"/>
              </a:rPr>
              <a:t>Merge similarity with boundary probabilities from span scorer</a:t>
            </a:r>
            <a:endParaRPr lang="en-US" sz="1600" dirty="0"/>
          </a:p>
        </p:txBody>
      </p:sp>
      <p:sp>
        <p:nvSpPr>
          <p:cNvPr id="45" name="Shape 43"/>
          <p:cNvSpPr/>
          <p:nvPr/>
        </p:nvSpPr>
        <p:spPr>
          <a:xfrm>
            <a:off x="6464788" y="4873122"/>
            <a:ext cx="367783" cy="367783"/>
          </a:xfrm>
          <a:custGeom>
            <a:avLst/>
            <a:gdLst/>
            <a:ahLst/>
            <a:cxnLst/>
            <a:rect l="l" t="t" r="r" b="b"/>
            <a:pathLst>
              <a:path w="367783" h="367783">
                <a:moveTo>
                  <a:pt x="0" y="0"/>
                </a:moveTo>
                <a:lnTo>
                  <a:pt x="367783" y="0"/>
                </a:lnTo>
                <a:lnTo>
                  <a:pt x="367783" y="367783"/>
                </a:lnTo>
                <a:lnTo>
                  <a:pt x="0" y="367783"/>
                </a:lnTo>
                <a:lnTo>
                  <a:pt x="0" y="0"/>
                </a:lnTo>
                <a:close/>
              </a:path>
            </a:pathLst>
          </a:custGeom>
          <a:solidFill>
            <a:srgbClr val="8B0000"/>
          </a:solidFill>
          <a:ln/>
        </p:spPr>
      </p:sp>
      <p:sp>
        <p:nvSpPr>
          <p:cNvPr id="46" name="Text 44"/>
          <p:cNvSpPr/>
          <p:nvPr/>
        </p:nvSpPr>
        <p:spPr>
          <a:xfrm>
            <a:off x="6428010" y="4873122"/>
            <a:ext cx="441339" cy="367783"/>
          </a:xfrm>
          <a:prstGeom prst="rect">
            <a:avLst/>
          </a:prstGeom>
          <a:noFill/>
          <a:ln/>
        </p:spPr>
        <p:txBody>
          <a:bodyPr wrap="square" lIns="0" tIns="0" rIns="0" bIns="0" rtlCol="0" anchor="ctr"/>
          <a:lstStyle/>
          <a:p>
            <a:pPr algn="ctr">
              <a:lnSpc>
                <a:spcPct val="120000"/>
              </a:lnSpc>
            </a:pPr>
            <a:r>
              <a:rPr lang="en-US" sz="1158" b="1" dirty="0">
                <a:solidFill>
                  <a:srgbClr val="FFFFFF"/>
                </a:solidFill>
                <a:latin typeface="Sorts Mill Goudy" pitchFamily="34" charset="0"/>
                <a:ea typeface="Sorts Mill Goudy" pitchFamily="34" charset="-122"/>
                <a:cs typeface="Sorts Mill Goudy" pitchFamily="34" charset="-120"/>
              </a:rPr>
              <a:t>4</a:t>
            </a:r>
            <a:endParaRPr lang="en-US" sz="1600" dirty="0"/>
          </a:p>
        </p:txBody>
      </p:sp>
      <p:sp>
        <p:nvSpPr>
          <p:cNvPr id="47" name="Shape 45"/>
          <p:cNvSpPr/>
          <p:nvPr/>
        </p:nvSpPr>
        <p:spPr>
          <a:xfrm>
            <a:off x="6984282" y="4877719"/>
            <a:ext cx="4615674" cy="781538"/>
          </a:xfrm>
          <a:custGeom>
            <a:avLst/>
            <a:gdLst/>
            <a:ahLst/>
            <a:cxnLst/>
            <a:rect l="l" t="t" r="r" b="b"/>
            <a:pathLst>
              <a:path w="4615674" h="781538">
                <a:moveTo>
                  <a:pt x="0" y="0"/>
                </a:moveTo>
                <a:lnTo>
                  <a:pt x="4615674" y="0"/>
                </a:lnTo>
                <a:lnTo>
                  <a:pt x="4615674" y="781538"/>
                </a:lnTo>
                <a:lnTo>
                  <a:pt x="0" y="781538"/>
                </a:lnTo>
                <a:lnTo>
                  <a:pt x="0" y="0"/>
                </a:lnTo>
                <a:close/>
              </a:path>
            </a:pathLst>
          </a:custGeom>
          <a:solidFill>
            <a:srgbClr val="FFFFFF"/>
          </a:solidFill>
          <a:ln w="12700">
            <a:solidFill>
              <a:srgbClr val="E5E7EB"/>
            </a:solidFill>
            <a:prstDash val="solid"/>
          </a:ln>
        </p:spPr>
      </p:sp>
      <p:sp>
        <p:nvSpPr>
          <p:cNvPr id="48" name="Text 46"/>
          <p:cNvSpPr/>
          <p:nvPr/>
        </p:nvSpPr>
        <p:spPr>
          <a:xfrm>
            <a:off x="7135992" y="5029430"/>
            <a:ext cx="4385810" cy="220670"/>
          </a:xfrm>
          <a:prstGeom prst="rect">
            <a:avLst/>
          </a:prstGeom>
          <a:noFill/>
          <a:ln/>
        </p:spPr>
        <p:txBody>
          <a:bodyPr wrap="square" lIns="0" tIns="0" rIns="0" bIns="0" rtlCol="0" anchor="ctr"/>
          <a:lstStyle/>
          <a:p>
            <a:pPr>
              <a:lnSpc>
                <a:spcPct val="120000"/>
              </a:lnSpc>
            </a:pPr>
            <a:r>
              <a:rPr lang="en-US" sz="1158" b="1" dirty="0">
                <a:solidFill>
                  <a:srgbClr val="1F2937"/>
                </a:solidFill>
                <a:latin typeface="Sorts Mill Goudy" pitchFamily="34" charset="0"/>
                <a:ea typeface="Sorts Mill Goudy" pitchFamily="34" charset="-122"/>
                <a:cs typeface="Sorts Mill Goudy" pitchFamily="34" charset="-120"/>
              </a:rPr>
              <a:t>Select Final Answer</a:t>
            </a:r>
            <a:endParaRPr lang="en-US" sz="1600" dirty="0"/>
          </a:p>
        </p:txBody>
      </p:sp>
      <p:sp>
        <p:nvSpPr>
          <p:cNvPr id="49" name="Text 47"/>
          <p:cNvSpPr/>
          <p:nvPr/>
        </p:nvSpPr>
        <p:spPr>
          <a:xfrm>
            <a:off x="7135992" y="5286878"/>
            <a:ext cx="4385810" cy="220670"/>
          </a:xfrm>
          <a:prstGeom prst="rect">
            <a:avLst/>
          </a:prstGeom>
          <a:noFill/>
          <a:ln/>
        </p:spPr>
        <p:txBody>
          <a:bodyPr wrap="square" lIns="0" tIns="0" rIns="0" bIns="0" rtlCol="0" anchor="ctr"/>
          <a:lstStyle/>
          <a:p>
            <a:pPr>
              <a:lnSpc>
                <a:spcPct val="120000"/>
              </a:lnSpc>
            </a:pPr>
            <a:r>
              <a:rPr lang="en-US" sz="1158" dirty="0">
                <a:solidFill>
                  <a:srgbClr val="6B7280"/>
                </a:solidFill>
                <a:latin typeface="Sorts Mill Goudy" pitchFamily="34" charset="0"/>
                <a:ea typeface="Sorts Mill Goudy" pitchFamily="34" charset="-122"/>
                <a:cs typeface="Sorts Mill Goudy" pitchFamily="34" charset="-120"/>
              </a:rPr>
              <a:t>Argmax over combined scores to select best answer span</a:t>
            </a:r>
            <a:endParaRPr lang="en-US" sz="1600" dirty="0"/>
          </a:p>
        </p:txBody>
      </p:sp>
      <p:sp>
        <p:nvSpPr>
          <p:cNvPr id="50" name="Shape 48"/>
          <p:cNvSpPr/>
          <p:nvPr/>
        </p:nvSpPr>
        <p:spPr>
          <a:xfrm>
            <a:off x="6248716" y="6109792"/>
            <a:ext cx="5571910" cy="744760"/>
          </a:xfrm>
          <a:custGeom>
            <a:avLst/>
            <a:gdLst/>
            <a:ahLst/>
            <a:cxnLst/>
            <a:rect l="l" t="t" r="r" b="b"/>
            <a:pathLst>
              <a:path w="5571910" h="744760">
                <a:moveTo>
                  <a:pt x="0" y="0"/>
                </a:moveTo>
                <a:lnTo>
                  <a:pt x="5571910" y="0"/>
                </a:lnTo>
                <a:lnTo>
                  <a:pt x="5571910" y="744760"/>
                </a:lnTo>
                <a:lnTo>
                  <a:pt x="0" y="744760"/>
                </a:lnTo>
                <a:lnTo>
                  <a:pt x="0" y="0"/>
                </a:lnTo>
                <a:close/>
              </a:path>
            </a:pathLst>
          </a:custGeom>
          <a:solidFill>
            <a:srgbClr val="8B0000">
              <a:alpha val="5098"/>
            </a:srgbClr>
          </a:solidFill>
          <a:ln w="12700">
            <a:solidFill>
              <a:srgbClr val="8B0000">
                <a:alpha val="20000"/>
              </a:srgbClr>
            </a:solidFill>
            <a:prstDash val="solid"/>
          </a:ln>
        </p:spPr>
      </p:sp>
      <p:sp>
        <p:nvSpPr>
          <p:cNvPr id="51" name="Text 49"/>
          <p:cNvSpPr/>
          <p:nvPr/>
        </p:nvSpPr>
        <p:spPr>
          <a:xfrm>
            <a:off x="6400426" y="6261502"/>
            <a:ext cx="5342045" cy="441339"/>
          </a:xfrm>
          <a:prstGeom prst="rect">
            <a:avLst/>
          </a:prstGeom>
          <a:noFill/>
          <a:ln/>
        </p:spPr>
        <p:txBody>
          <a:bodyPr wrap="square" lIns="0" tIns="0" rIns="0" bIns="0" rtlCol="0" anchor="ctr"/>
          <a:lstStyle/>
          <a:p>
            <a:pPr>
              <a:lnSpc>
                <a:spcPct val="120000"/>
              </a:lnSpc>
            </a:pPr>
            <a:r>
              <a:rPr lang="en-US" sz="1158" b="1" dirty="0">
                <a:solidFill>
                  <a:srgbClr val="1F2937"/>
                </a:solidFill>
                <a:latin typeface="Sorts Mill Goudy" pitchFamily="34" charset="0"/>
                <a:ea typeface="Sorts Mill Goudy" pitchFamily="34" charset="-122"/>
                <a:cs typeface="Sorts Mill Goudy" pitchFamily="34" charset="-120"/>
              </a:rPr>
              <a:t>Key Property:</a:t>
            </a:r>
            <a:r>
              <a:rPr lang="en-US" sz="1158" dirty="0">
                <a:solidFill>
                  <a:srgbClr val="1F2937"/>
                </a:solidFill>
                <a:latin typeface="Sorts Mill Goudy" pitchFamily="34" charset="0"/>
                <a:ea typeface="Sorts Mill Goudy" pitchFamily="34" charset="-122"/>
                <a:cs typeface="Sorts Mill Goudy" pitchFamily="34" charset="-120"/>
              </a:rPr>
              <a:t> The two-stage process (role decoding → answer selection) keeps the semantic structure explicit and inspectable at every step.</a:t>
            </a:r>
            <a:endParaRPr lang="en-US" sz="1600" dirty="0"/>
          </a:p>
        </p:txBody>
      </p:sp>
    </p:spTree>
    <p:extLst>
      <p:ext uri="{BB962C8B-B14F-4D97-AF65-F5344CB8AC3E}">
        <p14:creationId xmlns:p14="http://schemas.microsoft.com/office/powerpoint/2010/main" val="3207971342"/>
      </p:ext>
    </p:extLst>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28625" y="328625"/>
            <a:ext cx="11592259" cy="164313"/>
          </a:xfrm>
          <a:prstGeom prst="rect">
            <a:avLst/>
          </a:prstGeom>
          <a:noFill/>
          <a:ln/>
        </p:spPr>
        <p:txBody>
          <a:bodyPr wrap="square" lIns="0" tIns="0" rIns="0" bIns="0" rtlCol="0" anchor="ctr"/>
          <a:lstStyle/>
          <a:p>
            <a:pPr>
              <a:lnSpc>
                <a:spcPct val="120000"/>
              </a:lnSpc>
            </a:pPr>
            <a:r>
              <a:rPr lang="en-US" sz="906" b="1" kern="0" spc="45" dirty="0">
                <a:solidFill>
                  <a:srgbClr val="8B0000"/>
                </a:solidFill>
                <a:latin typeface="Sorts Mill Goudy" pitchFamily="34" charset="0"/>
                <a:ea typeface="Sorts Mill Goudy" pitchFamily="34" charset="-122"/>
                <a:cs typeface="Sorts Mill Goudy" pitchFamily="34" charset="-120"/>
              </a:rPr>
              <a:t>4.3 SYSTEM ARCHITECTURE</a:t>
            </a:r>
            <a:endParaRPr lang="en-US" sz="1600" dirty="0"/>
          </a:p>
        </p:txBody>
      </p:sp>
      <p:sp>
        <p:nvSpPr>
          <p:cNvPr id="3" name="Text 1"/>
          <p:cNvSpPr/>
          <p:nvPr/>
        </p:nvSpPr>
        <p:spPr>
          <a:xfrm>
            <a:off x="328625" y="558663"/>
            <a:ext cx="11682631" cy="328625"/>
          </a:xfrm>
          <a:prstGeom prst="rect">
            <a:avLst/>
          </a:prstGeom>
          <a:noFill/>
          <a:ln/>
        </p:spPr>
        <p:txBody>
          <a:bodyPr wrap="square" lIns="0" tIns="0" rIns="0" bIns="0" rtlCol="0" anchor="ctr"/>
          <a:lstStyle/>
          <a:p>
            <a:pPr>
              <a:lnSpc>
                <a:spcPct val="90000"/>
              </a:lnSpc>
            </a:pPr>
            <a:r>
              <a:rPr lang="en-US" sz="2329" b="1" dirty="0">
                <a:solidFill>
                  <a:srgbClr val="1F2937"/>
                </a:solidFill>
                <a:latin typeface="Sorts Mill Goudy" pitchFamily="34" charset="0"/>
                <a:ea typeface="Sorts Mill Goudy" pitchFamily="34" charset="-122"/>
                <a:cs typeface="Sorts Mill Goudy" pitchFamily="34" charset="-120"/>
              </a:rPr>
              <a:t>Model Configuration</a:t>
            </a:r>
            <a:endParaRPr lang="en-US" sz="1600" dirty="0"/>
          </a:p>
        </p:txBody>
      </p:sp>
      <p:sp>
        <p:nvSpPr>
          <p:cNvPr id="4" name="Shape 2"/>
          <p:cNvSpPr/>
          <p:nvPr/>
        </p:nvSpPr>
        <p:spPr>
          <a:xfrm>
            <a:off x="328625" y="1084464"/>
            <a:ext cx="5635925" cy="2283946"/>
          </a:xfrm>
          <a:custGeom>
            <a:avLst/>
            <a:gdLst/>
            <a:ahLst/>
            <a:cxnLst/>
            <a:rect l="l" t="t" r="r" b="b"/>
            <a:pathLst>
              <a:path w="5635925" h="2283946">
                <a:moveTo>
                  <a:pt x="0" y="0"/>
                </a:moveTo>
                <a:lnTo>
                  <a:pt x="5635925" y="0"/>
                </a:lnTo>
                <a:lnTo>
                  <a:pt x="5635925" y="2283946"/>
                </a:lnTo>
                <a:lnTo>
                  <a:pt x="0" y="2283946"/>
                </a:lnTo>
                <a:lnTo>
                  <a:pt x="0" y="0"/>
                </a:lnTo>
                <a:close/>
              </a:path>
            </a:pathLst>
          </a:custGeom>
          <a:solidFill>
            <a:srgbClr val="F9FAFB"/>
          </a:solidFill>
          <a:ln/>
        </p:spPr>
      </p:sp>
      <p:sp>
        <p:nvSpPr>
          <p:cNvPr id="5" name="Text 3"/>
          <p:cNvSpPr/>
          <p:nvPr/>
        </p:nvSpPr>
        <p:spPr>
          <a:xfrm>
            <a:off x="525801" y="1281639"/>
            <a:ext cx="5323730" cy="230038"/>
          </a:xfrm>
          <a:prstGeom prst="rect">
            <a:avLst/>
          </a:prstGeom>
          <a:noFill/>
          <a:ln/>
        </p:spPr>
        <p:txBody>
          <a:bodyPr wrap="square" lIns="0" tIns="0" rIns="0" bIns="0" rtlCol="0" anchor="ctr"/>
          <a:lstStyle/>
          <a:p>
            <a:pPr>
              <a:lnSpc>
                <a:spcPct val="120000"/>
              </a:lnSpc>
            </a:pPr>
            <a:r>
              <a:rPr lang="en-US" sz="1294" b="1" dirty="0">
                <a:solidFill>
                  <a:srgbClr val="1F2937"/>
                </a:solidFill>
                <a:latin typeface="Sorts Mill Goudy" pitchFamily="34" charset="0"/>
                <a:ea typeface="Sorts Mill Goudy" pitchFamily="34" charset="-122"/>
                <a:cs typeface="Sorts Mill Goudy" pitchFamily="34" charset="-120"/>
              </a:rPr>
              <a:t>Embedding Dimensions</a:t>
            </a:r>
            <a:endParaRPr lang="en-US" sz="1600" dirty="0"/>
          </a:p>
        </p:txBody>
      </p:sp>
      <p:sp>
        <p:nvSpPr>
          <p:cNvPr id="6" name="Shape 4"/>
          <p:cNvSpPr/>
          <p:nvPr/>
        </p:nvSpPr>
        <p:spPr>
          <a:xfrm>
            <a:off x="529908" y="1647235"/>
            <a:ext cx="5233358" cy="435429"/>
          </a:xfrm>
          <a:custGeom>
            <a:avLst/>
            <a:gdLst/>
            <a:ahLst/>
            <a:cxnLst/>
            <a:rect l="l" t="t" r="r" b="b"/>
            <a:pathLst>
              <a:path w="5233358" h="435429">
                <a:moveTo>
                  <a:pt x="0" y="0"/>
                </a:moveTo>
                <a:lnTo>
                  <a:pt x="5233358" y="0"/>
                </a:lnTo>
                <a:lnTo>
                  <a:pt x="5233358" y="435429"/>
                </a:lnTo>
                <a:lnTo>
                  <a:pt x="0" y="435429"/>
                </a:lnTo>
                <a:lnTo>
                  <a:pt x="0" y="0"/>
                </a:lnTo>
                <a:close/>
              </a:path>
            </a:pathLst>
          </a:custGeom>
          <a:solidFill>
            <a:srgbClr val="FFFFFF"/>
          </a:solidFill>
          <a:ln w="12700">
            <a:solidFill>
              <a:srgbClr val="E5E7EB"/>
            </a:solidFill>
            <a:prstDash val="solid"/>
          </a:ln>
        </p:spPr>
      </p:sp>
      <p:sp>
        <p:nvSpPr>
          <p:cNvPr id="7" name="Text 5"/>
          <p:cNvSpPr/>
          <p:nvPr/>
        </p:nvSpPr>
        <p:spPr>
          <a:xfrm>
            <a:off x="632604" y="1766361"/>
            <a:ext cx="1133757" cy="197175"/>
          </a:xfrm>
          <a:prstGeom prst="rect">
            <a:avLst/>
          </a:prstGeom>
          <a:noFill/>
          <a:ln/>
        </p:spPr>
        <p:txBody>
          <a:bodyPr wrap="square" lIns="0" tIns="0" rIns="0" bIns="0" rtlCol="0" anchor="ctr"/>
          <a:lstStyle/>
          <a:p>
            <a:pPr>
              <a:lnSpc>
                <a:spcPct val="130000"/>
              </a:lnSpc>
            </a:pPr>
            <a:r>
              <a:rPr lang="en-US" sz="1035" b="1" dirty="0">
                <a:solidFill>
                  <a:srgbClr val="1F2937"/>
                </a:solidFill>
                <a:latin typeface="Sorts Mill Goudy" pitchFamily="34" charset="0"/>
                <a:ea typeface="Sorts Mill Goudy" pitchFamily="34" charset="-122"/>
                <a:cs typeface="Sorts Mill Goudy" pitchFamily="34" charset="-120"/>
              </a:rPr>
              <a:t>Word Embeddings</a:t>
            </a:r>
            <a:endParaRPr lang="en-US" sz="1600" dirty="0"/>
          </a:p>
        </p:txBody>
      </p:sp>
      <p:sp>
        <p:nvSpPr>
          <p:cNvPr id="8" name="Text 6"/>
          <p:cNvSpPr/>
          <p:nvPr/>
        </p:nvSpPr>
        <p:spPr>
          <a:xfrm>
            <a:off x="5157492" y="1749930"/>
            <a:ext cx="575094" cy="230038"/>
          </a:xfrm>
          <a:prstGeom prst="rect">
            <a:avLst/>
          </a:prstGeom>
          <a:noFill/>
          <a:ln/>
        </p:spPr>
        <p:txBody>
          <a:bodyPr wrap="square" lIns="0" tIns="0" rIns="0" bIns="0" rtlCol="0" anchor="ctr"/>
          <a:lstStyle/>
          <a:p>
            <a:pPr>
              <a:lnSpc>
                <a:spcPct val="130000"/>
              </a:lnSpc>
            </a:pPr>
            <a:r>
              <a:rPr lang="en-US" sz="1164" b="1" dirty="0">
                <a:solidFill>
                  <a:srgbClr val="8B0000"/>
                </a:solidFill>
                <a:latin typeface="Sorts Mill Goudy" pitchFamily="34" charset="0"/>
                <a:ea typeface="Sorts Mill Goudy" pitchFamily="34" charset="-122"/>
                <a:cs typeface="Sorts Mill Goudy" pitchFamily="34" charset="-120"/>
              </a:rPr>
              <a:t>100-dim</a:t>
            </a:r>
            <a:endParaRPr lang="en-US" sz="1600" dirty="0"/>
          </a:p>
        </p:txBody>
      </p:sp>
      <p:sp>
        <p:nvSpPr>
          <p:cNvPr id="9" name="Shape 7"/>
          <p:cNvSpPr/>
          <p:nvPr/>
        </p:nvSpPr>
        <p:spPr>
          <a:xfrm>
            <a:off x="529908" y="2189466"/>
            <a:ext cx="5233358" cy="435429"/>
          </a:xfrm>
          <a:custGeom>
            <a:avLst/>
            <a:gdLst/>
            <a:ahLst/>
            <a:cxnLst/>
            <a:rect l="l" t="t" r="r" b="b"/>
            <a:pathLst>
              <a:path w="5233358" h="435429">
                <a:moveTo>
                  <a:pt x="0" y="0"/>
                </a:moveTo>
                <a:lnTo>
                  <a:pt x="5233358" y="0"/>
                </a:lnTo>
                <a:lnTo>
                  <a:pt x="5233358" y="435429"/>
                </a:lnTo>
                <a:lnTo>
                  <a:pt x="0" y="435429"/>
                </a:lnTo>
                <a:lnTo>
                  <a:pt x="0" y="0"/>
                </a:lnTo>
                <a:close/>
              </a:path>
            </a:pathLst>
          </a:custGeom>
          <a:solidFill>
            <a:srgbClr val="FFFFFF"/>
          </a:solidFill>
          <a:ln w="12700">
            <a:solidFill>
              <a:srgbClr val="E5E7EB"/>
            </a:solidFill>
            <a:prstDash val="solid"/>
          </a:ln>
        </p:spPr>
      </p:sp>
      <p:sp>
        <p:nvSpPr>
          <p:cNvPr id="10" name="Text 8"/>
          <p:cNvSpPr/>
          <p:nvPr/>
        </p:nvSpPr>
        <p:spPr>
          <a:xfrm>
            <a:off x="632604" y="2308593"/>
            <a:ext cx="1059817" cy="197175"/>
          </a:xfrm>
          <a:prstGeom prst="rect">
            <a:avLst/>
          </a:prstGeom>
          <a:noFill/>
          <a:ln/>
        </p:spPr>
        <p:txBody>
          <a:bodyPr wrap="square" lIns="0" tIns="0" rIns="0" bIns="0" rtlCol="0" anchor="ctr"/>
          <a:lstStyle/>
          <a:p>
            <a:pPr>
              <a:lnSpc>
                <a:spcPct val="130000"/>
              </a:lnSpc>
            </a:pPr>
            <a:r>
              <a:rPr lang="en-US" sz="1035" b="1" dirty="0">
                <a:solidFill>
                  <a:srgbClr val="1F2937"/>
                </a:solidFill>
                <a:latin typeface="Sorts Mill Goudy" pitchFamily="34" charset="0"/>
                <a:ea typeface="Sorts Mill Goudy" pitchFamily="34" charset="-122"/>
                <a:cs typeface="Sorts Mill Goudy" pitchFamily="34" charset="-120"/>
              </a:rPr>
              <a:t>POS Embeddings</a:t>
            </a:r>
            <a:endParaRPr lang="en-US" sz="1600" dirty="0"/>
          </a:p>
        </p:txBody>
      </p:sp>
      <p:sp>
        <p:nvSpPr>
          <p:cNvPr id="11" name="Text 9"/>
          <p:cNvSpPr/>
          <p:nvPr/>
        </p:nvSpPr>
        <p:spPr>
          <a:xfrm>
            <a:off x="5235284" y="2292162"/>
            <a:ext cx="501154" cy="230038"/>
          </a:xfrm>
          <a:prstGeom prst="rect">
            <a:avLst/>
          </a:prstGeom>
          <a:noFill/>
          <a:ln/>
        </p:spPr>
        <p:txBody>
          <a:bodyPr wrap="square" lIns="0" tIns="0" rIns="0" bIns="0" rtlCol="0" anchor="ctr"/>
          <a:lstStyle/>
          <a:p>
            <a:pPr>
              <a:lnSpc>
                <a:spcPct val="130000"/>
              </a:lnSpc>
            </a:pPr>
            <a:r>
              <a:rPr lang="en-US" sz="1164" b="1" dirty="0">
                <a:solidFill>
                  <a:srgbClr val="8B0000"/>
                </a:solidFill>
                <a:latin typeface="Sorts Mill Goudy" pitchFamily="34" charset="0"/>
                <a:ea typeface="Sorts Mill Goudy" pitchFamily="34" charset="-122"/>
                <a:cs typeface="Sorts Mill Goudy" pitchFamily="34" charset="-120"/>
              </a:rPr>
              <a:t>32-dim</a:t>
            </a:r>
            <a:endParaRPr lang="en-US" sz="1600" dirty="0"/>
          </a:p>
        </p:txBody>
      </p:sp>
      <p:sp>
        <p:nvSpPr>
          <p:cNvPr id="12" name="Shape 10"/>
          <p:cNvSpPr/>
          <p:nvPr/>
        </p:nvSpPr>
        <p:spPr>
          <a:xfrm>
            <a:off x="529908" y="2731698"/>
            <a:ext cx="5233358" cy="435429"/>
          </a:xfrm>
          <a:custGeom>
            <a:avLst/>
            <a:gdLst/>
            <a:ahLst/>
            <a:cxnLst/>
            <a:rect l="l" t="t" r="r" b="b"/>
            <a:pathLst>
              <a:path w="5233358" h="435429">
                <a:moveTo>
                  <a:pt x="0" y="0"/>
                </a:moveTo>
                <a:lnTo>
                  <a:pt x="5233358" y="0"/>
                </a:lnTo>
                <a:lnTo>
                  <a:pt x="5233358" y="435429"/>
                </a:lnTo>
                <a:lnTo>
                  <a:pt x="0" y="435429"/>
                </a:lnTo>
                <a:lnTo>
                  <a:pt x="0" y="0"/>
                </a:lnTo>
                <a:close/>
              </a:path>
            </a:pathLst>
          </a:custGeom>
          <a:solidFill>
            <a:srgbClr val="FFFFFF"/>
          </a:solidFill>
          <a:ln w="12700">
            <a:solidFill>
              <a:srgbClr val="E5E7EB"/>
            </a:solidFill>
            <a:prstDash val="solid"/>
          </a:ln>
        </p:spPr>
      </p:sp>
      <p:sp>
        <p:nvSpPr>
          <p:cNvPr id="13" name="Text 11"/>
          <p:cNvSpPr/>
          <p:nvPr/>
        </p:nvSpPr>
        <p:spPr>
          <a:xfrm>
            <a:off x="632604" y="2850825"/>
            <a:ext cx="1133757" cy="197175"/>
          </a:xfrm>
          <a:prstGeom prst="rect">
            <a:avLst/>
          </a:prstGeom>
          <a:noFill/>
          <a:ln/>
        </p:spPr>
        <p:txBody>
          <a:bodyPr wrap="square" lIns="0" tIns="0" rIns="0" bIns="0" rtlCol="0" anchor="ctr"/>
          <a:lstStyle/>
          <a:p>
            <a:pPr>
              <a:lnSpc>
                <a:spcPct val="130000"/>
              </a:lnSpc>
            </a:pPr>
            <a:r>
              <a:rPr lang="en-US" sz="1035" b="1" dirty="0">
                <a:solidFill>
                  <a:srgbClr val="1F2937"/>
                </a:solidFill>
                <a:latin typeface="Sorts Mill Goudy" pitchFamily="34" charset="0"/>
                <a:ea typeface="Sorts Mill Goudy" pitchFamily="34" charset="-122"/>
                <a:cs typeface="Sorts Mill Goudy" pitchFamily="34" charset="-120"/>
              </a:rPr>
              <a:t>Predicate Indicator</a:t>
            </a:r>
            <a:endParaRPr lang="en-US" sz="1600" dirty="0"/>
          </a:p>
        </p:txBody>
      </p:sp>
      <p:sp>
        <p:nvSpPr>
          <p:cNvPr id="14" name="Text 12"/>
          <p:cNvSpPr/>
          <p:nvPr/>
        </p:nvSpPr>
        <p:spPr>
          <a:xfrm>
            <a:off x="5290226" y="2834394"/>
            <a:ext cx="443644" cy="230038"/>
          </a:xfrm>
          <a:prstGeom prst="rect">
            <a:avLst/>
          </a:prstGeom>
          <a:noFill/>
          <a:ln/>
        </p:spPr>
        <p:txBody>
          <a:bodyPr wrap="square" lIns="0" tIns="0" rIns="0" bIns="0" rtlCol="0" anchor="ctr"/>
          <a:lstStyle/>
          <a:p>
            <a:pPr>
              <a:lnSpc>
                <a:spcPct val="130000"/>
              </a:lnSpc>
            </a:pPr>
            <a:r>
              <a:rPr lang="en-US" sz="1164" b="1" dirty="0">
                <a:solidFill>
                  <a:srgbClr val="8B0000"/>
                </a:solidFill>
                <a:latin typeface="Sorts Mill Goudy" pitchFamily="34" charset="0"/>
                <a:ea typeface="Sorts Mill Goudy" pitchFamily="34" charset="-122"/>
                <a:cs typeface="Sorts Mill Goudy" pitchFamily="34" charset="-120"/>
              </a:rPr>
              <a:t>8-dim</a:t>
            </a:r>
            <a:endParaRPr lang="en-US" sz="1600" dirty="0"/>
          </a:p>
        </p:txBody>
      </p:sp>
      <p:sp>
        <p:nvSpPr>
          <p:cNvPr id="15" name="Shape 13"/>
          <p:cNvSpPr/>
          <p:nvPr/>
        </p:nvSpPr>
        <p:spPr>
          <a:xfrm>
            <a:off x="328625" y="3565585"/>
            <a:ext cx="5635925" cy="2283946"/>
          </a:xfrm>
          <a:custGeom>
            <a:avLst/>
            <a:gdLst/>
            <a:ahLst/>
            <a:cxnLst/>
            <a:rect l="l" t="t" r="r" b="b"/>
            <a:pathLst>
              <a:path w="5635925" h="2283946">
                <a:moveTo>
                  <a:pt x="0" y="0"/>
                </a:moveTo>
                <a:lnTo>
                  <a:pt x="5635925" y="0"/>
                </a:lnTo>
                <a:lnTo>
                  <a:pt x="5635925" y="2283946"/>
                </a:lnTo>
                <a:lnTo>
                  <a:pt x="0" y="2283946"/>
                </a:lnTo>
                <a:lnTo>
                  <a:pt x="0" y="0"/>
                </a:lnTo>
                <a:close/>
              </a:path>
            </a:pathLst>
          </a:custGeom>
          <a:solidFill>
            <a:srgbClr val="F9FAFB"/>
          </a:solidFill>
          <a:ln/>
        </p:spPr>
      </p:sp>
      <p:sp>
        <p:nvSpPr>
          <p:cNvPr id="16" name="Text 14"/>
          <p:cNvSpPr/>
          <p:nvPr/>
        </p:nvSpPr>
        <p:spPr>
          <a:xfrm>
            <a:off x="525801" y="3762760"/>
            <a:ext cx="5323730" cy="230038"/>
          </a:xfrm>
          <a:prstGeom prst="rect">
            <a:avLst/>
          </a:prstGeom>
          <a:noFill/>
          <a:ln/>
        </p:spPr>
        <p:txBody>
          <a:bodyPr wrap="square" lIns="0" tIns="0" rIns="0" bIns="0" rtlCol="0" anchor="ctr"/>
          <a:lstStyle/>
          <a:p>
            <a:pPr>
              <a:lnSpc>
                <a:spcPct val="120000"/>
              </a:lnSpc>
            </a:pPr>
            <a:r>
              <a:rPr lang="en-US" sz="1294" b="1" dirty="0">
                <a:solidFill>
                  <a:srgbClr val="1F2937"/>
                </a:solidFill>
                <a:latin typeface="Sorts Mill Goudy" pitchFamily="34" charset="0"/>
                <a:ea typeface="Sorts Mill Goudy" pitchFamily="34" charset="-122"/>
                <a:cs typeface="Sorts Mill Goudy" pitchFamily="34" charset="-120"/>
              </a:rPr>
              <a:t>BiLSTM Configuration</a:t>
            </a:r>
            <a:endParaRPr lang="en-US" sz="1600" dirty="0"/>
          </a:p>
        </p:txBody>
      </p:sp>
      <p:sp>
        <p:nvSpPr>
          <p:cNvPr id="17" name="Shape 15"/>
          <p:cNvSpPr/>
          <p:nvPr/>
        </p:nvSpPr>
        <p:spPr>
          <a:xfrm>
            <a:off x="529908" y="4128356"/>
            <a:ext cx="5233358" cy="435429"/>
          </a:xfrm>
          <a:custGeom>
            <a:avLst/>
            <a:gdLst/>
            <a:ahLst/>
            <a:cxnLst/>
            <a:rect l="l" t="t" r="r" b="b"/>
            <a:pathLst>
              <a:path w="5233358" h="435429">
                <a:moveTo>
                  <a:pt x="0" y="0"/>
                </a:moveTo>
                <a:lnTo>
                  <a:pt x="5233358" y="0"/>
                </a:lnTo>
                <a:lnTo>
                  <a:pt x="5233358" y="435429"/>
                </a:lnTo>
                <a:lnTo>
                  <a:pt x="0" y="435429"/>
                </a:lnTo>
                <a:lnTo>
                  <a:pt x="0" y="0"/>
                </a:lnTo>
                <a:close/>
              </a:path>
            </a:pathLst>
          </a:custGeom>
          <a:solidFill>
            <a:srgbClr val="FFFFFF"/>
          </a:solidFill>
          <a:ln w="12700">
            <a:solidFill>
              <a:srgbClr val="E5E7EB"/>
            </a:solidFill>
            <a:prstDash val="solid"/>
          </a:ln>
        </p:spPr>
      </p:sp>
      <p:sp>
        <p:nvSpPr>
          <p:cNvPr id="18" name="Text 16"/>
          <p:cNvSpPr/>
          <p:nvPr/>
        </p:nvSpPr>
        <p:spPr>
          <a:xfrm>
            <a:off x="632604" y="4247482"/>
            <a:ext cx="1585617" cy="197175"/>
          </a:xfrm>
          <a:prstGeom prst="rect">
            <a:avLst/>
          </a:prstGeom>
          <a:noFill/>
          <a:ln/>
        </p:spPr>
        <p:txBody>
          <a:bodyPr wrap="square" lIns="0" tIns="0" rIns="0" bIns="0" rtlCol="0" anchor="ctr"/>
          <a:lstStyle/>
          <a:p>
            <a:pPr>
              <a:lnSpc>
                <a:spcPct val="130000"/>
              </a:lnSpc>
            </a:pPr>
            <a:r>
              <a:rPr lang="en-US" sz="1035" b="1" dirty="0">
                <a:solidFill>
                  <a:srgbClr val="1F2937"/>
                </a:solidFill>
                <a:latin typeface="Sorts Mill Goudy" pitchFamily="34" charset="0"/>
                <a:ea typeface="Sorts Mill Goudy" pitchFamily="34" charset="-122"/>
                <a:cs typeface="Sorts Mill Goudy" pitchFamily="34" charset="-120"/>
              </a:rPr>
              <a:t>Hidden Size (per direction)</a:t>
            </a:r>
            <a:endParaRPr lang="en-US" sz="1600" dirty="0"/>
          </a:p>
        </p:txBody>
      </p:sp>
      <p:sp>
        <p:nvSpPr>
          <p:cNvPr id="19" name="Text 17"/>
          <p:cNvSpPr/>
          <p:nvPr/>
        </p:nvSpPr>
        <p:spPr>
          <a:xfrm>
            <a:off x="5468916" y="4231051"/>
            <a:ext cx="271116" cy="230038"/>
          </a:xfrm>
          <a:prstGeom prst="rect">
            <a:avLst/>
          </a:prstGeom>
          <a:noFill/>
          <a:ln/>
        </p:spPr>
        <p:txBody>
          <a:bodyPr wrap="square" lIns="0" tIns="0" rIns="0" bIns="0" rtlCol="0" anchor="ctr"/>
          <a:lstStyle/>
          <a:p>
            <a:pPr>
              <a:lnSpc>
                <a:spcPct val="130000"/>
              </a:lnSpc>
            </a:pPr>
            <a:r>
              <a:rPr lang="en-US" sz="1164" b="1" dirty="0">
                <a:solidFill>
                  <a:srgbClr val="8B0000"/>
                </a:solidFill>
                <a:latin typeface="Sorts Mill Goudy" pitchFamily="34" charset="0"/>
                <a:ea typeface="Sorts Mill Goudy" pitchFamily="34" charset="-122"/>
                <a:cs typeface="Sorts Mill Goudy" pitchFamily="34" charset="-120"/>
              </a:rPr>
              <a:t>128</a:t>
            </a:r>
            <a:endParaRPr lang="en-US" sz="1600" dirty="0"/>
          </a:p>
        </p:txBody>
      </p:sp>
      <p:sp>
        <p:nvSpPr>
          <p:cNvPr id="20" name="Shape 18"/>
          <p:cNvSpPr/>
          <p:nvPr/>
        </p:nvSpPr>
        <p:spPr>
          <a:xfrm>
            <a:off x="529908" y="4670588"/>
            <a:ext cx="5233358" cy="435429"/>
          </a:xfrm>
          <a:custGeom>
            <a:avLst/>
            <a:gdLst/>
            <a:ahLst/>
            <a:cxnLst/>
            <a:rect l="l" t="t" r="r" b="b"/>
            <a:pathLst>
              <a:path w="5233358" h="435429">
                <a:moveTo>
                  <a:pt x="0" y="0"/>
                </a:moveTo>
                <a:lnTo>
                  <a:pt x="5233358" y="0"/>
                </a:lnTo>
                <a:lnTo>
                  <a:pt x="5233358" y="435429"/>
                </a:lnTo>
                <a:lnTo>
                  <a:pt x="0" y="435429"/>
                </a:lnTo>
                <a:lnTo>
                  <a:pt x="0" y="0"/>
                </a:lnTo>
                <a:close/>
              </a:path>
            </a:pathLst>
          </a:custGeom>
          <a:solidFill>
            <a:srgbClr val="FFFFFF"/>
          </a:solidFill>
          <a:ln w="12700">
            <a:solidFill>
              <a:srgbClr val="E5E7EB"/>
            </a:solidFill>
            <a:prstDash val="solid"/>
          </a:ln>
        </p:spPr>
      </p:sp>
      <p:sp>
        <p:nvSpPr>
          <p:cNvPr id="21" name="Text 19"/>
          <p:cNvSpPr/>
          <p:nvPr/>
        </p:nvSpPr>
        <p:spPr>
          <a:xfrm>
            <a:off x="632604" y="4789714"/>
            <a:ext cx="1084464" cy="197175"/>
          </a:xfrm>
          <a:prstGeom prst="rect">
            <a:avLst/>
          </a:prstGeom>
          <a:noFill/>
          <a:ln/>
        </p:spPr>
        <p:txBody>
          <a:bodyPr wrap="square" lIns="0" tIns="0" rIns="0" bIns="0" rtlCol="0" anchor="ctr"/>
          <a:lstStyle/>
          <a:p>
            <a:pPr>
              <a:lnSpc>
                <a:spcPct val="130000"/>
              </a:lnSpc>
            </a:pPr>
            <a:r>
              <a:rPr lang="en-US" sz="1035" b="1" dirty="0">
                <a:solidFill>
                  <a:srgbClr val="1F2937"/>
                </a:solidFill>
                <a:latin typeface="Sorts Mill Goudy" pitchFamily="34" charset="0"/>
                <a:ea typeface="Sorts Mill Goudy" pitchFamily="34" charset="-122"/>
                <a:cs typeface="Sorts Mill Goudy" pitchFamily="34" charset="-120"/>
              </a:rPr>
              <a:t>Total Hidden Size</a:t>
            </a:r>
            <a:endParaRPr lang="en-US" sz="1600" dirty="0"/>
          </a:p>
        </p:txBody>
      </p:sp>
      <p:sp>
        <p:nvSpPr>
          <p:cNvPr id="22" name="Text 20"/>
          <p:cNvSpPr/>
          <p:nvPr/>
        </p:nvSpPr>
        <p:spPr>
          <a:xfrm>
            <a:off x="5469044" y="4773283"/>
            <a:ext cx="271116" cy="230038"/>
          </a:xfrm>
          <a:prstGeom prst="rect">
            <a:avLst/>
          </a:prstGeom>
          <a:noFill/>
          <a:ln/>
        </p:spPr>
        <p:txBody>
          <a:bodyPr wrap="square" lIns="0" tIns="0" rIns="0" bIns="0" rtlCol="0" anchor="ctr"/>
          <a:lstStyle/>
          <a:p>
            <a:pPr>
              <a:lnSpc>
                <a:spcPct val="130000"/>
              </a:lnSpc>
            </a:pPr>
            <a:r>
              <a:rPr lang="en-US" sz="1164" b="1" dirty="0">
                <a:solidFill>
                  <a:srgbClr val="8B0000"/>
                </a:solidFill>
                <a:latin typeface="Sorts Mill Goudy" pitchFamily="34" charset="0"/>
                <a:ea typeface="Sorts Mill Goudy" pitchFamily="34" charset="-122"/>
                <a:cs typeface="Sorts Mill Goudy" pitchFamily="34" charset="-120"/>
              </a:rPr>
              <a:t>256</a:t>
            </a:r>
            <a:endParaRPr lang="en-US" sz="1600" dirty="0"/>
          </a:p>
        </p:txBody>
      </p:sp>
      <p:sp>
        <p:nvSpPr>
          <p:cNvPr id="23" name="Shape 21"/>
          <p:cNvSpPr/>
          <p:nvPr/>
        </p:nvSpPr>
        <p:spPr>
          <a:xfrm>
            <a:off x="529908" y="5212819"/>
            <a:ext cx="5233358" cy="435429"/>
          </a:xfrm>
          <a:custGeom>
            <a:avLst/>
            <a:gdLst/>
            <a:ahLst/>
            <a:cxnLst/>
            <a:rect l="l" t="t" r="r" b="b"/>
            <a:pathLst>
              <a:path w="5233358" h="435429">
                <a:moveTo>
                  <a:pt x="0" y="0"/>
                </a:moveTo>
                <a:lnTo>
                  <a:pt x="5233358" y="0"/>
                </a:lnTo>
                <a:lnTo>
                  <a:pt x="5233358" y="435429"/>
                </a:lnTo>
                <a:lnTo>
                  <a:pt x="0" y="435429"/>
                </a:lnTo>
                <a:lnTo>
                  <a:pt x="0" y="0"/>
                </a:lnTo>
                <a:close/>
              </a:path>
            </a:pathLst>
          </a:custGeom>
          <a:solidFill>
            <a:srgbClr val="FFFFFF"/>
          </a:solidFill>
          <a:ln w="12700">
            <a:solidFill>
              <a:srgbClr val="E5E7EB"/>
            </a:solidFill>
            <a:prstDash val="solid"/>
          </a:ln>
        </p:spPr>
      </p:sp>
      <p:sp>
        <p:nvSpPr>
          <p:cNvPr id="24" name="Text 22"/>
          <p:cNvSpPr/>
          <p:nvPr/>
        </p:nvSpPr>
        <p:spPr>
          <a:xfrm>
            <a:off x="632604" y="5331946"/>
            <a:ext cx="435429" cy="197175"/>
          </a:xfrm>
          <a:prstGeom prst="rect">
            <a:avLst/>
          </a:prstGeom>
          <a:noFill/>
          <a:ln/>
        </p:spPr>
        <p:txBody>
          <a:bodyPr wrap="square" lIns="0" tIns="0" rIns="0" bIns="0" rtlCol="0" anchor="ctr"/>
          <a:lstStyle/>
          <a:p>
            <a:pPr>
              <a:lnSpc>
                <a:spcPct val="130000"/>
              </a:lnSpc>
            </a:pPr>
            <a:r>
              <a:rPr lang="en-US" sz="1035" b="1" dirty="0">
                <a:solidFill>
                  <a:srgbClr val="1F2937"/>
                </a:solidFill>
                <a:latin typeface="Sorts Mill Goudy" pitchFamily="34" charset="0"/>
                <a:ea typeface="Sorts Mill Goudy" pitchFamily="34" charset="-122"/>
                <a:cs typeface="Sorts Mill Goudy" pitchFamily="34" charset="-120"/>
              </a:rPr>
              <a:t>Layers</a:t>
            </a:r>
            <a:endParaRPr lang="en-US" sz="1600" dirty="0"/>
          </a:p>
        </p:txBody>
      </p:sp>
      <p:sp>
        <p:nvSpPr>
          <p:cNvPr id="25" name="Text 23"/>
          <p:cNvSpPr/>
          <p:nvPr/>
        </p:nvSpPr>
        <p:spPr>
          <a:xfrm>
            <a:off x="5612048" y="5315515"/>
            <a:ext cx="123235" cy="230038"/>
          </a:xfrm>
          <a:prstGeom prst="rect">
            <a:avLst/>
          </a:prstGeom>
          <a:noFill/>
          <a:ln/>
        </p:spPr>
        <p:txBody>
          <a:bodyPr wrap="square" lIns="0" tIns="0" rIns="0" bIns="0" rtlCol="0" anchor="ctr"/>
          <a:lstStyle/>
          <a:p>
            <a:pPr>
              <a:lnSpc>
                <a:spcPct val="130000"/>
              </a:lnSpc>
            </a:pPr>
            <a:r>
              <a:rPr lang="en-US" sz="1164" b="1" dirty="0">
                <a:solidFill>
                  <a:srgbClr val="8B0000"/>
                </a:solidFill>
                <a:latin typeface="Sorts Mill Goudy" pitchFamily="34" charset="0"/>
                <a:ea typeface="Sorts Mill Goudy" pitchFamily="34" charset="-122"/>
                <a:cs typeface="Sorts Mill Goudy" pitchFamily="34" charset="-120"/>
              </a:rPr>
              <a:t>1</a:t>
            </a:r>
            <a:endParaRPr lang="en-US" sz="1600" dirty="0"/>
          </a:p>
        </p:txBody>
      </p:sp>
      <p:sp>
        <p:nvSpPr>
          <p:cNvPr id="26" name="Shape 24"/>
          <p:cNvSpPr/>
          <p:nvPr/>
        </p:nvSpPr>
        <p:spPr>
          <a:xfrm>
            <a:off x="6229247" y="1084464"/>
            <a:ext cx="5635925" cy="3368410"/>
          </a:xfrm>
          <a:custGeom>
            <a:avLst/>
            <a:gdLst/>
            <a:ahLst/>
            <a:cxnLst/>
            <a:rect l="l" t="t" r="r" b="b"/>
            <a:pathLst>
              <a:path w="5635925" h="3368410">
                <a:moveTo>
                  <a:pt x="0" y="0"/>
                </a:moveTo>
                <a:lnTo>
                  <a:pt x="5635925" y="0"/>
                </a:lnTo>
                <a:lnTo>
                  <a:pt x="5635925" y="3368410"/>
                </a:lnTo>
                <a:lnTo>
                  <a:pt x="0" y="3368410"/>
                </a:lnTo>
                <a:lnTo>
                  <a:pt x="0" y="0"/>
                </a:lnTo>
                <a:close/>
              </a:path>
            </a:pathLst>
          </a:custGeom>
          <a:solidFill>
            <a:srgbClr val="F9FAFB"/>
          </a:solidFill>
          <a:ln/>
        </p:spPr>
      </p:sp>
      <p:sp>
        <p:nvSpPr>
          <p:cNvPr id="27" name="Text 25"/>
          <p:cNvSpPr/>
          <p:nvPr/>
        </p:nvSpPr>
        <p:spPr>
          <a:xfrm>
            <a:off x="6426423" y="1281639"/>
            <a:ext cx="5323730" cy="230038"/>
          </a:xfrm>
          <a:prstGeom prst="rect">
            <a:avLst/>
          </a:prstGeom>
          <a:noFill/>
          <a:ln/>
        </p:spPr>
        <p:txBody>
          <a:bodyPr wrap="square" lIns="0" tIns="0" rIns="0" bIns="0" rtlCol="0" anchor="ctr"/>
          <a:lstStyle/>
          <a:p>
            <a:pPr>
              <a:lnSpc>
                <a:spcPct val="120000"/>
              </a:lnSpc>
            </a:pPr>
            <a:r>
              <a:rPr lang="en-US" sz="1294" b="1" dirty="0">
                <a:solidFill>
                  <a:srgbClr val="1F2937"/>
                </a:solidFill>
                <a:latin typeface="Sorts Mill Goudy" pitchFamily="34" charset="0"/>
                <a:ea typeface="Sorts Mill Goudy" pitchFamily="34" charset="-122"/>
                <a:cs typeface="Sorts Mill Goudy" pitchFamily="34" charset="-120"/>
              </a:rPr>
              <a:t>Training Hyperparameters</a:t>
            </a:r>
            <a:endParaRPr lang="en-US" sz="1600" dirty="0"/>
          </a:p>
        </p:txBody>
      </p:sp>
      <p:sp>
        <p:nvSpPr>
          <p:cNvPr id="28" name="Shape 26"/>
          <p:cNvSpPr/>
          <p:nvPr/>
        </p:nvSpPr>
        <p:spPr>
          <a:xfrm>
            <a:off x="6430530" y="1647235"/>
            <a:ext cx="5233358" cy="435429"/>
          </a:xfrm>
          <a:custGeom>
            <a:avLst/>
            <a:gdLst/>
            <a:ahLst/>
            <a:cxnLst/>
            <a:rect l="l" t="t" r="r" b="b"/>
            <a:pathLst>
              <a:path w="5233358" h="435429">
                <a:moveTo>
                  <a:pt x="0" y="0"/>
                </a:moveTo>
                <a:lnTo>
                  <a:pt x="5233358" y="0"/>
                </a:lnTo>
                <a:lnTo>
                  <a:pt x="5233358" y="435429"/>
                </a:lnTo>
                <a:lnTo>
                  <a:pt x="0" y="435429"/>
                </a:lnTo>
                <a:lnTo>
                  <a:pt x="0" y="0"/>
                </a:lnTo>
                <a:close/>
              </a:path>
            </a:pathLst>
          </a:custGeom>
          <a:solidFill>
            <a:srgbClr val="FFFFFF"/>
          </a:solidFill>
          <a:ln w="12700">
            <a:solidFill>
              <a:srgbClr val="E5E7EB"/>
            </a:solidFill>
            <a:prstDash val="solid"/>
          </a:ln>
        </p:spPr>
      </p:sp>
      <p:sp>
        <p:nvSpPr>
          <p:cNvPr id="29" name="Text 27"/>
          <p:cNvSpPr/>
          <p:nvPr/>
        </p:nvSpPr>
        <p:spPr>
          <a:xfrm>
            <a:off x="6533226" y="1766361"/>
            <a:ext cx="862642" cy="197175"/>
          </a:xfrm>
          <a:prstGeom prst="rect">
            <a:avLst/>
          </a:prstGeom>
          <a:noFill/>
          <a:ln/>
        </p:spPr>
        <p:txBody>
          <a:bodyPr wrap="square" lIns="0" tIns="0" rIns="0" bIns="0" rtlCol="0" anchor="ctr"/>
          <a:lstStyle/>
          <a:p>
            <a:pPr>
              <a:lnSpc>
                <a:spcPct val="130000"/>
              </a:lnSpc>
            </a:pPr>
            <a:r>
              <a:rPr lang="en-US" sz="1035" b="1" dirty="0">
                <a:solidFill>
                  <a:srgbClr val="1F2937"/>
                </a:solidFill>
                <a:latin typeface="Sorts Mill Goudy" pitchFamily="34" charset="0"/>
                <a:ea typeface="Sorts Mill Goudy" pitchFamily="34" charset="-122"/>
                <a:cs typeface="Sorts Mill Goudy" pitchFamily="34" charset="-120"/>
              </a:rPr>
              <a:t>Learning Rate</a:t>
            </a:r>
            <a:endParaRPr lang="en-US" sz="1600" dirty="0"/>
          </a:p>
        </p:txBody>
      </p:sp>
      <p:sp>
        <p:nvSpPr>
          <p:cNvPr id="30" name="Text 28"/>
          <p:cNvSpPr/>
          <p:nvPr/>
        </p:nvSpPr>
        <p:spPr>
          <a:xfrm>
            <a:off x="11240655" y="1749930"/>
            <a:ext cx="394350" cy="230038"/>
          </a:xfrm>
          <a:prstGeom prst="rect">
            <a:avLst/>
          </a:prstGeom>
          <a:noFill/>
          <a:ln/>
        </p:spPr>
        <p:txBody>
          <a:bodyPr wrap="square" lIns="0" tIns="0" rIns="0" bIns="0" rtlCol="0" anchor="ctr"/>
          <a:lstStyle/>
          <a:p>
            <a:pPr>
              <a:lnSpc>
                <a:spcPct val="130000"/>
              </a:lnSpc>
            </a:pPr>
            <a:r>
              <a:rPr lang="en-US" sz="1164" b="1" dirty="0">
                <a:solidFill>
                  <a:srgbClr val="8B0000"/>
                </a:solidFill>
                <a:latin typeface="Sorts Mill Goudy" pitchFamily="34" charset="0"/>
                <a:ea typeface="Sorts Mill Goudy" pitchFamily="34" charset="-122"/>
                <a:cs typeface="Sorts Mill Goudy" pitchFamily="34" charset="-120"/>
              </a:rPr>
              <a:t>0.001</a:t>
            </a:r>
            <a:endParaRPr lang="en-US" sz="1600" dirty="0"/>
          </a:p>
        </p:txBody>
      </p:sp>
      <p:sp>
        <p:nvSpPr>
          <p:cNvPr id="31" name="Shape 29"/>
          <p:cNvSpPr/>
          <p:nvPr/>
        </p:nvSpPr>
        <p:spPr>
          <a:xfrm>
            <a:off x="6430530" y="2189466"/>
            <a:ext cx="5233358" cy="435429"/>
          </a:xfrm>
          <a:custGeom>
            <a:avLst/>
            <a:gdLst/>
            <a:ahLst/>
            <a:cxnLst/>
            <a:rect l="l" t="t" r="r" b="b"/>
            <a:pathLst>
              <a:path w="5233358" h="435429">
                <a:moveTo>
                  <a:pt x="0" y="0"/>
                </a:moveTo>
                <a:lnTo>
                  <a:pt x="5233358" y="0"/>
                </a:lnTo>
                <a:lnTo>
                  <a:pt x="5233358" y="435429"/>
                </a:lnTo>
                <a:lnTo>
                  <a:pt x="0" y="435429"/>
                </a:lnTo>
                <a:lnTo>
                  <a:pt x="0" y="0"/>
                </a:lnTo>
                <a:close/>
              </a:path>
            </a:pathLst>
          </a:custGeom>
          <a:solidFill>
            <a:srgbClr val="FFFFFF"/>
          </a:solidFill>
          <a:ln w="12700">
            <a:solidFill>
              <a:srgbClr val="E5E7EB"/>
            </a:solidFill>
            <a:prstDash val="solid"/>
          </a:ln>
        </p:spPr>
      </p:sp>
      <p:sp>
        <p:nvSpPr>
          <p:cNvPr id="32" name="Text 30"/>
          <p:cNvSpPr/>
          <p:nvPr/>
        </p:nvSpPr>
        <p:spPr>
          <a:xfrm>
            <a:off x="6533226" y="2308593"/>
            <a:ext cx="649035" cy="197175"/>
          </a:xfrm>
          <a:prstGeom prst="rect">
            <a:avLst/>
          </a:prstGeom>
          <a:noFill/>
          <a:ln/>
        </p:spPr>
        <p:txBody>
          <a:bodyPr wrap="square" lIns="0" tIns="0" rIns="0" bIns="0" rtlCol="0" anchor="ctr"/>
          <a:lstStyle/>
          <a:p>
            <a:pPr>
              <a:lnSpc>
                <a:spcPct val="130000"/>
              </a:lnSpc>
            </a:pPr>
            <a:r>
              <a:rPr lang="en-US" sz="1035" b="1" dirty="0">
                <a:solidFill>
                  <a:srgbClr val="1F2937"/>
                </a:solidFill>
                <a:latin typeface="Sorts Mill Goudy" pitchFamily="34" charset="0"/>
                <a:ea typeface="Sorts Mill Goudy" pitchFamily="34" charset="-122"/>
                <a:cs typeface="Sorts Mill Goudy" pitchFamily="34" charset="-120"/>
              </a:rPr>
              <a:t>Batch Size</a:t>
            </a:r>
            <a:endParaRPr lang="en-US" sz="1600" dirty="0"/>
          </a:p>
        </p:txBody>
      </p:sp>
      <p:sp>
        <p:nvSpPr>
          <p:cNvPr id="33" name="Text 31"/>
          <p:cNvSpPr/>
          <p:nvPr/>
        </p:nvSpPr>
        <p:spPr>
          <a:xfrm>
            <a:off x="11414852" y="2292162"/>
            <a:ext cx="221822" cy="230038"/>
          </a:xfrm>
          <a:prstGeom prst="rect">
            <a:avLst/>
          </a:prstGeom>
          <a:noFill/>
          <a:ln/>
        </p:spPr>
        <p:txBody>
          <a:bodyPr wrap="square" lIns="0" tIns="0" rIns="0" bIns="0" rtlCol="0" anchor="ctr"/>
          <a:lstStyle/>
          <a:p>
            <a:pPr>
              <a:lnSpc>
                <a:spcPct val="130000"/>
              </a:lnSpc>
            </a:pPr>
            <a:r>
              <a:rPr lang="en-US" sz="1164" b="1" dirty="0">
                <a:solidFill>
                  <a:srgbClr val="8B0000"/>
                </a:solidFill>
                <a:latin typeface="Sorts Mill Goudy" pitchFamily="34" charset="0"/>
                <a:ea typeface="Sorts Mill Goudy" pitchFamily="34" charset="-122"/>
                <a:cs typeface="Sorts Mill Goudy" pitchFamily="34" charset="-120"/>
              </a:rPr>
              <a:t>64</a:t>
            </a:r>
            <a:endParaRPr lang="en-US" sz="1600" dirty="0"/>
          </a:p>
        </p:txBody>
      </p:sp>
      <p:sp>
        <p:nvSpPr>
          <p:cNvPr id="34" name="Shape 32"/>
          <p:cNvSpPr/>
          <p:nvPr/>
        </p:nvSpPr>
        <p:spPr>
          <a:xfrm>
            <a:off x="6430530" y="2731698"/>
            <a:ext cx="5233358" cy="435429"/>
          </a:xfrm>
          <a:custGeom>
            <a:avLst/>
            <a:gdLst/>
            <a:ahLst/>
            <a:cxnLst/>
            <a:rect l="l" t="t" r="r" b="b"/>
            <a:pathLst>
              <a:path w="5233358" h="435429">
                <a:moveTo>
                  <a:pt x="0" y="0"/>
                </a:moveTo>
                <a:lnTo>
                  <a:pt x="5233358" y="0"/>
                </a:lnTo>
                <a:lnTo>
                  <a:pt x="5233358" y="435429"/>
                </a:lnTo>
                <a:lnTo>
                  <a:pt x="0" y="435429"/>
                </a:lnTo>
                <a:lnTo>
                  <a:pt x="0" y="0"/>
                </a:lnTo>
                <a:close/>
              </a:path>
            </a:pathLst>
          </a:custGeom>
          <a:solidFill>
            <a:srgbClr val="FFFFFF"/>
          </a:solidFill>
          <a:ln w="12700">
            <a:solidFill>
              <a:srgbClr val="E5E7EB"/>
            </a:solidFill>
            <a:prstDash val="solid"/>
          </a:ln>
        </p:spPr>
      </p:sp>
      <p:sp>
        <p:nvSpPr>
          <p:cNvPr id="35" name="Text 33"/>
          <p:cNvSpPr/>
          <p:nvPr/>
        </p:nvSpPr>
        <p:spPr>
          <a:xfrm>
            <a:off x="6533226" y="2850825"/>
            <a:ext cx="846210" cy="197175"/>
          </a:xfrm>
          <a:prstGeom prst="rect">
            <a:avLst/>
          </a:prstGeom>
          <a:noFill/>
          <a:ln/>
        </p:spPr>
        <p:txBody>
          <a:bodyPr wrap="square" lIns="0" tIns="0" rIns="0" bIns="0" rtlCol="0" anchor="ctr"/>
          <a:lstStyle/>
          <a:p>
            <a:pPr>
              <a:lnSpc>
                <a:spcPct val="130000"/>
              </a:lnSpc>
            </a:pPr>
            <a:r>
              <a:rPr lang="en-US" sz="1035" b="1" dirty="0">
                <a:solidFill>
                  <a:srgbClr val="1F2937"/>
                </a:solidFill>
                <a:latin typeface="Sorts Mill Goudy" pitchFamily="34" charset="0"/>
                <a:ea typeface="Sorts Mill Goudy" pitchFamily="34" charset="-122"/>
                <a:cs typeface="Sorts Mill Goudy" pitchFamily="34" charset="-120"/>
              </a:rPr>
              <a:t>Dropout Rate</a:t>
            </a:r>
            <a:endParaRPr lang="en-US" sz="1600" dirty="0"/>
          </a:p>
        </p:txBody>
      </p:sp>
      <p:sp>
        <p:nvSpPr>
          <p:cNvPr id="36" name="Text 34"/>
          <p:cNvSpPr/>
          <p:nvPr/>
        </p:nvSpPr>
        <p:spPr>
          <a:xfrm>
            <a:off x="11309461" y="2834394"/>
            <a:ext cx="328625" cy="230038"/>
          </a:xfrm>
          <a:prstGeom prst="rect">
            <a:avLst/>
          </a:prstGeom>
          <a:noFill/>
          <a:ln/>
        </p:spPr>
        <p:txBody>
          <a:bodyPr wrap="square" lIns="0" tIns="0" rIns="0" bIns="0" rtlCol="0" anchor="ctr"/>
          <a:lstStyle/>
          <a:p>
            <a:pPr>
              <a:lnSpc>
                <a:spcPct val="130000"/>
              </a:lnSpc>
            </a:pPr>
            <a:r>
              <a:rPr lang="en-US" sz="1164" b="1" dirty="0">
                <a:solidFill>
                  <a:srgbClr val="8B0000"/>
                </a:solidFill>
                <a:latin typeface="Sorts Mill Goudy" pitchFamily="34" charset="0"/>
                <a:ea typeface="Sorts Mill Goudy" pitchFamily="34" charset="-122"/>
                <a:cs typeface="Sorts Mill Goudy" pitchFamily="34" charset="-120"/>
              </a:rPr>
              <a:t>0.30</a:t>
            </a:r>
            <a:endParaRPr lang="en-US" sz="1600" dirty="0"/>
          </a:p>
        </p:txBody>
      </p:sp>
      <p:sp>
        <p:nvSpPr>
          <p:cNvPr id="37" name="Shape 35"/>
          <p:cNvSpPr/>
          <p:nvPr/>
        </p:nvSpPr>
        <p:spPr>
          <a:xfrm>
            <a:off x="6430530" y="3273930"/>
            <a:ext cx="5233358" cy="435429"/>
          </a:xfrm>
          <a:custGeom>
            <a:avLst/>
            <a:gdLst/>
            <a:ahLst/>
            <a:cxnLst/>
            <a:rect l="l" t="t" r="r" b="b"/>
            <a:pathLst>
              <a:path w="5233358" h="435429">
                <a:moveTo>
                  <a:pt x="0" y="0"/>
                </a:moveTo>
                <a:lnTo>
                  <a:pt x="5233358" y="0"/>
                </a:lnTo>
                <a:lnTo>
                  <a:pt x="5233358" y="435429"/>
                </a:lnTo>
                <a:lnTo>
                  <a:pt x="0" y="435429"/>
                </a:lnTo>
                <a:lnTo>
                  <a:pt x="0" y="0"/>
                </a:lnTo>
                <a:close/>
              </a:path>
            </a:pathLst>
          </a:custGeom>
          <a:solidFill>
            <a:srgbClr val="FFFFFF"/>
          </a:solidFill>
          <a:ln w="12700">
            <a:solidFill>
              <a:srgbClr val="E5E7EB"/>
            </a:solidFill>
            <a:prstDash val="solid"/>
          </a:ln>
        </p:spPr>
      </p:sp>
      <p:sp>
        <p:nvSpPr>
          <p:cNvPr id="38" name="Text 36"/>
          <p:cNvSpPr/>
          <p:nvPr/>
        </p:nvSpPr>
        <p:spPr>
          <a:xfrm>
            <a:off x="6533226" y="3393057"/>
            <a:ext cx="977660" cy="197175"/>
          </a:xfrm>
          <a:prstGeom prst="rect">
            <a:avLst/>
          </a:prstGeom>
          <a:noFill/>
          <a:ln/>
        </p:spPr>
        <p:txBody>
          <a:bodyPr wrap="square" lIns="0" tIns="0" rIns="0" bIns="0" rtlCol="0" anchor="ctr"/>
          <a:lstStyle/>
          <a:p>
            <a:pPr>
              <a:lnSpc>
                <a:spcPct val="130000"/>
              </a:lnSpc>
            </a:pPr>
            <a:r>
              <a:rPr lang="en-US" sz="1035" b="1" dirty="0">
                <a:solidFill>
                  <a:srgbClr val="1F2937"/>
                </a:solidFill>
                <a:latin typeface="Sorts Mill Goudy" pitchFamily="34" charset="0"/>
                <a:ea typeface="Sorts Mill Goudy" pitchFamily="34" charset="-122"/>
                <a:cs typeface="Sorts Mill Goudy" pitchFamily="34" charset="-120"/>
              </a:rPr>
              <a:t>Loss Weight (α)</a:t>
            </a:r>
            <a:endParaRPr lang="en-US" sz="1600" dirty="0"/>
          </a:p>
        </p:txBody>
      </p:sp>
      <p:sp>
        <p:nvSpPr>
          <p:cNvPr id="39" name="Text 37"/>
          <p:cNvSpPr/>
          <p:nvPr/>
        </p:nvSpPr>
        <p:spPr>
          <a:xfrm>
            <a:off x="11318575" y="3376625"/>
            <a:ext cx="320410" cy="230038"/>
          </a:xfrm>
          <a:prstGeom prst="rect">
            <a:avLst/>
          </a:prstGeom>
          <a:noFill/>
          <a:ln/>
        </p:spPr>
        <p:txBody>
          <a:bodyPr wrap="square" lIns="0" tIns="0" rIns="0" bIns="0" rtlCol="0" anchor="ctr"/>
          <a:lstStyle/>
          <a:p>
            <a:pPr>
              <a:lnSpc>
                <a:spcPct val="130000"/>
              </a:lnSpc>
            </a:pPr>
            <a:r>
              <a:rPr lang="en-US" sz="1164" b="1" dirty="0">
                <a:solidFill>
                  <a:srgbClr val="8B0000"/>
                </a:solidFill>
                <a:latin typeface="Sorts Mill Goudy" pitchFamily="34" charset="0"/>
                <a:ea typeface="Sorts Mill Goudy" pitchFamily="34" charset="-122"/>
                <a:cs typeface="Sorts Mill Goudy" pitchFamily="34" charset="-120"/>
              </a:rPr>
              <a:t>0.50</a:t>
            </a:r>
            <a:endParaRPr lang="en-US" sz="1600" dirty="0"/>
          </a:p>
        </p:txBody>
      </p:sp>
      <p:sp>
        <p:nvSpPr>
          <p:cNvPr id="40" name="Shape 38"/>
          <p:cNvSpPr/>
          <p:nvPr/>
        </p:nvSpPr>
        <p:spPr>
          <a:xfrm>
            <a:off x="6430530" y="3816162"/>
            <a:ext cx="5233358" cy="435429"/>
          </a:xfrm>
          <a:custGeom>
            <a:avLst/>
            <a:gdLst/>
            <a:ahLst/>
            <a:cxnLst/>
            <a:rect l="l" t="t" r="r" b="b"/>
            <a:pathLst>
              <a:path w="5233358" h="435429">
                <a:moveTo>
                  <a:pt x="0" y="0"/>
                </a:moveTo>
                <a:lnTo>
                  <a:pt x="5233358" y="0"/>
                </a:lnTo>
                <a:lnTo>
                  <a:pt x="5233358" y="435429"/>
                </a:lnTo>
                <a:lnTo>
                  <a:pt x="0" y="435429"/>
                </a:lnTo>
                <a:lnTo>
                  <a:pt x="0" y="0"/>
                </a:lnTo>
                <a:close/>
              </a:path>
            </a:pathLst>
          </a:custGeom>
          <a:solidFill>
            <a:srgbClr val="FFFFFF"/>
          </a:solidFill>
          <a:ln w="12700">
            <a:solidFill>
              <a:srgbClr val="E5E7EB"/>
            </a:solidFill>
            <a:prstDash val="solid"/>
          </a:ln>
        </p:spPr>
      </p:sp>
      <p:sp>
        <p:nvSpPr>
          <p:cNvPr id="41" name="Text 39"/>
          <p:cNvSpPr/>
          <p:nvPr/>
        </p:nvSpPr>
        <p:spPr>
          <a:xfrm>
            <a:off x="6533226" y="3935288"/>
            <a:ext cx="854426" cy="197175"/>
          </a:xfrm>
          <a:prstGeom prst="rect">
            <a:avLst/>
          </a:prstGeom>
          <a:noFill/>
          <a:ln/>
        </p:spPr>
        <p:txBody>
          <a:bodyPr wrap="square" lIns="0" tIns="0" rIns="0" bIns="0" rtlCol="0" anchor="ctr"/>
          <a:lstStyle/>
          <a:p>
            <a:pPr>
              <a:lnSpc>
                <a:spcPct val="130000"/>
              </a:lnSpc>
            </a:pPr>
            <a:r>
              <a:rPr lang="en-US" sz="1035" b="1" dirty="0">
                <a:solidFill>
                  <a:srgbClr val="1F2937"/>
                </a:solidFill>
                <a:latin typeface="Sorts Mill Goudy" pitchFamily="34" charset="0"/>
                <a:ea typeface="Sorts Mill Goudy" pitchFamily="34" charset="-122"/>
                <a:cs typeface="Sorts Mill Goudy" pitchFamily="34" charset="-120"/>
              </a:rPr>
              <a:t>Random Seed</a:t>
            </a:r>
            <a:endParaRPr lang="en-US" sz="1600" dirty="0"/>
          </a:p>
        </p:txBody>
      </p:sp>
      <p:sp>
        <p:nvSpPr>
          <p:cNvPr id="42" name="Text 40"/>
          <p:cNvSpPr/>
          <p:nvPr/>
        </p:nvSpPr>
        <p:spPr>
          <a:xfrm>
            <a:off x="11419217" y="3918857"/>
            <a:ext cx="221822" cy="230038"/>
          </a:xfrm>
          <a:prstGeom prst="rect">
            <a:avLst/>
          </a:prstGeom>
          <a:noFill/>
          <a:ln/>
        </p:spPr>
        <p:txBody>
          <a:bodyPr wrap="square" lIns="0" tIns="0" rIns="0" bIns="0" rtlCol="0" anchor="ctr"/>
          <a:lstStyle/>
          <a:p>
            <a:pPr>
              <a:lnSpc>
                <a:spcPct val="130000"/>
              </a:lnSpc>
            </a:pPr>
            <a:r>
              <a:rPr lang="en-US" sz="1164" b="1" dirty="0">
                <a:solidFill>
                  <a:srgbClr val="8B0000"/>
                </a:solidFill>
                <a:latin typeface="Sorts Mill Goudy" pitchFamily="34" charset="0"/>
                <a:ea typeface="Sorts Mill Goudy" pitchFamily="34" charset="-122"/>
                <a:cs typeface="Sorts Mill Goudy" pitchFamily="34" charset="-120"/>
              </a:rPr>
              <a:t>42</a:t>
            </a:r>
            <a:endParaRPr lang="en-US" sz="1600" dirty="0"/>
          </a:p>
        </p:txBody>
      </p:sp>
      <p:sp>
        <p:nvSpPr>
          <p:cNvPr id="43" name="Shape 41"/>
          <p:cNvSpPr/>
          <p:nvPr/>
        </p:nvSpPr>
        <p:spPr>
          <a:xfrm>
            <a:off x="6229247" y="4650049"/>
            <a:ext cx="5635925" cy="2210005"/>
          </a:xfrm>
          <a:custGeom>
            <a:avLst/>
            <a:gdLst/>
            <a:ahLst/>
            <a:cxnLst/>
            <a:rect l="l" t="t" r="r" b="b"/>
            <a:pathLst>
              <a:path w="5635925" h="2210005">
                <a:moveTo>
                  <a:pt x="0" y="0"/>
                </a:moveTo>
                <a:lnTo>
                  <a:pt x="5635925" y="0"/>
                </a:lnTo>
                <a:lnTo>
                  <a:pt x="5635925" y="2210005"/>
                </a:lnTo>
                <a:lnTo>
                  <a:pt x="0" y="2210005"/>
                </a:lnTo>
                <a:lnTo>
                  <a:pt x="0" y="0"/>
                </a:lnTo>
                <a:close/>
              </a:path>
            </a:pathLst>
          </a:custGeom>
          <a:solidFill>
            <a:srgbClr val="8B0000"/>
          </a:solidFill>
          <a:ln/>
        </p:spPr>
      </p:sp>
      <p:sp>
        <p:nvSpPr>
          <p:cNvPr id="44" name="Text 42"/>
          <p:cNvSpPr/>
          <p:nvPr/>
        </p:nvSpPr>
        <p:spPr>
          <a:xfrm>
            <a:off x="6426423" y="4847224"/>
            <a:ext cx="5323730" cy="230038"/>
          </a:xfrm>
          <a:prstGeom prst="rect">
            <a:avLst/>
          </a:prstGeom>
          <a:noFill/>
          <a:ln/>
        </p:spPr>
        <p:txBody>
          <a:bodyPr wrap="square" lIns="0" tIns="0" rIns="0" bIns="0" rtlCol="0" anchor="ctr"/>
          <a:lstStyle/>
          <a:p>
            <a:pPr>
              <a:lnSpc>
                <a:spcPct val="120000"/>
              </a:lnSpc>
            </a:pPr>
            <a:r>
              <a:rPr lang="en-US" sz="1294" b="1" dirty="0">
                <a:solidFill>
                  <a:srgbClr val="FFFFFF"/>
                </a:solidFill>
                <a:latin typeface="Sorts Mill Goudy" pitchFamily="34" charset="0"/>
                <a:ea typeface="Sorts Mill Goudy" pitchFamily="34" charset="-122"/>
                <a:cs typeface="Sorts Mill Goudy" pitchFamily="34" charset="-120"/>
              </a:rPr>
              <a:t>Model Scale</a:t>
            </a:r>
            <a:endParaRPr lang="en-US" sz="1600" dirty="0"/>
          </a:p>
        </p:txBody>
      </p:sp>
      <p:sp>
        <p:nvSpPr>
          <p:cNvPr id="45" name="Text 43"/>
          <p:cNvSpPr/>
          <p:nvPr/>
        </p:nvSpPr>
        <p:spPr>
          <a:xfrm>
            <a:off x="6303188" y="5208712"/>
            <a:ext cx="5488043" cy="492938"/>
          </a:xfrm>
          <a:prstGeom prst="rect">
            <a:avLst/>
          </a:prstGeom>
          <a:noFill/>
          <a:ln/>
        </p:spPr>
        <p:txBody>
          <a:bodyPr wrap="square" lIns="0" tIns="0" rIns="0" bIns="0" rtlCol="0" anchor="ctr"/>
          <a:lstStyle/>
          <a:p>
            <a:pPr algn="ctr">
              <a:lnSpc>
                <a:spcPct val="80000"/>
              </a:lnSpc>
            </a:pPr>
            <a:r>
              <a:rPr lang="en-US" sz="3881" b="1" dirty="0">
                <a:solidFill>
                  <a:srgbClr val="FFFFFF"/>
                </a:solidFill>
                <a:latin typeface="Sorts Mill Goudy" pitchFamily="34" charset="0"/>
                <a:ea typeface="Sorts Mill Goudy" pitchFamily="34" charset="-122"/>
                <a:cs typeface="Sorts Mill Goudy" pitchFamily="34" charset="-120"/>
              </a:rPr>
              <a:t>1,784,352</a:t>
            </a:r>
            <a:endParaRPr lang="en-US" sz="1600" dirty="0"/>
          </a:p>
        </p:txBody>
      </p:sp>
      <p:sp>
        <p:nvSpPr>
          <p:cNvPr id="46" name="Text 44"/>
          <p:cNvSpPr/>
          <p:nvPr/>
        </p:nvSpPr>
        <p:spPr>
          <a:xfrm>
            <a:off x="6385344" y="5767375"/>
            <a:ext cx="5323730" cy="230038"/>
          </a:xfrm>
          <a:prstGeom prst="rect">
            <a:avLst/>
          </a:prstGeom>
          <a:noFill/>
          <a:ln/>
        </p:spPr>
        <p:txBody>
          <a:bodyPr wrap="square" lIns="0" tIns="0" rIns="0" bIns="0" rtlCol="0" anchor="ctr"/>
          <a:lstStyle/>
          <a:p>
            <a:pPr algn="ctr">
              <a:lnSpc>
                <a:spcPct val="120000"/>
              </a:lnSpc>
            </a:pPr>
            <a:r>
              <a:rPr lang="en-US" sz="1294" dirty="0">
                <a:solidFill>
                  <a:srgbClr val="FFFFFF"/>
                </a:solidFill>
                <a:latin typeface="Sorts Mill Goudy" pitchFamily="34" charset="0"/>
                <a:ea typeface="Sorts Mill Goudy" pitchFamily="34" charset="-122"/>
                <a:cs typeface="Sorts Mill Goudy" pitchFamily="34" charset="-120"/>
              </a:rPr>
              <a:t>Trainable Parameters</a:t>
            </a:r>
            <a:endParaRPr lang="en-US" sz="1600" dirty="0"/>
          </a:p>
        </p:txBody>
      </p:sp>
      <p:sp>
        <p:nvSpPr>
          <p:cNvPr id="47" name="Shape 45"/>
          <p:cNvSpPr/>
          <p:nvPr/>
        </p:nvSpPr>
        <p:spPr>
          <a:xfrm>
            <a:off x="6426423" y="6132970"/>
            <a:ext cx="5241574" cy="8216"/>
          </a:xfrm>
          <a:custGeom>
            <a:avLst/>
            <a:gdLst/>
            <a:ahLst/>
            <a:cxnLst/>
            <a:rect l="l" t="t" r="r" b="b"/>
            <a:pathLst>
              <a:path w="5241574" h="8216">
                <a:moveTo>
                  <a:pt x="0" y="0"/>
                </a:moveTo>
                <a:lnTo>
                  <a:pt x="5241574" y="0"/>
                </a:lnTo>
                <a:lnTo>
                  <a:pt x="5241574" y="8216"/>
                </a:lnTo>
                <a:lnTo>
                  <a:pt x="0" y="8216"/>
                </a:lnTo>
                <a:lnTo>
                  <a:pt x="0" y="0"/>
                </a:lnTo>
                <a:close/>
              </a:path>
            </a:pathLst>
          </a:custGeom>
          <a:solidFill>
            <a:srgbClr val="FFFFFF">
              <a:alpha val="30196"/>
            </a:srgbClr>
          </a:solidFill>
          <a:ln/>
        </p:spPr>
      </p:sp>
      <p:sp>
        <p:nvSpPr>
          <p:cNvPr id="48" name="Text 46"/>
          <p:cNvSpPr/>
          <p:nvPr/>
        </p:nvSpPr>
        <p:spPr>
          <a:xfrm>
            <a:off x="6426423" y="6268528"/>
            <a:ext cx="5307299" cy="394350"/>
          </a:xfrm>
          <a:prstGeom prst="rect">
            <a:avLst/>
          </a:prstGeom>
          <a:noFill/>
          <a:ln/>
        </p:spPr>
        <p:txBody>
          <a:bodyPr wrap="square" lIns="0" tIns="0" rIns="0" bIns="0" rtlCol="0" anchor="ctr"/>
          <a:lstStyle/>
          <a:p>
            <a:pPr>
              <a:lnSpc>
                <a:spcPct val="130000"/>
              </a:lnSpc>
            </a:pPr>
            <a:r>
              <a:rPr lang="en-US" sz="1035" dirty="0">
                <a:solidFill>
                  <a:srgbClr val="FFFFFF"/>
                </a:solidFill>
                <a:latin typeface="Sorts Mill Goudy" pitchFamily="34" charset="0"/>
                <a:ea typeface="Sorts Mill Goudy" pitchFamily="34" charset="-122"/>
                <a:cs typeface="Sorts Mill Goudy" pitchFamily="34" charset="-120"/>
              </a:rPr>
              <a:t>Intentionally modest compared to contemporary generative QA systems—reinforces role as interpretable baseline</a:t>
            </a:r>
            <a:endParaRPr lang="en-US" sz="1600" dirty="0"/>
          </a:p>
        </p:txBody>
      </p:sp>
    </p:spTree>
    <p:extLst>
      <p:ext uri="{BB962C8B-B14F-4D97-AF65-F5344CB8AC3E}">
        <p14:creationId xmlns:p14="http://schemas.microsoft.com/office/powerpoint/2010/main" val="4060597884"/>
      </p:ext>
    </p:extLst>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57275" y="357275"/>
            <a:ext cx="11539974" cy="178637"/>
          </a:xfrm>
          <a:prstGeom prst="rect">
            <a:avLst/>
          </a:prstGeom>
          <a:noFill/>
          <a:ln/>
        </p:spPr>
        <p:txBody>
          <a:bodyPr wrap="square" lIns="0" tIns="0" rIns="0" bIns="0" rtlCol="0" anchor="ctr"/>
          <a:lstStyle/>
          <a:p>
            <a:pPr>
              <a:lnSpc>
                <a:spcPct val="120000"/>
              </a:lnSpc>
            </a:pPr>
            <a:r>
              <a:rPr lang="en-US" sz="985" b="1" kern="0" spc="49" dirty="0">
                <a:solidFill>
                  <a:srgbClr val="8B0000"/>
                </a:solidFill>
                <a:latin typeface="Sorts Mill Goudy" pitchFamily="34" charset="0"/>
                <a:ea typeface="Sorts Mill Goudy" pitchFamily="34" charset="-122"/>
                <a:cs typeface="Sorts Mill Goudy" pitchFamily="34" charset="-120"/>
              </a:rPr>
              <a:t>5.1 INNOVATION HIGHLIGHTS</a:t>
            </a:r>
            <a:endParaRPr lang="en-US" sz="1600" dirty="0"/>
          </a:p>
        </p:txBody>
      </p:sp>
      <p:sp>
        <p:nvSpPr>
          <p:cNvPr id="3" name="Text 1"/>
          <p:cNvSpPr/>
          <p:nvPr/>
        </p:nvSpPr>
        <p:spPr>
          <a:xfrm>
            <a:off x="357275" y="607367"/>
            <a:ext cx="11638224" cy="357275"/>
          </a:xfrm>
          <a:prstGeom prst="rect">
            <a:avLst/>
          </a:prstGeom>
          <a:noFill/>
          <a:ln/>
        </p:spPr>
        <p:txBody>
          <a:bodyPr wrap="square" lIns="0" tIns="0" rIns="0" bIns="0" rtlCol="0" anchor="ctr"/>
          <a:lstStyle/>
          <a:p>
            <a:pPr>
              <a:lnSpc>
                <a:spcPct val="90000"/>
              </a:lnSpc>
            </a:pPr>
            <a:r>
              <a:rPr lang="en-US" sz="2532" b="1" dirty="0">
                <a:solidFill>
                  <a:srgbClr val="1F2937"/>
                </a:solidFill>
                <a:latin typeface="Sorts Mill Goudy" pitchFamily="34" charset="0"/>
                <a:ea typeface="Sorts Mill Goudy" pitchFamily="34" charset="-122"/>
                <a:cs typeface="Sorts Mill Goudy" pitchFamily="34" charset="-120"/>
              </a:rPr>
              <a:t>Innovation 1: Frame-Aware Predicate Disambiguation</a:t>
            </a:r>
            <a:endParaRPr lang="en-US" sz="1600" dirty="0"/>
          </a:p>
        </p:txBody>
      </p:sp>
      <p:sp>
        <p:nvSpPr>
          <p:cNvPr id="4" name="Shape 2"/>
          <p:cNvSpPr/>
          <p:nvPr/>
        </p:nvSpPr>
        <p:spPr>
          <a:xfrm>
            <a:off x="375138" y="1179007"/>
            <a:ext cx="5582418" cy="3018971"/>
          </a:xfrm>
          <a:custGeom>
            <a:avLst/>
            <a:gdLst/>
            <a:ahLst/>
            <a:cxnLst/>
            <a:rect l="l" t="t" r="r" b="b"/>
            <a:pathLst>
              <a:path w="5582418" h="3018971">
                <a:moveTo>
                  <a:pt x="0" y="0"/>
                </a:moveTo>
                <a:lnTo>
                  <a:pt x="5582418" y="0"/>
                </a:lnTo>
                <a:lnTo>
                  <a:pt x="5582418" y="3018971"/>
                </a:lnTo>
                <a:lnTo>
                  <a:pt x="0" y="3018971"/>
                </a:lnTo>
                <a:lnTo>
                  <a:pt x="0" y="0"/>
                </a:lnTo>
                <a:close/>
              </a:path>
            </a:pathLst>
          </a:custGeom>
          <a:solidFill>
            <a:srgbClr val="F9FAFB"/>
          </a:solidFill>
          <a:ln/>
        </p:spPr>
      </p:sp>
      <p:sp>
        <p:nvSpPr>
          <p:cNvPr id="5" name="Shape 3"/>
          <p:cNvSpPr/>
          <p:nvPr/>
        </p:nvSpPr>
        <p:spPr>
          <a:xfrm>
            <a:off x="375138" y="1179007"/>
            <a:ext cx="35727" cy="3018971"/>
          </a:xfrm>
          <a:custGeom>
            <a:avLst/>
            <a:gdLst/>
            <a:ahLst/>
            <a:cxnLst/>
            <a:rect l="l" t="t" r="r" b="b"/>
            <a:pathLst>
              <a:path w="35727" h="3018971">
                <a:moveTo>
                  <a:pt x="0" y="0"/>
                </a:moveTo>
                <a:lnTo>
                  <a:pt x="35727" y="0"/>
                </a:lnTo>
                <a:lnTo>
                  <a:pt x="35727" y="3018971"/>
                </a:lnTo>
                <a:lnTo>
                  <a:pt x="0" y="3018971"/>
                </a:lnTo>
                <a:lnTo>
                  <a:pt x="0" y="0"/>
                </a:lnTo>
                <a:close/>
              </a:path>
            </a:pathLst>
          </a:custGeom>
          <a:solidFill>
            <a:srgbClr val="8B0000"/>
          </a:solidFill>
          <a:ln/>
        </p:spPr>
      </p:sp>
      <p:sp>
        <p:nvSpPr>
          <p:cNvPr id="6" name="Text 4"/>
          <p:cNvSpPr/>
          <p:nvPr/>
        </p:nvSpPr>
        <p:spPr>
          <a:xfrm>
            <a:off x="607367" y="1393371"/>
            <a:ext cx="5225143" cy="250092"/>
          </a:xfrm>
          <a:prstGeom prst="rect">
            <a:avLst/>
          </a:prstGeom>
          <a:noFill/>
          <a:ln/>
        </p:spPr>
        <p:txBody>
          <a:bodyPr wrap="square" lIns="0" tIns="0" rIns="0" bIns="0" rtlCol="0" anchor="ctr"/>
          <a:lstStyle/>
          <a:p>
            <a:pPr>
              <a:lnSpc>
                <a:spcPct val="120000"/>
              </a:lnSpc>
            </a:pPr>
            <a:r>
              <a:rPr lang="en-US" sz="1407" b="1" dirty="0">
                <a:solidFill>
                  <a:srgbClr val="1F2937"/>
                </a:solidFill>
                <a:latin typeface="Sorts Mill Goudy" pitchFamily="34" charset="0"/>
                <a:ea typeface="Sorts Mill Goudy" pitchFamily="34" charset="-122"/>
                <a:cs typeface="Sorts Mill Goudy" pitchFamily="34" charset="-120"/>
              </a:rPr>
              <a:t>The Problem: Predicate Ambiguity</a:t>
            </a:r>
            <a:endParaRPr lang="en-US" sz="1600" dirty="0"/>
          </a:p>
        </p:txBody>
      </p:sp>
      <p:sp>
        <p:nvSpPr>
          <p:cNvPr id="7" name="Text 5"/>
          <p:cNvSpPr/>
          <p:nvPr/>
        </p:nvSpPr>
        <p:spPr>
          <a:xfrm>
            <a:off x="607367" y="1750646"/>
            <a:ext cx="5207279" cy="232229"/>
          </a:xfrm>
          <a:prstGeom prst="rect">
            <a:avLst/>
          </a:prstGeom>
          <a:noFill/>
          <a:ln/>
        </p:spPr>
        <p:txBody>
          <a:bodyPr wrap="square" lIns="0" tIns="0" rIns="0" bIns="0" rtlCol="0" anchor="ctr"/>
          <a:lstStyle/>
          <a:p>
            <a:pPr>
              <a:lnSpc>
                <a:spcPct val="140000"/>
              </a:lnSpc>
            </a:pPr>
            <a:r>
              <a:rPr lang="en-US" sz="1125" dirty="0">
                <a:solidFill>
                  <a:srgbClr val="1F2937"/>
                </a:solidFill>
                <a:latin typeface="Sorts Mill Goudy" pitchFamily="34" charset="0"/>
                <a:ea typeface="Sorts Mill Goudy" pitchFamily="34" charset="-122"/>
                <a:cs typeface="Sorts Mill Goudy" pitchFamily="34" charset="-120"/>
              </a:rPr>
              <a:t>Many predicates are highly ambiguous without context. Consider:</a:t>
            </a:r>
            <a:endParaRPr lang="en-US" sz="1600" dirty="0"/>
          </a:p>
        </p:txBody>
      </p:sp>
      <p:sp>
        <p:nvSpPr>
          <p:cNvPr id="8" name="Shape 6"/>
          <p:cNvSpPr/>
          <p:nvPr/>
        </p:nvSpPr>
        <p:spPr>
          <a:xfrm>
            <a:off x="611833" y="2130251"/>
            <a:ext cx="5126892" cy="437662"/>
          </a:xfrm>
          <a:custGeom>
            <a:avLst/>
            <a:gdLst/>
            <a:ahLst/>
            <a:cxnLst/>
            <a:rect l="l" t="t" r="r" b="b"/>
            <a:pathLst>
              <a:path w="5126892" h="437662">
                <a:moveTo>
                  <a:pt x="0" y="0"/>
                </a:moveTo>
                <a:lnTo>
                  <a:pt x="5126892" y="0"/>
                </a:lnTo>
                <a:lnTo>
                  <a:pt x="5126892" y="437662"/>
                </a:lnTo>
                <a:lnTo>
                  <a:pt x="0" y="437662"/>
                </a:lnTo>
                <a:lnTo>
                  <a:pt x="0" y="0"/>
                </a:lnTo>
                <a:close/>
              </a:path>
            </a:pathLst>
          </a:custGeom>
          <a:solidFill>
            <a:srgbClr val="FFFFFF"/>
          </a:solidFill>
          <a:ln w="12700">
            <a:solidFill>
              <a:srgbClr val="E5E7EB"/>
            </a:solidFill>
            <a:prstDash val="solid"/>
          </a:ln>
        </p:spPr>
      </p:sp>
      <p:sp>
        <p:nvSpPr>
          <p:cNvPr id="9" name="Text 7"/>
          <p:cNvSpPr/>
          <p:nvPr/>
        </p:nvSpPr>
        <p:spPr>
          <a:xfrm>
            <a:off x="723481" y="2241899"/>
            <a:ext cx="475762" cy="205433"/>
          </a:xfrm>
          <a:prstGeom prst="rect">
            <a:avLst/>
          </a:prstGeom>
          <a:noFill/>
          <a:ln/>
        </p:spPr>
        <p:txBody>
          <a:bodyPr wrap="square" lIns="0" tIns="0" rIns="0" bIns="0" rtlCol="0" anchor="ctr"/>
          <a:lstStyle/>
          <a:p>
            <a:pPr>
              <a:lnSpc>
                <a:spcPct val="120000"/>
              </a:lnSpc>
            </a:pPr>
            <a:r>
              <a:rPr lang="en-US" sz="1125" b="1" dirty="0">
                <a:solidFill>
                  <a:srgbClr val="8B0000"/>
                </a:solidFill>
                <a:latin typeface="Sorts Mill Goudy" pitchFamily="34" charset="0"/>
                <a:ea typeface="Sorts Mill Goudy" pitchFamily="34" charset="-122"/>
                <a:cs typeface="Sorts Mill Goudy" pitchFamily="34" charset="-120"/>
              </a:rPr>
              <a:t>charge</a:t>
            </a:r>
            <a:endParaRPr lang="en-US" sz="1600" dirty="0"/>
          </a:p>
        </p:txBody>
      </p:sp>
      <p:sp>
        <p:nvSpPr>
          <p:cNvPr id="10" name="Text 8"/>
          <p:cNvSpPr/>
          <p:nvPr/>
        </p:nvSpPr>
        <p:spPr>
          <a:xfrm>
            <a:off x="1127788" y="2241899"/>
            <a:ext cx="4232589" cy="205433"/>
          </a:xfrm>
          <a:prstGeom prst="rect">
            <a:avLst/>
          </a:prstGeom>
          <a:noFill/>
          <a:ln/>
        </p:spPr>
        <p:txBody>
          <a:bodyPr wrap="square" lIns="0" tIns="0" rIns="0" bIns="0" rtlCol="0" anchor="ctr"/>
          <a:lstStyle/>
          <a:p>
            <a:pPr>
              <a:lnSpc>
                <a:spcPct val="120000"/>
              </a:lnSpc>
            </a:pPr>
            <a:r>
              <a:rPr lang="en-US" sz="1125" dirty="0">
                <a:solidFill>
                  <a:srgbClr val="6B7280"/>
                </a:solidFill>
                <a:latin typeface="Sorts Mill Goudy" pitchFamily="34" charset="0"/>
                <a:ea typeface="Sorts Mill Goudy" pitchFamily="34" charset="-122"/>
                <a:cs typeface="Sorts Mill Goudy" pitchFamily="34" charset="-120"/>
              </a:rPr>
              <a:t>— financial cost, legal accusation, electrical property, military attack</a:t>
            </a:r>
            <a:endParaRPr lang="en-US" sz="1600" dirty="0"/>
          </a:p>
        </p:txBody>
      </p:sp>
      <p:sp>
        <p:nvSpPr>
          <p:cNvPr id="11" name="Shape 9"/>
          <p:cNvSpPr/>
          <p:nvPr/>
        </p:nvSpPr>
        <p:spPr>
          <a:xfrm>
            <a:off x="611833" y="2648299"/>
            <a:ext cx="5126892" cy="437662"/>
          </a:xfrm>
          <a:custGeom>
            <a:avLst/>
            <a:gdLst/>
            <a:ahLst/>
            <a:cxnLst/>
            <a:rect l="l" t="t" r="r" b="b"/>
            <a:pathLst>
              <a:path w="5126892" h="437662">
                <a:moveTo>
                  <a:pt x="0" y="0"/>
                </a:moveTo>
                <a:lnTo>
                  <a:pt x="5126892" y="0"/>
                </a:lnTo>
                <a:lnTo>
                  <a:pt x="5126892" y="437662"/>
                </a:lnTo>
                <a:lnTo>
                  <a:pt x="0" y="437662"/>
                </a:lnTo>
                <a:lnTo>
                  <a:pt x="0" y="0"/>
                </a:lnTo>
                <a:close/>
              </a:path>
            </a:pathLst>
          </a:custGeom>
          <a:solidFill>
            <a:srgbClr val="FFFFFF"/>
          </a:solidFill>
          <a:ln w="12700">
            <a:solidFill>
              <a:srgbClr val="E5E7EB"/>
            </a:solidFill>
            <a:prstDash val="solid"/>
          </a:ln>
        </p:spPr>
      </p:sp>
      <p:sp>
        <p:nvSpPr>
          <p:cNvPr id="12" name="Text 10"/>
          <p:cNvSpPr/>
          <p:nvPr/>
        </p:nvSpPr>
        <p:spPr>
          <a:xfrm>
            <a:off x="723481" y="2759947"/>
            <a:ext cx="385187" cy="205433"/>
          </a:xfrm>
          <a:prstGeom prst="rect">
            <a:avLst/>
          </a:prstGeom>
          <a:noFill/>
          <a:ln/>
        </p:spPr>
        <p:txBody>
          <a:bodyPr wrap="square" lIns="0" tIns="0" rIns="0" bIns="0" rtlCol="0" anchor="ctr"/>
          <a:lstStyle/>
          <a:p>
            <a:pPr>
              <a:lnSpc>
                <a:spcPct val="120000"/>
              </a:lnSpc>
            </a:pPr>
            <a:r>
              <a:rPr lang="en-US" sz="1125" b="1" dirty="0">
                <a:solidFill>
                  <a:srgbClr val="8B0000"/>
                </a:solidFill>
                <a:latin typeface="Sorts Mill Goudy" pitchFamily="34" charset="0"/>
                <a:ea typeface="Sorts Mill Goudy" pitchFamily="34" charset="-122"/>
                <a:cs typeface="Sorts Mill Goudy" pitchFamily="34" charset="-120"/>
              </a:rPr>
              <a:t>leave</a:t>
            </a:r>
            <a:endParaRPr lang="en-US" sz="1600" dirty="0"/>
          </a:p>
        </p:txBody>
      </p:sp>
      <p:sp>
        <p:nvSpPr>
          <p:cNvPr id="13" name="Text 11"/>
          <p:cNvSpPr/>
          <p:nvPr/>
        </p:nvSpPr>
        <p:spPr>
          <a:xfrm>
            <a:off x="1037213" y="2759947"/>
            <a:ext cx="2652625" cy="205433"/>
          </a:xfrm>
          <a:prstGeom prst="rect">
            <a:avLst/>
          </a:prstGeom>
          <a:noFill/>
          <a:ln/>
        </p:spPr>
        <p:txBody>
          <a:bodyPr wrap="square" lIns="0" tIns="0" rIns="0" bIns="0" rtlCol="0" anchor="ctr"/>
          <a:lstStyle/>
          <a:p>
            <a:pPr>
              <a:lnSpc>
                <a:spcPct val="120000"/>
              </a:lnSpc>
            </a:pPr>
            <a:r>
              <a:rPr lang="en-US" sz="1125" dirty="0">
                <a:solidFill>
                  <a:srgbClr val="6B7280"/>
                </a:solidFill>
                <a:latin typeface="Sorts Mill Goudy" pitchFamily="34" charset="0"/>
                <a:ea typeface="Sorts Mill Goudy" pitchFamily="34" charset="-122"/>
                <a:cs typeface="Sorts Mill Goudy" pitchFamily="34" charset="-120"/>
              </a:rPr>
              <a:t>— depart, abandon, bequeath, permission</a:t>
            </a:r>
            <a:endParaRPr lang="en-US" sz="1600" dirty="0"/>
          </a:p>
        </p:txBody>
      </p:sp>
      <p:sp>
        <p:nvSpPr>
          <p:cNvPr id="14" name="Shape 12"/>
          <p:cNvSpPr/>
          <p:nvPr/>
        </p:nvSpPr>
        <p:spPr>
          <a:xfrm>
            <a:off x="611833" y="3166347"/>
            <a:ext cx="5126892" cy="437662"/>
          </a:xfrm>
          <a:custGeom>
            <a:avLst/>
            <a:gdLst/>
            <a:ahLst/>
            <a:cxnLst/>
            <a:rect l="l" t="t" r="r" b="b"/>
            <a:pathLst>
              <a:path w="5126892" h="437662">
                <a:moveTo>
                  <a:pt x="0" y="0"/>
                </a:moveTo>
                <a:lnTo>
                  <a:pt x="5126892" y="0"/>
                </a:lnTo>
                <a:lnTo>
                  <a:pt x="5126892" y="437662"/>
                </a:lnTo>
                <a:lnTo>
                  <a:pt x="0" y="437662"/>
                </a:lnTo>
                <a:lnTo>
                  <a:pt x="0" y="0"/>
                </a:lnTo>
                <a:close/>
              </a:path>
            </a:pathLst>
          </a:custGeom>
          <a:solidFill>
            <a:srgbClr val="FFFFFF"/>
          </a:solidFill>
          <a:ln w="12700">
            <a:solidFill>
              <a:srgbClr val="E5E7EB"/>
            </a:solidFill>
            <a:prstDash val="solid"/>
          </a:ln>
        </p:spPr>
      </p:sp>
      <p:sp>
        <p:nvSpPr>
          <p:cNvPr id="15" name="Text 13"/>
          <p:cNvSpPr/>
          <p:nvPr/>
        </p:nvSpPr>
        <p:spPr>
          <a:xfrm>
            <a:off x="723481" y="3277996"/>
            <a:ext cx="354204" cy="205433"/>
          </a:xfrm>
          <a:prstGeom prst="rect">
            <a:avLst/>
          </a:prstGeom>
          <a:noFill/>
          <a:ln/>
        </p:spPr>
        <p:txBody>
          <a:bodyPr wrap="square" lIns="0" tIns="0" rIns="0" bIns="0" rtlCol="0" anchor="ctr"/>
          <a:lstStyle/>
          <a:p>
            <a:pPr>
              <a:lnSpc>
                <a:spcPct val="120000"/>
              </a:lnSpc>
            </a:pPr>
            <a:r>
              <a:rPr lang="en-US" sz="1125" b="1" dirty="0">
                <a:solidFill>
                  <a:srgbClr val="8B0000"/>
                </a:solidFill>
                <a:latin typeface="Sorts Mill Goudy" pitchFamily="34" charset="0"/>
                <a:ea typeface="Sorts Mill Goudy" pitchFamily="34" charset="-122"/>
                <a:cs typeface="Sorts Mill Goudy" pitchFamily="34" charset="-120"/>
              </a:rPr>
              <a:t>hold</a:t>
            </a:r>
            <a:endParaRPr lang="en-US" sz="1600" dirty="0"/>
          </a:p>
        </p:txBody>
      </p:sp>
      <p:sp>
        <p:nvSpPr>
          <p:cNvPr id="16" name="Text 14"/>
          <p:cNvSpPr/>
          <p:nvPr/>
        </p:nvSpPr>
        <p:spPr>
          <a:xfrm>
            <a:off x="1006231" y="3277996"/>
            <a:ext cx="2667279" cy="205433"/>
          </a:xfrm>
          <a:prstGeom prst="rect">
            <a:avLst/>
          </a:prstGeom>
          <a:noFill/>
          <a:ln/>
        </p:spPr>
        <p:txBody>
          <a:bodyPr wrap="square" lIns="0" tIns="0" rIns="0" bIns="0" rtlCol="0" anchor="ctr"/>
          <a:lstStyle/>
          <a:p>
            <a:pPr>
              <a:lnSpc>
                <a:spcPct val="120000"/>
              </a:lnSpc>
            </a:pPr>
            <a:r>
              <a:rPr lang="en-US" sz="1125" dirty="0">
                <a:solidFill>
                  <a:srgbClr val="6B7280"/>
                </a:solidFill>
                <a:latin typeface="Sorts Mill Goudy" pitchFamily="34" charset="0"/>
                <a:ea typeface="Sorts Mill Goudy" pitchFamily="34" charset="-122"/>
                <a:cs typeface="Sorts Mill Goudy" pitchFamily="34" charset="-120"/>
              </a:rPr>
              <a:t>— grasp, contain, conduct (event), believe</a:t>
            </a:r>
            <a:endParaRPr lang="en-US" sz="1600" dirty="0"/>
          </a:p>
        </p:txBody>
      </p:sp>
      <p:sp>
        <p:nvSpPr>
          <p:cNvPr id="17" name="Text 15"/>
          <p:cNvSpPr/>
          <p:nvPr/>
        </p:nvSpPr>
        <p:spPr>
          <a:xfrm>
            <a:off x="607367" y="3751385"/>
            <a:ext cx="5207279" cy="232229"/>
          </a:xfrm>
          <a:prstGeom prst="rect">
            <a:avLst/>
          </a:prstGeom>
          <a:noFill/>
          <a:ln/>
        </p:spPr>
        <p:txBody>
          <a:bodyPr wrap="square" lIns="0" tIns="0" rIns="0" bIns="0" rtlCol="0" anchor="ctr"/>
          <a:lstStyle/>
          <a:p>
            <a:pPr>
              <a:lnSpc>
                <a:spcPct val="140000"/>
              </a:lnSpc>
            </a:pPr>
            <a:r>
              <a:rPr lang="en-US" sz="1125" dirty="0">
                <a:solidFill>
                  <a:srgbClr val="1F2937"/>
                </a:solidFill>
                <a:latin typeface="Sorts Mill Goudy" pitchFamily="34" charset="0"/>
                <a:ea typeface="Sorts Mill Goudy" pitchFamily="34" charset="-122"/>
                <a:cs typeface="Sorts Mill Goudy" pitchFamily="34" charset="-120"/>
              </a:rPr>
              <a:t>Surface context alone is insufficient for correct role assignment.</a:t>
            </a:r>
            <a:endParaRPr lang="en-US" sz="1600" dirty="0"/>
          </a:p>
        </p:txBody>
      </p:sp>
      <p:sp>
        <p:nvSpPr>
          <p:cNvPr id="18" name="Shape 16"/>
          <p:cNvSpPr/>
          <p:nvPr/>
        </p:nvSpPr>
        <p:spPr>
          <a:xfrm>
            <a:off x="375138" y="4412343"/>
            <a:ext cx="5582418" cy="2054330"/>
          </a:xfrm>
          <a:custGeom>
            <a:avLst/>
            <a:gdLst/>
            <a:ahLst/>
            <a:cxnLst/>
            <a:rect l="l" t="t" r="r" b="b"/>
            <a:pathLst>
              <a:path w="5582418" h="2054330">
                <a:moveTo>
                  <a:pt x="0" y="0"/>
                </a:moveTo>
                <a:lnTo>
                  <a:pt x="5582418" y="0"/>
                </a:lnTo>
                <a:lnTo>
                  <a:pt x="5582418" y="2054330"/>
                </a:lnTo>
                <a:lnTo>
                  <a:pt x="0" y="2054330"/>
                </a:lnTo>
                <a:lnTo>
                  <a:pt x="0" y="0"/>
                </a:lnTo>
                <a:close/>
              </a:path>
            </a:pathLst>
          </a:custGeom>
          <a:solidFill>
            <a:srgbClr val="F9FAFB"/>
          </a:solidFill>
          <a:ln/>
        </p:spPr>
      </p:sp>
      <p:sp>
        <p:nvSpPr>
          <p:cNvPr id="19" name="Shape 17"/>
          <p:cNvSpPr/>
          <p:nvPr/>
        </p:nvSpPr>
        <p:spPr>
          <a:xfrm>
            <a:off x="375138" y="4412343"/>
            <a:ext cx="35727" cy="2054330"/>
          </a:xfrm>
          <a:custGeom>
            <a:avLst/>
            <a:gdLst/>
            <a:ahLst/>
            <a:cxnLst/>
            <a:rect l="l" t="t" r="r" b="b"/>
            <a:pathLst>
              <a:path w="35727" h="2054330">
                <a:moveTo>
                  <a:pt x="0" y="0"/>
                </a:moveTo>
                <a:lnTo>
                  <a:pt x="35727" y="0"/>
                </a:lnTo>
                <a:lnTo>
                  <a:pt x="35727" y="2054330"/>
                </a:lnTo>
                <a:lnTo>
                  <a:pt x="0" y="2054330"/>
                </a:lnTo>
                <a:lnTo>
                  <a:pt x="0" y="0"/>
                </a:lnTo>
                <a:close/>
              </a:path>
            </a:pathLst>
          </a:custGeom>
          <a:solidFill>
            <a:srgbClr val="8B0000"/>
          </a:solidFill>
          <a:ln/>
        </p:spPr>
      </p:sp>
      <p:sp>
        <p:nvSpPr>
          <p:cNvPr id="20" name="Text 18"/>
          <p:cNvSpPr/>
          <p:nvPr/>
        </p:nvSpPr>
        <p:spPr>
          <a:xfrm>
            <a:off x="607367" y="4626708"/>
            <a:ext cx="5225143" cy="250092"/>
          </a:xfrm>
          <a:prstGeom prst="rect">
            <a:avLst/>
          </a:prstGeom>
          <a:noFill/>
          <a:ln/>
        </p:spPr>
        <p:txBody>
          <a:bodyPr wrap="square" lIns="0" tIns="0" rIns="0" bIns="0" rtlCol="0" anchor="ctr"/>
          <a:lstStyle/>
          <a:p>
            <a:pPr>
              <a:lnSpc>
                <a:spcPct val="120000"/>
              </a:lnSpc>
            </a:pPr>
            <a:r>
              <a:rPr lang="en-US" sz="1407" b="1" dirty="0">
                <a:solidFill>
                  <a:srgbClr val="1F2937"/>
                </a:solidFill>
                <a:latin typeface="Sorts Mill Goudy" pitchFamily="34" charset="0"/>
                <a:ea typeface="Sorts Mill Goudy" pitchFamily="34" charset="-122"/>
                <a:cs typeface="Sorts Mill Goudy" pitchFamily="34" charset="-120"/>
              </a:rPr>
              <a:t>The Solution: Roleset Memory</a:t>
            </a:r>
            <a:endParaRPr lang="en-US" sz="1600" dirty="0"/>
          </a:p>
        </p:txBody>
      </p:sp>
      <p:sp>
        <p:nvSpPr>
          <p:cNvPr id="21" name="Text 19"/>
          <p:cNvSpPr/>
          <p:nvPr/>
        </p:nvSpPr>
        <p:spPr>
          <a:xfrm>
            <a:off x="607367" y="4983982"/>
            <a:ext cx="5207279" cy="232229"/>
          </a:xfrm>
          <a:prstGeom prst="rect">
            <a:avLst/>
          </a:prstGeom>
          <a:noFill/>
          <a:ln/>
        </p:spPr>
        <p:txBody>
          <a:bodyPr wrap="square" lIns="0" tIns="0" rIns="0" bIns="0" rtlCol="0" anchor="ctr"/>
          <a:lstStyle/>
          <a:p>
            <a:pPr>
              <a:lnSpc>
                <a:spcPct val="140000"/>
              </a:lnSpc>
            </a:pPr>
            <a:r>
              <a:rPr lang="en-US" sz="1125" dirty="0">
                <a:solidFill>
                  <a:srgbClr val="1F2937"/>
                </a:solidFill>
                <a:latin typeface="Sorts Mill Goudy" pitchFamily="34" charset="0"/>
                <a:ea typeface="Sorts Mill Goudy" pitchFamily="34" charset="-122"/>
                <a:cs typeface="Sorts Mill Goudy" pitchFamily="34" charset="-120"/>
              </a:rPr>
              <a:t>Replace isolated predicate embeddings with a </a:t>
            </a:r>
            <a:r>
              <a:rPr lang="en-US" sz="1125" b="1" dirty="0">
                <a:solidFill>
                  <a:srgbClr val="1F2937"/>
                </a:solidFill>
                <a:latin typeface="Sorts Mill Goudy" pitchFamily="34" charset="0"/>
                <a:ea typeface="Sorts Mill Goudy" pitchFamily="34" charset="-122"/>
                <a:cs typeface="Sorts Mill Goudy" pitchFamily="34" charset="-120"/>
              </a:rPr>
              <a:t>roleset memory</a:t>
            </a:r>
            <a:r>
              <a:rPr lang="en-US" sz="1125" dirty="0">
                <a:solidFill>
                  <a:srgbClr val="1F2937"/>
                </a:solidFill>
                <a:latin typeface="Sorts Mill Goudy" pitchFamily="34" charset="0"/>
                <a:ea typeface="Sorts Mill Goudy" pitchFamily="34" charset="-122"/>
                <a:cs typeface="Sorts Mill Goudy" pitchFamily="34" charset="-120"/>
              </a:rPr>
              <a:t> module:</a:t>
            </a:r>
            <a:endParaRPr lang="en-US" sz="1600" dirty="0"/>
          </a:p>
        </p:txBody>
      </p:sp>
      <p:sp>
        <p:nvSpPr>
          <p:cNvPr id="22" name="Text 20"/>
          <p:cNvSpPr/>
          <p:nvPr/>
        </p:nvSpPr>
        <p:spPr>
          <a:xfrm>
            <a:off x="607367" y="5394848"/>
            <a:ext cx="187569" cy="214365"/>
          </a:xfrm>
          <a:prstGeom prst="rect">
            <a:avLst/>
          </a:prstGeom>
          <a:noFill/>
          <a:ln/>
        </p:spPr>
        <p:txBody>
          <a:bodyPr wrap="square" lIns="0" tIns="0" rIns="0" bIns="0" rtlCol="0" anchor="ctr"/>
          <a:lstStyle/>
          <a:p>
            <a:pPr>
              <a:lnSpc>
                <a:spcPct val="120000"/>
              </a:lnSpc>
            </a:pPr>
            <a:r>
              <a:rPr lang="en-US" sz="1125"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23" name="Text 21"/>
          <p:cNvSpPr/>
          <p:nvPr/>
        </p:nvSpPr>
        <p:spPr>
          <a:xfrm>
            <a:off x="794936" y="5359121"/>
            <a:ext cx="3126154" cy="214365"/>
          </a:xfrm>
          <a:prstGeom prst="rect">
            <a:avLst/>
          </a:prstGeom>
          <a:noFill/>
          <a:ln/>
        </p:spPr>
        <p:txBody>
          <a:bodyPr wrap="square" lIns="0" tIns="0" rIns="0" bIns="0" rtlCol="0" anchor="ctr"/>
          <a:lstStyle/>
          <a:p>
            <a:pPr>
              <a:lnSpc>
                <a:spcPct val="120000"/>
              </a:lnSpc>
            </a:pPr>
            <a:r>
              <a:rPr lang="en-US" sz="1125" dirty="0">
                <a:solidFill>
                  <a:srgbClr val="1F2937"/>
                </a:solidFill>
                <a:latin typeface="Sorts Mill Goudy" pitchFamily="34" charset="0"/>
                <a:ea typeface="Sorts Mill Goudy" pitchFamily="34" charset="-122"/>
                <a:cs typeface="Sorts Mill Goudy" pitchFamily="34" charset="-120"/>
              </a:rPr>
              <a:t>Each candidate roleset contributes key-value pairs</a:t>
            </a:r>
            <a:endParaRPr lang="en-US" sz="1600" dirty="0"/>
          </a:p>
        </p:txBody>
      </p:sp>
      <p:sp>
        <p:nvSpPr>
          <p:cNvPr id="24" name="Text 22"/>
          <p:cNvSpPr/>
          <p:nvPr/>
        </p:nvSpPr>
        <p:spPr>
          <a:xfrm>
            <a:off x="607367" y="5716396"/>
            <a:ext cx="187569" cy="214365"/>
          </a:xfrm>
          <a:prstGeom prst="rect">
            <a:avLst/>
          </a:prstGeom>
          <a:noFill/>
          <a:ln/>
        </p:spPr>
        <p:txBody>
          <a:bodyPr wrap="square" lIns="0" tIns="0" rIns="0" bIns="0" rtlCol="0" anchor="ctr"/>
          <a:lstStyle/>
          <a:p>
            <a:pPr>
              <a:lnSpc>
                <a:spcPct val="120000"/>
              </a:lnSpc>
            </a:pPr>
            <a:r>
              <a:rPr lang="en-US" sz="1125"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25" name="Text 23"/>
          <p:cNvSpPr/>
          <p:nvPr/>
        </p:nvSpPr>
        <p:spPr>
          <a:xfrm>
            <a:off x="794936" y="5680668"/>
            <a:ext cx="3894295" cy="214365"/>
          </a:xfrm>
          <a:prstGeom prst="rect">
            <a:avLst/>
          </a:prstGeom>
          <a:noFill/>
          <a:ln/>
        </p:spPr>
        <p:txBody>
          <a:bodyPr wrap="square" lIns="0" tIns="0" rIns="0" bIns="0" rtlCol="0" anchor="ctr"/>
          <a:lstStyle/>
          <a:p>
            <a:pPr>
              <a:lnSpc>
                <a:spcPct val="120000"/>
              </a:lnSpc>
            </a:pPr>
            <a:r>
              <a:rPr lang="en-US" sz="1125" dirty="0">
                <a:solidFill>
                  <a:srgbClr val="1F2937"/>
                </a:solidFill>
                <a:latin typeface="Sorts Mill Goudy" pitchFamily="34" charset="0"/>
                <a:ea typeface="Sorts Mill Goudy" pitchFamily="34" charset="-122"/>
                <a:cs typeface="Sorts Mill Goudy" pitchFamily="34" charset="-120"/>
              </a:rPr>
              <a:t>Encodes role descriptions, example glosses, lexical paraphrases</a:t>
            </a:r>
            <a:endParaRPr lang="en-US" sz="1600" dirty="0"/>
          </a:p>
        </p:txBody>
      </p:sp>
      <p:sp>
        <p:nvSpPr>
          <p:cNvPr id="26" name="Text 24"/>
          <p:cNvSpPr/>
          <p:nvPr/>
        </p:nvSpPr>
        <p:spPr>
          <a:xfrm>
            <a:off x="607367" y="6037943"/>
            <a:ext cx="187569" cy="214365"/>
          </a:xfrm>
          <a:prstGeom prst="rect">
            <a:avLst/>
          </a:prstGeom>
          <a:noFill/>
          <a:ln/>
        </p:spPr>
        <p:txBody>
          <a:bodyPr wrap="square" lIns="0" tIns="0" rIns="0" bIns="0" rtlCol="0" anchor="ctr"/>
          <a:lstStyle/>
          <a:p>
            <a:pPr>
              <a:lnSpc>
                <a:spcPct val="120000"/>
              </a:lnSpc>
            </a:pPr>
            <a:r>
              <a:rPr lang="en-US" sz="1125"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27" name="Text 25"/>
          <p:cNvSpPr/>
          <p:nvPr/>
        </p:nvSpPr>
        <p:spPr>
          <a:xfrm>
            <a:off x="794936" y="6002215"/>
            <a:ext cx="2831402" cy="214365"/>
          </a:xfrm>
          <a:prstGeom prst="rect">
            <a:avLst/>
          </a:prstGeom>
          <a:noFill/>
          <a:ln/>
        </p:spPr>
        <p:txBody>
          <a:bodyPr wrap="square" lIns="0" tIns="0" rIns="0" bIns="0" rtlCol="0" anchor="ctr"/>
          <a:lstStyle/>
          <a:p>
            <a:pPr>
              <a:lnSpc>
                <a:spcPct val="120000"/>
              </a:lnSpc>
            </a:pPr>
            <a:r>
              <a:rPr lang="en-US" sz="1125" dirty="0">
                <a:solidFill>
                  <a:srgbClr val="1F2937"/>
                </a:solidFill>
                <a:latin typeface="Sorts Mill Goudy" pitchFamily="34" charset="0"/>
                <a:ea typeface="Sorts Mill Goudy" pitchFamily="34" charset="-122"/>
                <a:cs typeface="Sorts Mill Goudy" pitchFamily="34" charset="-120"/>
              </a:rPr>
              <a:t>Model attends over memory during decoding</a:t>
            </a:r>
            <a:endParaRPr lang="en-US" sz="1600" dirty="0"/>
          </a:p>
        </p:txBody>
      </p:sp>
      <p:sp>
        <p:nvSpPr>
          <p:cNvPr id="28" name="Shape 26"/>
          <p:cNvSpPr/>
          <p:nvPr/>
        </p:nvSpPr>
        <p:spPr>
          <a:xfrm>
            <a:off x="6240305" y="1179007"/>
            <a:ext cx="5600281" cy="3447701"/>
          </a:xfrm>
          <a:custGeom>
            <a:avLst/>
            <a:gdLst/>
            <a:ahLst/>
            <a:cxnLst/>
            <a:rect l="l" t="t" r="r" b="b"/>
            <a:pathLst>
              <a:path w="5600281" h="3447701">
                <a:moveTo>
                  <a:pt x="0" y="0"/>
                </a:moveTo>
                <a:lnTo>
                  <a:pt x="5600281" y="0"/>
                </a:lnTo>
                <a:lnTo>
                  <a:pt x="5600281" y="3447701"/>
                </a:lnTo>
                <a:lnTo>
                  <a:pt x="0" y="3447701"/>
                </a:lnTo>
                <a:lnTo>
                  <a:pt x="0" y="0"/>
                </a:lnTo>
                <a:close/>
              </a:path>
            </a:pathLst>
          </a:custGeom>
          <a:solidFill>
            <a:srgbClr val="F9FAFB"/>
          </a:solidFill>
          <a:ln/>
        </p:spPr>
      </p:sp>
      <p:sp>
        <p:nvSpPr>
          <p:cNvPr id="29" name="Text 27"/>
          <p:cNvSpPr/>
          <p:nvPr/>
        </p:nvSpPr>
        <p:spPr>
          <a:xfrm>
            <a:off x="6454670" y="1393371"/>
            <a:ext cx="5260870" cy="250092"/>
          </a:xfrm>
          <a:prstGeom prst="rect">
            <a:avLst/>
          </a:prstGeom>
          <a:noFill/>
          <a:ln/>
        </p:spPr>
        <p:txBody>
          <a:bodyPr wrap="square" lIns="0" tIns="0" rIns="0" bIns="0" rtlCol="0" anchor="ctr"/>
          <a:lstStyle/>
          <a:p>
            <a:pPr>
              <a:lnSpc>
                <a:spcPct val="120000"/>
              </a:lnSpc>
            </a:pPr>
            <a:r>
              <a:rPr lang="en-US" sz="1407" b="1" dirty="0">
                <a:solidFill>
                  <a:srgbClr val="1F2937"/>
                </a:solidFill>
                <a:latin typeface="Sorts Mill Goudy" pitchFamily="34" charset="0"/>
                <a:ea typeface="Sorts Mill Goudy" pitchFamily="34" charset="-122"/>
                <a:cs typeface="Sorts Mill Goudy" pitchFamily="34" charset="-120"/>
              </a:rPr>
              <a:t>Memory Structure</a:t>
            </a:r>
            <a:endParaRPr lang="en-US" sz="1600" dirty="0"/>
          </a:p>
        </p:txBody>
      </p:sp>
      <p:sp>
        <p:nvSpPr>
          <p:cNvPr id="30" name="Shape 28"/>
          <p:cNvSpPr/>
          <p:nvPr/>
        </p:nvSpPr>
        <p:spPr>
          <a:xfrm>
            <a:off x="6459136" y="1790840"/>
            <a:ext cx="5162620" cy="794936"/>
          </a:xfrm>
          <a:custGeom>
            <a:avLst/>
            <a:gdLst/>
            <a:ahLst/>
            <a:cxnLst/>
            <a:rect l="l" t="t" r="r" b="b"/>
            <a:pathLst>
              <a:path w="5162620" h="794936">
                <a:moveTo>
                  <a:pt x="0" y="0"/>
                </a:moveTo>
                <a:lnTo>
                  <a:pt x="5162620" y="0"/>
                </a:lnTo>
                <a:lnTo>
                  <a:pt x="5162620" y="794936"/>
                </a:lnTo>
                <a:lnTo>
                  <a:pt x="0" y="794936"/>
                </a:lnTo>
                <a:lnTo>
                  <a:pt x="0" y="0"/>
                </a:lnTo>
                <a:close/>
              </a:path>
            </a:pathLst>
          </a:custGeom>
          <a:solidFill>
            <a:srgbClr val="FFFFFF"/>
          </a:solidFill>
          <a:ln w="12700">
            <a:solidFill>
              <a:srgbClr val="E5E7EB"/>
            </a:solidFill>
            <a:prstDash val="solid"/>
          </a:ln>
        </p:spPr>
      </p:sp>
      <p:sp>
        <p:nvSpPr>
          <p:cNvPr id="31" name="Shape 29"/>
          <p:cNvSpPr/>
          <p:nvPr/>
        </p:nvSpPr>
        <p:spPr>
          <a:xfrm>
            <a:off x="6624376" y="1973943"/>
            <a:ext cx="142910" cy="142910"/>
          </a:xfrm>
          <a:custGeom>
            <a:avLst/>
            <a:gdLst/>
            <a:ahLst/>
            <a:cxnLst/>
            <a:rect l="l" t="t" r="r" b="b"/>
            <a:pathLst>
              <a:path w="142910" h="142910">
                <a:moveTo>
                  <a:pt x="93785" y="98251"/>
                </a:moveTo>
                <a:cubicBezTo>
                  <a:pt x="120915" y="98251"/>
                  <a:pt x="142910" y="76256"/>
                  <a:pt x="142910" y="49125"/>
                </a:cubicBezTo>
                <a:cubicBezTo>
                  <a:pt x="142910" y="21995"/>
                  <a:pt x="120915" y="0"/>
                  <a:pt x="93785" y="0"/>
                </a:cubicBezTo>
                <a:cubicBezTo>
                  <a:pt x="66654" y="0"/>
                  <a:pt x="44659" y="21995"/>
                  <a:pt x="44659" y="49125"/>
                </a:cubicBezTo>
                <a:cubicBezTo>
                  <a:pt x="44659" y="54345"/>
                  <a:pt x="45469" y="59397"/>
                  <a:pt x="46976" y="64114"/>
                </a:cubicBezTo>
                <a:lnTo>
                  <a:pt x="1954" y="109136"/>
                </a:lnTo>
                <a:cubicBezTo>
                  <a:pt x="698" y="110392"/>
                  <a:pt x="0" y="112095"/>
                  <a:pt x="0" y="113881"/>
                </a:cubicBezTo>
                <a:lnTo>
                  <a:pt x="0" y="136211"/>
                </a:lnTo>
                <a:cubicBezTo>
                  <a:pt x="0" y="139923"/>
                  <a:pt x="2987" y="142910"/>
                  <a:pt x="6699" y="142910"/>
                </a:cubicBezTo>
                <a:lnTo>
                  <a:pt x="29029" y="142910"/>
                </a:lnTo>
                <a:cubicBezTo>
                  <a:pt x="32741" y="142910"/>
                  <a:pt x="35727" y="139923"/>
                  <a:pt x="35727" y="136211"/>
                </a:cubicBezTo>
                <a:lnTo>
                  <a:pt x="35727" y="125046"/>
                </a:lnTo>
                <a:lnTo>
                  <a:pt x="46892" y="125046"/>
                </a:lnTo>
                <a:cubicBezTo>
                  <a:pt x="50605" y="125046"/>
                  <a:pt x="53591" y="122060"/>
                  <a:pt x="53591" y="118347"/>
                </a:cubicBezTo>
                <a:lnTo>
                  <a:pt x="53591" y="107182"/>
                </a:lnTo>
                <a:lnTo>
                  <a:pt x="64756" y="107182"/>
                </a:lnTo>
                <a:cubicBezTo>
                  <a:pt x="66542" y="107182"/>
                  <a:pt x="68245" y="106485"/>
                  <a:pt x="69501" y="105229"/>
                </a:cubicBezTo>
                <a:lnTo>
                  <a:pt x="78796" y="95934"/>
                </a:lnTo>
                <a:cubicBezTo>
                  <a:pt x="83513" y="97441"/>
                  <a:pt x="88565" y="98251"/>
                  <a:pt x="93785" y="98251"/>
                </a:cubicBezTo>
                <a:close/>
                <a:moveTo>
                  <a:pt x="104949" y="26796"/>
                </a:moveTo>
                <a:cubicBezTo>
                  <a:pt x="111111" y="26796"/>
                  <a:pt x="116114" y="31798"/>
                  <a:pt x="116114" y="37960"/>
                </a:cubicBezTo>
                <a:cubicBezTo>
                  <a:pt x="116114" y="44122"/>
                  <a:pt x="111111" y="49125"/>
                  <a:pt x="104949" y="49125"/>
                </a:cubicBezTo>
                <a:cubicBezTo>
                  <a:pt x="98787" y="49125"/>
                  <a:pt x="93785" y="44122"/>
                  <a:pt x="93785" y="37960"/>
                </a:cubicBezTo>
                <a:cubicBezTo>
                  <a:pt x="93785" y="31798"/>
                  <a:pt x="98787" y="26796"/>
                  <a:pt x="104949" y="26796"/>
                </a:cubicBezTo>
                <a:close/>
              </a:path>
            </a:pathLst>
          </a:custGeom>
          <a:solidFill>
            <a:srgbClr val="8B0000"/>
          </a:solidFill>
          <a:ln/>
        </p:spPr>
      </p:sp>
      <p:sp>
        <p:nvSpPr>
          <p:cNvPr id="32" name="Text 30"/>
          <p:cNvSpPr/>
          <p:nvPr/>
        </p:nvSpPr>
        <p:spPr>
          <a:xfrm>
            <a:off x="6892332" y="1938215"/>
            <a:ext cx="366207" cy="214365"/>
          </a:xfrm>
          <a:prstGeom prst="rect">
            <a:avLst/>
          </a:prstGeom>
          <a:noFill/>
          <a:ln/>
        </p:spPr>
        <p:txBody>
          <a:bodyPr wrap="square" lIns="0" tIns="0" rIns="0" bIns="0" rtlCol="0" anchor="ctr"/>
          <a:lstStyle/>
          <a:p>
            <a:pPr>
              <a:lnSpc>
                <a:spcPct val="120000"/>
              </a:lnSpc>
            </a:pPr>
            <a:r>
              <a:rPr lang="en-US" sz="1125" b="1" dirty="0">
                <a:solidFill>
                  <a:srgbClr val="1F2937"/>
                </a:solidFill>
                <a:latin typeface="Sorts Mill Goudy" pitchFamily="34" charset="0"/>
                <a:ea typeface="Sorts Mill Goudy" pitchFamily="34" charset="-122"/>
                <a:cs typeface="Sorts Mill Goudy" pitchFamily="34" charset="-120"/>
              </a:rPr>
              <a:t>Keys</a:t>
            </a:r>
            <a:endParaRPr lang="en-US" sz="1600" dirty="0"/>
          </a:p>
        </p:txBody>
      </p:sp>
      <p:sp>
        <p:nvSpPr>
          <p:cNvPr id="33" name="Text 31"/>
          <p:cNvSpPr/>
          <p:nvPr/>
        </p:nvSpPr>
        <p:spPr>
          <a:xfrm>
            <a:off x="6606512" y="2224035"/>
            <a:ext cx="4939323" cy="214365"/>
          </a:xfrm>
          <a:prstGeom prst="rect">
            <a:avLst/>
          </a:prstGeom>
          <a:noFill/>
          <a:ln/>
        </p:spPr>
        <p:txBody>
          <a:bodyPr wrap="square" lIns="0" tIns="0" rIns="0" bIns="0" rtlCol="0" anchor="ctr"/>
          <a:lstStyle/>
          <a:p>
            <a:pPr>
              <a:lnSpc>
                <a:spcPct val="120000"/>
              </a:lnSpc>
            </a:pPr>
            <a:r>
              <a:rPr lang="en-US" sz="1125" dirty="0">
                <a:solidFill>
                  <a:srgbClr val="6B7280"/>
                </a:solidFill>
                <a:latin typeface="Sorts Mill Goudy" pitchFamily="34" charset="0"/>
                <a:ea typeface="Sorts Mill Goudy" pitchFamily="34" charset="-122"/>
                <a:cs typeface="Sorts Mill Goudy" pitchFamily="34" charset="-120"/>
              </a:rPr>
              <a:t>Predicate sense identifiers, semantic type indicators</a:t>
            </a:r>
            <a:endParaRPr lang="en-US" sz="1600" dirty="0"/>
          </a:p>
        </p:txBody>
      </p:sp>
      <p:sp>
        <p:nvSpPr>
          <p:cNvPr id="34" name="Shape 32"/>
          <p:cNvSpPr/>
          <p:nvPr/>
        </p:nvSpPr>
        <p:spPr>
          <a:xfrm>
            <a:off x="6459136" y="2701890"/>
            <a:ext cx="5162620" cy="794936"/>
          </a:xfrm>
          <a:custGeom>
            <a:avLst/>
            <a:gdLst/>
            <a:ahLst/>
            <a:cxnLst/>
            <a:rect l="l" t="t" r="r" b="b"/>
            <a:pathLst>
              <a:path w="5162620" h="794936">
                <a:moveTo>
                  <a:pt x="0" y="0"/>
                </a:moveTo>
                <a:lnTo>
                  <a:pt x="5162620" y="0"/>
                </a:lnTo>
                <a:lnTo>
                  <a:pt x="5162620" y="794936"/>
                </a:lnTo>
                <a:lnTo>
                  <a:pt x="0" y="794936"/>
                </a:lnTo>
                <a:lnTo>
                  <a:pt x="0" y="0"/>
                </a:lnTo>
                <a:close/>
              </a:path>
            </a:pathLst>
          </a:custGeom>
          <a:solidFill>
            <a:srgbClr val="FFFFFF"/>
          </a:solidFill>
          <a:ln w="12700">
            <a:solidFill>
              <a:srgbClr val="E5E7EB"/>
            </a:solidFill>
            <a:prstDash val="solid"/>
          </a:ln>
        </p:spPr>
      </p:sp>
      <p:sp>
        <p:nvSpPr>
          <p:cNvPr id="35" name="Shape 33"/>
          <p:cNvSpPr/>
          <p:nvPr/>
        </p:nvSpPr>
        <p:spPr>
          <a:xfrm>
            <a:off x="6633308" y="2884993"/>
            <a:ext cx="125046" cy="142910"/>
          </a:xfrm>
          <a:custGeom>
            <a:avLst/>
            <a:gdLst/>
            <a:ahLst/>
            <a:cxnLst/>
            <a:rect l="l" t="t" r="r" b="b"/>
            <a:pathLst>
              <a:path w="125046" h="142910">
                <a:moveTo>
                  <a:pt x="125046" y="57443"/>
                </a:moveTo>
                <a:cubicBezTo>
                  <a:pt x="120915" y="60178"/>
                  <a:pt x="116170" y="62384"/>
                  <a:pt x="111230" y="64142"/>
                </a:cubicBezTo>
                <a:cubicBezTo>
                  <a:pt x="98111" y="68831"/>
                  <a:pt x="80889" y="71455"/>
                  <a:pt x="62523" y="71455"/>
                </a:cubicBezTo>
                <a:cubicBezTo>
                  <a:pt x="44157" y="71455"/>
                  <a:pt x="26907" y="68803"/>
                  <a:pt x="13816" y="64142"/>
                </a:cubicBezTo>
                <a:cubicBezTo>
                  <a:pt x="8904" y="62384"/>
                  <a:pt x="4131" y="60178"/>
                  <a:pt x="0" y="57443"/>
                </a:cubicBezTo>
                <a:lnTo>
                  <a:pt x="0" y="80387"/>
                </a:lnTo>
                <a:cubicBezTo>
                  <a:pt x="0" y="92724"/>
                  <a:pt x="27996" y="102716"/>
                  <a:pt x="62523" y="102716"/>
                </a:cubicBezTo>
                <a:cubicBezTo>
                  <a:pt x="97050" y="102716"/>
                  <a:pt x="125046" y="92724"/>
                  <a:pt x="125046" y="80387"/>
                </a:cubicBezTo>
                <a:lnTo>
                  <a:pt x="125046" y="57443"/>
                </a:lnTo>
                <a:close/>
                <a:moveTo>
                  <a:pt x="125046" y="35727"/>
                </a:moveTo>
                <a:lnTo>
                  <a:pt x="125046" y="22330"/>
                </a:lnTo>
                <a:cubicBezTo>
                  <a:pt x="125046" y="9993"/>
                  <a:pt x="97050" y="0"/>
                  <a:pt x="62523" y="0"/>
                </a:cubicBezTo>
                <a:cubicBezTo>
                  <a:pt x="27996" y="0"/>
                  <a:pt x="0" y="9993"/>
                  <a:pt x="0" y="22330"/>
                </a:cubicBezTo>
                <a:lnTo>
                  <a:pt x="0" y="35727"/>
                </a:lnTo>
                <a:cubicBezTo>
                  <a:pt x="0" y="48065"/>
                  <a:pt x="27996" y="58057"/>
                  <a:pt x="62523" y="58057"/>
                </a:cubicBezTo>
                <a:cubicBezTo>
                  <a:pt x="97050" y="58057"/>
                  <a:pt x="125046" y="48065"/>
                  <a:pt x="125046" y="35727"/>
                </a:cubicBezTo>
                <a:close/>
                <a:moveTo>
                  <a:pt x="111230" y="108801"/>
                </a:moveTo>
                <a:cubicBezTo>
                  <a:pt x="98139" y="113463"/>
                  <a:pt x="80917" y="116114"/>
                  <a:pt x="62523" y="116114"/>
                </a:cubicBezTo>
                <a:cubicBezTo>
                  <a:pt x="44129" y="116114"/>
                  <a:pt x="26907" y="113463"/>
                  <a:pt x="13816" y="108801"/>
                </a:cubicBezTo>
                <a:cubicBezTo>
                  <a:pt x="8904" y="107043"/>
                  <a:pt x="4131" y="104838"/>
                  <a:pt x="0" y="102102"/>
                </a:cubicBezTo>
                <a:lnTo>
                  <a:pt x="0" y="120580"/>
                </a:lnTo>
                <a:cubicBezTo>
                  <a:pt x="0" y="132917"/>
                  <a:pt x="27996" y="142910"/>
                  <a:pt x="62523" y="142910"/>
                </a:cubicBezTo>
                <a:cubicBezTo>
                  <a:pt x="97050" y="142910"/>
                  <a:pt x="125046" y="132917"/>
                  <a:pt x="125046" y="120580"/>
                </a:cubicBezTo>
                <a:lnTo>
                  <a:pt x="125046" y="102102"/>
                </a:lnTo>
                <a:cubicBezTo>
                  <a:pt x="120915" y="104838"/>
                  <a:pt x="116170" y="107043"/>
                  <a:pt x="111230" y="108801"/>
                </a:cubicBezTo>
                <a:close/>
              </a:path>
            </a:pathLst>
          </a:custGeom>
          <a:solidFill>
            <a:srgbClr val="8B0000"/>
          </a:solidFill>
          <a:ln/>
        </p:spPr>
      </p:sp>
      <p:sp>
        <p:nvSpPr>
          <p:cNvPr id="36" name="Text 34"/>
          <p:cNvSpPr/>
          <p:nvPr/>
        </p:nvSpPr>
        <p:spPr>
          <a:xfrm>
            <a:off x="6892332" y="2849266"/>
            <a:ext cx="500185" cy="214365"/>
          </a:xfrm>
          <a:prstGeom prst="rect">
            <a:avLst/>
          </a:prstGeom>
          <a:noFill/>
          <a:ln/>
        </p:spPr>
        <p:txBody>
          <a:bodyPr wrap="square" lIns="0" tIns="0" rIns="0" bIns="0" rtlCol="0" anchor="ctr"/>
          <a:lstStyle/>
          <a:p>
            <a:pPr>
              <a:lnSpc>
                <a:spcPct val="120000"/>
              </a:lnSpc>
            </a:pPr>
            <a:r>
              <a:rPr lang="en-US" sz="1125" b="1" dirty="0">
                <a:solidFill>
                  <a:srgbClr val="1F2937"/>
                </a:solidFill>
                <a:latin typeface="Sorts Mill Goudy" pitchFamily="34" charset="0"/>
                <a:ea typeface="Sorts Mill Goudy" pitchFamily="34" charset="-122"/>
                <a:cs typeface="Sorts Mill Goudy" pitchFamily="34" charset="-120"/>
              </a:rPr>
              <a:t>Values</a:t>
            </a:r>
            <a:endParaRPr lang="en-US" sz="1600" dirty="0"/>
          </a:p>
        </p:txBody>
      </p:sp>
      <p:sp>
        <p:nvSpPr>
          <p:cNvPr id="37" name="Text 35"/>
          <p:cNvSpPr/>
          <p:nvPr/>
        </p:nvSpPr>
        <p:spPr>
          <a:xfrm>
            <a:off x="6606512" y="3135086"/>
            <a:ext cx="4939323" cy="214365"/>
          </a:xfrm>
          <a:prstGeom prst="rect">
            <a:avLst/>
          </a:prstGeom>
          <a:noFill/>
          <a:ln/>
        </p:spPr>
        <p:txBody>
          <a:bodyPr wrap="square" lIns="0" tIns="0" rIns="0" bIns="0" rtlCol="0" anchor="ctr"/>
          <a:lstStyle/>
          <a:p>
            <a:pPr>
              <a:lnSpc>
                <a:spcPct val="120000"/>
              </a:lnSpc>
            </a:pPr>
            <a:r>
              <a:rPr lang="en-US" sz="1125" dirty="0">
                <a:solidFill>
                  <a:srgbClr val="6B7280"/>
                </a:solidFill>
                <a:latin typeface="Sorts Mill Goudy" pitchFamily="34" charset="0"/>
                <a:ea typeface="Sorts Mill Goudy" pitchFamily="34" charset="-122"/>
                <a:cs typeface="Sorts Mill Goudy" pitchFamily="34" charset="-120"/>
              </a:rPr>
              <a:t>Role descriptions, example sentences, frame constraints</a:t>
            </a:r>
            <a:endParaRPr lang="en-US" sz="1600" dirty="0"/>
          </a:p>
        </p:txBody>
      </p:sp>
      <p:sp>
        <p:nvSpPr>
          <p:cNvPr id="38" name="Shape 36"/>
          <p:cNvSpPr/>
          <p:nvPr/>
        </p:nvSpPr>
        <p:spPr>
          <a:xfrm>
            <a:off x="6459136" y="3612941"/>
            <a:ext cx="5162620" cy="794936"/>
          </a:xfrm>
          <a:custGeom>
            <a:avLst/>
            <a:gdLst/>
            <a:ahLst/>
            <a:cxnLst/>
            <a:rect l="l" t="t" r="r" b="b"/>
            <a:pathLst>
              <a:path w="5162620" h="794936">
                <a:moveTo>
                  <a:pt x="0" y="0"/>
                </a:moveTo>
                <a:lnTo>
                  <a:pt x="5162620" y="0"/>
                </a:lnTo>
                <a:lnTo>
                  <a:pt x="5162620" y="794936"/>
                </a:lnTo>
                <a:lnTo>
                  <a:pt x="0" y="794936"/>
                </a:lnTo>
                <a:lnTo>
                  <a:pt x="0" y="0"/>
                </a:lnTo>
                <a:close/>
              </a:path>
            </a:pathLst>
          </a:custGeom>
          <a:solidFill>
            <a:srgbClr val="FFFFFF"/>
          </a:solidFill>
          <a:ln w="12700">
            <a:solidFill>
              <a:srgbClr val="E5E7EB"/>
            </a:solidFill>
            <a:prstDash val="solid"/>
          </a:ln>
        </p:spPr>
      </p:sp>
      <p:sp>
        <p:nvSpPr>
          <p:cNvPr id="39" name="Shape 37"/>
          <p:cNvSpPr/>
          <p:nvPr/>
        </p:nvSpPr>
        <p:spPr>
          <a:xfrm>
            <a:off x="6615444" y="3796044"/>
            <a:ext cx="160774" cy="142910"/>
          </a:xfrm>
          <a:custGeom>
            <a:avLst/>
            <a:gdLst/>
            <a:ahLst/>
            <a:cxnLst/>
            <a:rect l="l" t="t" r="r" b="b"/>
            <a:pathLst>
              <a:path w="160774" h="142910">
                <a:moveTo>
                  <a:pt x="80387" y="8932"/>
                </a:moveTo>
                <a:cubicBezTo>
                  <a:pt x="57834" y="8932"/>
                  <a:pt x="39775" y="19204"/>
                  <a:pt x="26628" y="31429"/>
                </a:cubicBezTo>
                <a:cubicBezTo>
                  <a:pt x="13565" y="43571"/>
                  <a:pt x="4829" y="58057"/>
                  <a:pt x="670" y="68022"/>
                </a:cubicBezTo>
                <a:cubicBezTo>
                  <a:pt x="-251" y="70227"/>
                  <a:pt x="-251" y="72683"/>
                  <a:pt x="670" y="74888"/>
                </a:cubicBezTo>
                <a:cubicBezTo>
                  <a:pt x="4829" y="84853"/>
                  <a:pt x="13565" y="99367"/>
                  <a:pt x="26628" y="111481"/>
                </a:cubicBezTo>
                <a:cubicBezTo>
                  <a:pt x="39775" y="123678"/>
                  <a:pt x="57834" y="133978"/>
                  <a:pt x="80387" y="133978"/>
                </a:cubicBezTo>
                <a:cubicBezTo>
                  <a:pt x="102940" y="133978"/>
                  <a:pt x="120999" y="123706"/>
                  <a:pt x="134145" y="111481"/>
                </a:cubicBezTo>
                <a:cubicBezTo>
                  <a:pt x="147208" y="99339"/>
                  <a:pt x="155945" y="84853"/>
                  <a:pt x="160104" y="74888"/>
                </a:cubicBezTo>
                <a:cubicBezTo>
                  <a:pt x="161025" y="72683"/>
                  <a:pt x="161025" y="70227"/>
                  <a:pt x="160104" y="68022"/>
                </a:cubicBezTo>
                <a:cubicBezTo>
                  <a:pt x="155945" y="58057"/>
                  <a:pt x="147208" y="43543"/>
                  <a:pt x="134145" y="31429"/>
                </a:cubicBezTo>
                <a:cubicBezTo>
                  <a:pt x="120999" y="19231"/>
                  <a:pt x="102940" y="8932"/>
                  <a:pt x="80387" y="8932"/>
                </a:cubicBezTo>
                <a:close/>
                <a:moveTo>
                  <a:pt x="40193" y="71455"/>
                </a:moveTo>
                <a:cubicBezTo>
                  <a:pt x="40193" y="49272"/>
                  <a:pt x="58203" y="31262"/>
                  <a:pt x="80387" y="31262"/>
                </a:cubicBezTo>
                <a:cubicBezTo>
                  <a:pt x="102570" y="31262"/>
                  <a:pt x="120580" y="49272"/>
                  <a:pt x="120580" y="71455"/>
                </a:cubicBezTo>
                <a:cubicBezTo>
                  <a:pt x="120580" y="93638"/>
                  <a:pt x="102570" y="111648"/>
                  <a:pt x="80387" y="111648"/>
                </a:cubicBezTo>
                <a:cubicBezTo>
                  <a:pt x="58203" y="111648"/>
                  <a:pt x="40193" y="93638"/>
                  <a:pt x="40193" y="71455"/>
                </a:cubicBezTo>
                <a:close/>
                <a:moveTo>
                  <a:pt x="80387" y="53591"/>
                </a:moveTo>
                <a:cubicBezTo>
                  <a:pt x="80387" y="63444"/>
                  <a:pt x="72376" y="71455"/>
                  <a:pt x="62523" y="71455"/>
                </a:cubicBezTo>
                <a:cubicBezTo>
                  <a:pt x="59313" y="71455"/>
                  <a:pt x="56299" y="70618"/>
                  <a:pt x="53675" y="69110"/>
                </a:cubicBezTo>
                <a:cubicBezTo>
                  <a:pt x="53396" y="72153"/>
                  <a:pt x="53647" y="75279"/>
                  <a:pt x="54484" y="78377"/>
                </a:cubicBezTo>
                <a:cubicBezTo>
                  <a:pt x="58308" y="92668"/>
                  <a:pt x="73018" y="101153"/>
                  <a:pt x="87309" y="97329"/>
                </a:cubicBezTo>
                <a:cubicBezTo>
                  <a:pt x="101600" y="93505"/>
                  <a:pt x="110085" y="78796"/>
                  <a:pt x="106261" y="64505"/>
                </a:cubicBezTo>
                <a:cubicBezTo>
                  <a:pt x="102856" y="51749"/>
                  <a:pt x="90770" y="43627"/>
                  <a:pt x="78042" y="44743"/>
                </a:cubicBezTo>
                <a:cubicBezTo>
                  <a:pt x="79522" y="47339"/>
                  <a:pt x="80387" y="50353"/>
                  <a:pt x="80387" y="53591"/>
                </a:cubicBezTo>
                <a:close/>
              </a:path>
            </a:pathLst>
          </a:custGeom>
          <a:solidFill>
            <a:srgbClr val="8B0000"/>
          </a:solidFill>
          <a:ln/>
        </p:spPr>
      </p:sp>
      <p:sp>
        <p:nvSpPr>
          <p:cNvPr id="40" name="Text 38"/>
          <p:cNvSpPr/>
          <p:nvPr/>
        </p:nvSpPr>
        <p:spPr>
          <a:xfrm>
            <a:off x="6892332" y="3760316"/>
            <a:ext cx="687754" cy="214365"/>
          </a:xfrm>
          <a:prstGeom prst="rect">
            <a:avLst/>
          </a:prstGeom>
          <a:noFill/>
          <a:ln/>
        </p:spPr>
        <p:txBody>
          <a:bodyPr wrap="square" lIns="0" tIns="0" rIns="0" bIns="0" rtlCol="0" anchor="ctr"/>
          <a:lstStyle/>
          <a:p>
            <a:pPr>
              <a:lnSpc>
                <a:spcPct val="120000"/>
              </a:lnSpc>
            </a:pPr>
            <a:r>
              <a:rPr lang="en-US" sz="1125" b="1" dirty="0">
                <a:solidFill>
                  <a:srgbClr val="1F2937"/>
                </a:solidFill>
                <a:latin typeface="Sorts Mill Goudy" pitchFamily="34" charset="0"/>
                <a:ea typeface="Sorts Mill Goudy" pitchFamily="34" charset="-122"/>
                <a:cs typeface="Sorts Mill Goudy" pitchFamily="34" charset="-120"/>
              </a:rPr>
              <a:t>Attention</a:t>
            </a:r>
            <a:endParaRPr lang="en-US" sz="1600" dirty="0"/>
          </a:p>
        </p:txBody>
      </p:sp>
      <p:sp>
        <p:nvSpPr>
          <p:cNvPr id="41" name="Text 39"/>
          <p:cNvSpPr/>
          <p:nvPr/>
        </p:nvSpPr>
        <p:spPr>
          <a:xfrm>
            <a:off x="6606512" y="4046136"/>
            <a:ext cx="4939323" cy="214365"/>
          </a:xfrm>
          <a:prstGeom prst="rect">
            <a:avLst/>
          </a:prstGeom>
          <a:noFill/>
          <a:ln/>
        </p:spPr>
        <p:txBody>
          <a:bodyPr wrap="square" lIns="0" tIns="0" rIns="0" bIns="0" rtlCol="0" anchor="ctr"/>
          <a:lstStyle/>
          <a:p>
            <a:pPr>
              <a:lnSpc>
                <a:spcPct val="120000"/>
              </a:lnSpc>
            </a:pPr>
            <a:r>
              <a:rPr lang="en-US" sz="1125" dirty="0">
                <a:solidFill>
                  <a:srgbClr val="6B7280"/>
                </a:solidFill>
                <a:latin typeface="Sorts Mill Goudy" pitchFamily="34" charset="0"/>
                <a:ea typeface="Sorts Mill Goudy" pitchFamily="34" charset="-122"/>
                <a:cs typeface="Sorts Mill Goudy" pitchFamily="34" charset="-120"/>
              </a:rPr>
              <a:t>Contextual predicate representation queries memory</a:t>
            </a:r>
            <a:endParaRPr lang="en-US" sz="1600" dirty="0"/>
          </a:p>
        </p:txBody>
      </p:sp>
      <p:sp>
        <p:nvSpPr>
          <p:cNvPr id="42" name="Shape 40"/>
          <p:cNvSpPr/>
          <p:nvPr/>
        </p:nvSpPr>
        <p:spPr>
          <a:xfrm>
            <a:off x="6244771" y="4845538"/>
            <a:ext cx="5591349" cy="2009670"/>
          </a:xfrm>
          <a:custGeom>
            <a:avLst/>
            <a:gdLst/>
            <a:ahLst/>
            <a:cxnLst/>
            <a:rect l="l" t="t" r="r" b="b"/>
            <a:pathLst>
              <a:path w="5591349" h="2009670">
                <a:moveTo>
                  <a:pt x="0" y="0"/>
                </a:moveTo>
                <a:lnTo>
                  <a:pt x="5591349" y="0"/>
                </a:lnTo>
                <a:lnTo>
                  <a:pt x="5591349" y="2009670"/>
                </a:lnTo>
                <a:lnTo>
                  <a:pt x="0" y="2009670"/>
                </a:lnTo>
                <a:lnTo>
                  <a:pt x="0" y="0"/>
                </a:lnTo>
                <a:close/>
              </a:path>
            </a:pathLst>
          </a:custGeom>
          <a:solidFill>
            <a:srgbClr val="8B0000">
              <a:alpha val="5098"/>
            </a:srgbClr>
          </a:solidFill>
          <a:ln w="12700">
            <a:solidFill>
              <a:srgbClr val="8B0000">
                <a:alpha val="20000"/>
              </a:srgbClr>
            </a:solidFill>
            <a:prstDash val="solid"/>
          </a:ln>
        </p:spPr>
      </p:sp>
      <p:sp>
        <p:nvSpPr>
          <p:cNvPr id="43" name="Text 41"/>
          <p:cNvSpPr/>
          <p:nvPr/>
        </p:nvSpPr>
        <p:spPr>
          <a:xfrm>
            <a:off x="6463602" y="5064369"/>
            <a:ext cx="5234075" cy="250092"/>
          </a:xfrm>
          <a:prstGeom prst="rect">
            <a:avLst/>
          </a:prstGeom>
          <a:noFill/>
          <a:ln/>
        </p:spPr>
        <p:txBody>
          <a:bodyPr wrap="square" lIns="0" tIns="0" rIns="0" bIns="0" rtlCol="0" anchor="ctr"/>
          <a:lstStyle/>
          <a:p>
            <a:pPr>
              <a:lnSpc>
                <a:spcPct val="130000"/>
              </a:lnSpc>
            </a:pPr>
            <a:r>
              <a:rPr lang="en-US" sz="1266" b="1" dirty="0">
                <a:solidFill>
                  <a:srgbClr val="1F2937"/>
                </a:solidFill>
                <a:latin typeface="Sorts Mill Goudy" pitchFamily="34" charset="0"/>
                <a:ea typeface="Sorts Mill Goudy" pitchFamily="34" charset="-122"/>
                <a:cs typeface="Sorts Mill Goudy" pitchFamily="34" charset="-120"/>
              </a:rPr>
              <a:t>Expected Benefits</a:t>
            </a:r>
            <a:endParaRPr lang="en-US" sz="1600" dirty="0"/>
          </a:p>
        </p:txBody>
      </p:sp>
      <p:sp>
        <p:nvSpPr>
          <p:cNvPr id="44" name="Text 42"/>
          <p:cNvSpPr/>
          <p:nvPr/>
        </p:nvSpPr>
        <p:spPr>
          <a:xfrm>
            <a:off x="6463602" y="5457371"/>
            <a:ext cx="187569" cy="214365"/>
          </a:xfrm>
          <a:prstGeom prst="rect">
            <a:avLst/>
          </a:prstGeom>
          <a:noFill/>
          <a:ln/>
        </p:spPr>
        <p:txBody>
          <a:bodyPr wrap="square" lIns="0" tIns="0" rIns="0" bIns="0" rtlCol="0" anchor="ctr"/>
          <a:lstStyle/>
          <a:p>
            <a:pPr>
              <a:lnSpc>
                <a:spcPct val="120000"/>
              </a:lnSpc>
            </a:pPr>
            <a:r>
              <a:rPr lang="en-US" sz="1125"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45" name="Text 43"/>
          <p:cNvSpPr/>
          <p:nvPr/>
        </p:nvSpPr>
        <p:spPr>
          <a:xfrm>
            <a:off x="6651171" y="5421644"/>
            <a:ext cx="3921090" cy="214365"/>
          </a:xfrm>
          <a:prstGeom prst="rect">
            <a:avLst/>
          </a:prstGeom>
          <a:noFill/>
          <a:ln/>
        </p:spPr>
        <p:txBody>
          <a:bodyPr wrap="square" lIns="0" tIns="0" rIns="0" bIns="0" rtlCol="0" anchor="ctr"/>
          <a:lstStyle/>
          <a:p>
            <a:pPr>
              <a:lnSpc>
                <a:spcPct val="120000"/>
              </a:lnSpc>
            </a:pPr>
            <a:r>
              <a:rPr lang="en-US" sz="1125" dirty="0">
                <a:solidFill>
                  <a:srgbClr val="1F2937"/>
                </a:solidFill>
                <a:latin typeface="Sorts Mill Goudy" pitchFamily="34" charset="0"/>
                <a:ea typeface="Sorts Mill Goudy" pitchFamily="34" charset="-122"/>
                <a:cs typeface="Sorts Mill Goudy" pitchFamily="34" charset="-120"/>
              </a:rPr>
              <a:t>Resolves ambiguous predicates under soft semantic constraints</a:t>
            </a:r>
            <a:endParaRPr lang="en-US" sz="1600" dirty="0"/>
          </a:p>
        </p:txBody>
      </p:sp>
      <p:sp>
        <p:nvSpPr>
          <p:cNvPr id="46" name="Text 44"/>
          <p:cNvSpPr/>
          <p:nvPr/>
        </p:nvSpPr>
        <p:spPr>
          <a:xfrm>
            <a:off x="6463602" y="5778919"/>
            <a:ext cx="187569" cy="214365"/>
          </a:xfrm>
          <a:prstGeom prst="rect">
            <a:avLst/>
          </a:prstGeom>
          <a:noFill/>
          <a:ln/>
        </p:spPr>
        <p:txBody>
          <a:bodyPr wrap="square" lIns="0" tIns="0" rIns="0" bIns="0" rtlCol="0" anchor="ctr"/>
          <a:lstStyle/>
          <a:p>
            <a:pPr>
              <a:lnSpc>
                <a:spcPct val="120000"/>
              </a:lnSpc>
            </a:pPr>
            <a:r>
              <a:rPr lang="en-US" sz="1125"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47" name="Text 45"/>
          <p:cNvSpPr/>
          <p:nvPr/>
        </p:nvSpPr>
        <p:spPr>
          <a:xfrm>
            <a:off x="6651171" y="5743191"/>
            <a:ext cx="2965380" cy="214365"/>
          </a:xfrm>
          <a:prstGeom prst="rect">
            <a:avLst/>
          </a:prstGeom>
          <a:noFill/>
          <a:ln/>
        </p:spPr>
        <p:txBody>
          <a:bodyPr wrap="square" lIns="0" tIns="0" rIns="0" bIns="0" rtlCol="0" anchor="ctr"/>
          <a:lstStyle/>
          <a:p>
            <a:pPr>
              <a:lnSpc>
                <a:spcPct val="120000"/>
              </a:lnSpc>
            </a:pPr>
            <a:r>
              <a:rPr lang="en-US" sz="1125" dirty="0">
                <a:solidFill>
                  <a:srgbClr val="1F2937"/>
                </a:solidFill>
                <a:latin typeface="Sorts Mill Goudy" pitchFamily="34" charset="0"/>
                <a:ea typeface="Sorts Mill Goudy" pitchFamily="34" charset="-122"/>
                <a:cs typeface="Sorts Mill Goudy" pitchFamily="34" charset="-120"/>
              </a:rPr>
              <a:t>Improves role assignment for polysemous verbs</a:t>
            </a:r>
            <a:endParaRPr lang="en-US" sz="1600" dirty="0"/>
          </a:p>
        </p:txBody>
      </p:sp>
      <p:sp>
        <p:nvSpPr>
          <p:cNvPr id="48" name="Text 46"/>
          <p:cNvSpPr/>
          <p:nvPr/>
        </p:nvSpPr>
        <p:spPr>
          <a:xfrm>
            <a:off x="6463602" y="6100466"/>
            <a:ext cx="187569" cy="214365"/>
          </a:xfrm>
          <a:prstGeom prst="rect">
            <a:avLst/>
          </a:prstGeom>
          <a:noFill/>
          <a:ln/>
        </p:spPr>
        <p:txBody>
          <a:bodyPr wrap="square" lIns="0" tIns="0" rIns="0" bIns="0" rtlCol="0" anchor="ctr"/>
          <a:lstStyle/>
          <a:p>
            <a:pPr>
              <a:lnSpc>
                <a:spcPct val="120000"/>
              </a:lnSpc>
            </a:pPr>
            <a:r>
              <a:rPr lang="en-US" sz="1125"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49" name="Text 47"/>
          <p:cNvSpPr/>
          <p:nvPr/>
        </p:nvSpPr>
        <p:spPr>
          <a:xfrm>
            <a:off x="6651171" y="6064738"/>
            <a:ext cx="2491991" cy="214365"/>
          </a:xfrm>
          <a:prstGeom prst="rect">
            <a:avLst/>
          </a:prstGeom>
          <a:noFill/>
          <a:ln/>
        </p:spPr>
        <p:txBody>
          <a:bodyPr wrap="square" lIns="0" tIns="0" rIns="0" bIns="0" rtlCol="0" anchor="ctr"/>
          <a:lstStyle/>
          <a:p>
            <a:pPr>
              <a:lnSpc>
                <a:spcPct val="120000"/>
              </a:lnSpc>
            </a:pPr>
            <a:r>
              <a:rPr lang="en-US" sz="1125" dirty="0">
                <a:solidFill>
                  <a:srgbClr val="1F2937"/>
                </a:solidFill>
                <a:latin typeface="Sorts Mill Goudy" pitchFamily="34" charset="0"/>
                <a:ea typeface="Sorts Mill Goudy" pitchFamily="34" charset="-122"/>
                <a:cs typeface="Sorts Mill Goudy" pitchFamily="34" charset="-120"/>
              </a:rPr>
              <a:t>Leverages existing PropBank frame files</a:t>
            </a:r>
            <a:endParaRPr lang="en-US" sz="1600" dirty="0"/>
          </a:p>
        </p:txBody>
      </p:sp>
      <p:sp>
        <p:nvSpPr>
          <p:cNvPr id="50" name="Text 48"/>
          <p:cNvSpPr/>
          <p:nvPr/>
        </p:nvSpPr>
        <p:spPr>
          <a:xfrm>
            <a:off x="6463602" y="6422013"/>
            <a:ext cx="187569" cy="214365"/>
          </a:xfrm>
          <a:prstGeom prst="rect">
            <a:avLst/>
          </a:prstGeom>
          <a:noFill/>
          <a:ln/>
        </p:spPr>
        <p:txBody>
          <a:bodyPr wrap="square" lIns="0" tIns="0" rIns="0" bIns="0" rtlCol="0" anchor="ctr"/>
          <a:lstStyle/>
          <a:p>
            <a:pPr>
              <a:lnSpc>
                <a:spcPct val="120000"/>
              </a:lnSpc>
            </a:pPr>
            <a:r>
              <a:rPr lang="en-US" sz="1125"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51" name="Text 49"/>
          <p:cNvSpPr/>
          <p:nvPr/>
        </p:nvSpPr>
        <p:spPr>
          <a:xfrm>
            <a:off x="6651171" y="6386286"/>
            <a:ext cx="3152949" cy="214365"/>
          </a:xfrm>
          <a:prstGeom prst="rect">
            <a:avLst/>
          </a:prstGeom>
          <a:noFill/>
          <a:ln/>
        </p:spPr>
        <p:txBody>
          <a:bodyPr wrap="square" lIns="0" tIns="0" rIns="0" bIns="0" rtlCol="0" anchor="ctr"/>
          <a:lstStyle/>
          <a:p>
            <a:pPr>
              <a:lnSpc>
                <a:spcPct val="120000"/>
              </a:lnSpc>
            </a:pPr>
            <a:r>
              <a:rPr lang="en-US" sz="1125" dirty="0">
                <a:solidFill>
                  <a:srgbClr val="1F2937"/>
                </a:solidFill>
                <a:latin typeface="Sorts Mill Goudy" pitchFamily="34" charset="0"/>
                <a:ea typeface="Sorts Mill Goudy" pitchFamily="34" charset="-122"/>
                <a:cs typeface="Sorts Mill Goudy" pitchFamily="34" charset="-120"/>
              </a:rPr>
              <a:t>Lightweight upgrade path—no retraining required</a:t>
            </a:r>
            <a:endParaRPr lang="en-US" sz="1600" dirty="0"/>
          </a:p>
        </p:txBody>
      </p:sp>
    </p:spTree>
    <p:extLst>
      <p:ext uri="{BB962C8B-B14F-4D97-AF65-F5344CB8AC3E}">
        <p14:creationId xmlns:p14="http://schemas.microsoft.com/office/powerpoint/2010/main" val="1731723502"/>
      </p:ext>
    </p:extLst>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17500" y="317500"/>
            <a:ext cx="11612563" cy="158750"/>
          </a:xfrm>
          <a:prstGeom prst="rect">
            <a:avLst/>
          </a:prstGeom>
          <a:noFill/>
          <a:ln/>
        </p:spPr>
        <p:txBody>
          <a:bodyPr wrap="square" lIns="0" tIns="0" rIns="0" bIns="0" rtlCol="0" anchor="ctr"/>
          <a:lstStyle/>
          <a:p>
            <a:pPr>
              <a:lnSpc>
                <a:spcPct val="120000"/>
              </a:lnSpc>
            </a:pPr>
            <a:r>
              <a:rPr lang="en-US" sz="875" b="1" kern="0" spc="44" dirty="0">
                <a:solidFill>
                  <a:srgbClr val="8B0000"/>
                </a:solidFill>
                <a:latin typeface="Sorts Mill Goudy" pitchFamily="34" charset="0"/>
                <a:ea typeface="Sorts Mill Goudy" pitchFamily="34" charset="-122"/>
                <a:cs typeface="Sorts Mill Goudy" pitchFamily="34" charset="-120"/>
              </a:rPr>
              <a:t>5.2 INNOVATION HIGHLIGHTS</a:t>
            </a:r>
            <a:endParaRPr lang="en-US" sz="1600" dirty="0"/>
          </a:p>
        </p:txBody>
      </p:sp>
      <p:sp>
        <p:nvSpPr>
          <p:cNvPr id="3" name="Text 1"/>
          <p:cNvSpPr/>
          <p:nvPr/>
        </p:nvSpPr>
        <p:spPr>
          <a:xfrm>
            <a:off x="317500" y="539750"/>
            <a:ext cx="11699875" cy="317500"/>
          </a:xfrm>
          <a:prstGeom prst="rect">
            <a:avLst/>
          </a:prstGeom>
          <a:noFill/>
          <a:ln/>
        </p:spPr>
        <p:txBody>
          <a:bodyPr wrap="square" lIns="0" tIns="0" rIns="0" bIns="0" rtlCol="0" anchor="ctr"/>
          <a:lstStyle/>
          <a:p>
            <a:pPr>
              <a:lnSpc>
                <a:spcPct val="90000"/>
              </a:lnSpc>
            </a:pPr>
            <a:r>
              <a:rPr lang="en-US" sz="2250" b="1" dirty="0">
                <a:solidFill>
                  <a:srgbClr val="1F2937"/>
                </a:solidFill>
                <a:latin typeface="Sorts Mill Goudy" pitchFamily="34" charset="0"/>
                <a:ea typeface="Sorts Mill Goudy" pitchFamily="34" charset="-122"/>
                <a:cs typeface="Sorts Mill Goudy" pitchFamily="34" charset="-120"/>
              </a:rPr>
              <a:t>Innovation 2: Semantic Frame Chaining</a:t>
            </a:r>
            <a:endParaRPr lang="en-US" sz="1600" dirty="0"/>
          </a:p>
        </p:txBody>
      </p:sp>
      <p:sp>
        <p:nvSpPr>
          <p:cNvPr id="4" name="Shape 2"/>
          <p:cNvSpPr/>
          <p:nvPr/>
        </p:nvSpPr>
        <p:spPr>
          <a:xfrm>
            <a:off x="333375" y="1047750"/>
            <a:ext cx="5635625" cy="2079625"/>
          </a:xfrm>
          <a:custGeom>
            <a:avLst/>
            <a:gdLst/>
            <a:ahLst/>
            <a:cxnLst/>
            <a:rect l="l" t="t" r="r" b="b"/>
            <a:pathLst>
              <a:path w="5635625" h="2079625">
                <a:moveTo>
                  <a:pt x="0" y="0"/>
                </a:moveTo>
                <a:lnTo>
                  <a:pt x="5635625" y="0"/>
                </a:lnTo>
                <a:lnTo>
                  <a:pt x="5635625" y="2079625"/>
                </a:lnTo>
                <a:lnTo>
                  <a:pt x="0" y="2079625"/>
                </a:lnTo>
                <a:lnTo>
                  <a:pt x="0" y="0"/>
                </a:lnTo>
                <a:close/>
              </a:path>
            </a:pathLst>
          </a:custGeom>
          <a:solidFill>
            <a:srgbClr val="F9FAFB"/>
          </a:solidFill>
          <a:ln/>
        </p:spPr>
      </p:sp>
      <p:sp>
        <p:nvSpPr>
          <p:cNvPr id="5" name="Shape 3"/>
          <p:cNvSpPr/>
          <p:nvPr/>
        </p:nvSpPr>
        <p:spPr>
          <a:xfrm>
            <a:off x="333375" y="1047750"/>
            <a:ext cx="31750" cy="2079625"/>
          </a:xfrm>
          <a:custGeom>
            <a:avLst/>
            <a:gdLst/>
            <a:ahLst/>
            <a:cxnLst/>
            <a:rect l="l" t="t" r="r" b="b"/>
            <a:pathLst>
              <a:path w="31750" h="2079625">
                <a:moveTo>
                  <a:pt x="0" y="0"/>
                </a:moveTo>
                <a:lnTo>
                  <a:pt x="31750" y="0"/>
                </a:lnTo>
                <a:lnTo>
                  <a:pt x="31750" y="2079625"/>
                </a:lnTo>
                <a:lnTo>
                  <a:pt x="0" y="2079625"/>
                </a:lnTo>
                <a:lnTo>
                  <a:pt x="0" y="0"/>
                </a:lnTo>
                <a:close/>
              </a:path>
            </a:pathLst>
          </a:custGeom>
          <a:solidFill>
            <a:srgbClr val="8B0000"/>
          </a:solidFill>
          <a:ln/>
        </p:spPr>
      </p:sp>
      <p:sp>
        <p:nvSpPr>
          <p:cNvPr id="6" name="Text 4"/>
          <p:cNvSpPr/>
          <p:nvPr/>
        </p:nvSpPr>
        <p:spPr>
          <a:xfrm>
            <a:off x="539750" y="1238250"/>
            <a:ext cx="5318125" cy="222250"/>
          </a:xfrm>
          <a:prstGeom prst="rect">
            <a:avLst/>
          </a:prstGeom>
          <a:noFill/>
          <a:ln/>
        </p:spPr>
        <p:txBody>
          <a:bodyPr wrap="square" lIns="0" tIns="0" rIns="0" bIns="0" rtlCol="0" anchor="ctr"/>
          <a:lstStyle/>
          <a:p>
            <a:pPr>
              <a:lnSpc>
                <a:spcPct val="120000"/>
              </a:lnSpc>
            </a:pPr>
            <a:r>
              <a:rPr lang="en-US" sz="1250" b="1" dirty="0">
                <a:solidFill>
                  <a:srgbClr val="1F2937"/>
                </a:solidFill>
                <a:latin typeface="Sorts Mill Goudy" pitchFamily="34" charset="0"/>
                <a:ea typeface="Sorts Mill Goudy" pitchFamily="34" charset="-122"/>
                <a:cs typeface="Sorts Mill Goudy" pitchFamily="34" charset="-120"/>
              </a:rPr>
              <a:t>The Problem: Cross-Sentence QA</a:t>
            </a:r>
            <a:endParaRPr lang="en-US" sz="1600" dirty="0"/>
          </a:p>
        </p:txBody>
      </p:sp>
      <p:sp>
        <p:nvSpPr>
          <p:cNvPr id="7" name="Text 5"/>
          <p:cNvSpPr/>
          <p:nvPr/>
        </p:nvSpPr>
        <p:spPr>
          <a:xfrm>
            <a:off x="539750" y="1555750"/>
            <a:ext cx="5302250" cy="206375"/>
          </a:xfrm>
          <a:prstGeom prst="rect">
            <a:avLst/>
          </a:prstGeom>
          <a:noFill/>
          <a:ln/>
        </p:spPr>
        <p:txBody>
          <a:bodyPr wrap="square" lIns="0" tIns="0" rIns="0" bIns="0" rtlCol="0" anchor="ctr"/>
          <a:lstStyle/>
          <a:p>
            <a:pPr>
              <a:lnSpc>
                <a:spcPct val="140000"/>
              </a:lnSpc>
            </a:pPr>
            <a:r>
              <a:rPr lang="en-US" sz="1000" dirty="0">
                <a:solidFill>
                  <a:srgbClr val="1F2937"/>
                </a:solidFill>
                <a:latin typeface="Sorts Mill Goudy" pitchFamily="34" charset="0"/>
                <a:ea typeface="Sorts Mill Goudy" pitchFamily="34" charset="-122"/>
                <a:cs typeface="Sorts Mill Goudy" pitchFamily="34" charset="-120"/>
              </a:rPr>
              <a:t>Current system is sentence-local. Many questions require evidence from multiple sentences:</a:t>
            </a:r>
            <a:endParaRPr lang="en-US" sz="1600" dirty="0"/>
          </a:p>
        </p:txBody>
      </p:sp>
      <p:sp>
        <p:nvSpPr>
          <p:cNvPr id="8" name="Shape 6"/>
          <p:cNvSpPr/>
          <p:nvPr/>
        </p:nvSpPr>
        <p:spPr>
          <a:xfrm>
            <a:off x="543719" y="1893094"/>
            <a:ext cx="5230813" cy="706438"/>
          </a:xfrm>
          <a:custGeom>
            <a:avLst/>
            <a:gdLst/>
            <a:ahLst/>
            <a:cxnLst/>
            <a:rect l="l" t="t" r="r" b="b"/>
            <a:pathLst>
              <a:path w="5230813" h="706438">
                <a:moveTo>
                  <a:pt x="0" y="0"/>
                </a:moveTo>
                <a:lnTo>
                  <a:pt x="5230813" y="0"/>
                </a:lnTo>
                <a:lnTo>
                  <a:pt x="5230813" y="706438"/>
                </a:lnTo>
                <a:lnTo>
                  <a:pt x="0" y="706438"/>
                </a:lnTo>
                <a:lnTo>
                  <a:pt x="0" y="0"/>
                </a:lnTo>
                <a:close/>
              </a:path>
            </a:pathLst>
          </a:custGeom>
          <a:solidFill>
            <a:srgbClr val="FFFFFF"/>
          </a:solidFill>
          <a:ln w="12700">
            <a:solidFill>
              <a:srgbClr val="E5E7EB"/>
            </a:solidFill>
            <a:prstDash val="solid"/>
          </a:ln>
        </p:spPr>
      </p:sp>
      <p:sp>
        <p:nvSpPr>
          <p:cNvPr id="9" name="Text 7"/>
          <p:cNvSpPr/>
          <p:nvPr/>
        </p:nvSpPr>
        <p:spPr>
          <a:xfrm>
            <a:off x="674688" y="2024062"/>
            <a:ext cx="5032375" cy="190500"/>
          </a:xfrm>
          <a:prstGeom prst="rect">
            <a:avLst/>
          </a:prstGeom>
          <a:noFill/>
          <a:ln/>
        </p:spPr>
        <p:txBody>
          <a:bodyPr wrap="square" lIns="0" tIns="0" rIns="0" bIns="0" rtlCol="0" anchor="ctr"/>
          <a:lstStyle/>
          <a:p>
            <a:pPr>
              <a:lnSpc>
                <a:spcPct val="130000"/>
              </a:lnSpc>
            </a:pPr>
            <a:r>
              <a:rPr lang="en-US" sz="1000" dirty="0">
                <a:solidFill>
                  <a:srgbClr val="1F2937"/>
                </a:solidFill>
                <a:latin typeface="Sorts Mill Goudy" pitchFamily="34" charset="0"/>
                <a:ea typeface="Sorts Mill Goudy" pitchFamily="34" charset="-122"/>
                <a:cs typeface="Sorts Mill Goudy" pitchFamily="34" charset="-120"/>
              </a:rPr>
              <a:t>"The company announced layoffs. The decision affected 500 workers."</a:t>
            </a:r>
            <a:endParaRPr lang="en-US" sz="1600" dirty="0"/>
          </a:p>
        </p:txBody>
      </p:sp>
      <p:sp>
        <p:nvSpPr>
          <p:cNvPr id="10" name="Text 8"/>
          <p:cNvSpPr/>
          <p:nvPr/>
        </p:nvSpPr>
        <p:spPr>
          <a:xfrm>
            <a:off x="674688" y="2278063"/>
            <a:ext cx="5032375" cy="190500"/>
          </a:xfrm>
          <a:prstGeom prst="rect">
            <a:avLst/>
          </a:prstGeom>
          <a:noFill/>
          <a:ln/>
        </p:spPr>
        <p:txBody>
          <a:bodyPr wrap="square" lIns="0" tIns="0" rIns="0" bIns="0" rtlCol="0" anchor="ctr"/>
          <a:lstStyle/>
          <a:p>
            <a:pPr>
              <a:lnSpc>
                <a:spcPct val="130000"/>
              </a:lnSpc>
            </a:pPr>
            <a:r>
              <a:rPr lang="en-US" sz="1000" dirty="0">
                <a:solidFill>
                  <a:srgbClr val="6B7280"/>
                </a:solidFill>
                <a:latin typeface="Sorts Mill Goudy" pitchFamily="34" charset="0"/>
                <a:ea typeface="Sorts Mill Goudy" pitchFamily="34" charset="-122"/>
                <a:cs typeface="Sorts Mill Goudy" pitchFamily="34" charset="-120"/>
              </a:rPr>
              <a:t>Question: "What affected 500 workers?" → requires linking "decision" to "layoffs"</a:t>
            </a:r>
            <a:endParaRPr lang="en-US" sz="1600" dirty="0"/>
          </a:p>
        </p:txBody>
      </p:sp>
      <p:sp>
        <p:nvSpPr>
          <p:cNvPr id="11" name="Text 9"/>
          <p:cNvSpPr/>
          <p:nvPr/>
        </p:nvSpPr>
        <p:spPr>
          <a:xfrm>
            <a:off x="539750" y="2730500"/>
            <a:ext cx="5302250" cy="206375"/>
          </a:xfrm>
          <a:prstGeom prst="rect">
            <a:avLst/>
          </a:prstGeom>
          <a:noFill/>
          <a:ln/>
        </p:spPr>
        <p:txBody>
          <a:bodyPr wrap="square" lIns="0" tIns="0" rIns="0" bIns="0" rtlCol="0" anchor="ctr"/>
          <a:lstStyle/>
          <a:p>
            <a:pPr>
              <a:lnSpc>
                <a:spcPct val="140000"/>
              </a:lnSpc>
            </a:pPr>
            <a:r>
              <a:rPr lang="en-US" sz="1000" dirty="0">
                <a:solidFill>
                  <a:srgbClr val="1F2937"/>
                </a:solidFill>
                <a:latin typeface="Sorts Mill Goudy" pitchFamily="34" charset="0"/>
                <a:ea typeface="Sorts Mill Goudy" pitchFamily="34" charset="-122"/>
                <a:cs typeface="Sorts Mill Goudy" pitchFamily="34" charset="-120"/>
              </a:rPr>
              <a:t>Answers often depend on event causes, consequences, or follow-up actions.</a:t>
            </a:r>
            <a:endParaRPr lang="en-US" sz="1600" dirty="0"/>
          </a:p>
        </p:txBody>
      </p:sp>
      <p:sp>
        <p:nvSpPr>
          <p:cNvPr id="12" name="Shape 10"/>
          <p:cNvSpPr/>
          <p:nvPr/>
        </p:nvSpPr>
        <p:spPr>
          <a:xfrm>
            <a:off x="333375" y="3317875"/>
            <a:ext cx="5635625" cy="1825625"/>
          </a:xfrm>
          <a:custGeom>
            <a:avLst/>
            <a:gdLst/>
            <a:ahLst/>
            <a:cxnLst/>
            <a:rect l="l" t="t" r="r" b="b"/>
            <a:pathLst>
              <a:path w="5635625" h="1825625">
                <a:moveTo>
                  <a:pt x="0" y="0"/>
                </a:moveTo>
                <a:lnTo>
                  <a:pt x="5635625" y="0"/>
                </a:lnTo>
                <a:lnTo>
                  <a:pt x="5635625" y="1825625"/>
                </a:lnTo>
                <a:lnTo>
                  <a:pt x="0" y="1825625"/>
                </a:lnTo>
                <a:lnTo>
                  <a:pt x="0" y="0"/>
                </a:lnTo>
                <a:close/>
              </a:path>
            </a:pathLst>
          </a:custGeom>
          <a:solidFill>
            <a:srgbClr val="F9FAFB"/>
          </a:solidFill>
          <a:ln/>
        </p:spPr>
      </p:sp>
      <p:sp>
        <p:nvSpPr>
          <p:cNvPr id="13" name="Shape 11"/>
          <p:cNvSpPr/>
          <p:nvPr/>
        </p:nvSpPr>
        <p:spPr>
          <a:xfrm>
            <a:off x="333375" y="3317875"/>
            <a:ext cx="31750" cy="1825625"/>
          </a:xfrm>
          <a:custGeom>
            <a:avLst/>
            <a:gdLst/>
            <a:ahLst/>
            <a:cxnLst/>
            <a:rect l="l" t="t" r="r" b="b"/>
            <a:pathLst>
              <a:path w="31750" h="1825625">
                <a:moveTo>
                  <a:pt x="0" y="0"/>
                </a:moveTo>
                <a:lnTo>
                  <a:pt x="31750" y="0"/>
                </a:lnTo>
                <a:lnTo>
                  <a:pt x="31750" y="1825625"/>
                </a:lnTo>
                <a:lnTo>
                  <a:pt x="0" y="1825625"/>
                </a:lnTo>
                <a:lnTo>
                  <a:pt x="0" y="0"/>
                </a:lnTo>
                <a:close/>
              </a:path>
            </a:pathLst>
          </a:custGeom>
          <a:solidFill>
            <a:srgbClr val="8B0000"/>
          </a:solidFill>
          <a:ln/>
        </p:spPr>
      </p:sp>
      <p:sp>
        <p:nvSpPr>
          <p:cNvPr id="14" name="Text 12"/>
          <p:cNvSpPr/>
          <p:nvPr/>
        </p:nvSpPr>
        <p:spPr>
          <a:xfrm>
            <a:off x="539750" y="3508375"/>
            <a:ext cx="5318125" cy="222250"/>
          </a:xfrm>
          <a:prstGeom prst="rect">
            <a:avLst/>
          </a:prstGeom>
          <a:noFill/>
          <a:ln/>
        </p:spPr>
        <p:txBody>
          <a:bodyPr wrap="square" lIns="0" tIns="0" rIns="0" bIns="0" rtlCol="0" anchor="ctr"/>
          <a:lstStyle/>
          <a:p>
            <a:pPr>
              <a:lnSpc>
                <a:spcPct val="120000"/>
              </a:lnSpc>
            </a:pPr>
            <a:r>
              <a:rPr lang="en-US" sz="1250" b="1" dirty="0">
                <a:solidFill>
                  <a:srgbClr val="1F2937"/>
                </a:solidFill>
                <a:latin typeface="Sorts Mill Goudy" pitchFamily="34" charset="0"/>
                <a:ea typeface="Sorts Mill Goudy" pitchFamily="34" charset="-122"/>
                <a:cs typeface="Sorts Mill Goudy" pitchFamily="34" charset="-120"/>
              </a:rPr>
              <a:t>The Solution: Document-Level Frame Graph</a:t>
            </a:r>
            <a:endParaRPr lang="en-US" sz="1600" dirty="0"/>
          </a:p>
        </p:txBody>
      </p:sp>
      <p:sp>
        <p:nvSpPr>
          <p:cNvPr id="15" name="Text 13"/>
          <p:cNvSpPr/>
          <p:nvPr/>
        </p:nvSpPr>
        <p:spPr>
          <a:xfrm>
            <a:off x="539750" y="3825875"/>
            <a:ext cx="5302250" cy="206375"/>
          </a:xfrm>
          <a:prstGeom prst="rect">
            <a:avLst/>
          </a:prstGeom>
          <a:noFill/>
          <a:ln/>
        </p:spPr>
        <p:txBody>
          <a:bodyPr wrap="square" lIns="0" tIns="0" rIns="0" bIns="0" rtlCol="0" anchor="ctr"/>
          <a:lstStyle/>
          <a:p>
            <a:pPr>
              <a:lnSpc>
                <a:spcPct val="140000"/>
              </a:lnSpc>
            </a:pPr>
            <a:r>
              <a:rPr lang="en-US" sz="1000" dirty="0">
                <a:solidFill>
                  <a:srgbClr val="1F2937"/>
                </a:solidFill>
                <a:latin typeface="Sorts Mill Goudy" pitchFamily="34" charset="0"/>
                <a:ea typeface="Sorts Mill Goudy" pitchFamily="34" charset="-122"/>
                <a:cs typeface="Sorts Mill Goudy" pitchFamily="34" charset="-120"/>
              </a:rPr>
              <a:t>Represent predicates as nodes in a document-level semantic graph:</a:t>
            </a:r>
            <a:endParaRPr lang="en-US" sz="1600" dirty="0"/>
          </a:p>
        </p:txBody>
      </p:sp>
      <p:sp>
        <p:nvSpPr>
          <p:cNvPr id="16" name="Text 14"/>
          <p:cNvSpPr/>
          <p:nvPr/>
        </p:nvSpPr>
        <p:spPr>
          <a:xfrm>
            <a:off x="539750" y="4191000"/>
            <a:ext cx="166688" cy="190500"/>
          </a:xfrm>
          <a:prstGeom prst="rect">
            <a:avLst/>
          </a:prstGeom>
          <a:noFill/>
          <a:ln/>
        </p:spPr>
        <p:txBody>
          <a:bodyPr wrap="square" lIns="0" tIns="0" rIns="0" bIns="0" rtlCol="0" anchor="ctr"/>
          <a:lstStyle/>
          <a:p>
            <a:pPr>
              <a:lnSpc>
                <a:spcPct val="130000"/>
              </a:lnSpc>
            </a:pPr>
            <a:r>
              <a:rPr lang="en-US" sz="1000"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17" name="Text 15"/>
          <p:cNvSpPr/>
          <p:nvPr/>
        </p:nvSpPr>
        <p:spPr>
          <a:xfrm>
            <a:off x="706438" y="4159250"/>
            <a:ext cx="2079625" cy="190500"/>
          </a:xfrm>
          <a:prstGeom prst="rect">
            <a:avLst/>
          </a:prstGeom>
          <a:noFill/>
          <a:ln/>
        </p:spPr>
        <p:txBody>
          <a:bodyPr wrap="square" lIns="0" tIns="0" rIns="0" bIns="0" rtlCol="0" anchor="ctr"/>
          <a:lstStyle/>
          <a:p>
            <a:pPr>
              <a:lnSpc>
                <a:spcPct val="130000"/>
              </a:lnSpc>
            </a:pPr>
            <a:r>
              <a:rPr lang="en-US" sz="1000" dirty="0">
                <a:solidFill>
                  <a:srgbClr val="1F2937"/>
                </a:solidFill>
                <a:latin typeface="Sorts Mill Goudy" pitchFamily="34" charset="0"/>
                <a:ea typeface="Sorts Mill Goudy" pitchFamily="34" charset="-122"/>
                <a:cs typeface="Sorts Mill Goudy" pitchFamily="34" charset="-120"/>
              </a:rPr>
              <a:t>Each predicate instance = graph node</a:t>
            </a:r>
            <a:endParaRPr lang="en-US" sz="1600" dirty="0"/>
          </a:p>
        </p:txBody>
      </p:sp>
      <p:sp>
        <p:nvSpPr>
          <p:cNvPr id="18" name="Text 16"/>
          <p:cNvSpPr/>
          <p:nvPr/>
        </p:nvSpPr>
        <p:spPr>
          <a:xfrm>
            <a:off x="539750" y="4476750"/>
            <a:ext cx="166688" cy="190500"/>
          </a:xfrm>
          <a:prstGeom prst="rect">
            <a:avLst/>
          </a:prstGeom>
          <a:noFill/>
          <a:ln/>
        </p:spPr>
        <p:txBody>
          <a:bodyPr wrap="square" lIns="0" tIns="0" rIns="0" bIns="0" rtlCol="0" anchor="ctr"/>
          <a:lstStyle/>
          <a:p>
            <a:pPr>
              <a:lnSpc>
                <a:spcPct val="130000"/>
              </a:lnSpc>
            </a:pPr>
            <a:r>
              <a:rPr lang="en-US" sz="1000"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19" name="Text 17"/>
          <p:cNvSpPr/>
          <p:nvPr/>
        </p:nvSpPr>
        <p:spPr>
          <a:xfrm>
            <a:off x="706438" y="4445000"/>
            <a:ext cx="3635375" cy="190500"/>
          </a:xfrm>
          <a:prstGeom prst="rect">
            <a:avLst/>
          </a:prstGeom>
          <a:noFill/>
          <a:ln/>
        </p:spPr>
        <p:txBody>
          <a:bodyPr wrap="square" lIns="0" tIns="0" rIns="0" bIns="0" rtlCol="0" anchor="ctr"/>
          <a:lstStyle/>
          <a:p>
            <a:pPr>
              <a:lnSpc>
                <a:spcPct val="130000"/>
              </a:lnSpc>
            </a:pPr>
            <a:r>
              <a:rPr lang="en-US" sz="1000" dirty="0">
                <a:solidFill>
                  <a:srgbClr val="1F2937"/>
                </a:solidFill>
                <a:latin typeface="Sorts Mill Goudy" pitchFamily="34" charset="0"/>
                <a:ea typeface="Sorts Mill Goudy" pitchFamily="34" charset="-122"/>
                <a:cs typeface="Sorts Mill Goudy" pitchFamily="34" charset="-120"/>
              </a:rPr>
              <a:t>Links through shared arguments, coreference, temporal adjacency</a:t>
            </a:r>
            <a:endParaRPr lang="en-US" sz="1600" dirty="0"/>
          </a:p>
        </p:txBody>
      </p:sp>
      <p:sp>
        <p:nvSpPr>
          <p:cNvPr id="20" name="Text 18"/>
          <p:cNvSpPr/>
          <p:nvPr/>
        </p:nvSpPr>
        <p:spPr>
          <a:xfrm>
            <a:off x="539750" y="4762500"/>
            <a:ext cx="166688" cy="190500"/>
          </a:xfrm>
          <a:prstGeom prst="rect">
            <a:avLst/>
          </a:prstGeom>
          <a:noFill/>
          <a:ln/>
        </p:spPr>
        <p:txBody>
          <a:bodyPr wrap="square" lIns="0" tIns="0" rIns="0" bIns="0" rtlCol="0" anchor="ctr"/>
          <a:lstStyle/>
          <a:p>
            <a:pPr>
              <a:lnSpc>
                <a:spcPct val="130000"/>
              </a:lnSpc>
            </a:pPr>
            <a:r>
              <a:rPr lang="en-US" sz="1000"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21" name="Text 19"/>
          <p:cNvSpPr/>
          <p:nvPr/>
        </p:nvSpPr>
        <p:spPr>
          <a:xfrm>
            <a:off x="706438" y="4730750"/>
            <a:ext cx="3048000" cy="190500"/>
          </a:xfrm>
          <a:prstGeom prst="rect">
            <a:avLst/>
          </a:prstGeom>
          <a:noFill/>
          <a:ln/>
        </p:spPr>
        <p:txBody>
          <a:bodyPr wrap="square" lIns="0" tIns="0" rIns="0" bIns="0" rtlCol="0" anchor="ctr"/>
          <a:lstStyle/>
          <a:p>
            <a:pPr>
              <a:lnSpc>
                <a:spcPct val="130000"/>
              </a:lnSpc>
            </a:pPr>
            <a:r>
              <a:rPr lang="en-US" sz="1000" dirty="0">
                <a:solidFill>
                  <a:srgbClr val="1F2937"/>
                </a:solidFill>
                <a:latin typeface="Sorts Mill Goudy" pitchFamily="34" charset="0"/>
                <a:ea typeface="Sorts Mill Goudy" pitchFamily="34" charset="-122"/>
                <a:cs typeface="Sorts Mill Goudy" pitchFamily="34" charset="-120"/>
              </a:rPr>
              <a:t>Discourse cues (causal, temporal, elaboration relations)</a:t>
            </a:r>
            <a:endParaRPr lang="en-US" sz="1600" dirty="0"/>
          </a:p>
        </p:txBody>
      </p:sp>
      <p:sp>
        <p:nvSpPr>
          <p:cNvPr id="22" name="Shape 20"/>
          <p:cNvSpPr/>
          <p:nvPr/>
        </p:nvSpPr>
        <p:spPr>
          <a:xfrm>
            <a:off x="6223000" y="1047750"/>
            <a:ext cx="5651500" cy="3841750"/>
          </a:xfrm>
          <a:custGeom>
            <a:avLst/>
            <a:gdLst/>
            <a:ahLst/>
            <a:cxnLst/>
            <a:rect l="l" t="t" r="r" b="b"/>
            <a:pathLst>
              <a:path w="5651500" h="3841750">
                <a:moveTo>
                  <a:pt x="0" y="0"/>
                </a:moveTo>
                <a:lnTo>
                  <a:pt x="5651500" y="0"/>
                </a:lnTo>
                <a:lnTo>
                  <a:pt x="5651500" y="3841750"/>
                </a:lnTo>
                <a:lnTo>
                  <a:pt x="0" y="3841750"/>
                </a:lnTo>
                <a:lnTo>
                  <a:pt x="0" y="0"/>
                </a:lnTo>
                <a:close/>
              </a:path>
            </a:pathLst>
          </a:custGeom>
          <a:solidFill>
            <a:srgbClr val="F9FAFB"/>
          </a:solidFill>
          <a:ln/>
        </p:spPr>
      </p:sp>
      <p:sp>
        <p:nvSpPr>
          <p:cNvPr id="23" name="Text 21"/>
          <p:cNvSpPr/>
          <p:nvPr/>
        </p:nvSpPr>
        <p:spPr>
          <a:xfrm>
            <a:off x="6413500" y="1238250"/>
            <a:ext cx="5349875" cy="222250"/>
          </a:xfrm>
          <a:prstGeom prst="rect">
            <a:avLst/>
          </a:prstGeom>
          <a:noFill/>
          <a:ln/>
        </p:spPr>
        <p:txBody>
          <a:bodyPr wrap="square" lIns="0" tIns="0" rIns="0" bIns="0" rtlCol="0" anchor="ctr"/>
          <a:lstStyle/>
          <a:p>
            <a:pPr>
              <a:lnSpc>
                <a:spcPct val="120000"/>
              </a:lnSpc>
            </a:pPr>
            <a:r>
              <a:rPr lang="en-US" sz="1250" b="1" dirty="0">
                <a:solidFill>
                  <a:srgbClr val="1F2937"/>
                </a:solidFill>
                <a:latin typeface="Sorts Mill Goudy" pitchFamily="34" charset="0"/>
                <a:ea typeface="Sorts Mill Goudy" pitchFamily="34" charset="-122"/>
                <a:cs typeface="Sorts Mill Goudy" pitchFamily="34" charset="-120"/>
              </a:rPr>
              <a:t>Graph Traversal Mechanism</a:t>
            </a:r>
            <a:endParaRPr lang="en-US" sz="1600" dirty="0"/>
          </a:p>
        </p:txBody>
      </p:sp>
      <p:sp>
        <p:nvSpPr>
          <p:cNvPr id="24" name="Shape 22"/>
          <p:cNvSpPr/>
          <p:nvPr/>
        </p:nvSpPr>
        <p:spPr>
          <a:xfrm>
            <a:off x="6413500" y="1587500"/>
            <a:ext cx="317500" cy="317500"/>
          </a:xfrm>
          <a:custGeom>
            <a:avLst/>
            <a:gdLst/>
            <a:ahLst/>
            <a:cxnLst/>
            <a:rect l="l" t="t" r="r" b="b"/>
            <a:pathLst>
              <a:path w="317500" h="317500">
                <a:moveTo>
                  <a:pt x="0" y="0"/>
                </a:moveTo>
                <a:lnTo>
                  <a:pt x="317500" y="0"/>
                </a:lnTo>
                <a:lnTo>
                  <a:pt x="317500" y="317500"/>
                </a:lnTo>
                <a:lnTo>
                  <a:pt x="0" y="317500"/>
                </a:lnTo>
                <a:lnTo>
                  <a:pt x="0" y="0"/>
                </a:lnTo>
                <a:close/>
              </a:path>
            </a:pathLst>
          </a:custGeom>
          <a:solidFill>
            <a:srgbClr val="8B0000"/>
          </a:solidFill>
          <a:ln/>
        </p:spPr>
      </p:sp>
      <p:sp>
        <p:nvSpPr>
          <p:cNvPr id="25" name="Text 23"/>
          <p:cNvSpPr/>
          <p:nvPr/>
        </p:nvSpPr>
        <p:spPr>
          <a:xfrm>
            <a:off x="6381750" y="1587500"/>
            <a:ext cx="381000" cy="317500"/>
          </a:xfrm>
          <a:prstGeom prst="rect">
            <a:avLst/>
          </a:prstGeom>
          <a:noFill/>
          <a:ln/>
        </p:spPr>
        <p:txBody>
          <a:bodyPr wrap="square" lIns="0" tIns="0" rIns="0" bIns="0" rtlCol="0" anchor="ctr"/>
          <a:lstStyle/>
          <a:p>
            <a:pPr algn="ctr">
              <a:lnSpc>
                <a:spcPct val="130000"/>
              </a:lnSpc>
            </a:pPr>
            <a:r>
              <a:rPr lang="en-US" sz="1000" b="1" dirty="0">
                <a:solidFill>
                  <a:srgbClr val="FFFFFF"/>
                </a:solidFill>
                <a:latin typeface="Sorts Mill Goudy" pitchFamily="34" charset="0"/>
                <a:ea typeface="Sorts Mill Goudy" pitchFamily="34" charset="-122"/>
                <a:cs typeface="Sorts Mill Goudy" pitchFamily="34" charset="-120"/>
              </a:rPr>
              <a:t>1</a:t>
            </a:r>
            <a:endParaRPr lang="en-US" sz="1600" dirty="0"/>
          </a:p>
        </p:txBody>
      </p:sp>
      <p:sp>
        <p:nvSpPr>
          <p:cNvPr id="26" name="Shape 24"/>
          <p:cNvSpPr/>
          <p:nvPr/>
        </p:nvSpPr>
        <p:spPr>
          <a:xfrm>
            <a:off x="6861969" y="1591469"/>
            <a:ext cx="4818063" cy="674688"/>
          </a:xfrm>
          <a:custGeom>
            <a:avLst/>
            <a:gdLst/>
            <a:ahLst/>
            <a:cxnLst/>
            <a:rect l="l" t="t" r="r" b="b"/>
            <a:pathLst>
              <a:path w="4818063" h="674688">
                <a:moveTo>
                  <a:pt x="0" y="0"/>
                </a:moveTo>
                <a:lnTo>
                  <a:pt x="4818063" y="0"/>
                </a:lnTo>
                <a:lnTo>
                  <a:pt x="4818063" y="674688"/>
                </a:lnTo>
                <a:lnTo>
                  <a:pt x="0" y="674688"/>
                </a:lnTo>
                <a:lnTo>
                  <a:pt x="0" y="0"/>
                </a:lnTo>
                <a:close/>
              </a:path>
            </a:pathLst>
          </a:custGeom>
          <a:solidFill>
            <a:srgbClr val="FFFFFF"/>
          </a:solidFill>
          <a:ln w="12700">
            <a:solidFill>
              <a:srgbClr val="E5E7EB"/>
            </a:solidFill>
            <a:prstDash val="solid"/>
          </a:ln>
        </p:spPr>
      </p:sp>
      <p:sp>
        <p:nvSpPr>
          <p:cNvPr id="27" name="Text 25"/>
          <p:cNvSpPr/>
          <p:nvPr/>
        </p:nvSpPr>
        <p:spPr>
          <a:xfrm>
            <a:off x="6992938" y="1722438"/>
            <a:ext cx="4619625" cy="190500"/>
          </a:xfrm>
          <a:prstGeom prst="rect">
            <a:avLst/>
          </a:prstGeom>
          <a:noFill/>
          <a:ln/>
        </p:spPr>
        <p:txBody>
          <a:bodyPr wrap="square" lIns="0" tIns="0" rIns="0" bIns="0" rtlCol="0" anchor="ctr"/>
          <a:lstStyle/>
          <a:p>
            <a:pPr>
              <a:lnSpc>
                <a:spcPct val="130000"/>
              </a:lnSpc>
            </a:pPr>
            <a:r>
              <a:rPr lang="en-US" sz="1000" b="1" dirty="0">
                <a:solidFill>
                  <a:srgbClr val="1F2937"/>
                </a:solidFill>
                <a:latin typeface="Sorts Mill Goudy" pitchFamily="34" charset="0"/>
                <a:ea typeface="Sorts Mill Goudy" pitchFamily="34" charset="-122"/>
                <a:cs typeface="Sorts Mill Goudy" pitchFamily="34" charset="-120"/>
              </a:rPr>
              <a:t>Identify Anchor Predicate</a:t>
            </a:r>
            <a:endParaRPr lang="en-US" sz="1600" dirty="0"/>
          </a:p>
        </p:txBody>
      </p:sp>
      <p:sp>
        <p:nvSpPr>
          <p:cNvPr id="28" name="Text 26"/>
          <p:cNvSpPr/>
          <p:nvPr/>
        </p:nvSpPr>
        <p:spPr>
          <a:xfrm>
            <a:off x="6992938" y="1944688"/>
            <a:ext cx="4619625" cy="190500"/>
          </a:xfrm>
          <a:prstGeom prst="rect">
            <a:avLst/>
          </a:prstGeom>
          <a:noFill/>
          <a:ln/>
        </p:spPr>
        <p:txBody>
          <a:bodyPr wrap="square" lIns="0" tIns="0" rIns="0" bIns="0" rtlCol="0" anchor="ctr"/>
          <a:lstStyle/>
          <a:p>
            <a:pPr>
              <a:lnSpc>
                <a:spcPct val="130000"/>
              </a:lnSpc>
            </a:pPr>
            <a:r>
              <a:rPr lang="en-US" sz="1000" dirty="0">
                <a:solidFill>
                  <a:srgbClr val="6B7280"/>
                </a:solidFill>
                <a:latin typeface="Sorts Mill Goudy" pitchFamily="34" charset="0"/>
                <a:ea typeface="Sorts Mill Goudy" pitchFamily="34" charset="-122"/>
                <a:cs typeface="Sorts Mill Goudy" pitchFamily="34" charset="-120"/>
              </a:rPr>
              <a:t>Find predicate most directly evoked by the question</a:t>
            </a:r>
            <a:endParaRPr lang="en-US" sz="1600" dirty="0"/>
          </a:p>
        </p:txBody>
      </p:sp>
      <p:sp>
        <p:nvSpPr>
          <p:cNvPr id="29" name="Shape 27"/>
          <p:cNvSpPr/>
          <p:nvPr/>
        </p:nvSpPr>
        <p:spPr>
          <a:xfrm>
            <a:off x="6413500" y="2397125"/>
            <a:ext cx="317500" cy="317500"/>
          </a:xfrm>
          <a:custGeom>
            <a:avLst/>
            <a:gdLst/>
            <a:ahLst/>
            <a:cxnLst/>
            <a:rect l="l" t="t" r="r" b="b"/>
            <a:pathLst>
              <a:path w="317500" h="317500">
                <a:moveTo>
                  <a:pt x="0" y="0"/>
                </a:moveTo>
                <a:lnTo>
                  <a:pt x="317500" y="0"/>
                </a:lnTo>
                <a:lnTo>
                  <a:pt x="317500" y="317500"/>
                </a:lnTo>
                <a:lnTo>
                  <a:pt x="0" y="317500"/>
                </a:lnTo>
                <a:lnTo>
                  <a:pt x="0" y="0"/>
                </a:lnTo>
                <a:close/>
              </a:path>
            </a:pathLst>
          </a:custGeom>
          <a:solidFill>
            <a:srgbClr val="8B0000"/>
          </a:solidFill>
          <a:ln/>
        </p:spPr>
      </p:sp>
      <p:sp>
        <p:nvSpPr>
          <p:cNvPr id="30" name="Text 28"/>
          <p:cNvSpPr/>
          <p:nvPr/>
        </p:nvSpPr>
        <p:spPr>
          <a:xfrm>
            <a:off x="6381750" y="2397125"/>
            <a:ext cx="381000" cy="317500"/>
          </a:xfrm>
          <a:prstGeom prst="rect">
            <a:avLst/>
          </a:prstGeom>
          <a:noFill/>
          <a:ln/>
        </p:spPr>
        <p:txBody>
          <a:bodyPr wrap="square" lIns="0" tIns="0" rIns="0" bIns="0" rtlCol="0" anchor="ctr"/>
          <a:lstStyle/>
          <a:p>
            <a:pPr algn="ctr">
              <a:lnSpc>
                <a:spcPct val="130000"/>
              </a:lnSpc>
            </a:pPr>
            <a:r>
              <a:rPr lang="en-US" sz="1000" b="1" dirty="0">
                <a:solidFill>
                  <a:srgbClr val="FFFFFF"/>
                </a:solidFill>
                <a:latin typeface="Sorts Mill Goudy" pitchFamily="34" charset="0"/>
                <a:ea typeface="Sorts Mill Goudy" pitchFamily="34" charset="-122"/>
                <a:cs typeface="Sorts Mill Goudy" pitchFamily="34" charset="-120"/>
              </a:rPr>
              <a:t>2</a:t>
            </a:r>
            <a:endParaRPr lang="en-US" sz="1600" dirty="0"/>
          </a:p>
        </p:txBody>
      </p:sp>
      <p:sp>
        <p:nvSpPr>
          <p:cNvPr id="31" name="Shape 29"/>
          <p:cNvSpPr/>
          <p:nvPr/>
        </p:nvSpPr>
        <p:spPr>
          <a:xfrm>
            <a:off x="6861969" y="2401094"/>
            <a:ext cx="4818063" cy="674688"/>
          </a:xfrm>
          <a:custGeom>
            <a:avLst/>
            <a:gdLst/>
            <a:ahLst/>
            <a:cxnLst/>
            <a:rect l="l" t="t" r="r" b="b"/>
            <a:pathLst>
              <a:path w="4818063" h="674688">
                <a:moveTo>
                  <a:pt x="0" y="0"/>
                </a:moveTo>
                <a:lnTo>
                  <a:pt x="4818063" y="0"/>
                </a:lnTo>
                <a:lnTo>
                  <a:pt x="4818063" y="674688"/>
                </a:lnTo>
                <a:lnTo>
                  <a:pt x="0" y="674688"/>
                </a:lnTo>
                <a:lnTo>
                  <a:pt x="0" y="0"/>
                </a:lnTo>
                <a:close/>
              </a:path>
            </a:pathLst>
          </a:custGeom>
          <a:solidFill>
            <a:srgbClr val="FFFFFF"/>
          </a:solidFill>
          <a:ln w="12700">
            <a:solidFill>
              <a:srgbClr val="E5E7EB"/>
            </a:solidFill>
            <a:prstDash val="solid"/>
          </a:ln>
        </p:spPr>
      </p:sp>
      <p:sp>
        <p:nvSpPr>
          <p:cNvPr id="32" name="Text 30"/>
          <p:cNvSpPr/>
          <p:nvPr/>
        </p:nvSpPr>
        <p:spPr>
          <a:xfrm>
            <a:off x="6992938" y="2532063"/>
            <a:ext cx="4619625" cy="190500"/>
          </a:xfrm>
          <a:prstGeom prst="rect">
            <a:avLst/>
          </a:prstGeom>
          <a:noFill/>
          <a:ln/>
        </p:spPr>
        <p:txBody>
          <a:bodyPr wrap="square" lIns="0" tIns="0" rIns="0" bIns="0" rtlCol="0" anchor="ctr"/>
          <a:lstStyle/>
          <a:p>
            <a:pPr>
              <a:lnSpc>
                <a:spcPct val="130000"/>
              </a:lnSpc>
            </a:pPr>
            <a:r>
              <a:rPr lang="en-US" sz="1000" b="1" dirty="0">
                <a:solidFill>
                  <a:srgbClr val="1F2937"/>
                </a:solidFill>
                <a:latin typeface="Sorts Mill Goudy" pitchFamily="34" charset="0"/>
                <a:ea typeface="Sorts Mill Goudy" pitchFamily="34" charset="-122"/>
                <a:cs typeface="Sorts Mill Goudy" pitchFamily="34" charset="-120"/>
              </a:rPr>
              <a:t>Traverse Graph</a:t>
            </a:r>
            <a:endParaRPr lang="en-US" sz="1600" dirty="0"/>
          </a:p>
        </p:txBody>
      </p:sp>
      <p:sp>
        <p:nvSpPr>
          <p:cNvPr id="33" name="Text 31"/>
          <p:cNvSpPr/>
          <p:nvPr/>
        </p:nvSpPr>
        <p:spPr>
          <a:xfrm>
            <a:off x="6992938" y="2754313"/>
            <a:ext cx="4619625" cy="190500"/>
          </a:xfrm>
          <a:prstGeom prst="rect">
            <a:avLst/>
          </a:prstGeom>
          <a:noFill/>
          <a:ln/>
        </p:spPr>
        <p:txBody>
          <a:bodyPr wrap="square" lIns="0" tIns="0" rIns="0" bIns="0" rtlCol="0" anchor="ctr"/>
          <a:lstStyle/>
          <a:p>
            <a:pPr>
              <a:lnSpc>
                <a:spcPct val="130000"/>
              </a:lnSpc>
            </a:pPr>
            <a:r>
              <a:rPr lang="en-US" sz="1000" dirty="0">
                <a:solidFill>
                  <a:srgbClr val="6B7280"/>
                </a:solidFill>
                <a:latin typeface="Sorts Mill Goudy" pitchFamily="34" charset="0"/>
                <a:ea typeface="Sorts Mill Goudy" pitchFamily="34" charset="-122"/>
                <a:cs typeface="Sorts Mill Goudy" pitchFamily="34" charset="-120"/>
              </a:rPr>
              <a:t>Follow links to supporting frames (causes, consequences)</a:t>
            </a:r>
            <a:endParaRPr lang="en-US" sz="1600" dirty="0"/>
          </a:p>
        </p:txBody>
      </p:sp>
      <p:sp>
        <p:nvSpPr>
          <p:cNvPr id="34" name="Shape 32"/>
          <p:cNvSpPr/>
          <p:nvPr/>
        </p:nvSpPr>
        <p:spPr>
          <a:xfrm>
            <a:off x="6413500" y="3206750"/>
            <a:ext cx="317500" cy="317500"/>
          </a:xfrm>
          <a:custGeom>
            <a:avLst/>
            <a:gdLst/>
            <a:ahLst/>
            <a:cxnLst/>
            <a:rect l="l" t="t" r="r" b="b"/>
            <a:pathLst>
              <a:path w="317500" h="317500">
                <a:moveTo>
                  <a:pt x="0" y="0"/>
                </a:moveTo>
                <a:lnTo>
                  <a:pt x="317500" y="0"/>
                </a:lnTo>
                <a:lnTo>
                  <a:pt x="317500" y="317500"/>
                </a:lnTo>
                <a:lnTo>
                  <a:pt x="0" y="317500"/>
                </a:lnTo>
                <a:lnTo>
                  <a:pt x="0" y="0"/>
                </a:lnTo>
                <a:close/>
              </a:path>
            </a:pathLst>
          </a:custGeom>
          <a:solidFill>
            <a:srgbClr val="8B0000"/>
          </a:solidFill>
          <a:ln/>
        </p:spPr>
      </p:sp>
      <p:sp>
        <p:nvSpPr>
          <p:cNvPr id="35" name="Text 33"/>
          <p:cNvSpPr/>
          <p:nvPr/>
        </p:nvSpPr>
        <p:spPr>
          <a:xfrm>
            <a:off x="6381750" y="3206750"/>
            <a:ext cx="381000" cy="317500"/>
          </a:xfrm>
          <a:prstGeom prst="rect">
            <a:avLst/>
          </a:prstGeom>
          <a:noFill/>
          <a:ln/>
        </p:spPr>
        <p:txBody>
          <a:bodyPr wrap="square" lIns="0" tIns="0" rIns="0" bIns="0" rtlCol="0" anchor="ctr"/>
          <a:lstStyle/>
          <a:p>
            <a:pPr algn="ctr">
              <a:lnSpc>
                <a:spcPct val="130000"/>
              </a:lnSpc>
            </a:pPr>
            <a:r>
              <a:rPr lang="en-US" sz="1000" b="1" dirty="0">
                <a:solidFill>
                  <a:srgbClr val="FFFFFF"/>
                </a:solidFill>
                <a:latin typeface="Sorts Mill Goudy" pitchFamily="34" charset="0"/>
                <a:ea typeface="Sorts Mill Goudy" pitchFamily="34" charset="-122"/>
                <a:cs typeface="Sorts Mill Goudy" pitchFamily="34" charset="-120"/>
              </a:rPr>
              <a:t>3</a:t>
            </a:r>
            <a:endParaRPr lang="en-US" sz="1600" dirty="0"/>
          </a:p>
        </p:txBody>
      </p:sp>
      <p:sp>
        <p:nvSpPr>
          <p:cNvPr id="36" name="Shape 34"/>
          <p:cNvSpPr/>
          <p:nvPr/>
        </p:nvSpPr>
        <p:spPr>
          <a:xfrm>
            <a:off x="6861969" y="3210719"/>
            <a:ext cx="4818063" cy="674688"/>
          </a:xfrm>
          <a:custGeom>
            <a:avLst/>
            <a:gdLst/>
            <a:ahLst/>
            <a:cxnLst/>
            <a:rect l="l" t="t" r="r" b="b"/>
            <a:pathLst>
              <a:path w="4818063" h="674688">
                <a:moveTo>
                  <a:pt x="0" y="0"/>
                </a:moveTo>
                <a:lnTo>
                  <a:pt x="4818063" y="0"/>
                </a:lnTo>
                <a:lnTo>
                  <a:pt x="4818063" y="674688"/>
                </a:lnTo>
                <a:lnTo>
                  <a:pt x="0" y="674688"/>
                </a:lnTo>
                <a:lnTo>
                  <a:pt x="0" y="0"/>
                </a:lnTo>
                <a:close/>
              </a:path>
            </a:pathLst>
          </a:custGeom>
          <a:solidFill>
            <a:srgbClr val="FFFFFF"/>
          </a:solidFill>
          <a:ln w="12700">
            <a:solidFill>
              <a:srgbClr val="E5E7EB"/>
            </a:solidFill>
            <a:prstDash val="solid"/>
          </a:ln>
        </p:spPr>
      </p:sp>
      <p:sp>
        <p:nvSpPr>
          <p:cNvPr id="37" name="Text 35"/>
          <p:cNvSpPr/>
          <p:nvPr/>
        </p:nvSpPr>
        <p:spPr>
          <a:xfrm>
            <a:off x="6992938" y="3341688"/>
            <a:ext cx="4619625" cy="190500"/>
          </a:xfrm>
          <a:prstGeom prst="rect">
            <a:avLst/>
          </a:prstGeom>
          <a:noFill/>
          <a:ln/>
        </p:spPr>
        <p:txBody>
          <a:bodyPr wrap="square" lIns="0" tIns="0" rIns="0" bIns="0" rtlCol="0" anchor="ctr"/>
          <a:lstStyle/>
          <a:p>
            <a:pPr>
              <a:lnSpc>
                <a:spcPct val="130000"/>
              </a:lnSpc>
            </a:pPr>
            <a:r>
              <a:rPr lang="en-US" sz="1000" b="1" dirty="0">
                <a:solidFill>
                  <a:srgbClr val="1F2937"/>
                </a:solidFill>
                <a:latin typeface="Sorts Mill Goudy" pitchFamily="34" charset="0"/>
                <a:ea typeface="Sorts Mill Goudy" pitchFamily="34" charset="-122"/>
                <a:cs typeface="Sorts Mill Goudy" pitchFamily="34" charset="-120"/>
              </a:rPr>
              <a:t>Aggregate Evidence</a:t>
            </a:r>
            <a:endParaRPr lang="en-US" sz="1600" dirty="0"/>
          </a:p>
        </p:txBody>
      </p:sp>
      <p:sp>
        <p:nvSpPr>
          <p:cNvPr id="38" name="Text 36"/>
          <p:cNvSpPr/>
          <p:nvPr/>
        </p:nvSpPr>
        <p:spPr>
          <a:xfrm>
            <a:off x="6992938" y="3563938"/>
            <a:ext cx="4619625" cy="190500"/>
          </a:xfrm>
          <a:prstGeom prst="rect">
            <a:avLst/>
          </a:prstGeom>
          <a:noFill/>
          <a:ln/>
        </p:spPr>
        <p:txBody>
          <a:bodyPr wrap="square" lIns="0" tIns="0" rIns="0" bIns="0" rtlCol="0" anchor="ctr"/>
          <a:lstStyle/>
          <a:p>
            <a:pPr>
              <a:lnSpc>
                <a:spcPct val="130000"/>
              </a:lnSpc>
            </a:pPr>
            <a:r>
              <a:rPr lang="en-US" sz="1000" dirty="0">
                <a:solidFill>
                  <a:srgbClr val="6B7280"/>
                </a:solidFill>
                <a:latin typeface="Sorts Mill Goudy" pitchFamily="34" charset="0"/>
                <a:ea typeface="Sorts Mill Goudy" pitchFamily="34" charset="-122"/>
                <a:cs typeface="Sorts Mill Goudy" pitchFamily="34" charset="-120"/>
              </a:rPr>
              <a:t>Combine information from multiple predicate frames</a:t>
            </a:r>
            <a:endParaRPr lang="en-US" sz="1600" dirty="0"/>
          </a:p>
        </p:txBody>
      </p:sp>
      <p:sp>
        <p:nvSpPr>
          <p:cNvPr id="39" name="Shape 37"/>
          <p:cNvSpPr/>
          <p:nvPr/>
        </p:nvSpPr>
        <p:spPr>
          <a:xfrm>
            <a:off x="6413500" y="4016375"/>
            <a:ext cx="317500" cy="317500"/>
          </a:xfrm>
          <a:custGeom>
            <a:avLst/>
            <a:gdLst/>
            <a:ahLst/>
            <a:cxnLst/>
            <a:rect l="l" t="t" r="r" b="b"/>
            <a:pathLst>
              <a:path w="317500" h="317500">
                <a:moveTo>
                  <a:pt x="0" y="0"/>
                </a:moveTo>
                <a:lnTo>
                  <a:pt x="317500" y="0"/>
                </a:lnTo>
                <a:lnTo>
                  <a:pt x="317500" y="317500"/>
                </a:lnTo>
                <a:lnTo>
                  <a:pt x="0" y="317500"/>
                </a:lnTo>
                <a:lnTo>
                  <a:pt x="0" y="0"/>
                </a:lnTo>
                <a:close/>
              </a:path>
            </a:pathLst>
          </a:custGeom>
          <a:solidFill>
            <a:srgbClr val="8B0000"/>
          </a:solidFill>
          <a:ln/>
        </p:spPr>
      </p:sp>
      <p:sp>
        <p:nvSpPr>
          <p:cNvPr id="40" name="Text 38"/>
          <p:cNvSpPr/>
          <p:nvPr/>
        </p:nvSpPr>
        <p:spPr>
          <a:xfrm>
            <a:off x="6381750" y="4016375"/>
            <a:ext cx="381000" cy="317500"/>
          </a:xfrm>
          <a:prstGeom prst="rect">
            <a:avLst/>
          </a:prstGeom>
          <a:noFill/>
          <a:ln/>
        </p:spPr>
        <p:txBody>
          <a:bodyPr wrap="square" lIns="0" tIns="0" rIns="0" bIns="0" rtlCol="0" anchor="ctr"/>
          <a:lstStyle/>
          <a:p>
            <a:pPr algn="ctr">
              <a:lnSpc>
                <a:spcPct val="130000"/>
              </a:lnSpc>
            </a:pPr>
            <a:r>
              <a:rPr lang="en-US" sz="1000" b="1" dirty="0">
                <a:solidFill>
                  <a:srgbClr val="FFFFFF"/>
                </a:solidFill>
                <a:latin typeface="Sorts Mill Goudy" pitchFamily="34" charset="0"/>
                <a:ea typeface="Sorts Mill Goudy" pitchFamily="34" charset="-122"/>
                <a:cs typeface="Sorts Mill Goudy" pitchFamily="34" charset="-120"/>
              </a:rPr>
              <a:t>4</a:t>
            </a:r>
            <a:endParaRPr lang="en-US" sz="1600" dirty="0"/>
          </a:p>
        </p:txBody>
      </p:sp>
      <p:sp>
        <p:nvSpPr>
          <p:cNvPr id="41" name="Shape 39"/>
          <p:cNvSpPr/>
          <p:nvPr/>
        </p:nvSpPr>
        <p:spPr>
          <a:xfrm>
            <a:off x="6861969" y="4020344"/>
            <a:ext cx="4818063" cy="674688"/>
          </a:xfrm>
          <a:custGeom>
            <a:avLst/>
            <a:gdLst/>
            <a:ahLst/>
            <a:cxnLst/>
            <a:rect l="l" t="t" r="r" b="b"/>
            <a:pathLst>
              <a:path w="4818063" h="674688">
                <a:moveTo>
                  <a:pt x="0" y="0"/>
                </a:moveTo>
                <a:lnTo>
                  <a:pt x="4818063" y="0"/>
                </a:lnTo>
                <a:lnTo>
                  <a:pt x="4818063" y="674688"/>
                </a:lnTo>
                <a:lnTo>
                  <a:pt x="0" y="674688"/>
                </a:lnTo>
                <a:lnTo>
                  <a:pt x="0" y="0"/>
                </a:lnTo>
                <a:close/>
              </a:path>
            </a:pathLst>
          </a:custGeom>
          <a:solidFill>
            <a:srgbClr val="FFFFFF"/>
          </a:solidFill>
          <a:ln w="12700">
            <a:solidFill>
              <a:srgbClr val="E5E7EB"/>
            </a:solidFill>
            <a:prstDash val="solid"/>
          </a:ln>
        </p:spPr>
      </p:sp>
      <p:sp>
        <p:nvSpPr>
          <p:cNvPr id="42" name="Text 40"/>
          <p:cNvSpPr/>
          <p:nvPr/>
        </p:nvSpPr>
        <p:spPr>
          <a:xfrm>
            <a:off x="6992938" y="4151313"/>
            <a:ext cx="4619625" cy="190500"/>
          </a:xfrm>
          <a:prstGeom prst="rect">
            <a:avLst/>
          </a:prstGeom>
          <a:noFill/>
          <a:ln/>
        </p:spPr>
        <p:txBody>
          <a:bodyPr wrap="square" lIns="0" tIns="0" rIns="0" bIns="0" rtlCol="0" anchor="ctr"/>
          <a:lstStyle/>
          <a:p>
            <a:pPr>
              <a:lnSpc>
                <a:spcPct val="130000"/>
              </a:lnSpc>
            </a:pPr>
            <a:r>
              <a:rPr lang="en-US" sz="1000" b="1" dirty="0">
                <a:solidFill>
                  <a:srgbClr val="1F2937"/>
                </a:solidFill>
                <a:latin typeface="Sorts Mill Goudy" pitchFamily="34" charset="0"/>
                <a:ea typeface="Sorts Mill Goudy" pitchFamily="34" charset="-122"/>
                <a:cs typeface="Sorts Mill Goudy" pitchFamily="34" charset="-120"/>
              </a:rPr>
              <a:t>Generate Answer</a:t>
            </a:r>
            <a:endParaRPr lang="en-US" sz="1600" dirty="0"/>
          </a:p>
        </p:txBody>
      </p:sp>
      <p:sp>
        <p:nvSpPr>
          <p:cNvPr id="43" name="Text 41"/>
          <p:cNvSpPr/>
          <p:nvPr/>
        </p:nvSpPr>
        <p:spPr>
          <a:xfrm>
            <a:off x="6992938" y="4373563"/>
            <a:ext cx="4619625" cy="190500"/>
          </a:xfrm>
          <a:prstGeom prst="rect">
            <a:avLst/>
          </a:prstGeom>
          <a:noFill/>
          <a:ln/>
        </p:spPr>
        <p:txBody>
          <a:bodyPr wrap="square" lIns="0" tIns="0" rIns="0" bIns="0" rtlCol="0" anchor="ctr"/>
          <a:lstStyle/>
          <a:p>
            <a:pPr>
              <a:lnSpc>
                <a:spcPct val="130000"/>
              </a:lnSpc>
            </a:pPr>
            <a:r>
              <a:rPr lang="en-US" sz="1000" dirty="0">
                <a:solidFill>
                  <a:srgbClr val="6B7280"/>
                </a:solidFill>
                <a:latin typeface="Sorts Mill Goudy" pitchFamily="34" charset="0"/>
                <a:ea typeface="Sorts Mill Goudy" pitchFamily="34" charset="-122"/>
                <a:cs typeface="Sorts Mill Goudy" pitchFamily="34" charset="-120"/>
              </a:rPr>
              <a:t>Compose answer from traversed frame chain</a:t>
            </a:r>
            <a:endParaRPr lang="en-US" sz="1600" dirty="0"/>
          </a:p>
        </p:txBody>
      </p:sp>
      <p:sp>
        <p:nvSpPr>
          <p:cNvPr id="44" name="Shape 42"/>
          <p:cNvSpPr/>
          <p:nvPr/>
        </p:nvSpPr>
        <p:spPr>
          <a:xfrm>
            <a:off x="6226969" y="5083969"/>
            <a:ext cx="5643563" cy="1976438"/>
          </a:xfrm>
          <a:custGeom>
            <a:avLst/>
            <a:gdLst/>
            <a:ahLst/>
            <a:cxnLst/>
            <a:rect l="l" t="t" r="r" b="b"/>
            <a:pathLst>
              <a:path w="5643563" h="1976438">
                <a:moveTo>
                  <a:pt x="0" y="0"/>
                </a:moveTo>
                <a:lnTo>
                  <a:pt x="5643563" y="0"/>
                </a:lnTo>
                <a:lnTo>
                  <a:pt x="5643563" y="1976438"/>
                </a:lnTo>
                <a:lnTo>
                  <a:pt x="0" y="1976438"/>
                </a:lnTo>
                <a:lnTo>
                  <a:pt x="0" y="0"/>
                </a:lnTo>
                <a:close/>
              </a:path>
            </a:pathLst>
          </a:custGeom>
          <a:solidFill>
            <a:srgbClr val="8B0000">
              <a:alpha val="5098"/>
            </a:srgbClr>
          </a:solidFill>
          <a:ln w="12700">
            <a:solidFill>
              <a:srgbClr val="8B0000">
                <a:alpha val="20000"/>
              </a:srgbClr>
            </a:solidFill>
            <a:prstDash val="solid"/>
          </a:ln>
        </p:spPr>
      </p:sp>
      <p:sp>
        <p:nvSpPr>
          <p:cNvPr id="45" name="Text 43"/>
          <p:cNvSpPr/>
          <p:nvPr/>
        </p:nvSpPr>
        <p:spPr>
          <a:xfrm>
            <a:off x="6421438" y="5278438"/>
            <a:ext cx="5326063" cy="222250"/>
          </a:xfrm>
          <a:prstGeom prst="rect">
            <a:avLst/>
          </a:prstGeom>
          <a:noFill/>
          <a:ln/>
        </p:spPr>
        <p:txBody>
          <a:bodyPr wrap="square" lIns="0" tIns="0" rIns="0" bIns="0" rtlCol="0" anchor="ctr"/>
          <a:lstStyle/>
          <a:p>
            <a:pPr>
              <a:lnSpc>
                <a:spcPct val="130000"/>
              </a:lnSpc>
            </a:pPr>
            <a:r>
              <a:rPr lang="en-US" sz="1125" b="1" dirty="0">
                <a:solidFill>
                  <a:srgbClr val="1F2937"/>
                </a:solidFill>
                <a:latin typeface="Sorts Mill Goudy" pitchFamily="34" charset="0"/>
                <a:ea typeface="Sorts Mill Goudy" pitchFamily="34" charset="-122"/>
                <a:cs typeface="Sorts Mill Goudy" pitchFamily="34" charset="-120"/>
              </a:rPr>
              <a:t>Application Domains</a:t>
            </a:r>
            <a:endParaRPr lang="en-US" sz="1600" dirty="0"/>
          </a:p>
        </p:txBody>
      </p:sp>
      <p:sp>
        <p:nvSpPr>
          <p:cNvPr id="46" name="Shape 44"/>
          <p:cNvSpPr/>
          <p:nvPr/>
        </p:nvSpPr>
        <p:spPr>
          <a:xfrm>
            <a:off x="6425406" y="5599906"/>
            <a:ext cx="2571750" cy="579438"/>
          </a:xfrm>
          <a:custGeom>
            <a:avLst/>
            <a:gdLst/>
            <a:ahLst/>
            <a:cxnLst/>
            <a:rect l="l" t="t" r="r" b="b"/>
            <a:pathLst>
              <a:path w="2571750" h="579438">
                <a:moveTo>
                  <a:pt x="0" y="0"/>
                </a:moveTo>
                <a:lnTo>
                  <a:pt x="2571750" y="0"/>
                </a:lnTo>
                <a:lnTo>
                  <a:pt x="2571750" y="579438"/>
                </a:lnTo>
                <a:lnTo>
                  <a:pt x="0" y="579438"/>
                </a:lnTo>
                <a:lnTo>
                  <a:pt x="0" y="0"/>
                </a:lnTo>
                <a:close/>
              </a:path>
            </a:pathLst>
          </a:custGeom>
          <a:solidFill>
            <a:srgbClr val="FFFFFF"/>
          </a:solidFill>
          <a:ln w="12700">
            <a:solidFill>
              <a:srgbClr val="E5E7EB"/>
            </a:solidFill>
            <a:prstDash val="solid"/>
          </a:ln>
        </p:spPr>
      </p:sp>
      <p:sp>
        <p:nvSpPr>
          <p:cNvPr id="47" name="Shape 45"/>
          <p:cNvSpPr/>
          <p:nvPr/>
        </p:nvSpPr>
        <p:spPr>
          <a:xfrm>
            <a:off x="7621984" y="5699125"/>
            <a:ext cx="178594" cy="158750"/>
          </a:xfrm>
          <a:custGeom>
            <a:avLst/>
            <a:gdLst/>
            <a:ahLst/>
            <a:cxnLst/>
            <a:rect l="l" t="t" r="r" b="b"/>
            <a:pathLst>
              <a:path w="178594" h="158750">
                <a:moveTo>
                  <a:pt x="52586" y="47563"/>
                </a:moveTo>
                <a:lnTo>
                  <a:pt x="46788" y="41765"/>
                </a:lnTo>
                <a:cubicBezTo>
                  <a:pt x="42912" y="37889"/>
                  <a:pt x="42912" y="31595"/>
                  <a:pt x="46788" y="27719"/>
                </a:cubicBezTo>
                <a:lnTo>
                  <a:pt x="82352" y="-7875"/>
                </a:lnTo>
                <a:cubicBezTo>
                  <a:pt x="86227" y="-11751"/>
                  <a:pt x="92521" y="-11751"/>
                  <a:pt x="96397" y="-7875"/>
                </a:cubicBezTo>
                <a:lnTo>
                  <a:pt x="102195" y="-2046"/>
                </a:lnTo>
                <a:cubicBezTo>
                  <a:pt x="106071" y="1829"/>
                  <a:pt x="106071" y="8124"/>
                  <a:pt x="102195" y="11999"/>
                </a:cubicBezTo>
                <a:lnTo>
                  <a:pt x="66632" y="47563"/>
                </a:lnTo>
                <a:cubicBezTo>
                  <a:pt x="62756" y="51439"/>
                  <a:pt x="56462" y="51439"/>
                  <a:pt x="52586" y="47563"/>
                </a:cubicBezTo>
                <a:close/>
                <a:moveTo>
                  <a:pt x="85576" y="65639"/>
                </a:moveTo>
                <a:lnTo>
                  <a:pt x="75840" y="55904"/>
                </a:lnTo>
                <a:lnTo>
                  <a:pt x="110567" y="21177"/>
                </a:lnTo>
                <a:lnTo>
                  <a:pt x="147588" y="58198"/>
                </a:lnTo>
                <a:lnTo>
                  <a:pt x="112861" y="92925"/>
                </a:lnTo>
                <a:lnTo>
                  <a:pt x="103125" y="83189"/>
                </a:lnTo>
                <a:lnTo>
                  <a:pt x="31192" y="155122"/>
                </a:lnTo>
                <a:cubicBezTo>
                  <a:pt x="26355" y="159959"/>
                  <a:pt x="18510" y="159959"/>
                  <a:pt x="13643" y="155122"/>
                </a:cubicBezTo>
                <a:cubicBezTo>
                  <a:pt x="8775" y="150285"/>
                  <a:pt x="8806" y="142441"/>
                  <a:pt x="13643" y="137573"/>
                </a:cubicBezTo>
                <a:lnTo>
                  <a:pt x="85576" y="65639"/>
                </a:lnTo>
                <a:close/>
                <a:moveTo>
                  <a:pt x="121202" y="116148"/>
                </a:moveTo>
                <a:cubicBezTo>
                  <a:pt x="117326" y="112272"/>
                  <a:pt x="117326" y="105978"/>
                  <a:pt x="121202" y="102102"/>
                </a:cubicBezTo>
                <a:lnTo>
                  <a:pt x="156766" y="66539"/>
                </a:lnTo>
                <a:cubicBezTo>
                  <a:pt x="160641" y="62663"/>
                  <a:pt x="166936" y="62663"/>
                  <a:pt x="170811" y="66539"/>
                </a:cubicBezTo>
                <a:lnTo>
                  <a:pt x="176609" y="72337"/>
                </a:lnTo>
                <a:cubicBezTo>
                  <a:pt x="180485" y="76212"/>
                  <a:pt x="180485" y="82507"/>
                  <a:pt x="176609" y="86382"/>
                </a:cubicBezTo>
                <a:lnTo>
                  <a:pt x="141046" y="121977"/>
                </a:lnTo>
                <a:cubicBezTo>
                  <a:pt x="137170" y="125853"/>
                  <a:pt x="130876" y="125853"/>
                  <a:pt x="127000" y="121977"/>
                </a:cubicBezTo>
                <a:lnTo>
                  <a:pt x="121202" y="116179"/>
                </a:lnTo>
                <a:close/>
              </a:path>
            </a:pathLst>
          </a:custGeom>
          <a:solidFill>
            <a:srgbClr val="8B0000"/>
          </a:solidFill>
          <a:ln/>
        </p:spPr>
      </p:sp>
      <p:sp>
        <p:nvSpPr>
          <p:cNvPr id="48" name="Text 46"/>
          <p:cNvSpPr/>
          <p:nvPr/>
        </p:nvSpPr>
        <p:spPr>
          <a:xfrm>
            <a:off x="6496844" y="5921375"/>
            <a:ext cx="2428875" cy="158750"/>
          </a:xfrm>
          <a:prstGeom prst="rect">
            <a:avLst/>
          </a:prstGeom>
          <a:noFill/>
          <a:ln/>
        </p:spPr>
        <p:txBody>
          <a:bodyPr wrap="square" lIns="0" tIns="0" rIns="0" bIns="0" rtlCol="0" anchor="ctr"/>
          <a:lstStyle/>
          <a:p>
            <a:pPr algn="ctr">
              <a:lnSpc>
                <a:spcPct val="120000"/>
              </a:lnSpc>
            </a:pPr>
            <a:r>
              <a:rPr lang="en-US" sz="875" b="1" dirty="0">
                <a:solidFill>
                  <a:srgbClr val="1F2937"/>
                </a:solidFill>
                <a:latin typeface="Sorts Mill Goudy" pitchFamily="34" charset="0"/>
                <a:ea typeface="Sorts Mill Goudy" pitchFamily="34" charset="-122"/>
                <a:cs typeface="Sorts Mill Goudy" pitchFamily="34" charset="-120"/>
              </a:rPr>
              <a:t>Legal Contracts</a:t>
            </a:r>
            <a:endParaRPr lang="en-US" sz="1600" dirty="0"/>
          </a:p>
        </p:txBody>
      </p:sp>
      <p:sp>
        <p:nvSpPr>
          <p:cNvPr id="49" name="Shape 47"/>
          <p:cNvSpPr/>
          <p:nvPr/>
        </p:nvSpPr>
        <p:spPr>
          <a:xfrm>
            <a:off x="9100344" y="5599906"/>
            <a:ext cx="2571750" cy="579438"/>
          </a:xfrm>
          <a:custGeom>
            <a:avLst/>
            <a:gdLst/>
            <a:ahLst/>
            <a:cxnLst/>
            <a:rect l="l" t="t" r="r" b="b"/>
            <a:pathLst>
              <a:path w="2571750" h="579438">
                <a:moveTo>
                  <a:pt x="0" y="0"/>
                </a:moveTo>
                <a:lnTo>
                  <a:pt x="2571750" y="0"/>
                </a:lnTo>
                <a:lnTo>
                  <a:pt x="2571750" y="579438"/>
                </a:lnTo>
                <a:lnTo>
                  <a:pt x="0" y="579438"/>
                </a:lnTo>
                <a:lnTo>
                  <a:pt x="0" y="0"/>
                </a:lnTo>
                <a:close/>
              </a:path>
            </a:pathLst>
          </a:custGeom>
          <a:solidFill>
            <a:srgbClr val="FFFFFF"/>
          </a:solidFill>
          <a:ln w="12700">
            <a:solidFill>
              <a:srgbClr val="E5E7EB"/>
            </a:solidFill>
            <a:prstDash val="solid"/>
          </a:ln>
        </p:spPr>
      </p:sp>
      <p:sp>
        <p:nvSpPr>
          <p:cNvPr id="50" name="Shape 48"/>
          <p:cNvSpPr/>
          <p:nvPr/>
        </p:nvSpPr>
        <p:spPr>
          <a:xfrm>
            <a:off x="10326688" y="5699125"/>
            <a:ext cx="119063" cy="158750"/>
          </a:xfrm>
          <a:custGeom>
            <a:avLst/>
            <a:gdLst/>
            <a:ahLst/>
            <a:cxnLst/>
            <a:rect l="l" t="t" r="r" b="b"/>
            <a:pathLst>
              <a:path w="119063" h="158750">
                <a:moveTo>
                  <a:pt x="0" y="19844"/>
                </a:moveTo>
                <a:cubicBezTo>
                  <a:pt x="0" y="8899"/>
                  <a:pt x="8899" y="0"/>
                  <a:pt x="19844" y="0"/>
                </a:cubicBezTo>
                <a:lnTo>
                  <a:pt x="66198" y="0"/>
                </a:lnTo>
                <a:cubicBezTo>
                  <a:pt x="71469" y="0"/>
                  <a:pt x="76522" y="2077"/>
                  <a:pt x="80243" y="5798"/>
                </a:cubicBezTo>
                <a:lnTo>
                  <a:pt x="113264" y="38850"/>
                </a:lnTo>
                <a:cubicBezTo>
                  <a:pt x="116985" y="42571"/>
                  <a:pt x="119062" y="47625"/>
                  <a:pt x="119062" y="52896"/>
                </a:cubicBezTo>
                <a:lnTo>
                  <a:pt x="119062" y="138906"/>
                </a:lnTo>
                <a:cubicBezTo>
                  <a:pt x="119062" y="149851"/>
                  <a:pt x="110164" y="158750"/>
                  <a:pt x="99219" y="158750"/>
                </a:cubicBezTo>
                <a:lnTo>
                  <a:pt x="19844" y="158750"/>
                </a:lnTo>
                <a:cubicBezTo>
                  <a:pt x="8899" y="158750"/>
                  <a:pt x="0" y="149851"/>
                  <a:pt x="0" y="138906"/>
                </a:cubicBezTo>
                <a:lnTo>
                  <a:pt x="0" y="19844"/>
                </a:lnTo>
                <a:close/>
                <a:moveTo>
                  <a:pt x="64492" y="18138"/>
                </a:moveTo>
                <a:lnTo>
                  <a:pt x="64492" y="47129"/>
                </a:lnTo>
                <a:cubicBezTo>
                  <a:pt x="64492" y="51253"/>
                  <a:pt x="67810" y="54570"/>
                  <a:pt x="71934" y="54570"/>
                </a:cubicBezTo>
                <a:lnTo>
                  <a:pt x="100924" y="54570"/>
                </a:lnTo>
                <a:lnTo>
                  <a:pt x="64492" y="18138"/>
                </a:lnTo>
                <a:close/>
                <a:moveTo>
                  <a:pt x="49609" y="86816"/>
                </a:moveTo>
                <a:lnTo>
                  <a:pt x="49609" y="99219"/>
                </a:lnTo>
                <a:lnTo>
                  <a:pt x="37207" y="99219"/>
                </a:lnTo>
                <a:cubicBezTo>
                  <a:pt x="34479" y="99219"/>
                  <a:pt x="32246" y="101451"/>
                  <a:pt x="32246" y="104180"/>
                </a:cubicBezTo>
                <a:lnTo>
                  <a:pt x="32246" y="114102"/>
                </a:lnTo>
                <a:cubicBezTo>
                  <a:pt x="32246" y="116830"/>
                  <a:pt x="34479" y="119062"/>
                  <a:pt x="37207" y="119062"/>
                </a:cubicBezTo>
                <a:lnTo>
                  <a:pt x="49609" y="119062"/>
                </a:lnTo>
                <a:lnTo>
                  <a:pt x="49609" y="131465"/>
                </a:lnTo>
                <a:cubicBezTo>
                  <a:pt x="49609" y="134193"/>
                  <a:pt x="51842" y="136426"/>
                  <a:pt x="54570" y="136426"/>
                </a:cubicBezTo>
                <a:lnTo>
                  <a:pt x="64492" y="136426"/>
                </a:lnTo>
                <a:cubicBezTo>
                  <a:pt x="67221" y="136426"/>
                  <a:pt x="69453" y="134193"/>
                  <a:pt x="69453" y="131465"/>
                </a:cubicBezTo>
                <a:lnTo>
                  <a:pt x="69453" y="119062"/>
                </a:lnTo>
                <a:lnTo>
                  <a:pt x="81855" y="119062"/>
                </a:lnTo>
                <a:cubicBezTo>
                  <a:pt x="84584" y="119062"/>
                  <a:pt x="86816" y="116830"/>
                  <a:pt x="86816" y="114102"/>
                </a:cubicBezTo>
                <a:lnTo>
                  <a:pt x="86816" y="104180"/>
                </a:lnTo>
                <a:cubicBezTo>
                  <a:pt x="86816" y="101451"/>
                  <a:pt x="84584" y="99219"/>
                  <a:pt x="81855" y="99219"/>
                </a:cubicBezTo>
                <a:lnTo>
                  <a:pt x="69453" y="99219"/>
                </a:lnTo>
                <a:lnTo>
                  <a:pt x="69453" y="86816"/>
                </a:lnTo>
                <a:cubicBezTo>
                  <a:pt x="69453" y="84088"/>
                  <a:pt x="67221" y="81855"/>
                  <a:pt x="64492" y="81855"/>
                </a:cubicBezTo>
                <a:lnTo>
                  <a:pt x="54570" y="81855"/>
                </a:lnTo>
                <a:cubicBezTo>
                  <a:pt x="51842" y="81855"/>
                  <a:pt x="49609" y="84088"/>
                  <a:pt x="49609" y="86816"/>
                </a:cubicBezTo>
                <a:close/>
              </a:path>
            </a:pathLst>
          </a:custGeom>
          <a:solidFill>
            <a:srgbClr val="8B0000"/>
          </a:solidFill>
          <a:ln/>
        </p:spPr>
      </p:sp>
      <p:sp>
        <p:nvSpPr>
          <p:cNvPr id="51" name="Text 49"/>
          <p:cNvSpPr/>
          <p:nvPr/>
        </p:nvSpPr>
        <p:spPr>
          <a:xfrm>
            <a:off x="9171781" y="5921375"/>
            <a:ext cx="2428875" cy="158750"/>
          </a:xfrm>
          <a:prstGeom prst="rect">
            <a:avLst/>
          </a:prstGeom>
          <a:noFill/>
          <a:ln/>
        </p:spPr>
        <p:txBody>
          <a:bodyPr wrap="square" lIns="0" tIns="0" rIns="0" bIns="0" rtlCol="0" anchor="ctr"/>
          <a:lstStyle/>
          <a:p>
            <a:pPr algn="ctr">
              <a:lnSpc>
                <a:spcPct val="120000"/>
              </a:lnSpc>
            </a:pPr>
            <a:r>
              <a:rPr lang="en-US" sz="875" b="1" dirty="0">
                <a:solidFill>
                  <a:srgbClr val="1F2937"/>
                </a:solidFill>
                <a:latin typeface="Sorts Mill Goudy" pitchFamily="34" charset="0"/>
                <a:ea typeface="Sorts Mill Goudy" pitchFamily="34" charset="-122"/>
                <a:cs typeface="Sorts Mill Goudy" pitchFamily="34" charset="-120"/>
              </a:rPr>
              <a:t>Medical Records</a:t>
            </a:r>
            <a:endParaRPr lang="en-US" sz="1600" dirty="0"/>
          </a:p>
        </p:txBody>
      </p:sp>
      <p:sp>
        <p:nvSpPr>
          <p:cNvPr id="52" name="Shape 50"/>
          <p:cNvSpPr/>
          <p:nvPr/>
        </p:nvSpPr>
        <p:spPr>
          <a:xfrm>
            <a:off x="6425406" y="6282531"/>
            <a:ext cx="2571750" cy="579438"/>
          </a:xfrm>
          <a:custGeom>
            <a:avLst/>
            <a:gdLst/>
            <a:ahLst/>
            <a:cxnLst/>
            <a:rect l="l" t="t" r="r" b="b"/>
            <a:pathLst>
              <a:path w="2571750" h="579438">
                <a:moveTo>
                  <a:pt x="0" y="0"/>
                </a:moveTo>
                <a:lnTo>
                  <a:pt x="2571750" y="0"/>
                </a:lnTo>
                <a:lnTo>
                  <a:pt x="2571750" y="579438"/>
                </a:lnTo>
                <a:lnTo>
                  <a:pt x="0" y="579438"/>
                </a:lnTo>
                <a:lnTo>
                  <a:pt x="0" y="0"/>
                </a:lnTo>
                <a:close/>
              </a:path>
            </a:pathLst>
          </a:custGeom>
          <a:solidFill>
            <a:srgbClr val="FFFFFF"/>
          </a:solidFill>
          <a:ln w="12700">
            <a:solidFill>
              <a:srgbClr val="E5E7EB"/>
            </a:solidFill>
            <a:prstDash val="solid"/>
          </a:ln>
        </p:spPr>
      </p:sp>
      <p:sp>
        <p:nvSpPr>
          <p:cNvPr id="53" name="Shape 51"/>
          <p:cNvSpPr/>
          <p:nvPr/>
        </p:nvSpPr>
        <p:spPr>
          <a:xfrm>
            <a:off x="7631906" y="6381750"/>
            <a:ext cx="158750" cy="158750"/>
          </a:xfrm>
          <a:custGeom>
            <a:avLst/>
            <a:gdLst/>
            <a:ahLst/>
            <a:cxnLst/>
            <a:rect l="l" t="t" r="r" b="b"/>
            <a:pathLst>
              <a:path w="158750" h="158750">
                <a:moveTo>
                  <a:pt x="79375" y="158750"/>
                </a:moveTo>
                <a:cubicBezTo>
                  <a:pt x="123183" y="158750"/>
                  <a:pt x="158750" y="123183"/>
                  <a:pt x="158750" y="79375"/>
                </a:cubicBezTo>
                <a:cubicBezTo>
                  <a:pt x="158750" y="35567"/>
                  <a:pt x="123183" y="0"/>
                  <a:pt x="79375" y="0"/>
                </a:cubicBezTo>
                <a:cubicBezTo>
                  <a:pt x="35567" y="0"/>
                  <a:pt x="0" y="35567"/>
                  <a:pt x="0" y="79375"/>
                </a:cubicBezTo>
                <a:cubicBezTo>
                  <a:pt x="0" y="123183"/>
                  <a:pt x="35567" y="158750"/>
                  <a:pt x="79375" y="158750"/>
                </a:cubicBezTo>
                <a:close/>
                <a:moveTo>
                  <a:pt x="79375" y="42168"/>
                </a:moveTo>
                <a:cubicBezTo>
                  <a:pt x="83499" y="42168"/>
                  <a:pt x="86816" y="45486"/>
                  <a:pt x="86816" y="49609"/>
                </a:cubicBezTo>
                <a:lnTo>
                  <a:pt x="86816" y="84336"/>
                </a:lnTo>
                <a:cubicBezTo>
                  <a:pt x="86816" y="88460"/>
                  <a:pt x="83499" y="91777"/>
                  <a:pt x="79375" y="91777"/>
                </a:cubicBezTo>
                <a:cubicBezTo>
                  <a:pt x="75251" y="91777"/>
                  <a:pt x="71934" y="88460"/>
                  <a:pt x="71934" y="84336"/>
                </a:cubicBezTo>
                <a:lnTo>
                  <a:pt x="71934" y="49609"/>
                </a:lnTo>
                <a:cubicBezTo>
                  <a:pt x="71934" y="45486"/>
                  <a:pt x="75251" y="42168"/>
                  <a:pt x="79375" y="42168"/>
                </a:cubicBezTo>
                <a:close/>
                <a:moveTo>
                  <a:pt x="71096" y="109141"/>
                </a:moveTo>
                <a:cubicBezTo>
                  <a:pt x="70908" y="106068"/>
                  <a:pt x="72441" y="103144"/>
                  <a:pt x="75075" y="101551"/>
                </a:cubicBezTo>
                <a:cubicBezTo>
                  <a:pt x="77709" y="99957"/>
                  <a:pt x="81010" y="99957"/>
                  <a:pt x="83644" y="101551"/>
                </a:cubicBezTo>
                <a:cubicBezTo>
                  <a:pt x="86278" y="103144"/>
                  <a:pt x="87811" y="106068"/>
                  <a:pt x="87623" y="109141"/>
                </a:cubicBezTo>
                <a:cubicBezTo>
                  <a:pt x="87811" y="112214"/>
                  <a:pt x="86278" y="115137"/>
                  <a:pt x="83644" y="116731"/>
                </a:cubicBezTo>
                <a:cubicBezTo>
                  <a:pt x="81010" y="118324"/>
                  <a:pt x="77709" y="118324"/>
                  <a:pt x="75075" y="116731"/>
                </a:cubicBezTo>
                <a:cubicBezTo>
                  <a:pt x="72441" y="115137"/>
                  <a:pt x="70908" y="112214"/>
                  <a:pt x="71096" y="109141"/>
                </a:cubicBezTo>
                <a:close/>
              </a:path>
            </a:pathLst>
          </a:custGeom>
          <a:solidFill>
            <a:srgbClr val="8B0000"/>
          </a:solidFill>
          <a:ln/>
        </p:spPr>
      </p:sp>
      <p:sp>
        <p:nvSpPr>
          <p:cNvPr id="54" name="Text 52"/>
          <p:cNvSpPr/>
          <p:nvPr/>
        </p:nvSpPr>
        <p:spPr>
          <a:xfrm>
            <a:off x="6496844" y="6604000"/>
            <a:ext cx="2428875" cy="158750"/>
          </a:xfrm>
          <a:prstGeom prst="rect">
            <a:avLst/>
          </a:prstGeom>
          <a:noFill/>
          <a:ln/>
        </p:spPr>
        <p:txBody>
          <a:bodyPr wrap="square" lIns="0" tIns="0" rIns="0" bIns="0" rtlCol="0" anchor="ctr"/>
          <a:lstStyle/>
          <a:p>
            <a:pPr algn="ctr">
              <a:lnSpc>
                <a:spcPct val="120000"/>
              </a:lnSpc>
            </a:pPr>
            <a:r>
              <a:rPr lang="en-US" sz="875" b="1" dirty="0">
                <a:solidFill>
                  <a:srgbClr val="1F2937"/>
                </a:solidFill>
                <a:latin typeface="Sorts Mill Goudy" pitchFamily="34" charset="0"/>
                <a:ea typeface="Sorts Mill Goudy" pitchFamily="34" charset="-122"/>
                <a:cs typeface="Sorts Mill Goudy" pitchFamily="34" charset="-120"/>
              </a:rPr>
              <a:t>Incident Reports</a:t>
            </a:r>
            <a:endParaRPr lang="en-US" sz="1600" dirty="0"/>
          </a:p>
        </p:txBody>
      </p:sp>
      <p:sp>
        <p:nvSpPr>
          <p:cNvPr id="55" name="Shape 53"/>
          <p:cNvSpPr/>
          <p:nvPr/>
        </p:nvSpPr>
        <p:spPr>
          <a:xfrm>
            <a:off x="9100344" y="6282531"/>
            <a:ext cx="2571750" cy="579438"/>
          </a:xfrm>
          <a:custGeom>
            <a:avLst/>
            <a:gdLst/>
            <a:ahLst/>
            <a:cxnLst/>
            <a:rect l="l" t="t" r="r" b="b"/>
            <a:pathLst>
              <a:path w="2571750" h="579438">
                <a:moveTo>
                  <a:pt x="0" y="0"/>
                </a:moveTo>
                <a:lnTo>
                  <a:pt x="2571750" y="0"/>
                </a:lnTo>
                <a:lnTo>
                  <a:pt x="2571750" y="579438"/>
                </a:lnTo>
                <a:lnTo>
                  <a:pt x="0" y="579438"/>
                </a:lnTo>
                <a:lnTo>
                  <a:pt x="0" y="0"/>
                </a:lnTo>
                <a:close/>
              </a:path>
            </a:pathLst>
          </a:custGeom>
          <a:solidFill>
            <a:srgbClr val="FFFFFF"/>
          </a:solidFill>
          <a:ln w="12700">
            <a:solidFill>
              <a:srgbClr val="E5E7EB"/>
            </a:solidFill>
            <a:prstDash val="solid"/>
          </a:ln>
        </p:spPr>
      </p:sp>
      <p:sp>
        <p:nvSpPr>
          <p:cNvPr id="56" name="Shape 54"/>
          <p:cNvSpPr/>
          <p:nvPr/>
        </p:nvSpPr>
        <p:spPr>
          <a:xfrm>
            <a:off x="10306844" y="6381750"/>
            <a:ext cx="158750" cy="158750"/>
          </a:xfrm>
          <a:custGeom>
            <a:avLst/>
            <a:gdLst/>
            <a:ahLst/>
            <a:cxnLst/>
            <a:rect l="l" t="t" r="r" b="b"/>
            <a:pathLst>
              <a:path w="158750" h="158750">
                <a:moveTo>
                  <a:pt x="0" y="128984"/>
                </a:moveTo>
                <a:lnTo>
                  <a:pt x="0" y="37207"/>
                </a:lnTo>
                <a:cubicBezTo>
                  <a:pt x="0" y="33083"/>
                  <a:pt x="3318" y="29766"/>
                  <a:pt x="7441" y="29766"/>
                </a:cubicBezTo>
                <a:cubicBezTo>
                  <a:pt x="11565" y="29766"/>
                  <a:pt x="14883" y="33083"/>
                  <a:pt x="14883" y="37207"/>
                </a:cubicBezTo>
                <a:lnTo>
                  <a:pt x="14883" y="126504"/>
                </a:lnTo>
                <a:cubicBezTo>
                  <a:pt x="14883" y="130628"/>
                  <a:pt x="18200" y="133945"/>
                  <a:pt x="22324" y="133945"/>
                </a:cubicBezTo>
                <a:cubicBezTo>
                  <a:pt x="26448" y="133945"/>
                  <a:pt x="29766" y="130628"/>
                  <a:pt x="29766" y="126504"/>
                </a:cubicBezTo>
                <a:lnTo>
                  <a:pt x="29766" y="29766"/>
                </a:lnTo>
                <a:cubicBezTo>
                  <a:pt x="29766" y="18821"/>
                  <a:pt x="38664" y="9922"/>
                  <a:pt x="49609" y="9922"/>
                </a:cubicBezTo>
                <a:lnTo>
                  <a:pt x="138906" y="9922"/>
                </a:lnTo>
                <a:cubicBezTo>
                  <a:pt x="149851" y="9922"/>
                  <a:pt x="158750" y="18821"/>
                  <a:pt x="158750" y="29766"/>
                </a:cubicBezTo>
                <a:lnTo>
                  <a:pt x="158750" y="128984"/>
                </a:lnTo>
                <a:cubicBezTo>
                  <a:pt x="158750" y="139929"/>
                  <a:pt x="149851" y="148828"/>
                  <a:pt x="138906" y="148828"/>
                </a:cubicBezTo>
                <a:lnTo>
                  <a:pt x="19844" y="148828"/>
                </a:lnTo>
                <a:cubicBezTo>
                  <a:pt x="8899" y="148828"/>
                  <a:pt x="0" y="139929"/>
                  <a:pt x="0" y="128984"/>
                </a:cubicBezTo>
                <a:close/>
                <a:moveTo>
                  <a:pt x="49609" y="39688"/>
                </a:moveTo>
                <a:lnTo>
                  <a:pt x="49609" y="59531"/>
                </a:lnTo>
                <a:cubicBezTo>
                  <a:pt x="49609" y="65019"/>
                  <a:pt x="54043" y="69453"/>
                  <a:pt x="59531" y="69453"/>
                </a:cubicBezTo>
                <a:lnTo>
                  <a:pt x="79375" y="69453"/>
                </a:lnTo>
                <a:cubicBezTo>
                  <a:pt x="84863" y="69453"/>
                  <a:pt x="89297" y="65019"/>
                  <a:pt x="89297" y="59531"/>
                </a:cubicBezTo>
                <a:lnTo>
                  <a:pt x="89297" y="39688"/>
                </a:lnTo>
                <a:cubicBezTo>
                  <a:pt x="89297" y="34199"/>
                  <a:pt x="84863" y="29766"/>
                  <a:pt x="79375" y="29766"/>
                </a:cubicBezTo>
                <a:lnTo>
                  <a:pt x="59531" y="29766"/>
                </a:lnTo>
                <a:cubicBezTo>
                  <a:pt x="54043" y="29766"/>
                  <a:pt x="49609" y="34199"/>
                  <a:pt x="49609" y="39688"/>
                </a:cubicBezTo>
                <a:close/>
                <a:moveTo>
                  <a:pt x="57051" y="114102"/>
                </a:moveTo>
                <a:cubicBezTo>
                  <a:pt x="52927" y="114102"/>
                  <a:pt x="49609" y="117419"/>
                  <a:pt x="49609" y="121543"/>
                </a:cubicBezTo>
                <a:cubicBezTo>
                  <a:pt x="49609" y="125667"/>
                  <a:pt x="52927" y="128984"/>
                  <a:pt x="57051" y="128984"/>
                </a:cubicBezTo>
                <a:lnTo>
                  <a:pt x="131465" y="128984"/>
                </a:lnTo>
                <a:cubicBezTo>
                  <a:pt x="135589" y="128984"/>
                  <a:pt x="138906" y="125667"/>
                  <a:pt x="138906" y="121543"/>
                </a:cubicBezTo>
                <a:cubicBezTo>
                  <a:pt x="138906" y="117419"/>
                  <a:pt x="135589" y="114102"/>
                  <a:pt x="131465" y="114102"/>
                </a:cubicBezTo>
                <a:lnTo>
                  <a:pt x="57051" y="114102"/>
                </a:lnTo>
                <a:close/>
                <a:moveTo>
                  <a:pt x="49609" y="91777"/>
                </a:moveTo>
                <a:cubicBezTo>
                  <a:pt x="49609" y="95901"/>
                  <a:pt x="52927" y="99219"/>
                  <a:pt x="57051" y="99219"/>
                </a:cubicBezTo>
                <a:lnTo>
                  <a:pt x="131465" y="99219"/>
                </a:lnTo>
                <a:cubicBezTo>
                  <a:pt x="135589" y="99219"/>
                  <a:pt x="138906" y="95901"/>
                  <a:pt x="138906" y="91777"/>
                </a:cubicBezTo>
                <a:cubicBezTo>
                  <a:pt x="138906" y="87654"/>
                  <a:pt x="135589" y="84336"/>
                  <a:pt x="131465" y="84336"/>
                </a:cubicBezTo>
                <a:lnTo>
                  <a:pt x="57051" y="84336"/>
                </a:lnTo>
                <a:cubicBezTo>
                  <a:pt x="52927" y="84336"/>
                  <a:pt x="49609" y="87654"/>
                  <a:pt x="49609" y="91777"/>
                </a:cubicBezTo>
                <a:close/>
                <a:moveTo>
                  <a:pt x="111621" y="54570"/>
                </a:moveTo>
                <a:cubicBezTo>
                  <a:pt x="107497" y="54570"/>
                  <a:pt x="104180" y="57888"/>
                  <a:pt x="104180" y="62012"/>
                </a:cubicBezTo>
                <a:cubicBezTo>
                  <a:pt x="104180" y="66135"/>
                  <a:pt x="107497" y="69453"/>
                  <a:pt x="111621" y="69453"/>
                </a:cubicBezTo>
                <a:lnTo>
                  <a:pt x="131465" y="69453"/>
                </a:lnTo>
                <a:cubicBezTo>
                  <a:pt x="135589" y="69453"/>
                  <a:pt x="138906" y="66135"/>
                  <a:pt x="138906" y="62012"/>
                </a:cubicBezTo>
                <a:cubicBezTo>
                  <a:pt x="138906" y="57888"/>
                  <a:pt x="135589" y="54570"/>
                  <a:pt x="131465" y="54570"/>
                </a:cubicBezTo>
                <a:lnTo>
                  <a:pt x="111621" y="54570"/>
                </a:lnTo>
                <a:close/>
              </a:path>
            </a:pathLst>
          </a:custGeom>
          <a:solidFill>
            <a:srgbClr val="8B0000"/>
          </a:solidFill>
          <a:ln/>
        </p:spPr>
      </p:sp>
      <p:sp>
        <p:nvSpPr>
          <p:cNvPr id="57" name="Text 55"/>
          <p:cNvSpPr/>
          <p:nvPr/>
        </p:nvSpPr>
        <p:spPr>
          <a:xfrm>
            <a:off x="9171781" y="6604000"/>
            <a:ext cx="2428875" cy="158750"/>
          </a:xfrm>
          <a:prstGeom prst="rect">
            <a:avLst/>
          </a:prstGeom>
          <a:noFill/>
          <a:ln/>
        </p:spPr>
        <p:txBody>
          <a:bodyPr wrap="square" lIns="0" tIns="0" rIns="0" bIns="0" rtlCol="0" anchor="ctr"/>
          <a:lstStyle/>
          <a:p>
            <a:pPr algn="ctr">
              <a:lnSpc>
                <a:spcPct val="120000"/>
              </a:lnSpc>
            </a:pPr>
            <a:r>
              <a:rPr lang="en-US" sz="875" b="1" dirty="0">
                <a:solidFill>
                  <a:srgbClr val="1F2937"/>
                </a:solidFill>
                <a:latin typeface="Sorts Mill Goudy" pitchFamily="34" charset="0"/>
                <a:ea typeface="Sorts Mill Goudy" pitchFamily="34" charset="-122"/>
                <a:cs typeface="Sorts Mill Goudy" pitchFamily="34" charset="-120"/>
              </a:rPr>
              <a:t>News Articles</a:t>
            </a:r>
            <a:endParaRPr lang="en-US" sz="1600" dirty="0"/>
          </a:p>
        </p:txBody>
      </p:sp>
    </p:spTree>
    <p:extLst>
      <p:ext uri="{BB962C8B-B14F-4D97-AF65-F5344CB8AC3E}">
        <p14:creationId xmlns:p14="http://schemas.microsoft.com/office/powerpoint/2010/main" val="1280166652"/>
      </p:ext>
    </p:extLst>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56231" y="356231"/>
            <a:ext cx="11541879" cy="178115"/>
          </a:xfrm>
          <a:prstGeom prst="rect">
            <a:avLst/>
          </a:prstGeom>
          <a:noFill/>
          <a:ln/>
        </p:spPr>
        <p:txBody>
          <a:bodyPr wrap="square" lIns="0" tIns="0" rIns="0" bIns="0" rtlCol="0" anchor="ctr"/>
          <a:lstStyle/>
          <a:p>
            <a:pPr>
              <a:lnSpc>
                <a:spcPct val="120000"/>
              </a:lnSpc>
            </a:pPr>
            <a:r>
              <a:rPr lang="en-US" sz="982" b="1" kern="0" spc="49" dirty="0">
                <a:solidFill>
                  <a:srgbClr val="8B0000"/>
                </a:solidFill>
                <a:latin typeface="Sorts Mill Goudy" pitchFamily="34" charset="0"/>
                <a:ea typeface="Sorts Mill Goudy" pitchFamily="34" charset="-122"/>
                <a:cs typeface="Sorts Mill Goudy" pitchFamily="34" charset="-120"/>
              </a:rPr>
              <a:t>5.3 INNOVATION HIGHLIGHTS</a:t>
            </a:r>
            <a:endParaRPr lang="en-US" sz="1600" dirty="0"/>
          </a:p>
        </p:txBody>
      </p:sp>
      <p:sp>
        <p:nvSpPr>
          <p:cNvPr id="3" name="Text 1"/>
          <p:cNvSpPr/>
          <p:nvPr/>
        </p:nvSpPr>
        <p:spPr>
          <a:xfrm>
            <a:off x="356231" y="605592"/>
            <a:ext cx="11639842" cy="356231"/>
          </a:xfrm>
          <a:prstGeom prst="rect">
            <a:avLst/>
          </a:prstGeom>
          <a:noFill/>
          <a:ln/>
        </p:spPr>
        <p:txBody>
          <a:bodyPr wrap="square" lIns="0" tIns="0" rIns="0" bIns="0" rtlCol="0" anchor="ctr"/>
          <a:lstStyle/>
          <a:p>
            <a:pPr>
              <a:lnSpc>
                <a:spcPct val="90000"/>
              </a:lnSpc>
            </a:pPr>
            <a:r>
              <a:rPr lang="en-US" sz="2524" b="1" dirty="0">
                <a:solidFill>
                  <a:srgbClr val="1F2937"/>
                </a:solidFill>
                <a:latin typeface="Sorts Mill Goudy" pitchFamily="34" charset="0"/>
                <a:ea typeface="Sorts Mill Goudy" pitchFamily="34" charset="-122"/>
                <a:cs typeface="Sorts Mill Goudy" pitchFamily="34" charset="-120"/>
              </a:rPr>
              <a:t>Innovation 3: Multi-Predicate Answer Composition</a:t>
            </a:r>
            <a:endParaRPr lang="en-US" sz="1600" dirty="0"/>
          </a:p>
        </p:txBody>
      </p:sp>
      <p:sp>
        <p:nvSpPr>
          <p:cNvPr id="4" name="Shape 2"/>
          <p:cNvSpPr/>
          <p:nvPr/>
        </p:nvSpPr>
        <p:spPr>
          <a:xfrm>
            <a:off x="374042" y="1175562"/>
            <a:ext cx="5575012" cy="2725166"/>
          </a:xfrm>
          <a:custGeom>
            <a:avLst/>
            <a:gdLst/>
            <a:ahLst/>
            <a:cxnLst/>
            <a:rect l="l" t="t" r="r" b="b"/>
            <a:pathLst>
              <a:path w="5575012" h="2725166">
                <a:moveTo>
                  <a:pt x="0" y="0"/>
                </a:moveTo>
                <a:lnTo>
                  <a:pt x="5575012" y="0"/>
                </a:lnTo>
                <a:lnTo>
                  <a:pt x="5575012" y="2725166"/>
                </a:lnTo>
                <a:lnTo>
                  <a:pt x="0" y="2725166"/>
                </a:lnTo>
                <a:lnTo>
                  <a:pt x="0" y="0"/>
                </a:lnTo>
                <a:close/>
              </a:path>
            </a:pathLst>
          </a:custGeom>
          <a:solidFill>
            <a:srgbClr val="F9FAFB"/>
          </a:solidFill>
          <a:ln/>
        </p:spPr>
      </p:sp>
      <p:sp>
        <p:nvSpPr>
          <p:cNvPr id="5" name="Shape 3"/>
          <p:cNvSpPr/>
          <p:nvPr/>
        </p:nvSpPr>
        <p:spPr>
          <a:xfrm>
            <a:off x="374042" y="1175562"/>
            <a:ext cx="35623" cy="2725166"/>
          </a:xfrm>
          <a:custGeom>
            <a:avLst/>
            <a:gdLst/>
            <a:ahLst/>
            <a:cxnLst/>
            <a:rect l="l" t="t" r="r" b="b"/>
            <a:pathLst>
              <a:path w="35623" h="2725166">
                <a:moveTo>
                  <a:pt x="0" y="0"/>
                </a:moveTo>
                <a:lnTo>
                  <a:pt x="35623" y="0"/>
                </a:lnTo>
                <a:lnTo>
                  <a:pt x="35623" y="2725166"/>
                </a:lnTo>
                <a:lnTo>
                  <a:pt x="0" y="2725166"/>
                </a:lnTo>
                <a:lnTo>
                  <a:pt x="0" y="0"/>
                </a:lnTo>
                <a:close/>
              </a:path>
            </a:pathLst>
          </a:custGeom>
          <a:solidFill>
            <a:srgbClr val="8B0000"/>
          </a:solidFill>
          <a:ln/>
        </p:spPr>
      </p:sp>
      <p:sp>
        <p:nvSpPr>
          <p:cNvPr id="6" name="Text 4"/>
          <p:cNvSpPr/>
          <p:nvPr/>
        </p:nvSpPr>
        <p:spPr>
          <a:xfrm>
            <a:off x="605592" y="1389300"/>
            <a:ext cx="5218782" cy="249362"/>
          </a:xfrm>
          <a:prstGeom prst="rect">
            <a:avLst/>
          </a:prstGeom>
          <a:noFill/>
          <a:ln/>
        </p:spPr>
        <p:txBody>
          <a:bodyPr wrap="square" lIns="0" tIns="0" rIns="0" bIns="0" rtlCol="0" anchor="ctr"/>
          <a:lstStyle/>
          <a:p>
            <a:pPr>
              <a:lnSpc>
                <a:spcPct val="120000"/>
              </a:lnSpc>
            </a:pPr>
            <a:r>
              <a:rPr lang="en-US" sz="1402" b="1" dirty="0">
                <a:solidFill>
                  <a:srgbClr val="1F2937"/>
                </a:solidFill>
                <a:latin typeface="Sorts Mill Goudy" pitchFamily="34" charset="0"/>
                <a:ea typeface="Sorts Mill Goudy" pitchFamily="34" charset="-122"/>
                <a:cs typeface="Sorts Mill Goudy" pitchFamily="34" charset="-120"/>
              </a:rPr>
              <a:t>The Problem: Single-Predicate Limitation</a:t>
            </a:r>
            <a:endParaRPr lang="en-US" sz="1600" dirty="0"/>
          </a:p>
        </p:txBody>
      </p:sp>
      <p:sp>
        <p:nvSpPr>
          <p:cNvPr id="7" name="Text 5"/>
          <p:cNvSpPr/>
          <p:nvPr/>
        </p:nvSpPr>
        <p:spPr>
          <a:xfrm>
            <a:off x="605592" y="1745531"/>
            <a:ext cx="5200970" cy="463100"/>
          </a:xfrm>
          <a:prstGeom prst="rect">
            <a:avLst/>
          </a:prstGeom>
          <a:noFill/>
          <a:ln/>
        </p:spPr>
        <p:txBody>
          <a:bodyPr wrap="square" lIns="0" tIns="0" rIns="0" bIns="0" rtlCol="0" anchor="ctr"/>
          <a:lstStyle/>
          <a:p>
            <a:pPr>
              <a:lnSpc>
                <a:spcPct val="140000"/>
              </a:lnSpc>
            </a:pPr>
            <a:r>
              <a:rPr lang="en-US" sz="1122" dirty="0">
                <a:solidFill>
                  <a:srgbClr val="1F2937"/>
                </a:solidFill>
                <a:latin typeface="Sorts Mill Goudy" pitchFamily="34" charset="0"/>
                <a:ea typeface="Sorts Mill Goudy" pitchFamily="34" charset="-122"/>
                <a:cs typeface="Sorts Mill Goudy" pitchFamily="34" charset="-120"/>
              </a:rPr>
              <a:t>Current model selects answer from a single predicate. Real-world questions often require combining information from multiple events:</a:t>
            </a:r>
            <a:endParaRPr lang="en-US" sz="1600" dirty="0"/>
          </a:p>
        </p:txBody>
      </p:sp>
      <p:sp>
        <p:nvSpPr>
          <p:cNvPr id="8" name="Shape 6"/>
          <p:cNvSpPr/>
          <p:nvPr/>
        </p:nvSpPr>
        <p:spPr>
          <a:xfrm>
            <a:off x="610045" y="2355576"/>
            <a:ext cx="5120818" cy="1326960"/>
          </a:xfrm>
          <a:custGeom>
            <a:avLst/>
            <a:gdLst/>
            <a:ahLst/>
            <a:cxnLst/>
            <a:rect l="l" t="t" r="r" b="b"/>
            <a:pathLst>
              <a:path w="5120818" h="1326960">
                <a:moveTo>
                  <a:pt x="0" y="0"/>
                </a:moveTo>
                <a:lnTo>
                  <a:pt x="5120818" y="0"/>
                </a:lnTo>
                <a:lnTo>
                  <a:pt x="5120818" y="1326960"/>
                </a:lnTo>
                <a:lnTo>
                  <a:pt x="0" y="1326960"/>
                </a:lnTo>
                <a:lnTo>
                  <a:pt x="0" y="0"/>
                </a:lnTo>
                <a:close/>
              </a:path>
            </a:pathLst>
          </a:custGeom>
          <a:solidFill>
            <a:srgbClr val="FFFFFF"/>
          </a:solidFill>
          <a:ln w="12700">
            <a:solidFill>
              <a:srgbClr val="E5E7EB"/>
            </a:solidFill>
            <a:prstDash val="solid"/>
          </a:ln>
        </p:spPr>
      </p:sp>
      <p:sp>
        <p:nvSpPr>
          <p:cNvPr id="9" name="Text 7"/>
          <p:cNvSpPr/>
          <p:nvPr/>
        </p:nvSpPr>
        <p:spPr>
          <a:xfrm>
            <a:off x="756991" y="2502522"/>
            <a:ext cx="4898174" cy="213738"/>
          </a:xfrm>
          <a:prstGeom prst="rect">
            <a:avLst/>
          </a:prstGeom>
          <a:noFill/>
          <a:ln/>
        </p:spPr>
        <p:txBody>
          <a:bodyPr wrap="square" lIns="0" tIns="0" rIns="0" bIns="0" rtlCol="0" anchor="ctr"/>
          <a:lstStyle/>
          <a:p>
            <a:pPr>
              <a:lnSpc>
                <a:spcPct val="130000"/>
              </a:lnSpc>
            </a:pPr>
            <a:r>
              <a:rPr lang="en-US" sz="1122" dirty="0">
                <a:solidFill>
                  <a:srgbClr val="1F2937"/>
                </a:solidFill>
                <a:latin typeface="Sorts Mill Goudy" pitchFamily="34" charset="0"/>
                <a:ea typeface="Sorts Mill Goudy" pitchFamily="34" charset="-122"/>
                <a:cs typeface="Sorts Mill Goudy" pitchFamily="34" charset="-120"/>
              </a:rPr>
              <a:t>"The CEO announced the merger. The board approved it the next day."</a:t>
            </a:r>
            <a:endParaRPr lang="en-US" sz="1600" dirty="0"/>
          </a:p>
        </p:txBody>
      </p:sp>
      <p:sp>
        <p:nvSpPr>
          <p:cNvPr id="10" name="Text 8"/>
          <p:cNvSpPr/>
          <p:nvPr/>
        </p:nvSpPr>
        <p:spPr>
          <a:xfrm>
            <a:off x="756991" y="2823129"/>
            <a:ext cx="4898174" cy="213738"/>
          </a:xfrm>
          <a:prstGeom prst="rect">
            <a:avLst/>
          </a:prstGeom>
          <a:noFill/>
          <a:ln/>
        </p:spPr>
        <p:txBody>
          <a:bodyPr wrap="square" lIns="0" tIns="0" rIns="0" bIns="0" rtlCol="0" anchor="ctr"/>
          <a:lstStyle/>
          <a:p>
            <a:pPr>
              <a:lnSpc>
                <a:spcPct val="130000"/>
              </a:lnSpc>
            </a:pPr>
            <a:r>
              <a:rPr lang="en-US" sz="1122" dirty="0">
                <a:solidFill>
                  <a:srgbClr val="6B7280"/>
                </a:solidFill>
                <a:latin typeface="Sorts Mill Goudy" pitchFamily="34" charset="0"/>
                <a:ea typeface="Sorts Mill Goudy" pitchFamily="34" charset="-122"/>
                <a:cs typeface="Sorts Mill Goudy" pitchFamily="34" charset="-120"/>
              </a:rPr>
              <a:t>Question: "What did the board approve?"</a:t>
            </a:r>
            <a:endParaRPr lang="en-US" sz="1600" dirty="0"/>
          </a:p>
        </p:txBody>
      </p:sp>
      <p:sp>
        <p:nvSpPr>
          <p:cNvPr id="11" name="Text 9"/>
          <p:cNvSpPr/>
          <p:nvPr/>
        </p:nvSpPr>
        <p:spPr>
          <a:xfrm>
            <a:off x="756991" y="3108114"/>
            <a:ext cx="4898174" cy="427477"/>
          </a:xfrm>
          <a:prstGeom prst="rect">
            <a:avLst/>
          </a:prstGeom>
          <a:noFill/>
          <a:ln/>
        </p:spPr>
        <p:txBody>
          <a:bodyPr wrap="square" lIns="0" tIns="0" rIns="0" bIns="0" rtlCol="0" anchor="ctr"/>
          <a:lstStyle/>
          <a:p>
            <a:pPr>
              <a:lnSpc>
                <a:spcPct val="130000"/>
              </a:lnSpc>
            </a:pPr>
            <a:r>
              <a:rPr lang="en-US" sz="1122" dirty="0">
                <a:solidFill>
                  <a:srgbClr val="1F2937"/>
                </a:solidFill>
                <a:latin typeface="Sorts Mill Goudy" pitchFamily="34" charset="0"/>
                <a:ea typeface="Sorts Mill Goudy" pitchFamily="34" charset="-122"/>
                <a:cs typeface="Sorts Mill Goudy" pitchFamily="34" charset="-120"/>
              </a:rPr>
              <a:t>→ Requires linking "approve" (predicate 2) to "merger" (argument of predicate 1)</a:t>
            </a:r>
            <a:endParaRPr lang="en-US" sz="1600" dirty="0"/>
          </a:p>
        </p:txBody>
      </p:sp>
      <p:sp>
        <p:nvSpPr>
          <p:cNvPr id="12" name="Shape 10"/>
          <p:cNvSpPr/>
          <p:nvPr/>
        </p:nvSpPr>
        <p:spPr>
          <a:xfrm>
            <a:off x="374042" y="4114466"/>
            <a:ext cx="5575012" cy="2279877"/>
          </a:xfrm>
          <a:custGeom>
            <a:avLst/>
            <a:gdLst/>
            <a:ahLst/>
            <a:cxnLst/>
            <a:rect l="l" t="t" r="r" b="b"/>
            <a:pathLst>
              <a:path w="5575012" h="2279877">
                <a:moveTo>
                  <a:pt x="0" y="0"/>
                </a:moveTo>
                <a:lnTo>
                  <a:pt x="5575012" y="0"/>
                </a:lnTo>
                <a:lnTo>
                  <a:pt x="5575012" y="2279877"/>
                </a:lnTo>
                <a:lnTo>
                  <a:pt x="0" y="2279877"/>
                </a:lnTo>
                <a:lnTo>
                  <a:pt x="0" y="0"/>
                </a:lnTo>
                <a:close/>
              </a:path>
            </a:pathLst>
          </a:custGeom>
          <a:solidFill>
            <a:srgbClr val="F9FAFB"/>
          </a:solidFill>
          <a:ln/>
        </p:spPr>
      </p:sp>
      <p:sp>
        <p:nvSpPr>
          <p:cNvPr id="13" name="Shape 11"/>
          <p:cNvSpPr/>
          <p:nvPr/>
        </p:nvSpPr>
        <p:spPr>
          <a:xfrm>
            <a:off x="374042" y="4114466"/>
            <a:ext cx="35623" cy="2279877"/>
          </a:xfrm>
          <a:custGeom>
            <a:avLst/>
            <a:gdLst/>
            <a:ahLst/>
            <a:cxnLst/>
            <a:rect l="l" t="t" r="r" b="b"/>
            <a:pathLst>
              <a:path w="35623" h="2279877">
                <a:moveTo>
                  <a:pt x="0" y="0"/>
                </a:moveTo>
                <a:lnTo>
                  <a:pt x="35623" y="0"/>
                </a:lnTo>
                <a:lnTo>
                  <a:pt x="35623" y="2279877"/>
                </a:lnTo>
                <a:lnTo>
                  <a:pt x="0" y="2279877"/>
                </a:lnTo>
                <a:lnTo>
                  <a:pt x="0" y="0"/>
                </a:lnTo>
                <a:close/>
              </a:path>
            </a:pathLst>
          </a:custGeom>
          <a:solidFill>
            <a:srgbClr val="8B0000"/>
          </a:solidFill>
          <a:ln/>
        </p:spPr>
      </p:sp>
      <p:sp>
        <p:nvSpPr>
          <p:cNvPr id="14" name="Text 12"/>
          <p:cNvSpPr/>
          <p:nvPr/>
        </p:nvSpPr>
        <p:spPr>
          <a:xfrm>
            <a:off x="605592" y="4328205"/>
            <a:ext cx="5218782" cy="249362"/>
          </a:xfrm>
          <a:prstGeom prst="rect">
            <a:avLst/>
          </a:prstGeom>
          <a:noFill/>
          <a:ln/>
        </p:spPr>
        <p:txBody>
          <a:bodyPr wrap="square" lIns="0" tIns="0" rIns="0" bIns="0" rtlCol="0" anchor="ctr"/>
          <a:lstStyle/>
          <a:p>
            <a:pPr>
              <a:lnSpc>
                <a:spcPct val="120000"/>
              </a:lnSpc>
            </a:pPr>
            <a:r>
              <a:rPr lang="en-US" sz="1402" b="1" dirty="0">
                <a:solidFill>
                  <a:srgbClr val="1F2937"/>
                </a:solidFill>
                <a:latin typeface="Sorts Mill Goudy" pitchFamily="34" charset="0"/>
                <a:ea typeface="Sorts Mill Goudy" pitchFamily="34" charset="-122"/>
                <a:cs typeface="Sorts Mill Goudy" pitchFamily="34" charset="-120"/>
              </a:rPr>
              <a:t>The Solution: Span Composition Layer</a:t>
            </a:r>
            <a:endParaRPr lang="en-US" sz="1600" dirty="0"/>
          </a:p>
        </p:txBody>
      </p:sp>
      <p:sp>
        <p:nvSpPr>
          <p:cNvPr id="15" name="Text 13"/>
          <p:cNvSpPr/>
          <p:nvPr/>
        </p:nvSpPr>
        <p:spPr>
          <a:xfrm>
            <a:off x="605592" y="4684435"/>
            <a:ext cx="5200970" cy="463100"/>
          </a:xfrm>
          <a:prstGeom prst="rect">
            <a:avLst/>
          </a:prstGeom>
          <a:noFill/>
          <a:ln/>
        </p:spPr>
        <p:txBody>
          <a:bodyPr wrap="square" lIns="0" tIns="0" rIns="0" bIns="0" rtlCol="0" anchor="ctr"/>
          <a:lstStyle/>
          <a:p>
            <a:pPr>
              <a:lnSpc>
                <a:spcPct val="140000"/>
              </a:lnSpc>
            </a:pPr>
            <a:r>
              <a:rPr lang="en-US" sz="1122" dirty="0">
                <a:solidFill>
                  <a:srgbClr val="1F2937"/>
                </a:solidFill>
                <a:latin typeface="Sorts Mill Goudy" pitchFamily="34" charset="0"/>
                <a:ea typeface="Sorts Mill Goudy" pitchFamily="34" charset="-122"/>
                <a:cs typeface="Sorts Mill Goudy" pitchFamily="34" charset="-120"/>
              </a:rPr>
              <a:t>Add a </a:t>
            </a:r>
            <a:r>
              <a:rPr lang="en-US" sz="1122" b="1" dirty="0">
                <a:solidFill>
                  <a:srgbClr val="1F2937"/>
                </a:solidFill>
                <a:latin typeface="Sorts Mill Goudy" pitchFamily="34" charset="0"/>
                <a:ea typeface="Sorts Mill Goudy" pitchFamily="34" charset="-122"/>
                <a:cs typeface="Sorts Mill Goudy" pitchFamily="34" charset="-120"/>
              </a:rPr>
              <a:t>second-stage span-composition layer</a:t>
            </a:r>
            <a:r>
              <a:rPr lang="en-US" sz="1122" dirty="0">
                <a:solidFill>
                  <a:srgbClr val="1F2937"/>
                </a:solidFill>
                <a:latin typeface="Sorts Mill Goudy" pitchFamily="34" charset="0"/>
                <a:ea typeface="Sorts Mill Goudy" pitchFamily="34" charset="-122"/>
                <a:cs typeface="Sorts Mill Goudy" pitchFamily="34" charset="-120"/>
              </a:rPr>
              <a:t> that aggregates compatible spans from multiple predicates:</a:t>
            </a:r>
            <a:endParaRPr lang="en-US" sz="1600" dirty="0"/>
          </a:p>
        </p:txBody>
      </p:sp>
      <p:sp>
        <p:nvSpPr>
          <p:cNvPr id="16" name="Text 14"/>
          <p:cNvSpPr/>
          <p:nvPr/>
        </p:nvSpPr>
        <p:spPr>
          <a:xfrm>
            <a:off x="605592" y="5325651"/>
            <a:ext cx="187021" cy="213738"/>
          </a:xfrm>
          <a:prstGeom prst="rect">
            <a:avLst/>
          </a:prstGeom>
          <a:noFill/>
          <a:ln/>
        </p:spPr>
        <p:txBody>
          <a:bodyPr wrap="square" lIns="0" tIns="0" rIns="0" bIns="0" rtlCol="0" anchor="ctr"/>
          <a:lstStyle/>
          <a:p>
            <a:pPr>
              <a:lnSpc>
                <a:spcPct val="130000"/>
              </a:lnSpc>
            </a:pPr>
            <a:r>
              <a:rPr lang="en-US" sz="1122"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17" name="Text 15"/>
          <p:cNvSpPr/>
          <p:nvPr/>
        </p:nvSpPr>
        <p:spPr>
          <a:xfrm>
            <a:off x="792614" y="5290028"/>
            <a:ext cx="3330758" cy="213738"/>
          </a:xfrm>
          <a:prstGeom prst="rect">
            <a:avLst/>
          </a:prstGeom>
          <a:noFill/>
          <a:ln/>
        </p:spPr>
        <p:txBody>
          <a:bodyPr wrap="square" lIns="0" tIns="0" rIns="0" bIns="0" rtlCol="0" anchor="ctr"/>
          <a:lstStyle/>
          <a:p>
            <a:pPr>
              <a:lnSpc>
                <a:spcPct val="130000"/>
              </a:lnSpc>
            </a:pPr>
            <a:r>
              <a:rPr lang="en-US" sz="1122" dirty="0">
                <a:solidFill>
                  <a:srgbClr val="1F2937"/>
                </a:solidFill>
                <a:latin typeface="Sorts Mill Goudy" pitchFamily="34" charset="0"/>
                <a:ea typeface="Sorts Mill Goudy" pitchFamily="34" charset="-122"/>
                <a:cs typeface="Sorts Mill Goudy" pitchFamily="34" charset="-120"/>
              </a:rPr>
              <a:t>Collect candidate spans from all predicates in context</a:t>
            </a:r>
            <a:endParaRPr lang="en-US" sz="1600" dirty="0"/>
          </a:p>
        </p:txBody>
      </p:sp>
      <p:sp>
        <p:nvSpPr>
          <p:cNvPr id="18" name="Text 16"/>
          <p:cNvSpPr/>
          <p:nvPr/>
        </p:nvSpPr>
        <p:spPr>
          <a:xfrm>
            <a:off x="605592" y="5646259"/>
            <a:ext cx="187021" cy="213738"/>
          </a:xfrm>
          <a:prstGeom prst="rect">
            <a:avLst/>
          </a:prstGeom>
          <a:noFill/>
          <a:ln/>
        </p:spPr>
        <p:txBody>
          <a:bodyPr wrap="square" lIns="0" tIns="0" rIns="0" bIns="0" rtlCol="0" anchor="ctr"/>
          <a:lstStyle/>
          <a:p>
            <a:pPr>
              <a:lnSpc>
                <a:spcPct val="130000"/>
              </a:lnSpc>
            </a:pPr>
            <a:r>
              <a:rPr lang="en-US" sz="1122"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19" name="Text 17"/>
          <p:cNvSpPr/>
          <p:nvPr/>
        </p:nvSpPr>
        <p:spPr>
          <a:xfrm>
            <a:off x="792614" y="5610636"/>
            <a:ext cx="2671731" cy="213738"/>
          </a:xfrm>
          <a:prstGeom prst="rect">
            <a:avLst/>
          </a:prstGeom>
          <a:noFill/>
          <a:ln/>
        </p:spPr>
        <p:txBody>
          <a:bodyPr wrap="square" lIns="0" tIns="0" rIns="0" bIns="0" rtlCol="0" anchor="ctr"/>
          <a:lstStyle/>
          <a:p>
            <a:pPr>
              <a:lnSpc>
                <a:spcPct val="130000"/>
              </a:lnSpc>
            </a:pPr>
            <a:r>
              <a:rPr lang="en-US" sz="1122" dirty="0">
                <a:solidFill>
                  <a:srgbClr val="1F2937"/>
                </a:solidFill>
                <a:latin typeface="Sorts Mill Goudy" pitchFamily="34" charset="0"/>
                <a:ea typeface="Sorts Mill Goudy" pitchFamily="34" charset="-122"/>
                <a:cs typeface="Sorts Mill Goudy" pitchFamily="34" charset="-120"/>
              </a:rPr>
              <a:t>Score compatibility with attention weights</a:t>
            </a:r>
            <a:endParaRPr lang="en-US" sz="1600" dirty="0"/>
          </a:p>
        </p:txBody>
      </p:sp>
      <p:sp>
        <p:nvSpPr>
          <p:cNvPr id="20" name="Text 18"/>
          <p:cNvSpPr/>
          <p:nvPr/>
        </p:nvSpPr>
        <p:spPr>
          <a:xfrm>
            <a:off x="605592" y="5966866"/>
            <a:ext cx="187021" cy="213738"/>
          </a:xfrm>
          <a:prstGeom prst="rect">
            <a:avLst/>
          </a:prstGeom>
          <a:noFill/>
          <a:ln/>
        </p:spPr>
        <p:txBody>
          <a:bodyPr wrap="square" lIns="0" tIns="0" rIns="0" bIns="0" rtlCol="0" anchor="ctr"/>
          <a:lstStyle/>
          <a:p>
            <a:pPr>
              <a:lnSpc>
                <a:spcPct val="130000"/>
              </a:lnSpc>
            </a:pPr>
            <a:r>
              <a:rPr lang="en-US" sz="1122"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21" name="Text 19"/>
          <p:cNvSpPr/>
          <p:nvPr/>
        </p:nvSpPr>
        <p:spPr>
          <a:xfrm>
            <a:off x="792614" y="5931243"/>
            <a:ext cx="4461791" cy="213738"/>
          </a:xfrm>
          <a:prstGeom prst="rect">
            <a:avLst/>
          </a:prstGeom>
          <a:noFill/>
          <a:ln/>
        </p:spPr>
        <p:txBody>
          <a:bodyPr wrap="square" lIns="0" tIns="0" rIns="0" bIns="0" rtlCol="0" anchor="ctr"/>
          <a:lstStyle/>
          <a:p>
            <a:pPr>
              <a:lnSpc>
                <a:spcPct val="130000"/>
              </a:lnSpc>
            </a:pPr>
            <a:r>
              <a:rPr lang="en-US" sz="1122" dirty="0">
                <a:solidFill>
                  <a:srgbClr val="1F2937"/>
                </a:solidFill>
                <a:latin typeface="Sorts Mill Goudy" pitchFamily="34" charset="0"/>
                <a:ea typeface="Sorts Mill Goudy" pitchFamily="34" charset="-122"/>
                <a:cs typeface="Sorts Mill Goudy" pitchFamily="34" charset="-120"/>
              </a:rPr>
              <a:t>Normalize over question relevance, frame confidence, entity consistency</a:t>
            </a:r>
            <a:endParaRPr lang="en-US" sz="1600" dirty="0"/>
          </a:p>
        </p:txBody>
      </p:sp>
      <p:sp>
        <p:nvSpPr>
          <p:cNvPr id="22" name="Shape 20"/>
          <p:cNvSpPr/>
          <p:nvPr/>
        </p:nvSpPr>
        <p:spPr>
          <a:xfrm>
            <a:off x="6237936" y="1175562"/>
            <a:ext cx="5592824" cy="3437627"/>
          </a:xfrm>
          <a:custGeom>
            <a:avLst/>
            <a:gdLst/>
            <a:ahLst/>
            <a:cxnLst/>
            <a:rect l="l" t="t" r="r" b="b"/>
            <a:pathLst>
              <a:path w="5592824" h="3437627">
                <a:moveTo>
                  <a:pt x="0" y="0"/>
                </a:moveTo>
                <a:lnTo>
                  <a:pt x="5592824" y="0"/>
                </a:lnTo>
                <a:lnTo>
                  <a:pt x="5592824" y="3437627"/>
                </a:lnTo>
                <a:lnTo>
                  <a:pt x="0" y="3437627"/>
                </a:lnTo>
                <a:lnTo>
                  <a:pt x="0" y="0"/>
                </a:lnTo>
                <a:close/>
              </a:path>
            </a:pathLst>
          </a:custGeom>
          <a:solidFill>
            <a:srgbClr val="F9FAFB"/>
          </a:solidFill>
          <a:ln/>
        </p:spPr>
      </p:sp>
      <p:sp>
        <p:nvSpPr>
          <p:cNvPr id="23" name="Text 21"/>
          <p:cNvSpPr/>
          <p:nvPr/>
        </p:nvSpPr>
        <p:spPr>
          <a:xfrm>
            <a:off x="6451674" y="1389300"/>
            <a:ext cx="5254405" cy="249362"/>
          </a:xfrm>
          <a:prstGeom prst="rect">
            <a:avLst/>
          </a:prstGeom>
          <a:noFill/>
          <a:ln/>
        </p:spPr>
        <p:txBody>
          <a:bodyPr wrap="square" lIns="0" tIns="0" rIns="0" bIns="0" rtlCol="0" anchor="ctr"/>
          <a:lstStyle/>
          <a:p>
            <a:pPr>
              <a:lnSpc>
                <a:spcPct val="120000"/>
              </a:lnSpc>
            </a:pPr>
            <a:r>
              <a:rPr lang="en-US" sz="1402" b="1" dirty="0">
                <a:solidFill>
                  <a:srgbClr val="1F2937"/>
                </a:solidFill>
                <a:latin typeface="Sorts Mill Goudy" pitchFamily="34" charset="0"/>
                <a:ea typeface="Sorts Mill Goudy" pitchFamily="34" charset="-122"/>
                <a:cs typeface="Sorts Mill Goudy" pitchFamily="34" charset="-120"/>
              </a:rPr>
              <a:t>Attention Weighting Factors</a:t>
            </a:r>
            <a:endParaRPr lang="en-US" sz="1600" dirty="0"/>
          </a:p>
        </p:txBody>
      </p:sp>
      <p:sp>
        <p:nvSpPr>
          <p:cNvPr id="24" name="Shape 22"/>
          <p:cNvSpPr/>
          <p:nvPr/>
        </p:nvSpPr>
        <p:spPr>
          <a:xfrm>
            <a:off x="6456127" y="1785607"/>
            <a:ext cx="5156441" cy="792614"/>
          </a:xfrm>
          <a:custGeom>
            <a:avLst/>
            <a:gdLst/>
            <a:ahLst/>
            <a:cxnLst/>
            <a:rect l="l" t="t" r="r" b="b"/>
            <a:pathLst>
              <a:path w="5156441" h="792614">
                <a:moveTo>
                  <a:pt x="0" y="0"/>
                </a:moveTo>
                <a:lnTo>
                  <a:pt x="5156441" y="0"/>
                </a:lnTo>
                <a:lnTo>
                  <a:pt x="5156441" y="792614"/>
                </a:lnTo>
                <a:lnTo>
                  <a:pt x="0" y="792614"/>
                </a:lnTo>
                <a:lnTo>
                  <a:pt x="0" y="0"/>
                </a:lnTo>
                <a:close/>
              </a:path>
            </a:pathLst>
          </a:custGeom>
          <a:solidFill>
            <a:srgbClr val="FFFFFF"/>
          </a:solidFill>
          <a:ln w="12700">
            <a:solidFill>
              <a:srgbClr val="E5E7EB"/>
            </a:solidFill>
            <a:prstDash val="solid"/>
          </a:ln>
        </p:spPr>
      </p:sp>
      <p:sp>
        <p:nvSpPr>
          <p:cNvPr id="25" name="Shape 23"/>
          <p:cNvSpPr/>
          <p:nvPr/>
        </p:nvSpPr>
        <p:spPr>
          <a:xfrm>
            <a:off x="6620884" y="1968175"/>
            <a:ext cx="142492" cy="142492"/>
          </a:xfrm>
          <a:custGeom>
            <a:avLst/>
            <a:gdLst/>
            <a:ahLst/>
            <a:cxnLst/>
            <a:rect l="l" t="t" r="r" b="b"/>
            <a:pathLst>
              <a:path w="142492" h="142492">
                <a:moveTo>
                  <a:pt x="71246" y="142492"/>
                </a:moveTo>
                <a:cubicBezTo>
                  <a:pt x="110568" y="142492"/>
                  <a:pt x="142492" y="110568"/>
                  <a:pt x="142492" y="71246"/>
                </a:cubicBezTo>
                <a:cubicBezTo>
                  <a:pt x="142492" y="31924"/>
                  <a:pt x="110568" y="0"/>
                  <a:pt x="71246" y="0"/>
                </a:cubicBezTo>
                <a:cubicBezTo>
                  <a:pt x="31924" y="0"/>
                  <a:pt x="0" y="31924"/>
                  <a:pt x="0" y="71246"/>
                </a:cubicBezTo>
                <a:cubicBezTo>
                  <a:pt x="0" y="110568"/>
                  <a:pt x="31924" y="142492"/>
                  <a:pt x="71246" y="142492"/>
                </a:cubicBezTo>
                <a:close/>
                <a:moveTo>
                  <a:pt x="71246" y="48982"/>
                </a:moveTo>
                <a:cubicBezTo>
                  <a:pt x="66320" y="48982"/>
                  <a:pt x="62340" y="52962"/>
                  <a:pt x="62340" y="57888"/>
                </a:cubicBezTo>
                <a:cubicBezTo>
                  <a:pt x="62340" y="61589"/>
                  <a:pt x="59363" y="64567"/>
                  <a:pt x="55661" y="64567"/>
                </a:cubicBezTo>
                <a:cubicBezTo>
                  <a:pt x="51960" y="64567"/>
                  <a:pt x="48982" y="61589"/>
                  <a:pt x="48982" y="57888"/>
                </a:cubicBezTo>
                <a:cubicBezTo>
                  <a:pt x="48982" y="45586"/>
                  <a:pt x="58945" y="35623"/>
                  <a:pt x="71246" y="35623"/>
                </a:cubicBezTo>
                <a:cubicBezTo>
                  <a:pt x="83547" y="35623"/>
                  <a:pt x="93511" y="45586"/>
                  <a:pt x="93511" y="57888"/>
                </a:cubicBezTo>
                <a:cubicBezTo>
                  <a:pt x="93511" y="71024"/>
                  <a:pt x="83492" y="76590"/>
                  <a:pt x="77925" y="78621"/>
                </a:cubicBezTo>
                <a:lnTo>
                  <a:pt x="77925" y="79679"/>
                </a:lnTo>
                <a:cubicBezTo>
                  <a:pt x="77925" y="83380"/>
                  <a:pt x="74948" y="86358"/>
                  <a:pt x="71246" y="86358"/>
                </a:cubicBezTo>
                <a:cubicBezTo>
                  <a:pt x="67545" y="86358"/>
                  <a:pt x="64567" y="83380"/>
                  <a:pt x="64567" y="79679"/>
                </a:cubicBezTo>
                <a:lnTo>
                  <a:pt x="64567" y="77425"/>
                </a:lnTo>
                <a:cubicBezTo>
                  <a:pt x="64567" y="71719"/>
                  <a:pt x="68686" y="67628"/>
                  <a:pt x="72944" y="66237"/>
                </a:cubicBezTo>
                <a:cubicBezTo>
                  <a:pt x="74725" y="65652"/>
                  <a:pt x="76617" y="64706"/>
                  <a:pt x="78009" y="63370"/>
                </a:cubicBezTo>
                <a:cubicBezTo>
                  <a:pt x="79206" y="62201"/>
                  <a:pt x="80152" y="60587"/>
                  <a:pt x="80152" y="57915"/>
                </a:cubicBezTo>
                <a:cubicBezTo>
                  <a:pt x="80152" y="52989"/>
                  <a:pt x="76172" y="49010"/>
                  <a:pt x="71246" y="49010"/>
                </a:cubicBezTo>
                <a:close/>
                <a:moveTo>
                  <a:pt x="62340" y="102416"/>
                </a:moveTo>
                <a:cubicBezTo>
                  <a:pt x="62340" y="97501"/>
                  <a:pt x="66331" y="93511"/>
                  <a:pt x="71246" y="93511"/>
                </a:cubicBezTo>
                <a:cubicBezTo>
                  <a:pt x="76161" y="93511"/>
                  <a:pt x="80152" y="97501"/>
                  <a:pt x="80152" y="102416"/>
                </a:cubicBezTo>
                <a:cubicBezTo>
                  <a:pt x="80152" y="107332"/>
                  <a:pt x="76161" y="111322"/>
                  <a:pt x="71246" y="111322"/>
                </a:cubicBezTo>
                <a:cubicBezTo>
                  <a:pt x="66331" y="111322"/>
                  <a:pt x="62340" y="107332"/>
                  <a:pt x="62340" y="102416"/>
                </a:cubicBezTo>
                <a:close/>
              </a:path>
            </a:pathLst>
          </a:custGeom>
          <a:solidFill>
            <a:srgbClr val="8B0000"/>
          </a:solidFill>
          <a:ln/>
        </p:spPr>
      </p:sp>
      <p:sp>
        <p:nvSpPr>
          <p:cNvPr id="26" name="Text 24"/>
          <p:cNvSpPr/>
          <p:nvPr/>
        </p:nvSpPr>
        <p:spPr>
          <a:xfrm>
            <a:off x="6888057" y="1932552"/>
            <a:ext cx="1309148" cy="213738"/>
          </a:xfrm>
          <a:prstGeom prst="rect">
            <a:avLst/>
          </a:prstGeom>
          <a:noFill/>
          <a:ln/>
        </p:spPr>
        <p:txBody>
          <a:bodyPr wrap="square" lIns="0" tIns="0" rIns="0" bIns="0" rtlCol="0" anchor="ctr"/>
          <a:lstStyle/>
          <a:p>
            <a:pPr>
              <a:lnSpc>
                <a:spcPct val="130000"/>
              </a:lnSpc>
            </a:pPr>
            <a:r>
              <a:rPr lang="en-US" sz="1122" b="1" dirty="0">
                <a:solidFill>
                  <a:srgbClr val="1F2937"/>
                </a:solidFill>
                <a:latin typeface="Sorts Mill Goudy" pitchFamily="34" charset="0"/>
                <a:ea typeface="Sorts Mill Goudy" pitchFamily="34" charset="-122"/>
                <a:cs typeface="Sorts Mill Goudy" pitchFamily="34" charset="-120"/>
              </a:rPr>
              <a:t>Question Relevance</a:t>
            </a:r>
            <a:endParaRPr lang="en-US" sz="1600" dirty="0"/>
          </a:p>
        </p:txBody>
      </p:sp>
      <p:sp>
        <p:nvSpPr>
          <p:cNvPr id="27" name="Text 25"/>
          <p:cNvSpPr/>
          <p:nvPr/>
        </p:nvSpPr>
        <p:spPr>
          <a:xfrm>
            <a:off x="6603072" y="2217537"/>
            <a:ext cx="4933797" cy="213738"/>
          </a:xfrm>
          <a:prstGeom prst="rect">
            <a:avLst/>
          </a:prstGeom>
          <a:noFill/>
          <a:ln/>
        </p:spPr>
        <p:txBody>
          <a:bodyPr wrap="square" lIns="0" tIns="0" rIns="0" bIns="0" rtlCol="0" anchor="ctr"/>
          <a:lstStyle/>
          <a:p>
            <a:pPr>
              <a:lnSpc>
                <a:spcPct val="130000"/>
              </a:lnSpc>
            </a:pPr>
            <a:r>
              <a:rPr lang="en-US" sz="1122" dirty="0">
                <a:solidFill>
                  <a:srgbClr val="6B7280"/>
                </a:solidFill>
                <a:latin typeface="Sorts Mill Goudy" pitchFamily="34" charset="0"/>
                <a:ea typeface="Sorts Mill Goudy" pitchFamily="34" charset="-122"/>
                <a:cs typeface="Sorts Mill Goudy" pitchFamily="34" charset="-120"/>
              </a:rPr>
              <a:t>How well does the span address the wh-question type?</a:t>
            </a:r>
            <a:endParaRPr lang="en-US" sz="1600" dirty="0"/>
          </a:p>
        </p:txBody>
      </p:sp>
      <p:sp>
        <p:nvSpPr>
          <p:cNvPr id="28" name="Shape 26"/>
          <p:cNvSpPr/>
          <p:nvPr/>
        </p:nvSpPr>
        <p:spPr>
          <a:xfrm>
            <a:off x="6456127" y="2693996"/>
            <a:ext cx="5156441" cy="792614"/>
          </a:xfrm>
          <a:custGeom>
            <a:avLst/>
            <a:gdLst/>
            <a:ahLst/>
            <a:cxnLst/>
            <a:rect l="l" t="t" r="r" b="b"/>
            <a:pathLst>
              <a:path w="5156441" h="792614">
                <a:moveTo>
                  <a:pt x="0" y="0"/>
                </a:moveTo>
                <a:lnTo>
                  <a:pt x="5156441" y="0"/>
                </a:lnTo>
                <a:lnTo>
                  <a:pt x="5156441" y="792614"/>
                </a:lnTo>
                <a:lnTo>
                  <a:pt x="0" y="792614"/>
                </a:lnTo>
                <a:lnTo>
                  <a:pt x="0" y="0"/>
                </a:lnTo>
                <a:close/>
              </a:path>
            </a:pathLst>
          </a:custGeom>
          <a:solidFill>
            <a:srgbClr val="FFFFFF"/>
          </a:solidFill>
          <a:ln w="12700">
            <a:solidFill>
              <a:srgbClr val="E5E7EB"/>
            </a:solidFill>
            <a:prstDash val="solid"/>
          </a:ln>
        </p:spPr>
      </p:sp>
      <p:sp>
        <p:nvSpPr>
          <p:cNvPr id="29" name="Shape 27"/>
          <p:cNvSpPr/>
          <p:nvPr/>
        </p:nvSpPr>
        <p:spPr>
          <a:xfrm>
            <a:off x="6620884" y="2876564"/>
            <a:ext cx="142492" cy="142492"/>
          </a:xfrm>
          <a:custGeom>
            <a:avLst/>
            <a:gdLst/>
            <a:ahLst/>
            <a:cxnLst/>
            <a:rect l="l" t="t" r="r" b="b"/>
            <a:pathLst>
              <a:path w="142492" h="142492">
                <a:moveTo>
                  <a:pt x="124681" y="71246"/>
                </a:moveTo>
                <a:cubicBezTo>
                  <a:pt x="124681" y="41755"/>
                  <a:pt x="100738" y="17812"/>
                  <a:pt x="71246" y="17812"/>
                </a:cubicBezTo>
                <a:cubicBezTo>
                  <a:pt x="41755" y="17812"/>
                  <a:pt x="17812" y="41755"/>
                  <a:pt x="17812" y="71246"/>
                </a:cubicBezTo>
                <a:cubicBezTo>
                  <a:pt x="17812" y="100738"/>
                  <a:pt x="41755" y="124681"/>
                  <a:pt x="71246" y="124681"/>
                </a:cubicBezTo>
                <a:cubicBezTo>
                  <a:pt x="100738" y="124681"/>
                  <a:pt x="124681" y="100738"/>
                  <a:pt x="124681" y="71246"/>
                </a:cubicBezTo>
                <a:close/>
                <a:moveTo>
                  <a:pt x="0" y="71246"/>
                </a:moveTo>
                <a:cubicBezTo>
                  <a:pt x="0" y="31924"/>
                  <a:pt x="31924" y="0"/>
                  <a:pt x="71246" y="0"/>
                </a:cubicBezTo>
                <a:cubicBezTo>
                  <a:pt x="110568" y="0"/>
                  <a:pt x="142492" y="31924"/>
                  <a:pt x="142492" y="71246"/>
                </a:cubicBezTo>
                <a:cubicBezTo>
                  <a:pt x="142492" y="110568"/>
                  <a:pt x="110568" y="142492"/>
                  <a:pt x="71246" y="142492"/>
                </a:cubicBezTo>
                <a:cubicBezTo>
                  <a:pt x="31924" y="142492"/>
                  <a:pt x="0" y="110568"/>
                  <a:pt x="0" y="71246"/>
                </a:cubicBezTo>
                <a:close/>
                <a:moveTo>
                  <a:pt x="71246" y="93511"/>
                </a:moveTo>
                <a:cubicBezTo>
                  <a:pt x="83534" y="93511"/>
                  <a:pt x="93511" y="83534"/>
                  <a:pt x="93511" y="71246"/>
                </a:cubicBezTo>
                <a:cubicBezTo>
                  <a:pt x="93511" y="58958"/>
                  <a:pt x="83534" y="48982"/>
                  <a:pt x="71246" y="48982"/>
                </a:cubicBezTo>
                <a:cubicBezTo>
                  <a:pt x="58958" y="48982"/>
                  <a:pt x="48982" y="58958"/>
                  <a:pt x="48982" y="71246"/>
                </a:cubicBezTo>
                <a:cubicBezTo>
                  <a:pt x="48982" y="83534"/>
                  <a:pt x="58958" y="93511"/>
                  <a:pt x="71246" y="93511"/>
                </a:cubicBezTo>
                <a:close/>
                <a:moveTo>
                  <a:pt x="71246" y="31170"/>
                </a:moveTo>
                <a:cubicBezTo>
                  <a:pt x="93365" y="31170"/>
                  <a:pt x="111322" y="49128"/>
                  <a:pt x="111322" y="71246"/>
                </a:cubicBezTo>
                <a:cubicBezTo>
                  <a:pt x="111322" y="93365"/>
                  <a:pt x="93365" y="111322"/>
                  <a:pt x="71246" y="111322"/>
                </a:cubicBezTo>
                <a:cubicBezTo>
                  <a:pt x="49128" y="111322"/>
                  <a:pt x="31170" y="93365"/>
                  <a:pt x="31170" y="71246"/>
                </a:cubicBezTo>
                <a:cubicBezTo>
                  <a:pt x="31170" y="49128"/>
                  <a:pt x="49128" y="31170"/>
                  <a:pt x="71246" y="31170"/>
                </a:cubicBezTo>
                <a:close/>
                <a:moveTo>
                  <a:pt x="62340" y="71246"/>
                </a:moveTo>
                <a:cubicBezTo>
                  <a:pt x="62340" y="66331"/>
                  <a:pt x="66331" y="62340"/>
                  <a:pt x="71246" y="62340"/>
                </a:cubicBezTo>
                <a:cubicBezTo>
                  <a:pt x="76161" y="62340"/>
                  <a:pt x="80152" y="66331"/>
                  <a:pt x="80152" y="71246"/>
                </a:cubicBezTo>
                <a:cubicBezTo>
                  <a:pt x="80152" y="76161"/>
                  <a:pt x="76161" y="80152"/>
                  <a:pt x="71246" y="80152"/>
                </a:cubicBezTo>
                <a:cubicBezTo>
                  <a:pt x="66331" y="80152"/>
                  <a:pt x="62340" y="76161"/>
                  <a:pt x="62340" y="71246"/>
                </a:cubicBezTo>
                <a:close/>
              </a:path>
            </a:pathLst>
          </a:custGeom>
          <a:solidFill>
            <a:srgbClr val="8B0000"/>
          </a:solidFill>
          <a:ln/>
        </p:spPr>
      </p:sp>
      <p:sp>
        <p:nvSpPr>
          <p:cNvPr id="30" name="Text 28"/>
          <p:cNvSpPr/>
          <p:nvPr/>
        </p:nvSpPr>
        <p:spPr>
          <a:xfrm>
            <a:off x="6888057" y="2840941"/>
            <a:ext cx="1202279" cy="213738"/>
          </a:xfrm>
          <a:prstGeom prst="rect">
            <a:avLst/>
          </a:prstGeom>
          <a:noFill/>
          <a:ln/>
        </p:spPr>
        <p:txBody>
          <a:bodyPr wrap="square" lIns="0" tIns="0" rIns="0" bIns="0" rtlCol="0" anchor="ctr"/>
          <a:lstStyle/>
          <a:p>
            <a:pPr>
              <a:lnSpc>
                <a:spcPct val="130000"/>
              </a:lnSpc>
            </a:pPr>
            <a:r>
              <a:rPr lang="en-US" sz="1122" b="1" dirty="0">
                <a:solidFill>
                  <a:srgbClr val="1F2937"/>
                </a:solidFill>
                <a:latin typeface="Sorts Mill Goudy" pitchFamily="34" charset="0"/>
                <a:ea typeface="Sorts Mill Goudy" pitchFamily="34" charset="-122"/>
                <a:cs typeface="Sorts Mill Goudy" pitchFamily="34" charset="-120"/>
              </a:rPr>
              <a:t>Frame Confidence</a:t>
            </a:r>
            <a:endParaRPr lang="en-US" sz="1600" dirty="0"/>
          </a:p>
        </p:txBody>
      </p:sp>
      <p:sp>
        <p:nvSpPr>
          <p:cNvPr id="31" name="Text 29"/>
          <p:cNvSpPr/>
          <p:nvPr/>
        </p:nvSpPr>
        <p:spPr>
          <a:xfrm>
            <a:off x="6603072" y="3125925"/>
            <a:ext cx="4933797" cy="213738"/>
          </a:xfrm>
          <a:prstGeom prst="rect">
            <a:avLst/>
          </a:prstGeom>
          <a:noFill/>
          <a:ln/>
        </p:spPr>
        <p:txBody>
          <a:bodyPr wrap="square" lIns="0" tIns="0" rIns="0" bIns="0" rtlCol="0" anchor="ctr"/>
          <a:lstStyle/>
          <a:p>
            <a:pPr>
              <a:lnSpc>
                <a:spcPct val="130000"/>
              </a:lnSpc>
            </a:pPr>
            <a:r>
              <a:rPr lang="en-US" sz="1122" dirty="0">
                <a:solidFill>
                  <a:srgbClr val="6B7280"/>
                </a:solidFill>
                <a:latin typeface="Sorts Mill Goudy" pitchFamily="34" charset="0"/>
                <a:ea typeface="Sorts Mill Goudy" pitchFamily="34" charset="-122"/>
                <a:cs typeface="Sorts Mill Goudy" pitchFamily="34" charset="-120"/>
              </a:rPr>
              <a:t>SRL model's confidence in role assignment</a:t>
            </a:r>
            <a:endParaRPr lang="en-US" sz="1600" dirty="0"/>
          </a:p>
        </p:txBody>
      </p:sp>
      <p:sp>
        <p:nvSpPr>
          <p:cNvPr id="32" name="Shape 30"/>
          <p:cNvSpPr/>
          <p:nvPr/>
        </p:nvSpPr>
        <p:spPr>
          <a:xfrm>
            <a:off x="6456127" y="3602384"/>
            <a:ext cx="5156441" cy="792614"/>
          </a:xfrm>
          <a:custGeom>
            <a:avLst/>
            <a:gdLst/>
            <a:ahLst/>
            <a:cxnLst/>
            <a:rect l="l" t="t" r="r" b="b"/>
            <a:pathLst>
              <a:path w="5156441" h="792614">
                <a:moveTo>
                  <a:pt x="0" y="0"/>
                </a:moveTo>
                <a:lnTo>
                  <a:pt x="5156441" y="0"/>
                </a:lnTo>
                <a:lnTo>
                  <a:pt x="5156441" y="792614"/>
                </a:lnTo>
                <a:lnTo>
                  <a:pt x="0" y="792614"/>
                </a:lnTo>
                <a:lnTo>
                  <a:pt x="0" y="0"/>
                </a:lnTo>
                <a:close/>
              </a:path>
            </a:pathLst>
          </a:custGeom>
          <a:solidFill>
            <a:srgbClr val="FFFFFF"/>
          </a:solidFill>
          <a:ln w="12700">
            <a:solidFill>
              <a:srgbClr val="E5E7EB"/>
            </a:solidFill>
            <a:prstDash val="solid"/>
          </a:ln>
        </p:spPr>
      </p:sp>
      <p:sp>
        <p:nvSpPr>
          <p:cNvPr id="33" name="Shape 31"/>
          <p:cNvSpPr/>
          <p:nvPr/>
        </p:nvSpPr>
        <p:spPr>
          <a:xfrm>
            <a:off x="6611978" y="3784953"/>
            <a:ext cx="160304" cy="142492"/>
          </a:xfrm>
          <a:custGeom>
            <a:avLst/>
            <a:gdLst/>
            <a:ahLst/>
            <a:cxnLst/>
            <a:rect l="l" t="t" r="r" b="b"/>
            <a:pathLst>
              <a:path w="160304" h="142492">
                <a:moveTo>
                  <a:pt x="116749" y="26717"/>
                </a:moveTo>
                <a:cubicBezTo>
                  <a:pt x="112129" y="26717"/>
                  <a:pt x="107649" y="27970"/>
                  <a:pt x="103724" y="30252"/>
                </a:cubicBezTo>
                <a:cubicBezTo>
                  <a:pt x="99327" y="25799"/>
                  <a:pt x="94206" y="22070"/>
                  <a:pt x="88557" y="19259"/>
                </a:cubicBezTo>
                <a:cubicBezTo>
                  <a:pt x="96405" y="12579"/>
                  <a:pt x="106396" y="8906"/>
                  <a:pt x="116749" y="8906"/>
                </a:cubicBezTo>
                <a:cubicBezTo>
                  <a:pt x="140795" y="8906"/>
                  <a:pt x="160304" y="28387"/>
                  <a:pt x="160304" y="52461"/>
                </a:cubicBezTo>
                <a:cubicBezTo>
                  <a:pt x="160304" y="64010"/>
                  <a:pt x="155712" y="75087"/>
                  <a:pt x="147557" y="83241"/>
                </a:cubicBezTo>
                <a:lnTo>
                  <a:pt x="127770" y="103029"/>
                </a:lnTo>
                <a:cubicBezTo>
                  <a:pt x="119616" y="111183"/>
                  <a:pt x="108539" y="115775"/>
                  <a:pt x="96989" y="115775"/>
                </a:cubicBezTo>
                <a:cubicBezTo>
                  <a:pt x="72944" y="115775"/>
                  <a:pt x="53435" y="96294"/>
                  <a:pt x="53435" y="72220"/>
                </a:cubicBezTo>
                <a:cubicBezTo>
                  <a:pt x="53435" y="71803"/>
                  <a:pt x="53435" y="71385"/>
                  <a:pt x="53462" y="70968"/>
                </a:cubicBezTo>
                <a:cubicBezTo>
                  <a:pt x="53602" y="66042"/>
                  <a:pt x="57693" y="62173"/>
                  <a:pt x="62619" y="62313"/>
                </a:cubicBezTo>
                <a:cubicBezTo>
                  <a:pt x="67545" y="62452"/>
                  <a:pt x="71413" y="66543"/>
                  <a:pt x="71274" y="71469"/>
                </a:cubicBezTo>
                <a:cubicBezTo>
                  <a:pt x="71274" y="71719"/>
                  <a:pt x="71274" y="71970"/>
                  <a:pt x="71274" y="72192"/>
                </a:cubicBezTo>
                <a:cubicBezTo>
                  <a:pt x="71274" y="86414"/>
                  <a:pt x="82796" y="97936"/>
                  <a:pt x="97017" y="97936"/>
                </a:cubicBezTo>
                <a:cubicBezTo>
                  <a:pt x="103836" y="97936"/>
                  <a:pt x="110376" y="95236"/>
                  <a:pt x="115218" y="90394"/>
                </a:cubicBezTo>
                <a:lnTo>
                  <a:pt x="135006" y="70606"/>
                </a:lnTo>
                <a:cubicBezTo>
                  <a:pt x="139821" y="65791"/>
                  <a:pt x="142548" y="59223"/>
                  <a:pt x="142548" y="52405"/>
                </a:cubicBezTo>
                <a:cubicBezTo>
                  <a:pt x="142548" y="38183"/>
                  <a:pt x="131026" y="26662"/>
                  <a:pt x="116805" y="26662"/>
                </a:cubicBezTo>
                <a:close/>
                <a:moveTo>
                  <a:pt x="76590" y="48230"/>
                </a:moveTo>
                <a:cubicBezTo>
                  <a:pt x="76061" y="48008"/>
                  <a:pt x="75532" y="47702"/>
                  <a:pt x="75059" y="47368"/>
                </a:cubicBezTo>
                <a:cubicBezTo>
                  <a:pt x="71552" y="45559"/>
                  <a:pt x="67545" y="44529"/>
                  <a:pt x="63342" y="44529"/>
                </a:cubicBezTo>
                <a:cubicBezTo>
                  <a:pt x="56524" y="44529"/>
                  <a:pt x="49984" y="47228"/>
                  <a:pt x="45141" y="52071"/>
                </a:cubicBezTo>
                <a:lnTo>
                  <a:pt x="25354" y="71858"/>
                </a:lnTo>
                <a:cubicBezTo>
                  <a:pt x="20539" y="76673"/>
                  <a:pt x="17812" y="83241"/>
                  <a:pt x="17812" y="90060"/>
                </a:cubicBezTo>
                <a:cubicBezTo>
                  <a:pt x="17812" y="104281"/>
                  <a:pt x="29333" y="115803"/>
                  <a:pt x="43555" y="115803"/>
                </a:cubicBezTo>
                <a:cubicBezTo>
                  <a:pt x="48147" y="115803"/>
                  <a:pt x="52628" y="114578"/>
                  <a:pt x="56552" y="112296"/>
                </a:cubicBezTo>
                <a:cubicBezTo>
                  <a:pt x="60949" y="116749"/>
                  <a:pt x="66070" y="120478"/>
                  <a:pt x="71747" y="123289"/>
                </a:cubicBezTo>
                <a:cubicBezTo>
                  <a:pt x="63899" y="129941"/>
                  <a:pt x="53936" y="133642"/>
                  <a:pt x="43555" y="133642"/>
                </a:cubicBezTo>
                <a:cubicBezTo>
                  <a:pt x="19509" y="133642"/>
                  <a:pt x="0" y="114161"/>
                  <a:pt x="0" y="90087"/>
                </a:cubicBezTo>
                <a:cubicBezTo>
                  <a:pt x="0" y="78538"/>
                  <a:pt x="4592" y="67461"/>
                  <a:pt x="12746" y="59307"/>
                </a:cubicBezTo>
                <a:lnTo>
                  <a:pt x="32534" y="39519"/>
                </a:lnTo>
                <a:cubicBezTo>
                  <a:pt x="40688" y="31365"/>
                  <a:pt x="51765" y="26773"/>
                  <a:pt x="63314" y="26773"/>
                </a:cubicBezTo>
                <a:cubicBezTo>
                  <a:pt x="87416" y="26773"/>
                  <a:pt x="106869" y="46421"/>
                  <a:pt x="106869" y="70439"/>
                </a:cubicBezTo>
                <a:cubicBezTo>
                  <a:pt x="106869" y="70801"/>
                  <a:pt x="106869" y="71163"/>
                  <a:pt x="106869" y="71524"/>
                </a:cubicBezTo>
                <a:cubicBezTo>
                  <a:pt x="106758" y="76450"/>
                  <a:pt x="102667" y="80319"/>
                  <a:pt x="97741" y="80208"/>
                </a:cubicBezTo>
                <a:cubicBezTo>
                  <a:pt x="92815" y="80096"/>
                  <a:pt x="88946" y="76005"/>
                  <a:pt x="89058" y="71079"/>
                </a:cubicBezTo>
                <a:cubicBezTo>
                  <a:pt x="89058" y="70857"/>
                  <a:pt x="89058" y="70662"/>
                  <a:pt x="89058" y="70439"/>
                </a:cubicBezTo>
                <a:cubicBezTo>
                  <a:pt x="89058" y="61060"/>
                  <a:pt x="84048" y="52822"/>
                  <a:pt x="76590" y="48286"/>
                </a:cubicBezTo>
                <a:close/>
              </a:path>
            </a:pathLst>
          </a:custGeom>
          <a:solidFill>
            <a:srgbClr val="8B0000"/>
          </a:solidFill>
          <a:ln/>
        </p:spPr>
      </p:sp>
      <p:sp>
        <p:nvSpPr>
          <p:cNvPr id="34" name="Text 32"/>
          <p:cNvSpPr/>
          <p:nvPr/>
        </p:nvSpPr>
        <p:spPr>
          <a:xfrm>
            <a:off x="6888057" y="3749329"/>
            <a:ext cx="1246808" cy="213738"/>
          </a:xfrm>
          <a:prstGeom prst="rect">
            <a:avLst/>
          </a:prstGeom>
          <a:noFill/>
          <a:ln/>
        </p:spPr>
        <p:txBody>
          <a:bodyPr wrap="square" lIns="0" tIns="0" rIns="0" bIns="0" rtlCol="0" anchor="ctr"/>
          <a:lstStyle/>
          <a:p>
            <a:pPr>
              <a:lnSpc>
                <a:spcPct val="130000"/>
              </a:lnSpc>
            </a:pPr>
            <a:r>
              <a:rPr lang="en-US" sz="1122" b="1" dirty="0">
                <a:solidFill>
                  <a:srgbClr val="1F2937"/>
                </a:solidFill>
                <a:latin typeface="Sorts Mill Goudy" pitchFamily="34" charset="0"/>
                <a:ea typeface="Sorts Mill Goudy" pitchFamily="34" charset="-122"/>
                <a:cs typeface="Sorts Mill Goudy" pitchFamily="34" charset="-120"/>
              </a:rPr>
              <a:t>Entity Consistency</a:t>
            </a:r>
            <a:endParaRPr lang="en-US" sz="1600" dirty="0"/>
          </a:p>
        </p:txBody>
      </p:sp>
      <p:sp>
        <p:nvSpPr>
          <p:cNvPr id="35" name="Text 33"/>
          <p:cNvSpPr/>
          <p:nvPr/>
        </p:nvSpPr>
        <p:spPr>
          <a:xfrm>
            <a:off x="6603072" y="4034314"/>
            <a:ext cx="4933797" cy="213738"/>
          </a:xfrm>
          <a:prstGeom prst="rect">
            <a:avLst/>
          </a:prstGeom>
          <a:noFill/>
          <a:ln/>
        </p:spPr>
        <p:txBody>
          <a:bodyPr wrap="square" lIns="0" tIns="0" rIns="0" bIns="0" rtlCol="0" anchor="ctr"/>
          <a:lstStyle/>
          <a:p>
            <a:pPr>
              <a:lnSpc>
                <a:spcPct val="130000"/>
              </a:lnSpc>
            </a:pPr>
            <a:r>
              <a:rPr lang="en-US" sz="1122" dirty="0">
                <a:solidFill>
                  <a:srgbClr val="6B7280"/>
                </a:solidFill>
                <a:latin typeface="Sorts Mill Goudy" pitchFamily="34" charset="0"/>
                <a:ea typeface="Sorts Mill Goudy" pitchFamily="34" charset="-122"/>
                <a:cs typeface="Sorts Mill Goudy" pitchFamily="34" charset="-120"/>
              </a:rPr>
              <a:t>Coreference and entity linking compatibility</a:t>
            </a:r>
            <a:endParaRPr lang="en-US" sz="1600" dirty="0"/>
          </a:p>
        </p:txBody>
      </p:sp>
      <p:sp>
        <p:nvSpPr>
          <p:cNvPr id="36" name="Shape 34"/>
          <p:cNvSpPr/>
          <p:nvPr/>
        </p:nvSpPr>
        <p:spPr>
          <a:xfrm>
            <a:off x="6242389" y="4831381"/>
            <a:ext cx="5583918" cy="2021610"/>
          </a:xfrm>
          <a:custGeom>
            <a:avLst/>
            <a:gdLst/>
            <a:ahLst/>
            <a:cxnLst/>
            <a:rect l="l" t="t" r="r" b="b"/>
            <a:pathLst>
              <a:path w="5583918" h="2021610">
                <a:moveTo>
                  <a:pt x="0" y="0"/>
                </a:moveTo>
                <a:lnTo>
                  <a:pt x="5583918" y="0"/>
                </a:lnTo>
                <a:lnTo>
                  <a:pt x="5583918" y="2021610"/>
                </a:lnTo>
                <a:lnTo>
                  <a:pt x="0" y="2021610"/>
                </a:lnTo>
                <a:lnTo>
                  <a:pt x="0" y="0"/>
                </a:lnTo>
                <a:close/>
              </a:path>
            </a:pathLst>
          </a:custGeom>
          <a:solidFill>
            <a:srgbClr val="8B0000">
              <a:alpha val="5098"/>
            </a:srgbClr>
          </a:solidFill>
          <a:ln w="12700">
            <a:solidFill>
              <a:srgbClr val="8B0000">
                <a:alpha val="20000"/>
              </a:srgbClr>
            </a:solidFill>
            <a:prstDash val="solid"/>
          </a:ln>
        </p:spPr>
      </p:sp>
      <p:sp>
        <p:nvSpPr>
          <p:cNvPr id="37" name="Text 35"/>
          <p:cNvSpPr/>
          <p:nvPr/>
        </p:nvSpPr>
        <p:spPr>
          <a:xfrm>
            <a:off x="6460580" y="5049572"/>
            <a:ext cx="5227687" cy="249362"/>
          </a:xfrm>
          <a:prstGeom prst="rect">
            <a:avLst/>
          </a:prstGeom>
          <a:noFill/>
          <a:ln/>
        </p:spPr>
        <p:txBody>
          <a:bodyPr wrap="square" lIns="0" tIns="0" rIns="0" bIns="0" rtlCol="0" anchor="ctr"/>
          <a:lstStyle/>
          <a:p>
            <a:pPr>
              <a:lnSpc>
                <a:spcPct val="130000"/>
              </a:lnSpc>
            </a:pPr>
            <a:r>
              <a:rPr lang="en-US" sz="1262" b="1" dirty="0">
                <a:solidFill>
                  <a:srgbClr val="1F2937"/>
                </a:solidFill>
                <a:latin typeface="Sorts Mill Goudy" pitchFamily="34" charset="0"/>
                <a:ea typeface="Sorts Mill Goudy" pitchFamily="34" charset="-122"/>
                <a:cs typeface="Sorts Mill Goudy" pitchFamily="34" charset="-120"/>
              </a:rPr>
              <a:t>Confidence-Calibrated Selection</a:t>
            </a:r>
            <a:endParaRPr lang="en-US" sz="1600" dirty="0"/>
          </a:p>
        </p:txBody>
      </p:sp>
      <p:sp>
        <p:nvSpPr>
          <p:cNvPr id="38" name="Text 36"/>
          <p:cNvSpPr/>
          <p:nvPr/>
        </p:nvSpPr>
        <p:spPr>
          <a:xfrm>
            <a:off x="6460580" y="5405803"/>
            <a:ext cx="5218782" cy="231550"/>
          </a:xfrm>
          <a:prstGeom prst="rect">
            <a:avLst/>
          </a:prstGeom>
          <a:noFill/>
          <a:ln/>
        </p:spPr>
        <p:txBody>
          <a:bodyPr wrap="square" lIns="0" tIns="0" rIns="0" bIns="0" rtlCol="0" anchor="ctr"/>
          <a:lstStyle/>
          <a:p>
            <a:pPr>
              <a:lnSpc>
                <a:spcPct val="140000"/>
              </a:lnSpc>
            </a:pPr>
            <a:r>
              <a:rPr lang="en-US" sz="1122" dirty="0">
                <a:solidFill>
                  <a:srgbClr val="1F2937"/>
                </a:solidFill>
                <a:latin typeface="Sorts Mill Goudy" pitchFamily="34" charset="0"/>
                <a:ea typeface="Sorts Mill Goudy" pitchFamily="34" charset="-122"/>
                <a:cs typeface="Sorts Mill Goudy" pitchFamily="34" charset="-120"/>
              </a:rPr>
              <a:t>Replace hard argmax with distribution over candidates:</a:t>
            </a:r>
            <a:endParaRPr lang="en-US" sz="1600" dirty="0"/>
          </a:p>
        </p:txBody>
      </p:sp>
      <p:sp>
        <p:nvSpPr>
          <p:cNvPr id="39" name="Text 37"/>
          <p:cNvSpPr/>
          <p:nvPr/>
        </p:nvSpPr>
        <p:spPr>
          <a:xfrm>
            <a:off x="6460580" y="5779845"/>
            <a:ext cx="187021" cy="213738"/>
          </a:xfrm>
          <a:prstGeom prst="rect">
            <a:avLst/>
          </a:prstGeom>
          <a:noFill/>
          <a:ln/>
        </p:spPr>
        <p:txBody>
          <a:bodyPr wrap="square" lIns="0" tIns="0" rIns="0" bIns="0" rtlCol="0" anchor="ctr"/>
          <a:lstStyle/>
          <a:p>
            <a:pPr>
              <a:lnSpc>
                <a:spcPct val="130000"/>
              </a:lnSpc>
            </a:pPr>
            <a:r>
              <a:rPr lang="en-US" sz="1122"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40" name="Text 38"/>
          <p:cNvSpPr/>
          <p:nvPr/>
        </p:nvSpPr>
        <p:spPr>
          <a:xfrm>
            <a:off x="6647601" y="5744222"/>
            <a:ext cx="3464345" cy="213738"/>
          </a:xfrm>
          <a:prstGeom prst="rect">
            <a:avLst/>
          </a:prstGeom>
          <a:noFill/>
          <a:ln/>
        </p:spPr>
        <p:txBody>
          <a:bodyPr wrap="square" lIns="0" tIns="0" rIns="0" bIns="0" rtlCol="0" anchor="ctr"/>
          <a:lstStyle/>
          <a:p>
            <a:pPr>
              <a:lnSpc>
                <a:spcPct val="130000"/>
              </a:lnSpc>
            </a:pPr>
            <a:r>
              <a:rPr lang="en-US" sz="1122" dirty="0">
                <a:solidFill>
                  <a:srgbClr val="1F2937"/>
                </a:solidFill>
                <a:latin typeface="Sorts Mill Goudy" pitchFamily="34" charset="0"/>
                <a:ea typeface="Sorts Mill Goudy" pitchFamily="34" charset="-122"/>
                <a:cs typeface="Sorts Mill Goudy" pitchFamily="34" charset="-120"/>
              </a:rPr>
              <a:t>Explicit abstain option when no span exceeds threshold</a:t>
            </a:r>
            <a:endParaRPr lang="en-US" sz="1600" dirty="0"/>
          </a:p>
        </p:txBody>
      </p:sp>
      <p:sp>
        <p:nvSpPr>
          <p:cNvPr id="41" name="Text 39"/>
          <p:cNvSpPr/>
          <p:nvPr/>
        </p:nvSpPr>
        <p:spPr>
          <a:xfrm>
            <a:off x="6460580" y="6100453"/>
            <a:ext cx="187021" cy="213738"/>
          </a:xfrm>
          <a:prstGeom prst="rect">
            <a:avLst/>
          </a:prstGeom>
          <a:noFill/>
          <a:ln/>
        </p:spPr>
        <p:txBody>
          <a:bodyPr wrap="square" lIns="0" tIns="0" rIns="0" bIns="0" rtlCol="0" anchor="ctr"/>
          <a:lstStyle/>
          <a:p>
            <a:pPr>
              <a:lnSpc>
                <a:spcPct val="130000"/>
              </a:lnSpc>
            </a:pPr>
            <a:r>
              <a:rPr lang="en-US" sz="1122"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42" name="Text 40"/>
          <p:cNvSpPr/>
          <p:nvPr/>
        </p:nvSpPr>
        <p:spPr>
          <a:xfrm>
            <a:off x="6647601" y="6064830"/>
            <a:ext cx="3562308" cy="213738"/>
          </a:xfrm>
          <a:prstGeom prst="rect">
            <a:avLst/>
          </a:prstGeom>
          <a:noFill/>
          <a:ln/>
        </p:spPr>
        <p:txBody>
          <a:bodyPr wrap="square" lIns="0" tIns="0" rIns="0" bIns="0" rtlCol="0" anchor="ctr"/>
          <a:lstStyle/>
          <a:p>
            <a:pPr>
              <a:lnSpc>
                <a:spcPct val="130000"/>
              </a:lnSpc>
            </a:pPr>
            <a:r>
              <a:rPr lang="en-US" sz="1122" dirty="0">
                <a:solidFill>
                  <a:srgbClr val="1F2937"/>
                </a:solidFill>
                <a:latin typeface="Sorts Mill Goudy" pitchFamily="34" charset="0"/>
                <a:ea typeface="Sorts Mill Goudy" pitchFamily="34" charset="-122"/>
                <a:cs typeface="Sorts Mill Goudy" pitchFamily="34" charset="-120"/>
              </a:rPr>
              <a:t>Calibrated confidence scores for trustworthy deployment</a:t>
            </a:r>
            <a:endParaRPr lang="en-US" sz="1600" dirty="0"/>
          </a:p>
        </p:txBody>
      </p:sp>
      <p:sp>
        <p:nvSpPr>
          <p:cNvPr id="43" name="Text 41"/>
          <p:cNvSpPr/>
          <p:nvPr/>
        </p:nvSpPr>
        <p:spPr>
          <a:xfrm>
            <a:off x="6460580" y="6421061"/>
            <a:ext cx="187021" cy="213738"/>
          </a:xfrm>
          <a:prstGeom prst="rect">
            <a:avLst/>
          </a:prstGeom>
          <a:noFill/>
          <a:ln/>
        </p:spPr>
        <p:txBody>
          <a:bodyPr wrap="square" lIns="0" tIns="0" rIns="0" bIns="0" rtlCol="0" anchor="ctr"/>
          <a:lstStyle/>
          <a:p>
            <a:pPr>
              <a:lnSpc>
                <a:spcPct val="130000"/>
              </a:lnSpc>
            </a:pPr>
            <a:r>
              <a:rPr lang="en-US" sz="1122"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44" name="Text 42"/>
          <p:cNvSpPr/>
          <p:nvPr/>
        </p:nvSpPr>
        <p:spPr>
          <a:xfrm>
            <a:off x="6647601" y="6385438"/>
            <a:ext cx="3437627" cy="213738"/>
          </a:xfrm>
          <a:prstGeom prst="rect">
            <a:avLst/>
          </a:prstGeom>
          <a:noFill/>
          <a:ln/>
        </p:spPr>
        <p:txBody>
          <a:bodyPr wrap="square" lIns="0" tIns="0" rIns="0" bIns="0" rtlCol="0" anchor="ctr"/>
          <a:lstStyle/>
          <a:p>
            <a:pPr>
              <a:lnSpc>
                <a:spcPct val="130000"/>
              </a:lnSpc>
            </a:pPr>
            <a:r>
              <a:rPr lang="en-US" sz="1122" dirty="0">
                <a:solidFill>
                  <a:srgbClr val="1F2937"/>
                </a:solidFill>
                <a:latin typeface="Sorts Mill Goudy" pitchFamily="34" charset="0"/>
                <a:ea typeface="Sorts Mill Goudy" pitchFamily="34" charset="-122"/>
                <a:cs typeface="Sorts Mill Goudy" pitchFamily="34" charset="-120"/>
              </a:rPr>
              <a:t>Uncertainty is itself meaningful in high-stakes domains</a:t>
            </a:r>
            <a:endParaRPr lang="en-US" sz="1600" dirty="0"/>
          </a:p>
        </p:txBody>
      </p:sp>
    </p:spTree>
    <p:extLst>
      <p:ext uri="{BB962C8B-B14F-4D97-AF65-F5344CB8AC3E}">
        <p14:creationId xmlns:p14="http://schemas.microsoft.com/office/powerpoint/2010/main" val="3148187843"/>
      </p:ext>
    </p:extLst>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27302" y="327302"/>
            <a:ext cx="11594674" cy="163651"/>
          </a:xfrm>
          <a:prstGeom prst="rect">
            <a:avLst/>
          </a:prstGeom>
          <a:noFill/>
          <a:ln/>
        </p:spPr>
        <p:txBody>
          <a:bodyPr wrap="square" lIns="0" tIns="0" rIns="0" bIns="0" rtlCol="0" anchor="ctr"/>
          <a:lstStyle/>
          <a:p>
            <a:pPr>
              <a:lnSpc>
                <a:spcPct val="120000"/>
              </a:lnSpc>
            </a:pPr>
            <a:r>
              <a:rPr lang="en-US" sz="902" b="1" kern="0" spc="45" dirty="0">
                <a:solidFill>
                  <a:srgbClr val="8B0000"/>
                </a:solidFill>
                <a:latin typeface="Sorts Mill Goudy" pitchFamily="34" charset="0"/>
                <a:ea typeface="Sorts Mill Goudy" pitchFamily="34" charset="-122"/>
                <a:cs typeface="Sorts Mill Goudy" pitchFamily="34" charset="-120"/>
              </a:rPr>
              <a:t>5.4 INNOVATION HIGHLIGHTS</a:t>
            </a:r>
            <a:endParaRPr lang="en-US" sz="1600" dirty="0"/>
          </a:p>
        </p:txBody>
      </p:sp>
      <p:sp>
        <p:nvSpPr>
          <p:cNvPr id="3" name="Text 1"/>
          <p:cNvSpPr/>
          <p:nvPr/>
        </p:nvSpPr>
        <p:spPr>
          <a:xfrm>
            <a:off x="327302" y="556413"/>
            <a:ext cx="11684682" cy="327302"/>
          </a:xfrm>
          <a:prstGeom prst="rect">
            <a:avLst/>
          </a:prstGeom>
          <a:noFill/>
          <a:ln/>
        </p:spPr>
        <p:txBody>
          <a:bodyPr wrap="square" lIns="0" tIns="0" rIns="0" bIns="0" rtlCol="0" anchor="ctr"/>
          <a:lstStyle/>
          <a:p>
            <a:pPr>
              <a:lnSpc>
                <a:spcPct val="90000"/>
              </a:lnSpc>
            </a:pPr>
            <a:r>
              <a:rPr lang="en-US" sz="2319" b="1" dirty="0">
                <a:solidFill>
                  <a:srgbClr val="1F2937"/>
                </a:solidFill>
                <a:latin typeface="Sorts Mill Goudy" pitchFamily="34" charset="0"/>
                <a:ea typeface="Sorts Mill Goudy" pitchFamily="34" charset="-122"/>
                <a:cs typeface="Sorts Mill Goudy" pitchFamily="34" charset="-120"/>
              </a:rPr>
              <a:t>Innovation 4: SRL-QA + LLM Hybrid Architecture</a:t>
            </a:r>
            <a:endParaRPr lang="en-US" sz="1600" dirty="0"/>
          </a:p>
        </p:txBody>
      </p:sp>
      <p:sp>
        <p:nvSpPr>
          <p:cNvPr id="4" name="Shape 2"/>
          <p:cNvSpPr/>
          <p:nvPr/>
        </p:nvSpPr>
        <p:spPr>
          <a:xfrm>
            <a:off x="343667" y="1080097"/>
            <a:ext cx="5621412" cy="2667511"/>
          </a:xfrm>
          <a:custGeom>
            <a:avLst/>
            <a:gdLst/>
            <a:ahLst/>
            <a:cxnLst/>
            <a:rect l="l" t="t" r="r" b="b"/>
            <a:pathLst>
              <a:path w="5621412" h="2667511">
                <a:moveTo>
                  <a:pt x="0" y="0"/>
                </a:moveTo>
                <a:lnTo>
                  <a:pt x="5621412" y="0"/>
                </a:lnTo>
                <a:lnTo>
                  <a:pt x="5621412" y="2667511"/>
                </a:lnTo>
                <a:lnTo>
                  <a:pt x="0" y="2667511"/>
                </a:lnTo>
                <a:lnTo>
                  <a:pt x="0" y="0"/>
                </a:lnTo>
                <a:close/>
              </a:path>
            </a:pathLst>
          </a:custGeom>
          <a:solidFill>
            <a:srgbClr val="F9FAFB"/>
          </a:solidFill>
          <a:ln/>
        </p:spPr>
      </p:sp>
      <p:sp>
        <p:nvSpPr>
          <p:cNvPr id="5" name="Shape 3"/>
          <p:cNvSpPr/>
          <p:nvPr/>
        </p:nvSpPr>
        <p:spPr>
          <a:xfrm>
            <a:off x="343667" y="1080097"/>
            <a:ext cx="32730" cy="2667511"/>
          </a:xfrm>
          <a:custGeom>
            <a:avLst/>
            <a:gdLst/>
            <a:ahLst/>
            <a:cxnLst/>
            <a:rect l="l" t="t" r="r" b="b"/>
            <a:pathLst>
              <a:path w="32730" h="2667511">
                <a:moveTo>
                  <a:pt x="0" y="0"/>
                </a:moveTo>
                <a:lnTo>
                  <a:pt x="32730" y="0"/>
                </a:lnTo>
                <a:lnTo>
                  <a:pt x="32730" y="2667511"/>
                </a:lnTo>
                <a:lnTo>
                  <a:pt x="0" y="2667511"/>
                </a:lnTo>
                <a:lnTo>
                  <a:pt x="0" y="0"/>
                </a:lnTo>
                <a:close/>
              </a:path>
            </a:pathLst>
          </a:custGeom>
          <a:solidFill>
            <a:srgbClr val="8B0000"/>
          </a:solidFill>
          <a:ln/>
        </p:spPr>
      </p:sp>
      <p:sp>
        <p:nvSpPr>
          <p:cNvPr id="6" name="Text 4"/>
          <p:cNvSpPr/>
          <p:nvPr/>
        </p:nvSpPr>
        <p:spPr>
          <a:xfrm>
            <a:off x="556413" y="1276478"/>
            <a:ext cx="5294110" cy="229111"/>
          </a:xfrm>
          <a:prstGeom prst="rect">
            <a:avLst/>
          </a:prstGeom>
          <a:noFill/>
          <a:ln/>
        </p:spPr>
        <p:txBody>
          <a:bodyPr wrap="square" lIns="0" tIns="0" rIns="0" bIns="0" rtlCol="0" anchor="ctr"/>
          <a:lstStyle/>
          <a:p>
            <a:pPr>
              <a:lnSpc>
                <a:spcPct val="120000"/>
              </a:lnSpc>
            </a:pPr>
            <a:r>
              <a:rPr lang="en-US" sz="1289" b="1" dirty="0">
                <a:solidFill>
                  <a:srgbClr val="1F2937"/>
                </a:solidFill>
                <a:latin typeface="Sorts Mill Goudy" pitchFamily="34" charset="0"/>
                <a:ea typeface="Sorts Mill Goudy" pitchFamily="34" charset="-122"/>
                <a:cs typeface="Sorts Mill Goudy" pitchFamily="34" charset="-120"/>
              </a:rPr>
              <a:t>HybridPropQA Design</a:t>
            </a:r>
            <a:endParaRPr lang="en-US" sz="1600" dirty="0"/>
          </a:p>
        </p:txBody>
      </p:sp>
      <p:sp>
        <p:nvSpPr>
          <p:cNvPr id="7" name="Text 5"/>
          <p:cNvSpPr/>
          <p:nvPr/>
        </p:nvSpPr>
        <p:spPr>
          <a:xfrm>
            <a:off x="556413" y="1603780"/>
            <a:ext cx="5277745" cy="212746"/>
          </a:xfrm>
          <a:prstGeom prst="rect">
            <a:avLst/>
          </a:prstGeom>
          <a:noFill/>
          <a:ln/>
        </p:spPr>
        <p:txBody>
          <a:bodyPr wrap="square" lIns="0" tIns="0" rIns="0" bIns="0" rtlCol="0" anchor="ctr"/>
          <a:lstStyle/>
          <a:p>
            <a:pPr>
              <a:lnSpc>
                <a:spcPct val="140000"/>
              </a:lnSpc>
            </a:pPr>
            <a:r>
              <a:rPr lang="en-US" sz="1031" dirty="0">
                <a:solidFill>
                  <a:srgbClr val="1F2937"/>
                </a:solidFill>
                <a:latin typeface="Sorts Mill Goudy" pitchFamily="34" charset="0"/>
                <a:ea typeface="Sorts Mill Goudy" pitchFamily="34" charset="-122"/>
                <a:cs typeface="Sorts Mill Goudy" pitchFamily="34" charset="-120"/>
              </a:rPr>
              <a:t>A </a:t>
            </a:r>
            <a:r>
              <a:rPr lang="en-US" sz="1031" b="1" dirty="0">
                <a:solidFill>
                  <a:srgbClr val="1F2937"/>
                </a:solidFill>
                <a:latin typeface="Sorts Mill Goudy" pitchFamily="34" charset="0"/>
                <a:ea typeface="Sorts Mill Goudy" pitchFamily="34" charset="-122"/>
                <a:cs typeface="Sorts Mill Goudy" pitchFamily="34" charset="-120"/>
              </a:rPr>
              <a:t>practical research compromise</a:t>
            </a:r>
            <a:r>
              <a:rPr lang="en-US" sz="1031" dirty="0">
                <a:solidFill>
                  <a:srgbClr val="1F2937"/>
                </a:solidFill>
                <a:latin typeface="Sorts Mill Goudy" pitchFamily="34" charset="0"/>
                <a:ea typeface="Sorts Mill Goudy" pitchFamily="34" charset="-122"/>
                <a:cs typeface="Sorts Mill Goudy" pitchFamily="34" charset="-120"/>
              </a:rPr>
              <a:t> combining classical SRL with LLM reasoning:</a:t>
            </a:r>
            <a:endParaRPr lang="en-US" sz="1600" dirty="0"/>
          </a:p>
        </p:txBody>
      </p:sp>
      <p:sp>
        <p:nvSpPr>
          <p:cNvPr id="8" name="Shape 6"/>
          <p:cNvSpPr/>
          <p:nvPr/>
        </p:nvSpPr>
        <p:spPr>
          <a:xfrm>
            <a:off x="564596" y="1955630"/>
            <a:ext cx="2520226" cy="1587415"/>
          </a:xfrm>
          <a:custGeom>
            <a:avLst/>
            <a:gdLst/>
            <a:ahLst/>
            <a:cxnLst/>
            <a:rect l="l" t="t" r="r" b="b"/>
            <a:pathLst>
              <a:path w="2520226" h="1587415">
                <a:moveTo>
                  <a:pt x="0" y="0"/>
                </a:moveTo>
                <a:lnTo>
                  <a:pt x="2520226" y="0"/>
                </a:lnTo>
                <a:lnTo>
                  <a:pt x="2520226" y="1587415"/>
                </a:lnTo>
                <a:lnTo>
                  <a:pt x="0" y="1587415"/>
                </a:lnTo>
                <a:lnTo>
                  <a:pt x="0" y="0"/>
                </a:lnTo>
                <a:close/>
              </a:path>
            </a:pathLst>
          </a:custGeom>
          <a:solidFill>
            <a:srgbClr val="FFFFFF"/>
          </a:solidFill>
          <a:ln w="25400">
            <a:solidFill>
              <a:srgbClr val="8B0000"/>
            </a:solidFill>
            <a:prstDash val="solid"/>
          </a:ln>
        </p:spPr>
      </p:sp>
      <p:sp>
        <p:nvSpPr>
          <p:cNvPr id="9" name="Shape 7"/>
          <p:cNvSpPr/>
          <p:nvPr/>
        </p:nvSpPr>
        <p:spPr>
          <a:xfrm>
            <a:off x="703699" y="2111098"/>
            <a:ext cx="204564" cy="163651"/>
          </a:xfrm>
          <a:custGeom>
            <a:avLst/>
            <a:gdLst/>
            <a:ahLst/>
            <a:cxnLst/>
            <a:rect l="l" t="t" r="r" b="b"/>
            <a:pathLst>
              <a:path w="204564" h="163651">
                <a:moveTo>
                  <a:pt x="132934" y="67282"/>
                </a:moveTo>
                <a:cubicBezTo>
                  <a:pt x="136834" y="66228"/>
                  <a:pt x="140925" y="68081"/>
                  <a:pt x="142683" y="71693"/>
                </a:cubicBezTo>
                <a:lnTo>
                  <a:pt x="148628" y="83711"/>
                </a:lnTo>
                <a:cubicBezTo>
                  <a:pt x="151921" y="84159"/>
                  <a:pt x="155149" y="85054"/>
                  <a:pt x="158185" y="86300"/>
                </a:cubicBezTo>
                <a:lnTo>
                  <a:pt x="169372" y="78853"/>
                </a:lnTo>
                <a:cubicBezTo>
                  <a:pt x="172729" y="76616"/>
                  <a:pt x="177171" y="77063"/>
                  <a:pt x="180016" y="79908"/>
                </a:cubicBezTo>
                <a:lnTo>
                  <a:pt x="186153" y="86045"/>
                </a:lnTo>
                <a:cubicBezTo>
                  <a:pt x="188998" y="88889"/>
                  <a:pt x="189445" y="93364"/>
                  <a:pt x="187208" y="96688"/>
                </a:cubicBezTo>
                <a:lnTo>
                  <a:pt x="179760" y="107843"/>
                </a:lnTo>
                <a:cubicBezTo>
                  <a:pt x="180368" y="109346"/>
                  <a:pt x="180911" y="110912"/>
                  <a:pt x="181359" y="112542"/>
                </a:cubicBezTo>
                <a:cubicBezTo>
                  <a:pt x="181806" y="114172"/>
                  <a:pt x="182094" y="115770"/>
                  <a:pt x="182317" y="117400"/>
                </a:cubicBezTo>
                <a:lnTo>
                  <a:pt x="194368" y="123346"/>
                </a:lnTo>
                <a:cubicBezTo>
                  <a:pt x="197979" y="125135"/>
                  <a:pt x="199833" y="129227"/>
                  <a:pt x="198778" y="133094"/>
                </a:cubicBezTo>
                <a:lnTo>
                  <a:pt x="196541" y="141469"/>
                </a:lnTo>
                <a:cubicBezTo>
                  <a:pt x="195486" y="145336"/>
                  <a:pt x="191874" y="147957"/>
                  <a:pt x="187847" y="147701"/>
                </a:cubicBezTo>
                <a:lnTo>
                  <a:pt x="174423" y="146838"/>
                </a:lnTo>
                <a:cubicBezTo>
                  <a:pt x="172409" y="149427"/>
                  <a:pt x="170076" y="151825"/>
                  <a:pt x="167423" y="153870"/>
                </a:cubicBezTo>
                <a:lnTo>
                  <a:pt x="168286" y="167263"/>
                </a:lnTo>
                <a:cubicBezTo>
                  <a:pt x="168541" y="171290"/>
                  <a:pt x="165920" y="174934"/>
                  <a:pt x="162053" y="175957"/>
                </a:cubicBezTo>
                <a:lnTo>
                  <a:pt x="153679" y="178194"/>
                </a:lnTo>
                <a:cubicBezTo>
                  <a:pt x="149779" y="179249"/>
                  <a:pt x="145720" y="177395"/>
                  <a:pt x="143930" y="173783"/>
                </a:cubicBezTo>
                <a:lnTo>
                  <a:pt x="137985" y="161765"/>
                </a:lnTo>
                <a:cubicBezTo>
                  <a:pt x="134692" y="161318"/>
                  <a:pt x="131464" y="160423"/>
                  <a:pt x="128428" y="159176"/>
                </a:cubicBezTo>
                <a:lnTo>
                  <a:pt x="117241" y="166624"/>
                </a:lnTo>
                <a:cubicBezTo>
                  <a:pt x="113884" y="168861"/>
                  <a:pt x="109442" y="168414"/>
                  <a:pt x="106597" y="165569"/>
                </a:cubicBezTo>
                <a:lnTo>
                  <a:pt x="100460" y="159432"/>
                </a:lnTo>
                <a:cubicBezTo>
                  <a:pt x="97615" y="156587"/>
                  <a:pt x="97168" y="152144"/>
                  <a:pt x="99405" y="148788"/>
                </a:cubicBezTo>
                <a:lnTo>
                  <a:pt x="106853" y="137601"/>
                </a:lnTo>
                <a:cubicBezTo>
                  <a:pt x="106245" y="136099"/>
                  <a:pt x="105702" y="134533"/>
                  <a:pt x="105254" y="132903"/>
                </a:cubicBezTo>
                <a:cubicBezTo>
                  <a:pt x="104807" y="131272"/>
                  <a:pt x="104519" y="129642"/>
                  <a:pt x="104296" y="128044"/>
                </a:cubicBezTo>
                <a:lnTo>
                  <a:pt x="92245" y="122099"/>
                </a:lnTo>
                <a:cubicBezTo>
                  <a:pt x="88634" y="120309"/>
                  <a:pt x="86812" y="116218"/>
                  <a:pt x="87835" y="112350"/>
                </a:cubicBezTo>
                <a:lnTo>
                  <a:pt x="90072" y="103976"/>
                </a:lnTo>
                <a:cubicBezTo>
                  <a:pt x="91127" y="100108"/>
                  <a:pt x="94739" y="97487"/>
                  <a:pt x="98766" y="97743"/>
                </a:cubicBezTo>
                <a:lnTo>
                  <a:pt x="112158" y="98606"/>
                </a:lnTo>
                <a:cubicBezTo>
                  <a:pt x="114172" y="96017"/>
                  <a:pt x="116505" y="93620"/>
                  <a:pt x="119158" y="91574"/>
                </a:cubicBezTo>
                <a:lnTo>
                  <a:pt x="118295" y="78214"/>
                </a:lnTo>
                <a:cubicBezTo>
                  <a:pt x="118040" y="74186"/>
                  <a:pt x="120661" y="70543"/>
                  <a:pt x="124528" y="69520"/>
                </a:cubicBezTo>
                <a:lnTo>
                  <a:pt x="132903" y="67282"/>
                </a:lnTo>
                <a:close/>
                <a:moveTo>
                  <a:pt x="143322" y="108674"/>
                </a:moveTo>
                <a:cubicBezTo>
                  <a:pt x="135560" y="108683"/>
                  <a:pt x="129266" y="114992"/>
                  <a:pt x="129275" y="122754"/>
                </a:cubicBezTo>
                <a:cubicBezTo>
                  <a:pt x="129284" y="130516"/>
                  <a:pt x="135592" y="136811"/>
                  <a:pt x="143354" y="136802"/>
                </a:cubicBezTo>
                <a:cubicBezTo>
                  <a:pt x="151116" y="136793"/>
                  <a:pt x="157411" y="130484"/>
                  <a:pt x="157402" y="122722"/>
                </a:cubicBezTo>
                <a:cubicBezTo>
                  <a:pt x="157393" y="114960"/>
                  <a:pt x="151084" y="108666"/>
                  <a:pt x="143322" y="108674"/>
                </a:cubicBezTo>
                <a:close/>
                <a:moveTo>
                  <a:pt x="71885" y="-14543"/>
                </a:moveTo>
                <a:lnTo>
                  <a:pt x="80259" y="-12306"/>
                </a:lnTo>
                <a:cubicBezTo>
                  <a:pt x="84127" y="-11251"/>
                  <a:pt x="86748" y="-7607"/>
                  <a:pt x="86492" y="-3612"/>
                </a:cubicBezTo>
                <a:lnTo>
                  <a:pt x="85629" y="9749"/>
                </a:lnTo>
                <a:cubicBezTo>
                  <a:pt x="88282" y="11794"/>
                  <a:pt x="90615" y="14160"/>
                  <a:pt x="92629" y="16781"/>
                </a:cubicBezTo>
                <a:lnTo>
                  <a:pt x="106054" y="15918"/>
                </a:lnTo>
                <a:cubicBezTo>
                  <a:pt x="110049" y="15662"/>
                  <a:pt x="113693" y="18283"/>
                  <a:pt x="114747" y="22150"/>
                </a:cubicBezTo>
                <a:lnTo>
                  <a:pt x="116985" y="30525"/>
                </a:lnTo>
                <a:cubicBezTo>
                  <a:pt x="118008" y="34392"/>
                  <a:pt x="116186" y="38484"/>
                  <a:pt x="112574" y="40273"/>
                </a:cubicBezTo>
                <a:lnTo>
                  <a:pt x="100524" y="46219"/>
                </a:lnTo>
                <a:cubicBezTo>
                  <a:pt x="100300" y="47849"/>
                  <a:pt x="99981" y="49479"/>
                  <a:pt x="99565" y="51077"/>
                </a:cubicBezTo>
                <a:cubicBezTo>
                  <a:pt x="99149" y="52675"/>
                  <a:pt x="98574" y="54273"/>
                  <a:pt x="97967" y="55776"/>
                </a:cubicBezTo>
                <a:lnTo>
                  <a:pt x="105414" y="66963"/>
                </a:lnTo>
                <a:cubicBezTo>
                  <a:pt x="107652" y="70319"/>
                  <a:pt x="107204" y="74762"/>
                  <a:pt x="104359" y="77606"/>
                </a:cubicBezTo>
                <a:lnTo>
                  <a:pt x="98223" y="83743"/>
                </a:lnTo>
                <a:cubicBezTo>
                  <a:pt x="95378" y="86588"/>
                  <a:pt x="90935" y="87035"/>
                  <a:pt x="87579" y="84798"/>
                </a:cubicBezTo>
                <a:lnTo>
                  <a:pt x="76392" y="77351"/>
                </a:lnTo>
                <a:cubicBezTo>
                  <a:pt x="73355" y="78597"/>
                  <a:pt x="70127" y="79492"/>
                  <a:pt x="66835" y="79940"/>
                </a:cubicBezTo>
                <a:lnTo>
                  <a:pt x="60890" y="91958"/>
                </a:lnTo>
                <a:cubicBezTo>
                  <a:pt x="59100" y="95570"/>
                  <a:pt x="55008" y="97392"/>
                  <a:pt x="51141" y="96369"/>
                </a:cubicBezTo>
                <a:lnTo>
                  <a:pt x="42767" y="94131"/>
                </a:lnTo>
                <a:cubicBezTo>
                  <a:pt x="38867" y="93077"/>
                  <a:pt x="36278" y="89433"/>
                  <a:pt x="36534" y="85437"/>
                </a:cubicBezTo>
                <a:lnTo>
                  <a:pt x="37397" y="72045"/>
                </a:lnTo>
                <a:cubicBezTo>
                  <a:pt x="34744" y="69999"/>
                  <a:pt x="32411" y="67634"/>
                  <a:pt x="30397" y="65013"/>
                </a:cubicBezTo>
                <a:lnTo>
                  <a:pt x="16972" y="65876"/>
                </a:lnTo>
                <a:cubicBezTo>
                  <a:pt x="12977" y="66132"/>
                  <a:pt x="9333" y="63511"/>
                  <a:pt x="8278" y="59643"/>
                </a:cubicBezTo>
                <a:lnTo>
                  <a:pt x="6041" y="51269"/>
                </a:lnTo>
                <a:cubicBezTo>
                  <a:pt x="5018" y="47401"/>
                  <a:pt x="6840" y="43310"/>
                  <a:pt x="10452" y="41520"/>
                </a:cubicBezTo>
                <a:lnTo>
                  <a:pt x="22502" y="35575"/>
                </a:lnTo>
                <a:cubicBezTo>
                  <a:pt x="22726" y="33945"/>
                  <a:pt x="23045" y="32347"/>
                  <a:pt x="23461" y="30717"/>
                </a:cubicBezTo>
                <a:cubicBezTo>
                  <a:pt x="23908" y="29086"/>
                  <a:pt x="24420" y="27520"/>
                  <a:pt x="25059" y="26018"/>
                </a:cubicBezTo>
                <a:lnTo>
                  <a:pt x="17612" y="14863"/>
                </a:lnTo>
                <a:cubicBezTo>
                  <a:pt x="15374" y="11507"/>
                  <a:pt x="15822" y="7064"/>
                  <a:pt x="18666" y="4219"/>
                </a:cubicBezTo>
                <a:lnTo>
                  <a:pt x="24803" y="-1918"/>
                </a:lnTo>
                <a:cubicBezTo>
                  <a:pt x="27648" y="-4762"/>
                  <a:pt x="32091" y="-5210"/>
                  <a:pt x="35447" y="-2973"/>
                </a:cubicBezTo>
                <a:lnTo>
                  <a:pt x="46634" y="4475"/>
                </a:lnTo>
                <a:cubicBezTo>
                  <a:pt x="49671" y="3228"/>
                  <a:pt x="52899" y="2333"/>
                  <a:pt x="56191" y="1886"/>
                </a:cubicBezTo>
                <a:lnTo>
                  <a:pt x="62136" y="-10132"/>
                </a:lnTo>
                <a:cubicBezTo>
                  <a:pt x="63926" y="-13744"/>
                  <a:pt x="67985" y="-15566"/>
                  <a:pt x="71885" y="-14543"/>
                </a:cubicBezTo>
                <a:close/>
                <a:moveTo>
                  <a:pt x="61497" y="26849"/>
                </a:moveTo>
                <a:cubicBezTo>
                  <a:pt x="53735" y="26849"/>
                  <a:pt x="47433" y="33151"/>
                  <a:pt x="47433" y="40913"/>
                </a:cubicBezTo>
                <a:cubicBezTo>
                  <a:pt x="47433" y="48675"/>
                  <a:pt x="53735" y="54977"/>
                  <a:pt x="61497" y="54977"/>
                </a:cubicBezTo>
                <a:cubicBezTo>
                  <a:pt x="69259" y="54977"/>
                  <a:pt x="75561" y="48675"/>
                  <a:pt x="75561" y="40913"/>
                </a:cubicBezTo>
                <a:cubicBezTo>
                  <a:pt x="75561" y="33151"/>
                  <a:pt x="69259" y="26849"/>
                  <a:pt x="61497" y="26849"/>
                </a:cubicBezTo>
                <a:close/>
              </a:path>
            </a:pathLst>
          </a:custGeom>
          <a:solidFill>
            <a:srgbClr val="8B0000"/>
          </a:solidFill>
          <a:ln/>
        </p:spPr>
      </p:sp>
      <p:sp>
        <p:nvSpPr>
          <p:cNvPr id="10" name="Text 8"/>
          <p:cNvSpPr/>
          <p:nvPr/>
        </p:nvSpPr>
        <p:spPr>
          <a:xfrm>
            <a:off x="973723" y="2094733"/>
            <a:ext cx="1219200" cy="196381"/>
          </a:xfrm>
          <a:prstGeom prst="rect">
            <a:avLst/>
          </a:prstGeom>
          <a:noFill/>
          <a:ln/>
        </p:spPr>
        <p:txBody>
          <a:bodyPr wrap="square" lIns="0" tIns="0" rIns="0" bIns="0" rtlCol="0" anchor="ctr"/>
          <a:lstStyle/>
          <a:p>
            <a:pPr>
              <a:lnSpc>
                <a:spcPct val="130000"/>
              </a:lnSpc>
            </a:pPr>
            <a:r>
              <a:rPr lang="en-US" sz="1031" b="1" dirty="0">
                <a:solidFill>
                  <a:srgbClr val="1F2937"/>
                </a:solidFill>
                <a:latin typeface="Sorts Mill Goudy" pitchFamily="34" charset="0"/>
                <a:ea typeface="Sorts Mill Goudy" pitchFamily="34" charset="-122"/>
                <a:cs typeface="Sorts Mill Goudy" pitchFamily="34" charset="-120"/>
              </a:rPr>
              <a:t>Classical SRL Parser</a:t>
            </a:r>
            <a:endParaRPr lang="en-US" sz="1600" dirty="0"/>
          </a:p>
        </p:txBody>
      </p:sp>
      <p:sp>
        <p:nvSpPr>
          <p:cNvPr id="11" name="Text 9"/>
          <p:cNvSpPr/>
          <p:nvPr/>
        </p:nvSpPr>
        <p:spPr>
          <a:xfrm>
            <a:off x="703699" y="2389305"/>
            <a:ext cx="2307479" cy="196381"/>
          </a:xfrm>
          <a:prstGeom prst="rect">
            <a:avLst/>
          </a:prstGeom>
          <a:noFill/>
          <a:ln/>
        </p:spPr>
        <p:txBody>
          <a:bodyPr wrap="square" lIns="0" tIns="0" rIns="0" bIns="0" rtlCol="0" anchor="ctr"/>
          <a:lstStyle/>
          <a:p>
            <a:pPr>
              <a:lnSpc>
                <a:spcPct val="130000"/>
              </a:lnSpc>
            </a:pPr>
            <a:r>
              <a:rPr lang="en-US" sz="1031" b="1" dirty="0">
                <a:solidFill>
                  <a:srgbClr val="6B7280"/>
                </a:solidFill>
                <a:latin typeface="Sorts Mill Goudy" pitchFamily="34" charset="0"/>
                <a:ea typeface="Sorts Mill Goudy" pitchFamily="34" charset="-122"/>
                <a:cs typeface="Sorts Mill Goudy" pitchFamily="34" charset="-120"/>
              </a:rPr>
              <a:t>Role:</a:t>
            </a:r>
            <a:r>
              <a:rPr lang="en-US" sz="1031" dirty="0">
                <a:solidFill>
                  <a:srgbClr val="6B7280"/>
                </a:solidFill>
                <a:latin typeface="Sorts Mill Goudy" pitchFamily="34" charset="0"/>
                <a:ea typeface="Sorts Mill Goudy" pitchFamily="34" charset="-122"/>
                <a:cs typeface="Sorts Mill Goudy" pitchFamily="34" charset="-120"/>
              </a:rPr>
              <a:t> Structural front end</a:t>
            </a:r>
            <a:endParaRPr lang="en-US" sz="1600" dirty="0"/>
          </a:p>
        </p:txBody>
      </p:sp>
      <p:sp>
        <p:nvSpPr>
          <p:cNvPr id="12" name="Text 10"/>
          <p:cNvSpPr/>
          <p:nvPr/>
        </p:nvSpPr>
        <p:spPr>
          <a:xfrm>
            <a:off x="703699" y="2651146"/>
            <a:ext cx="2299297" cy="163651"/>
          </a:xfrm>
          <a:prstGeom prst="rect">
            <a:avLst/>
          </a:prstGeom>
          <a:noFill/>
          <a:ln/>
        </p:spPr>
        <p:txBody>
          <a:bodyPr wrap="square" lIns="0" tIns="0" rIns="0" bIns="0" rtlCol="0" anchor="ctr"/>
          <a:lstStyle/>
          <a:p>
            <a:pPr>
              <a:lnSpc>
                <a:spcPct val="120000"/>
              </a:lnSpc>
            </a:pPr>
            <a:r>
              <a:rPr lang="en-US" sz="902" dirty="0">
                <a:solidFill>
                  <a:srgbClr val="1F2937"/>
                </a:solidFill>
                <a:latin typeface="Sorts Mill Goudy" pitchFamily="34" charset="0"/>
                <a:ea typeface="Sorts Mill Goudy" pitchFamily="34" charset="-122"/>
                <a:cs typeface="Sorts Mill Goudy" pitchFamily="34" charset="-120"/>
              </a:rPr>
              <a:t>▸ Extracts predicate-argument candidates</a:t>
            </a:r>
            <a:endParaRPr lang="en-US" sz="1600" dirty="0"/>
          </a:p>
        </p:txBody>
      </p:sp>
      <p:sp>
        <p:nvSpPr>
          <p:cNvPr id="13" name="Text 11"/>
          <p:cNvSpPr/>
          <p:nvPr/>
        </p:nvSpPr>
        <p:spPr>
          <a:xfrm>
            <a:off x="703699" y="2847528"/>
            <a:ext cx="2299297" cy="163651"/>
          </a:xfrm>
          <a:prstGeom prst="rect">
            <a:avLst/>
          </a:prstGeom>
          <a:noFill/>
          <a:ln/>
        </p:spPr>
        <p:txBody>
          <a:bodyPr wrap="square" lIns="0" tIns="0" rIns="0" bIns="0" rtlCol="0" anchor="ctr"/>
          <a:lstStyle/>
          <a:p>
            <a:pPr>
              <a:lnSpc>
                <a:spcPct val="120000"/>
              </a:lnSpc>
            </a:pPr>
            <a:r>
              <a:rPr lang="en-US" sz="902" dirty="0">
                <a:solidFill>
                  <a:srgbClr val="1F2937"/>
                </a:solidFill>
                <a:latin typeface="Sorts Mill Goudy" pitchFamily="34" charset="0"/>
                <a:ea typeface="Sorts Mill Goudy" pitchFamily="34" charset="-122"/>
                <a:cs typeface="Sorts Mill Goudy" pitchFamily="34" charset="-120"/>
              </a:rPr>
              <a:t>▸ Provides roleset constraints</a:t>
            </a:r>
            <a:endParaRPr lang="en-US" sz="1600" dirty="0"/>
          </a:p>
        </p:txBody>
      </p:sp>
      <p:sp>
        <p:nvSpPr>
          <p:cNvPr id="14" name="Text 12"/>
          <p:cNvSpPr/>
          <p:nvPr/>
        </p:nvSpPr>
        <p:spPr>
          <a:xfrm>
            <a:off x="703699" y="3043909"/>
            <a:ext cx="2299297" cy="163651"/>
          </a:xfrm>
          <a:prstGeom prst="rect">
            <a:avLst/>
          </a:prstGeom>
          <a:noFill/>
          <a:ln/>
        </p:spPr>
        <p:txBody>
          <a:bodyPr wrap="square" lIns="0" tIns="0" rIns="0" bIns="0" rtlCol="0" anchor="ctr"/>
          <a:lstStyle/>
          <a:p>
            <a:pPr>
              <a:lnSpc>
                <a:spcPct val="120000"/>
              </a:lnSpc>
            </a:pPr>
            <a:r>
              <a:rPr lang="en-US" sz="902" dirty="0">
                <a:solidFill>
                  <a:srgbClr val="1F2937"/>
                </a:solidFill>
                <a:latin typeface="Sorts Mill Goudy" pitchFamily="34" charset="0"/>
                <a:ea typeface="Sorts Mill Goudy" pitchFamily="34" charset="-122"/>
                <a:cs typeface="Sorts Mill Goudy" pitchFamily="34" charset="-120"/>
              </a:rPr>
              <a:t>▸ Ensures span faithfulness</a:t>
            </a:r>
            <a:endParaRPr lang="en-US" sz="1600" dirty="0"/>
          </a:p>
        </p:txBody>
      </p:sp>
      <p:sp>
        <p:nvSpPr>
          <p:cNvPr id="15" name="Text 13"/>
          <p:cNvSpPr/>
          <p:nvPr/>
        </p:nvSpPr>
        <p:spPr>
          <a:xfrm>
            <a:off x="703699" y="3240290"/>
            <a:ext cx="2299297" cy="163651"/>
          </a:xfrm>
          <a:prstGeom prst="rect">
            <a:avLst/>
          </a:prstGeom>
          <a:noFill/>
          <a:ln/>
        </p:spPr>
        <p:txBody>
          <a:bodyPr wrap="square" lIns="0" tIns="0" rIns="0" bIns="0" rtlCol="0" anchor="ctr"/>
          <a:lstStyle/>
          <a:p>
            <a:pPr>
              <a:lnSpc>
                <a:spcPct val="120000"/>
              </a:lnSpc>
            </a:pPr>
            <a:r>
              <a:rPr lang="en-US" sz="902" dirty="0">
                <a:solidFill>
                  <a:srgbClr val="1F2937"/>
                </a:solidFill>
                <a:latin typeface="Sorts Mill Goudy" pitchFamily="34" charset="0"/>
                <a:ea typeface="Sorts Mill Goudy" pitchFamily="34" charset="-122"/>
                <a:cs typeface="Sorts Mill Goudy" pitchFamily="34" charset="-120"/>
              </a:rPr>
              <a:t>▸ Contributes consistency</a:t>
            </a:r>
            <a:endParaRPr lang="en-US" sz="1600" dirty="0"/>
          </a:p>
        </p:txBody>
      </p:sp>
      <p:sp>
        <p:nvSpPr>
          <p:cNvPr id="16" name="Shape 14"/>
          <p:cNvSpPr/>
          <p:nvPr/>
        </p:nvSpPr>
        <p:spPr>
          <a:xfrm>
            <a:off x="3235687" y="1955630"/>
            <a:ext cx="2520226" cy="1587415"/>
          </a:xfrm>
          <a:custGeom>
            <a:avLst/>
            <a:gdLst/>
            <a:ahLst/>
            <a:cxnLst/>
            <a:rect l="l" t="t" r="r" b="b"/>
            <a:pathLst>
              <a:path w="2520226" h="1587415">
                <a:moveTo>
                  <a:pt x="0" y="0"/>
                </a:moveTo>
                <a:lnTo>
                  <a:pt x="2520226" y="0"/>
                </a:lnTo>
                <a:lnTo>
                  <a:pt x="2520226" y="1587415"/>
                </a:lnTo>
                <a:lnTo>
                  <a:pt x="0" y="1587415"/>
                </a:lnTo>
                <a:lnTo>
                  <a:pt x="0" y="0"/>
                </a:lnTo>
                <a:close/>
              </a:path>
            </a:pathLst>
          </a:custGeom>
          <a:solidFill>
            <a:srgbClr val="FFFFFF"/>
          </a:solidFill>
          <a:ln w="25400">
            <a:solidFill>
              <a:srgbClr val="6B7280"/>
            </a:solidFill>
            <a:prstDash val="solid"/>
          </a:ln>
        </p:spPr>
      </p:sp>
      <p:sp>
        <p:nvSpPr>
          <p:cNvPr id="17" name="Shape 15"/>
          <p:cNvSpPr/>
          <p:nvPr/>
        </p:nvSpPr>
        <p:spPr>
          <a:xfrm>
            <a:off x="3395247" y="2111098"/>
            <a:ext cx="163651" cy="163651"/>
          </a:xfrm>
          <a:custGeom>
            <a:avLst/>
            <a:gdLst/>
            <a:ahLst/>
            <a:cxnLst/>
            <a:rect l="l" t="t" r="r" b="b"/>
            <a:pathLst>
              <a:path w="163651" h="163651">
                <a:moveTo>
                  <a:pt x="38356" y="17899"/>
                </a:moveTo>
                <a:cubicBezTo>
                  <a:pt x="38356" y="8023"/>
                  <a:pt x="46378" y="0"/>
                  <a:pt x="56255" y="0"/>
                </a:cubicBezTo>
                <a:lnTo>
                  <a:pt x="63926" y="0"/>
                </a:lnTo>
                <a:cubicBezTo>
                  <a:pt x="69584" y="0"/>
                  <a:pt x="74154" y="4571"/>
                  <a:pt x="74154" y="10228"/>
                </a:cubicBezTo>
                <a:lnTo>
                  <a:pt x="74154" y="153423"/>
                </a:lnTo>
                <a:cubicBezTo>
                  <a:pt x="74154" y="159080"/>
                  <a:pt x="69584" y="163651"/>
                  <a:pt x="63926" y="163651"/>
                </a:cubicBezTo>
                <a:lnTo>
                  <a:pt x="53698" y="163651"/>
                </a:lnTo>
                <a:cubicBezTo>
                  <a:pt x="44173" y="163651"/>
                  <a:pt x="36150" y="157131"/>
                  <a:pt x="33881" y="148309"/>
                </a:cubicBezTo>
                <a:cubicBezTo>
                  <a:pt x="33657" y="148309"/>
                  <a:pt x="33465" y="148309"/>
                  <a:pt x="33242" y="148309"/>
                </a:cubicBezTo>
                <a:cubicBezTo>
                  <a:pt x="19114" y="148309"/>
                  <a:pt x="7671" y="136866"/>
                  <a:pt x="7671" y="122738"/>
                </a:cubicBezTo>
                <a:cubicBezTo>
                  <a:pt x="7671" y="116985"/>
                  <a:pt x="9589" y="111679"/>
                  <a:pt x="12785" y="107396"/>
                </a:cubicBezTo>
                <a:cubicBezTo>
                  <a:pt x="6584" y="102729"/>
                  <a:pt x="2557" y="95314"/>
                  <a:pt x="2557" y="86940"/>
                </a:cubicBezTo>
                <a:cubicBezTo>
                  <a:pt x="2557" y="77063"/>
                  <a:pt x="8183" y="68465"/>
                  <a:pt x="16365" y="64214"/>
                </a:cubicBezTo>
                <a:cubicBezTo>
                  <a:pt x="14096" y="60378"/>
                  <a:pt x="12785" y="55903"/>
                  <a:pt x="12785" y="51141"/>
                </a:cubicBezTo>
                <a:cubicBezTo>
                  <a:pt x="12785" y="37013"/>
                  <a:pt x="24228" y="25570"/>
                  <a:pt x="38356" y="25570"/>
                </a:cubicBezTo>
                <a:lnTo>
                  <a:pt x="38356" y="17899"/>
                </a:lnTo>
                <a:close/>
                <a:moveTo>
                  <a:pt x="125295" y="17899"/>
                </a:moveTo>
                <a:lnTo>
                  <a:pt x="125295" y="25570"/>
                </a:lnTo>
                <a:cubicBezTo>
                  <a:pt x="139423" y="25570"/>
                  <a:pt x="150866" y="37013"/>
                  <a:pt x="150866" y="51141"/>
                </a:cubicBezTo>
                <a:cubicBezTo>
                  <a:pt x="150866" y="55935"/>
                  <a:pt x="149555" y="60410"/>
                  <a:pt x="147286" y="64214"/>
                </a:cubicBezTo>
                <a:cubicBezTo>
                  <a:pt x="155500" y="68465"/>
                  <a:pt x="161094" y="77031"/>
                  <a:pt x="161094" y="86940"/>
                </a:cubicBezTo>
                <a:cubicBezTo>
                  <a:pt x="161094" y="95314"/>
                  <a:pt x="157067" y="102729"/>
                  <a:pt x="150866" y="107396"/>
                </a:cubicBezTo>
                <a:cubicBezTo>
                  <a:pt x="154062" y="111679"/>
                  <a:pt x="155980" y="116985"/>
                  <a:pt x="155980" y="122738"/>
                </a:cubicBezTo>
                <a:cubicBezTo>
                  <a:pt x="155980" y="136866"/>
                  <a:pt x="144537" y="148309"/>
                  <a:pt x="130409" y="148309"/>
                </a:cubicBezTo>
                <a:cubicBezTo>
                  <a:pt x="130186" y="148309"/>
                  <a:pt x="129994" y="148309"/>
                  <a:pt x="129770" y="148309"/>
                </a:cubicBezTo>
                <a:cubicBezTo>
                  <a:pt x="127501" y="157131"/>
                  <a:pt x="119478" y="163651"/>
                  <a:pt x="109953" y="163651"/>
                </a:cubicBezTo>
                <a:lnTo>
                  <a:pt x="99725" y="163651"/>
                </a:lnTo>
                <a:cubicBezTo>
                  <a:pt x="94067" y="163651"/>
                  <a:pt x="89497" y="159080"/>
                  <a:pt x="89497" y="153423"/>
                </a:cubicBezTo>
                <a:lnTo>
                  <a:pt x="89497" y="10228"/>
                </a:lnTo>
                <a:cubicBezTo>
                  <a:pt x="89497" y="4571"/>
                  <a:pt x="94067" y="0"/>
                  <a:pt x="99725" y="0"/>
                </a:cubicBezTo>
                <a:lnTo>
                  <a:pt x="107396" y="0"/>
                </a:lnTo>
                <a:cubicBezTo>
                  <a:pt x="117273" y="0"/>
                  <a:pt x="125295" y="8023"/>
                  <a:pt x="125295" y="17899"/>
                </a:cubicBezTo>
                <a:close/>
              </a:path>
            </a:pathLst>
          </a:custGeom>
          <a:solidFill>
            <a:srgbClr val="6B7280"/>
          </a:solidFill>
          <a:ln/>
        </p:spPr>
      </p:sp>
      <p:sp>
        <p:nvSpPr>
          <p:cNvPr id="18" name="Text 16"/>
          <p:cNvSpPr/>
          <p:nvPr/>
        </p:nvSpPr>
        <p:spPr>
          <a:xfrm>
            <a:off x="3644815" y="2094733"/>
            <a:ext cx="1341938" cy="196381"/>
          </a:xfrm>
          <a:prstGeom prst="rect">
            <a:avLst/>
          </a:prstGeom>
          <a:noFill/>
          <a:ln/>
        </p:spPr>
        <p:txBody>
          <a:bodyPr wrap="square" lIns="0" tIns="0" rIns="0" bIns="0" rtlCol="0" anchor="ctr"/>
          <a:lstStyle/>
          <a:p>
            <a:pPr>
              <a:lnSpc>
                <a:spcPct val="130000"/>
              </a:lnSpc>
            </a:pPr>
            <a:r>
              <a:rPr lang="en-US" sz="1031" b="1" dirty="0">
                <a:solidFill>
                  <a:srgbClr val="1F2937"/>
                </a:solidFill>
                <a:latin typeface="Sorts Mill Goudy" pitchFamily="34" charset="0"/>
                <a:ea typeface="Sorts Mill Goudy" pitchFamily="34" charset="-122"/>
                <a:cs typeface="Sorts Mill Goudy" pitchFamily="34" charset="-120"/>
              </a:rPr>
              <a:t>Large Language Model</a:t>
            </a:r>
            <a:endParaRPr lang="en-US" sz="1600" dirty="0"/>
          </a:p>
        </p:txBody>
      </p:sp>
      <p:sp>
        <p:nvSpPr>
          <p:cNvPr id="19" name="Text 17"/>
          <p:cNvSpPr/>
          <p:nvPr/>
        </p:nvSpPr>
        <p:spPr>
          <a:xfrm>
            <a:off x="3374791" y="2389305"/>
            <a:ext cx="2307479" cy="196381"/>
          </a:xfrm>
          <a:prstGeom prst="rect">
            <a:avLst/>
          </a:prstGeom>
          <a:noFill/>
          <a:ln/>
        </p:spPr>
        <p:txBody>
          <a:bodyPr wrap="square" lIns="0" tIns="0" rIns="0" bIns="0" rtlCol="0" anchor="ctr"/>
          <a:lstStyle/>
          <a:p>
            <a:pPr>
              <a:lnSpc>
                <a:spcPct val="130000"/>
              </a:lnSpc>
            </a:pPr>
            <a:r>
              <a:rPr lang="en-US" sz="1031" b="1" dirty="0">
                <a:solidFill>
                  <a:srgbClr val="6B7280"/>
                </a:solidFill>
                <a:latin typeface="Sorts Mill Goudy" pitchFamily="34" charset="0"/>
                <a:ea typeface="Sorts Mill Goudy" pitchFamily="34" charset="-122"/>
                <a:cs typeface="Sorts Mill Goudy" pitchFamily="34" charset="-120"/>
              </a:rPr>
              <a:t>Role:</a:t>
            </a:r>
            <a:r>
              <a:rPr lang="en-US" sz="1031" dirty="0">
                <a:solidFill>
                  <a:srgbClr val="6B7280"/>
                </a:solidFill>
                <a:latin typeface="Sorts Mill Goudy" pitchFamily="34" charset="0"/>
                <a:ea typeface="Sorts Mill Goudy" pitchFamily="34" charset="-122"/>
                <a:cs typeface="Sorts Mill Goudy" pitchFamily="34" charset="-120"/>
              </a:rPr>
              <a:t> Soft reasoner &amp; verbalizer</a:t>
            </a:r>
            <a:endParaRPr lang="en-US" sz="1600" dirty="0"/>
          </a:p>
        </p:txBody>
      </p:sp>
      <p:sp>
        <p:nvSpPr>
          <p:cNvPr id="20" name="Text 18"/>
          <p:cNvSpPr/>
          <p:nvPr/>
        </p:nvSpPr>
        <p:spPr>
          <a:xfrm>
            <a:off x="3374791" y="2651146"/>
            <a:ext cx="2299297" cy="163651"/>
          </a:xfrm>
          <a:prstGeom prst="rect">
            <a:avLst/>
          </a:prstGeom>
          <a:noFill/>
          <a:ln/>
        </p:spPr>
        <p:txBody>
          <a:bodyPr wrap="square" lIns="0" tIns="0" rIns="0" bIns="0" rtlCol="0" anchor="ctr"/>
          <a:lstStyle/>
          <a:p>
            <a:pPr>
              <a:lnSpc>
                <a:spcPct val="120000"/>
              </a:lnSpc>
            </a:pPr>
            <a:r>
              <a:rPr lang="en-US" sz="902" dirty="0">
                <a:solidFill>
                  <a:srgbClr val="1F2937"/>
                </a:solidFill>
                <a:latin typeface="Sorts Mill Goudy" pitchFamily="34" charset="0"/>
                <a:ea typeface="Sorts Mill Goudy" pitchFamily="34" charset="-122"/>
                <a:cs typeface="Sorts Mill Goudy" pitchFamily="34" charset="-120"/>
              </a:rPr>
              <a:t>▸ Reasons over structured candidates</a:t>
            </a:r>
            <a:endParaRPr lang="en-US" sz="1600" dirty="0"/>
          </a:p>
        </p:txBody>
      </p:sp>
      <p:sp>
        <p:nvSpPr>
          <p:cNvPr id="21" name="Text 19"/>
          <p:cNvSpPr/>
          <p:nvPr/>
        </p:nvSpPr>
        <p:spPr>
          <a:xfrm>
            <a:off x="3374791" y="2847528"/>
            <a:ext cx="2299297" cy="163651"/>
          </a:xfrm>
          <a:prstGeom prst="rect">
            <a:avLst/>
          </a:prstGeom>
          <a:noFill/>
          <a:ln/>
        </p:spPr>
        <p:txBody>
          <a:bodyPr wrap="square" lIns="0" tIns="0" rIns="0" bIns="0" rtlCol="0" anchor="ctr"/>
          <a:lstStyle/>
          <a:p>
            <a:pPr>
              <a:lnSpc>
                <a:spcPct val="120000"/>
              </a:lnSpc>
            </a:pPr>
            <a:r>
              <a:rPr lang="en-US" sz="902" dirty="0">
                <a:solidFill>
                  <a:srgbClr val="1F2937"/>
                </a:solidFill>
                <a:latin typeface="Sorts Mill Goudy" pitchFamily="34" charset="0"/>
                <a:ea typeface="Sorts Mill Goudy" pitchFamily="34" charset="-122"/>
                <a:cs typeface="Sorts Mill Goudy" pitchFamily="34" charset="-120"/>
              </a:rPr>
              <a:t>▸ Handles paraphrase variations</a:t>
            </a:r>
            <a:endParaRPr lang="en-US" sz="1600" dirty="0"/>
          </a:p>
        </p:txBody>
      </p:sp>
      <p:sp>
        <p:nvSpPr>
          <p:cNvPr id="22" name="Text 20"/>
          <p:cNvSpPr/>
          <p:nvPr/>
        </p:nvSpPr>
        <p:spPr>
          <a:xfrm>
            <a:off x="3374791" y="3043909"/>
            <a:ext cx="2299297" cy="163651"/>
          </a:xfrm>
          <a:prstGeom prst="rect">
            <a:avLst/>
          </a:prstGeom>
          <a:noFill/>
          <a:ln/>
        </p:spPr>
        <p:txBody>
          <a:bodyPr wrap="square" lIns="0" tIns="0" rIns="0" bIns="0" rtlCol="0" anchor="ctr"/>
          <a:lstStyle/>
          <a:p>
            <a:pPr>
              <a:lnSpc>
                <a:spcPct val="120000"/>
              </a:lnSpc>
            </a:pPr>
            <a:r>
              <a:rPr lang="en-US" sz="902" dirty="0">
                <a:solidFill>
                  <a:srgbClr val="1F2937"/>
                </a:solidFill>
                <a:latin typeface="Sorts Mill Goudy" pitchFamily="34" charset="0"/>
                <a:ea typeface="Sorts Mill Goudy" pitchFamily="34" charset="-122"/>
                <a:cs typeface="Sorts Mill Goudy" pitchFamily="34" charset="-120"/>
              </a:rPr>
              <a:t>▸ Provides natural explanations</a:t>
            </a:r>
            <a:endParaRPr lang="en-US" sz="1600" dirty="0"/>
          </a:p>
        </p:txBody>
      </p:sp>
      <p:sp>
        <p:nvSpPr>
          <p:cNvPr id="23" name="Text 21"/>
          <p:cNvSpPr/>
          <p:nvPr/>
        </p:nvSpPr>
        <p:spPr>
          <a:xfrm>
            <a:off x="3374791" y="3240290"/>
            <a:ext cx="2299297" cy="163651"/>
          </a:xfrm>
          <a:prstGeom prst="rect">
            <a:avLst/>
          </a:prstGeom>
          <a:noFill/>
          <a:ln/>
        </p:spPr>
        <p:txBody>
          <a:bodyPr wrap="square" lIns="0" tIns="0" rIns="0" bIns="0" rtlCol="0" anchor="ctr"/>
          <a:lstStyle/>
          <a:p>
            <a:pPr>
              <a:lnSpc>
                <a:spcPct val="120000"/>
              </a:lnSpc>
            </a:pPr>
            <a:r>
              <a:rPr lang="en-US" sz="902" dirty="0">
                <a:solidFill>
                  <a:srgbClr val="1F2937"/>
                </a:solidFill>
                <a:latin typeface="Sorts Mill Goudy" pitchFamily="34" charset="0"/>
                <a:ea typeface="Sorts Mill Goudy" pitchFamily="34" charset="-122"/>
                <a:cs typeface="Sorts Mill Goudy" pitchFamily="34" charset="-120"/>
              </a:rPr>
              <a:t>▸ Contributes world knowledge</a:t>
            </a:r>
            <a:endParaRPr lang="en-US" sz="1600" dirty="0"/>
          </a:p>
        </p:txBody>
      </p:sp>
      <p:sp>
        <p:nvSpPr>
          <p:cNvPr id="24" name="Shape 22"/>
          <p:cNvSpPr/>
          <p:nvPr/>
        </p:nvSpPr>
        <p:spPr>
          <a:xfrm>
            <a:off x="343667" y="3943989"/>
            <a:ext cx="5621412" cy="1849256"/>
          </a:xfrm>
          <a:custGeom>
            <a:avLst/>
            <a:gdLst/>
            <a:ahLst/>
            <a:cxnLst/>
            <a:rect l="l" t="t" r="r" b="b"/>
            <a:pathLst>
              <a:path w="5621412" h="1849256">
                <a:moveTo>
                  <a:pt x="0" y="0"/>
                </a:moveTo>
                <a:lnTo>
                  <a:pt x="5621412" y="0"/>
                </a:lnTo>
                <a:lnTo>
                  <a:pt x="5621412" y="1849256"/>
                </a:lnTo>
                <a:lnTo>
                  <a:pt x="0" y="1849256"/>
                </a:lnTo>
                <a:lnTo>
                  <a:pt x="0" y="0"/>
                </a:lnTo>
                <a:close/>
              </a:path>
            </a:pathLst>
          </a:custGeom>
          <a:solidFill>
            <a:srgbClr val="F9FAFB"/>
          </a:solidFill>
          <a:ln/>
        </p:spPr>
      </p:sp>
      <p:sp>
        <p:nvSpPr>
          <p:cNvPr id="25" name="Shape 23"/>
          <p:cNvSpPr/>
          <p:nvPr/>
        </p:nvSpPr>
        <p:spPr>
          <a:xfrm>
            <a:off x="343667" y="3943989"/>
            <a:ext cx="32730" cy="1849256"/>
          </a:xfrm>
          <a:custGeom>
            <a:avLst/>
            <a:gdLst/>
            <a:ahLst/>
            <a:cxnLst/>
            <a:rect l="l" t="t" r="r" b="b"/>
            <a:pathLst>
              <a:path w="32730" h="1849256">
                <a:moveTo>
                  <a:pt x="0" y="0"/>
                </a:moveTo>
                <a:lnTo>
                  <a:pt x="32730" y="0"/>
                </a:lnTo>
                <a:lnTo>
                  <a:pt x="32730" y="1849256"/>
                </a:lnTo>
                <a:lnTo>
                  <a:pt x="0" y="1849256"/>
                </a:lnTo>
                <a:lnTo>
                  <a:pt x="0" y="0"/>
                </a:lnTo>
                <a:close/>
              </a:path>
            </a:pathLst>
          </a:custGeom>
          <a:solidFill>
            <a:srgbClr val="8B0000"/>
          </a:solidFill>
          <a:ln/>
        </p:spPr>
      </p:sp>
      <p:sp>
        <p:nvSpPr>
          <p:cNvPr id="26" name="Text 24"/>
          <p:cNvSpPr/>
          <p:nvPr/>
        </p:nvSpPr>
        <p:spPr>
          <a:xfrm>
            <a:off x="556413" y="4140370"/>
            <a:ext cx="5294110" cy="229111"/>
          </a:xfrm>
          <a:prstGeom prst="rect">
            <a:avLst/>
          </a:prstGeom>
          <a:noFill/>
          <a:ln/>
        </p:spPr>
        <p:txBody>
          <a:bodyPr wrap="square" lIns="0" tIns="0" rIns="0" bIns="0" rtlCol="0" anchor="ctr"/>
          <a:lstStyle/>
          <a:p>
            <a:pPr>
              <a:lnSpc>
                <a:spcPct val="120000"/>
              </a:lnSpc>
            </a:pPr>
            <a:r>
              <a:rPr lang="en-US" sz="1289" b="1" dirty="0">
                <a:solidFill>
                  <a:srgbClr val="1F2937"/>
                </a:solidFill>
                <a:latin typeface="Sorts Mill Goudy" pitchFamily="34" charset="0"/>
                <a:ea typeface="Sorts Mill Goudy" pitchFamily="34" charset="-122"/>
                <a:cs typeface="Sorts Mill Goudy" pitchFamily="34" charset="-120"/>
              </a:rPr>
              <a:t>Prompt Constraints</a:t>
            </a:r>
            <a:endParaRPr lang="en-US" sz="1600" dirty="0"/>
          </a:p>
        </p:txBody>
      </p:sp>
      <p:sp>
        <p:nvSpPr>
          <p:cNvPr id="27" name="Text 25"/>
          <p:cNvSpPr/>
          <p:nvPr/>
        </p:nvSpPr>
        <p:spPr>
          <a:xfrm>
            <a:off x="556413" y="4467672"/>
            <a:ext cx="5277745" cy="212746"/>
          </a:xfrm>
          <a:prstGeom prst="rect">
            <a:avLst/>
          </a:prstGeom>
          <a:noFill/>
          <a:ln/>
        </p:spPr>
        <p:txBody>
          <a:bodyPr wrap="square" lIns="0" tIns="0" rIns="0" bIns="0" rtlCol="0" anchor="ctr"/>
          <a:lstStyle/>
          <a:p>
            <a:pPr>
              <a:lnSpc>
                <a:spcPct val="140000"/>
              </a:lnSpc>
            </a:pPr>
            <a:r>
              <a:rPr lang="en-US" sz="1031" dirty="0">
                <a:solidFill>
                  <a:srgbClr val="1F2937"/>
                </a:solidFill>
                <a:latin typeface="Sorts Mill Goudy" pitchFamily="34" charset="0"/>
                <a:ea typeface="Sorts Mill Goudy" pitchFamily="34" charset="-122"/>
                <a:cs typeface="Sorts Mill Goudy" pitchFamily="34" charset="-120"/>
              </a:rPr>
              <a:t>LLM consumes structured candidates under constraints:</a:t>
            </a:r>
            <a:endParaRPr lang="en-US" sz="1600" dirty="0"/>
          </a:p>
        </p:txBody>
      </p:sp>
      <p:sp>
        <p:nvSpPr>
          <p:cNvPr id="28" name="Text 26"/>
          <p:cNvSpPr/>
          <p:nvPr/>
        </p:nvSpPr>
        <p:spPr>
          <a:xfrm>
            <a:off x="556413" y="4811340"/>
            <a:ext cx="171834" cy="196381"/>
          </a:xfrm>
          <a:prstGeom prst="rect">
            <a:avLst/>
          </a:prstGeom>
          <a:noFill/>
          <a:ln/>
        </p:spPr>
        <p:txBody>
          <a:bodyPr wrap="square" lIns="0" tIns="0" rIns="0" bIns="0" rtlCol="0" anchor="ctr"/>
          <a:lstStyle/>
          <a:p>
            <a:pPr>
              <a:lnSpc>
                <a:spcPct val="130000"/>
              </a:lnSpc>
            </a:pPr>
            <a:r>
              <a:rPr lang="en-US" sz="1031"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29" name="Text 27"/>
          <p:cNvSpPr/>
          <p:nvPr/>
        </p:nvSpPr>
        <p:spPr>
          <a:xfrm>
            <a:off x="728247" y="4778609"/>
            <a:ext cx="2413852" cy="196381"/>
          </a:xfrm>
          <a:prstGeom prst="rect">
            <a:avLst/>
          </a:prstGeom>
          <a:noFill/>
          <a:ln/>
        </p:spPr>
        <p:txBody>
          <a:bodyPr wrap="square" lIns="0" tIns="0" rIns="0" bIns="0" rtlCol="0" anchor="ctr"/>
          <a:lstStyle/>
          <a:p>
            <a:pPr>
              <a:lnSpc>
                <a:spcPct val="130000"/>
              </a:lnSpc>
            </a:pPr>
            <a:r>
              <a:rPr lang="en-US" sz="1031" dirty="0">
                <a:solidFill>
                  <a:srgbClr val="1F2937"/>
                </a:solidFill>
                <a:latin typeface="Sorts Mill Goudy" pitchFamily="34" charset="0"/>
                <a:ea typeface="Sorts Mill Goudy" pitchFamily="34" charset="-122"/>
                <a:cs typeface="Sorts Mill Goudy" pitchFamily="34" charset="-120"/>
              </a:rPr>
              <a:t>Allowable roles from PropBank inventory</a:t>
            </a:r>
            <a:endParaRPr lang="en-US" sz="1600" dirty="0"/>
          </a:p>
        </p:txBody>
      </p:sp>
      <p:sp>
        <p:nvSpPr>
          <p:cNvPr id="30" name="Text 28"/>
          <p:cNvSpPr/>
          <p:nvPr/>
        </p:nvSpPr>
        <p:spPr>
          <a:xfrm>
            <a:off x="556413" y="5105911"/>
            <a:ext cx="171834" cy="196381"/>
          </a:xfrm>
          <a:prstGeom prst="rect">
            <a:avLst/>
          </a:prstGeom>
          <a:noFill/>
          <a:ln/>
        </p:spPr>
        <p:txBody>
          <a:bodyPr wrap="square" lIns="0" tIns="0" rIns="0" bIns="0" rtlCol="0" anchor="ctr"/>
          <a:lstStyle/>
          <a:p>
            <a:pPr>
              <a:lnSpc>
                <a:spcPct val="130000"/>
              </a:lnSpc>
            </a:pPr>
            <a:r>
              <a:rPr lang="en-US" sz="1031"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31" name="Text 29"/>
          <p:cNvSpPr/>
          <p:nvPr/>
        </p:nvSpPr>
        <p:spPr>
          <a:xfrm>
            <a:off x="728247" y="5073181"/>
            <a:ext cx="1980177" cy="196381"/>
          </a:xfrm>
          <a:prstGeom prst="rect">
            <a:avLst/>
          </a:prstGeom>
          <a:noFill/>
          <a:ln/>
        </p:spPr>
        <p:txBody>
          <a:bodyPr wrap="square" lIns="0" tIns="0" rIns="0" bIns="0" rtlCol="0" anchor="ctr"/>
          <a:lstStyle/>
          <a:p>
            <a:pPr>
              <a:lnSpc>
                <a:spcPct val="130000"/>
              </a:lnSpc>
            </a:pPr>
            <a:r>
              <a:rPr lang="en-US" sz="1031" dirty="0">
                <a:solidFill>
                  <a:srgbClr val="1F2937"/>
                </a:solidFill>
                <a:latin typeface="Sorts Mill Goudy" pitchFamily="34" charset="0"/>
                <a:ea typeface="Sorts Mill Goudy" pitchFamily="34" charset="-122"/>
                <a:cs typeface="Sorts Mill Goudy" pitchFamily="34" charset="-120"/>
              </a:rPr>
              <a:t>Confidence scores from SRL layer</a:t>
            </a:r>
            <a:endParaRPr lang="en-US" sz="1600" dirty="0"/>
          </a:p>
        </p:txBody>
      </p:sp>
      <p:sp>
        <p:nvSpPr>
          <p:cNvPr id="32" name="Text 30"/>
          <p:cNvSpPr/>
          <p:nvPr/>
        </p:nvSpPr>
        <p:spPr>
          <a:xfrm>
            <a:off x="556413" y="5400483"/>
            <a:ext cx="171834" cy="196381"/>
          </a:xfrm>
          <a:prstGeom prst="rect">
            <a:avLst/>
          </a:prstGeom>
          <a:noFill/>
          <a:ln/>
        </p:spPr>
        <p:txBody>
          <a:bodyPr wrap="square" lIns="0" tIns="0" rIns="0" bIns="0" rtlCol="0" anchor="ctr"/>
          <a:lstStyle/>
          <a:p>
            <a:pPr>
              <a:lnSpc>
                <a:spcPct val="130000"/>
              </a:lnSpc>
            </a:pPr>
            <a:r>
              <a:rPr lang="en-US" sz="1031"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33" name="Text 31"/>
          <p:cNvSpPr/>
          <p:nvPr/>
        </p:nvSpPr>
        <p:spPr>
          <a:xfrm>
            <a:off x="728247" y="5367753"/>
            <a:ext cx="2471130" cy="196381"/>
          </a:xfrm>
          <a:prstGeom prst="rect">
            <a:avLst/>
          </a:prstGeom>
          <a:noFill/>
          <a:ln/>
        </p:spPr>
        <p:txBody>
          <a:bodyPr wrap="square" lIns="0" tIns="0" rIns="0" bIns="0" rtlCol="0" anchor="ctr"/>
          <a:lstStyle/>
          <a:p>
            <a:pPr>
              <a:lnSpc>
                <a:spcPct val="130000"/>
              </a:lnSpc>
            </a:pPr>
            <a:r>
              <a:rPr lang="en-US" sz="1031" dirty="0">
                <a:solidFill>
                  <a:srgbClr val="1F2937"/>
                </a:solidFill>
                <a:latin typeface="Sorts Mill Goudy" pitchFamily="34" charset="0"/>
                <a:ea typeface="Sorts Mill Goudy" pitchFamily="34" charset="-122"/>
                <a:cs typeface="Sorts Mill Goudy" pitchFamily="34" charset="-120"/>
              </a:rPr>
              <a:t>Abstention policy for low-confidence cases</a:t>
            </a:r>
            <a:endParaRPr lang="en-US" sz="1600" dirty="0"/>
          </a:p>
        </p:txBody>
      </p:sp>
      <p:sp>
        <p:nvSpPr>
          <p:cNvPr id="34" name="Shape 32"/>
          <p:cNvSpPr/>
          <p:nvPr/>
        </p:nvSpPr>
        <p:spPr>
          <a:xfrm>
            <a:off x="6225898" y="1080097"/>
            <a:ext cx="5637777" cy="3993085"/>
          </a:xfrm>
          <a:custGeom>
            <a:avLst/>
            <a:gdLst/>
            <a:ahLst/>
            <a:cxnLst/>
            <a:rect l="l" t="t" r="r" b="b"/>
            <a:pathLst>
              <a:path w="5637777" h="3993085">
                <a:moveTo>
                  <a:pt x="0" y="0"/>
                </a:moveTo>
                <a:lnTo>
                  <a:pt x="5637777" y="0"/>
                </a:lnTo>
                <a:lnTo>
                  <a:pt x="5637777" y="3993085"/>
                </a:lnTo>
                <a:lnTo>
                  <a:pt x="0" y="3993085"/>
                </a:lnTo>
                <a:lnTo>
                  <a:pt x="0" y="0"/>
                </a:lnTo>
                <a:close/>
              </a:path>
            </a:pathLst>
          </a:custGeom>
          <a:solidFill>
            <a:srgbClr val="F9FAFB"/>
          </a:solidFill>
          <a:ln/>
        </p:spPr>
      </p:sp>
      <p:sp>
        <p:nvSpPr>
          <p:cNvPr id="35" name="Text 33"/>
          <p:cNvSpPr/>
          <p:nvPr/>
        </p:nvSpPr>
        <p:spPr>
          <a:xfrm>
            <a:off x="6422279" y="1276478"/>
            <a:ext cx="5326840" cy="229111"/>
          </a:xfrm>
          <a:prstGeom prst="rect">
            <a:avLst/>
          </a:prstGeom>
          <a:noFill/>
          <a:ln/>
        </p:spPr>
        <p:txBody>
          <a:bodyPr wrap="square" lIns="0" tIns="0" rIns="0" bIns="0" rtlCol="0" anchor="ctr"/>
          <a:lstStyle/>
          <a:p>
            <a:pPr>
              <a:lnSpc>
                <a:spcPct val="120000"/>
              </a:lnSpc>
            </a:pPr>
            <a:r>
              <a:rPr lang="en-US" sz="1289" b="1" dirty="0">
                <a:solidFill>
                  <a:srgbClr val="1F2937"/>
                </a:solidFill>
                <a:latin typeface="Sorts Mill Goudy" pitchFamily="34" charset="0"/>
                <a:ea typeface="Sorts Mill Goudy" pitchFamily="34" charset="-122"/>
                <a:cs typeface="Sorts Mill Goudy" pitchFamily="34" charset="-120"/>
              </a:rPr>
              <a:t>Expected Benefits</a:t>
            </a:r>
            <a:endParaRPr lang="en-US" sz="1600" dirty="0"/>
          </a:p>
        </p:txBody>
      </p:sp>
      <p:sp>
        <p:nvSpPr>
          <p:cNvPr id="36" name="Shape 34"/>
          <p:cNvSpPr/>
          <p:nvPr/>
        </p:nvSpPr>
        <p:spPr>
          <a:xfrm>
            <a:off x="6426370" y="1640601"/>
            <a:ext cx="5236832" cy="728247"/>
          </a:xfrm>
          <a:custGeom>
            <a:avLst/>
            <a:gdLst/>
            <a:ahLst/>
            <a:cxnLst/>
            <a:rect l="l" t="t" r="r" b="b"/>
            <a:pathLst>
              <a:path w="5236832" h="728247">
                <a:moveTo>
                  <a:pt x="0" y="0"/>
                </a:moveTo>
                <a:lnTo>
                  <a:pt x="5236832" y="0"/>
                </a:lnTo>
                <a:lnTo>
                  <a:pt x="5236832" y="728247"/>
                </a:lnTo>
                <a:lnTo>
                  <a:pt x="0" y="728247"/>
                </a:lnTo>
                <a:lnTo>
                  <a:pt x="0" y="0"/>
                </a:lnTo>
                <a:close/>
              </a:path>
            </a:pathLst>
          </a:custGeom>
          <a:solidFill>
            <a:srgbClr val="FFFFFF"/>
          </a:solidFill>
          <a:ln w="12700">
            <a:solidFill>
              <a:srgbClr val="E5E7EB"/>
            </a:solidFill>
            <a:prstDash val="solid"/>
          </a:ln>
        </p:spPr>
      </p:sp>
      <p:sp>
        <p:nvSpPr>
          <p:cNvPr id="37" name="Shape 35"/>
          <p:cNvSpPr/>
          <p:nvPr/>
        </p:nvSpPr>
        <p:spPr>
          <a:xfrm>
            <a:off x="6561383" y="1808344"/>
            <a:ext cx="163651" cy="130921"/>
          </a:xfrm>
          <a:custGeom>
            <a:avLst/>
            <a:gdLst/>
            <a:ahLst/>
            <a:cxnLst/>
            <a:rect l="l" t="t" r="r" b="b"/>
            <a:pathLst>
              <a:path w="163651" h="130921">
                <a:moveTo>
                  <a:pt x="98191" y="8183"/>
                </a:moveTo>
                <a:lnTo>
                  <a:pt x="130921" y="8183"/>
                </a:lnTo>
                <a:cubicBezTo>
                  <a:pt x="135447" y="8183"/>
                  <a:pt x="139103" y="11839"/>
                  <a:pt x="139103" y="16365"/>
                </a:cubicBezTo>
                <a:cubicBezTo>
                  <a:pt x="139103" y="20891"/>
                  <a:pt x="135447" y="24548"/>
                  <a:pt x="130921" y="24548"/>
                </a:cubicBezTo>
                <a:lnTo>
                  <a:pt x="101873" y="24548"/>
                </a:lnTo>
                <a:cubicBezTo>
                  <a:pt x="100543" y="31145"/>
                  <a:pt x="96017" y="36591"/>
                  <a:pt x="90008" y="39200"/>
                </a:cubicBezTo>
                <a:lnTo>
                  <a:pt x="90008" y="114556"/>
                </a:lnTo>
                <a:lnTo>
                  <a:pt x="130921" y="114556"/>
                </a:lnTo>
                <a:cubicBezTo>
                  <a:pt x="135447" y="114556"/>
                  <a:pt x="139103" y="118212"/>
                  <a:pt x="139103" y="122738"/>
                </a:cubicBezTo>
                <a:cubicBezTo>
                  <a:pt x="139103" y="127264"/>
                  <a:pt x="135447" y="130921"/>
                  <a:pt x="130921" y="130921"/>
                </a:cubicBezTo>
                <a:lnTo>
                  <a:pt x="32730" y="130921"/>
                </a:lnTo>
                <a:cubicBezTo>
                  <a:pt x="28204" y="130921"/>
                  <a:pt x="24548" y="127264"/>
                  <a:pt x="24548" y="122738"/>
                </a:cubicBezTo>
                <a:cubicBezTo>
                  <a:pt x="24548" y="118212"/>
                  <a:pt x="28204" y="114556"/>
                  <a:pt x="32730" y="114556"/>
                </a:cubicBezTo>
                <a:lnTo>
                  <a:pt x="73643" y="114556"/>
                </a:lnTo>
                <a:lnTo>
                  <a:pt x="73643" y="39200"/>
                </a:lnTo>
                <a:cubicBezTo>
                  <a:pt x="67634" y="36566"/>
                  <a:pt x="63108" y="31119"/>
                  <a:pt x="61778" y="24548"/>
                </a:cubicBezTo>
                <a:lnTo>
                  <a:pt x="32730" y="24548"/>
                </a:lnTo>
                <a:cubicBezTo>
                  <a:pt x="28204" y="24548"/>
                  <a:pt x="24548" y="20891"/>
                  <a:pt x="24548" y="16365"/>
                </a:cubicBezTo>
                <a:cubicBezTo>
                  <a:pt x="24548" y="11839"/>
                  <a:pt x="28204" y="8183"/>
                  <a:pt x="32730" y="8183"/>
                </a:cubicBezTo>
                <a:lnTo>
                  <a:pt x="65460" y="8183"/>
                </a:lnTo>
                <a:cubicBezTo>
                  <a:pt x="69194" y="3222"/>
                  <a:pt x="75126" y="0"/>
                  <a:pt x="81826" y="0"/>
                </a:cubicBezTo>
                <a:cubicBezTo>
                  <a:pt x="88525" y="0"/>
                  <a:pt x="94457" y="3222"/>
                  <a:pt x="98191" y="8183"/>
                </a:cubicBezTo>
                <a:close/>
                <a:moveTo>
                  <a:pt x="112408" y="81826"/>
                </a:moveTo>
                <a:lnTo>
                  <a:pt x="149434" y="81826"/>
                </a:lnTo>
                <a:lnTo>
                  <a:pt x="130921" y="50067"/>
                </a:lnTo>
                <a:lnTo>
                  <a:pt x="112408" y="81826"/>
                </a:lnTo>
                <a:close/>
                <a:moveTo>
                  <a:pt x="130921" y="106373"/>
                </a:moveTo>
                <a:cubicBezTo>
                  <a:pt x="114837" y="106373"/>
                  <a:pt x="101464" y="97679"/>
                  <a:pt x="98702" y="86198"/>
                </a:cubicBezTo>
                <a:cubicBezTo>
                  <a:pt x="98037" y="83385"/>
                  <a:pt x="98958" y="80496"/>
                  <a:pt x="100415" y="77990"/>
                </a:cubicBezTo>
                <a:lnTo>
                  <a:pt x="124758" y="36259"/>
                </a:lnTo>
                <a:cubicBezTo>
                  <a:pt x="126037" y="34060"/>
                  <a:pt x="128389" y="32730"/>
                  <a:pt x="130921" y="32730"/>
                </a:cubicBezTo>
                <a:cubicBezTo>
                  <a:pt x="133452" y="32730"/>
                  <a:pt x="135805" y="34085"/>
                  <a:pt x="137083" y="36259"/>
                </a:cubicBezTo>
                <a:lnTo>
                  <a:pt x="161426" y="77990"/>
                </a:lnTo>
                <a:cubicBezTo>
                  <a:pt x="162884" y="80496"/>
                  <a:pt x="163804" y="83385"/>
                  <a:pt x="163140" y="86198"/>
                </a:cubicBezTo>
                <a:cubicBezTo>
                  <a:pt x="160378" y="97654"/>
                  <a:pt x="147005" y="106373"/>
                  <a:pt x="130921" y="106373"/>
                </a:cubicBezTo>
                <a:close/>
                <a:moveTo>
                  <a:pt x="32423" y="50067"/>
                </a:moveTo>
                <a:lnTo>
                  <a:pt x="13910" y="81826"/>
                </a:lnTo>
                <a:lnTo>
                  <a:pt x="50962" y="81826"/>
                </a:lnTo>
                <a:lnTo>
                  <a:pt x="32423" y="50067"/>
                </a:lnTo>
                <a:close/>
                <a:moveTo>
                  <a:pt x="230" y="86198"/>
                </a:moveTo>
                <a:cubicBezTo>
                  <a:pt x="-435" y="83385"/>
                  <a:pt x="486" y="80496"/>
                  <a:pt x="1943" y="77990"/>
                </a:cubicBezTo>
                <a:lnTo>
                  <a:pt x="26286" y="36259"/>
                </a:lnTo>
                <a:cubicBezTo>
                  <a:pt x="27565" y="34060"/>
                  <a:pt x="29917" y="32730"/>
                  <a:pt x="32449" y="32730"/>
                </a:cubicBezTo>
                <a:cubicBezTo>
                  <a:pt x="34980" y="32730"/>
                  <a:pt x="37333" y="34085"/>
                  <a:pt x="38611" y="36259"/>
                </a:cubicBezTo>
                <a:lnTo>
                  <a:pt x="62954" y="77990"/>
                </a:lnTo>
                <a:cubicBezTo>
                  <a:pt x="64412" y="80496"/>
                  <a:pt x="65333" y="83385"/>
                  <a:pt x="64668" y="86198"/>
                </a:cubicBezTo>
                <a:cubicBezTo>
                  <a:pt x="61906" y="97654"/>
                  <a:pt x="48533" y="106373"/>
                  <a:pt x="32449" y="106373"/>
                </a:cubicBezTo>
                <a:cubicBezTo>
                  <a:pt x="16365" y="106373"/>
                  <a:pt x="2992" y="97679"/>
                  <a:pt x="230" y="86198"/>
                </a:cubicBezTo>
                <a:close/>
              </a:path>
            </a:pathLst>
          </a:custGeom>
          <a:solidFill>
            <a:srgbClr val="8B0000"/>
          </a:solidFill>
          <a:ln/>
        </p:spPr>
      </p:sp>
      <p:sp>
        <p:nvSpPr>
          <p:cNvPr id="38" name="Text 36"/>
          <p:cNvSpPr/>
          <p:nvPr/>
        </p:nvSpPr>
        <p:spPr>
          <a:xfrm>
            <a:off x="6823224" y="1775613"/>
            <a:ext cx="1333756" cy="196381"/>
          </a:xfrm>
          <a:prstGeom prst="rect">
            <a:avLst/>
          </a:prstGeom>
          <a:noFill/>
          <a:ln/>
        </p:spPr>
        <p:txBody>
          <a:bodyPr wrap="square" lIns="0" tIns="0" rIns="0" bIns="0" rtlCol="0" anchor="ctr"/>
          <a:lstStyle/>
          <a:p>
            <a:pPr>
              <a:lnSpc>
                <a:spcPct val="130000"/>
              </a:lnSpc>
            </a:pPr>
            <a:r>
              <a:rPr lang="en-US" sz="1031" b="1" dirty="0">
                <a:solidFill>
                  <a:srgbClr val="1F2937"/>
                </a:solidFill>
                <a:latin typeface="Sorts Mill Goudy" pitchFamily="34" charset="0"/>
                <a:ea typeface="Sorts Mill Goudy" pitchFamily="34" charset="-122"/>
                <a:cs typeface="Sorts Mill Goudy" pitchFamily="34" charset="-120"/>
              </a:rPr>
              <a:t>Asymmetric Strengths</a:t>
            </a:r>
            <a:endParaRPr lang="en-US" sz="1600" dirty="0"/>
          </a:p>
        </p:txBody>
      </p:sp>
      <p:sp>
        <p:nvSpPr>
          <p:cNvPr id="39" name="Text 37"/>
          <p:cNvSpPr/>
          <p:nvPr/>
        </p:nvSpPr>
        <p:spPr>
          <a:xfrm>
            <a:off x="6561383" y="2037455"/>
            <a:ext cx="5032268" cy="196381"/>
          </a:xfrm>
          <a:prstGeom prst="rect">
            <a:avLst/>
          </a:prstGeom>
          <a:noFill/>
          <a:ln/>
        </p:spPr>
        <p:txBody>
          <a:bodyPr wrap="square" lIns="0" tIns="0" rIns="0" bIns="0" rtlCol="0" anchor="ctr"/>
          <a:lstStyle/>
          <a:p>
            <a:pPr>
              <a:lnSpc>
                <a:spcPct val="130000"/>
              </a:lnSpc>
            </a:pPr>
            <a:r>
              <a:rPr lang="en-US" sz="1031" dirty="0">
                <a:solidFill>
                  <a:srgbClr val="6B7280"/>
                </a:solidFill>
                <a:latin typeface="Sorts Mill Goudy" pitchFamily="34" charset="0"/>
                <a:ea typeface="Sorts Mill Goudy" pitchFamily="34" charset="-122"/>
                <a:cs typeface="Sorts Mill Goudy" pitchFamily="34" charset="-120"/>
              </a:rPr>
              <a:t>Classical SRL for consistency + LLM for flexibility</a:t>
            </a:r>
            <a:endParaRPr lang="en-US" sz="1600" dirty="0"/>
          </a:p>
        </p:txBody>
      </p:sp>
      <p:sp>
        <p:nvSpPr>
          <p:cNvPr id="40" name="Shape 38"/>
          <p:cNvSpPr/>
          <p:nvPr/>
        </p:nvSpPr>
        <p:spPr>
          <a:xfrm>
            <a:off x="6426370" y="2475221"/>
            <a:ext cx="5236832" cy="728247"/>
          </a:xfrm>
          <a:custGeom>
            <a:avLst/>
            <a:gdLst/>
            <a:ahLst/>
            <a:cxnLst/>
            <a:rect l="l" t="t" r="r" b="b"/>
            <a:pathLst>
              <a:path w="5236832" h="728247">
                <a:moveTo>
                  <a:pt x="0" y="0"/>
                </a:moveTo>
                <a:lnTo>
                  <a:pt x="5236832" y="0"/>
                </a:lnTo>
                <a:lnTo>
                  <a:pt x="5236832" y="728247"/>
                </a:lnTo>
                <a:lnTo>
                  <a:pt x="0" y="728247"/>
                </a:lnTo>
                <a:lnTo>
                  <a:pt x="0" y="0"/>
                </a:lnTo>
                <a:close/>
              </a:path>
            </a:pathLst>
          </a:custGeom>
          <a:solidFill>
            <a:srgbClr val="FFFFFF"/>
          </a:solidFill>
          <a:ln w="12700">
            <a:solidFill>
              <a:srgbClr val="E5E7EB"/>
            </a:solidFill>
            <a:prstDash val="solid"/>
          </a:ln>
        </p:spPr>
      </p:sp>
      <p:sp>
        <p:nvSpPr>
          <p:cNvPr id="41" name="Shape 39"/>
          <p:cNvSpPr/>
          <p:nvPr/>
        </p:nvSpPr>
        <p:spPr>
          <a:xfrm>
            <a:off x="6569565" y="2642964"/>
            <a:ext cx="147286" cy="130921"/>
          </a:xfrm>
          <a:custGeom>
            <a:avLst/>
            <a:gdLst/>
            <a:ahLst/>
            <a:cxnLst/>
            <a:rect l="l" t="t" r="r" b="b"/>
            <a:pathLst>
              <a:path w="147286" h="130921">
                <a:moveTo>
                  <a:pt x="73643" y="16365"/>
                </a:moveTo>
                <a:cubicBezTo>
                  <a:pt x="69127" y="16365"/>
                  <a:pt x="65460" y="20032"/>
                  <a:pt x="65460" y="24548"/>
                </a:cubicBezTo>
                <a:cubicBezTo>
                  <a:pt x="65460" y="29064"/>
                  <a:pt x="69127" y="32730"/>
                  <a:pt x="73643" y="32730"/>
                </a:cubicBezTo>
                <a:cubicBezTo>
                  <a:pt x="78159" y="32730"/>
                  <a:pt x="81826" y="29064"/>
                  <a:pt x="81826" y="24548"/>
                </a:cubicBezTo>
                <a:cubicBezTo>
                  <a:pt x="81826" y="20032"/>
                  <a:pt x="78159" y="16365"/>
                  <a:pt x="73643" y="16365"/>
                </a:cubicBezTo>
                <a:close/>
                <a:moveTo>
                  <a:pt x="49095" y="24548"/>
                </a:moveTo>
                <a:cubicBezTo>
                  <a:pt x="49095" y="10995"/>
                  <a:pt x="60091" y="0"/>
                  <a:pt x="73643" y="0"/>
                </a:cubicBezTo>
                <a:cubicBezTo>
                  <a:pt x="87195" y="0"/>
                  <a:pt x="98191" y="10995"/>
                  <a:pt x="98191" y="24548"/>
                </a:cubicBezTo>
                <a:cubicBezTo>
                  <a:pt x="98191" y="35236"/>
                  <a:pt x="91363" y="44339"/>
                  <a:pt x="81826" y="47689"/>
                </a:cubicBezTo>
                <a:lnTo>
                  <a:pt x="81826" y="113635"/>
                </a:lnTo>
                <a:cubicBezTo>
                  <a:pt x="97909" y="109979"/>
                  <a:pt x="110004" y="95813"/>
                  <a:pt x="110439" y="78731"/>
                </a:cubicBezTo>
                <a:lnTo>
                  <a:pt x="106322" y="82337"/>
                </a:lnTo>
                <a:cubicBezTo>
                  <a:pt x="103765" y="84562"/>
                  <a:pt x="99904" y="84306"/>
                  <a:pt x="97654" y="81749"/>
                </a:cubicBezTo>
                <a:cubicBezTo>
                  <a:pt x="95403" y="79192"/>
                  <a:pt x="95685" y="75331"/>
                  <a:pt x="98242" y="73080"/>
                </a:cubicBezTo>
                <a:lnTo>
                  <a:pt x="114607" y="58761"/>
                </a:lnTo>
                <a:cubicBezTo>
                  <a:pt x="116908" y="56741"/>
                  <a:pt x="120386" y="56741"/>
                  <a:pt x="122687" y="58761"/>
                </a:cubicBezTo>
                <a:lnTo>
                  <a:pt x="139052" y="73080"/>
                </a:lnTo>
                <a:cubicBezTo>
                  <a:pt x="141609" y="75305"/>
                  <a:pt x="141865" y="79192"/>
                  <a:pt x="139640" y="81749"/>
                </a:cubicBezTo>
                <a:cubicBezTo>
                  <a:pt x="137416" y="84306"/>
                  <a:pt x="133529" y="84562"/>
                  <a:pt x="130972" y="82337"/>
                </a:cubicBezTo>
                <a:lnTo>
                  <a:pt x="126830" y="78731"/>
                </a:lnTo>
                <a:cubicBezTo>
                  <a:pt x="126293" y="107652"/>
                  <a:pt x="102691" y="130921"/>
                  <a:pt x="73643" y="130921"/>
                </a:cubicBezTo>
                <a:cubicBezTo>
                  <a:pt x="44595" y="130921"/>
                  <a:pt x="20993" y="107652"/>
                  <a:pt x="20456" y="78731"/>
                </a:cubicBezTo>
                <a:lnTo>
                  <a:pt x="16314" y="82362"/>
                </a:lnTo>
                <a:cubicBezTo>
                  <a:pt x="13757" y="84587"/>
                  <a:pt x="9896" y="84331"/>
                  <a:pt x="7646" y="81774"/>
                </a:cubicBezTo>
                <a:cubicBezTo>
                  <a:pt x="5395" y="79217"/>
                  <a:pt x="5677" y="75356"/>
                  <a:pt x="8234" y="73106"/>
                </a:cubicBezTo>
                <a:lnTo>
                  <a:pt x="24599" y="58787"/>
                </a:lnTo>
                <a:cubicBezTo>
                  <a:pt x="26900" y="56766"/>
                  <a:pt x="30378" y="56766"/>
                  <a:pt x="32679" y="58787"/>
                </a:cubicBezTo>
                <a:lnTo>
                  <a:pt x="49044" y="73106"/>
                </a:lnTo>
                <a:cubicBezTo>
                  <a:pt x="51601" y="75331"/>
                  <a:pt x="51857" y="79217"/>
                  <a:pt x="49632" y="81774"/>
                </a:cubicBezTo>
                <a:cubicBezTo>
                  <a:pt x="47408" y="84331"/>
                  <a:pt x="43521" y="84587"/>
                  <a:pt x="40964" y="82362"/>
                </a:cubicBezTo>
                <a:lnTo>
                  <a:pt x="36847" y="78757"/>
                </a:lnTo>
                <a:cubicBezTo>
                  <a:pt x="37307" y="95838"/>
                  <a:pt x="49402" y="110004"/>
                  <a:pt x="65460" y="113661"/>
                </a:cubicBezTo>
                <a:lnTo>
                  <a:pt x="65460" y="47714"/>
                </a:lnTo>
                <a:cubicBezTo>
                  <a:pt x="55923" y="44339"/>
                  <a:pt x="49095" y="35262"/>
                  <a:pt x="49095" y="24573"/>
                </a:cubicBezTo>
                <a:close/>
              </a:path>
            </a:pathLst>
          </a:custGeom>
          <a:solidFill>
            <a:srgbClr val="8B0000"/>
          </a:solidFill>
          <a:ln/>
        </p:spPr>
      </p:sp>
      <p:sp>
        <p:nvSpPr>
          <p:cNvPr id="42" name="Text 40"/>
          <p:cNvSpPr/>
          <p:nvPr/>
        </p:nvSpPr>
        <p:spPr>
          <a:xfrm>
            <a:off x="6823224" y="2610234"/>
            <a:ext cx="1145557" cy="196381"/>
          </a:xfrm>
          <a:prstGeom prst="rect">
            <a:avLst/>
          </a:prstGeom>
          <a:noFill/>
          <a:ln/>
        </p:spPr>
        <p:txBody>
          <a:bodyPr wrap="square" lIns="0" tIns="0" rIns="0" bIns="0" rtlCol="0" anchor="ctr"/>
          <a:lstStyle/>
          <a:p>
            <a:pPr>
              <a:lnSpc>
                <a:spcPct val="130000"/>
              </a:lnSpc>
            </a:pPr>
            <a:r>
              <a:rPr lang="en-US" sz="1031" b="1" dirty="0">
                <a:solidFill>
                  <a:srgbClr val="1F2937"/>
                </a:solidFill>
                <a:latin typeface="Sorts Mill Goudy" pitchFamily="34" charset="0"/>
                <a:ea typeface="Sorts Mill Goudy" pitchFamily="34" charset="-122"/>
                <a:cs typeface="Sorts Mill Goudy" pitchFamily="34" charset="-120"/>
              </a:rPr>
              <a:t>Roleset Grounding</a:t>
            </a:r>
            <a:endParaRPr lang="en-US" sz="1600" dirty="0"/>
          </a:p>
        </p:txBody>
      </p:sp>
      <p:sp>
        <p:nvSpPr>
          <p:cNvPr id="43" name="Text 41"/>
          <p:cNvSpPr/>
          <p:nvPr/>
        </p:nvSpPr>
        <p:spPr>
          <a:xfrm>
            <a:off x="6561383" y="2872075"/>
            <a:ext cx="5032268" cy="196381"/>
          </a:xfrm>
          <a:prstGeom prst="rect">
            <a:avLst/>
          </a:prstGeom>
          <a:noFill/>
          <a:ln/>
        </p:spPr>
        <p:txBody>
          <a:bodyPr wrap="square" lIns="0" tIns="0" rIns="0" bIns="0" rtlCol="0" anchor="ctr"/>
          <a:lstStyle/>
          <a:p>
            <a:pPr>
              <a:lnSpc>
                <a:spcPct val="130000"/>
              </a:lnSpc>
            </a:pPr>
            <a:r>
              <a:rPr lang="en-US" sz="1031" dirty="0">
                <a:solidFill>
                  <a:srgbClr val="6B7280"/>
                </a:solidFill>
                <a:latin typeface="Sorts Mill Goudy" pitchFamily="34" charset="0"/>
                <a:ea typeface="Sorts Mill Goudy" pitchFamily="34" charset="-122"/>
                <a:cs typeface="Sorts Mill Goudy" pitchFamily="34" charset="-120"/>
              </a:rPr>
              <a:t>Explicit inventory limits degrees of freedom</a:t>
            </a:r>
            <a:endParaRPr lang="en-US" sz="1600" dirty="0"/>
          </a:p>
        </p:txBody>
      </p:sp>
      <p:sp>
        <p:nvSpPr>
          <p:cNvPr id="44" name="Shape 42"/>
          <p:cNvSpPr/>
          <p:nvPr/>
        </p:nvSpPr>
        <p:spPr>
          <a:xfrm>
            <a:off x="6426370" y="3309842"/>
            <a:ext cx="5236832" cy="728247"/>
          </a:xfrm>
          <a:custGeom>
            <a:avLst/>
            <a:gdLst/>
            <a:ahLst/>
            <a:cxnLst/>
            <a:rect l="l" t="t" r="r" b="b"/>
            <a:pathLst>
              <a:path w="5236832" h="728247">
                <a:moveTo>
                  <a:pt x="0" y="0"/>
                </a:moveTo>
                <a:lnTo>
                  <a:pt x="5236832" y="0"/>
                </a:lnTo>
                <a:lnTo>
                  <a:pt x="5236832" y="728247"/>
                </a:lnTo>
                <a:lnTo>
                  <a:pt x="0" y="728247"/>
                </a:lnTo>
                <a:lnTo>
                  <a:pt x="0" y="0"/>
                </a:lnTo>
                <a:close/>
              </a:path>
            </a:pathLst>
          </a:custGeom>
          <a:solidFill>
            <a:srgbClr val="FFFFFF"/>
          </a:solidFill>
          <a:ln w="12700">
            <a:solidFill>
              <a:srgbClr val="E5E7EB"/>
            </a:solidFill>
            <a:prstDash val="solid"/>
          </a:ln>
        </p:spPr>
      </p:sp>
      <p:sp>
        <p:nvSpPr>
          <p:cNvPr id="45" name="Shape 43"/>
          <p:cNvSpPr/>
          <p:nvPr/>
        </p:nvSpPr>
        <p:spPr>
          <a:xfrm>
            <a:off x="6585930" y="3477584"/>
            <a:ext cx="114556" cy="130921"/>
          </a:xfrm>
          <a:custGeom>
            <a:avLst/>
            <a:gdLst/>
            <a:ahLst/>
            <a:cxnLst/>
            <a:rect l="l" t="t" r="r" b="b"/>
            <a:pathLst>
              <a:path w="114556" h="130921">
                <a:moveTo>
                  <a:pt x="73643" y="0"/>
                </a:moveTo>
                <a:lnTo>
                  <a:pt x="32730" y="0"/>
                </a:lnTo>
                <a:cubicBezTo>
                  <a:pt x="28204" y="0"/>
                  <a:pt x="24548" y="3657"/>
                  <a:pt x="24548" y="8183"/>
                </a:cubicBezTo>
                <a:cubicBezTo>
                  <a:pt x="24548" y="12709"/>
                  <a:pt x="28204" y="16365"/>
                  <a:pt x="32730" y="16365"/>
                </a:cubicBezTo>
                <a:lnTo>
                  <a:pt x="32730" y="55104"/>
                </a:lnTo>
                <a:lnTo>
                  <a:pt x="1918" y="109007"/>
                </a:lnTo>
                <a:cubicBezTo>
                  <a:pt x="665" y="111232"/>
                  <a:pt x="0" y="113712"/>
                  <a:pt x="0" y="116269"/>
                </a:cubicBezTo>
                <a:cubicBezTo>
                  <a:pt x="0" y="124375"/>
                  <a:pt x="6546" y="130921"/>
                  <a:pt x="14652" y="130921"/>
                </a:cubicBezTo>
                <a:lnTo>
                  <a:pt x="99904" y="130921"/>
                </a:lnTo>
                <a:cubicBezTo>
                  <a:pt x="107984" y="130921"/>
                  <a:pt x="114556" y="124375"/>
                  <a:pt x="114556" y="116269"/>
                </a:cubicBezTo>
                <a:cubicBezTo>
                  <a:pt x="114556" y="113712"/>
                  <a:pt x="113891" y="111206"/>
                  <a:pt x="112638" y="109007"/>
                </a:cubicBezTo>
                <a:lnTo>
                  <a:pt x="81826" y="55104"/>
                </a:lnTo>
                <a:lnTo>
                  <a:pt x="81826" y="16365"/>
                </a:lnTo>
                <a:cubicBezTo>
                  <a:pt x="86351" y="16365"/>
                  <a:pt x="90008" y="12709"/>
                  <a:pt x="90008" y="8183"/>
                </a:cubicBezTo>
                <a:cubicBezTo>
                  <a:pt x="90008" y="3657"/>
                  <a:pt x="86351" y="0"/>
                  <a:pt x="81826" y="0"/>
                </a:cubicBezTo>
                <a:lnTo>
                  <a:pt x="73643" y="0"/>
                </a:lnTo>
                <a:close/>
                <a:moveTo>
                  <a:pt x="49095" y="55104"/>
                </a:moveTo>
                <a:lnTo>
                  <a:pt x="49095" y="16365"/>
                </a:lnTo>
                <a:lnTo>
                  <a:pt x="65460" y="16365"/>
                </a:lnTo>
                <a:lnTo>
                  <a:pt x="65460" y="55104"/>
                </a:lnTo>
                <a:cubicBezTo>
                  <a:pt x="65460" y="57943"/>
                  <a:pt x="66202" y="60755"/>
                  <a:pt x="67608" y="63236"/>
                </a:cubicBezTo>
                <a:lnTo>
                  <a:pt x="78246" y="81826"/>
                </a:lnTo>
                <a:lnTo>
                  <a:pt x="36310" y="81826"/>
                </a:lnTo>
                <a:lnTo>
                  <a:pt x="46947" y="63236"/>
                </a:lnTo>
                <a:cubicBezTo>
                  <a:pt x="48354" y="60755"/>
                  <a:pt x="49095" y="57968"/>
                  <a:pt x="49095" y="55104"/>
                </a:cubicBezTo>
                <a:close/>
              </a:path>
            </a:pathLst>
          </a:custGeom>
          <a:solidFill>
            <a:srgbClr val="8B0000"/>
          </a:solidFill>
          <a:ln/>
        </p:spPr>
      </p:sp>
      <p:sp>
        <p:nvSpPr>
          <p:cNvPr id="46" name="Text 44"/>
          <p:cNvSpPr/>
          <p:nvPr/>
        </p:nvSpPr>
        <p:spPr>
          <a:xfrm>
            <a:off x="6823224" y="3444854"/>
            <a:ext cx="1235565" cy="196381"/>
          </a:xfrm>
          <a:prstGeom prst="rect">
            <a:avLst/>
          </a:prstGeom>
          <a:noFill/>
          <a:ln/>
        </p:spPr>
        <p:txBody>
          <a:bodyPr wrap="square" lIns="0" tIns="0" rIns="0" bIns="0" rtlCol="0" anchor="ctr"/>
          <a:lstStyle/>
          <a:p>
            <a:pPr>
              <a:lnSpc>
                <a:spcPct val="130000"/>
              </a:lnSpc>
            </a:pPr>
            <a:r>
              <a:rPr lang="en-US" sz="1031" b="1" dirty="0">
                <a:solidFill>
                  <a:srgbClr val="1F2937"/>
                </a:solidFill>
                <a:latin typeface="Sorts Mill Goudy" pitchFamily="34" charset="0"/>
                <a:ea typeface="Sorts Mill Goudy" pitchFamily="34" charset="-122"/>
                <a:cs typeface="Sorts Mill Goudy" pitchFamily="34" charset="-120"/>
              </a:rPr>
              <a:t>Research Practicality</a:t>
            </a:r>
            <a:endParaRPr lang="en-US" sz="1600" dirty="0"/>
          </a:p>
        </p:txBody>
      </p:sp>
      <p:sp>
        <p:nvSpPr>
          <p:cNvPr id="47" name="Text 45"/>
          <p:cNvSpPr/>
          <p:nvPr/>
        </p:nvSpPr>
        <p:spPr>
          <a:xfrm>
            <a:off x="6561383" y="3706695"/>
            <a:ext cx="5032268" cy="196381"/>
          </a:xfrm>
          <a:prstGeom prst="rect">
            <a:avLst/>
          </a:prstGeom>
          <a:noFill/>
          <a:ln/>
        </p:spPr>
        <p:txBody>
          <a:bodyPr wrap="square" lIns="0" tIns="0" rIns="0" bIns="0" rtlCol="0" anchor="ctr"/>
          <a:lstStyle/>
          <a:p>
            <a:pPr>
              <a:lnSpc>
                <a:spcPct val="130000"/>
              </a:lnSpc>
            </a:pPr>
            <a:r>
              <a:rPr lang="en-US" sz="1031" dirty="0">
                <a:solidFill>
                  <a:srgbClr val="6B7280"/>
                </a:solidFill>
                <a:latin typeface="Sorts Mill Goudy" pitchFamily="34" charset="0"/>
                <a:ea typeface="Sorts Mill Goudy" pitchFamily="34" charset="-122"/>
                <a:cs typeface="Sorts Mill Goudy" pitchFamily="34" charset="-120"/>
              </a:rPr>
              <a:t>No need to retrain giant models end-to-end</a:t>
            </a:r>
            <a:endParaRPr lang="en-US" sz="1600" dirty="0"/>
          </a:p>
        </p:txBody>
      </p:sp>
      <p:sp>
        <p:nvSpPr>
          <p:cNvPr id="48" name="Shape 46"/>
          <p:cNvSpPr/>
          <p:nvPr/>
        </p:nvSpPr>
        <p:spPr>
          <a:xfrm>
            <a:off x="6426370" y="4144462"/>
            <a:ext cx="5236832" cy="728247"/>
          </a:xfrm>
          <a:custGeom>
            <a:avLst/>
            <a:gdLst/>
            <a:ahLst/>
            <a:cxnLst/>
            <a:rect l="l" t="t" r="r" b="b"/>
            <a:pathLst>
              <a:path w="5236832" h="728247">
                <a:moveTo>
                  <a:pt x="0" y="0"/>
                </a:moveTo>
                <a:lnTo>
                  <a:pt x="5236832" y="0"/>
                </a:lnTo>
                <a:lnTo>
                  <a:pt x="5236832" y="728247"/>
                </a:lnTo>
                <a:lnTo>
                  <a:pt x="0" y="728247"/>
                </a:lnTo>
                <a:lnTo>
                  <a:pt x="0" y="0"/>
                </a:lnTo>
                <a:close/>
              </a:path>
            </a:pathLst>
          </a:custGeom>
          <a:solidFill>
            <a:srgbClr val="FFFFFF"/>
          </a:solidFill>
          <a:ln w="12700">
            <a:solidFill>
              <a:srgbClr val="E5E7EB"/>
            </a:solidFill>
            <a:prstDash val="solid"/>
          </a:ln>
        </p:spPr>
      </p:sp>
      <p:sp>
        <p:nvSpPr>
          <p:cNvPr id="49" name="Shape 47"/>
          <p:cNvSpPr/>
          <p:nvPr/>
        </p:nvSpPr>
        <p:spPr>
          <a:xfrm>
            <a:off x="6569565" y="4312204"/>
            <a:ext cx="147286" cy="130921"/>
          </a:xfrm>
          <a:custGeom>
            <a:avLst/>
            <a:gdLst/>
            <a:ahLst/>
            <a:cxnLst/>
            <a:rect l="l" t="t" r="r" b="b"/>
            <a:pathLst>
              <a:path w="147286" h="130921">
                <a:moveTo>
                  <a:pt x="98191" y="36821"/>
                </a:moveTo>
                <a:cubicBezTo>
                  <a:pt x="98191" y="61676"/>
                  <a:pt x="76200" y="81826"/>
                  <a:pt x="49095" y="81826"/>
                </a:cubicBezTo>
                <a:cubicBezTo>
                  <a:pt x="42268" y="81826"/>
                  <a:pt x="35773" y="80547"/>
                  <a:pt x="29866" y="78246"/>
                </a:cubicBezTo>
                <a:lnTo>
                  <a:pt x="9001" y="89292"/>
                </a:lnTo>
                <a:cubicBezTo>
                  <a:pt x="6623" y="90545"/>
                  <a:pt x="3708" y="90110"/>
                  <a:pt x="1790" y="88218"/>
                </a:cubicBezTo>
                <a:cubicBezTo>
                  <a:pt x="-128" y="86326"/>
                  <a:pt x="-563" y="83385"/>
                  <a:pt x="716" y="81007"/>
                </a:cubicBezTo>
                <a:lnTo>
                  <a:pt x="9819" y="63824"/>
                </a:lnTo>
                <a:cubicBezTo>
                  <a:pt x="3657" y="56306"/>
                  <a:pt x="0" y="46947"/>
                  <a:pt x="0" y="36821"/>
                </a:cubicBezTo>
                <a:cubicBezTo>
                  <a:pt x="0" y="11967"/>
                  <a:pt x="21991" y="-8183"/>
                  <a:pt x="49095" y="-8183"/>
                </a:cubicBezTo>
                <a:cubicBezTo>
                  <a:pt x="76200" y="-8183"/>
                  <a:pt x="98191" y="11967"/>
                  <a:pt x="98191" y="36821"/>
                </a:cubicBezTo>
                <a:close/>
                <a:moveTo>
                  <a:pt x="98191" y="130921"/>
                </a:moveTo>
                <a:cubicBezTo>
                  <a:pt x="74129" y="130921"/>
                  <a:pt x="54107" y="115042"/>
                  <a:pt x="49914" y="94099"/>
                </a:cubicBezTo>
                <a:cubicBezTo>
                  <a:pt x="80598" y="93716"/>
                  <a:pt x="107268" y="71879"/>
                  <a:pt x="110209" y="42268"/>
                </a:cubicBezTo>
                <a:cubicBezTo>
                  <a:pt x="131509" y="47178"/>
                  <a:pt x="147286" y="64847"/>
                  <a:pt x="147286" y="85917"/>
                </a:cubicBezTo>
                <a:cubicBezTo>
                  <a:pt x="147286" y="96043"/>
                  <a:pt x="143629" y="105401"/>
                  <a:pt x="137467" y="112919"/>
                </a:cubicBezTo>
                <a:lnTo>
                  <a:pt x="146570" y="130103"/>
                </a:lnTo>
                <a:cubicBezTo>
                  <a:pt x="147823" y="132481"/>
                  <a:pt x="147388" y="135396"/>
                  <a:pt x="145496" y="137313"/>
                </a:cubicBezTo>
                <a:cubicBezTo>
                  <a:pt x="143604" y="139231"/>
                  <a:pt x="140663" y="139666"/>
                  <a:pt x="138285" y="138387"/>
                </a:cubicBezTo>
                <a:lnTo>
                  <a:pt x="117420" y="127341"/>
                </a:lnTo>
                <a:cubicBezTo>
                  <a:pt x="111513" y="129642"/>
                  <a:pt x="105018" y="130921"/>
                  <a:pt x="98191" y="130921"/>
                </a:cubicBezTo>
                <a:close/>
              </a:path>
            </a:pathLst>
          </a:custGeom>
          <a:solidFill>
            <a:srgbClr val="8B0000"/>
          </a:solidFill>
          <a:ln/>
        </p:spPr>
      </p:sp>
      <p:sp>
        <p:nvSpPr>
          <p:cNvPr id="50" name="Text 48"/>
          <p:cNvSpPr/>
          <p:nvPr/>
        </p:nvSpPr>
        <p:spPr>
          <a:xfrm>
            <a:off x="6823224" y="4279474"/>
            <a:ext cx="1268295" cy="196381"/>
          </a:xfrm>
          <a:prstGeom prst="rect">
            <a:avLst/>
          </a:prstGeom>
          <a:noFill/>
          <a:ln/>
        </p:spPr>
        <p:txBody>
          <a:bodyPr wrap="square" lIns="0" tIns="0" rIns="0" bIns="0" rtlCol="0" anchor="ctr"/>
          <a:lstStyle/>
          <a:p>
            <a:pPr>
              <a:lnSpc>
                <a:spcPct val="130000"/>
              </a:lnSpc>
            </a:pPr>
            <a:r>
              <a:rPr lang="en-US" sz="1031" b="1" dirty="0">
                <a:solidFill>
                  <a:srgbClr val="1F2937"/>
                </a:solidFill>
                <a:latin typeface="Sorts Mill Goudy" pitchFamily="34" charset="0"/>
                <a:ea typeface="Sorts Mill Goudy" pitchFamily="34" charset="-122"/>
                <a:cs typeface="Sorts Mill Goudy" pitchFamily="34" charset="-120"/>
              </a:rPr>
              <a:t>Natural Explanations</a:t>
            </a:r>
            <a:endParaRPr lang="en-US" sz="1600" dirty="0"/>
          </a:p>
        </p:txBody>
      </p:sp>
      <p:sp>
        <p:nvSpPr>
          <p:cNvPr id="51" name="Text 49"/>
          <p:cNvSpPr/>
          <p:nvPr/>
        </p:nvSpPr>
        <p:spPr>
          <a:xfrm>
            <a:off x="6561383" y="4541315"/>
            <a:ext cx="5032268" cy="196381"/>
          </a:xfrm>
          <a:prstGeom prst="rect">
            <a:avLst/>
          </a:prstGeom>
          <a:noFill/>
          <a:ln/>
        </p:spPr>
        <p:txBody>
          <a:bodyPr wrap="square" lIns="0" tIns="0" rIns="0" bIns="0" rtlCol="0" anchor="ctr"/>
          <a:lstStyle/>
          <a:p>
            <a:pPr>
              <a:lnSpc>
                <a:spcPct val="130000"/>
              </a:lnSpc>
            </a:pPr>
            <a:r>
              <a:rPr lang="en-US" sz="1031" dirty="0">
                <a:solidFill>
                  <a:srgbClr val="6B7280"/>
                </a:solidFill>
                <a:latin typeface="Sorts Mill Goudy" pitchFamily="34" charset="0"/>
                <a:ea typeface="Sorts Mill Goudy" pitchFamily="34" charset="-122"/>
                <a:cs typeface="Sorts Mill Goudy" pitchFamily="34" charset="-120"/>
              </a:rPr>
              <a:t>LLM verbalizes reasoning over explicit structure</a:t>
            </a:r>
            <a:endParaRPr lang="en-US" sz="1600" dirty="0"/>
          </a:p>
        </p:txBody>
      </p:sp>
      <p:sp>
        <p:nvSpPr>
          <p:cNvPr id="52" name="Shape 50"/>
          <p:cNvSpPr/>
          <p:nvPr/>
        </p:nvSpPr>
        <p:spPr>
          <a:xfrm>
            <a:off x="6229989" y="5273654"/>
            <a:ext cx="5629595" cy="1579232"/>
          </a:xfrm>
          <a:custGeom>
            <a:avLst/>
            <a:gdLst/>
            <a:ahLst/>
            <a:cxnLst/>
            <a:rect l="l" t="t" r="r" b="b"/>
            <a:pathLst>
              <a:path w="5629595" h="1579232">
                <a:moveTo>
                  <a:pt x="0" y="0"/>
                </a:moveTo>
                <a:lnTo>
                  <a:pt x="5629595" y="0"/>
                </a:lnTo>
                <a:lnTo>
                  <a:pt x="5629595" y="1579232"/>
                </a:lnTo>
                <a:lnTo>
                  <a:pt x="0" y="1579232"/>
                </a:lnTo>
                <a:lnTo>
                  <a:pt x="0" y="0"/>
                </a:lnTo>
                <a:close/>
              </a:path>
            </a:pathLst>
          </a:custGeom>
          <a:solidFill>
            <a:srgbClr val="8B0000">
              <a:alpha val="5098"/>
            </a:srgbClr>
          </a:solidFill>
          <a:ln w="12700">
            <a:solidFill>
              <a:srgbClr val="8B0000">
                <a:alpha val="20000"/>
              </a:srgbClr>
            </a:solidFill>
            <a:prstDash val="solid"/>
          </a:ln>
        </p:spPr>
      </p:sp>
      <p:sp>
        <p:nvSpPr>
          <p:cNvPr id="53" name="Text 51"/>
          <p:cNvSpPr/>
          <p:nvPr/>
        </p:nvSpPr>
        <p:spPr>
          <a:xfrm>
            <a:off x="6430462" y="5474126"/>
            <a:ext cx="5302293" cy="229111"/>
          </a:xfrm>
          <a:prstGeom prst="rect">
            <a:avLst/>
          </a:prstGeom>
          <a:noFill/>
          <a:ln/>
        </p:spPr>
        <p:txBody>
          <a:bodyPr wrap="square" lIns="0" tIns="0" rIns="0" bIns="0" rtlCol="0" anchor="ctr"/>
          <a:lstStyle/>
          <a:p>
            <a:pPr>
              <a:lnSpc>
                <a:spcPct val="130000"/>
              </a:lnSpc>
            </a:pPr>
            <a:r>
              <a:rPr lang="en-US" sz="1160" b="1" dirty="0">
                <a:solidFill>
                  <a:srgbClr val="1F2937"/>
                </a:solidFill>
                <a:latin typeface="Sorts Mill Goudy" pitchFamily="34" charset="0"/>
                <a:ea typeface="Sorts Mill Goudy" pitchFamily="34" charset="-122"/>
                <a:cs typeface="Sorts Mill Goudy" pitchFamily="34" charset="-120"/>
              </a:rPr>
              <a:t>Implementation Note</a:t>
            </a:r>
            <a:endParaRPr lang="en-US" sz="1600" dirty="0"/>
          </a:p>
        </p:txBody>
      </p:sp>
      <p:sp>
        <p:nvSpPr>
          <p:cNvPr id="54" name="Text 52"/>
          <p:cNvSpPr/>
          <p:nvPr/>
        </p:nvSpPr>
        <p:spPr>
          <a:xfrm>
            <a:off x="6430462" y="5801428"/>
            <a:ext cx="5294110" cy="850985"/>
          </a:xfrm>
          <a:prstGeom prst="rect">
            <a:avLst/>
          </a:prstGeom>
          <a:noFill/>
          <a:ln/>
        </p:spPr>
        <p:txBody>
          <a:bodyPr wrap="square" lIns="0" tIns="0" rIns="0" bIns="0" rtlCol="0" anchor="ctr"/>
          <a:lstStyle/>
          <a:p>
            <a:pPr>
              <a:lnSpc>
                <a:spcPct val="140000"/>
              </a:lnSpc>
            </a:pPr>
            <a:r>
              <a:rPr lang="en-US" sz="1031" dirty="0">
                <a:solidFill>
                  <a:srgbClr val="1F2937"/>
                </a:solidFill>
                <a:latin typeface="Sorts Mill Goudy" pitchFamily="34" charset="0"/>
                <a:ea typeface="Sorts Mill Goudy" pitchFamily="34" charset="-122"/>
                <a:cs typeface="Sorts Mill Goudy" pitchFamily="34" charset="-120"/>
              </a:rPr>
              <a:t>In the upgraded implementation, this is realized as a </a:t>
            </a:r>
            <a:r>
              <a:rPr lang="en-US" sz="1031" b="1" dirty="0">
                <a:solidFill>
                  <a:srgbClr val="1F2937"/>
                </a:solidFill>
                <a:latin typeface="Sorts Mill Goudy" pitchFamily="34" charset="0"/>
                <a:ea typeface="Sorts Mill Goudy" pitchFamily="34" charset="-122"/>
                <a:cs typeface="Sorts Mill Goudy" pitchFamily="34" charset="-120"/>
              </a:rPr>
              <a:t>deterministic hybrid inference layer</a:t>
            </a:r>
            <a:r>
              <a:rPr lang="en-US" sz="1031" dirty="0">
                <a:solidFill>
                  <a:srgbClr val="1F2937"/>
                </a:solidFill>
                <a:latin typeface="Sorts Mill Goudy" pitchFamily="34" charset="0"/>
                <a:ea typeface="Sorts Mill Goudy" pitchFamily="34" charset="-122"/>
                <a:cs typeface="Sorts Mill Goudy" pitchFamily="34" charset="-120"/>
              </a:rPr>
              <a:t> rather than generative replacement. PropQA-Net remains the backbone while role-aware heuristics, transformer QA spans, and semantic reranking are combined into a research-facing system.</a:t>
            </a:r>
            <a:endParaRPr lang="en-US" sz="1600" dirty="0"/>
          </a:p>
        </p:txBody>
      </p:sp>
    </p:spTree>
    <p:extLst>
      <p:ext uri="{BB962C8B-B14F-4D97-AF65-F5344CB8AC3E}">
        <p14:creationId xmlns:p14="http://schemas.microsoft.com/office/powerpoint/2010/main" val="27244207"/>
      </p:ext>
    </p:extLst>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45382" y="345382"/>
            <a:ext cx="11561677" cy="172691"/>
          </a:xfrm>
          <a:prstGeom prst="rect">
            <a:avLst/>
          </a:prstGeom>
          <a:noFill/>
          <a:ln/>
        </p:spPr>
        <p:txBody>
          <a:bodyPr wrap="square" lIns="0" tIns="0" rIns="0" bIns="0" rtlCol="0" anchor="ctr"/>
          <a:lstStyle/>
          <a:p>
            <a:pPr>
              <a:lnSpc>
                <a:spcPct val="120000"/>
              </a:lnSpc>
            </a:pPr>
            <a:r>
              <a:rPr lang="en-US" sz="952" b="1" kern="0" spc="48" dirty="0">
                <a:solidFill>
                  <a:srgbClr val="8B0000"/>
                </a:solidFill>
                <a:latin typeface="Sorts Mill Goudy" pitchFamily="34" charset="0"/>
                <a:ea typeface="Sorts Mill Goudy" pitchFamily="34" charset="-122"/>
                <a:cs typeface="Sorts Mill Goudy" pitchFamily="34" charset="-120"/>
              </a:rPr>
              <a:t>6.1 EXPERIMENTAL RESULTS</a:t>
            </a:r>
            <a:endParaRPr lang="en-US" sz="1600" dirty="0"/>
          </a:p>
        </p:txBody>
      </p:sp>
      <p:sp>
        <p:nvSpPr>
          <p:cNvPr id="3" name="Text 1"/>
          <p:cNvSpPr/>
          <p:nvPr/>
        </p:nvSpPr>
        <p:spPr>
          <a:xfrm>
            <a:off x="345382" y="587150"/>
            <a:ext cx="11656657" cy="345382"/>
          </a:xfrm>
          <a:prstGeom prst="rect">
            <a:avLst/>
          </a:prstGeom>
          <a:noFill/>
          <a:ln/>
        </p:spPr>
        <p:txBody>
          <a:bodyPr wrap="square" lIns="0" tIns="0" rIns="0" bIns="0" rtlCol="0" anchor="ctr"/>
          <a:lstStyle/>
          <a:p>
            <a:pPr>
              <a:lnSpc>
                <a:spcPct val="90000"/>
              </a:lnSpc>
            </a:pPr>
            <a:r>
              <a:rPr lang="en-US" sz="2448" b="1" dirty="0">
                <a:solidFill>
                  <a:srgbClr val="1F2937"/>
                </a:solidFill>
                <a:latin typeface="Sorts Mill Goudy" pitchFamily="34" charset="0"/>
                <a:ea typeface="Sorts Mill Goudy" pitchFamily="34" charset="-122"/>
                <a:cs typeface="Sorts Mill Goudy" pitchFamily="34" charset="-120"/>
              </a:rPr>
              <a:t>Overall Performance Metrics</a:t>
            </a:r>
            <a:endParaRPr lang="en-US" sz="1600" dirty="0"/>
          </a:p>
        </p:txBody>
      </p:sp>
      <p:sp>
        <p:nvSpPr>
          <p:cNvPr id="4" name="Shape 2"/>
          <p:cNvSpPr/>
          <p:nvPr/>
        </p:nvSpPr>
        <p:spPr>
          <a:xfrm>
            <a:off x="345382" y="1139762"/>
            <a:ext cx="5612465" cy="3868283"/>
          </a:xfrm>
          <a:custGeom>
            <a:avLst/>
            <a:gdLst/>
            <a:ahLst/>
            <a:cxnLst/>
            <a:rect l="l" t="t" r="r" b="b"/>
            <a:pathLst>
              <a:path w="5612465" h="3868283">
                <a:moveTo>
                  <a:pt x="0" y="0"/>
                </a:moveTo>
                <a:lnTo>
                  <a:pt x="5612465" y="0"/>
                </a:lnTo>
                <a:lnTo>
                  <a:pt x="5612465" y="3868283"/>
                </a:lnTo>
                <a:lnTo>
                  <a:pt x="0" y="3868283"/>
                </a:lnTo>
                <a:lnTo>
                  <a:pt x="0" y="0"/>
                </a:lnTo>
                <a:close/>
              </a:path>
            </a:pathLst>
          </a:custGeom>
          <a:solidFill>
            <a:srgbClr val="F9FAFB"/>
          </a:solidFill>
          <a:ln/>
        </p:spPr>
      </p:sp>
      <p:sp>
        <p:nvSpPr>
          <p:cNvPr id="5" name="Text 3"/>
          <p:cNvSpPr/>
          <p:nvPr/>
        </p:nvSpPr>
        <p:spPr>
          <a:xfrm>
            <a:off x="552612" y="1346992"/>
            <a:ext cx="5284351" cy="241768"/>
          </a:xfrm>
          <a:prstGeom prst="rect">
            <a:avLst/>
          </a:prstGeom>
          <a:noFill/>
          <a:ln/>
        </p:spPr>
        <p:txBody>
          <a:bodyPr wrap="square" lIns="0" tIns="0" rIns="0" bIns="0" rtlCol="0" anchor="ctr"/>
          <a:lstStyle/>
          <a:p>
            <a:pPr>
              <a:lnSpc>
                <a:spcPct val="120000"/>
              </a:lnSpc>
            </a:pPr>
            <a:r>
              <a:rPr lang="en-US" sz="1360" b="1" dirty="0">
                <a:solidFill>
                  <a:srgbClr val="1F2937"/>
                </a:solidFill>
                <a:latin typeface="Sorts Mill Goudy" pitchFamily="34" charset="0"/>
                <a:ea typeface="Sorts Mill Goudy" pitchFamily="34" charset="-122"/>
                <a:cs typeface="Sorts Mill Goudy" pitchFamily="34" charset="-120"/>
              </a:rPr>
              <a:t>SRL Performance</a:t>
            </a:r>
            <a:endParaRPr lang="en-US" sz="1600" dirty="0"/>
          </a:p>
        </p:txBody>
      </p:sp>
      <p:sp>
        <p:nvSpPr>
          <p:cNvPr id="6" name="Shape 4"/>
          <p:cNvSpPr/>
          <p:nvPr/>
        </p:nvSpPr>
        <p:spPr>
          <a:xfrm>
            <a:off x="556929" y="1731229"/>
            <a:ext cx="5189371" cy="664861"/>
          </a:xfrm>
          <a:custGeom>
            <a:avLst/>
            <a:gdLst/>
            <a:ahLst/>
            <a:cxnLst/>
            <a:rect l="l" t="t" r="r" b="b"/>
            <a:pathLst>
              <a:path w="5189371" h="664861">
                <a:moveTo>
                  <a:pt x="0" y="0"/>
                </a:moveTo>
                <a:lnTo>
                  <a:pt x="5189371" y="0"/>
                </a:lnTo>
                <a:lnTo>
                  <a:pt x="5189371" y="664861"/>
                </a:lnTo>
                <a:lnTo>
                  <a:pt x="0" y="664861"/>
                </a:lnTo>
                <a:lnTo>
                  <a:pt x="0" y="0"/>
                </a:lnTo>
                <a:close/>
              </a:path>
            </a:pathLst>
          </a:custGeom>
          <a:solidFill>
            <a:srgbClr val="FFFFFF"/>
          </a:solidFill>
          <a:ln w="12700">
            <a:solidFill>
              <a:srgbClr val="E5E7EB"/>
            </a:solidFill>
            <a:prstDash val="solid"/>
          </a:ln>
        </p:spPr>
      </p:sp>
      <p:sp>
        <p:nvSpPr>
          <p:cNvPr id="7" name="Text 5"/>
          <p:cNvSpPr/>
          <p:nvPr/>
        </p:nvSpPr>
        <p:spPr>
          <a:xfrm>
            <a:off x="699399" y="1873700"/>
            <a:ext cx="897994" cy="207229"/>
          </a:xfrm>
          <a:prstGeom prst="rect">
            <a:avLst/>
          </a:prstGeom>
          <a:noFill/>
          <a:ln/>
        </p:spPr>
        <p:txBody>
          <a:bodyPr wrap="square" lIns="0" tIns="0" rIns="0" bIns="0" rtlCol="0" anchor="ctr"/>
          <a:lstStyle/>
          <a:p>
            <a:pPr>
              <a:lnSpc>
                <a:spcPct val="130000"/>
              </a:lnSpc>
            </a:pPr>
            <a:r>
              <a:rPr lang="en-US" sz="1088" b="1" dirty="0">
                <a:solidFill>
                  <a:srgbClr val="1F2937"/>
                </a:solidFill>
                <a:latin typeface="Sorts Mill Goudy" pitchFamily="34" charset="0"/>
                <a:ea typeface="Sorts Mill Goudy" pitchFamily="34" charset="-122"/>
                <a:cs typeface="Sorts Mill Goudy" pitchFamily="34" charset="-120"/>
              </a:rPr>
              <a:t>Macro F1</a:t>
            </a:r>
            <a:endParaRPr lang="en-US" sz="1600" dirty="0"/>
          </a:p>
        </p:txBody>
      </p:sp>
      <p:sp>
        <p:nvSpPr>
          <p:cNvPr id="8" name="Text 6"/>
          <p:cNvSpPr/>
          <p:nvPr/>
        </p:nvSpPr>
        <p:spPr>
          <a:xfrm>
            <a:off x="699399" y="2080929"/>
            <a:ext cx="889360" cy="172691"/>
          </a:xfrm>
          <a:prstGeom prst="rect">
            <a:avLst/>
          </a:prstGeom>
          <a:noFill/>
          <a:ln/>
        </p:spPr>
        <p:txBody>
          <a:bodyPr wrap="square" lIns="0" tIns="0" rIns="0" bIns="0" rtlCol="0" anchor="ctr"/>
          <a:lstStyle/>
          <a:p>
            <a:pPr>
              <a:lnSpc>
                <a:spcPct val="120000"/>
              </a:lnSpc>
            </a:pPr>
            <a:r>
              <a:rPr lang="en-US" sz="952" dirty="0">
                <a:solidFill>
                  <a:srgbClr val="6B7280"/>
                </a:solidFill>
                <a:latin typeface="Sorts Mill Goudy" pitchFamily="34" charset="0"/>
                <a:ea typeface="Sorts Mill Goudy" pitchFamily="34" charset="-122"/>
                <a:cs typeface="Sorts Mill Goudy" pitchFamily="34" charset="-120"/>
              </a:rPr>
              <a:t>Per-role average</a:t>
            </a:r>
            <a:endParaRPr lang="en-US" sz="1600" dirty="0"/>
          </a:p>
        </p:txBody>
      </p:sp>
      <p:sp>
        <p:nvSpPr>
          <p:cNvPr id="9" name="Text 7"/>
          <p:cNvSpPr/>
          <p:nvPr/>
        </p:nvSpPr>
        <p:spPr>
          <a:xfrm>
            <a:off x="5061337" y="1908238"/>
            <a:ext cx="673496" cy="310844"/>
          </a:xfrm>
          <a:prstGeom prst="rect">
            <a:avLst/>
          </a:prstGeom>
          <a:noFill/>
          <a:ln/>
        </p:spPr>
        <p:txBody>
          <a:bodyPr wrap="square" lIns="0" tIns="0" rIns="0" bIns="0" rtlCol="0" anchor="ctr"/>
          <a:lstStyle/>
          <a:p>
            <a:pPr>
              <a:lnSpc>
                <a:spcPct val="100000"/>
              </a:lnSpc>
            </a:pPr>
            <a:r>
              <a:rPr lang="en-US" sz="2040" b="1" dirty="0">
                <a:solidFill>
                  <a:srgbClr val="8B0000"/>
                </a:solidFill>
                <a:latin typeface="Sorts Mill Goudy" pitchFamily="34" charset="0"/>
                <a:ea typeface="Sorts Mill Goudy" pitchFamily="34" charset="-122"/>
                <a:cs typeface="Sorts Mill Goudy" pitchFamily="34" charset="-120"/>
              </a:rPr>
              <a:t>0.162</a:t>
            </a:r>
            <a:endParaRPr lang="en-US" sz="1600" dirty="0"/>
          </a:p>
        </p:txBody>
      </p:sp>
      <p:sp>
        <p:nvSpPr>
          <p:cNvPr id="10" name="Shape 8"/>
          <p:cNvSpPr/>
          <p:nvPr/>
        </p:nvSpPr>
        <p:spPr>
          <a:xfrm>
            <a:off x="556929" y="2508340"/>
            <a:ext cx="5189371" cy="664861"/>
          </a:xfrm>
          <a:custGeom>
            <a:avLst/>
            <a:gdLst/>
            <a:ahLst/>
            <a:cxnLst/>
            <a:rect l="l" t="t" r="r" b="b"/>
            <a:pathLst>
              <a:path w="5189371" h="664861">
                <a:moveTo>
                  <a:pt x="0" y="0"/>
                </a:moveTo>
                <a:lnTo>
                  <a:pt x="5189371" y="0"/>
                </a:lnTo>
                <a:lnTo>
                  <a:pt x="5189371" y="664861"/>
                </a:lnTo>
                <a:lnTo>
                  <a:pt x="0" y="664861"/>
                </a:lnTo>
                <a:lnTo>
                  <a:pt x="0" y="0"/>
                </a:lnTo>
                <a:close/>
              </a:path>
            </a:pathLst>
          </a:custGeom>
          <a:solidFill>
            <a:srgbClr val="FFFFFF"/>
          </a:solidFill>
          <a:ln w="12700">
            <a:solidFill>
              <a:srgbClr val="E5E7EB"/>
            </a:solidFill>
            <a:prstDash val="solid"/>
          </a:ln>
        </p:spPr>
      </p:sp>
      <p:sp>
        <p:nvSpPr>
          <p:cNvPr id="11" name="Text 9"/>
          <p:cNvSpPr/>
          <p:nvPr/>
        </p:nvSpPr>
        <p:spPr>
          <a:xfrm>
            <a:off x="699399" y="2650810"/>
            <a:ext cx="1174300" cy="207229"/>
          </a:xfrm>
          <a:prstGeom prst="rect">
            <a:avLst/>
          </a:prstGeom>
          <a:noFill/>
          <a:ln/>
        </p:spPr>
        <p:txBody>
          <a:bodyPr wrap="square" lIns="0" tIns="0" rIns="0" bIns="0" rtlCol="0" anchor="ctr"/>
          <a:lstStyle/>
          <a:p>
            <a:pPr>
              <a:lnSpc>
                <a:spcPct val="130000"/>
              </a:lnSpc>
            </a:pPr>
            <a:r>
              <a:rPr lang="en-US" sz="1088" b="1" dirty="0">
                <a:solidFill>
                  <a:srgbClr val="1F2937"/>
                </a:solidFill>
                <a:latin typeface="Sorts Mill Goudy" pitchFamily="34" charset="0"/>
                <a:ea typeface="Sorts Mill Goudy" pitchFamily="34" charset="-122"/>
                <a:cs typeface="Sorts Mill Goudy" pitchFamily="34" charset="-120"/>
              </a:rPr>
              <a:t>Micro F1</a:t>
            </a:r>
            <a:endParaRPr lang="en-US" sz="1600" dirty="0"/>
          </a:p>
        </p:txBody>
      </p:sp>
      <p:sp>
        <p:nvSpPr>
          <p:cNvPr id="12" name="Text 10"/>
          <p:cNvSpPr/>
          <p:nvPr/>
        </p:nvSpPr>
        <p:spPr>
          <a:xfrm>
            <a:off x="699399" y="2858040"/>
            <a:ext cx="1165666" cy="172691"/>
          </a:xfrm>
          <a:prstGeom prst="rect">
            <a:avLst/>
          </a:prstGeom>
          <a:noFill/>
          <a:ln/>
        </p:spPr>
        <p:txBody>
          <a:bodyPr wrap="square" lIns="0" tIns="0" rIns="0" bIns="0" rtlCol="0" anchor="ctr"/>
          <a:lstStyle/>
          <a:p>
            <a:pPr>
              <a:lnSpc>
                <a:spcPct val="120000"/>
              </a:lnSpc>
            </a:pPr>
            <a:r>
              <a:rPr lang="en-US" sz="952" dirty="0">
                <a:solidFill>
                  <a:srgbClr val="6B7280"/>
                </a:solidFill>
                <a:latin typeface="Sorts Mill Goudy" pitchFamily="34" charset="0"/>
                <a:ea typeface="Sorts Mill Goudy" pitchFamily="34" charset="-122"/>
                <a:cs typeface="Sorts Mill Goudy" pitchFamily="34" charset="-120"/>
              </a:rPr>
              <a:t>Token-level accuracy</a:t>
            </a:r>
            <a:endParaRPr lang="en-US" sz="1600" dirty="0"/>
          </a:p>
        </p:txBody>
      </p:sp>
      <p:sp>
        <p:nvSpPr>
          <p:cNvPr id="13" name="Text 11"/>
          <p:cNvSpPr/>
          <p:nvPr/>
        </p:nvSpPr>
        <p:spPr>
          <a:xfrm>
            <a:off x="5076987" y="2685348"/>
            <a:ext cx="656227" cy="310844"/>
          </a:xfrm>
          <a:prstGeom prst="rect">
            <a:avLst/>
          </a:prstGeom>
          <a:noFill/>
          <a:ln/>
        </p:spPr>
        <p:txBody>
          <a:bodyPr wrap="square" lIns="0" tIns="0" rIns="0" bIns="0" rtlCol="0" anchor="ctr"/>
          <a:lstStyle/>
          <a:p>
            <a:pPr>
              <a:lnSpc>
                <a:spcPct val="100000"/>
              </a:lnSpc>
            </a:pPr>
            <a:r>
              <a:rPr lang="en-US" sz="2040" b="1" dirty="0">
                <a:solidFill>
                  <a:srgbClr val="8B0000"/>
                </a:solidFill>
                <a:latin typeface="Sorts Mill Goudy" pitchFamily="34" charset="0"/>
                <a:ea typeface="Sorts Mill Goudy" pitchFamily="34" charset="-122"/>
                <a:cs typeface="Sorts Mill Goudy" pitchFamily="34" charset="-120"/>
              </a:rPr>
              <a:t>0.713</a:t>
            </a:r>
            <a:endParaRPr lang="en-US" sz="1600" dirty="0"/>
          </a:p>
        </p:txBody>
      </p:sp>
      <p:sp>
        <p:nvSpPr>
          <p:cNvPr id="14" name="Shape 12"/>
          <p:cNvSpPr/>
          <p:nvPr/>
        </p:nvSpPr>
        <p:spPr>
          <a:xfrm>
            <a:off x="556929" y="3285450"/>
            <a:ext cx="5189371" cy="664861"/>
          </a:xfrm>
          <a:custGeom>
            <a:avLst/>
            <a:gdLst/>
            <a:ahLst/>
            <a:cxnLst/>
            <a:rect l="l" t="t" r="r" b="b"/>
            <a:pathLst>
              <a:path w="5189371" h="664861">
                <a:moveTo>
                  <a:pt x="0" y="0"/>
                </a:moveTo>
                <a:lnTo>
                  <a:pt x="5189371" y="0"/>
                </a:lnTo>
                <a:lnTo>
                  <a:pt x="5189371" y="664861"/>
                </a:lnTo>
                <a:lnTo>
                  <a:pt x="0" y="664861"/>
                </a:lnTo>
                <a:lnTo>
                  <a:pt x="0" y="0"/>
                </a:lnTo>
                <a:close/>
              </a:path>
            </a:pathLst>
          </a:custGeom>
          <a:solidFill>
            <a:srgbClr val="FFFFFF"/>
          </a:solidFill>
          <a:ln w="12700">
            <a:solidFill>
              <a:srgbClr val="E5E7EB"/>
            </a:solidFill>
            <a:prstDash val="solid"/>
          </a:ln>
        </p:spPr>
      </p:sp>
      <p:sp>
        <p:nvSpPr>
          <p:cNvPr id="15" name="Text 13"/>
          <p:cNvSpPr/>
          <p:nvPr/>
        </p:nvSpPr>
        <p:spPr>
          <a:xfrm>
            <a:off x="699399" y="3427921"/>
            <a:ext cx="1424703" cy="207229"/>
          </a:xfrm>
          <a:prstGeom prst="rect">
            <a:avLst/>
          </a:prstGeom>
          <a:noFill/>
          <a:ln/>
        </p:spPr>
        <p:txBody>
          <a:bodyPr wrap="square" lIns="0" tIns="0" rIns="0" bIns="0" rtlCol="0" anchor="ctr"/>
          <a:lstStyle/>
          <a:p>
            <a:pPr>
              <a:lnSpc>
                <a:spcPct val="130000"/>
              </a:lnSpc>
            </a:pPr>
            <a:r>
              <a:rPr lang="en-US" sz="1088" b="1" dirty="0">
                <a:solidFill>
                  <a:srgbClr val="1F2937"/>
                </a:solidFill>
                <a:latin typeface="Sorts Mill Goudy" pitchFamily="34" charset="0"/>
                <a:ea typeface="Sorts Mill Goudy" pitchFamily="34" charset="-122"/>
                <a:cs typeface="Sorts Mill Goudy" pitchFamily="34" charset="-120"/>
              </a:rPr>
              <a:t>BIO Tagging Accuracy</a:t>
            </a:r>
            <a:endParaRPr lang="en-US" sz="1600" dirty="0"/>
          </a:p>
        </p:txBody>
      </p:sp>
      <p:sp>
        <p:nvSpPr>
          <p:cNvPr id="16" name="Text 14"/>
          <p:cNvSpPr/>
          <p:nvPr/>
        </p:nvSpPr>
        <p:spPr>
          <a:xfrm>
            <a:off x="699399" y="3635150"/>
            <a:ext cx="1416068" cy="172691"/>
          </a:xfrm>
          <a:prstGeom prst="rect">
            <a:avLst/>
          </a:prstGeom>
          <a:noFill/>
          <a:ln/>
        </p:spPr>
        <p:txBody>
          <a:bodyPr wrap="square" lIns="0" tIns="0" rIns="0" bIns="0" rtlCol="0" anchor="ctr"/>
          <a:lstStyle/>
          <a:p>
            <a:pPr>
              <a:lnSpc>
                <a:spcPct val="120000"/>
              </a:lnSpc>
            </a:pPr>
            <a:r>
              <a:rPr lang="en-US" sz="952" dirty="0">
                <a:solidFill>
                  <a:srgbClr val="6B7280"/>
                </a:solidFill>
                <a:latin typeface="Sorts Mill Goudy" pitchFamily="34" charset="0"/>
                <a:ea typeface="Sorts Mill Goudy" pitchFamily="34" charset="-122"/>
                <a:cs typeface="Sorts Mill Goudy" pitchFamily="34" charset="-120"/>
              </a:rPr>
              <a:t>Sequence labeling</a:t>
            </a:r>
            <a:endParaRPr lang="en-US" sz="1600" dirty="0"/>
          </a:p>
        </p:txBody>
      </p:sp>
      <p:sp>
        <p:nvSpPr>
          <p:cNvPr id="17" name="Text 15"/>
          <p:cNvSpPr/>
          <p:nvPr/>
        </p:nvSpPr>
        <p:spPr>
          <a:xfrm>
            <a:off x="5053107" y="3462459"/>
            <a:ext cx="682130" cy="310844"/>
          </a:xfrm>
          <a:prstGeom prst="rect">
            <a:avLst/>
          </a:prstGeom>
          <a:noFill/>
          <a:ln/>
        </p:spPr>
        <p:txBody>
          <a:bodyPr wrap="square" lIns="0" tIns="0" rIns="0" bIns="0" rtlCol="0" anchor="ctr"/>
          <a:lstStyle/>
          <a:p>
            <a:pPr>
              <a:lnSpc>
                <a:spcPct val="100000"/>
              </a:lnSpc>
            </a:pPr>
            <a:r>
              <a:rPr lang="en-US" sz="2040" b="1" dirty="0">
                <a:solidFill>
                  <a:srgbClr val="8B0000"/>
                </a:solidFill>
                <a:latin typeface="Sorts Mill Goudy" pitchFamily="34" charset="0"/>
                <a:ea typeface="Sorts Mill Goudy" pitchFamily="34" charset="-122"/>
                <a:cs typeface="Sorts Mill Goudy" pitchFamily="34" charset="-120"/>
              </a:rPr>
              <a:t>0.816</a:t>
            </a:r>
            <a:endParaRPr lang="en-US" sz="1600" dirty="0"/>
          </a:p>
        </p:txBody>
      </p:sp>
      <p:sp>
        <p:nvSpPr>
          <p:cNvPr id="18" name="Shape 16"/>
          <p:cNvSpPr/>
          <p:nvPr/>
        </p:nvSpPr>
        <p:spPr>
          <a:xfrm>
            <a:off x="556929" y="4097099"/>
            <a:ext cx="5189371" cy="699399"/>
          </a:xfrm>
          <a:custGeom>
            <a:avLst/>
            <a:gdLst/>
            <a:ahLst/>
            <a:cxnLst/>
            <a:rect l="l" t="t" r="r" b="b"/>
            <a:pathLst>
              <a:path w="5189371" h="699399">
                <a:moveTo>
                  <a:pt x="0" y="0"/>
                </a:moveTo>
                <a:lnTo>
                  <a:pt x="5189371" y="0"/>
                </a:lnTo>
                <a:lnTo>
                  <a:pt x="5189371" y="699399"/>
                </a:lnTo>
                <a:lnTo>
                  <a:pt x="0" y="699399"/>
                </a:lnTo>
                <a:lnTo>
                  <a:pt x="0" y="0"/>
                </a:lnTo>
                <a:close/>
              </a:path>
            </a:pathLst>
          </a:custGeom>
          <a:solidFill>
            <a:srgbClr val="8B0000">
              <a:alpha val="5098"/>
            </a:srgbClr>
          </a:solidFill>
          <a:ln w="12700">
            <a:solidFill>
              <a:srgbClr val="8B0000">
                <a:alpha val="20000"/>
              </a:srgbClr>
            </a:solidFill>
            <a:prstDash val="solid"/>
          </a:ln>
        </p:spPr>
      </p:sp>
      <p:sp>
        <p:nvSpPr>
          <p:cNvPr id="19" name="Text 17"/>
          <p:cNvSpPr/>
          <p:nvPr/>
        </p:nvSpPr>
        <p:spPr>
          <a:xfrm>
            <a:off x="699399" y="4239569"/>
            <a:ext cx="4973507" cy="414459"/>
          </a:xfrm>
          <a:prstGeom prst="rect">
            <a:avLst/>
          </a:prstGeom>
          <a:noFill/>
          <a:ln/>
        </p:spPr>
        <p:txBody>
          <a:bodyPr wrap="square" lIns="0" tIns="0" rIns="0" bIns="0" rtlCol="0" anchor="ctr"/>
          <a:lstStyle/>
          <a:p>
            <a:pPr>
              <a:lnSpc>
                <a:spcPct val="130000"/>
              </a:lnSpc>
            </a:pPr>
            <a:r>
              <a:rPr lang="en-US" sz="1088" b="1" dirty="0">
                <a:solidFill>
                  <a:srgbClr val="1F2937"/>
                </a:solidFill>
                <a:latin typeface="Sorts Mill Goudy" pitchFamily="34" charset="0"/>
                <a:ea typeface="Sorts Mill Goudy" pitchFamily="34" charset="-122"/>
                <a:cs typeface="Sorts Mill Goudy" pitchFamily="34" charset="-120"/>
              </a:rPr>
              <a:t>Observation:</a:t>
            </a:r>
            <a:r>
              <a:rPr lang="en-US" sz="1088" dirty="0">
                <a:solidFill>
                  <a:srgbClr val="1F2937"/>
                </a:solidFill>
                <a:latin typeface="Sorts Mill Goudy" pitchFamily="34" charset="0"/>
                <a:ea typeface="Sorts Mill Goudy" pitchFamily="34" charset="-122"/>
                <a:cs typeface="Sorts Mill Goudy" pitchFamily="34" charset="-120"/>
              </a:rPr>
              <a:t> Large gap between macro and micro F1 indicates role frequency imbalance—frequent core arguments are easier than rare roles.</a:t>
            </a:r>
            <a:endParaRPr lang="en-US" sz="1600" dirty="0"/>
          </a:p>
        </p:txBody>
      </p:sp>
      <p:sp>
        <p:nvSpPr>
          <p:cNvPr id="20" name="Shape 18"/>
          <p:cNvSpPr/>
          <p:nvPr/>
        </p:nvSpPr>
        <p:spPr>
          <a:xfrm>
            <a:off x="6232129" y="1139762"/>
            <a:ext cx="5612465" cy="3868283"/>
          </a:xfrm>
          <a:custGeom>
            <a:avLst/>
            <a:gdLst/>
            <a:ahLst/>
            <a:cxnLst/>
            <a:rect l="l" t="t" r="r" b="b"/>
            <a:pathLst>
              <a:path w="5612465" h="3868283">
                <a:moveTo>
                  <a:pt x="0" y="0"/>
                </a:moveTo>
                <a:lnTo>
                  <a:pt x="5612465" y="0"/>
                </a:lnTo>
                <a:lnTo>
                  <a:pt x="5612465" y="3868283"/>
                </a:lnTo>
                <a:lnTo>
                  <a:pt x="0" y="3868283"/>
                </a:lnTo>
                <a:lnTo>
                  <a:pt x="0" y="0"/>
                </a:lnTo>
                <a:close/>
              </a:path>
            </a:pathLst>
          </a:custGeom>
          <a:solidFill>
            <a:srgbClr val="F9FAFB"/>
          </a:solidFill>
          <a:ln/>
        </p:spPr>
      </p:sp>
      <p:sp>
        <p:nvSpPr>
          <p:cNvPr id="21" name="Text 19"/>
          <p:cNvSpPr/>
          <p:nvPr/>
        </p:nvSpPr>
        <p:spPr>
          <a:xfrm>
            <a:off x="6439359" y="1346992"/>
            <a:ext cx="5284351" cy="241768"/>
          </a:xfrm>
          <a:prstGeom prst="rect">
            <a:avLst/>
          </a:prstGeom>
          <a:noFill/>
          <a:ln/>
        </p:spPr>
        <p:txBody>
          <a:bodyPr wrap="square" lIns="0" tIns="0" rIns="0" bIns="0" rtlCol="0" anchor="ctr"/>
          <a:lstStyle/>
          <a:p>
            <a:pPr>
              <a:lnSpc>
                <a:spcPct val="120000"/>
              </a:lnSpc>
            </a:pPr>
            <a:r>
              <a:rPr lang="en-US" sz="1360" b="1" dirty="0">
                <a:solidFill>
                  <a:srgbClr val="1F2937"/>
                </a:solidFill>
                <a:latin typeface="Sorts Mill Goudy" pitchFamily="34" charset="0"/>
                <a:ea typeface="Sorts Mill Goudy" pitchFamily="34" charset="-122"/>
                <a:cs typeface="Sorts Mill Goudy" pitchFamily="34" charset="-120"/>
              </a:rPr>
              <a:t>QA Performance</a:t>
            </a:r>
            <a:endParaRPr lang="en-US" sz="1600" dirty="0"/>
          </a:p>
        </p:txBody>
      </p:sp>
      <p:sp>
        <p:nvSpPr>
          <p:cNvPr id="22" name="Shape 20"/>
          <p:cNvSpPr/>
          <p:nvPr/>
        </p:nvSpPr>
        <p:spPr>
          <a:xfrm>
            <a:off x="6443676" y="1731229"/>
            <a:ext cx="5189371" cy="664861"/>
          </a:xfrm>
          <a:custGeom>
            <a:avLst/>
            <a:gdLst/>
            <a:ahLst/>
            <a:cxnLst/>
            <a:rect l="l" t="t" r="r" b="b"/>
            <a:pathLst>
              <a:path w="5189371" h="664861">
                <a:moveTo>
                  <a:pt x="0" y="0"/>
                </a:moveTo>
                <a:lnTo>
                  <a:pt x="5189371" y="0"/>
                </a:lnTo>
                <a:lnTo>
                  <a:pt x="5189371" y="664861"/>
                </a:lnTo>
                <a:lnTo>
                  <a:pt x="0" y="664861"/>
                </a:lnTo>
                <a:lnTo>
                  <a:pt x="0" y="0"/>
                </a:lnTo>
                <a:close/>
              </a:path>
            </a:pathLst>
          </a:custGeom>
          <a:solidFill>
            <a:srgbClr val="FFFFFF"/>
          </a:solidFill>
          <a:ln w="12700">
            <a:solidFill>
              <a:srgbClr val="E5E7EB"/>
            </a:solidFill>
            <a:prstDash val="solid"/>
          </a:ln>
        </p:spPr>
      </p:sp>
      <p:sp>
        <p:nvSpPr>
          <p:cNvPr id="23" name="Text 21"/>
          <p:cNvSpPr/>
          <p:nvPr/>
        </p:nvSpPr>
        <p:spPr>
          <a:xfrm>
            <a:off x="6586146" y="1873700"/>
            <a:ext cx="1139762" cy="207229"/>
          </a:xfrm>
          <a:prstGeom prst="rect">
            <a:avLst/>
          </a:prstGeom>
          <a:noFill/>
          <a:ln/>
        </p:spPr>
        <p:txBody>
          <a:bodyPr wrap="square" lIns="0" tIns="0" rIns="0" bIns="0" rtlCol="0" anchor="ctr"/>
          <a:lstStyle/>
          <a:p>
            <a:pPr>
              <a:lnSpc>
                <a:spcPct val="130000"/>
              </a:lnSpc>
            </a:pPr>
            <a:r>
              <a:rPr lang="en-US" sz="1088" b="1" dirty="0">
                <a:solidFill>
                  <a:srgbClr val="1F2937"/>
                </a:solidFill>
                <a:latin typeface="Sorts Mill Goudy" pitchFamily="34" charset="0"/>
                <a:ea typeface="Sorts Mill Goudy" pitchFamily="34" charset="-122"/>
                <a:cs typeface="Sorts Mill Goudy" pitchFamily="34" charset="-120"/>
              </a:rPr>
              <a:t>Exact Match (EM)</a:t>
            </a:r>
            <a:endParaRPr lang="en-US" sz="1600" dirty="0"/>
          </a:p>
        </p:txBody>
      </p:sp>
      <p:sp>
        <p:nvSpPr>
          <p:cNvPr id="24" name="Text 22"/>
          <p:cNvSpPr/>
          <p:nvPr/>
        </p:nvSpPr>
        <p:spPr>
          <a:xfrm>
            <a:off x="6586146" y="2080929"/>
            <a:ext cx="1131127" cy="172691"/>
          </a:xfrm>
          <a:prstGeom prst="rect">
            <a:avLst/>
          </a:prstGeom>
          <a:noFill/>
          <a:ln/>
        </p:spPr>
        <p:txBody>
          <a:bodyPr wrap="square" lIns="0" tIns="0" rIns="0" bIns="0" rtlCol="0" anchor="ctr"/>
          <a:lstStyle/>
          <a:p>
            <a:pPr>
              <a:lnSpc>
                <a:spcPct val="120000"/>
              </a:lnSpc>
            </a:pPr>
            <a:r>
              <a:rPr lang="en-US" sz="952" dirty="0">
                <a:solidFill>
                  <a:srgbClr val="6B7280"/>
                </a:solidFill>
                <a:latin typeface="Sorts Mill Goudy" pitchFamily="34" charset="0"/>
                <a:ea typeface="Sorts Mill Goudy" pitchFamily="34" charset="-122"/>
                <a:cs typeface="Sorts Mill Goudy" pitchFamily="34" charset="-120"/>
              </a:rPr>
              <a:t>Perfect span match</a:t>
            </a:r>
            <a:endParaRPr lang="en-US" sz="1600" dirty="0"/>
          </a:p>
        </p:txBody>
      </p:sp>
      <p:sp>
        <p:nvSpPr>
          <p:cNvPr id="25" name="Text 23"/>
          <p:cNvSpPr/>
          <p:nvPr/>
        </p:nvSpPr>
        <p:spPr>
          <a:xfrm>
            <a:off x="10980193" y="1908238"/>
            <a:ext cx="638958" cy="310844"/>
          </a:xfrm>
          <a:prstGeom prst="rect">
            <a:avLst/>
          </a:prstGeom>
          <a:noFill/>
          <a:ln/>
        </p:spPr>
        <p:txBody>
          <a:bodyPr wrap="square" lIns="0" tIns="0" rIns="0" bIns="0" rtlCol="0" anchor="ctr"/>
          <a:lstStyle/>
          <a:p>
            <a:pPr>
              <a:lnSpc>
                <a:spcPct val="100000"/>
              </a:lnSpc>
            </a:pPr>
            <a:r>
              <a:rPr lang="en-US" sz="2040" b="1" dirty="0">
                <a:solidFill>
                  <a:srgbClr val="8B0000"/>
                </a:solidFill>
                <a:latin typeface="Sorts Mill Goudy" pitchFamily="34" charset="0"/>
                <a:ea typeface="Sorts Mill Goudy" pitchFamily="34" charset="-122"/>
                <a:cs typeface="Sorts Mill Goudy" pitchFamily="34" charset="-120"/>
              </a:rPr>
              <a:t>0.518</a:t>
            </a:r>
            <a:endParaRPr lang="en-US" sz="1600" dirty="0"/>
          </a:p>
        </p:txBody>
      </p:sp>
      <p:sp>
        <p:nvSpPr>
          <p:cNvPr id="26" name="Shape 24"/>
          <p:cNvSpPr/>
          <p:nvPr/>
        </p:nvSpPr>
        <p:spPr>
          <a:xfrm>
            <a:off x="6443676" y="2508340"/>
            <a:ext cx="5189371" cy="664861"/>
          </a:xfrm>
          <a:custGeom>
            <a:avLst/>
            <a:gdLst/>
            <a:ahLst/>
            <a:cxnLst/>
            <a:rect l="l" t="t" r="r" b="b"/>
            <a:pathLst>
              <a:path w="5189371" h="664861">
                <a:moveTo>
                  <a:pt x="0" y="0"/>
                </a:moveTo>
                <a:lnTo>
                  <a:pt x="5189371" y="0"/>
                </a:lnTo>
                <a:lnTo>
                  <a:pt x="5189371" y="664861"/>
                </a:lnTo>
                <a:lnTo>
                  <a:pt x="0" y="664861"/>
                </a:lnTo>
                <a:lnTo>
                  <a:pt x="0" y="0"/>
                </a:lnTo>
                <a:close/>
              </a:path>
            </a:pathLst>
          </a:custGeom>
          <a:solidFill>
            <a:srgbClr val="FFFFFF"/>
          </a:solidFill>
          <a:ln w="12700">
            <a:solidFill>
              <a:srgbClr val="E5E7EB"/>
            </a:solidFill>
            <a:prstDash val="solid"/>
          </a:ln>
        </p:spPr>
      </p:sp>
      <p:sp>
        <p:nvSpPr>
          <p:cNvPr id="27" name="Text 25"/>
          <p:cNvSpPr/>
          <p:nvPr/>
        </p:nvSpPr>
        <p:spPr>
          <a:xfrm>
            <a:off x="6586146" y="2650810"/>
            <a:ext cx="820283" cy="207229"/>
          </a:xfrm>
          <a:prstGeom prst="rect">
            <a:avLst/>
          </a:prstGeom>
          <a:noFill/>
          <a:ln/>
        </p:spPr>
        <p:txBody>
          <a:bodyPr wrap="square" lIns="0" tIns="0" rIns="0" bIns="0" rtlCol="0" anchor="ctr"/>
          <a:lstStyle/>
          <a:p>
            <a:pPr>
              <a:lnSpc>
                <a:spcPct val="130000"/>
              </a:lnSpc>
            </a:pPr>
            <a:r>
              <a:rPr lang="en-US" sz="1088" b="1" dirty="0">
                <a:solidFill>
                  <a:srgbClr val="1F2937"/>
                </a:solidFill>
                <a:latin typeface="Sorts Mill Goudy" pitchFamily="34" charset="0"/>
                <a:ea typeface="Sorts Mill Goudy" pitchFamily="34" charset="-122"/>
                <a:cs typeface="Sorts Mill Goudy" pitchFamily="34" charset="-120"/>
              </a:rPr>
              <a:t>Token F1</a:t>
            </a:r>
            <a:endParaRPr lang="en-US" sz="1600" dirty="0"/>
          </a:p>
        </p:txBody>
      </p:sp>
      <p:sp>
        <p:nvSpPr>
          <p:cNvPr id="28" name="Text 26"/>
          <p:cNvSpPr/>
          <p:nvPr/>
        </p:nvSpPr>
        <p:spPr>
          <a:xfrm>
            <a:off x="6586146" y="2858040"/>
            <a:ext cx="811649" cy="172691"/>
          </a:xfrm>
          <a:prstGeom prst="rect">
            <a:avLst/>
          </a:prstGeom>
          <a:noFill/>
          <a:ln/>
        </p:spPr>
        <p:txBody>
          <a:bodyPr wrap="square" lIns="0" tIns="0" rIns="0" bIns="0" rtlCol="0" anchor="ctr"/>
          <a:lstStyle/>
          <a:p>
            <a:pPr>
              <a:lnSpc>
                <a:spcPct val="120000"/>
              </a:lnSpc>
            </a:pPr>
            <a:r>
              <a:rPr lang="en-US" sz="952" dirty="0">
                <a:solidFill>
                  <a:srgbClr val="6B7280"/>
                </a:solidFill>
                <a:latin typeface="Sorts Mill Goudy" pitchFamily="34" charset="0"/>
                <a:ea typeface="Sorts Mill Goudy" pitchFamily="34" charset="-122"/>
                <a:cs typeface="Sorts Mill Goudy" pitchFamily="34" charset="-120"/>
              </a:rPr>
              <a:t>Partial overlap</a:t>
            </a:r>
            <a:endParaRPr lang="en-US" sz="1600" dirty="0"/>
          </a:p>
        </p:txBody>
      </p:sp>
      <p:sp>
        <p:nvSpPr>
          <p:cNvPr id="29" name="Text 27"/>
          <p:cNvSpPr/>
          <p:nvPr/>
        </p:nvSpPr>
        <p:spPr>
          <a:xfrm>
            <a:off x="10939719" y="2685348"/>
            <a:ext cx="682130" cy="310844"/>
          </a:xfrm>
          <a:prstGeom prst="rect">
            <a:avLst/>
          </a:prstGeom>
          <a:noFill/>
          <a:ln/>
        </p:spPr>
        <p:txBody>
          <a:bodyPr wrap="square" lIns="0" tIns="0" rIns="0" bIns="0" rtlCol="0" anchor="ctr"/>
          <a:lstStyle/>
          <a:p>
            <a:pPr>
              <a:lnSpc>
                <a:spcPct val="100000"/>
              </a:lnSpc>
            </a:pPr>
            <a:r>
              <a:rPr lang="en-US" sz="2040" b="1" dirty="0">
                <a:solidFill>
                  <a:srgbClr val="8B0000"/>
                </a:solidFill>
                <a:latin typeface="Sorts Mill Goudy" pitchFamily="34" charset="0"/>
                <a:ea typeface="Sorts Mill Goudy" pitchFamily="34" charset="-122"/>
                <a:cs typeface="Sorts Mill Goudy" pitchFamily="34" charset="-120"/>
              </a:rPr>
              <a:t>0.761</a:t>
            </a:r>
            <a:endParaRPr lang="en-US" sz="1600" dirty="0"/>
          </a:p>
        </p:txBody>
      </p:sp>
      <p:sp>
        <p:nvSpPr>
          <p:cNvPr id="30" name="Shape 28"/>
          <p:cNvSpPr/>
          <p:nvPr/>
        </p:nvSpPr>
        <p:spPr>
          <a:xfrm>
            <a:off x="6443676" y="3285450"/>
            <a:ext cx="5189371" cy="664861"/>
          </a:xfrm>
          <a:custGeom>
            <a:avLst/>
            <a:gdLst/>
            <a:ahLst/>
            <a:cxnLst/>
            <a:rect l="l" t="t" r="r" b="b"/>
            <a:pathLst>
              <a:path w="5189371" h="664861">
                <a:moveTo>
                  <a:pt x="0" y="0"/>
                </a:moveTo>
                <a:lnTo>
                  <a:pt x="5189371" y="0"/>
                </a:lnTo>
                <a:lnTo>
                  <a:pt x="5189371" y="664861"/>
                </a:lnTo>
                <a:lnTo>
                  <a:pt x="0" y="664861"/>
                </a:lnTo>
                <a:lnTo>
                  <a:pt x="0" y="0"/>
                </a:lnTo>
                <a:close/>
              </a:path>
            </a:pathLst>
          </a:custGeom>
          <a:solidFill>
            <a:srgbClr val="FFFFFF"/>
          </a:solidFill>
          <a:ln w="12700">
            <a:solidFill>
              <a:srgbClr val="E5E7EB"/>
            </a:solidFill>
            <a:prstDash val="solid"/>
          </a:ln>
        </p:spPr>
      </p:sp>
      <p:sp>
        <p:nvSpPr>
          <p:cNvPr id="31" name="Text 29"/>
          <p:cNvSpPr/>
          <p:nvPr/>
        </p:nvSpPr>
        <p:spPr>
          <a:xfrm>
            <a:off x="6586146" y="3427921"/>
            <a:ext cx="1182935" cy="207229"/>
          </a:xfrm>
          <a:prstGeom prst="rect">
            <a:avLst/>
          </a:prstGeom>
          <a:noFill/>
          <a:ln/>
        </p:spPr>
        <p:txBody>
          <a:bodyPr wrap="square" lIns="0" tIns="0" rIns="0" bIns="0" rtlCol="0" anchor="ctr"/>
          <a:lstStyle/>
          <a:p>
            <a:pPr>
              <a:lnSpc>
                <a:spcPct val="130000"/>
              </a:lnSpc>
            </a:pPr>
            <a:r>
              <a:rPr lang="en-US" sz="1088" b="1" dirty="0">
                <a:solidFill>
                  <a:srgbClr val="1F2937"/>
                </a:solidFill>
                <a:latin typeface="Sorts Mill Goudy" pitchFamily="34" charset="0"/>
                <a:ea typeface="Sorts Mill Goudy" pitchFamily="34" charset="-122"/>
                <a:cs typeface="Sorts Mill Goudy" pitchFamily="34" charset="-120"/>
              </a:rPr>
              <a:t>Best Validation F1</a:t>
            </a:r>
            <a:endParaRPr lang="en-US" sz="1600" dirty="0"/>
          </a:p>
        </p:txBody>
      </p:sp>
      <p:sp>
        <p:nvSpPr>
          <p:cNvPr id="32" name="Text 30"/>
          <p:cNvSpPr/>
          <p:nvPr/>
        </p:nvSpPr>
        <p:spPr>
          <a:xfrm>
            <a:off x="6586146" y="3635150"/>
            <a:ext cx="1174300" cy="172691"/>
          </a:xfrm>
          <a:prstGeom prst="rect">
            <a:avLst/>
          </a:prstGeom>
          <a:noFill/>
          <a:ln/>
        </p:spPr>
        <p:txBody>
          <a:bodyPr wrap="square" lIns="0" tIns="0" rIns="0" bIns="0" rtlCol="0" anchor="ctr"/>
          <a:lstStyle/>
          <a:p>
            <a:pPr>
              <a:lnSpc>
                <a:spcPct val="120000"/>
              </a:lnSpc>
            </a:pPr>
            <a:r>
              <a:rPr lang="en-US" sz="952" dirty="0">
                <a:solidFill>
                  <a:srgbClr val="6B7280"/>
                </a:solidFill>
                <a:latin typeface="Sorts Mill Goudy" pitchFamily="34" charset="0"/>
                <a:ea typeface="Sorts Mill Goudy" pitchFamily="34" charset="-122"/>
                <a:cs typeface="Sorts Mill Goudy" pitchFamily="34" charset="-120"/>
              </a:rPr>
              <a:t>Checkpoint selection</a:t>
            </a:r>
            <a:endParaRPr lang="en-US" sz="1600" dirty="0"/>
          </a:p>
        </p:txBody>
      </p:sp>
      <p:sp>
        <p:nvSpPr>
          <p:cNvPr id="33" name="Text 31"/>
          <p:cNvSpPr/>
          <p:nvPr/>
        </p:nvSpPr>
        <p:spPr>
          <a:xfrm>
            <a:off x="10922045" y="3462459"/>
            <a:ext cx="699399" cy="310844"/>
          </a:xfrm>
          <a:prstGeom prst="rect">
            <a:avLst/>
          </a:prstGeom>
          <a:noFill/>
          <a:ln/>
        </p:spPr>
        <p:txBody>
          <a:bodyPr wrap="square" lIns="0" tIns="0" rIns="0" bIns="0" rtlCol="0" anchor="ctr"/>
          <a:lstStyle/>
          <a:p>
            <a:pPr>
              <a:lnSpc>
                <a:spcPct val="100000"/>
              </a:lnSpc>
            </a:pPr>
            <a:r>
              <a:rPr lang="en-US" sz="2040" b="1" dirty="0">
                <a:solidFill>
                  <a:srgbClr val="8B0000"/>
                </a:solidFill>
                <a:latin typeface="Sorts Mill Goudy" pitchFamily="34" charset="0"/>
                <a:ea typeface="Sorts Mill Goudy" pitchFamily="34" charset="-122"/>
                <a:cs typeface="Sorts Mill Goudy" pitchFamily="34" charset="-120"/>
              </a:rPr>
              <a:t>0.773</a:t>
            </a:r>
            <a:endParaRPr lang="en-US" sz="1600" dirty="0"/>
          </a:p>
        </p:txBody>
      </p:sp>
      <p:sp>
        <p:nvSpPr>
          <p:cNvPr id="34" name="Shape 32"/>
          <p:cNvSpPr/>
          <p:nvPr/>
        </p:nvSpPr>
        <p:spPr>
          <a:xfrm>
            <a:off x="6443676" y="4097099"/>
            <a:ext cx="5189371" cy="699399"/>
          </a:xfrm>
          <a:custGeom>
            <a:avLst/>
            <a:gdLst/>
            <a:ahLst/>
            <a:cxnLst/>
            <a:rect l="l" t="t" r="r" b="b"/>
            <a:pathLst>
              <a:path w="5189371" h="699399">
                <a:moveTo>
                  <a:pt x="0" y="0"/>
                </a:moveTo>
                <a:lnTo>
                  <a:pt x="5189371" y="0"/>
                </a:lnTo>
                <a:lnTo>
                  <a:pt x="5189371" y="699399"/>
                </a:lnTo>
                <a:lnTo>
                  <a:pt x="0" y="699399"/>
                </a:lnTo>
                <a:lnTo>
                  <a:pt x="0" y="0"/>
                </a:lnTo>
                <a:close/>
              </a:path>
            </a:pathLst>
          </a:custGeom>
          <a:solidFill>
            <a:srgbClr val="8B0000">
              <a:alpha val="5098"/>
            </a:srgbClr>
          </a:solidFill>
          <a:ln w="12700">
            <a:solidFill>
              <a:srgbClr val="8B0000">
                <a:alpha val="20000"/>
              </a:srgbClr>
            </a:solidFill>
            <a:prstDash val="solid"/>
          </a:ln>
        </p:spPr>
      </p:sp>
      <p:sp>
        <p:nvSpPr>
          <p:cNvPr id="35" name="Text 33"/>
          <p:cNvSpPr/>
          <p:nvPr/>
        </p:nvSpPr>
        <p:spPr>
          <a:xfrm>
            <a:off x="6586146" y="4239569"/>
            <a:ext cx="4973507" cy="414459"/>
          </a:xfrm>
          <a:prstGeom prst="rect">
            <a:avLst/>
          </a:prstGeom>
          <a:noFill/>
          <a:ln/>
        </p:spPr>
        <p:txBody>
          <a:bodyPr wrap="square" lIns="0" tIns="0" rIns="0" bIns="0" rtlCol="0" anchor="ctr"/>
          <a:lstStyle/>
          <a:p>
            <a:pPr>
              <a:lnSpc>
                <a:spcPct val="130000"/>
              </a:lnSpc>
            </a:pPr>
            <a:r>
              <a:rPr lang="en-US" sz="1088" b="1" dirty="0">
                <a:solidFill>
                  <a:srgbClr val="1F2937"/>
                </a:solidFill>
                <a:latin typeface="Sorts Mill Goudy" pitchFamily="34" charset="0"/>
                <a:ea typeface="Sorts Mill Goudy" pitchFamily="34" charset="-122"/>
                <a:cs typeface="Sorts Mill Goudy" pitchFamily="34" charset="-120"/>
              </a:rPr>
              <a:t>Observation:</a:t>
            </a:r>
            <a:r>
              <a:rPr lang="en-US" sz="1088" dirty="0">
                <a:solidFill>
                  <a:srgbClr val="1F2937"/>
                </a:solidFill>
                <a:latin typeface="Sorts Mill Goudy" pitchFamily="34" charset="0"/>
                <a:ea typeface="Sorts Mill Goudy" pitchFamily="34" charset="-122"/>
                <a:cs typeface="Sorts Mill Goudy" pitchFamily="34" charset="-120"/>
              </a:rPr>
              <a:t> EM-F1 gap (0.243) indicates model often identifies correct content region but misses exact boundaries—boundary modeling is critical.</a:t>
            </a:r>
            <a:endParaRPr lang="en-US" sz="1600" dirty="0"/>
          </a:p>
        </p:txBody>
      </p:sp>
      <p:sp>
        <p:nvSpPr>
          <p:cNvPr id="36" name="Shape 34"/>
          <p:cNvSpPr/>
          <p:nvPr/>
        </p:nvSpPr>
        <p:spPr>
          <a:xfrm>
            <a:off x="6232129" y="5215275"/>
            <a:ext cx="5612465" cy="1433337"/>
          </a:xfrm>
          <a:custGeom>
            <a:avLst/>
            <a:gdLst/>
            <a:ahLst/>
            <a:cxnLst/>
            <a:rect l="l" t="t" r="r" b="b"/>
            <a:pathLst>
              <a:path w="5612465" h="1433337">
                <a:moveTo>
                  <a:pt x="0" y="0"/>
                </a:moveTo>
                <a:lnTo>
                  <a:pt x="5612465" y="0"/>
                </a:lnTo>
                <a:lnTo>
                  <a:pt x="5612465" y="1433337"/>
                </a:lnTo>
                <a:lnTo>
                  <a:pt x="0" y="1433337"/>
                </a:lnTo>
                <a:lnTo>
                  <a:pt x="0" y="0"/>
                </a:lnTo>
                <a:close/>
              </a:path>
            </a:pathLst>
          </a:custGeom>
          <a:solidFill>
            <a:srgbClr val="F9FAFB"/>
          </a:solidFill>
          <a:ln/>
        </p:spPr>
      </p:sp>
      <p:sp>
        <p:nvSpPr>
          <p:cNvPr id="37" name="Text 35"/>
          <p:cNvSpPr/>
          <p:nvPr/>
        </p:nvSpPr>
        <p:spPr>
          <a:xfrm>
            <a:off x="6439359" y="5422504"/>
            <a:ext cx="5284351" cy="241768"/>
          </a:xfrm>
          <a:prstGeom prst="rect">
            <a:avLst/>
          </a:prstGeom>
          <a:noFill/>
          <a:ln/>
        </p:spPr>
        <p:txBody>
          <a:bodyPr wrap="square" lIns="0" tIns="0" rIns="0" bIns="0" rtlCol="0" anchor="ctr"/>
          <a:lstStyle/>
          <a:p>
            <a:pPr>
              <a:lnSpc>
                <a:spcPct val="120000"/>
              </a:lnSpc>
            </a:pPr>
            <a:r>
              <a:rPr lang="en-US" sz="1360" b="1" dirty="0">
                <a:solidFill>
                  <a:srgbClr val="1F2937"/>
                </a:solidFill>
                <a:latin typeface="Sorts Mill Goudy" pitchFamily="34" charset="0"/>
                <a:ea typeface="Sorts Mill Goudy" pitchFamily="34" charset="-122"/>
                <a:cs typeface="Sorts Mill Goudy" pitchFamily="34" charset="-120"/>
              </a:rPr>
              <a:t>Training Summary</a:t>
            </a:r>
            <a:endParaRPr lang="en-US" sz="1600" dirty="0"/>
          </a:p>
        </p:txBody>
      </p:sp>
      <p:sp>
        <p:nvSpPr>
          <p:cNvPr id="38" name="Shape 36"/>
          <p:cNvSpPr/>
          <p:nvPr/>
        </p:nvSpPr>
        <p:spPr>
          <a:xfrm>
            <a:off x="6443676" y="5772204"/>
            <a:ext cx="2538561" cy="664861"/>
          </a:xfrm>
          <a:custGeom>
            <a:avLst/>
            <a:gdLst/>
            <a:ahLst/>
            <a:cxnLst/>
            <a:rect l="l" t="t" r="r" b="b"/>
            <a:pathLst>
              <a:path w="2538561" h="664861">
                <a:moveTo>
                  <a:pt x="0" y="0"/>
                </a:moveTo>
                <a:lnTo>
                  <a:pt x="2538561" y="0"/>
                </a:lnTo>
                <a:lnTo>
                  <a:pt x="2538561" y="664861"/>
                </a:lnTo>
                <a:lnTo>
                  <a:pt x="0" y="664861"/>
                </a:lnTo>
                <a:lnTo>
                  <a:pt x="0" y="0"/>
                </a:lnTo>
                <a:close/>
              </a:path>
            </a:pathLst>
          </a:custGeom>
          <a:solidFill>
            <a:srgbClr val="FFFFFF"/>
          </a:solidFill>
          <a:ln w="12700">
            <a:solidFill>
              <a:srgbClr val="E5E7EB"/>
            </a:solidFill>
            <a:prstDash val="solid"/>
          </a:ln>
        </p:spPr>
      </p:sp>
      <p:sp>
        <p:nvSpPr>
          <p:cNvPr id="39" name="Text 37"/>
          <p:cNvSpPr/>
          <p:nvPr/>
        </p:nvSpPr>
        <p:spPr>
          <a:xfrm>
            <a:off x="6521387" y="5880136"/>
            <a:ext cx="2383139" cy="172691"/>
          </a:xfrm>
          <a:prstGeom prst="rect">
            <a:avLst/>
          </a:prstGeom>
          <a:noFill/>
          <a:ln/>
        </p:spPr>
        <p:txBody>
          <a:bodyPr wrap="square" lIns="0" tIns="0" rIns="0" bIns="0" rtlCol="0" anchor="ctr"/>
          <a:lstStyle/>
          <a:p>
            <a:pPr algn="ctr">
              <a:lnSpc>
                <a:spcPct val="120000"/>
              </a:lnSpc>
            </a:pPr>
            <a:r>
              <a:rPr lang="en-US" sz="952" dirty="0">
                <a:solidFill>
                  <a:srgbClr val="6B7280"/>
                </a:solidFill>
                <a:latin typeface="Sorts Mill Goudy" pitchFamily="34" charset="0"/>
                <a:ea typeface="Sorts Mill Goudy" pitchFamily="34" charset="-122"/>
                <a:cs typeface="Sorts Mill Goudy" pitchFamily="34" charset="-120"/>
              </a:rPr>
              <a:t>Best Epoch</a:t>
            </a:r>
            <a:endParaRPr lang="en-US" sz="1600" dirty="0"/>
          </a:p>
        </p:txBody>
      </p:sp>
      <p:sp>
        <p:nvSpPr>
          <p:cNvPr id="40" name="Text 38"/>
          <p:cNvSpPr/>
          <p:nvPr/>
        </p:nvSpPr>
        <p:spPr>
          <a:xfrm>
            <a:off x="6499801" y="6052827"/>
            <a:ext cx="2426312" cy="276306"/>
          </a:xfrm>
          <a:prstGeom prst="rect">
            <a:avLst/>
          </a:prstGeom>
          <a:noFill/>
          <a:ln/>
        </p:spPr>
        <p:txBody>
          <a:bodyPr wrap="square" lIns="0" tIns="0" rIns="0" bIns="0" rtlCol="0" anchor="ctr"/>
          <a:lstStyle/>
          <a:p>
            <a:pPr algn="ctr">
              <a:lnSpc>
                <a:spcPct val="110000"/>
              </a:lnSpc>
            </a:pPr>
            <a:r>
              <a:rPr lang="en-US" sz="1632" b="1" dirty="0">
                <a:solidFill>
                  <a:srgbClr val="8B0000"/>
                </a:solidFill>
                <a:latin typeface="Sorts Mill Goudy" pitchFamily="34" charset="0"/>
                <a:ea typeface="Sorts Mill Goudy" pitchFamily="34" charset="-122"/>
                <a:cs typeface="Sorts Mill Goudy" pitchFamily="34" charset="-120"/>
              </a:rPr>
              <a:t>6</a:t>
            </a:r>
            <a:endParaRPr lang="en-US" sz="1600" dirty="0"/>
          </a:p>
        </p:txBody>
      </p:sp>
      <p:sp>
        <p:nvSpPr>
          <p:cNvPr id="41" name="Shape 39"/>
          <p:cNvSpPr/>
          <p:nvPr/>
        </p:nvSpPr>
        <p:spPr>
          <a:xfrm>
            <a:off x="9093542" y="5772204"/>
            <a:ext cx="2538561" cy="664861"/>
          </a:xfrm>
          <a:custGeom>
            <a:avLst/>
            <a:gdLst/>
            <a:ahLst/>
            <a:cxnLst/>
            <a:rect l="l" t="t" r="r" b="b"/>
            <a:pathLst>
              <a:path w="2538561" h="664861">
                <a:moveTo>
                  <a:pt x="0" y="0"/>
                </a:moveTo>
                <a:lnTo>
                  <a:pt x="2538561" y="0"/>
                </a:lnTo>
                <a:lnTo>
                  <a:pt x="2538561" y="664861"/>
                </a:lnTo>
                <a:lnTo>
                  <a:pt x="0" y="664861"/>
                </a:lnTo>
                <a:lnTo>
                  <a:pt x="0" y="0"/>
                </a:lnTo>
                <a:close/>
              </a:path>
            </a:pathLst>
          </a:custGeom>
          <a:solidFill>
            <a:srgbClr val="FFFFFF"/>
          </a:solidFill>
          <a:ln w="12700">
            <a:solidFill>
              <a:srgbClr val="E5E7EB"/>
            </a:solidFill>
            <a:prstDash val="solid"/>
          </a:ln>
        </p:spPr>
      </p:sp>
      <p:sp>
        <p:nvSpPr>
          <p:cNvPr id="42" name="Text 40"/>
          <p:cNvSpPr/>
          <p:nvPr/>
        </p:nvSpPr>
        <p:spPr>
          <a:xfrm>
            <a:off x="9171253" y="5880136"/>
            <a:ext cx="2383139" cy="172691"/>
          </a:xfrm>
          <a:prstGeom prst="rect">
            <a:avLst/>
          </a:prstGeom>
          <a:noFill/>
          <a:ln/>
        </p:spPr>
        <p:txBody>
          <a:bodyPr wrap="square" lIns="0" tIns="0" rIns="0" bIns="0" rtlCol="0" anchor="ctr"/>
          <a:lstStyle/>
          <a:p>
            <a:pPr algn="ctr">
              <a:lnSpc>
                <a:spcPct val="120000"/>
              </a:lnSpc>
            </a:pPr>
            <a:r>
              <a:rPr lang="en-US" sz="952" dirty="0">
                <a:solidFill>
                  <a:srgbClr val="6B7280"/>
                </a:solidFill>
                <a:latin typeface="Sorts Mill Goudy" pitchFamily="34" charset="0"/>
                <a:ea typeface="Sorts Mill Goudy" pitchFamily="34" charset="-122"/>
                <a:cs typeface="Sorts Mill Goudy" pitchFamily="34" charset="-120"/>
              </a:rPr>
              <a:t>Parameters</a:t>
            </a:r>
            <a:endParaRPr lang="en-US" sz="1600" dirty="0"/>
          </a:p>
        </p:txBody>
      </p:sp>
      <p:sp>
        <p:nvSpPr>
          <p:cNvPr id="43" name="Text 41"/>
          <p:cNvSpPr/>
          <p:nvPr/>
        </p:nvSpPr>
        <p:spPr>
          <a:xfrm>
            <a:off x="9149666" y="6052827"/>
            <a:ext cx="2426312" cy="276306"/>
          </a:xfrm>
          <a:prstGeom prst="rect">
            <a:avLst/>
          </a:prstGeom>
          <a:noFill/>
          <a:ln/>
        </p:spPr>
        <p:txBody>
          <a:bodyPr wrap="square" lIns="0" tIns="0" rIns="0" bIns="0" rtlCol="0" anchor="ctr"/>
          <a:lstStyle/>
          <a:p>
            <a:pPr algn="ctr">
              <a:lnSpc>
                <a:spcPct val="110000"/>
              </a:lnSpc>
            </a:pPr>
            <a:r>
              <a:rPr lang="en-US" sz="1632" b="1" dirty="0">
                <a:solidFill>
                  <a:srgbClr val="8B0000"/>
                </a:solidFill>
                <a:latin typeface="Sorts Mill Goudy" pitchFamily="34" charset="0"/>
                <a:ea typeface="Sorts Mill Goudy" pitchFamily="34" charset="-122"/>
                <a:cs typeface="Sorts Mill Goudy" pitchFamily="34" charset="-120"/>
              </a:rPr>
              <a:t>1.78M</a:t>
            </a:r>
            <a:endParaRPr lang="en-US" sz="1600" dirty="0"/>
          </a:p>
        </p:txBody>
      </p:sp>
    </p:spTree>
    <p:extLst>
      <p:ext uri="{BB962C8B-B14F-4D97-AF65-F5344CB8AC3E}">
        <p14:creationId xmlns:p14="http://schemas.microsoft.com/office/powerpoint/2010/main" val="2159060142"/>
      </p:ext>
    </p:extLst>
  </p:cSld>
  <p:clrMapOvr>
    <a:masterClrMapping/>
  </p:clrMapOvr>
  <p:transition>
    <p:fade/>
  </p:transition>
</p:sld>
</file>

<file path=ppt/slides/slide6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79813" y="379813"/>
            <a:ext cx="11498841" cy="189907"/>
          </a:xfrm>
          <a:prstGeom prst="rect">
            <a:avLst/>
          </a:prstGeom>
          <a:noFill/>
          <a:ln/>
        </p:spPr>
        <p:txBody>
          <a:bodyPr wrap="square" lIns="0" tIns="0" rIns="0" bIns="0" rtlCol="0" anchor="ctr"/>
          <a:lstStyle/>
          <a:p>
            <a:pPr>
              <a:lnSpc>
                <a:spcPct val="120000"/>
              </a:lnSpc>
            </a:pPr>
            <a:r>
              <a:rPr lang="en-US" sz="1047" b="1" kern="0" spc="52" dirty="0">
                <a:solidFill>
                  <a:srgbClr val="8B0000"/>
                </a:solidFill>
                <a:latin typeface="Sorts Mill Goudy" pitchFamily="34" charset="0"/>
                <a:ea typeface="Sorts Mill Goudy" pitchFamily="34" charset="-122"/>
                <a:cs typeface="Sorts Mill Goudy" pitchFamily="34" charset="-120"/>
              </a:rPr>
              <a:t>6.2 EXPERIMENTAL RESULTS</a:t>
            </a:r>
            <a:endParaRPr lang="en-US" sz="1600" dirty="0"/>
          </a:p>
        </p:txBody>
      </p:sp>
      <p:sp>
        <p:nvSpPr>
          <p:cNvPr id="3" name="Text 1"/>
          <p:cNvSpPr/>
          <p:nvPr/>
        </p:nvSpPr>
        <p:spPr>
          <a:xfrm>
            <a:off x="379813" y="645682"/>
            <a:ext cx="11603290" cy="379813"/>
          </a:xfrm>
          <a:prstGeom prst="rect">
            <a:avLst/>
          </a:prstGeom>
          <a:noFill/>
          <a:ln/>
        </p:spPr>
        <p:txBody>
          <a:bodyPr wrap="square" lIns="0" tIns="0" rIns="0" bIns="0" rtlCol="0" anchor="ctr"/>
          <a:lstStyle/>
          <a:p>
            <a:pPr>
              <a:lnSpc>
                <a:spcPct val="90000"/>
              </a:lnSpc>
            </a:pPr>
            <a:r>
              <a:rPr lang="en-US" sz="2692" b="1" dirty="0">
                <a:solidFill>
                  <a:srgbClr val="1F2937"/>
                </a:solidFill>
                <a:latin typeface="Sorts Mill Goudy" pitchFamily="34" charset="0"/>
                <a:ea typeface="Sorts Mill Goudy" pitchFamily="34" charset="-122"/>
                <a:cs typeface="Sorts Mill Goudy" pitchFamily="34" charset="-120"/>
              </a:rPr>
              <a:t>Performance by Question Type</a:t>
            </a:r>
            <a:endParaRPr lang="en-US" sz="1600" dirty="0"/>
          </a:p>
        </p:txBody>
      </p:sp>
      <p:sp>
        <p:nvSpPr>
          <p:cNvPr id="4" name="Shape 2"/>
          <p:cNvSpPr/>
          <p:nvPr/>
        </p:nvSpPr>
        <p:spPr>
          <a:xfrm>
            <a:off x="379813" y="1253383"/>
            <a:ext cx="6675215" cy="5602243"/>
          </a:xfrm>
          <a:custGeom>
            <a:avLst/>
            <a:gdLst/>
            <a:ahLst/>
            <a:cxnLst/>
            <a:rect l="l" t="t" r="r" b="b"/>
            <a:pathLst>
              <a:path w="6675215" h="5602243">
                <a:moveTo>
                  <a:pt x="0" y="0"/>
                </a:moveTo>
                <a:lnTo>
                  <a:pt x="6675215" y="0"/>
                </a:lnTo>
                <a:lnTo>
                  <a:pt x="6675215" y="5602243"/>
                </a:lnTo>
                <a:lnTo>
                  <a:pt x="0" y="5602243"/>
                </a:lnTo>
                <a:lnTo>
                  <a:pt x="0" y="0"/>
                </a:lnTo>
                <a:close/>
              </a:path>
            </a:pathLst>
          </a:custGeom>
          <a:solidFill>
            <a:srgbClr val="F9FAFB"/>
          </a:solidFill>
          <a:ln/>
        </p:spPr>
      </p:sp>
      <p:sp>
        <p:nvSpPr>
          <p:cNvPr id="5" name="Text 3"/>
          <p:cNvSpPr/>
          <p:nvPr/>
        </p:nvSpPr>
        <p:spPr>
          <a:xfrm>
            <a:off x="607701" y="1481271"/>
            <a:ext cx="6314393" cy="265869"/>
          </a:xfrm>
          <a:prstGeom prst="rect">
            <a:avLst/>
          </a:prstGeom>
          <a:noFill/>
          <a:ln/>
        </p:spPr>
        <p:txBody>
          <a:bodyPr wrap="square" lIns="0" tIns="0" rIns="0" bIns="0" rtlCol="0" anchor="ctr"/>
          <a:lstStyle/>
          <a:p>
            <a:pPr>
              <a:lnSpc>
                <a:spcPct val="120000"/>
              </a:lnSpc>
            </a:pPr>
            <a:r>
              <a:rPr lang="en-US" sz="1495" b="1" dirty="0">
                <a:solidFill>
                  <a:srgbClr val="1F2937"/>
                </a:solidFill>
                <a:latin typeface="Sorts Mill Goudy" pitchFamily="34" charset="0"/>
                <a:ea typeface="Sorts Mill Goudy" pitchFamily="34" charset="-122"/>
                <a:cs typeface="Sorts Mill Goudy" pitchFamily="34" charset="-120"/>
              </a:rPr>
              <a:t>Results Breakdown</a:t>
            </a:r>
            <a:endParaRPr lang="en-US" sz="1600" dirty="0"/>
          </a:p>
        </p:txBody>
      </p:sp>
      <p:sp>
        <p:nvSpPr>
          <p:cNvPr id="6" name="Shape 4"/>
          <p:cNvSpPr/>
          <p:nvPr/>
        </p:nvSpPr>
        <p:spPr>
          <a:xfrm>
            <a:off x="612449" y="1903813"/>
            <a:ext cx="6209944" cy="541234"/>
          </a:xfrm>
          <a:custGeom>
            <a:avLst/>
            <a:gdLst/>
            <a:ahLst/>
            <a:cxnLst/>
            <a:rect l="l" t="t" r="r" b="b"/>
            <a:pathLst>
              <a:path w="6209944" h="541234">
                <a:moveTo>
                  <a:pt x="0" y="0"/>
                </a:moveTo>
                <a:lnTo>
                  <a:pt x="6209944" y="0"/>
                </a:lnTo>
                <a:lnTo>
                  <a:pt x="6209944" y="541234"/>
                </a:lnTo>
                <a:lnTo>
                  <a:pt x="0" y="541234"/>
                </a:lnTo>
                <a:lnTo>
                  <a:pt x="0" y="0"/>
                </a:lnTo>
                <a:close/>
              </a:path>
            </a:pathLst>
          </a:custGeom>
          <a:solidFill>
            <a:srgbClr val="FFFFFF"/>
          </a:solidFill>
          <a:ln w="12700">
            <a:solidFill>
              <a:srgbClr val="E5E7EB"/>
            </a:solidFill>
            <a:prstDash val="solid"/>
          </a:ln>
        </p:spPr>
      </p:sp>
      <p:sp>
        <p:nvSpPr>
          <p:cNvPr id="7" name="Text 5"/>
          <p:cNvSpPr/>
          <p:nvPr/>
        </p:nvSpPr>
        <p:spPr>
          <a:xfrm>
            <a:off x="731140" y="2060486"/>
            <a:ext cx="835589" cy="227888"/>
          </a:xfrm>
          <a:prstGeom prst="rect">
            <a:avLst/>
          </a:prstGeom>
          <a:noFill/>
          <a:ln/>
        </p:spPr>
        <p:txBody>
          <a:bodyPr wrap="square" lIns="0" tIns="0" rIns="0" bIns="0" rtlCol="0" anchor="ctr"/>
          <a:lstStyle/>
          <a:p>
            <a:pPr>
              <a:lnSpc>
                <a:spcPct val="130000"/>
              </a:lnSpc>
            </a:pPr>
            <a:r>
              <a:rPr lang="en-US" sz="1196" b="1" dirty="0">
                <a:solidFill>
                  <a:srgbClr val="8B0000"/>
                </a:solidFill>
                <a:latin typeface="Sorts Mill Goudy" pitchFamily="34" charset="0"/>
                <a:ea typeface="Sorts Mill Goudy" pitchFamily="34" charset="-122"/>
                <a:cs typeface="Sorts Mill Goudy" pitchFamily="34" charset="-120"/>
              </a:rPr>
              <a:t>WHO</a:t>
            </a:r>
            <a:endParaRPr lang="en-US" sz="1600" dirty="0"/>
          </a:p>
        </p:txBody>
      </p:sp>
      <p:sp>
        <p:nvSpPr>
          <p:cNvPr id="8" name="Text 6"/>
          <p:cNvSpPr/>
          <p:nvPr/>
        </p:nvSpPr>
        <p:spPr>
          <a:xfrm>
            <a:off x="1642692" y="2022505"/>
            <a:ext cx="617196" cy="189907"/>
          </a:xfrm>
          <a:prstGeom prst="rect">
            <a:avLst/>
          </a:prstGeom>
          <a:noFill/>
          <a:ln/>
        </p:spPr>
        <p:txBody>
          <a:bodyPr wrap="square" lIns="0" tIns="0" rIns="0" bIns="0" rtlCol="0" anchor="ctr"/>
          <a:lstStyle/>
          <a:p>
            <a:pPr>
              <a:lnSpc>
                <a:spcPct val="120000"/>
              </a:lnSpc>
            </a:pPr>
            <a:r>
              <a:rPr lang="en-US" sz="1047" dirty="0">
                <a:solidFill>
                  <a:srgbClr val="1F2937"/>
                </a:solidFill>
                <a:latin typeface="Sorts Mill Goudy" pitchFamily="34" charset="0"/>
                <a:ea typeface="Sorts Mill Goudy" pitchFamily="34" charset="-122"/>
                <a:cs typeface="Sorts Mill Goudy" pitchFamily="34" charset="-120"/>
              </a:rPr>
              <a:t>EM: 0.618</a:t>
            </a:r>
            <a:endParaRPr lang="en-US" sz="1600" dirty="0"/>
          </a:p>
        </p:txBody>
      </p:sp>
      <p:sp>
        <p:nvSpPr>
          <p:cNvPr id="9" name="Text 7"/>
          <p:cNvSpPr/>
          <p:nvPr/>
        </p:nvSpPr>
        <p:spPr>
          <a:xfrm>
            <a:off x="4030766" y="2022505"/>
            <a:ext cx="550729" cy="189907"/>
          </a:xfrm>
          <a:prstGeom prst="rect">
            <a:avLst/>
          </a:prstGeom>
          <a:noFill/>
          <a:ln/>
        </p:spPr>
        <p:txBody>
          <a:bodyPr wrap="square" lIns="0" tIns="0" rIns="0" bIns="0" rtlCol="0" anchor="ctr"/>
          <a:lstStyle/>
          <a:p>
            <a:pPr>
              <a:lnSpc>
                <a:spcPct val="120000"/>
              </a:lnSpc>
            </a:pPr>
            <a:r>
              <a:rPr lang="en-US" sz="1047" dirty="0">
                <a:solidFill>
                  <a:srgbClr val="1F2937"/>
                </a:solidFill>
                <a:latin typeface="Sorts Mill Goudy" pitchFamily="34" charset="0"/>
                <a:ea typeface="Sorts Mill Goudy" pitchFamily="34" charset="-122"/>
                <a:cs typeface="Sorts Mill Goudy" pitchFamily="34" charset="-120"/>
              </a:rPr>
              <a:t>F1: 0.779</a:t>
            </a:r>
            <a:endParaRPr lang="en-US" sz="1600" dirty="0"/>
          </a:p>
        </p:txBody>
      </p:sp>
      <p:sp>
        <p:nvSpPr>
          <p:cNvPr id="10" name="Text 8"/>
          <p:cNvSpPr/>
          <p:nvPr/>
        </p:nvSpPr>
        <p:spPr>
          <a:xfrm>
            <a:off x="6355193" y="2022505"/>
            <a:ext cx="417794" cy="189907"/>
          </a:xfrm>
          <a:prstGeom prst="rect">
            <a:avLst/>
          </a:prstGeom>
          <a:noFill/>
          <a:ln/>
        </p:spPr>
        <p:txBody>
          <a:bodyPr wrap="square" lIns="0" tIns="0" rIns="0" bIns="0" rtlCol="0" anchor="ctr"/>
          <a:lstStyle/>
          <a:p>
            <a:pPr>
              <a:lnSpc>
                <a:spcPct val="120000"/>
              </a:lnSpc>
            </a:pPr>
            <a:r>
              <a:rPr lang="en-US" sz="1047" dirty="0">
                <a:solidFill>
                  <a:srgbClr val="6B7280"/>
                </a:solidFill>
                <a:latin typeface="Sorts Mill Goudy" pitchFamily="34" charset="0"/>
                <a:ea typeface="Sorts Mill Goudy" pitchFamily="34" charset="-122"/>
                <a:cs typeface="Sorts Mill Goudy" pitchFamily="34" charset="-120"/>
              </a:rPr>
              <a:t>n=867</a:t>
            </a:r>
            <a:endParaRPr lang="en-US" sz="1600" dirty="0"/>
          </a:p>
        </p:txBody>
      </p:sp>
      <p:sp>
        <p:nvSpPr>
          <p:cNvPr id="11" name="Shape 9"/>
          <p:cNvSpPr/>
          <p:nvPr/>
        </p:nvSpPr>
        <p:spPr>
          <a:xfrm>
            <a:off x="1642692" y="2250393"/>
            <a:ext cx="5061009" cy="75963"/>
          </a:xfrm>
          <a:custGeom>
            <a:avLst/>
            <a:gdLst/>
            <a:ahLst/>
            <a:cxnLst/>
            <a:rect l="l" t="t" r="r" b="b"/>
            <a:pathLst>
              <a:path w="5061009" h="75963">
                <a:moveTo>
                  <a:pt x="0" y="0"/>
                </a:moveTo>
                <a:lnTo>
                  <a:pt x="5061009" y="0"/>
                </a:lnTo>
                <a:lnTo>
                  <a:pt x="5061009" y="75963"/>
                </a:lnTo>
                <a:lnTo>
                  <a:pt x="0" y="75963"/>
                </a:lnTo>
                <a:lnTo>
                  <a:pt x="0" y="0"/>
                </a:lnTo>
                <a:close/>
              </a:path>
            </a:pathLst>
          </a:custGeom>
          <a:solidFill>
            <a:srgbClr val="E5E7EB"/>
          </a:solidFill>
          <a:ln/>
        </p:spPr>
      </p:sp>
      <p:sp>
        <p:nvSpPr>
          <p:cNvPr id="12" name="Shape 10"/>
          <p:cNvSpPr/>
          <p:nvPr/>
        </p:nvSpPr>
        <p:spPr>
          <a:xfrm>
            <a:off x="1642692" y="2250393"/>
            <a:ext cx="3940561" cy="75963"/>
          </a:xfrm>
          <a:custGeom>
            <a:avLst/>
            <a:gdLst/>
            <a:ahLst/>
            <a:cxnLst/>
            <a:rect l="l" t="t" r="r" b="b"/>
            <a:pathLst>
              <a:path w="3940561" h="75963">
                <a:moveTo>
                  <a:pt x="0" y="0"/>
                </a:moveTo>
                <a:lnTo>
                  <a:pt x="3940561" y="0"/>
                </a:lnTo>
                <a:lnTo>
                  <a:pt x="3940561" y="75963"/>
                </a:lnTo>
                <a:lnTo>
                  <a:pt x="0" y="75963"/>
                </a:lnTo>
                <a:lnTo>
                  <a:pt x="0" y="0"/>
                </a:lnTo>
                <a:close/>
              </a:path>
            </a:pathLst>
          </a:custGeom>
          <a:solidFill>
            <a:srgbClr val="8B0000"/>
          </a:solidFill>
          <a:ln/>
        </p:spPr>
      </p:sp>
      <p:sp>
        <p:nvSpPr>
          <p:cNvPr id="13" name="Shape 11"/>
          <p:cNvSpPr/>
          <p:nvPr/>
        </p:nvSpPr>
        <p:spPr>
          <a:xfrm>
            <a:off x="612449" y="2568486"/>
            <a:ext cx="6209944" cy="541234"/>
          </a:xfrm>
          <a:custGeom>
            <a:avLst/>
            <a:gdLst/>
            <a:ahLst/>
            <a:cxnLst/>
            <a:rect l="l" t="t" r="r" b="b"/>
            <a:pathLst>
              <a:path w="6209944" h="541234">
                <a:moveTo>
                  <a:pt x="0" y="0"/>
                </a:moveTo>
                <a:lnTo>
                  <a:pt x="6209944" y="0"/>
                </a:lnTo>
                <a:lnTo>
                  <a:pt x="6209944" y="541234"/>
                </a:lnTo>
                <a:lnTo>
                  <a:pt x="0" y="541234"/>
                </a:lnTo>
                <a:lnTo>
                  <a:pt x="0" y="0"/>
                </a:lnTo>
                <a:close/>
              </a:path>
            </a:pathLst>
          </a:custGeom>
          <a:solidFill>
            <a:srgbClr val="FFFFFF"/>
          </a:solidFill>
          <a:ln w="12700">
            <a:solidFill>
              <a:srgbClr val="E5E7EB"/>
            </a:solidFill>
            <a:prstDash val="solid"/>
          </a:ln>
        </p:spPr>
      </p:sp>
      <p:sp>
        <p:nvSpPr>
          <p:cNvPr id="14" name="Text 12"/>
          <p:cNvSpPr/>
          <p:nvPr/>
        </p:nvSpPr>
        <p:spPr>
          <a:xfrm>
            <a:off x="731140" y="2725159"/>
            <a:ext cx="835589" cy="227888"/>
          </a:xfrm>
          <a:prstGeom prst="rect">
            <a:avLst/>
          </a:prstGeom>
          <a:noFill/>
          <a:ln/>
        </p:spPr>
        <p:txBody>
          <a:bodyPr wrap="square" lIns="0" tIns="0" rIns="0" bIns="0" rtlCol="0" anchor="ctr"/>
          <a:lstStyle/>
          <a:p>
            <a:pPr>
              <a:lnSpc>
                <a:spcPct val="130000"/>
              </a:lnSpc>
            </a:pPr>
            <a:r>
              <a:rPr lang="en-US" sz="1196" b="1" dirty="0">
                <a:solidFill>
                  <a:srgbClr val="8B0000"/>
                </a:solidFill>
                <a:latin typeface="Sorts Mill Goudy" pitchFamily="34" charset="0"/>
                <a:ea typeface="Sorts Mill Goudy" pitchFamily="34" charset="-122"/>
                <a:cs typeface="Sorts Mill Goudy" pitchFamily="34" charset="-120"/>
              </a:rPr>
              <a:t>WHAT</a:t>
            </a:r>
            <a:endParaRPr lang="en-US" sz="1600" dirty="0"/>
          </a:p>
        </p:txBody>
      </p:sp>
      <p:sp>
        <p:nvSpPr>
          <p:cNvPr id="15" name="Text 13"/>
          <p:cNvSpPr/>
          <p:nvPr/>
        </p:nvSpPr>
        <p:spPr>
          <a:xfrm>
            <a:off x="1642692" y="2687178"/>
            <a:ext cx="598206" cy="189907"/>
          </a:xfrm>
          <a:prstGeom prst="rect">
            <a:avLst/>
          </a:prstGeom>
          <a:noFill/>
          <a:ln/>
        </p:spPr>
        <p:txBody>
          <a:bodyPr wrap="square" lIns="0" tIns="0" rIns="0" bIns="0" rtlCol="0" anchor="ctr"/>
          <a:lstStyle/>
          <a:p>
            <a:pPr>
              <a:lnSpc>
                <a:spcPct val="120000"/>
              </a:lnSpc>
            </a:pPr>
            <a:r>
              <a:rPr lang="en-US" sz="1047" dirty="0">
                <a:solidFill>
                  <a:srgbClr val="1F2937"/>
                </a:solidFill>
                <a:latin typeface="Sorts Mill Goudy" pitchFamily="34" charset="0"/>
                <a:ea typeface="Sorts Mill Goudy" pitchFamily="34" charset="-122"/>
                <a:cs typeface="Sorts Mill Goudy" pitchFamily="34" charset="-120"/>
              </a:rPr>
              <a:t>EM: 0.505</a:t>
            </a:r>
            <a:endParaRPr lang="en-US" sz="1600" dirty="0"/>
          </a:p>
        </p:txBody>
      </p:sp>
      <p:sp>
        <p:nvSpPr>
          <p:cNvPr id="16" name="Text 14"/>
          <p:cNvSpPr/>
          <p:nvPr/>
        </p:nvSpPr>
        <p:spPr>
          <a:xfrm>
            <a:off x="4006435" y="2687178"/>
            <a:ext cx="550729" cy="189907"/>
          </a:xfrm>
          <a:prstGeom prst="rect">
            <a:avLst/>
          </a:prstGeom>
          <a:noFill/>
          <a:ln/>
        </p:spPr>
        <p:txBody>
          <a:bodyPr wrap="square" lIns="0" tIns="0" rIns="0" bIns="0" rtlCol="0" anchor="ctr"/>
          <a:lstStyle/>
          <a:p>
            <a:pPr>
              <a:lnSpc>
                <a:spcPct val="120000"/>
              </a:lnSpc>
            </a:pPr>
            <a:r>
              <a:rPr lang="en-US" sz="1047" dirty="0">
                <a:solidFill>
                  <a:srgbClr val="1F2937"/>
                </a:solidFill>
                <a:latin typeface="Sorts Mill Goudy" pitchFamily="34" charset="0"/>
                <a:ea typeface="Sorts Mill Goudy" pitchFamily="34" charset="-122"/>
                <a:cs typeface="Sorts Mill Goudy" pitchFamily="34" charset="-120"/>
              </a:rPr>
              <a:t>F1: 0.802</a:t>
            </a:r>
            <a:endParaRPr lang="en-US" sz="1600" dirty="0"/>
          </a:p>
        </p:txBody>
      </p:sp>
      <p:sp>
        <p:nvSpPr>
          <p:cNvPr id="17" name="Text 15"/>
          <p:cNvSpPr/>
          <p:nvPr/>
        </p:nvSpPr>
        <p:spPr>
          <a:xfrm>
            <a:off x="6324185" y="2687178"/>
            <a:ext cx="446280" cy="189907"/>
          </a:xfrm>
          <a:prstGeom prst="rect">
            <a:avLst/>
          </a:prstGeom>
          <a:noFill/>
          <a:ln/>
        </p:spPr>
        <p:txBody>
          <a:bodyPr wrap="square" lIns="0" tIns="0" rIns="0" bIns="0" rtlCol="0" anchor="ctr"/>
          <a:lstStyle/>
          <a:p>
            <a:pPr>
              <a:lnSpc>
                <a:spcPct val="120000"/>
              </a:lnSpc>
            </a:pPr>
            <a:r>
              <a:rPr lang="en-US" sz="1047" dirty="0">
                <a:solidFill>
                  <a:srgbClr val="6B7280"/>
                </a:solidFill>
                <a:latin typeface="Sorts Mill Goudy" pitchFamily="34" charset="0"/>
                <a:ea typeface="Sorts Mill Goudy" pitchFamily="34" charset="-122"/>
                <a:cs typeface="Sorts Mill Goudy" pitchFamily="34" charset="-120"/>
              </a:rPr>
              <a:t>n=1937</a:t>
            </a:r>
            <a:endParaRPr lang="en-US" sz="1600" dirty="0"/>
          </a:p>
        </p:txBody>
      </p:sp>
      <p:sp>
        <p:nvSpPr>
          <p:cNvPr id="18" name="Shape 16"/>
          <p:cNvSpPr/>
          <p:nvPr/>
        </p:nvSpPr>
        <p:spPr>
          <a:xfrm>
            <a:off x="1642692" y="2915065"/>
            <a:ext cx="5061009" cy="75963"/>
          </a:xfrm>
          <a:custGeom>
            <a:avLst/>
            <a:gdLst/>
            <a:ahLst/>
            <a:cxnLst/>
            <a:rect l="l" t="t" r="r" b="b"/>
            <a:pathLst>
              <a:path w="5061009" h="75963">
                <a:moveTo>
                  <a:pt x="0" y="0"/>
                </a:moveTo>
                <a:lnTo>
                  <a:pt x="5061009" y="0"/>
                </a:lnTo>
                <a:lnTo>
                  <a:pt x="5061009" y="75963"/>
                </a:lnTo>
                <a:lnTo>
                  <a:pt x="0" y="75963"/>
                </a:lnTo>
                <a:lnTo>
                  <a:pt x="0" y="0"/>
                </a:lnTo>
                <a:close/>
              </a:path>
            </a:pathLst>
          </a:custGeom>
          <a:solidFill>
            <a:srgbClr val="E5E7EB"/>
          </a:solidFill>
          <a:ln/>
        </p:spPr>
      </p:sp>
      <p:sp>
        <p:nvSpPr>
          <p:cNvPr id="19" name="Shape 17"/>
          <p:cNvSpPr/>
          <p:nvPr/>
        </p:nvSpPr>
        <p:spPr>
          <a:xfrm>
            <a:off x="1642692" y="2915065"/>
            <a:ext cx="4054505" cy="75963"/>
          </a:xfrm>
          <a:custGeom>
            <a:avLst/>
            <a:gdLst/>
            <a:ahLst/>
            <a:cxnLst/>
            <a:rect l="l" t="t" r="r" b="b"/>
            <a:pathLst>
              <a:path w="4054505" h="75963">
                <a:moveTo>
                  <a:pt x="0" y="0"/>
                </a:moveTo>
                <a:lnTo>
                  <a:pt x="4054505" y="0"/>
                </a:lnTo>
                <a:lnTo>
                  <a:pt x="4054505" y="75963"/>
                </a:lnTo>
                <a:lnTo>
                  <a:pt x="0" y="75963"/>
                </a:lnTo>
                <a:lnTo>
                  <a:pt x="0" y="0"/>
                </a:lnTo>
                <a:close/>
              </a:path>
            </a:pathLst>
          </a:custGeom>
          <a:solidFill>
            <a:srgbClr val="8B0000"/>
          </a:solidFill>
          <a:ln/>
        </p:spPr>
      </p:sp>
      <p:sp>
        <p:nvSpPr>
          <p:cNvPr id="20" name="Shape 18"/>
          <p:cNvSpPr/>
          <p:nvPr/>
        </p:nvSpPr>
        <p:spPr>
          <a:xfrm>
            <a:off x="612449" y="3233159"/>
            <a:ext cx="6209944" cy="541234"/>
          </a:xfrm>
          <a:custGeom>
            <a:avLst/>
            <a:gdLst/>
            <a:ahLst/>
            <a:cxnLst/>
            <a:rect l="l" t="t" r="r" b="b"/>
            <a:pathLst>
              <a:path w="6209944" h="541234">
                <a:moveTo>
                  <a:pt x="0" y="0"/>
                </a:moveTo>
                <a:lnTo>
                  <a:pt x="6209944" y="0"/>
                </a:lnTo>
                <a:lnTo>
                  <a:pt x="6209944" y="541234"/>
                </a:lnTo>
                <a:lnTo>
                  <a:pt x="0" y="541234"/>
                </a:lnTo>
                <a:lnTo>
                  <a:pt x="0" y="0"/>
                </a:lnTo>
                <a:close/>
              </a:path>
            </a:pathLst>
          </a:custGeom>
          <a:solidFill>
            <a:srgbClr val="FFFFFF"/>
          </a:solidFill>
          <a:ln w="12700">
            <a:solidFill>
              <a:srgbClr val="E5E7EB"/>
            </a:solidFill>
            <a:prstDash val="solid"/>
          </a:ln>
        </p:spPr>
      </p:sp>
      <p:sp>
        <p:nvSpPr>
          <p:cNvPr id="21" name="Text 19"/>
          <p:cNvSpPr/>
          <p:nvPr/>
        </p:nvSpPr>
        <p:spPr>
          <a:xfrm>
            <a:off x="731140" y="3389832"/>
            <a:ext cx="835589" cy="227888"/>
          </a:xfrm>
          <a:prstGeom prst="rect">
            <a:avLst/>
          </a:prstGeom>
          <a:noFill/>
          <a:ln/>
        </p:spPr>
        <p:txBody>
          <a:bodyPr wrap="square" lIns="0" tIns="0" rIns="0" bIns="0" rtlCol="0" anchor="ctr"/>
          <a:lstStyle/>
          <a:p>
            <a:pPr>
              <a:lnSpc>
                <a:spcPct val="130000"/>
              </a:lnSpc>
            </a:pPr>
            <a:r>
              <a:rPr lang="en-US" sz="1196" b="1" dirty="0">
                <a:solidFill>
                  <a:srgbClr val="8B0000"/>
                </a:solidFill>
                <a:latin typeface="Sorts Mill Goudy" pitchFamily="34" charset="0"/>
                <a:ea typeface="Sorts Mill Goudy" pitchFamily="34" charset="-122"/>
                <a:cs typeface="Sorts Mill Goudy" pitchFamily="34" charset="-120"/>
              </a:rPr>
              <a:t>WHEN</a:t>
            </a:r>
            <a:endParaRPr lang="en-US" sz="1600" dirty="0"/>
          </a:p>
        </p:txBody>
      </p:sp>
      <p:sp>
        <p:nvSpPr>
          <p:cNvPr id="22" name="Text 20"/>
          <p:cNvSpPr/>
          <p:nvPr/>
        </p:nvSpPr>
        <p:spPr>
          <a:xfrm>
            <a:off x="1642692" y="3351850"/>
            <a:ext cx="588710" cy="189907"/>
          </a:xfrm>
          <a:prstGeom prst="rect">
            <a:avLst/>
          </a:prstGeom>
          <a:noFill/>
          <a:ln/>
        </p:spPr>
        <p:txBody>
          <a:bodyPr wrap="square" lIns="0" tIns="0" rIns="0" bIns="0" rtlCol="0" anchor="ctr"/>
          <a:lstStyle/>
          <a:p>
            <a:pPr>
              <a:lnSpc>
                <a:spcPct val="120000"/>
              </a:lnSpc>
            </a:pPr>
            <a:r>
              <a:rPr lang="en-US" sz="1047" dirty="0">
                <a:solidFill>
                  <a:srgbClr val="1F2937"/>
                </a:solidFill>
                <a:latin typeface="Sorts Mill Goudy" pitchFamily="34" charset="0"/>
                <a:ea typeface="Sorts Mill Goudy" pitchFamily="34" charset="-122"/>
                <a:cs typeface="Sorts Mill Goudy" pitchFamily="34" charset="-120"/>
              </a:rPr>
              <a:t>EM: 0.565</a:t>
            </a:r>
            <a:endParaRPr lang="en-US" sz="1600" dirty="0"/>
          </a:p>
        </p:txBody>
      </p:sp>
      <p:sp>
        <p:nvSpPr>
          <p:cNvPr id="23" name="Text 21"/>
          <p:cNvSpPr/>
          <p:nvPr/>
        </p:nvSpPr>
        <p:spPr>
          <a:xfrm>
            <a:off x="4021716" y="3351850"/>
            <a:ext cx="550729" cy="189907"/>
          </a:xfrm>
          <a:prstGeom prst="rect">
            <a:avLst/>
          </a:prstGeom>
          <a:noFill/>
          <a:ln/>
        </p:spPr>
        <p:txBody>
          <a:bodyPr wrap="square" lIns="0" tIns="0" rIns="0" bIns="0" rtlCol="0" anchor="ctr"/>
          <a:lstStyle/>
          <a:p>
            <a:pPr>
              <a:lnSpc>
                <a:spcPct val="120000"/>
              </a:lnSpc>
            </a:pPr>
            <a:r>
              <a:rPr lang="en-US" sz="1047" dirty="0">
                <a:solidFill>
                  <a:srgbClr val="1F2937"/>
                </a:solidFill>
                <a:latin typeface="Sorts Mill Goudy" pitchFamily="34" charset="0"/>
                <a:ea typeface="Sorts Mill Goudy" pitchFamily="34" charset="-122"/>
                <a:cs typeface="Sorts Mill Goudy" pitchFamily="34" charset="-120"/>
              </a:rPr>
              <a:t>F1: 0.687</a:t>
            </a:r>
            <a:endParaRPr lang="en-US" sz="1600" dirty="0"/>
          </a:p>
        </p:txBody>
      </p:sp>
      <p:sp>
        <p:nvSpPr>
          <p:cNvPr id="24" name="Text 22"/>
          <p:cNvSpPr/>
          <p:nvPr/>
        </p:nvSpPr>
        <p:spPr>
          <a:xfrm>
            <a:off x="6359050" y="3351850"/>
            <a:ext cx="408299" cy="189907"/>
          </a:xfrm>
          <a:prstGeom prst="rect">
            <a:avLst/>
          </a:prstGeom>
          <a:noFill/>
          <a:ln/>
        </p:spPr>
        <p:txBody>
          <a:bodyPr wrap="square" lIns="0" tIns="0" rIns="0" bIns="0" rtlCol="0" anchor="ctr"/>
          <a:lstStyle/>
          <a:p>
            <a:pPr>
              <a:lnSpc>
                <a:spcPct val="120000"/>
              </a:lnSpc>
            </a:pPr>
            <a:r>
              <a:rPr lang="en-US" sz="1047" dirty="0">
                <a:solidFill>
                  <a:srgbClr val="6B7280"/>
                </a:solidFill>
                <a:latin typeface="Sorts Mill Goudy" pitchFamily="34" charset="0"/>
                <a:ea typeface="Sorts Mill Goudy" pitchFamily="34" charset="-122"/>
                <a:cs typeface="Sorts Mill Goudy" pitchFamily="34" charset="-120"/>
              </a:rPr>
              <a:t>n=246</a:t>
            </a:r>
            <a:endParaRPr lang="en-US" sz="1600" dirty="0"/>
          </a:p>
        </p:txBody>
      </p:sp>
      <p:sp>
        <p:nvSpPr>
          <p:cNvPr id="25" name="Shape 23"/>
          <p:cNvSpPr/>
          <p:nvPr/>
        </p:nvSpPr>
        <p:spPr>
          <a:xfrm>
            <a:off x="1642692" y="3579738"/>
            <a:ext cx="5061009" cy="75963"/>
          </a:xfrm>
          <a:custGeom>
            <a:avLst/>
            <a:gdLst/>
            <a:ahLst/>
            <a:cxnLst/>
            <a:rect l="l" t="t" r="r" b="b"/>
            <a:pathLst>
              <a:path w="5061009" h="75963">
                <a:moveTo>
                  <a:pt x="0" y="0"/>
                </a:moveTo>
                <a:lnTo>
                  <a:pt x="5061009" y="0"/>
                </a:lnTo>
                <a:lnTo>
                  <a:pt x="5061009" y="75963"/>
                </a:lnTo>
                <a:lnTo>
                  <a:pt x="0" y="75963"/>
                </a:lnTo>
                <a:lnTo>
                  <a:pt x="0" y="0"/>
                </a:lnTo>
                <a:close/>
              </a:path>
            </a:pathLst>
          </a:custGeom>
          <a:solidFill>
            <a:srgbClr val="E5E7EB"/>
          </a:solidFill>
          <a:ln/>
        </p:spPr>
      </p:sp>
      <p:sp>
        <p:nvSpPr>
          <p:cNvPr id="26" name="Shape 24"/>
          <p:cNvSpPr/>
          <p:nvPr/>
        </p:nvSpPr>
        <p:spPr>
          <a:xfrm>
            <a:off x="1642692" y="3579738"/>
            <a:ext cx="3475290" cy="75963"/>
          </a:xfrm>
          <a:custGeom>
            <a:avLst/>
            <a:gdLst/>
            <a:ahLst/>
            <a:cxnLst/>
            <a:rect l="l" t="t" r="r" b="b"/>
            <a:pathLst>
              <a:path w="3475290" h="75963">
                <a:moveTo>
                  <a:pt x="0" y="0"/>
                </a:moveTo>
                <a:lnTo>
                  <a:pt x="3475290" y="0"/>
                </a:lnTo>
                <a:lnTo>
                  <a:pt x="3475290" y="75963"/>
                </a:lnTo>
                <a:lnTo>
                  <a:pt x="0" y="75963"/>
                </a:lnTo>
                <a:lnTo>
                  <a:pt x="0" y="0"/>
                </a:lnTo>
                <a:close/>
              </a:path>
            </a:pathLst>
          </a:custGeom>
          <a:solidFill>
            <a:srgbClr val="6B7280"/>
          </a:solidFill>
          <a:ln/>
        </p:spPr>
      </p:sp>
      <p:sp>
        <p:nvSpPr>
          <p:cNvPr id="27" name="Shape 25"/>
          <p:cNvSpPr/>
          <p:nvPr/>
        </p:nvSpPr>
        <p:spPr>
          <a:xfrm>
            <a:off x="612449" y="3897832"/>
            <a:ext cx="6209944" cy="541234"/>
          </a:xfrm>
          <a:custGeom>
            <a:avLst/>
            <a:gdLst/>
            <a:ahLst/>
            <a:cxnLst/>
            <a:rect l="l" t="t" r="r" b="b"/>
            <a:pathLst>
              <a:path w="6209944" h="541234">
                <a:moveTo>
                  <a:pt x="0" y="0"/>
                </a:moveTo>
                <a:lnTo>
                  <a:pt x="6209944" y="0"/>
                </a:lnTo>
                <a:lnTo>
                  <a:pt x="6209944" y="541234"/>
                </a:lnTo>
                <a:lnTo>
                  <a:pt x="0" y="541234"/>
                </a:lnTo>
                <a:lnTo>
                  <a:pt x="0" y="0"/>
                </a:lnTo>
                <a:close/>
              </a:path>
            </a:pathLst>
          </a:custGeom>
          <a:solidFill>
            <a:srgbClr val="FFFFFF"/>
          </a:solidFill>
          <a:ln w="12700">
            <a:solidFill>
              <a:srgbClr val="E5E7EB"/>
            </a:solidFill>
            <a:prstDash val="solid"/>
          </a:ln>
        </p:spPr>
      </p:sp>
      <p:sp>
        <p:nvSpPr>
          <p:cNvPr id="28" name="Text 26"/>
          <p:cNvSpPr/>
          <p:nvPr/>
        </p:nvSpPr>
        <p:spPr>
          <a:xfrm>
            <a:off x="731140" y="4054505"/>
            <a:ext cx="835589" cy="227888"/>
          </a:xfrm>
          <a:prstGeom prst="rect">
            <a:avLst/>
          </a:prstGeom>
          <a:noFill/>
          <a:ln/>
        </p:spPr>
        <p:txBody>
          <a:bodyPr wrap="square" lIns="0" tIns="0" rIns="0" bIns="0" rtlCol="0" anchor="ctr"/>
          <a:lstStyle/>
          <a:p>
            <a:pPr>
              <a:lnSpc>
                <a:spcPct val="130000"/>
              </a:lnSpc>
            </a:pPr>
            <a:r>
              <a:rPr lang="en-US" sz="1196" b="1" dirty="0">
                <a:solidFill>
                  <a:srgbClr val="8B0000"/>
                </a:solidFill>
                <a:latin typeface="Sorts Mill Goudy" pitchFamily="34" charset="0"/>
                <a:ea typeface="Sorts Mill Goudy" pitchFamily="34" charset="-122"/>
                <a:cs typeface="Sorts Mill Goudy" pitchFamily="34" charset="-120"/>
              </a:rPr>
              <a:t>WHERE</a:t>
            </a:r>
            <a:endParaRPr lang="en-US" sz="1600" dirty="0"/>
          </a:p>
        </p:txBody>
      </p:sp>
      <p:sp>
        <p:nvSpPr>
          <p:cNvPr id="29" name="Text 27"/>
          <p:cNvSpPr/>
          <p:nvPr/>
        </p:nvSpPr>
        <p:spPr>
          <a:xfrm>
            <a:off x="1642692" y="4016523"/>
            <a:ext cx="617196" cy="189907"/>
          </a:xfrm>
          <a:prstGeom prst="rect">
            <a:avLst/>
          </a:prstGeom>
          <a:noFill/>
          <a:ln/>
        </p:spPr>
        <p:txBody>
          <a:bodyPr wrap="square" lIns="0" tIns="0" rIns="0" bIns="0" rtlCol="0" anchor="ctr"/>
          <a:lstStyle/>
          <a:p>
            <a:pPr>
              <a:lnSpc>
                <a:spcPct val="120000"/>
              </a:lnSpc>
            </a:pPr>
            <a:r>
              <a:rPr lang="en-US" sz="1047" dirty="0">
                <a:solidFill>
                  <a:srgbClr val="1F2937"/>
                </a:solidFill>
                <a:latin typeface="Sorts Mill Goudy" pitchFamily="34" charset="0"/>
                <a:ea typeface="Sorts Mill Goudy" pitchFamily="34" charset="-122"/>
                <a:cs typeface="Sorts Mill Goudy" pitchFamily="34" charset="-120"/>
              </a:rPr>
              <a:t>EM: 0.382</a:t>
            </a:r>
            <a:endParaRPr lang="en-US" sz="1600" dirty="0"/>
          </a:p>
        </p:txBody>
      </p:sp>
      <p:sp>
        <p:nvSpPr>
          <p:cNvPr id="30" name="Text 28"/>
          <p:cNvSpPr/>
          <p:nvPr/>
        </p:nvSpPr>
        <p:spPr>
          <a:xfrm>
            <a:off x="4063258" y="4016523"/>
            <a:ext cx="531738" cy="189907"/>
          </a:xfrm>
          <a:prstGeom prst="rect">
            <a:avLst/>
          </a:prstGeom>
          <a:noFill/>
          <a:ln/>
        </p:spPr>
        <p:txBody>
          <a:bodyPr wrap="square" lIns="0" tIns="0" rIns="0" bIns="0" rtlCol="0" anchor="ctr"/>
          <a:lstStyle/>
          <a:p>
            <a:pPr>
              <a:lnSpc>
                <a:spcPct val="120000"/>
              </a:lnSpc>
            </a:pPr>
            <a:r>
              <a:rPr lang="en-US" sz="1047" dirty="0">
                <a:solidFill>
                  <a:srgbClr val="1F2937"/>
                </a:solidFill>
                <a:latin typeface="Sorts Mill Goudy" pitchFamily="34" charset="0"/>
                <a:ea typeface="Sorts Mill Goudy" pitchFamily="34" charset="-122"/>
                <a:cs typeface="Sorts Mill Goudy" pitchFamily="34" charset="-120"/>
              </a:rPr>
              <a:t>F1: 0.619</a:t>
            </a:r>
            <a:endParaRPr lang="en-US" sz="1600" dirty="0"/>
          </a:p>
        </p:txBody>
      </p:sp>
      <p:sp>
        <p:nvSpPr>
          <p:cNvPr id="31" name="Text 29"/>
          <p:cNvSpPr/>
          <p:nvPr/>
        </p:nvSpPr>
        <p:spPr>
          <a:xfrm>
            <a:off x="6393619" y="4016523"/>
            <a:ext cx="379813" cy="189907"/>
          </a:xfrm>
          <a:prstGeom prst="rect">
            <a:avLst/>
          </a:prstGeom>
          <a:noFill/>
          <a:ln/>
        </p:spPr>
        <p:txBody>
          <a:bodyPr wrap="square" lIns="0" tIns="0" rIns="0" bIns="0" rtlCol="0" anchor="ctr"/>
          <a:lstStyle/>
          <a:p>
            <a:pPr>
              <a:lnSpc>
                <a:spcPct val="120000"/>
              </a:lnSpc>
            </a:pPr>
            <a:r>
              <a:rPr lang="en-US" sz="1047" dirty="0">
                <a:solidFill>
                  <a:srgbClr val="6B7280"/>
                </a:solidFill>
                <a:latin typeface="Sorts Mill Goudy" pitchFamily="34" charset="0"/>
                <a:ea typeface="Sorts Mill Goudy" pitchFamily="34" charset="-122"/>
                <a:cs typeface="Sorts Mill Goudy" pitchFamily="34" charset="-120"/>
              </a:rPr>
              <a:t>n=110</a:t>
            </a:r>
            <a:endParaRPr lang="en-US" sz="1600" dirty="0"/>
          </a:p>
        </p:txBody>
      </p:sp>
      <p:sp>
        <p:nvSpPr>
          <p:cNvPr id="32" name="Shape 30"/>
          <p:cNvSpPr/>
          <p:nvPr/>
        </p:nvSpPr>
        <p:spPr>
          <a:xfrm>
            <a:off x="1642692" y="4244411"/>
            <a:ext cx="5061009" cy="75963"/>
          </a:xfrm>
          <a:custGeom>
            <a:avLst/>
            <a:gdLst/>
            <a:ahLst/>
            <a:cxnLst/>
            <a:rect l="l" t="t" r="r" b="b"/>
            <a:pathLst>
              <a:path w="5061009" h="75963">
                <a:moveTo>
                  <a:pt x="0" y="0"/>
                </a:moveTo>
                <a:lnTo>
                  <a:pt x="5061009" y="0"/>
                </a:lnTo>
                <a:lnTo>
                  <a:pt x="5061009" y="75963"/>
                </a:lnTo>
                <a:lnTo>
                  <a:pt x="0" y="75963"/>
                </a:lnTo>
                <a:lnTo>
                  <a:pt x="0" y="0"/>
                </a:lnTo>
                <a:close/>
              </a:path>
            </a:pathLst>
          </a:custGeom>
          <a:solidFill>
            <a:srgbClr val="E5E7EB"/>
          </a:solidFill>
          <a:ln/>
        </p:spPr>
      </p:sp>
      <p:sp>
        <p:nvSpPr>
          <p:cNvPr id="33" name="Shape 31"/>
          <p:cNvSpPr/>
          <p:nvPr/>
        </p:nvSpPr>
        <p:spPr>
          <a:xfrm>
            <a:off x="1642692" y="4244411"/>
            <a:ext cx="3133458" cy="75963"/>
          </a:xfrm>
          <a:custGeom>
            <a:avLst/>
            <a:gdLst/>
            <a:ahLst/>
            <a:cxnLst/>
            <a:rect l="l" t="t" r="r" b="b"/>
            <a:pathLst>
              <a:path w="3133458" h="75963">
                <a:moveTo>
                  <a:pt x="0" y="0"/>
                </a:moveTo>
                <a:lnTo>
                  <a:pt x="3133458" y="0"/>
                </a:lnTo>
                <a:lnTo>
                  <a:pt x="3133458" y="75963"/>
                </a:lnTo>
                <a:lnTo>
                  <a:pt x="0" y="75963"/>
                </a:lnTo>
                <a:lnTo>
                  <a:pt x="0" y="0"/>
                </a:lnTo>
                <a:close/>
              </a:path>
            </a:pathLst>
          </a:custGeom>
          <a:solidFill>
            <a:srgbClr val="6B7280"/>
          </a:solidFill>
          <a:ln/>
        </p:spPr>
      </p:sp>
      <p:sp>
        <p:nvSpPr>
          <p:cNvPr id="34" name="Shape 32"/>
          <p:cNvSpPr/>
          <p:nvPr/>
        </p:nvSpPr>
        <p:spPr>
          <a:xfrm>
            <a:off x="612449" y="4562505"/>
            <a:ext cx="6209944" cy="541234"/>
          </a:xfrm>
          <a:custGeom>
            <a:avLst/>
            <a:gdLst/>
            <a:ahLst/>
            <a:cxnLst/>
            <a:rect l="l" t="t" r="r" b="b"/>
            <a:pathLst>
              <a:path w="6209944" h="541234">
                <a:moveTo>
                  <a:pt x="0" y="0"/>
                </a:moveTo>
                <a:lnTo>
                  <a:pt x="6209944" y="0"/>
                </a:lnTo>
                <a:lnTo>
                  <a:pt x="6209944" y="541234"/>
                </a:lnTo>
                <a:lnTo>
                  <a:pt x="0" y="541234"/>
                </a:lnTo>
                <a:lnTo>
                  <a:pt x="0" y="0"/>
                </a:lnTo>
                <a:close/>
              </a:path>
            </a:pathLst>
          </a:custGeom>
          <a:solidFill>
            <a:srgbClr val="FFFFFF"/>
          </a:solidFill>
          <a:ln w="12700">
            <a:solidFill>
              <a:srgbClr val="E5E7EB"/>
            </a:solidFill>
            <a:prstDash val="solid"/>
          </a:ln>
        </p:spPr>
      </p:sp>
      <p:sp>
        <p:nvSpPr>
          <p:cNvPr id="35" name="Text 33"/>
          <p:cNvSpPr/>
          <p:nvPr/>
        </p:nvSpPr>
        <p:spPr>
          <a:xfrm>
            <a:off x="731140" y="4719178"/>
            <a:ext cx="835589" cy="227888"/>
          </a:xfrm>
          <a:prstGeom prst="rect">
            <a:avLst/>
          </a:prstGeom>
          <a:noFill/>
          <a:ln/>
        </p:spPr>
        <p:txBody>
          <a:bodyPr wrap="square" lIns="0" tIns="0" rIns="0" bIns="0" rtlCol="0" anchor="ctr"/>
          <a:lstStyle/>
          <a:p>
            <a:pPr>
              <a:lnSpc>
                <a:spcPct val="130000"/>
              </a:lnSpc>
            </a:pPr>
            <a:r>
              <a:rPr lang="en-US" sz="1196" b="1" dirty="0">
                <a:solidFill>
                  <a:srgbClr val="8B0000"/>
                </a:solidFill>
                <a:latin typeface="Sorts Mill Goudy" pitchFamily="34" charset="0"/>
                <a:ea typeface="Sorts Mill Goudy" pitchFamily="34" charset="-122"/>
                <a:cs typeface="Sorts Mill Goudy" pitchFamily="34" charset="-120"/>
              </a:rPr>
              <a:t>HOW</a:t>
            </a:r>
            <a:endParaRPr lang="en-US" sz="1600" dirty="0"/>
          </a:p>
        </p:txBody>
      </p:sp>
      <p:sp>
        <p:nvSpPr>
          <p:cNvPr id="36" name="Text 34"/>
          <p:cNvSpPr/>
          <p:nvPr/>
        </p:nvSpPr>
        <p:spPr>
          <a:xfrm>
            <a:off x="1642692" y="4681196"/>
            <a:ext cx="598206" cy="189907"/>
          </a:xfrm>
          <a:prstGeom prst="rect">
            <a:avLst/>
          </a:prstGeom>
          <a:noFill/>
          <a:ln/>
        </p:spPr>
        <p:txBody>
          <a:bodyPr wrap="square" lIns="0" tIns="0" rIns="0" bIns="0" rtlCol="0" anchor="ctr"/>
          <a:lstStyle/>
          <a:p>
            <a:pPr>
              <a:lnSpc>
                <a:spcPct val="120000"/>
              </a:lnSpc>
            </a:pPr>
            <a:r>
              <a:rPr lang="en-US" sz="1047" dirty="0">
                <a:solidFill>
                  <a:srgbClr val="1F2937"/>
                </a:solidFill>
                <a:latin typeface="Sorts Mill Goudy" pitchFamily="34" charset="0"/>
                <a:ea typeface="Sorts Mill Goudy" pitchFamily="34" charset="-122"/>
                <a:cs typeface="Sorts Mill Goudy" pitchFamily="34" charset="-120"/>
              </a:rPr>
              <a:t>EM: 0.359</a:t>
            </a:r>
            <a:endParaRPr lang="en-US" sz="1600" dirty="0"/>
          </a:p>
        </p:txBody>
      </p:sp>
      <p:sp>
        <p:nvSpPr>
          <p:cNvPr id="37" name="Text 35"/>
          <p:cNvSpPr/>
          <p:nvPr/>
        </p:nvSpPr>
        <p:spPr>
          <a:xfrm>
            <a:off x="4046048" y="4681196"/>
            <a:ext cx="522243" cy="189907"/>
          </a:xfrm>
          <a:prstGeom prst="rect">
            <a:avLst/>
          </a:prstGeom>
          <a:noFill/>
          <a:ln/>
        </p:spPr>
        <p:txBody>
          <a:bodyPr wrap="square" lIns="0" tIns="0" rIns="0" bIns="0" rtlCol="0" anchor="ctr"/>
          <a:lstStyle/>
          <a:p>
            <a:pPr>
              <a:lnSpc>
                <a:spcPct val="120000"/>
              </a:lnSpc>
            </a:pPr>
            <a:r>
              <a:rPr lang="en-US" sz="1047" dirty="0">
                <a:solidFill>
                  <a:srgbClr val="1F2937"/>
                </a:solidFill>
                <a:latin typeface="Sorts Mill Goudy" pitchFamily="34" charset="0"/>
                <a:ea typeface="Sorts Mill Goudy" pitchFamily="34" charset="-122"/>
                <a:cs typeface="Sorts Mill Goudy" pitchFamily="34" charset="-120"/>
              </a:rPr>
              <a:t>F1: 0.530</a:t>
            </a:r>
            <a:endParaRPr lang="en-US" sz="1600" dirty="0"/>
          </a:p>
        </p:txBody>
      </p:sp>
      <p:sp>
        <p:nvSpPr>
          <p:cNvPr id="38" name="Text 36"/>
          <p:cNvSpPr/>
          <p:nvPr/>
        </p:nvSpPr>
        <p:spPr>
          <a:xfrm>
            <a:off x="6371364" y="4681196"/>
            <a:ext cx="398804" cy="189907"/>
          </a:xfrm>
          <a:prstGeom prst="rect">
            <a:avLst/>
          </a:prstGeom>
          <a:noFill/>
          <a:ln/>
        </p:spPr>
        <p:txBody>
          <a:bodyPr wrap="square" lIns="0" tIns="0" rIns="0" bIns="0" rtlCol="0" anchor="ctr"/>
          <a:lstStyle/>
          <a:p>
            <a:pPr>
              <a:lnSpc>
                <a:spcPct val="120000"/>
              </a:lnSpc>
            </a:pPr>
            <a:r>
              <a:rPr lang="en-US" sz="1047" dirty="0">
                <a:solidFill>
                  <a:srgbClr val="6B7280"/>
                </a:solidFill>
                <a:latin typeface="Sorts Mill Goudy" pitchFamily="34" charset="0"/>
                <a:ea typeface="Sorts Mill Goudy" pitchFamily="34" charset="-122"/>
                <a:cs typeface="Sorts Mill Goudy" pitchFamily="34" charset="-120"/>
              </a:rPr>
              <a:t>n=234</a:t>
            </a:r>
            <a:endParaRPr lang="en-US" sz="1600" dirty="0"/>
          </a:p>
        </p:txBody>
      </p:sp>
      <p:sp>
        <p:nvSpPr>
          <p:cNvPr id="39" name="Shape 37"/>
          <p:cNvSpPr/>
          <p:nvPr/>
        </p:nvSpPr>
        <p:spPr>
          <a:xfrm>
            <a:off x="1642692" y="4909084"/>
            <a:ext cx="5061009" cy="75963"/>
          </a:xfrm>
          <a:custGeom>
            <a:avLst/>
            <a:gdLst/>
            <a:ahLst/>
            <a:cxnLst/>
            <a:rect l="l" t="t" r="r" b="b"/>
            <a:pathLst>
              <a:path w="5061009" h="75963">
                <a:moveTo>
                  <a:pt x="0" y="0"/>
                </a:moveTo>
                <a:lnTo>
                  <a:pt x="5061009" y="0"/>
                </a:lnTo>
                <a:lnTo>
                  <a:pt x="5061009" y="75963"/>
                </a:lnTo>
                <a:lnTo>
                  <a:pt x="0" y="75963"/>
                </a:lnTo>
                <a:lnTo>
                  <a:pt x="0" y="0"/>
                </a:lnTo>
                <a:close/>
              </a:path>
            </a:pathLst>
          </a:custGeom>
          <a:solidFill>
            <a:srgbClr val="E5E7EB"/>
          </a:solidFill>
          <a:ln/>
        </p:spPr>
      </p:sp>
      <p:sp>
        <p:nvSpPr>
          <p:cNvPr id="40" name="Shape 38"/>
          <p:cNvSpPr/>
          <p:nvPr/>
        </p:nvSpPr>
        <p:spPr>
          <a:xfrm>
            <a:off x="1642692" y="4909084"/>
            <a:ext cx="2677682" cy="75963"/>
          </a:xfrm>
          <a:custGeom>
            <a:avLst/>
            <a:gdLst/>
            <a:ahLst/>
            <a:cxnLst/>
            <a:rect l="l" t="t" r="r" b="b"/>
            <a:pathLst>
              <a:path w="2677682" h="75963">
                <a:moveTo>
                  <a:pt x="0" y="0"/>
                </a:moveTo>
                <a:lnTo>
                  <a:pt x="2677682" y="0"/>
                </a:lnTo>
                <a:lnTo>
                  <a:pt x="2677682" y="75963"/>
                </a:lnTo>
                <a:lnTo>
                  <a:pt x="0" y="75963"/>
                </a:lnTo>
                <a:lnTo>
                  <a:pt x="0" y="0"/>
                </a:lnTo>
                <a:close/>
              </a:path>
            </a:pathLst>
          </a:custGeom>
          <a:solidFill>
            <a:srgbClr val="6B7280"/>
          </a:solidFill>
          <a:ln/>
        </p:spPr>
      </p:sp>
      <p:sp>
        <p:nvSpPr>
          <p:cNvPr id="41" name="Shape 39"/>
          <p:cNvSpPr/>
          <p:nvPr/>
        </p:nvSpPr>
        <p:spPr>
          <a:xfrm>
            <a:off x="612449" y="5227178"/>
            <a:ext cx="6209944" cy="541234"/>
          </a:xfrm>
          <a:custGeom>
            <a:avLst/>
            <a:gdLst/>
            <a:ahLst/>
            <a:cxnLst/>
            <a:rect l="l" t="t" r="r" b="b"/>
            <a:pathLst>
              <a:path w="6209944" h="541234">
                <a:moveTo>
                  <a:pt x="0" y="0"/>
                </a:moveTo>
                <a:lnTo>
                  <a:pt x="6209944" y="0"/>
                </a:lnTo>
                <a:lnTo>
                  <a:pt x="6209944" y="541234"/>
                </a:lnTo>
                <a:lnTo>
                  <a:pt x="0" y="541234"/>
                </a:lnTo>
                <a:lnTo>
                  <a:pt x="0" y="0"/>
                </a:lnTo>
                <a:close/>
              </a:path>
            </a:pathLst>
          </a:custGeom>
          <a:solidFill>
            <a:srgbClr val="FFFFFF"/>
          </a:solidFill>
          <a:ln w="12700">
            <a:solidFill>
              <a:srgbClr val="E5E7EB"/>
            </a:solidFill>
            <a:prstDash val="solid"/>
          </a:ln>
        </p:spPr>
      </p:sp>
      <p:sp>
        <p:nvSpPr>
          <p:cNvPr id="42" name="Text 40"/>
          <p:cNvSpPr/>
          <p:nvPr/>
        </p:nvSpPr>
        <p:spPr>
          <a:xfrm>
            <a:off x="731140" y="5383850"/>
            <a:ext cx="835589" cy="227888"/>
          </a:xfrm>
          <a:prstGeom prst="rect">
            <a:avLst/>
          </a:prstGeom>
          <a:noFill/>
          <a:ln/>
        </p:spPr>
        <p:txBody>
          <a:bodyPr wrap="square" lIns="0" tIns="0" rIns="0" bIns="0" rtlCol="0" anchor="ctr"/>
          <a:lstStyle/>
          <a:p>
            <a:pPr>
              <a:lnSpc>
                <a:spcPct val="130000"/>
              </a:lnSpc>
            </a:pPr>
            <a:r>
              <a:rPr lang="en-US" sz="1196" b="1" dirty="0">
                <a:solidFill>
                  <a:srgbClr val="8B0000"/>
                </a:solidFill>
                <a:latin typeface="Sorts Mill Goudy" pitchFamily="34" charset="0"/>
                <a:ea typeface="Sorts Mill Goudy" pitchFamily="34" charset="-122"/>
                <a:cs typeface="Sorts Mill Goudy" pitchFamily="34" charset="-120"/>
              </a:rPr>
              <a:t>WHY</a:t>
            </a:r>
            <a:endParaRPr lang="en-US" sz="1600" dirty="0"/>
          </a:p>
        </p:txBody>
      </p:sp>
      <p:sp>
        <p:nvSpPr>
          <p:cNvPr id="43" name="Text 41"/>
          <p:cNvSpPr/>
          <p:nvPr/>
        </p:nvSpPr>
        <p:spPr>
          <a:xfrm>
            <a:off x="1642692" y="5345869"/>
            <a:ext cx="588710" cy="189907"/>
          </a:xfrm>
          <a:prstGeom prst="rect">
            <a:avLst/>
          </a:prstGeom>
          <a:noFill/>
          <a:ln/>
        </p:spPr>
        <p:txBody>
          <a:bodyPr wrap="square" lIns="0" tIns="0" rIns="0" bIns="0" rtlCol="0" anchor="ctr"/>
          <a:lstStyle/>
          <a:p>
            <a:pPr>
              <a:lnSpc>
                <a:spcPct val="120000"/>
              </a:lnSpc>
            </a:pPr>
            <a:r>
              <a:rPr lang="en-US" sz="1047" dirty="0">
                <a:solidFill>
                  <a:srgbClr val="1F2937"/>
                </a:solidFill>
                <a:latin typeface="Sorts Mill Goudy" pitchFamily="34" charset="0"/>
                <a:ea typeface="Sorts Mill Goudy" pitchFamily="34" charset="-122"/>
                <a:cs typeface="Sorts Mill Goudy" pitchFamily="34" charset="-120"/>
              </a:rPr>
              <a:t>EM: 0.175</a:t>
            </a:r>
            <a:endParaRPr lang="en-US" sz="1600" dirty="0"/>
          </a:p>
        </p:txBody>
      </p:sp>
      <p:sp>
        <p:nvSpPr>
          <p:cNvPr id="44" name="Text 42"/>
          <p:cNvSpPr/>
          <p:nvPr/>
        </p:nvSpPr>
        <p:spPr>
          <a:xfrm>
            <a:off x="4069489" y="5345869"/>
            <a:ext cx="541234" cy="189907"/>
          </a:xfrm>
          <a:prstGeom prst="rect">
            <a:avLst/>
          </a:prstGeom>
          <a:noFill/>
          <a:ln/>
        </p:spPr>
        <p:txBody>
          <a:bodyPr wrap="square" lIns="0" tIns="0" rIns="0" bIns="0" rtlCol="0" anchor="ctr"/>
          <a:lstStyle/>
          <a:p>
            <a:pPr>
              <a:lnSpc>
                <a:spcPct val="120000"/>
              </a:lnSpc>
            </a:pPr>
            <a:r>
              <a:rPr lang="en-US" sz="1047" dirty="0">
                <a:solidFill>
                  <a:srgbClr val="1F2937"/>
                </a:solidFill>
                <a:latin typeface="Sorts Mill Goudy" pitchFamily="34" charset="0"/>
                <a:ea typeface="Sorts Mill Goudy" pitchFamily="34" charset="-122"/>
                <a:cs typeface="Sorts Mill Goudy" pitchFamily="34" charset="-120"/>
              </a:rPr>
              <a:t>F1: 0.634</a:t>
            </a:r>
            <a:endParaRPr lang="en-US" sz="1600" dirty="0"/>
          </a:p>
        </p:txBody>
      </p:sp>
      <p:sp>
        <p:nvSpPr>
          <p:cNvPr id="45" name="Text 43"/>
          <p:cNvSpPr/>
          <p:nvPr/>
        </p:nvSpPr>
        <p:spPr>
          <a:xfrm>
            <a:off x="6442134" y="5345869"/>
            <a:ext cx="322841" cy="189907"/>
          </a:xfrm>
          <a:prstGeom prst="rect">
            <a:avLst/>
          </a:prstGeom>
          <a:noFill/>
          <a:ln/>
        </p:spPr>
        <p:txBody>
          <a:bodyPr wrap="square" lIns="0" tIns="0" rIns="0" bIns="0" rtlCol="0" anchor="ctr"/>
          <a:lstStyle/>
          <a:p>
            <a:pPr>
              <a:lnSpc>
                <a:spcPct val="120000"/>
              </a:lnSpc>
            </a:pPr>
            <a:r>
              <a:rPr lang="en-US" sz="1047" dirty="0">
                <a:solidFill>
                  <a:srgbClr val="6B7280"/>
                </a:solidFill>
                <a:latin typeface="Sorts Mill Goudy" pitchFamily="34" charset="0"/>
                <a:ea typeface="Sorts Mill Goudy" pitchFamily="34" charset="-122"/>
                <a:cs typeface="Sorts Mill Goudy" pitchFamily="34" charset="-120"/>
              </a:rPr>
              <a:t>n=57</a:t>
            </a:r>
            <a:endParaRPr lang="en-US" sz="1600" dirty="0"/>
          </a:p>
        </p:txBody>
      </p:sp>
      <p:sp>
        <p:nvSpPr>
          <p:cNvPr id="46" name="Shape 44"/>
          <p:cNvSpPr/>
          <p:nvPr/>
        </p:nvSpPr>
        <p:spPr>
          <a:xfrm>
            <a:off x="1642692" y="5573757"/>
            <a:ext cx="5061009" cy="75963"/>
          </a:xfrm>
          <a:custGeom>
            <a:avLst/>
            <a:gdLst/>
            <a:ahLst/>
            <a:cxnLst/>
            <a:rect l="l" t="t" r="r" b="b"/>
            <a:pathLst>
              <a:path w="5061009" h="75963">
                <a:moveTo>
                  <a:pt x="0" y="0"/>
                </a:moveTo>
                <a:lnTo>
                  <a:pt x="5061009" y="0"/>
                </a:lnTo>
                <a:lnTo>
                  <a:pt x="5061009" y="75963"/>
                </a:lnTo>
                <a:lnTo>
                  <a:pt x="0" y="75963"/>
                </a:lnTo>
                <a:lnTo>
                  <a:pt x="0" y="0"/>
                </a:lnTo>
                <a:close/>
              </a:path>
            </a:pathLst>
          </a:custGeom>
          <a:solidFill>
            <a:srgbClr val="E5E7EB"/>
          </a:solidFill>
          <a:ln/>
        </p:spPr>
      </p:sp>
      <p:sp>
        <p:nvSpPr>
          <p:cNvPr id="47" name="Shape 45"/>
          <p:cNvSpPr/>
          <p:nvPr/>
        </p:nvSpPr>
        <p:spPr>
          <a:xfrm>
            <a:off x="1642692" y="5573757"/>
            <a:ext cx="3209421" cy="75963"/>
          </a:xfrm>
          <a:custGeom>
            <a:avLst/>
            <a:gdLst/>
            <a:ahLst/>
            <a:cxnLst/>
            <a:rect l="l" t="t" r="r" b="b"/>
            <a:pathLst>
              <a:path w="3209421" h="75963">
                <a:moveTo>
                  <a:pt x="0" y="0"/>
                </a:moveTo>
                <a:lnTo>
                  <a:pt x="3209421" y="0"/>
                </a:lnTo>
                <a:lnTo>
                  <a:pt x="3209421" y="75963"/>
                </a:lnTo>
                <a:lnTo>
                  <a:pt x="0" y="75963"/>
                </a:lnTo>
                <a:lnTo>
                  <a:pt x="0" y="0"/>
                </a:lnTo>
                <a:close/>
              </a:path>
            </a:pathLst>
          </a:custGeom>
          <a:solidFill>
            <a:srgbClr val="6B7280"/>
          </a:solidFill>
          <a:ln/>
        </p:spPr>
      </p:sp>
      <p:sp>
        <p:nvSpPr>
          <p:cNvPr id="48" name="Shape 46"/>
          <p:cNvSpPr/>
          <p:nvPr/>
        </p:nvSpPr>
        <p:spPr>
          <a:xfrm>
            <a:off x="7358137" y="1253383"/>
            <a:ext cx="4453308" cy="4367850"/>
          </a:xfrm>
          <a:custGeom>
            <a:avLst/>
            <a:gdLst/>
            <a:ahLst/>
            <a:cxnLst/>
            <a:rect l="l" t="t" r="r" b="b"/>
            <a:pathLst>
              <a:path w="4453308" h="4367850">
                <a:moveTo>
                  <a:pt x="0" y="0"/>
                </a:moveTo>
                <a:lnTo>
                  <a:pt x="4453308" y="0"/>
                </a:lnTo>
                <a:lnTo>
                  <a:pt x="4453308" y="4367850"/>
                </a:lnTo>
                <a:lnTo>
                  <a:pt x="0" y="4367850"/>
                </a:lnTo>
                <a:lnTo>
                  <a:pt x="0" y="0"/>
                </a:lnTo>
                <a:close/>
              </a:path>
            </a:pathLst>
          </a:custGeom>
          <a:solidFill>
            <a:srgbClr val="F9FAFB"/>
          </a:solidFill>
          <a:ln/>
        </p:spPr>
      </p:sp>
      <p:sp>
        <p:nvSpPr>
          <p:cNvPr id="49" name="Text 47"/>
          <p:cNvSpPr/>
          <p:nvPr/>
        </p:nvSpPr>
        <p:spPr>
          <a:xfrm>
            <a:off x="7586025" y="1481271"/>
            <a:ext cx="4092486" cy="265869"/>
          </a:xfrm>
          <a:prstGeom prst="rect">
            <a:avLst/>
          </a:prstGeom>
          <a:noFill/>
          <a:ln/>
        </p:spPr>
        <p:txBody>
          <a:bodyPr wrap="square" lIns="0" tIns="0" rIns="0" bIns="0" rtlCol="0" anchor="ctr"/>
          <a:lstStyle/>
          <a:p>
            <a:pPr>
              <a:lnSpc>
                <a:spcPct val="120000"/>
              </a:lnSpc>
            </a:pPr>
            <a:r>
              <a:rPr lang="en-US" sz="1495" b="1" dirty="0">
                <a:solidFill>
                  <a:srgbClr val="1F2937"/>
                </a:solidFill>
                <a:latin typeface="Sorts Mill Goudy" pitchFamily="34" charset="0"/>
                <a:ea typeface="Sorts Mill Goudy" pitchFamily="34" charset="-122"/>
                <a:cs typeface="Sorts Mill Goudy" pitchFamily="34" charset="-120"/>
              </a:rPr>
              <a:t>Key Insights</a:t>
            </a:r>
            <a:endParaRPr lang="en-US" sz="1600" dirty="0"/>
          </a:p>
        </p:txBody>
      </p:sp>
      <p:sp>
        <p:nvSpPr>
          <p:cNvPr id="50" name="Shape 48"/>
          <p:cNvSpPr/>
          <p:nvPr/>
        </p:nvSpPr>
        <p:spPr>
          <a:xfrm>
            <a:off x="7605015" y="1899065"/>
            <a:ext cx="3978542" cy="1063477"/>
          </a:xfrm>
          <a:custGeom>
            <a:avLst/>
            <a:gdLst/>
            <a:ahLst/>
            <a:cxnLst/>
            <a:rect l="l" t="t" r="r" b="b"/>
            <a:pathLst>
              <a:path w="3978542" h="1063477">
                <a:moveTo>
                  <a:pt x="0" y="0"/>
                </a:moveTo>
                <a:lnTo>
                  <a:pt x="3978542" y="0"/>
                </a:lnTo>
                <a:lnTo>
                  <a:pt x="3978542" y="1063477"/>
                </a:lnTo>
                <a:lnTo>
                  <a:pt x="0" y="1063477"/>
                </a:lnTo>
                <a:lnTo>
                  <a:pt x="0" y="0"/>
                </a:lnTo>
                <a:close/>
              </a:path>
            </a:pathLst>
          </a:custGeom>
          <a:solidFill>
            <a:srgbClr val="FFFFFF"/>
          </a:solidFill>
          <a:ln/>
        </p:spPr>
      </p:sp>
      <p:sp>
        <p:nvSpPr>
          <p:cNvPr id="51" name="Shape 49"/>
          <p:cNvSpPr/>
          <p:nvPr/>
        </p:nvSpPr>
        <p:spPr>
          <a:xfrm>
            <a:off x="7605015" y="1899065"/>
            <a:ext cx="37981" cy="1063477"/>
          </a:xfrm>
          <a:custGeom>
            <a:avLst/>
            <a:gdLst/>
            <a:ahLst/>
            <a:cxnLst/>
            <a:rect l="l" t="t" r="r" b="b"/>
            <a:pathLst>
              <a:path w="37981" h="1063477">
                <a:moveTo>
                  <a:pt x="0" y="0"/>
                </a:moveTo>
                <a:lnTo>
                  <a:pt x="37981" y="0"/>
                </a:lnTo>
                <a:lnTo>
                  <a:pt x="37981" y="1063477"/>
                </a:lnTo>
                <a:lnTo>
                  <a:pt x="0" y="1063477"/>
                </a:lnTo>
                <a:lnTo>
                  <a:pt x="0" y="0"/>
                </a:lnTo>
                <a:close/>
              </a:path>
            </a:pathLst>
          </a:custGeom>
          <a:solidFill>
            <a:srgbClr val="8B0000"/>
          </a:solidFill>
          <a:ln/>
        </p:spPr>
      </p:sp>
      <p:sp>
        <p:nvSpPr>
          <p:cNvPr id="52" name="Shape 50"/>
          <p:cNvSpPr/>
          <p:nvPr/>
        </p:nvSpPr>
        <p:spPr>
          <a:xfrm>
            <a:off x="7794922" y="2088972"/>
            <a:ext cx="151925" cy="151925"/>
          </a:xfrm>
          <a:custGeom>
            <a:avLst/>
            <a:gdLst/>
            <a:ahLst/>
            <a:cxnLst/>
            <a:rect l="l" t="t" r="r" b="b"/>
            <a:pathLst>
              <a:path w="151925" h="151925">
                <a:moveTo>
                  <a:pt x="42818" y="0"/>
                </a:moveTo>
                <a:lnTo>
                  <a:pt x="109285" y="0"/>
                </a:lnTo>
                <a:cubicBezTo>
                  <a:pt x="117149" y="0"/>
                  <a:pt x="123558" y="6469"/>
                  <a:pt x="123261" y="14302"/>
                </a:cubicBezTo>
                <a:cubicBezTo>
                  <a:pt x="123202" y="15875"/>
                  <a:pt x="123143" y="17448"/>
                  <a:pt x="123054" y="18991"/>
                </a:cubicBezTo>
                <a:lnTo>
                  <a:pt x="137771" y="18991"/>
                </a:lnTo>
                <a:cubicBezTo>
                  <a:pt x="145516" y="18991"/>
                  <a:pt x="152341" y="25400"/>
                  <a:pt x="151747" y="33768"/>
                </a:cubicBezTo>
                <a:cubicBezTo>
                  <a:pt x="149522" y="64539"/>
                  <a:pt x="133795" y="81452"/>
                  <a:pt x="116733" y="90295"/>
                </a:cubicBezTo>
                <a:cubicBezTo>
                  <a:pt x="112045" y="92728"/>
                  <a:pt x="107268" y="94538"/>
                  <a:pt x="102728" y="95873"/>
                </a:cubicBezTo>
                <a:cubicBezTo>
                  <a:pt x="96734" y="104360"/>
                  <a:pt x="90502" y="108840"/>
                  <a:pt x="85547" y="111244"/>
                </a:cubicBezTo>
                <a:lnTo>
                  <a:pt x="85547" y="132935"/>
                </a:lnTo>
                <a:lnTo>
                  <a:pt x="104538" y="132935"/>
                </a:lnTo>
                <a:cubicBezTo>
                  <a:pt x="109790" y="132935"/>
                  <a:pt x="114033" y="137178"/>
                  <a:pt x="114033" y="142430"/>
                </a:cubicBezTo>
                <a:cubicBezTo>
                  <a:pt x="114033" y="147682"/>
                  <a:pt x="109790" y="151925"/>
                  <a:pt x="104538" y="151925"/>
                </a:cubicBezTo>
                <a:lnTo>
                  <a:pt x="47566" y="151925"/>
                </a:lnTo>
                <a:cubicBezTo>
                  <a:pt x="42314" y="151925"/>
                  <a:pt x="38070" y="147682"/>
                  <a:pt x="38070" y="142430"/>
                </a:cubicBezTo>
                <a:cubicBezTo>
                  <a:pt x="38070" y="137178"/>
                  <a:pt x="42314" y="132935"/>
                  <a:pt x="47566" y="132935"/>
                </a:cubicBezTo>
                <a:lnTo>
                  <a:pt x="66556" y="132935"/>
                </a:lnTo>
                <a:lnTo>
                  <a:pt x="66556" y="111244"/>
                </a:lnTo>
                <a:cubicBezTo>
                  <a:pt x="61809" y="108959"/>
                  <a:pt x="55904" y="104716"/>
                  <a:pt x="50147" y="96912"/>
                </a:cubicBezTo>
                <a:cubicBezTo>
                  <a:pt x="44687" y="95487"/>
                  <a:pt x="38753" y="93321"/>
                  <a:pt x="32967" y="90057"/>
                </a:cubicBezTo>
                <a:cubicBezTo>
                  <a:pt x="16914" y="81066"/>
                  <a:pt x="2433" y="64123"/>
                  <a:pt x="356" y="33708"/>
                </a:cubicBezTo>
                <a:cubicBezTo>
                  <a:pt x="-208" y="25370"/>
                  <a:pt x="6587" y="18961"/>
                  <a:pt x="14332" y="18961"/>
                </a:cubicBezTo>
                <a:lnTo>
                  <a:pt x="29050" y="18961"/>
                </a:lnTo>
                <a:cubicBezTo>
                  <a:pt x="28961" y="17418"/>
                  <a:pt x="28901" y="15875"/>
                  <a:pt x="28842" y="14273"/>
                </a:cubicBezTo>
                <a:cubicBezTo>
                  <a:pt x="28545" y="6409"/>
                  <a:pt x="34955" y="-30"/>
                  <a:pt x="42818" y="-30"/>
                </a:cubicBezTo>
                <a:close/>
                <a:moveTo>
                  <a:pt x="30118" y="33234"/>
                </a:moveTo>
                <a:lnTo>
                  <a:pt x="14569" y="33234"/>
                </a:lnTo>
                <a:cubicBezTo>
                  <a:pt x="16409" y="58367"/>
                  <a:pt x="27952" y="70948"/>
                  <a:pt x="39851" y="77624"/>
                </a:cubicBezTo>
                <a:cubicBezTo>
                  <a:pt x="35578" y="66556"/>
                  <a:pt x="32047" y="52106"/>
                  <a:pt x="30118" y="33234"/>
                </a:cubicBezTo>
                <a:close/>
                <a:moveTo>
                  <a:pt x="112757" y="76200"/>
                </a:moveTo>
                <a:cubicBezTo>
                  <a:pt x="124775" y="69138"/>
                  <a:pt x="135635" y="56586"/>
                  <a:pt x="137475" y="33234"/>
                </a:cubicBezTo>
                <a:lnTo>
                  <a:pt x="121956" y="33234"/>
                </a:lnTo>
                <a:cubicBezTo>
                  <a:pt x="120116" y="51304"/>
                  <a:pt x="116793" y="65340"/>
                  <a:pt x="112757" y="76200"/>
                </a:cubicBezTo>
                <a:close/>
              </a:path>
            </a:pathLst>
          </a:custGeom>
          <a:solidFill>
            <a:srgbClr val="8B0000"/>
          </a:solidFill>
          <a:ln/>
        </p:spPr>
      </p:sp>
      <p:sp>
        <p:nvSpPr>
          <p:cNvPr id="53" name="Text 51"/>
          <p:cNvSpPr/>
          <p:nvPr/>
        </p:nvSpPr>
        <p:spPr>
          <a:xfrm>
            <a:off x="8041800" y="2050991"/>
            <a:ext cx="1215402" cy="227888"/>
          </a:xfrm>
          <a:prstGeom prst="rect">
            <a:avLst/>
          </a:prstGeom>
          <a:noFill/>
          <a:ln/>
        </p:spPr>
        <p:txBody>
          <a:bodyPr wrap="square" lIns="0" tIns="0" rIns="0" bIns="0" rtlCol="0" anchor="ctr"/>
          <a:lstStyle/>
          <a:p>
            <a:pPr>
              <a:lnSpc>
                <a:spcPct val="130000"/>
              </a:lnSpc>
            </a:pPr>
            <a:r>
              <a:rPr lang="en-US" sz="1196" b="1" dirty="0">
                <a:solidFill>
                  <a:srgbClr val="1F2937"/>
                </a:solidFill>
                <a:latin typeface="Sorts Mill Goudy" pitchFamily="34" charset="0"/>
                <a:ea typeface="Sorts Mill Goudy" pitchFamily="34" charset="-122"/>
                <a:cs typeface="Sorts Mill Goudy" pitchFamily="34" charset="-120"/>
              </a:rPr>
              <a:t>Best Performance</a:t>
            </a:r>
            <a:endParaRPr lang="en-US" sz="1600" dirty="0"/>
          </a:p>
        </p:txBody>
      </p:sp>
      <p:sp>
        <p:nvSpPr>
          <p:cNvPr id="54" name="Text 52"/>
          <p:cNvSpPr/>
          <p:nvPr/>
        </p:nvSpPr>
        <p:spPr>
          <a:xfrm>
            <a:off x="7775931" y="2354841"/>
            <a:ext cx="3731664" cy="455776"/>
          </a:xfrm>
          <a:prstGeom prst="rect">
            <a:avLst/>
          </a:prstGeom>
          <a:noFill/>
          <a:ln/>
        </p:spPr>
        <p:txBody>
          <a:bodyPr wrap="square" lIns="0" tIns="0" rIns="0" bIns="0" rtlCol="0" anchor="ctr"/>
          <a:lstStyle/>
          <a:p>
            <a:pPr>
              <a:lnSpc>
                <a:spcPct val="130000"/>
              </a:lnSpc>
            </a:pPr>
            <a:r>
              <a:rPr lang="en-US" sz="1196" b="1" dirty="0">
                <a:solidFill>
                  <a:srgbClr val="6B7280"/>
                </a:solidFill>
                <a:latin typeface="Sorts Mill Goudy" pitchFamily="34" charset="0"/>
                <a:ea typeface="Sorts Mill Goudy" pitchFamily="34" charset="-122"/>
                <a:cs typeface="Sorts Mill Goudy" pitchFamily="34" charset="-120"/>
              </a:rPr>
              <a:t>WHO</a:t>
            </a:r>
            <a:r>
              <a:rPr lang="en-US" sz="1196" dirty="0">
                <a:solidFill>
                  <a:srgbClr val="6B7280"/>
                </a:solidFill>
                <a:latin typeface="Sorts Mill Goudy" pitchFamily="34" charset="0"/>
                <a:ea typeface="Sorts Mill Goudy" pitchFamily="34" charset="-122"/>
                <a:cs typeface="Sorts Mill Goudy" pitchFamily="34" charset="-120"/>
              </a:rPr>
              <a:t> questions (F1: 0.779) — agent roles are most frequent and consistent</a:t>
            </a:r>
            <a:endParaRPr lang="en-US" sz="1600" dirty="0"/>
          </a:p>
        </p:txBody>
      </p:sp>
      <p:sp>
        <p:nvSpPr>
          <p:cNvPr id="55" name="Shape 53"/>
          <p:cNvSpPr/>
          <p:nvPr/>
        </p:nvSpPr>
        <p:spPr>
          <a:xfrm>
            <a:off x="7605015" y="3114467"/>
            <a:ext cx="3978542" cy="1063477"/>
          </a:xfrm>
          <a:custGeom>
            <a:avLst/>
            <a:gdLst/>
            <a:ahLst/>
            <a:cxnLst/>
            <a:rect l="l" t="t" r="r" b="b"/>
            <a:pathLst>
              <a:path w="3978542" h="1063477">
                <a:moveTo>
                  <a:pt x="0" y="0"/>
                </a:moveTo>
                <a:lnTo>
                  <a:pt x="3978542" y="0"/>
                </a:lnTo>
                <a:lnTo>
                  <a:pt x="3978542" y="1063477"/>
                </a:lnTo>
                <a:lnTo>
                  <a:pt x="0" y="1063477"/>
                </a:lnTo>
                <a:lnTo>
                  <a:pt x="0" y="0"/>
                </a:lnTo>
                <a:close/>
              </a:path>
            </a:pathLst>
          </a:custGeom>
          <a:solidFill>
            <a:srgbClr val="FFFFFF"/>
          </a:solidFill>
          <a:ln/>
        </p:spPr>
      </p:sp>
      <p:sp>
        <p:nvSpPr>
          <p:cNvPr id="56" name="Shape 54"/>
          <p:cNvSpPr/>
          <p:nvPr/>
        </p:nvSpPr>
        <p:spPr>
          <a:xfrm>
            <a:off x="7605015" y="3114467"/>
            <a:ext cx="37981" cy="1063477"/>
          </a:xfrm>
          <a:custGeom>
            <a:avLst/>
            <a:gdLst/>
            <a:ahLst/>
            <a:cxnLst/>
            <a:rect l="l" t="t" r="r" b="b"/>
            <a:pathLst>
              <a:path w="37981" h="1063477">
                <a:moveTo>
                  <a:pt x="0" y="0"/>
                </a:moveTo>
                <a:lnTo>
                  <a:pt x="37981" y="0"/>
                </a:lnTo>
                <a:lnTo>
                  <a:pt x="37981" y="1063477"/>
                </a:lnTo>
                <a:lnTo>
                  <a:pt x="0" y="1063477"/>
                </a:lnTo>
                <a:lnTo>
                  <a:pt x="0" y="0"/>
                </a:lnTo>
                <a:close/>
              </a:path>
            </a:pathLst>
          </a:custGeom>
          <a:solidFill>
            <a:srgbClr val="6B7280"/>
          </a:solidFill>
          <a:ln/>
        </p:spPr>
      </p:sp>
      <p:sp>
        <p:nvSpPr>
          <p:cNvPr id="57" name="Shape 55"/>
          <p:cNvSpPr/>
          <p:nvPr/>
        </p:nvSpPr>
        <p:spPr>
          <a:xfrm>
            <a:off x="7794922" y="3304374"/>
            <a:ext cx="151925" cy="151925"/>
          </a:xfrm>
          <a:custGeom>
            <a:avLst/>
            <a:gdLst/>
            <a:ahLst/>
            <a:cxnLst/>
            <a:rect l="l" t="t" r="r" b="b"/>
            <a:pathLst>
              <a:path w="151925" h="151925">
                <a:moveTo>
                  <a:pt x="75963" y="0"/>
                </a:moveTo>
                <a:cubicBezTo>
                  <a:pt x="80325" y="0"/>
                  <a:pt x="84330" y="2404"/>
                  <a:pt x="86407" y="6231"/>
                </a:cubicBezTo>
                <a:lnTo>
                  <a:pt x="150501" y="124923"/>
                </a:lnTo>
                <a:cubicBezTo>
                  <a:pt x="152489" y="128602"/>
                  <a:pt x="152400" y="133053"/>
                  <a:pt x="150264" y="136644"/>
                </a:cubicBezTo>
                <a:cubicBezTo>
                  <a:pt x="148127" y="140234"/>
                  <a:pt x="144240" y="142430"/>
                  <a:pt x="140056" y="142430"/>
                </a:cubicBezTo>
                <a:lnTo>
                  <a:pt x="11869" y="142430"/>
                </a:lnTo>
                <a:cubicBezTo>
                  <a:pt x="7685" y="142430"/>
                  <a:pt x="3828" y="140234"/>
                  <a:pt x="1662" y="136644"/>
                </a:cubicBezTo>
                <a:cubicBezTo>
                  <a:pt x="-504" y="133053"/>
                  <a:pt x="-564" y="128602"/>
                  <a:pt x="1424" y="124923"/>
                </a:cubicBezTo>
                <a:lnTo>
                  <a:pt x="65518" y="6231"/>
                </a:lnTo>
                <a:cubicBezTo>
                  <a:pt x="67595" y="2404"/>
                  <a:pt x="71601" y="0"/>
                  <a:pt x="75963" y="0"/>
                </a:cubicBezTo>
                <a:close/>
                <a:moveTo>
                  <a:pt x="75963" y="49850"/>
                </a:moveTo>
                <a:cubicBezTo>
                  <a:pt x="72016" y="49850"/>
                  <a:pt x="68841" y="53025"/>
                  <a:pt x="68841" y="56972"/>
                </a:cubicBezTo>
                <a:lnTo>
                  <a:pt x="68841" y="90206"/>
                </a:lnTo>
                <a:cubicBezTo>
                  <a:pt x="68841" y="94152"/>
                  <a:pt x="72016" y="97327"/>
                  <a:pt x="75963" y="97327"/>
                </a:cubicBezTo>
                <a:cubicBezTo>
                  <a:pt x="79909" y="97327"/>
                  <a:pt x="83084" y="94152"/>
                  <a:pt x="83084" y="90206"/>
                </a:cubicBezTo>
                <a:lnTo>
                  <a:pt x="83084" y="56972"/>
                </a:lnTo>
                <a:cubicBezTo>
                  <a:pt x="83084" y="53025"/>
                  <a:pt x="79909" y="49850"/>
                  <a:pt x="75963" y="49850"/>
                </a:cubicBezTo>
                <a:close/>
                <a:moveTo>
                  <a:pt x="83885" y="113944"/>
                </a:moveTo>
                <a:cubicBezTo>
                  <a:pt x="84066" y="111003"/>
                  <a:pt x="82599" y="108205"/>
                  <a:pt x="80078" y="106680"/>
                </a:cubicBezTo>
                <a:cubicBezTo>
                  <a:pt x="77557" y="105155"/>
                  <a:pt x="74398" y="105155"/>
                  <a:pt x="71877" y="106680"/>
                </a:cubicBezTo>
                <a:cubicBezTo>
                  <a:pt x="69356" y="108205"/>
                  <a:pt x="67889" y="111003"/>
                  <a:pt x="68070" y="113944"/>
                </a:cubicBezTo>
                <a:cubicBezTo>
                  <a:pt x="67889" y="116885"/>
                  <a:pt x="69356" y="119683"/>
                  <a:pt x="71877" y="121208"/>
                </a:cubicBezTo>
                <a:cubicBezTo>
                  <a:pt x="74398" y="122732"/>
                  <a:pt x="77557" y="122732"/>
                  <a:pt x="80078" y="121208"/>
                </a:cubicBezTo>
                <a:cubicBezTo>
                  <a:pt x="82599" y="119683"/>
                  <a:pt x="84066" y="116885"/>
                  <a:pt x="83885" y="113944"/>
                </a:cubicBezTo>
                <a:close/>
              </a:path>
            </a:pathLst>
          </a:custGeom>
          <a:solidFill>
            <a:srgbClr val="6B7280"/>
          </a:solidFill>
          <a:ln/>
        </p:spPr>
      </p:sp>
      <p:sp>
        <p:nvSpPr>
          <p:cNvPr id="58" name="Text 56"/>
          <p:cNvSpPr/>
          <p:nvPr/>
        </p:nvSpPr>
        <p:spPr>
          <a:xfrm>
            <a:off x="8041800" y="3266393"/>
            <a:ext cx="1253383" cy="227888"/>
          </a:xfrm>
          <a:prstGeom prst="rect">
            <a:avLst/>
          </a:prstGeom>
          <a:noFill/>
          <a:ln/>
        </p:spPr>
        <p:txBody>
          <a:bodyPr wrap="square" lIns="0" tIns="0" rIns="0" bIns="0" rtlCol="0" anchor="ctr"/>
          <a:lstStyle/>
          <a:p>
            <a:pPr>
              <a:lnSpc>
                <a:spcPct val="130000"/>
              </a:lnSpc>
            </a:pPr>
            <a:r>
              <a:rPr lang="en-US" sz="1196" b="1" dirty="0">
                <a:solidFill>
                  <a:srgbClr val="1F2937"/>
                </a:solidFill>
                <a:latin typeface="Sorts Mill Goudy" pitchFamily="34" charset="0"/>
                <a:ea typeface="Sorts Mill Goudy" pitchFamily="34" charset="-122"/>
                <a:cs typeface="Sorts Mill Goudy" pitchFamily="34" charset="-120"/>
              </a:rPr>
              <a:t>Most Challenging</a:t>
            </a:r>
            <a:endParaRPr lang="en-US" sz="1600" dirty="0"/>
          </a:p>
        </p:txBody>
      </p:sp>
      <p:sp>
        <p:nvSpPr>
          <p:cNvPr id="59" name="Text 57"/>
          <p:cNvSpPr/>
          <p:nvPr/>
        </p:nvSpPr>
        <p:spPr>
          <a:xfrm>
            <a:off x="7775931" y="3570243"/>
            <a:ext cx="3731664" cy="455776"/>
          </a:xfrm>
          <a:prstGeom prst="rect">
            <a:avLst/>
          </a:prstGeom>
          <a:noFill/>
          <a:ln/>
        </p:spPr>
        <p:txBody>
          <a:bodyPr wrap="square" lIns="0" tIns="0" rIns="0" bIns="0" rtlCol="0" anchor="ctr"/>
          <a:lstStyle/>
          <a:p>
            <a:pPr>
              <a:lnSpc>
                <a:spcPct val="130000"/>
              </a:lnSpc>
            </a:pPr>
            <a:r>
              <a:rPr lang="en-US" sz="1196" b="1" dirty="0">
                <a:solidFill>
                  <a:srgbClr val="6B7280"/>
                </a:solidFill>
                <a:latin typeface="Sorts Mill Goudy" pitchFamily="34" charset="0"/>
                <a:ea typeface="Sorts Mill Goudy" pitchFamily="34" charset="-122"/>
                <a:cs typeface="Sorts Mill Goudy" pitchFamily="34" charset="-120"/>
              </a:rPr>
              <a:t>WHY</a:t>
            </a:r>
            <a:r>
              <a:rPr lang="en-US" sz="1196" dirty="0">
                <a:solidFill>
                  <a:srgbClr val="6B7280"/>
                </a:solidFill>
                <a:latin typeface="Sorts Mill Goudy" pitchFamily="34" charset="0"/>
                <a:ea typeface="Sorts Mill Goudy" pitchFamily="34" charset="-122"/>
                <a:cs typeface="Sorts Mill Goudy" pitchFamily="34" charset="-120"/>
              </a:rPr>
              <a:t> questions (EM: 0.175) — causal reasoning requires complex inference</a:t>
            </a:r>
            <a:endParaRPr lang="en-US" sz="1600" dirty="0"/>
          </a:p>
        </p:txBody>
      </p:sp>
      <p:sp>
        <p:nvSpPr>
          <p:cNvPr id="60" name="Shape 58"/>
          <p:cNvSpPr/>
          <p:nvPr/>
        </p:nvSpPr>
        <p:spPr>
          <a:xfrm>
            <a:off x="7605015" y="4329869"/>
            <a:ext cx="3978542" cy="1063477"/>
          </a:xfrm>
          <a:custGeom>
            <a:avLst/>
            <a:gdLst/>
            <a:ahLst/>
            <a:cxnLst/>
            <a:rect l="l" t="t" r="r" b="b"/>
            <a:pathLst>
              <a:path w="3978542" h="1063477">
                <a:moveTo>
                  <a:pt x="0" y="0"/>
                </a:moveTo>
                <a:lnTo>
                  <a:pt x="3978542" y="0"/>
                </a:lnTo>
                <a:lnTo>
                  <a:pt x="3978542" y="1063477"/>
                </a:lnTo>
                <a:lnTo>
                  <a:pt x="0" y="1063477"/>
                </a:lnTo>
                <a:lnTo>
                  <a:pt x="0" y="0"/>
                </a:lnTo>
                <a:close/>
              </a:path>
            </a:pathLst>
          </a:custGeom>
          <a:solidFill>
            <a:srgbClr val="FFFFFF"/>
          </a:solidFill>
          <a:ln/>
        </p:spPr>
      </p:sp>
      <p:sp>
        <p:nvSpPr>
          <p:cNvPr id="61" name="Shape 59"/>
          <p:cNvSpPr/>
          <p:nvPr/>
        </p:nvSpPr>
        <p:spPr>
          <a:xfrm>
            <a:off x="7605015" y="4329869"/>
            <a:ext cx="37981" cy="1063477"/>
          </a:xfrm>
          <a:custGeom>
            <a:avLst/>
            <a:gdLst/>
            <a:ahLst/>
            <a:cxnLst/>
            <a:rect l="l" t="t" r="r" b="b"/>
            <a:pathLst>
              <a:path w="37981" h="1063477">
                <a:moveTo>
                  <a:pt x="0" y="0"/>
                </a:moveTo>
                <a:lnTo>
                  <a:pt x="37981" y="0"/>
                </a:lnTo>
                <a:lnTo>
                  <a:pt x="37981" y="1063477"/>
                </a:lnTo>
                <a:lnTo>
                  <a:pt x="0" y="1063477"/>
                </a:lnTo>
                <a:lnTo>
                  <a:pt x="0" y="0"/>
                </a:lnTo>
                <a:close/>
              </a:path>
            </a:pathLst>
          </a:custGeom>
          <a:solidFill>
            <a:srgbClr val="8B0000"/>
          </a:solidFill>
          <a:ln/>
        </p:spPr>
      </p:sp>
      <p:sp>
        <p:nvSpPr>
          <p:cNvPr id="62" name="Shape 60"/>
          <p:cNvSpPr/>
          <p:nvPr/>
        </p:nvSpPr>
        <p:spPr>
          <a:xfrm>
            <a:off x="7794922" y="4519776"/>
            <a:ext cx="151925" cy="151925"/>
          </a:xfrm>
          <a:custGeom>
            <a:avLst/>
            <a:gdLst/>
            <a:ahLst/>
            <a:cxnLst/>
            <a:rect l="l" t="t" r="r" b="b"/>
            <a:pathLst>
              <a:path w="151925" h="151925">
                <a:moveTo>
                  <a:pt x="9495" y="9495"/>
                </a:moveTo>
                <a:cubicBezTo>
                  <a:pt x="14747" y="9495"/>
                  <a:pt x="18991" y="13739"/>
                  <a:pt x="18991" y="18991"/>
                </a:cubicBezTo>
                <a:lnTo>
                  <a:pt x="18991" y="118692"/>
                </a:lnTo>
                <a:cubicBezTo>
                  <a:pt x="18991" y="121303"/>
                  <a:pt x="21127" y="123439"/>
                  <a:pt x="23738" y="123439"/>
                </a:cubicBezTo>
                <a:lnTo>
                  <a:pt x="142430" y="123439"/>
                </a:lnTo>
                <a:cubicBezTo>
                  <a:pt x="147682" y="123439"/>
                  <a:pt x="151925" y="127682"/>
                  <a:pt x="151925" y="132935"/>
                </a:cubicBezTo>
                <a:cubicBezTo>
                  <a:pt x="151925" y="138187"/>
                  <a:pt x="147682" y="142430"/>
                  <a:pt x="142430" y="142430"/>
                </a:cubicBezTo>
                <a:lnTo>
                  <a:pt x="23738" y="142430"/>
                </a:lnTo>
                <a:cubicBezTo>
                  <a:pt x="10623" y="142430"/>
                  <a:pt x="0" y="131807"/>
                  <a:pt x="0" y="118692"/>
                </a:cubicBezTo>
                <a:lnTo>
                  <a:pt x="0" y="18991"/>
                </a:lnTo>
                <a:cubicBezTo>
                  <a:pt x="0" y="13739"/>
                  <a:pt x="4243" y="9495"/>
                  <a:pt x="9495" y="9495"/>
                </a:cubicBezTo>
                <a:close/>
                <a:moveTo>
                  <a:pt x="37981" y="28486"/>
                </a:moveTo>
                <a:cubicBezTo>
                  <a:pt x="37981" y="23234"/>
                  <a:pt x="42225" y="18991"/>
                  <a:pt x="47477" y="18991"/>
                </a:cubicBezTo>
                <a:lnTo>
                  <a:pt x="104449" y="18991"/>
                </a:lnTo>
                <a:cubicBezTo>
                  <a:pt x="109701" y="18991"/>
                  <a:pt x="113944" y="23234"/>
                  <a:pt x="113944" y="28486"/>
                </a:cubicBezTo>
                <a:cubicBezTo>
                  <a:pt x="113944" y="33738"/>
                  <a:pt x="109701" y="37981"/>
                  <a:pt x="104449" y="37981"/>
                </a:cubicBezTo>
                <a:lnTo>
                  <a:pt x="47477" y="37981"/>
                </a:lnTo>
                <a:cubicBezTo>
                  <a:pt x="42225" y="37981"/>
                  <a:pt x="37981" y="33738"/>
                  <a:pt x="37981" y="28486"/>
                </a:cubicBezTo>
                <a:close/>
                <a:moveTo>
                  <a:pt x="47477" y="52224"/>
                </a:moveTo>
                <a:lnTo>
                  <a:pt x="85458" y="52224"/>
                </a:lnTo>
                <a:cubicBezTo>
                  <a:pt x="90710" y="52224"/>
                  <a:pt x="94953" y="56468"/>
                  <a:pt x="94953" y="61720"/>
                </a:cubicBezTo>
                <a:cubicBezTo>
                  <a:pt x="94953" y="66972"/>
                  <a:pt x="90710" y="71215"/>
                  <a:pt x="85458" y="71215"/>
                </a:cubicBezTo>
                <a:lnTo>
                  <a:pt x="47477" y="71215"/>
                </a:lnTo>
                <a:cubicBezTo>
                  <a:pt x="42225" y="71215"/>
                  <a:pt x="37981" y="66972"/>
                  <a:pt x="37981" y="61720"/>
                </a:cubicBezTo>
                <a:cubicBezTo>
                  <a:pt x="37981" y="56468"/>
                  <a:pt x="42225" y="52224"/>
                  <a:pt x="47477" y="52224"/>
                </a:cubicBezTo>
                <a:close/>
                <a:moveTo>
                  <a:pt x="47477" y="85458"/>
                </a:moveTo>
                <a:lnTo>
                  <a:pt x="123439" y="85458"/>
                </a:lnTo>
                <a:cubicBezTo>
                  <a:pt x="128691" y="85458"/>
                  <a:pt x="132935" y="89701"/>
                  <a:pt x="132935" y="94953"/>
                </a:cubicBezTo>
                <a:cubicBezTo>
                  <a:pt x="132935" y="100205"/>
                  <a:pt x="128691" y="104449"/>
                  <a:pt x="123439" y="104449"/>
                </a:cubicBezTo>
                <a:lnTo>
                  <a:pt x="47477" y="104449"/>
                </a:lnTo>
                <a:cubicBezTo>
                  <a:pt x="42225" y="104449"/>
                  <a:pt x="37981" y="100205"/>
                  <a:pt x="37981" y="94953"/>
                </a:cubicBezTo>
                <a:cubicBezTo>
                  <a:pt x="37981" y="89701"/>
                  <a:pt x="42225" y="85458"/>
                  <a:pt x="47477" y="85458"/>
                </a:cubicBezTo>
                <a:close/>
              </a:path>
            </a:pathLst>
          </a:custGeom>
          <a:solidFill>
            <a:srgbClr val="8B0000"/>
          </a:solidFill>
          <a:ln/>
        </p:spPr>
      </p:sp>
      <p:sp>
        <p:nvSpPr>
          <p:cNvPr id="63" name="Text 61"/>
          <p:cNvSpPr/>
          <p:nvPr/>
        </p:nvSpPr>
        <p:spPr>
          <a:xfrm>
            <a:off x="8041800" y="4481794"/>
            <a:ext cx="1148935" cy="227888"/>
          </a:xfrm>
          <a:prstGeom prst="rect">
            <a:avLst/>
          </a:prstGeom>
          <a:noFill/>
          <a:ln/>
        </p:spPr>
        <p:txBody>
          <a:bodyPr wrap="square" lIns="0" tIns="0" rIns="0" bIns="0" rtlCol="0" anchor="ctr"/>
          <a:lstStyle/>
          <a:p>
            <a:pPr>
              <a:lnSpc>
                <a:spcPct val="130000"/>
              </a:lnSpc>
            </a:pPr>
            <a:r>
              <a:rPr lang="en-US" sz="1196" b="1" dirty="0">
                <a:solidFill>
                  <a:srgbClr val="1F2937"/>
                </a:solidFill>
                <a:latin typeface="Sorts Mill Goudy" pitchFamily="34" charset="0"/>
                <a:ea typeface="Sorts Mill Goudy" pitchFamily="34" charset="-122"/>
                <a:cs typeface="Sorts Mill Goudy" pitchFamily="34" charset="-120"/>
              </a:rPr>
              <a:t>Highest Volume</a:t>
            </a:r>
            <a:endParaRPr lang="en-US" sz="1600" dirty="0"/>
          </a:p>
        </p:txBody>
      </p:sp>
      <p:sp>
        <p:nvSpPr>
          <p:cNvPr id="64" name="Text 62"/>
          <p:cNvSpPr/>
          <p:nvPr/>
        </p:nvSpPr>
        <p:spPr>
          <a:xfrm>
            <a:off x="7775931" y="4785645"/>
            <a:ext cx="3731664" cy="455776"/>
          </a:xfrm>
          <a:prstGeom prst="rect">
            <a:avLst/>
          </a:prstGeom>
          <a:noFill/>
          <a:ln/>
        </p:spPr>
        <p:txBody>
          <a:bodyPr wrap="square" lIns="0" tIns="0" rIns="0" bIns="0" rtlCol="0" anchor="ctr"/>
          <a:lstStyle/>
          <a:p>
            <a:pPr>
              <a:lnSpc>
                <a:spcPct val="130000"/>
              </a:lnSpc>
            </a:pPr>
            <a:r>
              <a:rPr lang="en-US" sz="1196" b="1" dirty="0">
                <a:solidFill>
                  <a:srgbClr val="6B7280"/>
                </a:solidFill>
                <a:latin typeface="Sorts Mill Goudy" pitchFamily="34" charset="0"/>
                <a:ea typeface="Sorts Mill Goudy" pitchFamily="34" charset="-122"/>
                <a:cs typeface="Sorts Mill Goudy" pitchFamily="34" charset="-120"/>
              </a:rPr>
              <a:t>WHAT</a:t>
            </a:r>
            <a:r>
              <a:rPr lang="en-US" sz="1196" dirty="0">
                <a:solidFill>
                  <a:srgbClr val="6B7280"/>
                </a:solidFill>
                <a:latin typeface="Sorts Mill Goudy" pitchFamily="34" charset="0"/>
                <a:ea typeface="Sorts Mill Goudy" pitchFamily="34" charset="-122"/>
                <a:cs typeface="Sorts Mill Goudy" pitchFamily="34" charset="-120"/>
              </a:rPr>
              <a:t> questions (n=1937, 56% of test set) — patient/theme roles dominate</a:t>
            </a:r>
            <a:endParaRPr lang="en-US" sz="1600" dirty="0"/>
          </a:p>
        </p:txBody>
      </p:sp>
      <p:sp>
        <p:nvSpPr>
          <p:cNvPr id="65" name="Shape 63"/>
          <p:cNvSpPr/>
          <p:nvPr/>
        </p:nvSpPr>
        <p:spPr>
          <a:xfrm>
            <a:off x="7362884" y="5853869"/>
            <a:ext cx="4443813" cy="997009"/>
          </a:xfrm>
          <a:custGeom>
            <a:avLst/>
            <a:gdLst/>
            <a:ahLst/>
            <a:cxnLst/>
            <a:rect l="l" t="t" r="r" b="b"/>
            <a:pathLst>
              <a:path w="4443813" h="997009">
                <a:moveTo>
                  <a:pt x="0" y="0"/>
                </a:moveTo>
                <a:lnTo>
                  <a:pt x="4443813" y="0"/>
                </a:lnTo>
                <a:lnTo>
                  <a:pt x="4443813" y="997009"/>
                </a:lnTo>
                <a:lnTo>
                  <a:pt x="0" y="997009"/>
                </a:lnTo>
                <a:lnTo>
                  <a:pt x="0" y="0"/>
                </a:lnTo>
                <a:close/>
              </a:path>
            </a:pathLst>
          </a:custGeom>
          <a:solidFill>
            <a:srgbClr val="8B0000">
              <a:alpha val="5098"/>
            </a:srgbClr>
          </a:solidFill>
          <a:ln w="12700">
            <a:solidFill>
              <a:srgbClr val="8B0000">
                <a:alpha val="20000"/>
              </a:srgbClr>
            </a:solidFill>
            <a:prstDash val="solid"/>
          </a:ln>
        </p:spPr>
      </p:sp>
      <p:sp>
        <p:nvSpPr>
          <p:cNvPr id="66" name="Text 64"/>
          <p:cNvSpPr/>
          <p:nvPr/>
        </p:nvSpPr>
        <p:spPr>
          <a:xfrm>
            <a:off x="7519557" y="6010542"/>
            <a:ext cx="4206430" cy="683664"/>
          </a:xfrm>
          <a:prstGeom prst="rect">
            <a:avLst/>
          </a:prstGeom>
          <a:noFill/>
          <a:ln/>
        </p:spPr>
        <p:txBody>
          <a:bodyPr wrap="square" lIns="0" tIns="0" rIns="0" bIns="0" rtlCol="0" anchor="ctr"/>
          <a:lstStyle/>
          <a:p>
            <a:pPr>
              <a:lnSpc>
                <a:spcPct val="130000"/>
              </a:lnSpc>
            </a:pPr>
            <a:r>
              <a:rPr lang="en-US" sz="1196" b="1" dirty="0">
                <a:solidFill>
                  <a:srgbClr val="1F2937"/>
                </a:solidFill>
                <a:latin typeface="Sorts Mill Goudy" pitchFamily="34" charset="0"/>
                <a:ea typeface="Sorts Mill Goudy" pitchFamily="34" charset="-122"/>
                <a:cs typeface="Sorts Mill Goudy" pitchFamily="34" charset="-120"/>
              </a:rPr>
              <a:t>Pattern:</a:t>
            </a:r>
            <a:r>
              <a:rPr lang="en-US" sz="1196" dirty="0">
                <a:solidFill>
                  <a:srgbClr val="1F2937"/>
                </a:solidFill>
                <a:latin typeface="Sorts Mill Goudy" pitchFamily="34" charset="0"/>
                <a:ea typeface="Sorts Mill Goudy" pitchFamily="34" charset="-122"/>
                <a:cs typeface="Sorts Mill Goudy" pitchFamily="34" charset="-120"/>
              </a:rPr>
              <a:t> Performance correlates with role frequency and semantic clarity. Rare and complex modifiers (CAU, PNC) are harder than core arguments.</a:t>
            </a:r>
            <a:endParaRPr lang="en-US" sz="1600" dirty="0"/>
          </a:p>
        </p:txBody>
      </p:sp>
    </p:spTree>
    <p:extLst>
      <p:ext uri="{BB962C8B-B14F-4D97-AF65-F5344CB8AC3E}">
        <p14:creationId xmlns:p14="http://schemas.microsoft.com/office/powerpoint/2010/main" val="320955449"/>
      </p:ext>
    </p:extLst>
  </p:cSld>
  <p:clrMapOvr>
    <a:masterClrMapping/>
  </p:clrMapOvr>
  <p:transition>
    <p:fade/>
  </p:transition>
</p:sld>
</file>

<file path=ppt/slides/slide6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81000" y="381000"/>
            <a:ext cx="11496675" cy="190500"/>
          </a:xfrm>
          <a:prstGeom prst="rect">
            <a:avLst/>
          </a:prstGeom>
          <a:noFill/>
          <a:ln/>
        </p:spPr>
        <p:txBody>
          <a:bodyPr wrap="square" lIns="0" tIns="0" rIns="0" bIns="0" rtlCol="0" anchor="ctr"/>
          <a:lstStyle/>
          <a:p>
            <a:pPr>
              <a:lnSpc>
                <a:spcPct val="120000"/>
              </a:lnSpc>
            </a:pPr>
            <a:r>
              <a:rPr lang="en-US" sz="1050" b="1" kern="0" spc="53" dirty="0">
                <a:solidFill>
                  <a:srgbClr val="8B0000"/>
                </a:solidFill>
                <a:latin typeface="Sorts Mill Goudy" pitchFamily="34" charset="0"/>
                <a:ea typeface="Sorts Mill Goudy" pitchFamily="34" charset="-122"/>
                <a:cs typeface="Sorts Mill Goudy" pitchFamily="34" charset="-120"/>
              </a:rPr>
              <a:t>6.3 EXPERIMENTAL RESULTS</a:t>
            </a:r>
            <a:endParaRPr lang="en-US" sz="1600" dirty="0"/>
          </a:p>
        </p:txBody>
      </p:sp>
      <p:sp>
        <p:nvSpPr>
          <p:cNvPr id="3" name="Text 1"/>
          <p:cNvSpPr/>
          <p:nvPr/>
        </p:nvSpPr>
        <p:spPr>
          <a:xfrm>
            <a:off x="381000" y="647700"/>
            <a:ext cx="11601450" cy="381000"/>
          </a:xfrm>
          <a:prstGeom prst="rect">
            <a:avLst/>
          </a:prstGeom>
          <a:noFill/>
          <a:ln/>
        </p:spPr>
        <p:txBody>
          <a:bodyPr wrap="square" lIns="0" tIns="0" rIns="0" bIns="0" rtlCol="0" anchor="ctr"/>
          <a:lstStyle/>
          <a:p>
            <a:pPr>
              <a:lnSpc>
                <a:spcPct val="90000"/>
              </a:lnSpc>
            </a:pPr>
            <a:r>
              <a:rPr lang="en-US" sz="2700" b="1" dirty="0">
                <a:solidFill>
                  <a:srgbClr val="1F2937"/>
                </a:solidFill>
                <a:latin typeface="Sorts Mill Goudy" pitchFamily="34" charset="0"/>
                <a:ea typeface="Sorts Mill Goudy" pitchFamily="34" charset="-122"/>
                <a:cs typeface="Sorts Mill Goudy" pitchFamily="34" charset="-120"/>
              </a:rPr>
              <a:t>Hybrid Upgrade Benchmark</a:t>
            </a:r>
            <a:endParaRPr lang="en-US" sz="1600" dirty="0"/>
          </a:p>
        </p:txBody>
      </p:sp>
      <p:sp>
        <p:nvSpPr>
          <p:cNvPr id="4" name="Shape 2"/>
          <p:cNvSpPr/>
          <p:nvPr/>
        </p:nvSpPr>
        <p:spPr>
          <a:xfrm>
            <a:off x="381000" y="1257300"/>
            <a:ext cx="5562600" cy="5314950"/>
          </a:xfrm>
          <a:custGeom>
            <a:avLst/>
            <a:gdLst/>
            <a:ahLst/>
            <a:cxnLst/>
            <a:rect l="l" t="t" r="r" b="b"/>
            <a:pathLst>
              <a:path w="5562600" h="5314950">
                <a:moveTo>
                  <a:pt x="0" y="0"/>
                </a:moveTo>
                <a:lnTo>
                  <a:pt x="5562600" y="0"/>
                </a:lnTo>
                <a:lnTo>
                  <a:pt x="5562600" y="5314950"/>
                </a:lnTo>
                <a:lnTo>
                  <a:pt x="0" y="5314950"/>
                </a:lnTo>
                <a:lnTo>
                  <a:pt x="0" y="0"/>
                </a:lnTo>
                <a:close/>
              </a:path>
            </a:pathLst>
          </a:custGeom>
          <a:solidFill>
            <a:srgbClr val="F9FAFB"/>
          </a:solidFill>
          <a:ln/>
        </p:spPr>
      </p:sp>
      <p:sp>
        <p:nvSpPr>
          <p:cNvPr id="5" name="Text 3"/>
          <p:cNvSpPr/>
          <p:nvPr/>
        </p:nvSpPr>
        <p:spPr>
          <a:xfrm>
            <a:off x="609600" y="1485900"/>
            <a:ext cx="5200650" cy="266700"/>
          </a:xfrm>
          <a:prstGeom prst="rect">
            <a:avLst/>
          </a:prstGeom>
          <a:noFill/>
          <a:ln/>
        </p:spPr>
        <p:txBody>
          <a:bodyPr wrap="square" lIns="0" tIns="0" rIns="0" bIns="0" rtlCol="0" anchor="ctr"/>
          <a:lstStyle/>
          <a:p>
            <a:pPr>
              <a:lnSpc>
                <a:spcPct val="120000"/>
              </a:lnSpc>
            </a:pPr>
            <a:r>
              <a:rPr lang="en-US" sz="1500" b="1" dirty="0">
                <a:solidFill>
                  <a:srgbClr val="1F2937"/>
                </a:solidFill>
                <a:latin typeface="Sorts Mill Goudy" pitchFamily="34" charset="0"/>
                <a:ea typeface="Sorts Mill Goudy" pitchFamily="34" charset="-122"/>
                <a:cs typeface="Sorts Mill Goudy" pitchFamily="34" charset="-120"/>
              </a:rPr>
              <a:t>Four Inference Tracks</a:t>
            </a:r>
            <a:endParaRPr lang="en-US" sz="1600" dirty="0"/>
          </a:p>
        </p:txBody>
      </p:sp>
      <p:sp>
        <p:nvSpPr>
          <p:cNvPr id="6" name="Text 4"/>
          <p:cNvSpPr/>
          <p:nvPr/>
        </p:nvSpPr>
        <p:spPr>
          <a:xfrm>
            <a:off x="609600" y="1905000"/>
            <a:ext cx="5181600" cy="495300"/>
          </a:xfrm>
          <a:prstGeom prst="rect">
            <a:avLst/>
          </a:prstGeom>
          <a:noFill/>
          <a:ln/>
        </p:spPr>
        <p:txBody>
          <a:bodyPr wrap="square" lIns="0" tIns="0" rIns="0" bIns="0" rtlCol="0" anchor="ctr"/>
          <a:lstStyle/>
          <a:p>
            <a:pPr>
              <a:lnSpc>
                <a:spcPct val="140000"/>
              </a:lnSpc>
            </a:pPr>
            <a:r>
              <a:rPr lang="en-US" sz="1200" dirty="0">
                <a:solidFill>
                  <a:srgbClr val="1F2937"/>
                </a:solidFill>
                <a:latin typeface="Sorts Mill Goudy" pitchFamily="34" charset="0"/>
                <a:ea typeface="Sorts Mill Goudy" pitchFamily="34" charset="-122"/>
                <a:cs typeface="Sorts Mill Goudy" pitchFamily="34" charset="-120"/>
              </a:rPr>
              <a:t>Research-grade hybrid inference layer on top of original checkpoint—</a:t>
            </a:r>
            <a:r>
              <a:rPr lang="en-US" sz="1200" b="1" dirty="0">
                <a:solidFill>
                  <a:srgbClr val="1F2937"/>
                </a:solidFill>
                <a:latin typeface="Sorts Mill Goudy" pitchFamily="34" charset="0"/>
                <a:ea typeface="Sorts Mill Goudy" pitchFamily="34" charset="-122"/>
                <a:cs typeface="Sorts Mill Goudy" pitchFamily="34" charset="-120"/>
              </a:rPr>
              <a:t>local improvements</a:t>
            </a:r>
            <a:r>
              <a:rPr lang="en-US" sz="1200" dirty="0">
                <a:solidFill>
                  <a:srgbClr val="1F2937"/>
                </a:solidFill>
                <a:latin typeface="Sorts Mill Goudy" pitchFamily="34" charset="0"/>
                <a:ea typeface="Sorts Mill Goudy" pitchFamily="34" charset="-122"/>
                <a:cs typeface="Sorts Mill Goudy" pitchFamily="34" charset="-120"/>
              </a:rPr>
              <a:t> rather than retrained models:</a:t>
            </a:r>
            <a:endParaRPr lang="en-US" sz="1600" dirty="0"/>
          </a:p>
        </p:txBody>
      </p:sp>
      <p:sp>
        <p:nvSpPr>
          <p:cNvPr id="7" name="Shape 5"/>
          <p:cNvSpPr/>
          <p:nvPr/>
        </p:nvSpPr>
        <p:spPr>
          <a:xfrm>
            <a:off x="619125" y="2562225"/>
            <a:ext cx="5086350" cy="857250"/>
          </a:xfrm>
          <a:custGeom>
            <a:avLst/>
            <a:gdLst/>
            <a:ahLst/>
            <a:cxnLst/>
            <a:rect l="l" t="t" r="r" b="b"/>
            <a:pathLst>
              <a:path w="5086350" h="857250">
                <a:moveTo>
                  <a:pt x="0" y="0"/>
                </a:moveTo>
                <a:lnTo>
                  <a:pt x="5086350" y="0"/>
                </a:lnTo>
                <a:lnTo>
                  <a:pt x="5086350" y="857250"/>
                </a:lnTo>
                <a:lnTo>
                  <a:pt x="0" y="857250"/>
                </a:lnTo>
                <a:lnTo>
                  <a:pt x="0" y="0"/>
                </a:lnTo>
                <a:close/>
              </a:path>
            </a:pathLst>
          </a:custGeom>
          <a:solidFill>
            <a:srgbClr val="FFFFFF"/>
          </a:solidFill>
          <a:ln w="25400">
            <a:solidFill>
              <a:srgbClr val="8B0000"/>
            </a:solidFill>
            <a:prstDash val="solid"/>
          </a:ln>
        </p:spPr>
      </p:sp>
      <p:sp>
        <p:nvSpPr>
          <p:cNvPr id="8" name="Text 6"/>
          <p:cNvSpPr/>
          <p:nvPr/>
        </p:nvSpPr>
        <p:spPr>
          <a:xfrm>
            <a:off x="781050" y="2724150"/>
            <a:ext cx="1352550"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1. Classical Baseline</a:t>
            </a:r>
            <a:endParaRPr lang="en-US" sz="1600" dirty="0"/>
          </a:p>
        </p:txBody>
      </p:sp>
      <p:sp>
        <p:nvSpPr>
          <p:cNvPr id="9" name="Text 7"/>
          <p:cNvSpPr/>
          <p:nvPr/>
        </p:nvSpPr>
        <p:spPr>
          <a:xfrm>
            <a:off x="4999881" y="2724150"/>
            <a:ext cx="619125" cy="228600"/>
          </a:xfrm>
          <a:prstGeom prst="rect">
            <a:avLst/>
          </a:prstGeom>
          <a:noFill/>
          <a:ln/>
        </p:spPr>
        <p:txBody>
          <a:bodyPr wrap="square" lIns="0" tIns="0" rIns="0" bIns="0" rtlCol="0" anchor="ctr"/>
          <a:lstStyle/>
          <a:p>
            <a:pPr>
              <a:lnSpc>
                <a:spcPct val="130000"/>
              </a:lnSpc>
            </a:pPr>
            <a:r>
              <a:rPr lang="en-US" sz="1200" b="1" dirty="0">
                <a:solidFill>
                  <a:srgbClr val="8B0000"/>
                </a:solidFill>
                <a:latin typeface="Sorts Mill Goudy" pitchFamily="34" charset="0"/>
                <a:ea typeface="Sorts Mill Goudy" pitchFamily="34" charset="-122"/>
                <a:cs typeface="Sorts Mill Goudy" pitchFamily="34" charset="-120"/>
              </a:rPr>
              <a:t>F1: 0.309</a:t>
            </a:r>
            <a:endParaRPr lang="en-US" sz="1600" dirty="0"/>
          </a:p>
        </p:txBody>
      </p:sp>
      <p:sp>
        <p:nvSpPr>
          <p:cNvPr id="10" name="Text 8"/>
          <p:cNvSpPr/>
          <p:nvPr/>
        </p:nvSpPr>
        <p:spPr>
          <a:xfrm>
            <a:off x="781050" y="3028950"/>
            <a:ext cx="4838700" cy="228600"/>
          </a:xfrm>
          <a:prstGeom prst="rect">
            <a:avLst/>
          </a:prstGeom>
          <a:noFill/>
          <a:ln/>
        </p:spPr>
        <p:txBody>
          <a:bodyPr wrap="square" lIns="0" tIns="0" rIns="0" bIns="0" rtlCol="0" anchor="ctr"/>
          <a:lstStyle/>
          <a:p>
            <a:pPr>
              <a:lnSpc>
                <a:spcPct val="130000"/>
              </a:lnSpc>
            </a:pPr>
            <a:r>
              <a:rPr lang="en-US" sz="1200" dirty="0">
                <a:solidFill>
                  <a:srgbClr val="6B7280"/>
                </a:solidFill>
                <a:latin typeface="Sorts Mill Goudy" pitchFamily="34" charset="0"/>
                <a:ea typeface="Sorts Mill Goudy" pitchFamily="34" charset="-122"/>
                <a:cs typeface="Sorts Mill Goudy" pitchFamily="34" charset="-120"/>
              </a:rPr>
              <a:t>Original PropQA-Net, 3.96ms latency</a:t>
            </a:r>
            <a:endParaRPr lang="en-US" sz="1600" dirty="0"/>
          </a:p>
        </p:txBody>
      </p:sp>
      <p:sp>
        <p:nvSpPr>
          <p:cNvPr id="11" name="Shape 9"/>
          <p:cNvSpPr/>
          <p:nvPr/>
        </p:nvSpPr>
        <p:spPr>
          <a:xfrm>
            <a:off x="614363" y="3548063"/>
            <a:ext cx="5095875" cy="847725"/>
          </a:xfrm>
          <a:custGeom>
            <a:avLst/>
            <a:gdLst/>
            <a:ahLst/>
            <a:cxnLst/>
            <a:rect l="l" t="t" r="r" b="b"/>
            <a:pathLst>
              <a:path w="5095875" h="847725">
                <a:moveTo>
                  <a:pt x="0" y="0"/>
                </a:moveTo>
                <a:lnTo>
                  <a:pt x="5095875" y="0"/>
                </a:lnTo>
                <a:lnTo>
                  <a:pt x="5095875" y="847725"/>
                </a:lnTo>
                <a:lnTo>
                  <a:pt x="0" y="847725"/>
                </a:lnTo>
                <a:lnTo>
                  <a:pt x="0" y="0"/>
                </a:lnTo>
                <a:close/>
              </a:path>
            </a:pathLst>
          </a:custGeom>
          <a:solidFill>
            <a:srgbClr val="FFFFFF"/>
          </a:solidFill>
          <a:ln w="12700">
            <a:solidFill>
              <a:srgbClr val="E5E7EB"/>
            </a:solidFill>
            <a:prstDash val="solid"/>
          </a:ln>
        </p:spPr>
      </p:sp>
      <p:sp>
        <p:nvSpPr>
          <p:cNvPr id="12" name="Text 10"/>
          <p:cNvSpPr/>
          <p:nvPr/>
        </p:nvSpPr>
        <p:spPr>
          <a:xfrm>
            <a:off x="771525" y="3705225"/>
            <a:ext cx="1466850"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2. Heuristic Reranker</a:t>
            </a:r>
            <a:endParaRPr lang="en-US" sz="1600" dirty="0"/>
          </a:p>
        </p:txBody>
      </p:sp>
      <p:sp>
        <p:nvSpPr>
          <p:cNvPr id="13" name="Text 11"/>
          <p:cNvSpPr/>
          <p:nvPr/>
        </p:nvSpPr>
        <p:spPr>
          <a:xfrm>
            <a:off x="5020866" y="3705225"/>
            <a:ext cx="609600" cy="228600"/>
          </a:xfrm>
          <a:prstGeom prst="rect">
            <a:avLst/>
          </a:prstGeom>
          <a:noFill/>
          <a:ln/>
        </p:spPr>
        <p:txBody>
          <a:bodyPr wrap="square" lIns="0" tIns="0" rIns="0" bIns="0" rtlCol="0" anchor="ctr"/>
          <a:lstStyle/>
          <a:p>
            <a:pPr>
              <a:lnSpc>
                <a:spcPct val="130000"/>
              </a:lnSpc>
            </a:pPr>
            <a:r>
              <a:rPr lang="en-US" sz="1200" b="1" dirty="0">
                <a:solidFill>
                  <a:srgbClr val="8B0000"/>
                </a:solidFill>
                <a:latin typeface="Sorts Mill Goudy" pitchFamily="34" charset="0"/>
                <a:ea typeface="Sorts Mill Goudy" pitchFamily="34" charset="-122"/>
                <a:cs typeface="Sorts Mill Goudy" pitchFamily="34" charset="-120"/>
              </a:rPr>
              <a:t>F1: 0.418</a:t>
            </a:r>
            <a:endParaRPr lang="en-US" sz="1600" dirty="0"/>
          </a:p>
        </p:txBody>
      </p:sp>
      <p:sp>
        <p:nvSpPr>
          <p:cNvPr id="14" name="Text 12"/>
          <p:cNvSpPr/>
          <p:nvPr/>
        </p:nvSpPr>
        <p:spPr>
          <a:xfrm>
            <a:off x="771525" y="4010025"/>
            <a:ext cx="4857750" cy="228600"/>
          </a:xfrm>
          <a:prstGeom prst="rect">
            <a:avLst/>
          </a:prstGeom>
          <a:noFill/>
          <a:ln/>
        </p:spPr>
        <p:txBody>
          <a:bodyPr wrap="square" lIns="0" tIns="0" rIns="0" bIns="0" rtlCol="0" anchor="ctr"/>
          <a:lstStyle/>
          <a:p>
            <a:pPr>
              <a:lnSpc>
                <a:spcPct val="130000"/>
              </a:lnSpc>
            </a:pPr>
            <a:r>
              <a:rPr lang="en-US" sz="1200" dirty="0">
                <a:solidFill>
                  <a:srgbClr val="6B7280"/>
                </a:solidFill>
                <a:latin typeface="Sorts Mill Goudy" pitchFamily="34" charset="0"/>
                <a:ea typeface="Sorts Mill Goudy" pitchFamily="34" charset="-122"/>
                <a:cs typeface="Sorts Mill Goudy" pitchFamily="34" charset="-120"/>
              </a:rPr>
              <a:t>Role-aware semantic reranking, 4.98ms latency</a:t>
            </a:r>
            <a:endParaRPr lang="en-US" sz="1600" dirty="0"/>
          </a:p>
        </p:txBody>
      </p:sp>
      <p:sp>
        <p:nvSpPr>
          <p:cNvPr id="15" name="Shape 13"/>
          <p:cNvSpPr/>
          <p:nvPr/>
        </p:nvSpPr>
        <p:spPr>
          <a:xfrm>
            <a:off x="614363" y="4519613"/>
            <a:ext cx="5095875" cy="847725"/>
          </a:xfrm>
          <a:custGeom>
            <a:avLst/>
            <a:gdLst/>
            <a:ahLst/>
            <a:cxnLst/>
            <a:rect l="l" t="t" r="r" b="b"/>
            <a:pathLst>
              <a:path w="5095875" h="847725">
                <a:moveTo>
                  <a:pt x="0" y="0"/>
                </a:moveTo>
                <a:lnTo>
                  <a:pt x="5095875" y="0"/>
                </a:lnTo>
                <a:lnTo>
                  <a:pt x="5095875" y="847725"/>
                </a:lnTo>
                <a:lnTo>
                  <a:pt x="0" y="847725"/>
                </a:lnTo>
                <a:lnTo>
                  <a:pt x="0" y="0"/>
                </a:lnTo>
                <a:close/>
              </a:path>
            </a:pathLst>
          </a:custGeom>
          <a:solidFill>
            <a:srgbClr val="FFFFFF"/>
          </a:solidFill>
          <a:ln w="12700">
            <a:solidFill>
              <a:srgbClr val="E5E7EB"/>
            </a:solidFill>
            <a:prstDash val="solid"/>
          </a:ln>
        </p:spPr>
      </p:sp>
      <p:sp>
        <p:nvSpPr>
          <p:cNvPr id="16" name="Text 14"/>
          <p:cNvSpPr/>
          <p:nvPr/>
        </p:nvSpPr>
        <p:spPr>
          <a:xfrm>
            <a:off x="771525" y="4676775"/>
            <a:ext cx="1752600"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3. Transformer QA Assist</a:t>
            </a:r>
            <a:endParaRPr lang="en-US" sz="1600" dirty="0"/>
          </a:p>
        </p:txBody>
      </p:sp>
      <p:sp>
        <p:nvSpPr>
          <p:cNvPr id="17" name="Text 15"/>
          <p:cNvSpPr/>
          <p:nvPr/>
        </p:nvSpPr>
        <p:spPr>
          <a:xfrm>
            <a:off x="5020866" y="4676775"/>
            <a:ext cx="609600" cy="228600"/>
          </a:xfrm>
          <a:prstGeom prst="rect">
            <a:avLst/>
          </a:prstGeom>
          <a:noFill/>
          <a:ln/>
        </p:spPr>
        <p:txBody>
          <a:bodyPr wrap="square" lIns="0" tIns="0" rIns="0" bIns="0" rtlCol="0" anchor="ctr"/>
          <a:lstStyle/>
          <a:p>
            <a:pPr>
              <a:lnSpc>
                <a:spcPct val="130000"/>
              </a:lnSpc>
            </a:pPr>
            <a:r>
              <a:rPr lang="en-US" sz="1200" b="1" dirty="0">
                <a:solidFill>
                  <a:srgbClr val="8B0000"/>
                </a:solidFill>
                <a:latin typeface="Sorts Mill Goudy" pitchFamily="34" charset="0"/>
                <a:ea typeface="Sorts Mill Goudy" pitchFamily="34" charset="-122"/>
                <a:cs typeface="Sorts Mill Goudy" pitchFamily="34" charset="-120"/>
              </a:rPr>
              <a:t>F1: 0.418</a:t>
            </a:r>
            <a:endParaRPr lang="en-US" sz="1600" dirty="0"/>
          </a:p>
        </p:txBody>
      </p:sp>
      <p:sp>
        <p:nvSpPr>
          <p:cNvPr id="18" name="Text 16"/>
          <p:cNvSpPr/>
          <p:nvPr/>
        </p:nvSpPr>
        <p:spPr>
          <a:xfrm>
            <a:off x="771525" y="4981575"/>
            <a:ext cx="4857750" cy="228600"/>
          </a:xfrm>
          <a:prstGeom prst="rect">
            <a:avLst/>
          </a:prstGeom>
          <a:noFill/>
          <a:ln/>
        </p:spPr>
        <p:txBody>
          <a:bodyPr wrap="square" lIns="0" tIns="0" rIns="0" bIns="0" rtlCol="0" anchor="ctr"/>
          <a:lstStyle/>
          <a:p>
            <a:pPr>
              <a:lnSpc>
                <a:spcPct val="130000"/>
              </a:lnSpc>
            </a:pPr>
            <a:r>
              <a:rPr lang="en-US" sz="1200" dirty="0">
                <a:solidFill>
                  <a:srgbClr val="6B7280"/>
                </a:solidFill>
                <a:latin typeface="Sorts Mill Goudy" pitchFamily="34" charset="0"/>
                <a:ea typeface="Sorts Mill Goudy" pitchFamily="34" charset="-122"/>
                <a:cs typeface="Sorts Mill Goudy" pitchFamily="34" charset="-120"/>
              </a:rPr>
              <a:t>External transformer QA spans, 289ms latency</a:t>
            </a:r>
            <a:endParaRPr lang="en-US" sz="1600" dirty="0"/>
          </a:p>
        </p:txBody>
      </p:sp>
      <p:sp>
        <p:nvSpPr>
          <p:cNvPr id="19" name="Shape 17"/>
          <p:cNvSpPr/>
          <p:nvPr/>
        </p:nvSpPr>
        <p:spPr>
          <a:xfrm>
            <a:off x="614363" y="5491163"/>
            <a:ext cx="5095875" cy="847725"/>
          </a:xfrm>
          <a:custGeom>
            <a:avLst/>
            <a:gdLst/>
            <a:ahLst/>
            <a:cxnLst/>
            <a:rect l="l" t="t" r="r" b="b"/>
            <a:pathLst>
              <a:path w="5095875" h="847725">
                <a:moveTo>
                  <a:pt x="0" y="0"/>
                </a:moveTo>
                <a:lnTo>
                  <a:pt x="5095875" y="0"/>
                </a:lnTo>
                <a:lnTo>
                  <a:pt x="5095875" y="847725"/>
                </a:lnTo>
                <a:lnTo>
                  <a:pt x="0" y="847725"/>
                </a:lnTo>
                <a:lnTo>
                  <a:pt x="0" y="0"/>
                </a:lnTo>
                <a:close/>
              </a:path>
            </a:pathLst>
          </a:custGeom>
          <a:solidFill>
            <a:srgbClr val="FFFFFF"/>
          </a:solidFill>
          <a:ln w="12700">
            <a:solidFill>
              <a:srgbClr val="E5E7EB"/>
            </a:solidFill>
            <a:prstDash val="solid"/>
          </a:ln>
        </p:spPr>
      </p:sp>
      <p:sp>
        <p:nvSpPr>
          <p:cNvPr id="20" name="Text 18"/>
          <p:cNvSpPr/>
          <p:nvPr/>
        </p:nvSpPr>
        <p:spPr>
          <a:xfrm>
            <a:off x="771525" y="5648325"/>
            <a:ext cx="981075"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4. Full Hybrid</a:t>
            </a:r>
            <a:endParaRPr lang="en-US" sz="1600" dirty="0"/>
          </a:p>
        </p:txBody>
      </p:sp>
      <p:sp>
        <p:nvSpPr>
          <p:cNvPr id="21" name="Text 19"/>
          <p:cNvSpPr/>
          <p:nvPr/>
        </p:nvSpPr>
        <p:spPr>
          <a:xfrm>
            <a:off x="5020866" y="5648325"/>
            <a:ext cx="609600" cy="228600"/>
          </a:xfrm>
          <a:prstGeom prst="rect">
            <a:avLst/>
          </a:prstGeom>
          <a:noFill/>
          <a:ln/>
        </p:spPr>
        <p:txBody>
          <a:bodyPr wrap="square" lIns="0" tIns="0" rIns="0" bIns="0" rtlCol="0" anchor="ctr"/>
          <a:lstStyle/>
          <a:p>
            <a:pPr>
              <a:lnSpc>
                <a:spcPct val="130000"/>
              </a:lnSpc>
            </a:pPr>
            <a:r>
              <a:rPr lang="en-US" sz="1200" b="1" dirty="0">
                <a:solidFill>
                  <a:srgbClr val="8B0000"/>
                </a:solidFill>
                <a:latin typeface="Sorts Mill Goudy" pitchFamily="34" charset="0"/>
                <a:ea typeface="Sorts Mill Goudy" pitchFamily="34" charset="-122"/>
                <a:cs typeface="Sorts Mill Goudy" pitchFamily="34" charset="-120"/>
              </a:rPr>
              <a:t>F1: 0.418</a:t>
            </a:r>
            <a:endParaRPr lang="en-US" sz="1600" dirty="0"/>
          </a:p>
        </p:txBody>
      </p:sp>
      <p:sp>
        <p:nvSpPr>
          <p:cNvPr id="22" name="Text 20"/>
          <p:cNvSpPr/>
          <p:nvPr/>
        </p:nvSpPr>
        <p:spPr>
          <a:xfrm>
            <a:off x="771525" y="5953125"/>
            <a:ext cx="4857750" cy="228600"/>
          </a:xfrm>
          <a:prstGeom prst="rect">
            <a:avLst/>
          </a:prstGeom>
          <a:noFill/>
          <a:ln/>
        </p:spPr>
        <p:txBody>
          <a:bodyPr wrap="square" lIns="0" tIns="0" rIns="0" bIns="0" rtlCol="0" anchor="ctr"/>
          <a:lstStyle/>
          <a:p>
            <a:pPr>
              <a:lnSpc>
                <a:spcPct val="130000"/>
              </a:lnSpc>
            </a:pPr>
            <a:r>
              <a:rPr lang="en-US" sz="1200" dirty="0">
                <a:solidFill>
                  <a:srgbClr val="6B7280"/>
                </a:solidFill>
                <a:latin typeface="Sorts Mill Goudy" pitchFamily="34" charset="0"/>
                <a:ea typeface="Sorts Mill Goudy" pitchFamily="34" charset="-122"/>
                <a:cs typeface="Sorts Mill Goudy" pitchFamily="34" charset="-120"/>
              </a:rPr>
              <a:t>Combined semantic reranking, 377ms latency</a:t>
            </a:r>
            <a:endParaRPr lang="en-US" sz="1600" dirty="0"/>
          </a:p>
        </p:txBody>
      </p:sp>
      <p:sp>
        <p:nvSpPr>
          <p:cNvPr id="23" name="Shape 21"/>
          <p:cNvSpPr/>
          <p:nvPr/>
        </p:nvSpPr>
        <p:spPr>
          <a:xfrm>
            <a:off x="6248400" y="1257300"/>
            <a:ext cx="5562600" cy="3752850"/>
          </a:xfrm>
          <a:custGeom>
            <a:avLst/>
            <a:gdLst/>
            <a:ahLst/>
            <a:cxnLst/>
            <a:rect l="l" t="t" r="r" b="b"/>
            <a:pathLst>
              <a:path w="5562600" h="3752850">
                <a:moveTo>
                  <a:pt x="0" y="0"/>
                </a:moveTo>
                <a:lnTo>
                  <a:pt x="5562600" y="0"/>
                </a:lnTo>
                <a:lnTo>
                  <a:pt x="5562600" y="3752850"/>
                </a:lnTo>
                <a:lnTo>
                  <a:pt x="0" y="3752850"/>
                </a:lnTo>
                <a:lnTo>
                  <a:pt x="0" y="0"/>
                </a:lnTo>
                <a:close/>
              </a:path>
            </a:pathLst>
          </a:custGeom>
          <a:solidFill>
            <a:srgbClr val="F9FAFB"/>
          </a:solidFill>
          <a:ln/>
        </p:spPr>
      </p:sp>
      <p:sp>
        <p:nvSpPr>
          <p:cNvPr id="24" name="Text 22"/>
          <p:cNvSpPr/>
          <p:nvPr/>
        </p:nvSpPr>
        <p:spPr>
          <a:xfrm>
            <a:off x="6477000" y="1485900"/>
            <a:ext cx="5200650" cy="266700"/>
          </a:xfrm>
          <a:prstGeom prst="rect">
            <a:avLst/>
          </a:prstGeom>
          <a:noFill/>
          <a:ln/>
        </p:spPr>
        <p:txBody>
          <a:bodyPr wrap="square" lIns="0" tIns="0" rIns="0" bIns="0" rtlCol="0" anchor="ctr"/>
          <a:lstStyle/>
          <a:p>
            <a:pPr>
              <a:lnSpc>
                <a:spcPct val="120000"/>
              </a:lnSpc>
            </a:pPr>
            <a:r>
              <a:rPr lang="en-US" sz="1500" b="1" dirty="0">
                <a:solidFill>
                  <a:srgbClr val="1F2937"/>
                </a:solidFill>
                <a:latin typeface="Sorts Mill Goudy" pitchFamily="34" charset="0"/>
                <a:ea typeface="Sorts Mill Goudy" pitchFamily="34" charset="-122"/>
                <a:cs typeface="Sorts Mill Goudy" pitchFamily="34" charset="-120"/>
              </a:rPr>
              <a:t>Latency-Accuracy Trade-off</a:t>
            </a:r>
            <a:endParaRPr lang="en-US" sz="1600" dirty="0"/>
          </a:p>
        </p:txBody>
      </p:sp>
      <p:sp>
        <p:nvSpPr>
          <p:cNvPr id="25" name="Shape 23"/>
          <p:cNvSpPr/>
          <p:nvPr/>
        </p:nvSpPr>
        <p:spPr>
          <a:xfrm>
            <a:off x="6481763" y="1909762"/>
            <a:ext cx="5095875" cy="847725"/>
          </a:xfrm>
          <a:custGeom>
            <a:avLst/>
            <a:gdLst/>
            <a:ahLst/>
            <a:cxnLst/>
            <a:rect l="l" t="t" r="r" b="b"/>
            <a:pathLst>
              <a:path w="5095875" h="847725">
                <a:moveTo>
                  <a:pt x="0" y="0"/>
                </a:moveTo>
                <a:lnTo>
                  <a:pt x="5095875" y="0"/>
                </a:lnTo>
                <a:lnTo>
                  <a:pt x="5095875" y="847725"/>
                </a:lnTo>
                <a:lnTo>
                  <a:pt x="0" y="847725"/>
                </a:lnTo>
                <a:lnTo>
                  <a:pt x="0" y="0"/>
                </a:lnTo>
                <a:close/>
              </a:path>
            </a:pathLst>
          </a:custGeom>
          <a:solidFill>
            <a:srgbClr val="FFFFFF"/>
          </a:solidFill>
          <a:ln w="12700">
            <a:solidFill>
              <a:srgbClr val="E5E7EB"/>
            </a:solidFill>
            <a:prstDash val="solid"/>
          </a:ln>
        </p:spPr>
      </p:sp>
      <p:sp>
        <p:nvSpPr>
          <p:cNvPr id="26" name="Text 24"/>
          <p:cNvSpPr/>
          <p:nvPr/>
        </p:nvSpPr>
        <p:spPr>
          <a:xfrm>
            <a:off x="6638925" y="2066925"/>
            <a:ext cx="1485900"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Classical → Reranker</a:t>
            </a:r>
            <a:endParaRPr lang="en-US" sz="1600" dirty="0"/>
          </a:p>
        </p:txBody>
      </p:sp>
      <p:sp>
        <p:nvSpPr>
          <p:cNvPr id="27" name="Text 25"/>
          <p:cNvSpPr/>
          <p:nvPr/>
        </p:nvSpPr>
        <p:spPr>
          <a:xfrm>
            <a:off x="10021491" y="2066925"/>
            <a:ext cx="1476375" cy="228600"/>
          </a:xfrm>
          <a:prstGeom prst="rect">
            <a:avLst/>
          </a:prstGeom>
          <a:noFill/>
          <a:ln/>
        </p:spPr>
        <p:txBody>
          <a:bodyPr wrap="square" lIns="0" tIns="0" rIns="0" bIns="0" rtlCol="0" anchor="ctr"/>
          <a:lstStyle/>
          <a:p>
            <a:pPr>
              <a:lnSpc>
                <a:spcPct val="130000"/>
              </a:lnSpc>
            </a:pPr>
            <a:r>
              <a:rPr lang="en-US" sz="1200" b="1" dirty="0">
                <a:solidFill>
                  <a:srgbClr val="8B0000"/>
                </a:solidFill>
                <a:latin typeface="Sorts Mill Goudy" pitchFamily="34" charset="0"/>
                <a:ea typeface="Sorts Mill Goudy" pitchFamily="34" charset="-122"/>
                <a:cs typeface="Sorts Mill Goudy" pitchFamily="34" charset="-120"/>
              </a:rPr>
              <a:t>+35% F1, +26% latency</a:t>
            </a:r>
            <a:endParaRPr lang="en-US" sz="1600" dirty="0"/>
          </a:p>
        </p:txBody>
      </p:sp>
      <p:sp>
        <p:nvSpPr>
          <p:cNvPr id="28" name="Text 26"/>
          <p:cNvSpPr/>
          <p:nvPr/>
        </p:nvSpPr>
        <p:spPr>
          <a:xfrm>
            <a:off x="6638925" y="2371725"/>
            <a:ext cx="4857750" cy="228600"/>
          </a:xfrm>
          <a:prstGeom prst="rect">
            <a:avLst/>
          </a:prstGeom>
          <a:noFill/>
          <a:ln/>
        </p:spPr>
        <p:txBody>
          <a:bodyPr wrap="square" lIns="0" tIns="0" rIns="0" bIns="0" rtlCol="0" anchor="ctr"/>
          <a:lstStyle/>
          <a:p>
            <a:pPr>
              <a:lnSpc>
                <a:spcPct val="130000"/>
              </a:lnSpc>
            </a:pPr>
            <a:r>
              <a:rPr lang="en-US" sz="1200" dirty="0">
                <a:solidFill>
                  <a:srgbClr val="6B7280"/>
                </a:solidFill>
                <a:latin typeface="Sorts Mill Goudy" pitchFamily="34" charset="0"/>
                <a:ea typeface="Sorts Mill Goudy" pitchFamily="34" charset="-122"/>
                <a:cs typeface="Sorts Mill Goudy" pitchFamily="34" charset="-120"/>
              </a:rPr>
              <a:t>Minimal overhead for significant gain</a:t>
            </a:r>
            <a:endParaRPr lang="en-US" sz="1600" dirty="0"/>
          </a:p>
        </p:txBody>
      </p:sp>
      <p:sp>
        <p:nvSpPr>
          <p:cNvPr id="29" name="Shape 27"/>
          <p:cNvSpPr/>
          <p:nvPr/>
        </p:nvSpPr>
        <p:spPr>
          <a:xfrm>
            <a:off x="6481763" y="2919413"/>
            <a:ext cx="5095875" cy="847725"/>
          </a:xfrm>
          <a:custGeom>
            <a:avLst/>
            <a:gdLst/>
            <a:ahLst/>
            <a:cxnLst/>
            <a:rect l="l" t="t" r="r" b="b"/>
            <a:pathLst>
              <a:path w="5095875" h="847725">
                <a:moveTo>
                  <a:pt x="0" y="0"/>
                </a:moveTo>
                <a:lnTo>
                  <a:pt x="5095875" y="0"/>
                </a:lnTo>
                <a:lnTo>
                  <a:pt x="5095875" y="847725"/>
                </a:lnTo>
                <a:lnTo>
                  <a:pt x="0" y="847725"/>
                </a:lnTo>
                <a:lnTo>
                  <a:pt x="0" y="0"/>
                </a:lnTo>
                <a:close/>
              </a:path>
            </a:pathLst>
          </a:custGeom>
          <a:solidFill>
            <a:srgbClr val="FFFFFF"/>
          </a:solidFill>
          <a:ln w="12700">
            <a:solidFill>
              <a:srgbClr val="E5E7EB"/>
            </a:solidFill>
            <a:prstDash val="solid"/>
          </a:ln>
        </p:spPr>
      </p:sp>
      <p:sp>
        <p:nvSpPr>
          <p:cNvPr id="30" name="Text 28"/>
          <p:cNvSpPr/>
          <p:nvPr/>
        </p:nvSpPr>
        <p:spPr>
          <a:xfrm>
            <a:off x="6638925" y="3076575"/>
            <a:ext cx="1733550"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Reranker → Transformer</a:t>
            </a:r>
            <a:endParaRPr lang="en-US" sz="1600" dirty="0"/>
          </a:p>
        </p:txBody>
      </p:sp>
      <p:sp>
        <p:nvSpPr>
          <p:cNvPr id="31" name="Text 29"/>
          <p:cNvSpPr/>
          <p:nvPr/>
        </p:nvSpPr>
        <p:spPr>
          <a:xfrm>
            <a:off x="9832181" y="3076575"/>
            <a:ext cx="1666875" cy="228600"/>
          </a:xfrm>
          <a:prstGeom prst="rect">
            <a:avLst/>
          </a:prstGeom>
          <a:noFill/>
          <a:ln/>
        </p:spPr>
        <p:txBody>
          <a:bodyPr wrap="square" lIns="0" tIns="0" rIns="0" bIns="0" rtlCol="0" anchor="ctr"/>
          <a:lstStyle/>
          <a:p>
            <a:pPr>
              <a:lnSpc>
                <a:spcPct val="130000"/>
              </a:lnSpc>
            </a:pPr>
            <a:r>
              <a:rPr lang="en-US" sz="1200" b="1" dirty="0">
                <a:solidFill>
                  <a:srgbClr val="6B7280"/>
                </a:solidFill>
                <a:latin typeface="Sorts Mill Goudy" pitchFamily="34" charset="0"/>
                <a:ea typeface="Sorts Mill Goudy" pitchFamily="34" charset="-122"/>
                <a:cs typeface="Sorts Mill Goudy" pitchFamily="34" charset="-120"/>
              </a:rPr>
              <a:t>Same F1, +5700% latency</a:t>
            </a:r>
            <a:endParaRPr lang="en-US" sz="1600" dirty="0"/>
          </a:p>
        </p:txBody>
      </p:sp>
      <p:sp>
        <p:nvSpPr>
          <p:cNvPr id="32" name="Text 30"/>
          <p:cNvSpPr/>
          <p:nvPr/>
        </p:nvSpPr>
        <p:spPr>
          <a:xfrm>
            <a:off x="6638925" y="3381375"/>
            <a:ext cx="4857750" cy="228600"/>
          </a:xfrm>
          <a:prstGeom prst="rect">
            <a:avLst/>
          </a:prstGeom>
          <a:noFill/>
          <a:ln/>
        </p:spPr>
        <p:txBody>
          <a:bodyPr wrap="square" lIns="0" tIns="0" rIns="0" bIns="0" rtlCol="0" anchor="ctr"/>
          <a:lstStyle/>
          <a:p>
            <a:pPr>
              <a:lnSpc>
                <a:spcPct val="130000"/>
              </a:lnSpc>
            </a:pPr>
            <a:r>
              <a:rPr lang="en-US" sz="1200" dirty="0">
                <a:solidFill>
                  <a:srgbClr val="6B7280"/>
                </a:solidFill>
                <a:latin typeface="Sorts Mill Goudy" pitchFamily="34" charset="0"/>
                <a:ea typeface="Sorts Mill Goudy" pitchFamily="34" charset="-122"/>
                <a:cs typeface="Sorts Mill Goudy" pitchFamily="34" charset="-120"/>
              </a:rPr>
              <a:t>Diminishing returns with large models</a:t>
            </a:r>
            <a:endParaRPr lang="en-US" sz="1600" dirty="0"/>
          </a:p>
        </p:txBody>
      </p:sp>
      <p:sp>
        <p:nvSpPr>
          <p:cNvPr id="33" name="Shape 31"/>
          <p:cNvSpPr/>
          <p:nvPr/>
        </p:nvSpPr>
        <p:spPr>
          <a:xfrm>
            <a:off x="6481763" y="3929063"/>
            <a:ext cx="5095875" cy="847725"/>
          </a:xfrm>
          <a:custGeom>
            <a:avLst/>
            <a:gdLst/>
            <a:ahLst/>
            <a:cxnLst/>
            <a:rect l="l" t="t" r="r" b="b"/>
            <a:pathLst>
              <a:path w="5095875" h="847725">
                <a:moveTo>
                  <a:pt x="0" y="0"/>
                </a:moveTo>
                <a:lnTo>
                  <a:pt x="5095875" y="0"/>
                </a:lnTo>
                <a:lnTo>
                  <a:pt x="5095875" y="847725"/>
                </a:lnTo>
                <a:lnTo>
                  <a:pt x="0" y="847725"/>
                </a:lnTo>
                <a:lnTo>
                  <a:pt x="0" y="0"/>
                </a:lnTo>
                <a:close/>
              </a:path>
            </a:pathLst>
          </a:custGeom>
          <a:solidFill>
            <a:srgbClr val="FFFFFF"/>
          </a:solidFill>
          <a:ln w="12700">
            <a:solidFill>
              <a:srgbClr val="E5E7EB"/>
            </a:solidFill>
            <a:prstDash val="solid"/>
          </a:ln>
        </p:spPr>
      </p:sp>
      <p:sp>
        <p:nvSpPr>
          <p:cNvPr id="34" name="Text 32"/>
          <p:cNvSpPr/>
          <p:nvPr/>
        </p:nvSpPr>
        <p:spPr>
          <a:xfrm>
            <a:off x="6638925" y="4086225"/>
            <a:ext cx="1885950" cy="228600"/>
          </a:xfrm>
          <a:prstGeom prst="rect">
            <a:avLst/>
          </a:prstGeom>
          <a:noFill/>
          <a:ln/>
        </p:spPr>
        <p:txBody>
          <a:bodyPr wrap="square" lIns="0" tIns="0" rIns="0" bIns="0" rtlCol="0" anchor="ctr"/>
          <a:lstStyle/>
          <a:p>
            <a:pPr>
              <a:lnSpc>
                <a:spcPct val="130000"/>
              </a:lnSpc>
            </a:pPr>
            <a:r>
              <a:rPr lang="en-US" sz="1200" b="1" dirty="0">
                <a:solidFill>
                  <a:srgbClr val="1F2937"/>
                </a:solidFill>
                <a:latin typeface="Sorts Mill Goudy" pitchFamily="34" charset="0"/>
                <a:ea typeface="Sorts Mill Goudy" pitchFamily="34" charset="-122"/>
                <a:cs typeface="Sorts Mill Goudy" pitchFamily="34" charset="-120"/>
              </a:rPr>
              <a:t>Transformer → Full Hybrid</a:t>
            </a:r>
            <a:endParaRPr lang="en-US" sz="1600" dirty="0"/>
          </a:p>
        </p:txBody>
      </p:sp>
      <p:sp>
        <p:nvSpPr>
          <p:cNvPr id="35" name="Text 33"/>
          <p:cNvSpPr/>
          <p:nvPr/>
        </p:nvSpPr>
        <p:spPr>
          <a:xfrm>
            <a:off x="9979819" y="4086225"/>
            <a:ext cx="1514475" cy="228600"/>
          </a:xfrm>
          <a:prstGeom prst="rect">
            <a:avLst/>
          </a:prstGeom>
          <a:noFill/>
          <a:ln/>
        </p:spPr>
        <p:txBody>
          <a:bodyPr wrap="square" lIns="0" tIns="0" rIns="0" bIns="0" rtlCol="0" anchor="ctr"/>
          <a:lstStyle/>
          <a:p>
            <a:pPr>
              <a:lnSpc>
                <a:spcPct val="130000"/>
              </a:lnSpc>
            </a:pPr>
            <a:r>
              <a:rPr lang="en-US" sz="1200" b="1" dirty="0">
                <a:solidFill>
                  <a:srgbClr val="6B7280"/>
                </a:solidFill>
                <a:latin typeface="Sorts Mill Goudy" pitchFamily="34" charset="0"/>
                <a:ea typeface="Sorts Mill Goudy" pitchFamily="34" charset="-122"/>
                <a:cs typeface="Sorts Mill Goudy" pitchFamily="34" charset="-120"/>
              </a:rPr>
              <a:t>Same F1, +30% latency</a:t>
            </a:r>
            <a:endParaRPr lang="en-US" sz="1600" dirty="0"/>
          </a:p>
        </p:txBody>
      </p:sp>
      <p:sp>
        <p:nvSpPr>
          <p:cNvPr id="36" name="Text 34"/>
          <p:cNvSpPr/>
          <p:nvPr/>
        </p:nvSpPr>
        <p:spPr>
          <a:xfrm>
            <a:off x="6638925" y="4391025"/>
            <a:ext cx="4857750" cy="228600"/>
          </a:xfrm>
          <a:prstGeom prst="rect">
            <a:avLst/>
          </a:prstGeom>
          <a:noFill/>
          <a:ln/>
        </p:spPr>
        <p:txBody>
          <a:bodyPr wrap="square" lIns="0" tIns="0" rIns="0" bIns="0" rtlCol="0" anchor="ctr"/>
          <a:lstStyle/>
          <a:p>
            <a:pPr>
              <a:lnSpc>
                <a:spcPct val="130000"/>
              </a:lnSpc>
            </a:pPr>
            <a:r>
              <a:rPr lang="en-US" sz="1200" dirty="0">
                <a:solidFill>
                  <a:srgbClr val="6B7280"/>
                </a:solidFill>
                <a:latin typeface="Sorts Mill Goudy" pitchFamily="34" charset="0"/>
                <a:ea typeface="Sorts Mill Goudy" pitchFamily="34" charset="-122"/>
                <a:cs typeface="Sorts Mill Goudy" pitchFamily="34" charset="-120"/>
              </a:rPr>
              <a:t>Additional reranking adds overhead</a:t>
            </a:r>
            <a:endParaRPr lang="en-US" sz="1600" dirty="0"/>
          </a:p>
        </p:txBody>
      </p:sp>
      <p:sp>
        <p:nvSpPr>
          <p:cNvPr id="37" name="Shape 35"/>
          <p:cNvSpPr/>
          <p:nvPr/>
        </p:nvSpPr>
        <p:spPr>
          <a:xfrm>
            <a:off x="6253163" y="5243513"/>
            <a:ext cx="5553075" cy="1590675"/>
          </a:xfrm>
          <a:custGeom>
            <a:avLst/>
            <a:gdLst/>
            <a:ahLst/>
            <a:cxnLst/>
            <a:rect l="l" t="t" r="r" b="b"/>
            <a:pathLst>
              <a:path w="5553075" h="1590675">
                <a:moveTo>
                  <a:pt x="0" y="0"/>
                </a:moveTo>
                <a:lnTo>
                  <a:pt x="5553075" y="0"/>
                </a:lnTo>
                <a:lnTo>
                  <a:pt x="5553075" y="1590675"/>
                </a:lnTo>
                <a:lnTo>
                  <a:pt x="0" y="1590675"/>
                </a:lnTo>
                <a:lnTo>
                  <a:pt x="0" y="0"/>
                </a:lnTo>
                <a:close/>
              </a:path>
            </a:pathLst>
          </a:custGeom>
          <a:solidFill>
            <a:srgbClr val="8B0000">
              <a:alpha val="5098"/>
            </a:srgbClr>
          </a:solidFill>
          <a:ln w="12700">
            <a:solidFill>
              <a:srgbClr val="8B0000">
                <a:alpha val="20000"/>
              </a:srgbClr>
            </a:solidFill>
            <a:prstDash val="solid"/>
          </a:ln>
        </p:spPr>
      </p:sp>
      <p:sp>
        <p:nvSpPr>
          <p:cNvPr id="38" name="Text 36"/>
          <p:cNvSpPr/>
          <p:nvPr/>
        </p:nvSpPr>
        <p:spPr>
          <a:xfrm>
            <a:off x="6486525" y="5476875"/>
            <a:ext cx="5172075" cy="266700"/>
          </a:xfrm>
          <a:prstGeom prst="rect">
            <a:avLst/>
          </a:prstGeom>
          <a:noFill/>
          <a:ln/>
        </p:spPr>
        <p:txBody>
          <a:bodyPr wrap="square" lIns="0" tIns="0" rIns="0" bIns="0" rtlCol="0" anchor="ctr"/>
          <a:lstStyle/>
          <a:p>
            <a:pPr>
              <a:lnSpc>
                <a:spcPct val="130000"/>
              </a:lnSpc>
            </a:pPr>
            <a:r>
              <a:rPr lang="en-US" sz="1350" b="1" dirty="0">
                <a:solidFill>
                  <a:srgbClr val="1F2937"/>
                </a:solidFill>
                <a:latin typeface="Sorts Mill Goudy" pitchFamily="34" charset="0"/>
                <a:ea typeface="Sorts Mill Goudy" pitchFamily="34" charset="-122"/>
                <a:cs typeface="Sorts Mill Goudy" pitchFamily="34" charset="-120"/>
              </a:rPr>
              <a:t>Key Finding</a:t>
            </a:r>
            <a:endParaRPr lang="en-US" sz="1600" dirty="0"/>
          </a:p>
        </p:txBody>
      </p:sp>
      <p:sp>
        <p:nvSpPr>
          <p:cNvPr id="39" name="Text 37"/>
          <p:cNvSpPr/>
          <p:nvPr/>
        </p:nvSpPr>
        <p:spPr>
          <a:xfrm>
            <a:off x="6486525" y="5857875"/>
            <a:ext cx="5162550" cy="742950"/>
          </a:xfrm>
          <a:prstGeom prst="rect">
            <a:avLst/>
          </a:prstGeom>
          <a:noFill/>
          <a:ln/>
        </p:spPr>
        <p:txBody>
          <a:bodyPr wrap="square" lIns="0" tIns="0" rIns="0" bIns="0" rtlCol="0" anchor="ctr"/>
          <a:lstStyle/>
          <a:p>
            <a:pPr>
              <a:lnSpc>
                <a:spcPct val="140000"/>
              </a:lnSpc>
            </a:pPr>
            <a:r>
              <a:rPr lang="en-US" sz="1200" dirty="0">
                <a:solidFill>
                  <a:srgbClr val="1F2937"/>
                </a:solidFill>
                <a:latin typeface="Sorts Mill Goudy" pitchFamily="34" charset="0"/>
                <a:ea typeface="Sorts Mill Goudy" pitchFamily="34" charset="-122"/>
                <a:cs typeface="Sorts Mill Goudy" pitchFamily="34" charset="-120"/>
              </a:rPr>
              <a:t>The </a:t>
            </a:r>
            <a:r>
              <a:rPr lang="en-US" sz="1200" b="1" dirty="0">
                <a:solidFill>
                  <a:srgbClr val="1F2937"/>
                </a:solidFill>
                <a:latin typeface="Sorts Mill Goudy" pitchFamily="34" charset="0"/>
                <a:ea typeface="Sorts Mill Goudy" pitchFamily="34" charset="-122"/>
                <a:cs typeface="Sorts Mill Goudy" pitchFamily="34" charset="-120"/>
              </a:rPr>
              <a:t>heuristic reranker</a:t>
            </a:r>
            <a:r>
              <a:rPr lang="en-US" sz="1200" dirty="0">
                <a:solidFill>
                  <a:srgbClr val="1F2937"/>
                </a:solidFill>
                <a:latin typeface="Sorts Mill Goudy" pitchFamily="34" charset="0"/>
                <a:ea typeface="Sorts Mill Goudy" pitchFamily="34" charset="-122"/>
                <a:cs typeface="Sorts Mill Goudy" pitchFamily="34" charset="-120"/>
              </a:rPr>
              <a:t> provides the best latency-accuracy trade-off, achieving full hybrid performance with 95% lower latency. This validates the value of semantic structure even without large models.</a:t>
            </a:r>
            <a:endParaRPr lang="en-US" sz="1600" dirty="0"/>
          </a:p>
        </p:txBody>
      </p:sp>
    </p:spTree>
    <p:extLst>
      <p:ext uri="{BB962C8B-B14F-4D97-AF65-F5344CB8AC3E}">
        <p14:creationId xmlns:p14="http://schemas.microsoft.com/office/powerpoint/2010/main" val="2903197845"/>
      </p:ext>
    </p:extLst>
  </p:cSld>
  <p:clrMapOvr>
    <a:masterClrMapping/>
  </p:clrMapOvr>
  <p:transition>
    <p:fade/>
  </p:transition>
</p:sld>
</file>

<file path=ppt/slides/slide6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17500" y="317500"/>
            <a:ext cx="11612563" cy="158750"/>
          </a:xfrm>
          <a:prstGeom prst="rect">
            <a:avLst/>
          </a:prstGeom>
          <a:noFill/>
          <a:ln/>
        </p:spPr>
        <p:txBody>
          <a:bodyPr wrap="square" lIns="0" tIns="0" rIns="0" bIns="0" rtlCol="0" anchor="ctr"/>
          <a:lstStyle/>
          <a:p>
            <a:pPr>
              <a:lnSpc>
                <a:spcPct val="120000"/>
              </a:lnSpc>
            </a:pPr>
            <a:r>
              <a:rPr lang="en-US" sz="875" b="1" kern="0" spc="44" dirty="0">
                <a:solidFill>
                  <a:srgbClr val="8B0000"/>
                </a:solidFill>
                <a:latin typeface="Sorts Mill Goudy" pitchFamily="34" charset="0"/>
                <a:ea typeface="Sorts Mill Goudy" pitchFamily="34" charset="-122"/>
                <a:cs typeface="Sorts Mill Goudy" pitchFamily="34" charset="-120"/>
              </a:rPr>
              <a:t>8.1 LITERATURE SURVEY</a:t>
            </a:r>
            <a:endParaRPr lang="en-US" sz="1600" dirty="0"/>
          </a:p>
        </p:txBody>
      </p:sp>
      <p:sp>
        <p:nvSpPr>
          <p:cNvPr id="3" name="Text 1"/>
          <p:cNvSpPr/>
          <p:nvPr/>
        </p:nvSpPr>
        <p:spPr>
          <a:xfrm>
            <a:off x="317500" y="539750"/>
            <a:ext cx="11699875" cy="317500"/>
          </a:xfrm>
          <a:prstGeom prst="rect">
            <a:avLst/>
          </a:prstGeom>
          <a:noFill/>
          <a:ln/>
        </p:spPr>
        <p:txBody>
          <a:bodyPr wrap="square" lIns="0" tIns="0" rIns="0" bIns="0" rtlCol="0" anchor="ctr"/>
          <a:lstStyle/>
          <a:p>
            <a:pPr>
              <a:lnSpc>
                <a:spcPct val="90000"/>
              </a:lnSpc>
            </a:pPr>
            <a:r>
              <a:rPr lang="en-US" sz="2250" b="1" dirty="0">
                <a:solidFill>
                  <a:srgbClr val="1F2937"/>
                </a:solidFill>
                <a:latin typeface="Sorts Mill Goudy" pitchFamily="34" charset="0"/>
                <a:ea typeface="Sorts Mill Goudy" pitchFamily="34" charset="-122"/>
                <a:cs typeface="Sorts Mill Goudy" pitchFamily="34" charset="-120"/>
              </a:rPr>
              <a:t>Evolution of SRL-QA Research</a:t>
            </a:r>
            <a:endParaRPr lang="en-US" sz="1600" dirty="0"/>
          </a:p>
        </p:txBody>
      </p:sp>
      <p:sp>
        <p:nvSpPr>
          <p:cNvPr id="4" name="Shape 2"/>
          <p:cNvSpPr/>
          <p:nvPr/>
        </p:nvSpPr>
        <p:spPr>
          <a:xfrm>
            <a:off x="333375" y="1047750"/>
            <a:ext cx="5635625" cy="2349500"/>
          </a:xfrm>
          <a:custGeom>
            <a:avLst/>
            <a:gdLst/>
            <a:ahLst/>
            <a:cxnLst/>
            <a:rect l="l" t="t" r="r" b="b"/>
            <a:pathLst>
              <a:path w="5635625" h="2349500">
                <a:moveTo>
                  <a:pt x="0" y="0"/>
                </a:moveTo>
                <a:lnTo>
                  <a:pt x="5635625" y="0"/>
                </a:lnTo>
                <a:lnTo>
                  <a:pt x="5635625" y="2349500"/>
                </a:lnTo>
                <a:lnTo>
                  <a:pt x="0" y="2349500"/>
                </a:lnTo>
                <a:lnTo>
                  <a:pt x="0" y="0"/>
                </a:lnTo>
                <a:close/>
              </a:path>
            </a:pathLst>
          </a:custGeom>
          <a:solidFill>
            <a:srgbClr val="F9FAFB"/>
          </a:solidFill>
          <a:ln/>
        </p:spPr>
      </p:sp>
      <p:sp>
        <p:nvSpPr>
          <p:cNvPr id="5" name="Shape 3"/>
          <p:cNvSpPr/>
          <p:nvPr/>
        </p:nvSpPr>
        <p:spPr>
          <a:xfrm>
            <a:off x="333375" y="1047750"/>
            <a:ext cx="31750" cy="2349500"/>
          </a:xfrm>
          <a:custGeom>
            <a:avLst/>
            <a:gdLst/>
            <a:ahLst/>
            <a:cxnLst/>
            <a:rect l="l" t="t" r="r" b="b"/>
            <a:pathLst>
              <a:path w="31750" h="2349500">
                <a:moveTo>
                  <a:pt x="0" y="0"/>
                </a:moveTo>
                <a:lnTo>
                  <a:pt x="31750" y="0"/>
                </a:lnTo>
                <a:lnTo>
                  <a:pt x="31750" y="2349500"/>
                </a:lnTo>
                <a:lnTo>
                  <a:pt x="0" y="2349500"/>
                </a:lnTo>
                <a:lnTo>
                  <a:pt x="0" y="0"/>
                </a:lnTo>
                <a:close/>
              </a:path>
            </a:pathLst>
          </a:custGeom>
          <a:solidFill>
            <a:srgbClr val="8B0000"/>
          </a:solidFill>
          <a:ln/>
        </p:spPr>
      </p:sp>
      <p:sp>
        <p:nvSpPr>
          <p:cNvPr id="6" name="Shape 4"/>
          <p:cNvSpPr/>
          <p:nvPr/>
        </p:nvSpPr>
        <p:spPr>
          <a:xfrm>
            <a:off x="539750" y="1238250"/>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8B0000"/>
          </a:solidFill>
          <a:ln/>
        </p:spPr>
      </p:sp>
      <p:sp>
        <p:nvSpPr>
          <p:cNvPr id="7" name="Text 5"/>
          <p:cNvSpPr/>
          <p:nvPr/>
        </p:nvSpPr>
        <p:spPr>
          <a:xfrm>
            <a:off x="500063" y="1238250"/>
            <a:ext cx="460375" cy="381000"/>
          </a:xfrm>
          <a:prstGeom prst="rect">
            <a:avLst/>
          </a:prstGeom>
          <a:noFill/>
          <a:ln/>
        </p:spPr>
        <p:txBody>
          <a:bodyPr wrap="square" lIns="0" tIns="0" rIns="0" bIns="0" rtlCol="0" anchor="ctr"/>
          <a:lstStyle/>
          <a:p>
            <a:pPr algn="ctr">
              <a:lnSpc>
                <a:spcPct val="120000"/>
              </a:lnSpc>
            </a:pPr>
            <a:r>
              <a:rPr lang="en-US" sz="1250" b="1" dirty="0">
                <a:solidFill>
                  <a:srgbClr val="FFFFFF"/>
                </a:solidFill>
                <a:latin typeface="Sorts Mill Goudy" pitchFamily="34" charset="0"/>
                <a:ea typeface="Sorts Mill Goudy" pitchFamily="34" charset="-122"/>
                <a:cs typeface="Sorts Mill Goudy" pitchFamily="34" charset="-120"/>
              </a:rPr>
              <a:t>1</a:t>
            </a:r>
            <a:endParaRPr lang="en-US" sz="1600" dirty="0"/>
          </a:p>
        </p:txBody>
      </p:sp>
      <p:sp>
        <p:nvSpPr>
          <p:cNvPr id="8" name="Text 6"/>
          <p:cNvSpPr/>
          <p:nvPr/>
        </p:nvSpPr>
        <p:spPr>
          <a:xfrm>
            <a:off x="1016000" y="1317625"/>
            <a:ext cx="2547938" cy="222250"/>
          </a:xfrm>
          <a:prstGeom prst="rect">
            <a:avLst/>
          </a:prstGeom>
          <a:noFill/>
          <a:ln/>
        </p:spPr>
        <p:txBody>
          <a:bodyPr wrap="square" lIns="0" tIns="0" rIns="0" bIns="0" rtlCol="0" anchor="ctr"/>
          <a:lstStyle/>
          <a:p>
            <a:pPr>
              <a:lnSpc>
                <a:spcPct val="120000"/>
              </a:lnSpc>
            </a:pPr>
            <a:r>
              <a:rPr lang="en-US" sz="1250" b="1" dirty="0">
                <a:solidFill>
                  <a:srgbClr val="1F2937"/>
                </a:solidFill>
                <a:latin typeface="Sorts Mill Goudy" pitchFamily="34" charset="0"/>
                <a:ea typeface="Sorts Mill Goudy" pitchFamily="34" charset="-122"/>
                <a:cs typeface="Sorts Mill Goudy" pitchFamily="34" charset="-120"/>
              </a:rPr>
              <a:t>Feature-Engineering Era (2002-2010)</a:t>
            </a:r>
            <a:endParaRPr lang="en-US" sz="1600" dirty="0"/>
          </a:p>
        </p:txBody>
      </p:sp>
      <p:sp>
        <p:nvSpPr>
          <p:cNvPr id="9" name="Text 7"/>
          <p:cNvSpPr/>
          <p:nvPr/>
        </p:nvSpPr>
        <p:spPr>
          <a:xfrm>
            <a:off x="539750" y="1746250"/>
            <a:ext cx="5302250" cy="206375"/>
          </a:xfrm>
          <a:prstGeom prst="rect">
            <a:avLst/>
          </a:prstGeom>
          <a:noFill/>
          <a:ln/>
        </p:spPr>
        <p:txBody>
          <a:bodyPr wrap="square" lIns="0" tIns="0" rIns="0" bIns="0" rtlCol="0" anchor="ctr"/>
          <a:lstStyle/>
          <a:p>
            <a:pPr>
              <a:lnSpc>
                <a:spcPct val="140000"/>
              </a:lnSpc>
            </a:pPr>
            <a:r>
              <a:rPr lang="en-US" sz="1000" dirty="0">
                <a:solidFill>
                  <a:srgbClr val="1F2937"/>
                </a:solidFill>
                <a:latin typeface="Sorts Mill Goudy" pitchFamily="34" charset="0"/>
                <a:ea typeface="Sorts Mill Goudy" pitchFamily="34" charset="-122"/>
                <a:cs typeface="Sorts Mill Goudy" pitchFamily="34" charset="-120"/>
              </a:rPr>
              <a:t>Established the problem with syntax-dependent systems:</a:t>
            </a:r>
            <a:endParaRPr lang="en-US" sz="1600" dirty="0"/>
          </a:p>
        </p:txBody>
      </p:sp>
      <p:sp>
        <p:nvSpPr>
          <p:cNvPr id="10" name="Text 8"/>
          <p:cNvSpPr/>
          <p:nvPr/>
        </p:nvSpPr>
        <p:spPr>
          <a:xfrm>
            <a:off x="539750" y="2079625"/>
            <a:ext cx="166688" cy="190500"/>
          </a:xfrm>
          <a:prstGeom prst="rect">
            <a:avLst/>
          </a:prstGeom>
          <a:noFill/>
          <a:ln/>
        </p:spPr>
        <p:txBody>
          <a:bodyPr wrap="square" lIns="0" tIns="0" rIns="0" bIns="0" rtlCol="0" anchor="ctr"/>
          <a:lstStyle/>
          <a:p>
            <a:pPr>
              <a:lnSpc>
                <a:spcPct val="130000"/>
              </a:lnSpc>
            </a:pPr>
            <a:r>
              <a:rPr lang="en-US" sz="1000"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11" name="Text 9"/>
          <p:cNvSpPr/>
          <p:nvPr/>
        </p:nvSpPr>
        <p:spPr>
          <a:xfrm>
            <a:off x="706438" y="2047875"/>
            <a:ext cx="4008438" cy="190500"/>
          </a:xfrm>
          <a:prstGeom prst="rect">
            <a:avLst/>
          </a:prstGeom>
          <a:noFill/>
          <a:ln/>
        </p:spPr>
        <p:txBody>
          <a:bodyPr wrap="square" lIns="0" tIns="0" rIns="0" bIns="0" rtlCol="0" anchor="ctr"/>
          <a:lstStyle/>
          <a:p>
            <a:pPr>
              <a:lnSpc>
                <a:spcPct val="130000"/>
              </a:lnSpc>
            </a:pPr>
            <a:r>
              <a:rPr lang="en-US" sz="1000" b="1" dirty="0">
                <a:solidFill>
                  <a:srgbClr val="1F2937"/>
                </a:solidFill>
                <a:latin typeface="Sorts Mill Goudy" pitchFamily="34" charset="0"/>
                <a:ea typeface="Sorts Mill Goudy" pitchFamily="34" charset="-122"/>
                <a:cs typeface="Sorts Mill Goudy" pitchFamily="34" charset="-120"/>
              </a:rPr>
              <a:t>Gildea &amp; Jurafsky (2002):</a:t>
            </a:r>
            <a:r>
              <a:rPr lang="en-US" sz="1000" dirty="0">
                <a:solidFill>
                  <a:srgbClr val="1F2937"/>
                </a:solidFill>
                <a:latin typeface="Sorts Mill Goudy" pitchFamily="34" charset="0"/>
                <a:ea typeface="Sorts Mill Goudy" pitchFamily="34" charset="-122"/>
                <a:cs typeface="Sorts Mill Goudy" pitchFamily="34" charset="-120"/>
              </a:rPr>
              <a:t> Statistical learning from parse-derived features</a:t>
            </a:r>
            <a:endParaRPr lang="en-US" sz="1600" dirty="0"/>
          </a:p>
        </p:txBody>
      </p:sp>
      <p:sp>
        <p:nvSpPr>
          <p:cNvPr id="12" name="Text 10"/>
          <p:cNvSpPr/>
          <p:nvPr/>
        </p:nvSpPr>
        <p:spPr>
          <a:xfrm>
            <a:off x="539750" y="2365375"/>
            <a:ext cx="166688" cy="190500"/>
          </a:xfrm>
          <a:prstGeom prst="rect">
            <a:avLst/>
          </a:prstGeom>
          <a:noFill/>
          <a:ln/>
        </p:spPr>
        <p:txBody>
          <a:bodyPr wrap="square" lIns="0" tIns="0" rIns="0" bIns="0" rtlCol="0" anchor="ctr"/>
          <a:lstStyle/>
          <a:p>
            <a:pPr>
              <a:lnSpc>
                <a:spcPct val="130000"/>
              </a:lnSpc>
            </a:pPr>
            <a:r>
              <a:rPr lang="en-US" sz="1000"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13" name="Text 11"/>
          <p:cNvSpPr/>
          <p:nvPr/>
        </p:nvSpPr>
        <p:spPr>
          <a:xfrm>
            <a:off x="706438" y="2333625"/>
            <a:ext cx="5135563" cy="381000"/>
          </a:xfrm>
          <a:prstGeom prst="rect">
            <a:avLst/>
          </a:prstGeom>
          <a:noFill/>
          <a:ln/>
        </p:spPr>
        <p:txBody>
          <a:bodyPr wrap="square" lIns="0" tIns="0" rIns="0" bIns="0" rtlCol="0" anchor="ctr"/>
          <a:lstStyle/>
          <a:p>
            <a:pPr>
              <a:lnSpc>
                <a:spcPct val="130000"/>
              </a:lnSpc>
            </a:pPr>
            <a:r>
              <a:rPr lang="en-US" sz="1000" b="1" dirty="0">
                <a:solidFill>
                  <a:srgbClr val="1F2937"/>
                </a:solidFill>
                <a:latin typeface="Sorts Mill Goudy" pitchFamily="34" charset="0"/>
                <a:ea typeface="Sorts Mill Goudy" pitchFamily="34" charset="-122"/>
                <a:cs typeface="Sorts Mill Goudy" pitchFamily="34" charset="-120"/>
              </a:rPr>
              <a:t>CoNLL Shared Tasks (2004-2009):</a:t>
            </a:r>
            <a:r>
              <a:rPr lang="en-US" sz="1000" dirty="0">
                <a:solidFill>
                  <a:srgbClr val="1F2937"/>
                </a:solidFill>
                <a:latin typeface="Sorts Mill Goudy" pitchFamily="34" charset="0"/>
                <a:ea typeface="Sorts Mill Goudy" pitchFamily="34" charset="-122"/>
                <a:cs typeface="Sorts Mill Goudy" pitchFamily="34" charset="-120"/>
              </a:rPr>
              <a:t> Standardized evaluation, pushed voice/path/phrase-type features</a:t>
            </a:r>
            <a:endParaRPr lang="en-US" sz="1600" dirty="0"/>
          </a:p>
        </p:txBody>
      </p:sp>
      <p:sp>
        <p:nvSpPr>
          <p:cNvPr id="14" name="Shape 12"/>
          <p:cNvSpPr/>
          <p:nvPr/>
        </p:nvSpPr>
        <p:spPr>
          <a:xfrm>
            <a:off x="543719" y="2813844"/>
            <a:ext cx="5230813" cy="388938"/>
          </a:xfrm>
          <a:custGeom>
            <a:avLst/>
            <a:gdLst/>
            <a:ahLst/>
            <a:cxnLst/>
            <a:rect l="l" t="t" r="r" b="b"/>
            <a:pathLst>
              <a:path w="5230813" h="388938">
                <a:moveTo>
                  <a:pt x="0" y="0"/>
                </a:moveTo>
                <a:lnTo>
                  <a:pt x="5230813" y="0"/>
                </a:lnTo>
                <a:lnTo>
                  <a:pt x="5230813" y="388938"/>
                </a:lnTo>
                <a:lnTo>
                  <a:pt x="0" y="388938"/>
                </a:lnTo>
                <a:lnTo>
                  <a:pt x="0" y="0"/>
                </a:lnTo>
                <a:close/>
              </a:path>
            </a:pathLst>
          </a:custGeom>
          <a:solidFill>
            <a:srgbClr val="FFFFFF"/>
          </a:solidFill>
          <a:ln w="12700">
            <a:solidFill>
              <a:srgbClr val="E5E7EB"/>
            </a:solidFill>
            <a:prstDash val="solid"/>
          </a:ln>
        </p:spPr>
      </p:sp>
      <p:sp>
        <p:nvSpPr>
          <p:cNvPr id="15" name="Text 13"/>
          <p:cNvSpPr/>
          <p:nvPr/>
        </p:nvSpPr>
        <p:spPr>
          <a:xfrm>
            <a:off x="642938" y="2913063"/>
            <a:ext cx="5095875" cy="190500"/>
          </a:xfrm>
          <a:prstGeom prst="rect">
            <a:avLst/>
          </a:prstGeom>
          <a:noFill/>
          <a:ln/>
        </p:spPr>
        <p:txBody>
          <a:bodyPr wrap="square" lIns="0" tIns="0" rIns="0" bIns="0" rtlCol="0" anchor="ctr"/>
          <a:lstStyle/>
          <a:p>
            <a:pPr>
              <a:lnSpc>
                <a:spcPct val="130000"/>
              </a:lnSpc>
            </a:pPr>
            <a:r>
              <a:rPr lang="en-US" sz="1000" b="1" dirty="0">
                <a:solidFill>
                  <a:srgbClr val="6B7280"/>
                </a:solidFill>
                <a:latin typeface="Sorts Mill Goudy" pitchFamily="34" charset="0"/>
                <a:ea typeface="Sorts Mill Goudy" pitchFamily="34" charset="-122"/>
                <a:cs typeface="Sorts Mill Goudy" pitchFamily="34" charset="-120"/>
              </a:rPr>
              <a:t>Challenge:</a:t>
            </a:r>
            <a:r>
              <a:rPr lang="en-US" sz="1000" dirty="0">
                <a:solidFill>
                  <a:srgbClr val="6B7280"/>
                </a:solidFill>
                <a:latin typeface="Sorts Mill Goudy" pitchFamily="34" charset="0"/>
                <a:ea typeface="Sorts Mill Goudy" pitchFamily="34" charset="-122"/>
                <a:cs typeface="Sorts Mill Goudy" pitchFamily="34" charset="-120"/>
              </a:rPr>
              <a:t> Designing informative abstractions over syntax</a:t>
            </a:r>
            <a:endParaRPr lang="en-US" sz="1600" dirty="0"/>
          </a:p>
        </p:txBody>
      </p:sp>
      <p:sp>
        <p:nvSpPr>
          <p:cNvPr id="16" name="Shape 14"/>
          <p:cNvSpPr/>
          <p:nvPr/>
        </p:nvSpPr>
        <p:spPr>
          <a:xfrm>
            <a:off x="333375" y="3587750"/>
            <a:ext cx="5635625" cy="2476500"/>
          </a:xfrm>
          <a:custGeom>
            <a:avLst/>
            <a:gdLst/>
            <a:ahLst/>
            <a:cxnLst/>
            <a:rect l="l" t="t" r="r" b="b"/>
            <a:pathLst>
              <a:path w="5635625" h="2476500">
                <a:moveTo>
                  <a:pt x="0" y="0"/>
                </a:moveTo>
                <a:lnTo>
                  <a:pt x="5635625" y="0"/>
                </a:lnTo>
                <a:lnTo>
                  <a:pt x="5635625" y="2476500"/>
                </a:lnTo>
                <a:lnTo>
                  <a:pt x="0" y="2476500"/>
                </a:lnTo>
                <a:lnTo>
                  <a:pt x="0" y="0"/>
                </a:lnTo>
                <a:close/>
              </a:path>
            </a:pathLst>
          </a:custGeom>
          <a:solidFill>
            <a:srgbClr val="F9FAFB"/>
          </a:solidFill>
          <a:ln/>
        </p:spPr>
      </p:sp>
      <p:sp>
        <p:nvSpPr>
          <p:cNvPr id="17" name="Shape 15"/>
          <p:cNvSpPr/>
          <p:nvPr/>
        </p:nvSpPr>
        <p:spPr>
          <a:xfrm>
            <a:off x="333375" y="3587750"/>
            <a:ext cx="31750" cy="2476500"/>
          </a:xfrm>
          <a:custGeom>
            <a:avLst/>
            <a:gdLst/>
            <a:ahLst/>
            <a:cxnLst/>
            <a:rect l="l" t="t" r="r" b="b"/>
            <a:pathLst>
              <a:path w="31750" h="2476500">
                <a:moveTo>
                  <a:pt x="0" y="0"/>
                </a:moveTo>
                <a:lnTo>
                  <a:pt x="31750" y="0"/>
                </a:lnTo>
                <a:lnTo>
                  <a:pt x="31750" y="2476500"/>
                </a:lnTo>
                <a:lnTo>
                  <a:pt x="0" y="2476500"/>
                </a:lnTo>
                <a:lnTo>
                  <a:pt x="0" y="0"/>
                </a:lnTo>
                <a:close/>
              </a:path>
            </a:pathLst>
          </a:custGeom>
          <a:solidFill>
            <a:srgbClr val="8B0000"/>
          </a:solidFill>
          <a:ln/>
        </p:spPr>
      </p:sp>
      <p:sp>
        <p:nvSpPr>
          <p:cNvPr id="18" name="Shape 16"/>
          <p:cNvSpPr/>
          <p:nvPr/>
        </p:nvSpPr>
        <p:spPr>
          <a:xfrm>
            <a:off x="539750" y="3778250"/>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8B0000"/>
          </a:solidFill>
          <a:ln/>
        </p:spPr>
      </p:sp>
      <p:sp>
        <p:nvSpPr>
          <p:cNvPr id="19" name="Text 17"/>
          <p:cNvSpPr/>
          <p:nvPr/>
        </p:nvSpPr>
        <p:spPr>
          <a:xfrm>
            <a:off x="500063" y="3778250"/>
            <a:ext cx="460375" cy="381000"/>
          </a:xfrm>
          <a:prstGeom prst="rect">
            <a:avLst/>
          </a:prstGeom>
          <a:noFill/>
          <a:ln/>
        </p:spPr>
        <p:txBody>
          <a:bodyPr wrap="square" lIns="0" tIns="0" rIns="0" bIns="0" rtlCol="0" anchor="ctr"/>
          <a:lstStyle/>
          <a:p>
            <a:pPr algn="ctr">
              <a:lnSpc>
                <a:spcPct val="120000"/>
              </a:lnSpc>
            </a:pPr>
            <a:r>
              <a:rPr lang="en-US" sz="1250" b="1" dirty="0">
                <a:solidFill>
                  <a:srgbClr val="FFFFFF"/>
                </a:solidFill>
                <a:latin typeface="Sorts Mill Goudy" pitchFamily="34" charset="0"/>
                <a:ea typeface="Sorts Mill Goudy" pitchFamily="34" charset="-122"/>
                <a:cs typeface="Sorts Mill Goudy" pitchFamily="34" charset="-120"/>
              </a:rPr>
              <a:t>2</a:t>
            </a:r>
            <a:endParaRPr lang="en-US" sz="1600" dirty="0"/>
          </a:p>
        </p:txBody>
      </p:sp>
      <p:sp>
        <p:nvSpPr>
          <p:cNvPr id="20" name="Text 18"/>
          <p:cNvSpPr/>
          <p:nvPr/>
        </p:nvSpPr>
        <p:spPr>
          <a:xfrm>
            <a:off x="1016000" y="3857625"/>
            <a:ext cx="1563688" cy="222250"/>
          </a:xfrm>
          <a:prstGeom prst="rect">
            <a:avLst/>
          </a:prstGeom>
          <a:noFill/>
          <a:ln/>
        </p:spPr>
        <p:txBody>
          <a:bodyPr wrap="square" lIns="0" tIns="0" rIns="0" bIns="0" rtlCol="0" anchor="ctr"/>
          <a:lstStyle/>
          <a:p>
            <a:pPr>
              <a:lnSpc>
                <a:spcPct val="120000"/>
              </a:lnSpc>
            </a:pPr>
            <a:r>
              <a:rPr lang="en-US" sz="1250" b="1" dirty="0">
                <a:solidFill>
                  <a:srgbClr val="1F2937"/>
                </a:solidFill>
                <a:latin typeface="Sorts Mill Goudy" pitchFamily="34" charset="0"/>
                <a:ea typeface="Sorts Mill Goudy" pitchFamily="34" charset="-122"/>
                <a:cs typeface="Sorts Mill Goudy" pitchFamily="34" charset="-120"/>
              </a:rPr>
              <a:t>Neural Era (2015-2018)</a:t>
            </a:r>
            <a:endParaRPr lang="en-US" sz="1600" dirty="0"/>
          </a:p>
        </p:txBody>
      </p:sp>
      <p:sp>
        <p:nvSpPr>
          <p:cNvPr id="21" name="Text 19"/>
          <p:cNvSpPr/>
          <p:nvPr/>
        </p:nvSpPr>
        <p:spPr>
          <a:xfrm>
            <a:off x="539750" y="4286250"/>
            <a:ext cx="5302250" cy="206375"/>
          </a:xfrm>
          <a:prstGeom prst="rect">
            <a:avLst/>
          </a:prstGeom>
          <a:noFill/>
          <a:ln/>
        </p:spPr>
        <p:txBody>
          <a:bodyPr wrap="square" lIns="0" tIns="0" rIns="0" bIns="0" rtlCol="0" anchor="ctr"/>
          <a:lstStyle/>
          <a:p>
            <a:pPr>
              <a:lnSpc>
                <a:spcPct val="140000"/>
              </a:lnSpc>
            </a:pPr>
            <a:r>
              <a:rPr lang="en-US" sz="1000" dirty="0">
                <a:solidFill>
                  <a:srgbClr val="1F2937"/>
                </a:solidFill>
                <a:latin typeface="Sorts Mill Goudy" pitchFamily="34" charset="0"/>
                <a:ea typeface="Sorts Mill Goudy" pitchFamily="34" charset="-122"/>
                <a:cs typeface="Sorts Mill Goudy" pitchFamily="34" charset="-120"/>
              </a:rPr>
              <a:t>Replaced manual features with contextual encoders:</a:t>
            </a:r>
            <a:endParaRPr lang="en-US" sz="1600" dirty="0"/>
          </a:p>
        </p:txBody>
      </p:sp>
      <p:sp>
        <p:nvSpPr>
          <p:cNvPr id="22" name="Text 20"/>
          <p:cNvSpPr/>
          <p:nvPr/>
        </p:nvSpPr>
        <p:spPr>
          <a:xfrm>
            <a:off x="539750" y="4619625"/>
            <a:ext cx="166688" cy="190500"/>
          </a:xfrm>
          <a:prstGeom prst="rect">
            <a:avLst/>
          </a:prstGeom>
          <a:noFill/>
          <a:ln/>
        </p:spPr>
        <p:txBody>
          <a:bodyPr wrap="square" lIns="0" tIns="0" rIns="0" bIns="0" rtlCol="0" anchor="ctr"/>
          <a:lstStyle/>
          <a:p>
            <a:pPr>
              <a:lnSpc>
                <a:spcPct val="130000"/>
              </a:lnSpc>
            </a:pPr>
            <a:r>
              <a:rPr lang="en-US" sz="1000"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23" name="Text 21"/>
          <p:cNvSpPr/>
          <p:nvPr/>
        </p:nvSpPr>
        <p:spPr>
          <a:xfrm>
            <a:off x="706438" y="4587875"/>
            <a:ext cx="2667000" cy="190500"/>
          </a:xfrm>
          <a:prstGeom prst="rect">
            <a:avLst/>
          </a:prstGeom>
          <a:noFill/>
          <a:ln/>
        </p:spPr>
        <p:txBody>
          <a:bodyPr wrap="square" lIns="0" tIns="0" rIns="0" bIns="0" rtlCol="0" anchor="ctr"/>
          <a:lstStyle/>
          <a:p>
            <a:pPr>
              <a:lnSpc>
                <a:spcPct val="130000"/>
              </a:lnSpc>
            </a:pPr>
            <a:r>
              <a:rPr lang="en-US" sz="1000" b="1" dirty="0">
                <a:solidFill>
                  <a:srgbClr val="1F2937"/>
                </a:solidFill>
                <a:latin typeface="Sorts Mill Goudy" pitchFamily="34" charset="0"/>
                <a:ea typeface="Sorts Mill Goudy" pitchFamily="34" charset="-122"/>
                <a:cs typeface="Sorts Mill Goudy" pitchFamily="34" charset="-120"/>
              </a:rPr>
              <a:t>Zhou &amp; Xu (2015):</a:t>
            </a:r>
            <a:r>
              <a:rPr lang="en-US" sz="1000" dirty="0">
                <a:solidFill>
                  <a:srgbClr val="1F2937"/>
                </a:solidFill>
                <a:latin typeface="Sorts Mill Goudy" pitchFamily="34" charset="0"/>
                <a:ea typeface="Sorts Mill Goudy" pitchFamily="34" charset="-122"/>
                <a:cs typeface="Sorts Mill Goudy" pitchFamily="34" charset="-120"/>
              </a:rPr>
              <a:t> End-to-end BiLSTM for SRL</a:t>
            </a:r>
            <a:endParaRPr lang="en-US" sz="1600" dirty="0"/>
          </a:p>
        </p:txBody>
      </p:sp>
      <p:sp>
        <p:nvSpPr>
          <p:cNvPr id="24" name="Text 22"/>
          <p:cNvSpPr/>
          <p:nvPr/>
        </p:nvSpPr>
        <p:spPr>
          <a:xfrm>
            <a:off x="539750" y="4905375"/>
            <a:ext cx="166688" cy="190500"/>
          </a:xfrm>
          <a:prstGeom prst="rect">
            <a:avLst/>
          </a:prstGeom>
          <a:noFill/>
          <a:ln/>
        </p:spPr>
        <p:txBody>
          <a:bodyPr wrap="square" lIns="0" tIns="0" rIns="0" bIns="0" rtlCol="0" anchor="ctr"/>
          <a:lstStyle/>
          <a:p>
            <a:pPr>
              <a:lnSpc>
                <a:spcPct val="130000"/>
              </a:lnSpc>
            </a:pPr>
            <a:r>
              <a:rPr lang="en-US" sz="1000"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25" name="Text 23"/>
          <p:cNvSpPr/>
          <p:nvPr/>
        </p:nvSpPr>
        <p:spPr>
          <a:xfrm>
            <a:off x="706438" y="4873625"/>
            <a:ext cx="4056063" cy="190500"/>
          </a:xfrm>
          <a:prstGeom prst="rect">
            <a:avLst/>
          </a:prstGeom>
          <a:noFill/>
          <a:ln/>
        </p:spPr>
        <p:txBody>
          <a:bodyPr wrap="square" lIns="0" tIns="0" rIns="0" bIns="0" rtlCol="0" anchor="ctr"/>
          <a:lstStyle/>
          <a:p>
            <a:pPr>
              <a:lnSpc>
                <a:spcPct val="130000"/>
              </a:lnSpc>
            </a:pPr>
            <a:r>
              <a:rPr lang="en-US" sz="1000" b="1" dirty="0">
                <a:solidFill>
                  <a:srgbClr val="1F2937"/>
                </a:solidFill>
                <a:latin typeface="Sorts Mill Goudy" pitchFamily="34" charset="0"/>
                <a:ea typeface="Sorts Mill Goudy" pitchFamily="34" charset="-122"/>
                <a:cs typeface="Sorts Mill Goudy" pitchFamily="34" charset="-120"/>
              </a:rPr>
              <a:t>He et al. (2017):</a:t>
            </a:r>
            <a:r>
              <a:rPr lang="en-US" sz="1000" dirty="0">
                <a:solidFill>
                  <a:srgbClr val="1F2937"/>
                </a:solidFill>
                <a:latin typeface="Sorts Mill Goudy" pitchFamily="34" charset="0"/>
                <a:ea typeface="Sorts Mill Goudy" pitchFamily="34" charset="-122"/>
                <a:cs typeface="Sorts Mill Goudy" pitchFamily="34" charset="-120"/>
              </a:rPr>
              <a:t> Deep semantic role labeling—what works and what's next</a:t>
            </a:r>
            <a:endParaRPr lang="en-US" sz="1600" dirty="0"/>
          </a:p>
        </p:txBody>
      </p:sp>
      <p:sp>
        <p:nvSpPr>
          <p:cNvPr id="26" name="Text 24"/>
          <p:cNvSpPr/>
          <p:nvPr/>
        </p:nvSpPr>
        <p:spPr>
          <a:xfrm>
            <a:off x="539750" y="5191125"/>
            <a:ext cx="166688" cy="190500"/>
          </a:xfrm>
          <a:prstGeom prst="rect">
            <a:avLst/>
          </a:prstGeom>
          <a:noFill/>
          <a:ln/>
        </p:spPr>
        <p:txBody>
          <a:bodyPr wrap="square" lIns="0" tIns="0" rIns="0" bIns="0" rtlCol="0" anchor="ctr"/>
          <a:lstStyle/>
          <a:p>
            <a:pPr>
              <a:lnSpc>
                <a:spcPct val="130000"/>
              </a:lnSpc>
            </a:pPr>
            <a:r>
              <a:rPr lang="en-US" sz="1000"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27" name="Text 25"/>
          <p:cNvSpPr/>
          <p:nvPr/>
        </p:nvSpPr>
        <p:spPr>
          <a:xfrm>
            <a:off x="706438" y="5159375"/>
            <a:ext cx="5119688" cy="190500"/>
          </a:xfrm>
          <a:prstGeom prst="rect">
            <a:avLst/>
          </a:prstGeom>
          <a:noFill/>
          <a:ln/>
        </p:spPr>
        <p:txBody>
          <a:bodyPr wrap="square" lIns="0" tIns="0" rIns="0" bIns="0" rtlCol="0" anchor="ctr"/>
          <a:lstStyle/>
          <a:p>
            <a:pPr>
              <a:lnSpc>
                <a:spcPct val="130000"/>
              </a:lnSpc>
            </a:pPr>
            <a:r>
              <a:rPr lang="en-US" sz="1000" b="1" dirty="0">
                <a:solidFill>
                  <a:srgbClr val="1F2937"/>
                </a:solidFill>
                <a:latin typeface="Sorts Mill Goudy" pitchFamily="34" charset="0"/>
                <a:ea typeface="Sorts Mill Goudy" pitchFamily="34" charset="-122"/>
                <a:cs typeface="Sorts Mill Goudy" pitchFamily="34" charset="-120"/>
              </a:rPr>
              <a:t>Syntax-agnostic models:</a:t>
            </a:r>
            <a:r>
              <a:rPr lang="en-US" sz="1000" dirty="0">
                <a:solidFill>
                  <a:srgbClr val="1F2937"/>
                </a:solidFill>
                <a:latin typeface="Sorts Mill Goudy" pitchFamily="34" charset="0"/>
                <a:ea typeface="Sorts Mill Goudy" pitchFamily="34" charset="-122"/>
                <a:cs typeface="Sorts Mill Goudy" pitchFamily="34" charset="-120"/>
              </a:rPr>
              <a:t> Recurrent encoders recover context without hand-crafted templates</a:t>
            </a:r>
            <a:endParaRPr lang="en-US" sz="1600" dirty="0"/>
          </a:p>
        </p:txBody>
      </p:sp>
      <p:sp>
        <p:nvSpPr>
          <p:cNvPr id="28" name="Shape 26"/>
          <p:cNvSpPr/>
          <p:nvPr/>
        </p:nvSpPr>
        <p:spPr>
          <a:xfrm>
            <a:off x="543719" y="5480844"/>
            <a:ext cx="5230813" cy="388938"/>
          </a:xfrm>
          <a:custGeom>
            <a:avLst/>
            <a:gdLst/>
            <a:ahLst/>
            <a:cxnLst/>
            <a:rect l="l" t="t" r="r" b="b"/>
            <a:pathLst>
              <a:path w="5230813" h="388938">
                <a:moveTo>
                  <a:pt x="0" y="0"/>
                </a:moveTo>
                <a:lnTo>
                  <a:pt x="5230813" y="0"/>
                </a:lnTo>
                <a:lnTo>
                  <a:pt x="5230813" y="388938"/>
                </a:lnTo>
                <a:lnTo>
                  <a:pt x="0" y="388938"/>
                </a:lnTo>
                <a:lnTo>
                  <a:pt x="0" y="0"/>
                </a:lnTo>
                <a:close/>
              </a:path>
            </a:pathLst>
          </a:custGeom>
          <a:solidFill>
            <a:srgbClr val="FFFFFF"/>
          </a:solidFill>
          <a:ln w="12700">
            <a:solidFill>
              <a:srgbClr val="E5E7EB"/>
            </a:solidFill>
            <a:prstDash val="solid"/>
          </a:ln>
        </p:spPr>
      </p:sp>
      <p:sp>
        <p:nvSpPr>
          <p:cNvPr id="29" name="Text 27"/>
          <p:cNvSpPr/>
          <p:nvPr/>
        </p:nvSpPr>
        <p:spPr>
          <a:xfrm>
            <a:off x="642938" y="5580063"/>
            <a:ext cx="5095875" cy="190500"/>
          </a:xfrm>
          <a:prstGeom prst="rect">
            <a:avLst/>
          </a:prstGeom>
          <a:noFill/>
          <a:ln/>
        </p:spPr>
        <p:txBody>
          <a:bodyPr wrap="square" lIns="0" tIns="0" rIns="0" bIns="0" rtlCol="0" anchor="ctr"/>
          <a:lstStyle/>
          <a:p>
            <a:pPr>
              <a:lnSpc>
                <a:spcPct val="130000"/>
              </a:lnSpc>
            </a:pPr>
            <a:r>
              <a:rPr lang="en-US" sz="1000" b="1" dirty="0">
                <a:solidFill>
                  <a:srgbClr val="6B7280"/>
                </a:solidFill>
                <a:latin typeface="Sorts Mill Goudy" pitchFamily="34" charset="0"/>
                <a:ea typeface="Sorts Mill Goudy" pitchFamily="34" charset="-122"/>
                <a:cs typeface="Sorts Mill Goudy" pitchFamily="34" charset="-120"/>
              </a:rPr>
              <a:t>Challenge:</a:t>
            </a:r>
            <a:r>
              <a:rPr lang="en-US" sz="1000" dirty="0">
                <a:solidFill>
                  <a:srgbClr val="6B7280"/>
                </a:solidFill>
                <a:latin typeface="Sorts Mill Goudy" pitchFamily="34" charset="0"/>
                <a:ea typeface="Sorts Mill Goudy" pitchFamily="34" charset="-122"/>
                <a:cs typeface="Sorts Mill Goudy" pitchFamily="34" charset="-120"/>
              </a:rPr>
              <a:t> Contextual representation and decoding</a:t>
            </a:r>
            <a:endParaRPr lang="en-US" sz="1600" dirty="0"/>
          </a:p>
        </p:txBody>
      </p:sp>
      <p:sp>
        <p:nvSpPr>
          <p:cNvPr id="30" name="Shape 28"/>
          <p:cNvSpPr/>
          <p:nvPr/>
        </p:nvSpPr>
        <p:spPr>
          <a:xfrm>
            <a:off x="6238875" y="1047750"/>
            <a:ext cx="5635625" cy="2762250"/>
          </a:xfrm>
          <a:custGeom>
            <a:avLst/>
            <a:gdLst/>
            <a:ahLst/>
            <a:cxnLst/>
            <a:rect l="l" t="t" r="r" b="b"/>
            <a:pathLst>
              <a:path w="5635625" h="2762250">
                <a:moveTo>
                  <a:pt x="0" y="0"/>
                </a:moveTo>
                <a:lnTo>
                  <a:pt x="5635625" y="0"/>
                </a:lnTo>
                <a:lnTo>
                  <a:pt x="5635625" y="2762250"/>
                </a:lnTo>
                <a:lnTo>
                  <a:pt x="0" y="2762250"/>
                </a:lnTo>
                <a:lnTo>
                  <a:pt x="0" y="0"/>
                </a:lnTo>
                <a:close/>
              </a:path>
            </a:pathLst>
          </a:custGeom>
          <a:solidFill>
            <a:srgbClr val="F9FAFB"/>
          </a:solidFill>
          <a:ln/>
        </p:spPr>
      </p:sp>
      <p:sp>
        <p:nvSpPr>
          <p:cNvPr id="31" name="Shape 29"/>
          <p:cNvSpPr/>
          <p:nvPr/>
        </p:nvSpPr>
        <p:spPr>
          <a:xfrm>
            <a:off x="6238875" y="1047750"/>
            <a:ext cx="31750" cy="2762250"/>
          </a:xfrm>
          <a:custGeom>
            <a:avLst/>
            <a:gdLst/>
            <a:ahLst/>
            <a:cxnLst/>
            <a:rect l="l" t="t" r="r" b="b"/>
            <a:pathLst>
              <a:path w="31750" h="2762250">
                <a:moveTo>
                  <a:pt x="0" y="0"/>
                </a:moveTo>
                <a:lnTo>
                  <a:pt x="31750" y="0"/>
                </a:lnTo>
                <a:lnTo>
                  <a:pt x="31750" y="2762250"/>
                </a:lnTo>
                <a:lnTo>
                  <a:pt x="0" y="2762250"/>
                </a:lnTo>
                <a:lnTo>
                  <a:pt x="0" y="0"/>
                </a:lnTo>
                <a:close/>
              </a:path>
            </a:pathLst>
          </a:custGeom>
          <a:solidFill>
            <a:srgbClr val="8B0000"/>
          </a:solidFill>
          <a:ln/>
        </p:spPr>
      </p:sp>
      <p:sp>
        <p:nvSpPr>
          <p:cNvPr id="32" name="Shape 30"/>
          <p:cNvSpPr/>
          <p:nvPr/>
        </p:nvSpPr>
        <p:spPr>
          <a:xfrm>
            <a:off x="6445250" y="1238250"/>
            <a:ext cx="381000" cy="381000"/>
          </a:xfrm>
          <a:custGeom>
            <a:avLst/>
            <a:gdLst/>
            <a:ahLst/>
            <a:cxnLst/>
            <a:rect l="l" t="t" r="r" b="b"/>
            <a:pathLst>
              <a:path w="381000" h="381000">
                <a:moveTo>
                  <a:pt x="0" y="0"/>
                </a:moveTo>
                <a:lnTo>
                  <a:pt x="381000" y="0"/>
                </a:lnTo>
                <a:lnTo>
                  <a:pt x="381000" y="381000"/>
                </a:lnTo>
                <a:lnTo>
                  <a:pt x="0" y="381000"/>
                </a:lnTo>
                <a:lnTo>
                  <a:pt x="0" y="0"/>
                </a:lnTo>
                <a:close/>
              </a:path>
            </a:pathLst>
          </a:custGeom>
          <a:solidFill>
            <a:srgbClr val="8B0000"/>
          </a:solidFill>
          <a:ln/>
        </p:spPr>
      </p:sp>
      <p:sp>
        <p:nvSpPr>
          <p:cNvPr id="33" name="Text 31"/>
          <p:cNvSpPr/>
          <p:nvPr/>
        </p:nvSpPr>
        <p:spPr>
          <a:xfrm>
            <a:off x="6405563" y="1238250"/>
            <a:ext cx="460375" cy="381000"/>
          </a:xfrm>
          <a:prstGeom prst="rect">
            <a:avLst/>
          </a:prstGeom>
          <a:noFill/>
          <a:ln/>
        </p:spPr>
        <p:txBody>
          <a:bodyPr wrap="square" lIns="0" tIns="0" rIns="0" bIns="0" rtlCol="0" anchor="ctr"/>
          <a:lstStyle/>
          <a:p>
            <a:pPr algn="ctr">
              <a:lnSpc>
                <a:spcPct val="120000"/>
              </a:lnSpc>
            </a:pPr>
            <a:r>
              <a:rPr lang="en-US" sz="1250" b="1" dirty="0">
                <a:solidFill>
                  <a:srgbClr val="FFFFFF"/>
                </a:solidFill>
                <a:latin typeface="Sorts Mill Goudy" pitchFamily="34" charset="0"/>
                <a:ea typeface="Sorts Mill Goudy" pitchFamily="34" charset="-122"/>
                <a:cs typeface="Sorts Mill Goudy" pitchFamily="34" charset="-120"/>
              </a:rPr>
              <a:t>3</a:t>
            </a:r>
            <a:endParaRPr lang="en-US" sz="1600" dirty="0"/>
          </a:p>
        </p:txBody>
      </p:sp>
      <p:sp>
        <p:nvSpPr>
          <p:cNvPr id="34" name="Text 32"/>
          <p:cNvSpPr/>
          <p:nvPr/>
        </p:nvSpPr>
        <p:spPr>
          <a:xfrm>
            <a:off x="6921500" y="1317625"/>
            <a:ext cx="2754313" cy="222250"/>
          </a:xfrm>
          <a:prstGeom prst="rect">
            <a:avLst/>
          </a:prstGeom>
          <a:noFill/>
          <a:ln/>
        </p:spPr>
        <p:txBody>
          <a:bodyPr wrap="square" lIns="0" tIns="0" rIns="0" bIns="0" rtlCol="0" anchor="ctr"/>
          <a:lstStyle/>
          <a:p>
            <a:pPr>
              <a:lnSpc>
                <a:spcPct val="120000"/>
              </a:lnSpc>
            </a:pPr>
            <a:r>
              <a:rPr lang="en-US" sz="1250" b="1" dirty="0">
                <a:solidFill>
                  <a:srgbClr val="1F2937"/>
                </a:solidFill>
                <a:latin typeface="Sorts Mill Goudy" pitchFamily="34" charset="0"/>
                <a:ea typeface="Sorts Mill Goudy" pitchFamily="34" charset="-122"/>
                <a:cs typeface="Sorts Mill Goudy" pitchFamily="34" charset="-120"/>
              </a:rPr>
              <a:t>Transformer &amp; LLM Era (2019-Present)</a:t>
            </a:r>
            <a:endParaRPr lang="en-US" sz="1600" dirty="0"/>
          </a:p>
        </p:txBody>
      </p:sp>
      <p:sp>
        <p:nvSpPr>
          <p:cNvPr id="35" name="Text 33"/>
          <p:cNvSpPr/>
          <p:nvPr/>
        </p:nvSpPr>
        <p:spPr>
          <a:xfrm>
            <a:off x="6445250" y="1746250"/>
            <a:ext cx="5302250" cy="206375"/>
          </a:xfrm>
          <a:prstGeom prst="rect">
            <a:avLst/>
          </a:prstGeom>
          <a:noFill/>
          <a:ln/>
        </p:spPr>
        <p:txBody>
          <a:bodyPr wrap="square" lIns="0" tIns="0" rIns="0" bIns="0" rtlCol="0" anchor="ctr"/>
          <a:lstStyle/>
          <a:p>
            <a:pPr>
              <a:lnSpc>
                <a:spcPct val="140000"/>
              </a:lnSpc>
            </a:pPr>
            <a:r>
              <a:rPr lang="en-US" sz="1000" dirty="0">
                <a:solidFill>
                  <a:srgbClr val="1F2937"/>
                </a:solidFill>
                <a:latin typeface="Sorts Mill Goudy" pitchFamily="34" charset="0"/>
                <a:ea typeface="Sorts Mill Goudy" pitchFamily="34" charset="-122"/>
                <a:cs typeface="Sorts Mill Goudy" pitchFamily="34" charset="-120"/>
              </a:rPr>
              <a:t>Pretrained encoders and LLM integration:</a:t>
            </a:r>
            <a:endParaRPr lang="en-US" sz="1600" dirty="0"/>
          </a:p>
        </p:txBody>
      </p:sp>
      <p:sp>
        <p:nvSpPr>
          <p:cNvPr id="36" name="Text 34"/>
          <p:cNvSpPr/>
          <p:nvPr/>
        </p:nvSpPr>
        <p:spPr>
          <a:xfrm>
            <a:off x="6445250" y="2079625"/>
            <a:ext cx="166688" cy="190500"/>
          </a:xfrm>
          <a:prstGeom prst="rect">
            <a:avLst/>
          </a:prstGeom>
          <a:noFill/>
          <a:ln/>
        </p:spPr>
        <p:txBody>
          <a:bodyPr wrap="square" lIns="0" tIns="0" rIns="0" bIns="0" rtlCol="0" anchor="ctr"/>
          <a:lstStyle/>
          <a:p>
            <a:pPr>
              <a:lnSpc>
                <a:spcPct val="130000"/>
              </a:lnSpc>
            </a:pPr>
            <a:r>
              <a:rPr lang="en-US" sz="1000"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37" name="Text 35"/>
          <p:cNvSpPr/>
          <p:nvPr/>
        </p:nvSpPr>
        <p:spPr>
          <a:xfrm>
            <a:off x="6611938" y="2047875"/>
            <a:ext cx="3508375" cy="190500"/>
          </a:xfrm>
          <a:prstGeom prst="rect">
            <a:avLst/>
          </a:prstGeom>
          <a:noFill/>
          <a:ln/>
        </p:spPr>
        <p:txBody>
          <a:bodyPr wrap="square" lIns="0" tIns="0" rIns="0" bIns="0" rtlCol="0" anchor="ctr"/>
          <a:lstStyle/>
          <a:p>
            <a:pPr>
              <a:lnSpc>
                <a:spcPct val="130000"/>
              </a:lnSpc>
            </a:pPr>
            <a:r>
              <a:rPr lang="en-US" sz="1000" b="1" dirty="0">
                <a:solidFill>
                  <a:srgbClr val="1F2937"/>
                </a:solidFill>
                <a:latin typeface="Sorts Mill Goudy" pitchFamily="34" charset="0"/>
                <a:ea typeface="Sorts Mill Goudy" pitchFamily="34" charset="-122"/>
                <a:cs typeface="Sorts Mill Goudy" pitchFamily="34" charset="-120"/>
              </a:rPr>
              <a:t>BERT-based SRL:</a:t>
            </a:r>
            <a:r>
              <a:rPr lang="en-US" sz="1000" dirty="0">
                <a:solidFill>
                  <a:srgbClr val="1F2937"/>
                </a:solidFill>
                <a:latin typeface="Sorts Mill Goudy" pitchFamily="34" charset="0"/>
                <a:ea typeface="Sorts Mill Goudy" pitchFamily="34" charset="-122"/>
                <a:cs typeface="Sorts Mill Goudy" pitchFamily="34" charset="-120"/>
              </a:rPr>
              <a:t> Pretrained encoders improve supervised task</a:t>
            </a:r>
            <a:endParaRPr lang="en-US" sz="1600" dirty="0"/>
          </a:p>
        </p:txBody>
      </p:sp>
      <p:sp>
        <p:nvSpPr>
          <p:cNvPr id="38" name="Text 36"/>
          <p:cNvSpPr/>
          <p:nvPr/>
        </p:nvSpPr>
        <p:spPr>
          <a:xfrm>
            <a:off x="6445250" y="2365375"/>
            <a:ext cx="166688" cy="190500"/>
          </a:xfrm>
          <a:prstGeom prst="rect">
            <a:avLst/>
          </a:prstGeom>
          <a:noFill/>
          <a:ln/>
        </p:spPr>
        <p:txBody>
          <a:bodyPr wrap="square" lIns="0" tIns="0" rIns="0" bIns="0" rtlCol="0" anchor="ctr"/>
          <a:lstStyle/>
          <a:p>
            <a:pPr>
              <a:lnSpc>
                <a:spcPct val="130000"/>
              </a:lnSpc>
            </a:pPr>
            <a:r>
              <a:rPr lang="en-US" sz="1000"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39" name="Text 37"/>
          <p:cNvSpPr/>
          <p:nvPr/>
        </p:nvSpPr>
        <p:spPr>
          <a:xfrm>
            <a:off x="6611938" y="2333625"/>
            <a:ext cx="2794000" cy="190500"/>
          </a:xfrm>
          <a:prstGeom prst="rect">
            <a:avLst/>
          </a:prstGeom>
          <a:noFill/>
          <a:ln/>
        </p:spPr>
        <p:txBody>
          <a:bodyPr wrap="square" lIns="0" tIns="0" rIns="0" bIns="0" rtlCol="0" anchor="ctr"/>
          <a:lstStyle/>
          <a:p>
            <a:pPr>
              <a:lnSpc>
                <a:spcPct val="130000"/>
              </a:lnSpc>
            </a:pPr>
            <a:r>
              <a:rPr lang="en-US" sz="1000" b="1" dirty="0">
                <a:solidFill>
                  <a:srgbClr val="1F2937"/>
                </a:solidFill>
                <a:latin typeface="Sorts Mill Goudy" pitchFamily="34" charset="0"/>
                <a:ea typeface="Sorts Mill Goudy" pitchFamily="34" charset="-122"/>
                <a:cs typeface="Sorts Mill Goudy" pitchFamily="34" charset="-120"/>
              </a:rPr>
              <a:t>Bonn et al. (2024):</a:t>
            </a:r>
            <a:r>
              <a:rPr lang="en-US" sz="1000" dirty="0">
                <a:solidFill>
                  <a:srgbClr val="1F2937"/>
                </a:solidFill>
                <a:latin typeface="Sorts Mill Goudy" pitchFamily="34" charset="0"/>
                <a:ea typeface="Sorts Mill Goudy" pitchFamily="34" charset="-122"/>
                <a:cs typeface="Sorts Mill Goudy" pitchFamily="34" charset="-120"/>
              </a:rPr>
              <a:t> LLMs as PropBank adjudicators</a:t>
            </a:r>
            <a:endParaRPr lang="en-US" sz="1600" dirty="0"/>
          </a:p>
        </p:txBody>
      </p:sp>
      <p:sp>
        <p:nvSpPr>
          <p:cNvPr id="40" name="Text 38"/>
          <p:cNvSpPr/>
          <p:nvPr/>
        </p:nvSpPr>
        <p:spPr>
          <a:xfrm>
            <a:off x="6445250" y="2651125"/>
            <a:ext cx="166688" cy="190500"/>
          </a:xfrm>
          <a:prstGeom prst="rect">
            <a:avLst/>
          </a:prstGeom>
          <a:noFill/>
          <a:ln/>
        </p:spPr>
        <p:txBody>
          <a:bodyPr wrap="square" lIns="0" tIns="0" rIns="0" bIns="0" rtlCol="0" anchor="ctr"/>
          <a:lstStyle/>
          <a:p>
            <a:pPr>
              <a:lnSpc>
                <a:spcPct val="130000"/>
              </a:lnSpc>
            </a:pPr>
            <a:r>
              <a:rPr lang="en-US" sz="1000"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41" name="Text 39"/>
          <p:cNvSpPr/>
          <p:nvPr/>
        </p:nvSpPr>
        <p:spPr>
          <a:xfrm>
            <a:off x="6611938" y="2619375"/>
            <a:ext cx="3421063" cy="190500"/>
          </a:xfrm>
          <a:prstGeom prst="rect">
            <a:avLst/>
          </a:prstGeom>
          <a:noFill/>
          <a:ln/>
        </p:spPr>
        <p:txBody>
          <a:bodyPr wrap="square" lIns="0" tIns="0" rIns="0" bIns="0" rtlCol="0" anchor="ctr"/>
          <a:lstStyle/>
          <a:p>
            <a:pPr>
              <a:lnSpc>
                <a:spcPct val="130000"/>
              </a:lnSpc>
            </a:pPr>
            <a:r>
              <a:rPr lang="en-US" sz="1000" b="1" dirty="0">
                <a:solidFill>
                  <a:srgbClr val="1F2937"/>
                </a:solidFill>
                <a:latin typeface="Sorts Mill Goudy" pitchFamily="34" charset="0"/>
                <a:ea typeface="Sorts Mill Goudy" pitchFamily="34" charset="-122"/>
                <a:cs typeface="Sorts Mill Goudy" pitchFamily="34" charset="-120"/>
              </a:rPr>
              <a:t>Chen et al. (2025):</a:t>
            </a:r>
            <a:r>
              <a:rPr lang="en-US" sz="1000" dirty="0">
                <a:solidFill>
                  <a:srgbClr val="1F2937"/>
                </a:solidFill>
                <a:latin typeface="Sorts Mill Goudy" pitchFamily="34" charset="0"/>
                <a:ea typeface="Sorts Mill Goudy" pitchFamily="34" charset="-122"/>
                <a:cs typeface="Sorts Mill Goudy" pitchFamily="34" charset="-120"/>
              </a:rPr>
              <a:t> LLMs can do SRL when guided structurally</a:t>
            </a:r>
            <a:endParaRPr lang="en-US" sz="1600" dirty="0"/>
          </a:p>
        </p:txBody>
      </p:sp>
      <p:sp>
        <p:nvSpPr>
          <p:cNvPr id="42" name="Text 40"/>
          <p:cNvSpPr/>
          <p:nvPr/>
        </p:nvSpPr>
        <p:spPr>
          <a:xfrm>
            <a:off x="6445250" y="2936875"/>
            <a:ext cx="166688" cy="190500"/>
          </a:xfrm>
          <a:prstGeom prst="rect">
            <a:avLst/>
          </a:prstGeom>
          <a:noFill/>
          <a:ln/>
        </p:spPr>
        <p:txBody>
          <a:bodyPr wrap="square" lIns="0" tIns="0" rIns="0" bIns="0" rtlCol="0" anchor="ctr"/>
          <a:lstStyle/>
          <a:p>
            <a:pPr>
              <a:lnSpc>
                <a:spcPct val="130000"/>
              </a:lnSpc>
            </a:pPr>
            <a:r>
              <a:rPr lang="en-US" sz="1000"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43" name="Text 41"/>
          <p:cNvSpPr/>
          <p:nvPr/>
        </p:nvSpPr>
        <p:spPr>
          <a:xfrm>
            <a:off x="6611938" y="2905125"/>
            <a:ext cx="3159125" cy="190500"/>
          </a:xfrm>
          <a:prstGeom prst="rect">
            <a:avLst/>
          </a:prstGeom>
          <a:noFill/>
          <a:ln/>
        </p:spPr>
        <p:txBody>
          <a:bodyPr wrap="square" lIns="0" tIns="0" rIns="0" bIns="0" rtlCol="0" anchor="ctr"/>
          <a:lstStyle/>
          <a:p>
            <a:pPr>
              <a:lnSpc>
                <a:spcPct val="130000"/>
              </a:lnSpc>
            </a:pPr>
            <a:r>
              <a:rPr lang="en-US" sz="1000" b="1" dirty="0">
                <a:solidFill>
                  <a:srgbClr val="1F2937"/>
                </a:solidFill>
                <a:latin typeface="Sorts Mill Goudy" pitchFamily="34" charset="0"/>
                <a:ea typeface="Sorts Mill Goudy" pitchFamily="34" charset="-122"/>
                <a:cs typeface="Sorts Mill Goudy" pitchFamily="34" charset="-120"/>
              </a:rPr>
              <a:t>Rai et al. (2025):</a:t>
            </a:r>
            <a:r>
              <a:rPr lang="en-US" sz="1000" dirty="0">
                <a:solidFill>
                  <a:srgbClr val="1F2937"/>
                </a:solidFill>
                <a:latin typeface="Sorts Mill Goudy" pitchFamily="34" charset="0"/>
                <a:ea typeface="Sorts Mill Goudy" pitchFamily="34" charset="-122"/>
                <a:cs typeface="Sorts Mill Goudy" pitchFamily="34" charset="-120"/>
              </a:rPr>
              <a:t> Frame-semantic LoRA for zero-shot SRL</a:t>
            </a:r>
            <a:endParaRPr lang="en-US" sz="1600" dirty="0"/>
          </a:p>
        </p:txBody>
      </p:sp>
      <p:sp>
        <p:nvSpPr>
          <p:cNvPr id="44" name="Shape 42"/>
          <p:cNvSpPr/>
          <p:nvPr/>
        </p:nvSpPr>
        <p:spPr>
          <a:xfrm>
            <a:off x="6449219" y="3226594"/>
            <a:ext cx="5230813" cy="388938"/>
          </a:xfrm>
          <a:custGeom>
            <a:avLst/>
            <a:gdLst/>
            <a:ahLst/>
            <a:cxnLst/>
            <a:rect l="l" t="t" r="r" b="b"/>
            <a:pathLst>
              <a:path w="5230813" h="388938">
                <a:moveTo>
                  <a:pt x="0" y="0"/>
                </a:moveTo>
                <a:lnTo>
                  <a:pt x="5230813" y="0"/>
                </a:lnTo>
                <a:lnTo>
                  <a:pt x="5230813" y="388938"/>
                </a:lnTo>
                <a:lnTo>
                  <a:pt x="0" y="388938"/>
                </a:lnTo>
                <a:lnTo>
                  <a:pt x="0" y="0"/>
                </a:lnTo>
                <a:close/>
              </a:path>
            </a:pathLst>
          </a:custGeom>
          <a:solidFill>
            <a:srgbClr val="FFFFFF"/>
          </a:solidFill>
          <a:ln w="12700">
            <a:solidFill>
              <a:srgbClr val="E5E7EB"/>
            </a:solidFill>
            <a:prstDash val="solid"/>
          </a:ln>
        </p:spPr>
      </p:sp>
      <p:sp>
        <p:nvSpPr>
          <p:cNvPr id="45" name="Text 43"/>
          <p:cNvSpPr/>
          <p:nvPr/>
        </p:nvSpPr>
        <p:spPr>
          <a:xfrm>
            <a:off x="6548438" y="3325813"/>
            <a:ext cx="5095875" cy="190500"/>
          </a:xfrm>
          <a:prstGeom prst="rect">
            <a:avLst/>
          </a:prstGeom>
          <a:noFill/>
          <a:ln/>
        </p:spPr>
        <p:txBody>
          <a:bodyPr wrap="square" lIns="0" tIns="0" rIns="0" bIns="0" rtlCol="0" anchor="ctr"/>
          <a:lstStyle/>
          <a:p>
            <a:pPr>
              <a:lnSpc>
                <a:spcPct val="130000"/>
              </a:lnSpc>
            </a:pPr>
            <a:r>
              <a:rPr lang="en-US" sz="1000" b="1" dirty="0">
                <a:solidFill>
                  <a:srgbClr val="6B7280"/>
                </a:solidFill>
                <a:latin typeface="Sorts Mill Goudy" pitchFamily="34" charset="0"/>
                <a:ea typeface="Sorts Mill Goudy" pitchFamily="34" charset="-122"/>
                <a:cs typeface="Sorts Mill Goudy" pitchFamily="34" charset="-120"/>
              </a:rPr>
              <a:t>Challenge:</a:t>
            </a:r>
            <a:r>
              <a:rPr lang="en-US" sz="1000" dirty="0">
                <a:solidFill>
                  <a:srgbClr val="6B7280"/>
                </a:solidFill>
                <a:latin typeface="Sorts Mill Goudy" pitchFamily="34" charset="0"/>
                <a:ea typeface="Sorts Mill Goudy" pitchFamily="34" charset="-122"/>
                <a:cs typeface="Sorts Mill Goudy" pitchFamily="34" charset="-120"/>
              </a:rPr>
              <a:t> Grounding, calibration, preserving semantic faithfulness</a:t>
            </a:r>
            <a:endParaRPr lang="en-US" sz="1600" dirty="0"/>
          </a:p>
        </p:txBody>
      </p:sp>
      <p:sp>
        <p:nvSpPr>
          <p:cNvPr id="46" name="Shape 44"/>
          <p:cNvSpPr/>
          <p:nvPr/>
        </p:nvSpPr>
        <p:spPr>
          <a:xfrm>
            <a:off x="6223000" y="4000500"/>
            <a:ext cx="5651500" cy="3238500"/>
          </a:xfrm>
          <a:custGeom>
            <a:avLst/>
            <a:gdLst/>
            <a:ahLst/>
            <a:cxnLst/>
            <a:rect l="l" t="t" r="r" b="b"/>
            <a:pathLst>
              <a:path w="5651500" h="3238500">
                <a:moveTo>
                  <a:pt x="0" y="0"/>
                </a:moveTo>
                <a:lnTo>
                  <a:pt x="5651500" y="0"/>
                </a:lnTo>
                <a:lnTo>
                  <a:pt x="5651500" y="3238500"/>
                </a:lnTo>
                <a:lnTo>
                  <a:pt x="0" y="3238500"/>
                </a:lnTo>
                <a:lnTo>
                  <a:pt x="0" y="0"/>
                </a:lnTo>
                <a:close/>
              </a:path>
            </a:pathLst>
          </a:custGeom>
          <a:solidFill>
            <a:srgbClr val="F9FAFB"/>
          </a:solidFill>
          <a:ln/>
        </p:spPr>
      </p:sp>
      <p:sp>
        <p:nvSpPr>
          <p:cNvPr id="47" name="Text 45"/>
          <p:cNvSpPr/>
          <p:nvPr/>
        </p:nvSpPr>
        <p:spPr>
          <a:xfrm>
            <a:off x="6413500" y="4191000"/>
            <a:ext cx="5349875" cy="222250"/>
          </a:xfrm>
          <a:prstGeom prst="rect">
            <a:avLst/>
          </a:prstGeom>
          <a:noFill/>
          <a:ln/>
        </p:spPr>
        <p:txBody>
          <a:bodyPr wrap="square" lIns="0" tIns="0" rIns="0" bIns="0" rtlCol="0" anchor="ctr"/>
          <a:lstStyle/>
          <a:p>
            <a:pPr>
              <a:lnSpc>
                <a:spcPct val="120000"/>
              </a:lnSpc>
            </a:pPr>
            <a:r>
              <a:rPr lang="en-US" sz="1250" b="1" dirty="0">
                <a:solidFill>
                  <a:srgbClr val="1F2937"/>
                </a:solidFill>
                <a:latin typeface="Sorts Mill Goudy" pitchFamily="34" charset="0"/>
                <a:ea typeface="Sorts Mill Goudy" pitchFamily="34" charset="-122"/>
                <a:cs typeface="Sorts Mill Goudy" pitchFamily="34" charset="-120"/>
              </a:rPr>
              <a:t>QA-Based Semantics Lineage</a:t>
            </a:r>
            <a:endParaRPr lang="en-US" sz="1600" dirty="0"/>
          </a:p>
        </p:txBody>
      </p:sp>
      <p:sp>
        <p:nvSpPr>
          <p:cNvPr id="48" name="Shape 46"/>
          <p:cNvSpPr/>
          <p:nvPr/>
        </p:nvSpPr>
        <p:spPr>
          <a:xfrm>
            <a:off x="6417469" y="4544219"/>
            <a:ext cx="5262563" cy="547688"/>
          </a:xfrm>
          <a:custGeom>
            <a:avLst/>
            <a:gdLst/>
            <a:ahLst/>
            <a:cxnLst/>
            <a:rect l="l" t="t" r="r" b="b"/>
            <a:pathLst>
              <a:path w="5262563" h="547688">
                <a:moveTo>
                  <a:pt x="0" y="0"/>
                </a:moveTo>
                <a:lnTo>
                  <a:pt x="5262563" y="0"/>
                </a:lnTo>
                <a:lnTo>
                  <a:pt x="5262563" y="547688"/>
                </a:lnTo>
                <a:lnTo>
                  <a:pt x="0" y="547688"/>
                </a:lnTo>
                <a:lnTo>
                  <a:pt x="0" y="0"/>
                </a:lnTo>
                <a:close/>
              </a:path>
            </a:pathLst>
          </a:custGeom>
          <a:solidFill>
            <a:srgbClr val="FFFFFF"/>
          </a:solidFill>
          <a:ln w="12700">
            <a:solidFill>
              <a:srgbClr val="E5E7EB"/>
            </a:solidFill>
            <a:prstDash val="solid"/>
          </a:ln>
        </p:spPr>
      </p:sp>
      <p:sp>
        <p:nvSpPr>
          <p:cNvPr id="49" name="Text 47"/>
          <p:cNvSpPr/>
          <p:nvPr/>
        </p:nvSpPr>
        <p:spPr>
          <a:xfrm>
            <a:off x="6516688" y="4643438"/>
            <a:ext cx="5119688" cy="158750"/>
          </a:xfrm>
          <a:prstGeom prst="rect">
            <a:avLst/>
          </a:prstGeom>
          <a:noFill/>
          <a:ln/>
        </p:spPr>
        <p:txBody>
          <a:bodyPr wrap="square" lIns="0" tIns="0" rIns="0" bIns="0" rtlCol="0" anchor="ctr"/>
          <a:lstStyle/>
          <a:p>
            <a:pPr>
              <a:lnSpc>
                <a:spcPct val="120000"/>
              </a:lnSpc>
            </a:pPr>
            <a:r>
              <a:rPr lang="en-US" sz="875" b="1" dirty="0">
                <a:solidFill>
                  <a:srgbClr val="1F2937"/>
                </a:solidFill>
                <a:latin typeface="Sorts Mill Goudy" pitchFamily="34" charset="0"/>
                <a:ea typeface="Sorts Mill Goudy" pitchFamily="34" charset="-122"/>
                <a:cs typeface="Sorts Mill Goudy" pitchFamily="34" charset="-120"/>
              </a:rPr>
              <a:t>He et al. (2015)</a:t>
            </a:r>
            <a:endParaRPr lang="en-US" sz="1600" dirty="0"/>
          </a:p>
        </p:txBody>
      </p:sp>
      <p:sp>
        <p:nvSpPr>
          <p:cNvPr id="50" name="Text 48"/>
          <p:cNvSpPr/>
          <p:nvPr/>
        </p:nvSpPr>
        <p:spPr>
          <a:xfrm>
            <a:off x="6516688" y="4802188"/>
            <a:ext cx="5127625" cy="190500"/>
          </a:xfrm>
          <a:prstGeom prst="rect">
            <a:avLst/>
          </a:prstGeom>
          <a:noFill/>
          <a:ln/>
        </p:spPr>
        <p:txBody>
          <a:bodyPr wrap="square" lIns="0" tIns="0" rIns="0" bIns="0" rtlCol="0" anchor="ctr"/>
          <a:lstStyle/>
          <a:p>
            <a:pPr>
              <a:lnSpc>
                <a:spcPct val="130000"/>
              </a:lnSpc>
            </a:pPr>
            <a:r>
              <a:rPr lang="en-US" sz="1000" dirty="0">
                <a:solidFill>
                  <a:srgbClr val="6B7280"/>
                </a:solidFill>
                <a:latin typeface="Sorts Mill Goudy" pitchFamily="34" charset="0"/>
                <a:ea typeface="Sorts Mill Goudy" pitchFamily="34" charset="-122"/>
                <a:cs typeface="Sorts Mill Goudy" pitchFamily="34" charset="-120"/>
              </a:rPr>
              <a:t>QA-SRL: Natural-language questions as role labels</a:t>
            </a:r>
            <a:endParaRPr lang="en-US" sz="1600" dirty="0"/>
          </a:p>
        </p:txBody>
      </p:sp>
      <p:sp>
        <p:nvSpPr>
          <p:cNvPr id="51" name="Shape 49"/>
          <p:cNvSpPr/>
          <p:nvPr/>
        </p:nvSpPr>
        <p:spPr>
          <a:xfrm>
            <a:off x="6417469" y="5195094"/>
            <a:ext cx="5262563" cy="547688"/>
          </a:xfrm>
          <a:custGeom>
            <a:avLst/>
            <a:gdLst/>
            <a:ahLst/>
            <a:cxnLst/>
            <a:rect l="l" t="t" r="r" b="b"/>
            <a:pathLst>
              <a:path w="5262563" h="547688">
                <a:moveTo>
                  <a:pt x="0" y="0"/>
                </a:moveTo>
                <a:lnTo>
                  <a:pt x="5262563" y="0"/>
                </a:lnTo>
                <a:lnTo>
                  <a:pt x="5262563" y="547688"/>
                </a:lnTo>
                <a:lnTo>
                  <a:pt x="0" y="547688"/>
                </a:lnTo>
                <a:lnTo>
                  <a:pt x="0" y="0"/>
                </a:lnTo>
                <a:close/>
              </a:path>
            </a:pathLst>
          </a:custGeom>
          <a:solidFill>
            <a:srgbClr val="FFFFFF"/>
          </a:solidFill>
          <a:ln w="12700">
            <a:solidFill>
              <a:srgbClr val="E5E7EB"/>
            </a:solidFill>
            <a:prstDash val="solid"/>
          </a:ln>
        </p:spPr>
      </p:sp>
      <p:sp>
        <p:nvSpPr>
          <p:cNvPr id="52" name="Text 50"/>
          <p:cNvSpPr/>
          <p:nvPr/>
        </p:nvSpPr>
        <p:spPr>
          <a:xfrm>
            <a:off x="6516688" y="5294313"/>
            <a:ext cx="5119688" cy="158750"/>
          </a:xfrm>
          <a:prstGeom prst="rect">
            <a:avLst/>
          </a:prstGeom>
          <a:noFill/>
          <a:ln/>
        </p:spPr>
        <p:txBody>
          <a:bodyPr wrap="square" lIns="0" tIns="0" rIns="0" bIns="0" rtlCol="0" anchor="ctr"/>
          <a:lstStyle/>
          <a:p>
            <a:pPr>
              <a:lnSpc>
                <a:spcPct val="120000"/>
              </a:lnSpc>
            </a:pPr>
            <a:r>
              <a:rPr lang="en-US" sz="875" b="1" dirty="0">
                <a:solidFill>
                  <a:srgbClr val="1F2937"/>
                </a:solidFill>
                <a:latin typeface="Sorts Mill Goudy" pitchFamily="34" charset="0"/>
                <a:ea typeface="Sorts Mill Goudy" pitchFamily="34" charset="-122"/>
                <a:cs typeface="Sorts Mill Goudy" pitchFamily="34" charset="-120"/>
              </a:rPr>
              <a:t>FitzGerald et al. (2018)</a:t>
            </a:r>
            <a:endParaRPr lang="en-US" sz="1600" dirty="0"/>
          </a:p>
        </p:txBody>
      </p:sp>
      <p:sp>
        <p:nvSpPr>
          <p:cNvPr id="53" name="Text 51"/>
          <p:cNvSpPr/>
          <p:nvPr/>
        </p:nvSpPr>
        <p:spPr>
          <a:xfrm>
            <a:off x="6516688" y="5453063"/>
            <a:ext cx="5127625" cy="190500"/>
          </a:xfrm>
          <a:prstGeom prst="rect">
            <a:avLst/>
          </a:prstGeom>
          <a:noFill/>
          <a:ln/>
        </p:spPr>
        <p:txBody>
          <a:bodyPr wrap="square" lIns="0" tIns="0" rIns="0" bIns="0" rtlCol="0" anchor="ctr"/>
          <a:lstStyle/>
          <a:p>
            <a:pPr>
              <a:lnSpc>
                <a:spcPct val="130000"/>
              </a:lnSpc>
            </a:pPr>
            <a:r>
              <a:rPr lang="en-US" sz="1000" dirty="0">
                <a:solidFill>
                  <a:srgbClr val="6B7280"/>
                </a:solidFill>
                <a:latin typeface="Sorts Mill Goudy" pitchFamily="34" charset="0"/>
                <a:ea typeface="Sorts Mill Goudy" pitchFamily="34" charset="-122"/>
                <a:cs typeface="Sorts Mill Goudy" pitchFamily="34" charset="-120"/>
              </a:rPr>
              <a:t>Large-scale QA-SRL parsing with neural models</a:t>
            </a:r>
            <a:endParaRPr lang="en-US" sz="1600" dirty="0"/>
          </a:p>
        </p:txBody>
      </p:sp>
      <p:sp>
        <p:nvSpPr>
          <p:cNvPr id="54" name="Shape 52"/>
          <p:cNvSpPr/>
          <p:nvPr/>
        </p:nvSpPr>
        <p:spPr>
          <a:xfrm>
            <a:off x="6417469" y="5845969"/>
            <a:ext cx="5262563" cy="547688"/>
          </a:xfrm>
          <a:custGeom>
            <a:avLst/>
            <a:gdLst/>
            <a:ahLst/>
            <a:cxnLst/>
            <a:rect l="l" t="t" r="r" b="b"/>
            <a:pathLst>
              <a:path w="5262563" h="547688">
                <a:moveTo>
                  <a:pt x="0" y="0"/>
                </a:moveTo>
                <a:lnTo>
                  <a:pt x="5262563" y="0"/>
                </a:lnTo>
                <a:lnTo>
                  <a:pt x="5262563" y="547688"/>
                </a:lnTo>
                <a:lnTo>
                  <a:pt x="0" y="547688"/>
                </a:lnTo>
                <a:lnTo>
                  <a:pt x="0" y="0"/>
                </a:lnTo>
                <a:close/>
              </a:path>
            </a:pathLst>
          </a:custGeom>
          <a:solidFill>
            <a:srgbClr val="FFFFFF"/>
          </a:solidFill>
          <a:ln w="12700">
            <a:solidFill>
              <a:srgbClr val="E5E7EB"/>
            </a:solidFill>
            <a:prstDash val="solid"/>
          </a:ln>
        </p:spPr>
      </p:sp>
      <p:sp>
        <p:nvSpPr>
          <p:cNvPr id="55" name="Text 53"/>
          <p:cNvSpPr/>
          <p:nvPr/>
        </p:nvSpPr>
        <p:spPr>
          <a:xfrm>
            <a:off x="6516688" y="5945188"/>
            <a:ext cx="5119688" cy="158750"/>
          </a:xfrm>
          <a:prstGeom prst="rect">
            <a:avLst/>
          </a:prstGeom>
          <a:noFill/>
          <a:ln/>
        </p:spPr>
        <p:txBody>
          <a:bodyPr wrap="square" lIns="0" tIns="0" rIns="0" bIns="0" rtlCol="0" anchor="ctr"/>
          <a:lstStyle/>
          <a:p>
            <a:pPr>
              <a:lnSpc>
                <a:spcPct val="120000"/>
              </a:lnSpc>
            </a:pPr>
            <a:r>
              <a:rPr lang="en-US" sz="875" b="1" dirty="0">
                <a:solidFill>
                  <a:srgbClr val="1F2937"/>
                </a:solidFill>
                <a:latin typeface="Sorts Mill Goudy" pitchFamily="34" charset="0"/>
                <a:ea typeface="Sorts Mill Goudy" pitchFamily="34" charset="-122"/>
                <a:cs typeface="Sorts Mill Goudy" pitchFamily="34" charset="-120"/>
              </a:rPr>
              <a:t>Klein et al. (2020-2022)</a:t>
            </a:r>
            <a:endParaRPr lang="en-US" sz="1600" dirty="0"/>
          </a:p>
        </p:txBody>
      </p:sp>
      <p:sp>
        <p:nvSpPr>
          <p:cNvPr id="56" name="Text 54"/>
          <p:cNvSpPr/>
          <p:nvPr/>
        </p:nvSpPr>
        <p:spPr>
          <a:xfrm>
            <a:off x="6516688" y="6103938"/>
            <a:ext cx="5127625" cy="190500"/>
          </a:xfrm>
          <a:prstGeom prst="rect">
            <a:avLst/>
          </a:prstGeom>
          <a:noFill/>
          <a:ln/>
        </p:spPr>
        <p:txBody>
          <a:bodyPr wrap="square" lIns="0" tIns="0" rIns="0" bIns="0" rtlCol="0" anchor="ctr"/>
          <a:lstStyle/>
          <a:p>
            <a:pPr>
              <a:lnSpc>
                <a:spcPct val="130000"/>
              </a:lnSpc>
            </a:pPr>
            <a:r>
              <a:rPr lang="en-US" sz="1000" dirty="0">
                <a:solidFill>
                  <a:srgbClr val="6B7280"/>
                </a:solidFill>
                <a:latin typeface="Sorts Mill Goudy" pitchFamily="34" charset="0"/>
                <a:ea typeface="Sorts Mill Goudy" pitchFamily="34" charset="-122"/>
                <a:cs typeface="Sorts Mill Goudy" pitchFamily="34" charset="-120"/>
              </a:rPr>
              <a:t>QANom, QASem: Extending beyond verbs</a:t>
            </a:r>
            <a:endParaRPr lang="en-US" sz="1600" dirty="0"/>
          </a:p>
        </p:txBody>
      </p:sp>
      <p:sp>
        <p:nvSpPr>
          <p:cNvPr id="57" name="Shape 55"/>
          <p:cNvSpPr/>
          <p:nvPr/>
        </p:nvSpPr>
        <p:spPr>
          <a:xfrm>
            <a:off x="6417469" y="6496844"/>
            <a:ext cx="5262563" cy="547688"/>
          </a:xfrm>
          <a:custGeom>
            <a:avLst/>
            <a:gdLst/>
            <a:ahLst/>
            <a:cxnLst/>
            <a:rect l="l" t="t" r="r" b="b"/>
            <a:pathLst>
              <a:path w="5262563" h="547688">
                <a:moveTo>
                  <a:pt x="0" y="0"/>
                </a:moveTo>
                <a:lnTo>
                  <a:pt x="5262563" y="0"/>
                </a:lnTo>
                <a:lnTo>
                  <a:pt x="5262563" y="547688"/>
                </a:lnTo>
                <a:lnTo>
                  <a:pt x="0" y="547688"/>
                </a:lnTo>
                <a:lnTo>
                  <a:pt x="0" y="0"/>
                </a:lnTo>
                <a:close/>
              </a:path>
            </a:pathLst>
          </a:custGeom>
          <a:solidFill>
            <a:srgbClr val="FFFFFF"/>
          </a:solidFill>
          <a:ln w="12700">
            <a:solidFill>
              <a:srgbClr val="E5E7EB"/>
            </a:solidFill>
            <a:prstDash val="solid"/>
          </a:ln>
        </p:spPr>
      </p:sp>
      <p:sp>
        <p:nvSpPr>
          <p:cNvPr id="58" name="Text 56"/>
          <p:cNvSpPr/>
          <p:nvPr/>
        </p:nvSpPr>
        <p:spPr>
          <a:xfrm>
            <a:off x="6516688" y="6596063"/>
            <a:ext cx="5119688" cy="158750"/>
          </a:xfrm>
          <a:prstGeom prst="rect">
            <a:avLst/>
          </a:prstGeom>
          <a:noFill/>
          <a:ln/>
        </p:spPr>
        <p:txBody>
          <a:bodyPr wrap="square" lIns="0" tIns="0" rIns="0" bIns="0" rtlCol="0" anchor="ctr"/>
          <a:lstStyle/>
          <a:p>
            <a:pPr>
              <a:lnSpc>
                <a:spcPct val="120000"/>
              </a:lnSpc>
            </a:pPr>
            <a:r>
              <a:rPr lang="en-US" sz="875" b="1" dirty="0">
                <a:solidFill>
                  <a:srgbClr val="1F2937"/>
                </a:solidFill>
                <a:latin typeface="Sorts Mill Goudy" pitchFamily="34" charset="0"/>
                <a:ea typeface="Sorts Mill Goudy" pitchFamily="34" charset="-122"/>
                <a:cs typeface="Sorts Mill Goudy" pitchFamily="34" charset="-120"/>
              </a:rPr>
              <a:t>Pyatkin et al. (2020-2021)</a:t>
            </a:r>
            <a:endParaRPr lang="en-US" sz="1600" dirty="0"/>
          </a:p>
        </p:txBody>
      </p:sp>
      <p:sp>
        <p:nvSpPr>
          <p:cNvPr id="59" name="Text 57"/>
          <p:cNvSpPr/>
          <p:nvPr/>
        </p:nvSpPr>
        <p:spPr>
          <a:xfrm>
            <a:off x="6516688" y="6754813"/>
            <a:ext cx="5127625" cy="190500"/>
          </a:xfrm>
          <a:prstGeom prst="rect">
            <a:avLst/>
          </a:prstGeom>
          <a:noFill/>
          <a:ln/>
        </p:spPr>
        <p:txBody>
          <a:bodyPr wrap="square" lIns="0" tIns="0" rIns="0" bIns="0" rtlCol="0" anchor="ctr"/>
          <a:lstStyle/>
          <a:p>
            <a:pPr>
              <a:lnSpc>
                <a:spcPct val="130000"/>
              </a:lnSpc>
            </a:pPr>
            <a:r>
              <a:rPr lang="en-US" sz="1000" dirty="0">
                <a:solidFill>
                  <a:srgbClr val="6B7280"/>
                </a:solidFill>
                <a:latin typeface="Sorts Mill Goudy" pitchFamily="34" charset="0"/>
                <a:ea typeface="Sorts Mill Goudy" pitchFamily="34" charset="-122"/>
                <a:cs typeface="Sorts Mill Goudy" pitchFamily="34" charset="-120"/>
              </a:rPr>
              <a:t>QADiscourse, Asking It All: Discourse &amp; question generation</a:t>
            </a:r>
            <a:endParaRPr lang="en-US" sz="1600" dirty="0"/>
          </a:p>
        </p:txBody>
      </p:sp>
    </p:spTree>
    <p:extLst>
      <p:ext uri="{BB962C8B-B14F-4D97-AF65-F5344CB8AC3E}">
        <p14:creationId xmlns:p14="http://schemas.microsoft.com/office/powerpoint/2010/main" val="3300899976"/>
      </p:ext>
    </p:extLst>
  </p:cSld>
  <p:clrMapOvr>
    <a:masterClrMapping/>
  </p:clrMapOvr>
  <p:transition>
    <p:fade/>
  </p:transition>
</p:sld>
</file>

<file path=ppt/slides/slide6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347350" y="347350"/>
            <a:ext cx="11558085" cy="173675"/>
          </a:xfrm>
          <a:prstGeom prst="rect">
            <a:avLst/>
          </a:prstGeom>
          <a:noFill/>
          <a:ln/>
        </p:spPr>
        <p:txBody>
          <a:bodyPr wrap="square" lIns="0" tIns="0" rIns="0" bIns="0" rtlCol="0" anchor="ctr"/>
          <a:lstStyle/>
          <a:p>
            <a:pPr>
              <a:lnSpc>
                <a:spcPct val="120000"/>
              </a:lnSpc>
            </a:pPr>
            <a:r>
              <a:rPr lang="en-US" sz="957" b="1" kern="0" spc="48" dirty="0">
                <a:solidFill>
                  <a:srgbClr val="8B0000"/>
                </a:solidFill>
                <a:latin typeface="Sorts Mill Goudy" pitchFamily="34" charset="0"/>
                <a:ea typeface="Sorts Mill Goudy" pitchFamily="34" charset="-122"/>
                <a:cs typeface="Sorts Mill Goudy" pitchFamily="34" charset="-120"/>
              </a:rPr>
              <a:t>9.1 CONCLUSION &amp; FUTURE WORK</a:t>
            </a:r>
            <a:endParaRPr lang="en-US" sz="1600" dirty="0"/>
          </a:p>
        </p:txBody>
      </p:sp>
      <p:sp>
        <p:nvSpPr>
          <p:cNvPr id="3" name="Text 1"/>
          <p:cNvSpPr/>
          <p:nvPr/>
        </p:nvSpPr>
        <p:spPr>
          <a:xfrm>
            <a:off x="347350" y="590496"/>
            <a:ext cx="11653607" cy="347350"/>
          </a:xfrm>
          <a:prstGeom prst="rect">
            <a:avLst/>
          </a:prstGeom>
          <a:noFill/>
          <a:ln/>
        </p:spPr>
        <p:txBody>
          <a:bodyPr wrap="square" lIns="0" tIns="0" rIns="0" bIns="0" rtlCol="0" anchor="ctr"/>
          <a:lstStyle/>
          <a:p>
            <a:pPr>
              <a:lnSpc>
                <a:spcPct val="90000"/>
              </a:lnSpc>
            </a:pPr>
            <a:r>
              <a:rPr lang="en-US" sz="2462" b="1" dirty="0">
                <a:solidFill>
                  <a:srgbClr val="1F2937"/>
                </a:solidFill>
                <a:latin typeface="Sorts Mill Goudy" pitchFamily="34" charset="0"/>
                <a:ea typeface="Sorts Mill Goudy" pitchFamily="34" charset="-122"/>
                <a:cs typeface="Sorts Mill Goudy" pitchFamily="34" charset="-120"/>
              </a:rPr>
              <a:t>Project Summary</a:t>
            </a:r>
            <a:endParaRPr lang="en-US" sz="1600" dirty="0"/>
          </a:p>
        </p:txBody>
      </p:sp>
      <p:sp>
        <p:nvSpPr>
          <p:cNvPr id="4" name="Shape 2"/>
          <p:cNvSpPr/>
          <p:nvPr/>
        </p:nvSpPr>
        <p:spPr>
          <a:xfrm>
            <a:off x="364718" y="1146256"/>
            <a:ext cx="5592342" cy="2327248"/>
          </a:xfrm>
          <a:custGeom>
            <a:avLst/>
            <a:gdLst/>
            <a:ahLst/>
            <a:cxnLst/>
            <a:rect l="l" t="t" r="r" b="b"/>
            <a:pathLst>
              <a:path w="5592342" h="2327248">
                <a:moveTo>
                  <a:pt x="0" y="0"/>
                </a:moveTo>
                <a:lnTo>
                  <a:pt x="5592342" y="0"/>
                </a:lnTo>
                <a:lnTo>
                  <a:pt x="5592342" y="2327248"/>
                </a:lnTo>
                <a:lnTo>
                  <a:pt x="0" y="2327248"/>
                </a:lnTo>
                <a:lnTo>
                  <a:pt x="0" y="0"/>
                </a:lnTo>
                <a:close/>
              </a:path>
            </a:pathLst>
          </a:custGeom>
          <a:solidFill>
            <a:srgbClr val="F9FAFB"/>
          </a:solidFill>
          <a:ln/>
        </p:spPr>
      </p:sp>
      <p:sp>
        <p:nvSpPr>
          <p:cNvPr id="5" name="Shape 3"/>
          <p:cNvSpPr/>
          <p:nvPr/>
        </p:nvSpPr>
        <p:spPr>
          <a:xfrm>
            <a:off x="364718" y="1146256"/>
            <a:ext cx="34735" cy="2327248"/>
          </a:xfrm>
          <a:custGeom>
            <a:avLst/>
            <a:gdLst/>
            <a:ahLst/>
            <a:cxnLst/>
            <a:rect l="l" t="t" r="r" b="b"/>
            <a:pathLst>
              <a:path w="34735" h="2327248">
                <a:moveTo>
                  <a:pt x="0" y="0"/>
                </a:moveTo>
                <a:lnTo>
                  <a:pt x="34735" y="0"/>
                </a:lnTo>
                <a:lnTo>
                  <a:pt x="34735" y="2327248"/>
                </a:lnTo>
                <a:lnTo>
                  <a:pt x="0" y="2327248"/>
                </a:lnTo>
                <a:lnTo>
                  <a:pt x="0" y="0"/>
                </a:lnTo>
                <a:close/>
              </a:path>
            </a:pathLst>
          </a:custGeom>
          <a:solidFill>
            <a:srgbClr val="8B0000"/>
          </a:solidFill>
          <a:ln/>
        </p:spPr>
      </p:sp>
      <p:sp>
        <p:nvSpPr>
          <p:cNvPr id="6" name="Text 4"/>
          <p:cNvSpPr/>
          <p:nvPr/>
        </p:nvSpPr>
        <p:spPr>
          <a:xfrm>
            <a:off x="590496" y="1354667"/>
            <a:ext cx="5244991" cy="243145"/>
          </a:xfrm>
          <a:prstGeom prst="rect">
            <a:avLst/>
          </a:prstGeom>
          <a:noFill/>
          <a:ln/>
        </p:spPr>
        <p:txBody>
          <a:bodyPr wrap="square" lIns="0" tIns="0" rIns="0" bIns="0" rtlCol="0" anchor="ctr"/>
          <a:lstStyle/>
          <a:p>
            <a:pPr>
              <a:lnSpc>
                <a:spcPct val="120000"/>
              </a:lnSpc>
            </a:pPr>
            <a:r>
              <a:rPr lang="en-US" sz="1368" b="1" dirty="0">
                <a:solidFill>
                  <a:srgbClr val="1F2937"/>
                </a:solidFill>
                <a:latin typeface="Sorts Mill Goudy" pitchFamily="34" charset="0"/>
                <a:ea typeface="Sorts Mill Goudy" pitchFamily="34" charset="-122"/>
                <a:cs typeface="Sorts Mill Goudy" pitchFamily="34" charset="-120"/>
              </a:rPr>
              <a:t>What We Demonstrated</a:t>
            </a:r>
            <a:endParaRPr lang="en-US" sz="1600" dirty="0"/>
          </a:p>
        </p:txBody>
      </p:sp>
      <p:sp>
        <p:nvSpPr>
          <p:cNvPr id="7" name="Text 5"/>
          <p:cNvSpPr/>
          <p:nvPr/>
        </p:nvSpPr>
        <p:spPr>
          <a:xfrm>
            <a:off x="590496" y="1736752"/>
            <a:ext cx="5227624" cy="451556"/>
          </a:xfrm>
          <a:prstGeom prst="rect">
            <a:avLst/>
          </a:prstGeom>
          <a:noFill/>
          <a:ln/>
        </p:spPr>
        <p:txBody>
          <a:bodyPr wrap="square" lIns="0" tIns="0" rIns="0" bIns="0" rtlCol="0" anchor="ctr"/>
          <a:lstStyle/>
          <a:p>
            <a:pPr>
              <a:lnSpc>
                <a:spcPct val="140000"/>
              </a:lnSpc>
            </a:pPr>
            <a:r>
              <a:rPr lang="en-US" sz="1094" dirty="0">
                <a:solidFill>
                  <a:srgbClr val="1F2937"/>
                </a:solidFill>
                <a:latin typeface="Sorts Mill Goudy" pitchFamily="34" charset="0"/>
                <a:ea typeface="Sorts Mill Goudy" pitchFamily="34" charset="-122"/>
                <a:cs typeface="Sorts Mill Goudy" pitchFamily="34" charset="-120"/>
              </a:rPr>
              <a:t>PropQA-Net demonstrates that </a:t>
            </a:r>
            <a:r>
              <a:rPr lang="en-US" sz="1094" b="1" dirty="0">
                <a:solidFill>
                  <a:srgbClr val="1F2937"/>
                </a:solidFill>
                <a:latin typeface="Sorts Mill Goudy" pitchFamily="34" charset="0"/>
                <a:ea typeface="Sorts Mill Goudy" pitchFamily="34" charset="-122"/>
                <a:cs typeface="Sorts Mill Goudy" pitchFamily="34" charset="-120"/>
              </a:rPr>
              <a:t>real PropBank-derived SRL-QA can be built end-to-end</a:t>
            </a:r>
            <a:r>
              <a:rPr lang="en-US" sz="1094" dirty="0">
                <a:solidFill>
                  <a:srgbClr val="1F2937"/>
                </a:solidFill>
                <a:latin typeface="Sorts Mill Goudy" pitchFamily="34" charset="0"/>
                <a:ea typeface="Sorts Mill Goudy" pitchFamily="34" charset="-122"/>
                <a:cs typeface="Sorts Mill Goudy" pitchFamily="34" charset="-120"/>
              </a:rPr>
              <a:t> with:</a:t>
            </a:r>
            <a:endParaRPr lang="en-US" sz="1600" dirty="0"/>
          </a:p>
        </p:txBody>
      </p:sp>
      <p:sp>
        <p:nvSpPr>
          <p:cNvPr id="8" name="Text 6"/>
          <p:cNvSpPr/>
          <p:nvPr/>
        </p:nvSpPr>
        <p:spPr>
          <a:xfrm>
            <a:off x="590496" y="2361983"/>
            <a:ext cx="182359" cy="208410"/>
          </a:xfrm>
          <a:prstGeom prst="rect">
            <a:avLst/>
          </a:prstGeom>
          <a:noFill/>
          <a:ln/>
        </p:spPr>
        <p:txBody>
          <a:bodyPr wrap="square" lIns="0" tIns="0" rIns="0" bIns="0" rtlCol="0" anchor="ctr"/>
          <a:lstStyle/>
          <a:p>
            <a:pPr>
              <a:lnSpc>
                <a:spcPct val="130000"/>
              </a:lnSpc>
            </a:pPr>
            <a:r>
              <a:rPr lang="en-US" sz="1094"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9" name="Text 7"/>
          <p:cNvSpPr/>
          <p:nvPr/>
        </p:nvSpPr>
        <p:spPr>
          <a:xfrm>
            <a:off x="772855" y="2327248"/>
            <a:ext cx="4645812" cy="208410"/>
          </a:xfrm>
          <a:prstGeom prst="rect">
            <a:avLst/>
          </a:prstGeom>
          <a:noFill/>
          <a:ln/>
        </p:spPr>
        <p:txBody>
          <a:bodyPr wrap="square" lIns="0" tIns="0" rIns="0" bIns="0" rtlCol="0" anchor="ctr"/>
          <a:lstStyle/>
          <a:p>
            <a:pPr>
              <a:lnSpc>
                <a:spcPct val="130000"/>
              </a:lnSpc>
            </a:pPr>
            <a:r>
              <a:rPr lang="en-US" sz="1094" b="1" dirty="0">
                <a:solidFill>
                  <a:srgbClr val="1F2937"/>
                </a:solidFill>
                <a:latin typeface="Sorts Mill Goudy" pitchFamily="34" charset="0"/>
                <a:ea typeface="Sorts Mill Goudy" pitchFamily="34" charset="-122"/>
                <a:cs typeface="Sorts Mill Goudy" pitchFamily="34" charset="-120"/>
              </a:rPr>
              <a:t>Transparent preprocessing:</a:t>
            </a:r>
            <a:r>
              <a:rPr lang="en-US" sz="1094" dirty="0">
                <a:solidFill>
                  <a:srgbClr val="1F2937"/>
                </a:solidFill>
                <a:latin typeface="Sorts Mill Goudy" pitchFamily="34" charset="0"/>
                <a:ea typeface="Sorts Mill Goudy" pitchFamily="34" charset="-122"/>
                <a:cs typeface="Sorts Mill Goudy" pitchFamily="34" charset="-120"/>
              </a:rPr>
              <a:t> NLTK pipeline with deterministic splits (seed 42)</a:t>
            </a:r>
            <a:endParaRPr lang="en-US" sz="1600" dirty="0"/>
          </a:p>
        </p:txBody>
      </p:sp>
      <p:sp>
        <p:nvSpPr>
          <p:cNvPr id="10" name="Text 8"/>
          <p:cNvSpPr/>
          <p:nvPr/>
        </p:nvSpPr>
        <p:spPr>
          <a:xfrm>
            <a:off x="590496" y="2709333"/>
            <a:ext cx="182359" cy="208410"/>
          </a:xfrm>
          <a:prstGeom prst="rect">
            <a:avLst/>
          </a:prstGeom>
          <a:noFill/>
          <a:ln/>
        </p:spPr>
        <p:txBody>
          <a:bodyPr wrap="square" lIns="0" tIns="0" rIns="0" bIns="0" rtlCol="0" anchor="ctr"/>
          <a:lstStyle/>
          <a:p>
            <a:pPr>
              <a:lnSpc>
                <a:spcPct val="130000"/>
              </a:lnSpc>
            </a:pPr>
            <a:r>
              <a:rPr lang="en-US" sz="1094"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11" name="Text 9"/>
          <p:cNvSpPr/>
          <p:nvPr/>
        </p:nvSpPr>
        <p:spPr>
          <a:xfrm>
            <a:off x="772855" y="2674598"/>
            <a:ext cx="4133470" cy="208410"/>
          </a:xfrm>
          <a:prstGeom prst="rect">
            <a:avLst/>
          </a:prstGeom>
          <a:noFill/>
          <a:ln/>
        </p:spPr>
        <p:txBody>
          <a:bodyPr wrap="square" lIns="0" tIns="0" rIns="0" bIns="0" rtlCol="0" anchor="ctr"/>
          <a:lstStyle/>
          <a:p>
            <a:pPr>
              <a:lnSpc>
                <a:spcPct val="130000"/>
              </a:lnSpc>
            </a:pPr>
            <a:r>
              <a:rPr lang="en-US" sz="1094" b="1" dirty="0">
                <a:solidFill>
                  <a:srgbClr val="1F2937"/>
                </a:solidFill>
                <a:latin typeface="Sorts Mill Goudy" pitchFamily="34" charset="0"/>
                <a:ea typeface="Sorts Mill Goudy" pitchFamily="34" charset="-122"/>
                <a:cs typeface="Sorts Mill Goudy" pitchFamily="34" charset="-120"/>
              </a:rPr>
              <a:t>Interpretable modeling:</a:t>
            </a:r>
            <a:r>
              <a:rPr lang="en-US" sz="1094" dirty="0">
                <a:solidFill>
                  <a:srgbClr val="1F2937"/>
                </a:solidFill>
                <a:latin typeface="Sorts Mill Goudy" pitchFamily="34" charset="0"/>
                <a:ea typeface="Sorts Mill Goudy" pitchFamily="34" charset="-122"/>
                <a:cs typeface="Sorts Mill Goudy" pitchFamily="34" charset="-120"/>
              </a:rPr>
              <a:t> Explicit roles, spans, and scores at every step</a:t>
            </a:r>
            <a:endParaRPr lang="en-US" sz="1600" dirty="0"/>
          </a:p>
        </p:txBody>
      </p:sp>
      <p:sp>
        <p:nvSpPr>
          <p:cNvPr id="12" name="Text 10"/>
          <p:cNvSpPr/>
          <p:nvPr/>
        </p:nvSpPr>
        <p:spPr>
          <a:xfrm>
            <a:off x="590496" y="3056684"/>
            <a:ext cx="182359" cy="208410"/>
          </a:xfrm>
          <a:prstGeom prst="rect">
            <a:avLst/>
          </a:prstGeom>
          <a:noFill/>
          <a:ln/>
        </p:spPr>
        <p:txBody>
          <a:bodyPr wrap="square" lIns="0" tIns="0" rIns="0" bIns="0" rtlCol="0" anchor="ctr"/>
          <a:lstStyle/>
          <a:p>
            <a:pPr>
              <a:lnSpc>
                <a:spcPct val="130000"/>
              </a:lnSpc>
            </a:pPr>
            <a:r>
              <a:rPr lang="en-US" sz="1094" dirty="0">
                <a:solidFill>
                  <a:srgbClr val="8B0000"/>
                </a:solidFill>
                <a:latin typeface="Sorts Mill Goudy" pitchFamily="34" charset="0"/>
                <a:ea typeface="Sorts Mill Goudy" pitchFamily="34" charset="-122"/>
                <a:cs typeface="Sorts Mill Goudy" pitchFamily="34" charset="-120"/>
              </a:rPr>
              <a:t>▸</a:t>
            </a:r>
            <a:endParaRPr lang="en-US" sz="1600" dirty="0"/>
          </a:p>
        </p:txBody>
      </p:sp>
      <p:sp>
        <p:nvSpPr>
          <p:cNvPr id="13" name="Text 11"/>
          <p:cNvSpPr/>
          <p:nvPr/>
        </p:nvSpPr>
        <p:spPr>
          <a:xfrm>
            <a:off x="772855" y="3021949"/>
            <a:ext cx="4411350" cy="208410"/>
          </a:xfrm>
          <a:prstGeom prst="rect">
            <a:avLst/>
          </a:prstGeom>
          <a:noFill/>
          <a:ln/>
        </p:spPr>
        <p:txBody>
          <a:bodyPr wrap="square" lIns="0" tIns="0" rIns="0" bIns="0" rtlCol="0" anchor="ctr"/>
          <a:lstStyle/>
          <a:p>
            <a:pPr>
              <a:lnSpc>
                <a:spcPct val="130000"/>
              </a:lnSpc>
            </a:pPr>
            <a:r>
              <a:rPr lang="en-US" sz="1094" b="1" dirty="0">
                <a:solidFill>
                  <a:srgbClr val="1F2937"/>
                </a:solidFill>
                <a:latin typeface="Sorts Mill Goudy" pitchFamily="34" charset="0"/>
                <a:ea typeface="Sorts Mill Goudy" pitchFamily="34" charset="-122"/>
                <a:cs typeface="Sorts Mill Goudy" pitchFamily="34" charset="-120"/>
              </a:rPr>
              <a:t>Reproducible evaluation:</a:t>
            </a:r>
            <a:r>
              <a:rPr lang="en-US" sz="1094" dirty="0">
                <a:solidFill>
                  <a:srgbClr val="1F2937"/>
                </a:solidFill>
                <a:latin typeface="Sorts Mill Goudy" pitchFamily="34" charset="0"/>
                <a:ea typeface="Sorts Mill Goudy" pitchFamily="34" charset="-122"/>
                <a:cs typeface="Sorts Mill Goudy" pitchFamily="34" charset="-120"/>
              </a:rPr>
              <a:t> Checkpointed metrics, single command runner</a:t>
            </a:r>
            <a:endParaRPr lang="en-US" sz="1600" dirty="0"/>
          </a:p>
        </p:txBody>
      </p:sp>
      <p:sp>
        <p:nvSpPr>
          <p:cNvPr id="14" name="Shape 12"/>
          <p:cNvSpPr/>
          <p:nvPr/>
        </p:nvSpPr>
        <p:spPr>
          <a:xfrm>
            <a:off x="364718" y="3681915"/>
            <a:ext cx="5592342" cy="2639863"/>
          </a:xfrm>
          <a:custGeom>
            <a:avLst/>
            <a:gdLst/>
            <a:ahLst/>
            <a:cxnLst/>
            <a:rect l="l" t="t" r="r" b="b"/>
            <a:pathLst>
              <a:path w="5592342" h="2639863">
                <a:moveTo>
                  <a:pt x="0" y="0"/>
                </a:moveTo>
                <a:lnTo>
                  <a:pt x="5592342" y="0"/>
                </a:lnTo>
                <a:lnTo>
                  <a:pt x="5592342" y="2639863"/>
                </a:lnTo>
                <a:lnTo>
                  <a:pt x="0" y="2639863"/>
                </a:lnTo>
                <a:lnTo>
                  <a:pt x="0" y="0"/>
                </a:lnTo>
                <a:close/>
              </a:path>
            </a:pathLst>
          </a:custGeom>
          <a:solidFill>
            <a:srgbClr val="F9FAFB"/>
          </a:solidFill>
          <a:ln/>
        </p:spPr>
      </p:sp>
      <p:sp>
        <p:nvSpPr>
          <p:cNvPr id="15" name="Shape 13"/>
          <p:cNvSpPr/>
          <p:nvPr/>
        </p:nvSpPr>
        <p:spPr>
          <a:xfrm>
            <a:off x="364718" y="3681915"/>
            <a:ext cx="34735" cy="2639863"/>
          </a:xfrm>
          <a:custGeom>
            <a:avLst/>
            <a:gdLst/>
            <a:ahLst/>
            <a:cxnLst/>
            <a:rect l="l" t="t" r="r" b="b"/>
            <a:pathLst>
              <a:path w="34735" h="2639863">
                <a:moveTo>
                  <a:pt x="0" y="0"/>
                </a:moveTo>
                <a:lnTo>
                  <a:pt x="34735" y="0"/>
                </a:lnTo>
                <a:lnTo>
                  <a:pt x="34735" y="2639863"/>
                </a:lnTo>
                <a:lnTo>
                  <a:pt x="0" y="2639863"/>
                </a:lnTo>
                <a:lnTo>
                  <a:pt x="0" y="0"/>
                </a:lnTo>
                <a:close/>
              </a:path>
            </a:pathLst>
          </a:custGeom>
          <a:solidFill>
            <a:srgbClr val="8B0000"/>
          </a:solidFill>
          <a:ln/>
        </p:spPr>
      </p:sp>
      <p:sp>
        <p:nvSpPr>
          <p:cNvPr id="16" name="Text 14"/>
          <p:cNvSpPr/>
          <p:nvPr/>
        </p:nvSpPr>
        <p:spPr>
          <a:xfrm>
            <a:off x="590496" y="3890325"/>
            <a:ext cx="5244991" cy="243145"/>
          </a:xfrm>
          <a:prstGeom prst="rect">
            <a:avLst/>
          </a:prstGeom>
          <a:noFill/>
          <a:ln/>
        </p:spPr>
        <p:txBody>
          <a:bodyPr wrap="square" lIns="0" tIns="0" rIns="0" bIns="0" rtlCol="0" anchor="ctr"/>
          <a:lstStyle/>
          <a:p>
            <a:pPr>
              <a:lnSpc>
                <a:spcPct val="120000"/>
              </a:lnSpc>
            </a:pPr>
            <a:r>
              <a:rPr lang="en-US" sz="1368" b="1" dirty="0">
                <a:solidFill>
                  <a:srgbClr val="1F2937"/>
                </a:solidFill>
                <a:latin typeface="Sorts Mill Goudy" pitchFamily="34" charset="0"/>
                <a:ea typeface="Sorts Mill Goudy" pitchFamily="34" charset="-122"/>
                <a:cs typeface="Sorts Mill Goudy" pitchFamily="34" charset="-120"/>
              </a:rPr>
              <a:t>What We Achieved</a:t>
            </a:r>
            <a:endParaRPr lang="en-US" sz="1600" dirty="0"/>
          </a:p>
        </p:txBody>
      </p:sp>
      <p:sp>
        <p:nvSpPr>
          <p:cNvPr id="17" name="Shape 15"/>
          <p:cNvSpPr/>
          <p:nvPr/>
        </p:nvSpPr>
        <p:spPr>
          <a:xfrm>
            <a:off x="594838" y="4276752"/>
            <a:ext cx="2500923" cy="842325"/>
          </a:xfrm>
          <a:custGeom>
            <a:avLst/>
            <a:gdLst/>
            <a:ahLst/>
            <a:cxnLst/>
            <a:rect l="l" t="t" r="r" b="b"/>
            <a:pathLst>
              <a:path w="2500923" h="842325">
                <a:moveTo>
                  <a:pt x="0" y="0"/>
                </a:moveTo>
                <a:lnTo>
                  <a:pt x="2500923" y="0"/>
                </a:lnTo>
                <a:lnTo>
                  <a:pt x="2500923" y="842325"/>
                </a:lnTo>
                <a:lnTo>
                  <a:pt x="0" y="842325"/>
                </a:lnTo>
                <a:lnTo>
                  <a:pt x="0" y="0"/>
                </a:lnTo>
                <a:close/>
              </a:path>
            </a:pathLst>
          </a:custGeom>
          <a:solidFill>
            <a:srgbClr val="FFFFFF"/>
          </a:solidFill>
          <a:ln w="12700">
            <a:solidFill>
              <a:srgbClr val="E5E7EB"/>
            </a:solidFill>
            <a:prstDash val="solid"/>
          </a:ln>
        </p:spPr>
      </p:sp>
      <p:sp>
        <p:nvSpPr>
          <p:cNvPr id="18" name="Text 16"/>
          <p:cNvSpPr/>
          <p:nvPr/>
        </p:nvSpPr>
        <p:spPr>
          <a:xfrm>
            <a:off x="672991" y="4420034"/>
            <a:ext cx="2344615" cy="312615"/>
          </a:xfrm>
          <a:prstGeom prst="rect">
            <a:avLst/>
          </a:prstGeom>
          <a:noFill/>
          <a:ln/>
        </p:spPr>
        <p:txBody>
          <a:bodyPr wrap="square" lIns="0" tIns="0" rIns="0" bIns="0" rtlCol="0" anchor="ctr"/>
          <a:lstStyle/>
          <a:p>
            <a:pPr algn="ctr">
              <a:lnSpc>
                <a:spcPct val="100000"/>
              </a:lnSpc>
            </a:pPr>
            <a:r>
              <a:rPr lang="en-US" sz="2051" b="1" dirty="0">
                <a:solidFill>
                  <a:srgbClr val="8B0000"/>
                </a:solidFill>
                <a:latin typeface="Sorts Mill Goudy" pitchFamily="34" charset="0"/>
                <a:ea typeface="Sorts Mill Goudy" pitchFamily="34" charset="-122"/>
                <a:cs typeface="Sorts Mill Goudy" pitchFamily="34" charset="-120"/>
              </a:rPr>
              <a:t>0.713</a:t>
            </a:r>
            <a:endParaRPr lang="en-US" sz="1600" dirty="0"/>
          </a:p>
        </p:txBody>
      </p:sp>
      <p:sp>
        <p:nvSpPr>
          <p:cNvPr id="19" name="Text 17"/>
          <p:cNvSpPr/>
          <p:nvPr/>
        </p:nvSpPr>
        <p:spPr>
          <a:xfrm>
            <a:off x="703385" y="4767385"/>
            <a:ext cx="2283829" cy="208410"/>
          </a:xfrm>
          <a:prstGeom prst="rect">
            <a:avLst/>
          </a:prstGeom>
          <a:noFill/>
          <a:ln/>
        </p:spPr>
        <p:txBody>
          <a:bodyPr wrap="square" lIns="0" tIns="0" rIns="0" bIns="0" rtlCol="0" anchor="ctr"/>
          <a:lstStyle/>
          <a:p>
            <a:pPr algn="ctr">
              <a:lnSpc>
                <a:spcPct val="130000"/>
              </a:lnSpc>
            </a:pPr>
            <a:r>
              <a:rPr lang="en-US" sz="1094" dirty="0">
                <a:solidFill>
                  <a:srgbClr val="6B7280"/>
                </a:solidFill>
                <a:latin typeface="Sorts Mill Goudy" pitchFamily="34" charset="0"/>
                <a:ea typeface="Sorts Mill Goudy" pitchFamily="34" charset="-122"/>
                <a:cs typeface="Sorts Mill Goudy" pitchFamily="34" charset="-120"/>
              </a:rPr>
              <a:t>SRL Micro F1</a:t>
            </a:r>
            <a:endParaRPr lang="en-US" sz="1600" dirty="0"/>
          </a:p>
        </p:txBody>
      </p:sp>
      <p:sp>
        <p:nvSpPr>
          <p:cNvPr id="20" name="Shape 18"/>
          <p:cNvSpPr/>
          <p:nvPr/>
        </p:nvSpPr>
        <p:spPr>
          <a:xfrm>
            <a:off x="3244334" y="4276752"/>
            <a:ext cx="2500923" cy="842325"/>
          </a:xfrm>
          <a:custGeom>
            <a:avLst/>
            <a:gdLst/>
            <a:ahLst/>
            <a:cxnLst/>
            <a:rect l="l" t="t" r="r" b="b"/>
            <a:pathLst>
              <a:path w="2500923" h="842325">
                <a:moveTo>
                  <a:pt x="0" y="0"/>
                </a:moveTo>
                <a:lnTo>
                  <a:pt x="2500923" y="0"/>
                </a:lnTo>
                <a:lnTo>
                  <a:pt x="2500923" y="842325"/>
                </a:lnTo>
                <a:lnTo>
                  <a:pt x="0" y="842325"/>
                </a:lnTo>
                <a:lnTo>
                  <a:pt x="0" y="0"/>
                </a:lnTo>
                <a:close/>
              </a:path>
            </a:pathLst>
          </a:custGeom>
          <a:solidFill>
            <a:srgbClr val="FFFFFF"/>
          </a:solidFill>
          <a:ln w="12700">
            <a:solidFill>
              <a:srgbClr val="E5E7EB"/>
            </a:solidFill>
            <a:prstDash val="solid"/>
          </a:ln>
        </p:spPr>
      </p:sp>
      <p:sp>
        <p:nvSpPr>
          <p:cNvPr id="21" name="Text 19"/>
          <p:cNvSpPr/>
          <p:nvPr/>
        </p:nvSpPr>
        <p:spPr>
          <a:xfrm>
            <a:off x="3322488" y="4420034"/>
            <a:ext cx="2344615" cy="312615"/>
          </a:xfrm>
          <a:prstGeom prst="rect">
            <a:avLst/>
          </a:prstGeom>
          <a:noFill/>
          <a:ln/>
        </p:spPr>
        <p:txBody>
          <a:bodyPr wrap="square" lIns="0" tIns="0" rIns="0" bIns="0" rtlCol="0" anchor="ctr"/>
          <a:lstStyle/>
          <a:p>
            <a:pPr algn="ctr">
              <a:lnSpc>
                <a:spcPct val="100000"/>
              </a:lnSpc>
            </a:pPr>
            <a:r>
              <a:rPr lang="en-US" sz="2051" b="1" dirty="0">
                <a:solidFill>
                  <a:srgbClr val="8B0000"/>
                </a:solidFill>
                <a:latin typeface="Sorts Mill Goudy" pitchFamily="34" charset="0"/>
                <a:ea typeface="Sorts Mill Goudy" pitchFamily="34" charset="-122"/>
                <a:cs typeface="Sorts Mill Goudy" pitchFamily="34" charset="-120"/>
              </a:rPr>
              <a:t>0.761</a:t>
            </a:r>
            <a:endParaRPr lang="en-US" sz="1600" dirty="0"/>
          </a:p>
        </p:txBody>
      </p:sp>
      <p:sp>
        <p:nvSpPr>
          <p:cNvPr id="22" name="Text 20"/>
          <p:cNvSpPr/>
          <p:nvPr/>
        </p:nvSpPr>
        <p:spPr>
          <a:xfrm>
            <a:off x="3352881" y="4767385"/>
            <a:ext cx="2283829" cy="208410"/>
          </a:xfrm>
          <a:prstGeom prst="rect">
            <a:avLst/>
          </a:prstGeom>
          <a:noFill/>
          <a:ln/>
        </p:spPr>
        <p:txBody>
          <a:bodyPr wrap="square" lIns="0" tIns="0" rIns="0" bIns="0" rtlCol="0" anchor="ctr"/>
          <a:lstStyle/>
          <a:p>
            <a:pPr algn="ctr">
              <a:lnSpc>
                <a:spcPct val="130000"/>
              </a:lnSpc>
            </a:pPr>
            <a:r>
              <a:rPr lang="en-US" sz="1094" dirty="0">
                <a:solidFill>
                  <a:srgbClr val="6B7280"/>
                </a:solidFill>
                <a:latin typeface="Sorts Mill Goudy" pitchFamily="34" charset="0"/>
                <a:ea typeface="Sorts Mill Goudy" pitchFamily="34" charset="-122"/>
                <a:cs typeface="Sorts Mill Goudy" pitchFamily="34" charset="-120"/>
              </a:rPr>
              <a:t>QA Token F1</a:t>
            </a:r>
            <a:endParaRPr lang="en-US" sz="1600" dirty="0"/>
          </a:p>
        </p:txBody>
      </p:sp>
      <p:sp>
        <p:nvSpPr>
          <p:cNvPr id="23" name="Shape 21"/>
          <p:cNvSpPr/>
          <p:nvPr/>
        </p:nvSpPr>
        <p:spPr>
          <a:xfrm>
            <a:off x="594838" y="5266701"/>
            <a:ext cx="2500923" cy="842325"/>
          </a:xfrm>
          <a:custGeom>
            <a:avLst/>
            <a:gdLst/>
            <a:ahLst/>
            <a:cxnLst/>
            <a:rect l="l" t="t" r="r" b="b"/>
            <a:pathLst>
              <a:path w="2500923" h="842325">
                <a:moveTo>
                  <a:pt x="0" y="0"/>
                </a:moveTo>
                <a:lnTo>
                  <a:pt x="2500923" y="0"/>
                </a:lnTo>
                <a:lnTo>
                  <a:pt x="2500923" y="842325"/>
                </a:lnTo>
                <a:lnTo>
                  <a:pt x="0" y="842325"/>
                </a:lnTo>
                <a:lnTo>
                  <a:pt x="0" y="0"/>
                </a:lnTo>
                <a:close/>
              </a:path>
            </a:pathLst>
          </a:custGeom>
          <a:solidFill>
            <a:srgbClr val="FFFFFF"/>
          </a:solidFill>
          <a:ln w="12700">
            <a:solidFill>
              <a:srgbClr val="E5E7EB"/>
            </a:solidFill>
            <a:prstDash val="solid"/>
          </a:ln>
        </p:spPr>
      </p:sp>
      <p:sp>
        <p:nvSpPr>
          <p:cNvPr id="24" name="Text 22"/>
          <p:cNvSpPr/>
          <p:nvPr/>
        </p:nvSpPr>
        <p:spPr>
          <a:xfrm>
            <a:off x="672991" y="5409983"/>
            <a:ext cx="2344615" cy="312615"/>
          </a:xfrm>
          <a:prstGeom prst="rect">
            <a:avLst/>
          </a:prstGeom>
          <a:noFill/>
          <a:ln/>
        </p:spPr>
        <p:txBody>
          <a:bodyPr wrap="square" lIns="0" tIns="0" rIns="0" bIns="0" rtlCol="0" anchor="ctr"/>
          <a:lstStyle/>
          <a:p>
            <a:pPr algn="ctr">
              <a:lnSpc>
                <a:spcPct val="100000"/>
              </a:lnSpc>
            </a:pPr>
            <a:r>
              <a:rPr lang="en-US" sz="2051" b="1" dirty="0">
                <a:solidFill>
                  <a:srgbClr val="8B0000"/>
                </a:solidFill>
                <a:latin typeface="Sorts Mill Goudy" pitchFamily="34" charset="0"/>
                <a:ea typeface="Sorts Mill Goudy" pitchFamily="34" charset="-122"/>
                <a:cs typeface="Sorts Mill Goudy" pitchFamily="34" charset="-120"/>
              </a:rPr>
              <a:t>23K</a:t>
            </a:r>
            <a:endParaRPr lang="en-US" sz="1600" dirty="0"/>
          </a:p>
        </p:txBody>
      </p:sp>
      <p:sp>
        <p:nvSpPr>
          <p:cNvPr id="25" name="Text 23"/>
          <p:cNvSpPr/>
          <p:nvPr/>
        </p:nvSpPr>
        <p:spPr>
          <a:xfrm>
            <a:off x="703385" y="5757333"/>
            <a:ext cx="2283829" cy="208410"/>
          </a:xfrm>
          <a:prstGeom prst="rect">
            <a:avLst/>
          </a:prstGeom>
          <a:noFill/>
          <a:ln/>
        </p:spPr>
        <p:txBody>
          <a:bodyPr wrap="square" lIns="0" tIns="0" rIns="0" bIns="0" rtlCol="0" anchor="ctr"/>
          <a:lstStyle/>
          <a:p>
            <a:pPr algn="ctr">
              <a:lnSpc>
                <a:spcPct val="130000"/>
              </a:lnSpc>
            </a:pPr>
            <a:r>
              <a:rPr lang="en-US" sz="1094" dirty="0">
                <a:solidFill>
                  <a:srgbClr val="6B7280"/>
                </a:solidFill>
                <a:latin typeface="Sorts Mill Goudy" pitchFamily="34" charset="0"/>
                <a:ea typeface="Sorts Mill Goudy" pitchFamily="34" charset="-122"/>
                <a:cs typeface="Sorts Mill Goudy" pitchFamily="34" charset="-120"/>
              </a:rPr>
              <a:t>QA Pairs</a:t>
            </a:r>
            <a:endParaRPr lang="en-US" sz="1600" dirty="0"/>
          </a:p>
        </p:txBody>
      </p:sp>
      <p:sp>
        <p:nvSpPr>
          <p:cNvPr id="26" name="Shape 24"/>
          <p:cNvSpPr/>
          <p:nvPr/>
        </p:nvSpPr>
        <p:spPr>
          <a:xfrm>
            <a:off x="3244334" y="5266701"/>
            <a:ext cx="2500923" cy="842325"/>
          </a:xfrm>
          <a:custGeom>
            <a:avLst/>
            <a:gdLst/>
            <a:ahLst/>
            <a:cxnLst/>
            <a:rect l="l" t="t" r="r" b="b"/>
            <a:pathLst>
              <a:path w="2500923" h="842325">
                <a:moveTo>
                  <a:pt x="0" y="0"/>
                </a:moveTo>
                <a:lnTo>
                  <a:pt x="2500923" y="0"/>
                </a:lnTo>
                <a:lnTo>
                  <a:pt x="2500923" y="842325"/>
                </a:lnTo>
                <a:lnTo>
                  <a:pt x="0" y="842325"/>
                </a:lnTo>
                <a:lnTo>
                  <a:pt x="0" y="0"/>
                </a:lnTo>
                <a:close/>
              </a:path>
            </a:pathLst>
          </a:custGeom>
          <a:solidFill>
            <a:srgbClr val="FFFFFF"/>
          </a:solidFill>
          <a:ln w="12700">
            <a:solidFill>
              <a:srgbClr val="E5E7EB"/>
            </a:solidFill>
            <a:prstDash val="solid"/>
          </a:ln>
        </p:spPr>
      </p:sp>
      <p:sp>
        <p:nvSpPr>
          <p:cNvPr id="27" name="Text 25"/>
          <p:cNvSpPr/>
          <p:nvPr/>
        </p:nvSpPr>
        <p:spPr>
          <a:xfrm>
            <a:off x="3322488" y="5409983"/>
            <a:ext cx="2344615" cy="312615"/>
          </a:xfrm>
          <a:prstGeom prst="rect">
            <a:avLst/>
          </a:prstGeom>
          <a:noFill/>
          <a:ln/>
        </p:spPr>
        <p:txBody>
          <a:bodyPr wrap="square" lIns="0" tIns="0" rIns="0" bIns="0" rtlCol="0" anchor="ctr"/>
          <a:lstStyle/>
          <a:p>
            <a:pPr algn="ctr">
              <a:lnSpc>
                <a:spcPct val="100000"/>
              </a:lnSpc>
            </a:pPr>
            <a:r>
              <a:rPr lang="en-US" sz="2051" b="1" dirty="0">
                <a:solidFill>
                  <a:srgbClr val="8B0000"/>
                </a:solidFill>
                <a:latin typeface="Sorts Mill Goudy" pitchFamily="34" charset="0"/>
                <a:ea typeface="Sorts Mill Goudy" pitchFamily="34" charset="-122"/>
                <a:cs typeface="Sorts Mill Goudy" pitchFamily="34" charset="-120"/>
              </a:rPr>
              <a:t>1.78M</a:t>
            </a:r>
            <a:endParaRPr lang="en-US" sz="1600" dirty="0"/>
          </a:p>
        </p:txBody>
      </p:sp>
      <p:sp>
        <p:nvSpPr>
          <p:cNvPr id="28" name="Text 26"/>
          <p:cNvSpPr/>
          <p:nvPr/>
        </p:nvSpPr>
        <p:spPr>
          <a:xfrm>
            <a:off x="3352881" y="5757333"/>
            <a:ext cx="2283829" cy="208410"/>
          </a:xfrm>
          <a:prstGeom prst="rect">
            <a:avLst/>
          </a:prstGeom>
          <a:noFill/>
          <a:ln/>
        </p:spPr>
        <p:txBody>
          <a:bodyPr wrap="square" lIns="0" tIns="0" rIns="0" bIns="0" rtlCol="0" anchor="ctr"/>
          <a:lstStyle/>
          <a:p>
            <a:pPr algn="ctr">
              <a:lnSpc>
                <a:spcPct val="130000"/>
              </a:lnSpc>
            </a:pPr>
            <a:r>
              <a:rPr lang="en-US" sz="1094" dirty="0">
                <a:solidFill>
                  <a:srgbClr val="6B7280"/>
                </a:solidFill>
                <a:latin typeface="Sorts Mill Goudy" pitchFamily="34" charset="0"/>
                <a:ea typeface="Sorts Mill Goudy" pitchFamily="34" charset="-122"/>
                <a:cs typeface="Sorts Mill Goudy" pitchFamily="34" charset="-120"/>
              </a:rPr>
              <a:t>Parameters</a:t>
            </a:r>
            <a:endParaRPr lang="en-US" sz="1600" dirty="0"/>
          </a:p>
        </p:txBody>
      </p:sp>
      <p:sp>
        <p:nvSpPr>
          <p:cNvPr id="29" name="Shape 27"/>
          <p:cNvSpPr/>
          <p:nvPr/>
        </p:nvSpPr>
        <p:spPr>
          <a:xfrm>
            <a:off x="6236840" y="1146256"/>
            <a:ext cx="5609709" cy="3629812"/>
          </a:xfrm>
          <a:custGeom>
            <a:avLst/>
            <a:gdLst/>
            <a:ahLst/>
            <a:cxnLst/>
            <a:rect l="l" t="t" r="r" b="b"/>
            <a:pathLst>
              <a:path w="5609709" h="3629812">
                <a:moveTo>
                  <a:pt x="0" y="0"/>
                </a:moveTo>
                <a:lnTo>
                  <a:pt x="5609709" y="0"/>
                </a:lnTo>
                <a:lnTo>
                  <a:pt x="5609709" y="3629812"/>
                </a:lnTo>
                <a:lnTo>
                  <a:pt x="0" y="3629812"/>
                </a:lnTo>
                <a:lnTo>
                  <a:pt x="0" y="0"/>
                </a:lnTo>
                <a:close/>
              </a:path>
            </a:pathLst>
          </a:custGeom>
          <a:solidFill>
            <a:srgbClr val="F9FAFB"/>
          </a:solidFill>
          <a:ln/>
        </p:spPr>
      </p:sp>
      <p:sp>
        <p:nvSpPr>
          <p:cNvPr id="30" name="Text 28"/>
          <p:cNvSpPr/>
          <p:nvPr/>
        </p:nvSpPr>
        <p:spPr>
          <a:xfrm>
            <a:off x="6445250" y="1354667"/>
            <a:ext cx="5279726" cy="243145"/>
          </a:xfrm>
          <a:prstGeom prst="rect">
            <a:avLst/>
          </a:prstGeom>
          <a:noFill/>
          <a:ln/>
        </p:spPr>
        <p:txBody>
          <a:bodyPr wrap="square" lIns="0" tIns="0" rIns="0" bIns="0" rtlCol="0" anchor="ctr"/>
          <a:lstStyle/>
          <a:p>
            <a:pPr>
              <a:lnSpc>
                <a:spcPct val="120000"/>
              </a:lnSpc>
            </a:pPr>
            <a:r>
              <a:rPr lang="en-US" sz="1368" b="1" dirty="0">
                <a:solidFill>
                  <a:srgbClr val="1F2937"/>
                </a:solidFill>
                <a:latin typeface="Sorts Mill Goudy" pitchFamily="34" charset="0"/>
                <a:ea typeface="Sorts Mill Goudy" pitchFamily="34" charset="-122"/>
                <a:cs typeface="Sorts Mill Goudy" pitchFamily="34" charset="-120"/>
              </a:rPr>
              <a:t>What We Established</a:t>
            </a:r>
            <a:endParaRPr lang="en-US" sz="1600" dirty="0"/>
          </a:p>
        </p:txBody>
      </p:sp>
      <p:sp>
        <p:nvSpPr>
          <p:cNvPr id="31" name="Shape 29"/>
          <p:cNvSpPr/>
          <p:nvPr/>
        </p:nvSpPr>
        <p:spPr>
          <a:xfrm>
            <a:off x="6449592" y="1741094"/>
            <a:ext cx="5184205" cy="772855"/>
          </a:xfrm>
          <a:custGeom>
            <a:avLst/>
            <a:gdLst/>
            <a:ahLst/>
            <a:cxnLst/>
            <a:rect l="l" t="t" r="r" b="b"/>
            <a:pathLst>
              <a:path w="5184205" h="772855">
                <a:moveTo>
                  <a:pt x="0" y="0"/>
                </a:moveTo>
                <a:lnTo>
                  <a:pt x="5184205" y="0"/>
                </a:lnTo>
                <a:lnTo>
                  <a:pt x="5184205" y="772855"/>
                </a:lnTo>
                <a:lnTo>
                  <a:pt x="0" y="772855"/>
                </a:lnTo>
                <a:lnTo>
                  <a:pt x="0" y="0"/>
                </a:lnTo>
                <a:close/>
              </a:path>
            </a:pathLst>
          </a:custGeom>
          <a:solidFill>
            <a:srgbClr val="FFFFFF"/>
          </a:solidFill>
          <a:ln w="12700">
            <a:solidFill>
              <a:srgbClr val="E5E7EB"/>
            </a:solidFill>
            <a:prstDash val="solid"/>
          </a:ln>
        </p:spPr>
      </p:sp>
      <p:sp>
        <p:nvSpPr>
          <p:cNvPr id="32" name="Shape 30"/>
          <p:cNvSpPr/>
          <p:nvPr/>
        </p:nvSpPr>
        <p:spPr>
          <a:xfrm>
            <a:off x="6592874" y="1901744"/>
            <a:ext cx="217094" cy="173675"/>
          </a:xfrm>
          <a:custGeom>
            <a:avLst/>
            <a:gdLst/>
            <a:ahLst/>
            <a:cxnLst/>
            <a:rect l="l" t="t" r="r" b="b"/>
            <a:pathLst>
              <a:path w="217094" h="173675">
                <a:moveTo>
                  <a:pt x="130256" y="10855"/>
                </a:moveTo>
                <a:lnTo>
                  <a:pt x="173675" y="10855"/>
                </a:lnTo>
                <a:cubicBezTo>
                  <a:pt x="179679" y="10855"/>
                  <a:pt x="184530" y="15705"/>
                  <a:pt x="184530" y="21709"/>
                </a:cubicBezTo>
                <a:cubicBezTo>
                  <a:pt x="184530" y="27713"/>
                  <a:pt x="179679" y="32564"/>
                  <a:pt x="173675" y="32564"/>
                </a:cubicBezTo>
                <a:lnTo>
                  <a:pt x="135141" y="32564"/>
                </a:lnTo>
                <a:cubicBezTo>
                  <a:pt x="133377" y="41316"/>
                  <a:pt x="127373" y="48541"/>
                  <a:pt x="119402" y="52001"/>
                </a:cubicBezTo>
                <a:lnTo>
                  <a:pt x="119402" y="151966"/>
                </a:lnTo>
                <a:lnTo>
                  <a:pt x="173675" y="151966"/>
                </a:lnTo>
                <a:cubicBezTo>
                  <a:pt x="179679" y="151966"/>
                  <a:pt x="184530" y="156817"/>
                  <a:pt x="184530" y="162821"/>
                </a:cubicBezTo>
                <a:cubicBezTo>
                  <a:pt x="184530" y="168825"/>
                  <a:pt x="179679" y="173675"/>
                  <a:pt x="173675" y="173675"/>
                </a:cubicBezTo>
                <a:lnTo>
                  <a:pt x="43419" y="173675"/>
                </a:lnTo>
                <a:cubicBezTo>
                  <a:pt x="37415" y="173675"/>
                  <a:pt x="32564" y="168825"/>
                  <a:pt x="32564" y="162821"/>
                </a:cubicBezTo>
                <a:cubicBezTo>
                  <a:pt x="32564" y="156817"/>
                  <a:pt x="37415" y="151966"/>
                  <a:pt x="43419" y="151966"/>
                </a:cubicBezTo>
                <a:lnTo>
                  <a:pt x="97692" y="151966"/>
                </a:lnTo>
                <a:lnTo>
                  <a:pt x="97692" y="52001"/>
                </a:lnTo>
                <a:cubicBezTo>
                  <a:pt x="89721" y="48507"/>
                  <a:pt x="83717" y="41282"/>
                  <a:pt x="81953" y="32564"/>
                </a:cubicBezTo>
                <a:lnTo>
                  <a:pt x="43419" y="32564"/>
                </a:lnTo>
                <a:cubicBezTo>
                  <a:pt x="37415" y="32564"/>
                  <a:pt x="32564" y="27713"/>
                  <a:pt x="32564" y="21709"/>
                </a:cubicBezTo>
                <a:cubicBezTo>
                  <a:pt x="32564" y="15705"/>
                  <a:pt x="37415" y="10855"/>
                  <a:pt x="43419" y="10855"/>
                </a:cubicBezTo>
                <a:lnTo>
                  <a:pt x="86838" y="10855"/>
                </a:lnTo>
                <a:cubicBezTo>
                  <a:pt x="91790" y="4274"/>
                  <a:pt x="99660" y="0"/>
                  <a:pt x="108547" y="0"/>
                </a:cubicBezTo>
                <a:cubicBezTo>
                  <a:pt x="117434" y="0"/>
                  <a:pt x="125304" y="4274"/>
                  <a:pt x="130256" y="10855"/>
                </a:cubicBezTo>
                <a:close/>
                <a:moveTo>
                  <a:pt x="149116" y="108547"/>
                </a:moveTo>
                <a:lnTo>
                  <a:pt x="198234" y="108547"/>
                </a:lnTo>
                <a:lnTo>
                  <a:pt x="173675" y="66417"/>
                </a:lnTo>
                <a:lnTo>
                  <a:pt x="149116" y="108547"/>
                </a:lnTo>
                <a:close/>
                <a:moveTo>
                  <a:pt x="173675" y="141111"/>
                </a:moveTo>
                <a:cubicBezTo>
                  <a:pt x="152339" y="141111"/>
                  <a:pt x="134598" y="129578"/>
                  <a:pt x="130935" y="114347"/>
                </a:cubicBezTo>
                <a:cubicBezTo>
                  <a:pt x="130053" y="110616"/>
                  <a:pt x="131274" y="106783"/>
                  <a:pt x="133208" y="103459"/>
                </a:cubicBezTo>
                <a:lnTo>
                  <a:pt x="165500" y="48100"/>
                </a:lnTo>
                <a:cubicBezTo>
                  <a:pt x="167196" y="45183"/>
                  <a:pt x="170317" y="43419"/>
                  <a:pt x="173675" y="43419"/>
                </a:cubicBezTo>
                <a:cubicBezTo>
                  <a:pt x="177033" y="43419"/>
                  <a:pt x="180154" y="45217"/>
                  <a:pt x="181850" y="48100"/>
                </a:cubicBezTo>
                <a:lnTo>
                  <a:pt x="214143" y="103459"/>
                </a:lnTo>
                <a:cubicBezTo>
                  <a:pt x="216076" y="106783"/>
                  <a:pt x="217298" y="110616"/>
                  <a:pt x="216416" y="114347"/>
                </a:cubicBezTo>
                <a:cubicBezTo>
                  <a:pt x="212752" y="129544"/>
                  <a:pt x="195011" y="141111"/>
                  <a:pt x="173675" y="141111"/>
                </a:cubicBezTo>
                <a:close/>
                <a:moveTo>
                  <a:pt x="43012" y="66417"/>
                </a:moveTo>
                <a:lnTo>
                  <a:pt x="18453" y="108547"/>
                </a:lnTo>
                <a:lnTo>
                  <a:pt x="67604" y="108547"/>
                </a:lnTo>
                <a:lnTo>
                  <a:pt x="43012" y="66417"/>
                </a:lnTo>
                <a:close/>
                <a:moveTo>
                  <a:pt x="305" y="114347"/>
                </a:moveTo>
                <a:cubicBezTo>
                  <a:pt x="-577" y="110616"/>
                  <a:pt x="644" y="106783"/>
                  <a:pt x="2578" y="103459"/>
                </a:cubicBezTo>
                <a:lnTo>
                  <a:pt x="34871" y="48100"/>
                </a:lnTo>
                <a:cubicBezTo>
                  <a:pt x="36567" y="45183"/>
                  <a:pt x="39688" y="43419"/>
                  <a:pt x="43046" y="43419"/>
                </a:cubicBezTo>
                <a:cubicBezTo>
                  <a:pt x="46404" y="43419"/>
                  <a:pt x="49525" y="45217"/>
                  <a:pt x="51221" y="48100"/>
                </a:cubicBezTo>
                <a:lnTo>
                  <a:pt x="83513" y="103459"/>
                </a:lnTo>
                <a:cubicBezTo>
                  <a:pt x="85447" y="106783"/>
                  <a:pt x="86668" y="110616"/>
                  <a:pt x="85786" y="114347"/>
                </a:cubicBezTo>
                <a:cubicBezTo>
                  <a:pt x="82123" y="129544"/>
                  <a:pt x="64382" y="141111"/>
                  <a:pt x="43046" y="141111"/>
                </a:cubicBezTo>
                <a:cubicBezTo>
                  <a:pt x="21709" y="141111"/>
                  <a:pt x="3969" y="129578"/>
                  <a:pt x="305" y="114347"/>
                </a:cubicBezTo>
                <a:close/>
              </a:path>
            </a:pathLst>
          </a:custGeom>
          <a:solidFill>
            <a:srgbClr val="8B0000"/>
          </a:solidFill>
          <a:ln/>
        </p:spPr>
      </p:sp>
      <p:sp>
        <p:nvSpPr>
          <p:cNvPr id="33" name="Text 31"/>
          <p:cNvSpPr/>
          <p:nvPr/>
        </p:nvSpPr>
        <p:spPr>
          <a:xfrm>
            <a:off x="6914173" y="1884376"/>
            <a:ext cx="1120205" cy="208410"/>
          </a:xfrm>
          <a:prstGeom prst="rect">
            <a:avLst/>
          </a:prstGeom>
          <a:noFill/>
          <a:ln/>
        </p:spPr>
        <p:txBody>
          <a:bodyPr wrap="square" lIns="0" tIns="0" rIns="0" bIns="0" rtlCol="0" anchor="ctr"/>
          <a:lstStyle/>
          <a:p>
            <a:pPr>
              <a:lnSpc>
                <a:spcPct val="130000"/>
              </a:lnSpc>
            </a:pPr>
            <a:r>
              <a:rPr lang="en-US" sz="1094" b="1" dirty="0">
                <a:solidFill>
                  <a:srgbClr val="1F2937"/>
                </a:solidFill>
                <a:latin typeface="Sorts Mill Goudy" pitchFamily="34" charset="0"/>
                <a:ea typeface="Sorts Mill Goudy" pitchFamily="34" charset="-122"/>
                <a:cs typeface="Sorts Mill Goudy" pitchFamily="34" charset="-120"/>
              </a:rPr>
              <a:t>Classical Baseline</a:t>
            </a:r>
            <a:endParaRPr lang="en-US" sz="1600" dirty="0"/>
          </a:p>
        </p:txBody>
      </p:sp>
      <p:sp>
        <p:nvSpPr>
          <p:cNvPr id="34" name="Text 32"/>
          <p:cNvSpPr/>
          <p:nvPr/>
        </p:nvSpPr>
        <p:spPr>
          <a:xfrm>
            <a:off x="6592874" y="2162256"/>
            <a:ext cx="4967111" cy="208410"/>
          </a:xfrm>
          <a:prstGeom prst="rect">
            <a:avLst/>
          </a:prstGeom>
          <a:noFill/>
          <a:ln/>
        </p:spPr>
        <p:txBody>
          <a:bodyPr wrap="square" lIns="0" tIns="0" rIns="0" bIns="0" rtlCol="0" anchor="ctr"/>
          <a:lstStyle/>
          <a:p>
            <a:pPr>
              <a:lnSpc>
                <a:spcPct val="130000"/>
              </a:lnSpc>
            </a:pPr>
            <a:r>
              <a:rPr lang="en-US" sz="1094" dirty="0">
                <a:solidFill>
                  <a:srgbClr val="6B7280"/>
                </a:solidFill>
                <a:latin typeface="Sorts Mill Goudy" pitchFamily="34" charset="0"/>
                <a:ea typeface="Sorts Mill Goudy" pitchFamily="34" charset="-122"/>
                <a:cs typeface="Sorts Mill Goudy" pitchFamily="34" charset="-120"/>
              </a:rPr>
              <a:t>Fully reproducible, inspectable, and extensible—suitable for teaching and research</a:t>
            </a:r>
            <a:endParaRPr lang="en-US" sz="1600" dirty="0"/>
          </a:p>
        </p:txBody>
      </p:sp>
      <p:sp>
        <p:nvSpPr>
          <p:cNvPr id="35" name="Shape 33"/>
          <p:cNvSpPr/>
          <p:nvPr/>
        </p:nvSpPr>
        <p:spPr>
          <a:xfrm>
            <a:off x="6449592" y="2661573"/>
            <a:ext cx="5184205" cy="981265"/>
          </a:xfrm>
          <a:custGeom>
            <a:avLst/>
            <a:gdLst/>
            <a:ahLst/>
            <a:cxnLst/>
            <a:rect l="l" t="t" r="r" b="b"/>
            <a:pathLst>
              <a:path w="5184205" h="981265">
                <a:moveTo>
                  <a:pt x="0" y="0"/>
                </a:moveTo>
                <a:lnTo>
                  <a:pt x="5184205" y="0"/>
                </a:lnTo>
                <a:lnTo>
                  <a:pt x="5184205" y="981265"/>
                </a:lnTo>
                <a:lnTo>
                  <a:pt x="0" y="981265"/>
                </a:lnTo>
                <a:lnTo>
                  <a:pt x="0" y="0"/>
                </a:lnTo>
                <a:close/>
              </a:path>
            </a:pathLst>
          </a:custGeom>
          <a:solidFill>
            <a:srgbClr val="FFFFFF"/>
          </a:solidFill>
          <a:ln w="12700">
            <a:solidFill>
              <a:srgbClr val="E5E7EB"/>
            </a:solidFill>
            <a:prstDash val="solid"/>
          </a:ln>
        </p:spPr>
      </p:sp>
      <p:sp>
        <p:nvSpPr>
          <p:cNvPr id="36" name="Shape 34"/>
          <p:cNvSpPr/>
          <p:nvPr/>
        </p:nvSpPr>
        <p:spPr>
          <a:xfrm>
            <a:off x="6614583" y="2822222"/>
            <a:ext cx="173675" cy="173675"/>
          </a:xfrm>
          <a:custGeom>
            <a:avLst/>
            <a:gdLst/>
            <a:ahLst/>
            <a:cxnLst/>
            <a:rect l="l" t="t" r="r" b="b"/>
            <a:pathLst>
              <a:path w="173675" h="173675">
                <a:moveTo>
                  <a:pt x="173675" y="32564"/>
                </a:moveTo>
                <a:cubicBezTo>
                  <a:pt x="173675" y="49592"/>
                  <a:pt x="153628" y="74999"/>
                  <a:pt x="144978" y="85142"/>
                </a:cubicBezTo>
                <a:cubicBezTo>
                  <a:pt x="143689" y="86634"/>
                  <a:pt x="141790" y="87211"/>
                  <a:pt x="140060" y="86838"/>
                </a:cubicBezTo>
                <a:lnTo>
                  <a:pt x="108547" y="86838"/>
                </a:lnTo>
                <a:cubicBezTo>
                  <a:pt x="102543" y="86838"/>
                  <a:pt x="97692" y="91688"/>
                  <a:pt x="97692" y="97692"/>
                </a:cubicBezTo>
                <a:cubicBezTo>
                  <a:pt x="97692" y="103696"/>
                  <a:pt x="102543" y="108547"/>
                  <a:pt x="108547" y="108547"/>
                </a:cubicBezTo>
                <a:lnTo>
                  <a:pt x="141111" y="108547"/>
                </a:lnTo>
                <a:cubicBezTo>
                  <a:pt x="159089" y="108547"/>
                  <a:pt x="173675" y="123133"/>
                  <a:pt x="173675" y="141111"/>
                </a:cubicBezTo>
                <a:cubicBezTo>
                  <a:pt x="173675" y="159089"/>
                  <a:pt x="159089" y="173675"/>
                  <a:pt x="141111" y="173675"/>
                </a:cubicBezTo>
                <a:lnTo>
                  <a:pt x="47354" y="173675"/>
                </a:lnTo>
                <a:cubicBezTo>
                  <a:pt x="50305" y="170317"/>
                  <a:pt x="53900" y="166009"/>
                  <a:pt x="57530" y="161192"/>
                </a:cubicBezTo>
                <a:cubicBezTo>
                  <a:pt x="59667" y="158343"/>
                  <a:pt x="61872" y="155222"/>
                  <a:pt x="63975" y="151966"/>
                </a:cubicBezTo>
                <a:lnTo>
                  <a:pt x="141111" y="151966"/>
                </a:lnTo>
                <a:cubicBezTo>
                  <a:pt x="147115" y="151966"/>
                  <a:pt x="151966" y="147115"/>
                  <a:pt x="151966" y="141111"/>
                </a:cubicBezTo>
                <a:cubicBezTo>
                  <a:pt x="151966" y="135107"/>
                  <a:pt x="147115" y="130256"/>
                  <a:pt x="141111" y="130256"/>
                </a:cubicBezTo>
                <a:lnTo>
                  <a:pt x="108547" y="130256"/>
                </a:lnTo>
                <a:cubicBezTo>
                  <a:pt x="90569" y="130256"/>
                  <a:pt x="75983" y="115670"/>
                  <a:pt x="75983" y="97692"/>
                </a:cubicBezTo>
                <a:cubicBezTo>
                  <a:pt x="75983" y="79714"/>
                  <a:pt x="90569" y="65128"/>
                  <a:pt x="108547" y="65128"/>
                </a:cubicBezTo>
                <a:lnTo>
                  <a:pt x="122048" y="65128"/>
                </a:lnTo>
                <a:cubicBezTo>
                  <a:pt x="114924" y="54443"/>
                  <a:pt x="108547" y="42164"/>
                  <a:pt x="108547" y="32564"/>
                </a:cubicBezTo>
                <a:cubicBezTo>
                  <a:pt x="108547" y="14586"/>
                  <a:pt x="123133" y="0"/>
                  <a:pt x="141111" y="0"/>
                </a:cubicBezTo>
                <a:cubicBezTo>
                  <a:pt x="159089" y="0"/>
                  <a:pt x="173675" y="14586"/>
                  <a:pt x="173675" y="32564"/>
                </a:cubicBezTo>
                <a:close/>
                <a:moveTo>
                  <a:pt x="39721" y="165907"/>
                </a:moveTo>
                <a:cubicBezTo>
                  <a:pt x="38432" y="167366"/>
                  <a:pt x="37279" y="168655"/>
                  <a:pt x="36295" y="169740"/>
                </a:cubicBezTo>
                <a:lnTo>
                  <a:pt x="35685" y="170419"/>
                </a:lnTo>
                <a:lnTo>
                  <a:pt x="35617" y="170351"/>
                </a:lnTo>
                <a:cubicBezTo>
                  <a:pt x="33582" y="171911"/>
                  <a:pt x="30665" y="171708"/>
                  <a:pt x="28833" y="169740"/>
                </a:cubicBezTo>
                <a:cubicBezTo>
                  <a:pt x="20285" y="160446"/>
                  <a:pt x="0" y="136532"/>
                  <a:pt x="0" y="119402"/>
                </a:cubicBezTo>
                <a:cubicBezTo>
                  <a:pt x="0" y="101424"/>
                  <a:pt x="14586" y="86838"/>
                  <a:pt x="32564" y="86838"/>
                </a:cubicBezTo>
                <a:cubicBezTo>
                  <a:pt x="50542" y="86838"/>
                  <a:pt x="65128" y="101424"/>
                  <a:pt x="65128" y="119402"/>
                </a:cubicBezTo>
                <a:cubicBezTo>
                  <a:pt x="65128" y="129578"/>
                  <a:pt x="57971" y="142129"/>
                  <a:pt x="50373" y="152610"/>
                </a:cubicBezTo>
                <a:cubicBezTo>
                  <a:pt x="46743" y="157597"/>
                  <a:pt x="43012" y="162108"/>
                  <a:pt x="39925" y="165670"/>
                </a:cubicBezTo>
                <a:lnTo>
                  <a:pt x="39721" y="165907"/>
                </a:lnTo>
                <a:close/>
                <a:moveTo>
                  <a:pt x="43419" y="119402"/>
                </a:moveTo>
                <a:cubicBezTo>
                  <a:pt x="43419" y="113411"/>
                  <a:pt x="38555" y="108547"/>
                  <a:pt x="32564" y="108547"/>
                </a:cubicBezTo>
                <a:cubicBezTo>
                  <a:pt x="26573" y="108547"/>
                  <a:pt x="21709" y="113411"/>
                  <a:pt x="21709" y="119402"/>
                </a:cubicBezTo>
                <a:cubicBezTo>
                  <a:pt x="21709" y="125393"/>
                  <a:pt x="26573" y="130256"/>
                  <a:pt x="32564" y="130256"/>
                </a:cubicBezTo>
                <a:cubicBezTo>
                  <a:pt x="38555" y="130256"/>
                  <a:pt x="43419" y="125393"/>
                  <a:pt x="43419" y="119402"/>
                </a:cubicBezTo>
                <a:close/>
                <a:moveTo>
                  <a:pt x="141111" y="43419"/>
                </a:moveTo>
                <a:cubicBezTo>
                  <a:pt x="147102" y="43419"/>
                  <a:pt x="151966" y="38555"/>
                  <a:pt x="151966" y="32564"/>
                </a:cubicBezTo>
                <a:cubicBezTo>
                  <a:pt x="151966" y="26573"/>
                  <a:pt x="147102" y="21709"/>
                  <a:pt x="141111" y="21709"/>
                </a:cubicBezTo>
                <a:cubicBezTo>
                  <a:pt x="135120" y="21709"/>
                  <a:pt x="130256" y="26573"/>
                  <a:pt x="130256" y="32564"/>
                </a:cubicBezTo>
                <a:cubicBezTo>
                  <a:pt x="130256" y="38555"/>
                  <a:pt x="135120" y="43419"/>
                  <a:pt x="141111" y="43419"/>
                </a:cubicBezTo>
                <a:close/>
              </a:path>
            </a:pathLst>
          </a:custGeom>
          <a:solidFill>
            <a:srgbClr val="8B0000"/>
          </a:solidFill>
          <a:ln/>
        </p:spPr>
      </p:sp>
      <p:sp>
        <p:nvSpPr>
          <p:cNvPr id="37" name="Text 35"/>
          <p:cNvSpPr/>
          <p:nvPr/>
        </p:nvSpPr>
        <p:spPr>
          <a:xfrm>
            <a:off x="6914173" y="2804855"/>
            <a:ext cx="1302564" cy="208410"/>
          </a:xfrm>
          <a:prstGeom prst="rect">
            <a:avLst/>
          </a:prstGeom>
          <a:noFill/>
          <a:ln/>
        </p:spPr>
        <p:txBody>
          <a:bodyPr wrap="square" lIns="0" tIns="0" rIns="0" bIns="0" rtlCol="0" anchor="ctr"/>
          <a:lstStyle/>
          <a:p>
            <a:pPr>
              <a:lnSpc>
                <a:spcPct val="130000"/>
              </a:lnSpc>
            </a:pPr>
            <a:r>
              <a:rPr lang="en-US" sz="1094" b="1" dirty="0">
                <a:solidFill>
                  <a:srgbClr val="1F2937"/>
                </a:solidFill>
                <a:latin typeface="Sorts Mill Goudy" pitchFamily="34" charset="0"/>
                <a:ea typeface="Sorts Mill Goudy" pitchFamily="34" charset="-122"/>
                <a:cs typeface="Sorts Mill Goudy" pitchFamily="34" charset="-120"/>
              </a:rPr>
              <a:t>Clear Upgrade Paths</a:t>
            </a:r>
            <a:endParaRPr lang="en-US" sz="1600" dirty="0"/>
          </a:p>
        </p:txBody>
      </p:sp>
      <p:sp>
        <p:nvSpPr>
          <p:cNvPr id="38" name="Text 36"/>
          <p:cNvSpPr/>
          <p:nvPr/>
        </p:nvSpPr>
        <p:spPr>
          <a:xfrm>
            <a:off x="6592874" y="3082735"/>
            <a:ext cx="4967111" cy="416821"/>
          </a:xfrm>
          <a:prstGeom prst="rect">
            <a:avLst/>
          </a:prstGeom>
          <a:noFill/>
          <a:ln/>
        </p:spPr>
        <p:txBody>
          <a:bodyPr wrap="square" lIns="0" tIns="0" rIns="0" bIns="0" rtlCol="0" anchor="ctr"/>
          <a:lstStyle/>
          <a:p>
            <a:pPr>
              <a:lnSpc>
                <a:spcPct val="130000"/>
              </a:lnSpc>
            </a:pPr>
            <a:r>
              <a:rPr lang="en-US" sz="1094" dirty="0">
                <a:solidFill>
                  <a:srgbClr val="6B7280"/>
                </a:solidFill>
                <a:latin typeface="Sorts Mill Goudy" pitchFamily="34" charset="0"/>
                <a:ea typeface="Sorts Mill Goudy" pitchFamily="34" charset="-122"/>
                <a:cs typeface="Sorts Mill Goudy" pitchFamily="34" charset="-120"/>
              </a:rPr>
              <a:t>Frame-aware disambiguation, semantic chaining, multi-predicate composition, hybrid LLM</a:t>
            </a:r>
            <a:endParaRPr lang="en-US" sz="1600" dirty="0"/>
          </a:p>
        </p:txBody>
      </p:sp>
      <p:sp>
        <p:nvSpPr>
          <p:cNvPr id="39" name="Shape 37"/>
          <p:cNvSpPr/>
          <p:nvPr/>
        </p:nvSpPr>
        <p:spPr>
          <a:xfrm>
            <a:off x="6449592" y="3790462"/>
            <a:ext cx="5184205" cy="772855"/>
          </a:xfrm>
          <a:custGeom>
            <a:avLst/>
            <a:gdLst/>
            <a:ahLst/>
            <a:cxnLst/>
            <a:rect l="l" t="t" r="r" b="b"/>
            <a:pathLst>
              <a:path w="5184205" h="772855">
                <a:moveTo>
                  <a:pt x="0" y="0"/>
                </a:moveTo>
                <a:lnTo>
                  <a:pt x="5184205" y="0"/>
                </a:lnTo>
                <a:lnTo>
                  <a:pt x="5184205" y="772855"/>
                </a:lnTo>
                <a:lnTo>
                  <a:pt x="0" y="772855"/>
                </a:lnTo>
                <a:lnTo>
                  <a:pt x="0" y="0"/>
                </a:lnTo>
                <a:close/>
              </a:path>
            </a:pathLst>
          </a:custGeom>
          <a:solidFill>
            <a:srgbClr val="FFFFFF"/>
          </a:solidFill>
          <a:ln w="12700">
            <a:solidFill>
              <a:srgbClr val="E5E7EB"/>
            </a:solidFill>
            <a:prstDash val="solid"/>
          </a:ln>
        </p:spPr>
      </p:sp>
      <p:sp>
        <p:nvSpPr>
          <p:cNvPr id="40" name="Shape 38"/>
          <p:cNvSpPr/>
          <p:nvPr/>
        </p:nvSpPr>
        <p:spPr>
          <a:xfrm>
            <a:off x="6614583" y="3951111"/>
            <a:ext cx="173675" cy="173675"/>
          </a:xfrm>
          <a:custGeom>
            <a:avLst/>
            <a:gdLst/>
            <a:ahLst/>
            <a:cxnLst/>
            <a:rect l="l" t="t" r="r" b="b"/>
            <a:pathLst>
              <a:path w="173675" h="173675">
                <a:moveTo>
                  <a:pt x="141111" y="70556"/>
                </a:moveTo>
                <a:cubicBezTo>
                  <a:pt x="141111" y="86125"/>
                  <a:pt x="136057" y="100508"/>
                  <a:pt x="127543" y="112177"/>
                </a:cubicBezTo>
                <a:lnTo>
                  <a:pt x="170487" y="155154"/>
                </a:lnTo>
                <a:cubicBezTo>
                  <a:pt x="174727" y="159394"/>
                  <a:pt x="174727" y="166280"/>
                  <a:pt x="170487" y="170521"/>
                </a:cubicBezTo>
                <a:cubicBezTo>
                  <a:pt x="166247" y="174761"/>
                  <a:pt x="159361" y="174761"/>
                  <a:pt x="155120" y="170521"/>
                </a:cubicBezTo>
                <a:lnTo>
                  <a:pt x="112177" y="127543"/>
                </a:lnTo>
                <a:cubicBezTo>
                  <a:pt x="100508" y="136057"/>
                  <a:pt x="86125" y="141111"/>
                  <a:pt x="70556" y="141111"/>
                </a:cubicBezTo>
                <a:cubicBezTo>
                  <a:pt x="31580" y="141111"/>
                  <a:pt x="0" y="109531"/>
                  <a:pt x="0" y="70556"/>
                </a:cubicBezTo>
                <a:cubicBezTo>
                  <a:pt x="0" y="31580"/>
                  <a:pt x="31580" y="0"/>
                  <a:pt x="70556" y="0"/>
                </a:cubicBezTo>
                <a:cubicBezTo>
                  <a:pt x="109531" y="0"/>
                  <a:pt x="141111" y="31580"/>
                  <a:pt x="141111" y="70556"/>
                </a:cubicBezTo>
                <a:close/>
                <a:moveTo>
                  <a:pt x="70556" y="119402"/>
                </a:moveTo>
                <a:cubicBezTo>
                  <a:pt x="97514" y="119402"/>
                  <a:pt x="119402" y="97514"/>
                  <a:pt x="119402" y="70556"/>
                </a:cubicBezTo>
                <a:cubicBezTo>
                  <a:pt x="119402" y="43597"/>
                  <a:pt x="97514" y="21709"/>
                  <a:pt x="70556" y="21709"/>
                </a:cubicBezTo>
                <a:cubicBezTo>
                  <a:pt x="43597" y="21709"/>
                  <a:pt x="21709" y="43597"/>
                  <a:pt x="21709" y="70556"/>
                </a:cubicBezTo>
                <a:cubicBezTo>
                  <a:pt x="21709" y="97514"/>
                  <a:pt x="43597" y="119402"/>
                  <a:pt x="70556" y="119402"/>
                </a:cubicBezTo>
                <a:close/>
              </a:path>
            </a:pathLst>
          </a:custGeom>
          <a:solidFill>
            <a:srgbClr val="8B0000"/>
          </a:solidFill>
          <a:ln/>
        </p:spPr>
      </p:sp>
      <p:sp>
        <p:nvSpPr>
          <p:cNvPr id="41" name="Text 39"/>
          <p:cNvSpPr/>
          <p:nvPr/>
        </p:nvSpPr>
        <p:spPr>
          <a:xfrm>
            <a:off x="6914173" y="3933744"/>
            <a:ext cx="798906" cy="208410"/>
          </a:xfrm>
          <a:prstGeom prst="rect">
            <a:avLst/>
          </a:prstGeom>
          <a:noFill/>
          <a:ln/>
        </p:spPr>
        <p:txBody>
          <a:bodyPr wrap="square" lIns="0" tIns="0" rIns="0" bIns="0" rtlCol="0" anchor="ctr"/>
          <a:lstStyle/>
          <a:p>
            <a:pPr>
              <a:lnSpc>
                <a:spcPct val="130000"/>
              </a:lnSpc>
            </a:pPr>
            <a:r>
              <a:rPr lang="en-US" sz="1094" b="1" dirty="0">
                <a:solidFill>
                  <a:srgbClr val="1F2937"/>
                </a:solidFill>
                <a:latin typeface="Sorts Mill Goudy" pitchFamily="34" charset="0"/>
                <a:ea typeface="Sorts Mill Goudy" pitchFamily="34" charset="-122"/>
                <a:cs typeface="Sorts Mill Goudy" pitchFamily="34" charset="-120"/>
              </a:rPr>
              <a:t>Error Profile</a:t>
            </a:r>
            <a:endParaRPr lang="en-US" sz="1600" dirty="0"/>
          </a:p>
        </p:txBody>
      </p:sp>
      <p:sp>
        <p:nvSpPr>
          <p:cNvPr id="42" name="Text 40"/>
          <p:cNvSpPr/>
          <p:nvPr/>
        </p:nvSpPr>
        <p:spPr>
          <a:xfrm>
            <a:off x="6592874" y="4211624"/>
            <a:ext cx="4967111" cy="208410"/>
          </a:xfrm>
          <a:prstGeom prst="rect">
            <a:avLst/>
          </a:prstGeom>
          <a:noFill/>
          <a:ln/>
        </p:spPr>
        <p:txBody>
          <a:bodyPr wrap="square" lIns="0" tIns="0" rIns="0" bIns="0" rtlCol="0" anchor="ctr"/>
          <a:lstStyle/>
          <a:p>
            <a:pPr>
              <a:lnSpc>
                <a:spcPct val="130000"/>
              </a:lnSpc>
            </a:pPr>
            <a:r>
              <a:rPr lang="en-US" sz="1094" dirty="0">
                <a:solidFill>
                  <a:srgbClr val="6B7280"/>
                </a:solidFill>
                <a:latin typeface="Sorts Mill Goudy" pitchFamily="34" charset="0"/>
                <a:ea typeface="Sorts Mill Goudy" pitchFamily="34" charset="-122"/>
                <a:cs typeface="Sorts Mill Goudy" pitchFamily="34" charset="-120"/>
              </a:rPr>
              <a:t>Detailed taxonomy of failure modes guiding targeted improvements</a:t>
            </a:r>
            <a:endParaRPr lang="en-US" sz="1600" dirty="0"/>
          </a:p>
        </p:txBody>
      </p:sp>
      <p:sp>
        <p:nvSpPr>
          <p:cNvPr id="43" name="Shape 41"/>
          <p:cNvSpPr/>
          <p:nvPr/>
        </p:nvSpPr>
        <p:spPr>
          <a:xfrm>
            <a:off x="6236840" y="4984479"/>
            <a:ext cx="5609709" cy="1441504"/>
          </a:xfrm>
          <a:custGeom>
            <a:avLst/>
            <a:gdLst/>
            <a:ahLst/>
            <a:cxnLst/>
            <a:rect l="l" t="t" r="r" b="b"/>
            <a:pathLst>
              <a:path w="5609709" h="1441504">
                <a:moveTo>
                  <a:pt x="0" y="0"/>
                </a:moveTo>
                <a:lnTo>
                  <a:pt x="5609709" y="0"/>
                </a:lnTo>
                <a:lnTo>
                  <a:pt x="5609709" y="1441504"/>
                </a:lnTo>
                <a:lnTo>
                  <a:pt x="0" y="1441504"/>
                </a:lnTo>
                <a:lnTo>
                  <a:pt x="0" y="0"/>
                </a:lnTo>
                <a:close/>
              </a:path>
            </a:pathLst>
          </a:custGeom>
          <a:solidFill>
            <a:srgbClr val="8B0000"/>
          </a:solidFill>
          <a:ln/>
        </p:spPr>
      </p:sp>
      <p:sp>
        <p:nvSpPr>
          <p:cNvPr id="44" name="Text 42"/>
          <p:cNvSpPr/>
          <p:nvPr/>
        </p:nvSpPr>
        <p:spPr>
          <a:xfrm>
            <a:off x="6445250" y="5192889"/>
            <a:ext cx="5279726" cy="243145"/>
          </a:xfrm>
          <a:prstGeom prst="rect">
            <a:avLst/>
          </a:prstGeom>
          <a:noFill/>
          <a:ln/>
        </p:spPr>
        <p:txBody>
          <a:bodyPr wrap="square" lIns="0" tIns="0" rIns="0" bIns="0" rtlCol="0" anchor="ctr"/>
          <a:lstStyle/>
          <a:p>
            <a:pPr>
              <a:lnSpc>
                <a:spcPct val="120000"/>
              </a:lnSpc>
            </a:pPr>
            <a:r>
              <a:rPr lang="en-US" sz="1368" b="1" dirty="0">
                <a:solidFill>
                  <a:srgbClr val="FFFFFF"/>
                </a:solidFill>
                <a:latin typeface="Sorts Mill Goudy" pitchFamily="34" charset="0"/>
                <a:ea typeface="Sorts Mill Goudy" pitchFamily="34" charset="-122"/>
                <a:cs typeface="Sorts Mill Goudy" pitchFamily="34" charset="-120"/>
              </a:rPr>
              <a:t>Core Message</a:t>
            </a:r>
            <a:endParaRPr lang="en-US" sz="1600" dirty="0"/>
          </a:p>
        </p:txBody>
      </p:sp>
      <p:sp>
        <p:nvSpPr>
          <p:cNvPr id="45" name="Text 43"/>
          <p:cNvSpPr/>
          <p:nvPr/>
        </p:nvSpPr>
        <p:spPr>
          <a:xfrm>
            <a:off x="6445250" y="5540239"/>
            <a:ext cx="5262359" cy="677333"/>
          </a:xfrm>
          <a:prstGeom prst="rect">
            <a:avLst/>
          </a:prstGeom>
          <a:noFill/>
          <a:ln/>
        </p:spPr>
        <p:txBody>
          <a:bodyPr wrap="square" lIns="0" tIns="0" rIns="0" bIns="0" rtlCol="0" anchor="ctr"/>
          <a:lstStyle/>
          <a:p>
            <a:pPr>
              <a:lnSpc>
                <a:spcPct val="140000"/>
              </a:lnSpc>
            </a:pPr>
            <a:r>
              <a:rPr lang="en-US" sz="1094" dirty="0">
                <a:solidFill>
                  <a:srgbClr val="FFFFFF"/>
                </a:solidFill>
                <a:latin typeface="Sorts Mill Goudy" pitchFamily="34" charset="0"/>
                <a:ea typeface="Sorts Mill Goudy" pitchFamily="34" charset="-122"/>
                <a:cs typeface="Sorts Mill Goudy" pitchFamily="34" charset="-120"/>
              </a:rPr>
              <a:t>The work is </a:t>
            </a:r>
            <a:r>
              <a:rPr lang="en-US" sz="1094" b="1" dirty="0">
                <a:solidFill>
                  <a:srgbClr val="FFFFFF"/>
                </a:solidFill>
                <a:latin typeface="Sorts Mill Goudy" pitchFamily="34" charset="0"/>
                <a:ea typeface="Sorts Mill Goudy" pitchFamily="34" charset="-122"/>
                <a:cs typeface="Sorts Mill Goudy" pitchFamily="34" charset="-120"/>
              </a:rPr>
              <a:t>intentionally classical in spirit</a:t>
            </a:r>
            <a:r>
              <a:rPr lang="en-US" sz="1094" dirty="0">
                <a:solidFill>
                  <a:srgbClr val="FFFFFF"/>
                </a:solidFill>
                <a:latin typeface="Sorts Mill Goudy" pitchFamily="34" charset="0"/>
                <a:ea typeface="Sorts Mill Goudy" pitchFamily="34" charset="-122"/>
                <a:cs typeface="Sorts Mill Goudy" pitchFamily="34" charset="-120"/>
              </a:rPr>
              <a:t>. Rather than hiding structure inside a very large generative model, it uses explicit roles, answer spans, and checkpointed metrics to create a reproducible baseline that can be inspected, ablated, and extended.</a:t>
            </a:r>
            <a:endParaRPr lang="en-US" sz="1600" dirty="0"/>
          </a:p>
        </p:txBody>
      </p:sp>
    </p:spTree>
    <p:extLst>
      <p:ext uri="{BB962C8B-B14F-4D97-AF65-F5344CB8AC3E}">
        <p14:creationId xmlns:p14="http://schemas.microsoft.com/office/powerpoint/2010/main" val="837369218"/>
      </p:ext>
    </p:extLst>
  </p:cSld>
  <p:clrMapOvr>
    <a:masterClrMapping/>
  </p:clrMapOvr>
  <p:transition>
    <p:fade/>
  </p:transition>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0C1726"/>
        </a:solidFill>
        <a:effectLst/>
      </p:bgPr>
    </p:bg>
    <p:spTree>
      <p:nvGrpSpPr>
        <p:cNvPr id="1" name=""/>
        <p:cNvGrpSpPr/>
        <p:nvPr/>
      </p:nvGrpSpPr>
      <p:grpSpPr/>
      <p:sp>
        <p:nvSpPr>
          <p:cNvPr id="2" name="Rectangle 1"/>
          <p:cNvSpPr/>
          <p:nvPr/>
        </p:nvSpPr>
        <p:spPr>
          <a:xfrm>
            <a:off x="0" y="0"/>
            <a:ext cx="12192000" cy="109728"/>
          </a:xfrm>
          <a:prstGeom prst="rect">
            <a:avLst/>
          </a:prstGeom>
          <a:solidFill>
            <a:srgbClr val="39BE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502920"/>
          </a:xfrm>
          <a:prstGeom prst="rect">
            <a:avLst/>
          </a:prstGeom>
          <a:noFill/>
        </p:spPr>
        <p:txBody>
          <a:bodyPr wrap="none">
            <a:spAutoFit/>
          </a:bodyPr>
          <a:lstStyle/>
          <a:p>
            <a:r>
              <a:rPr sz="2500" b="1">
                <a:solidFill>
                  <a:srgbClr val="EEF4FA"/>
                </a:solidFill>
              </a:rPr>
              <a:t>Project Explanation Index</a:t>
            </a:r>
          </a:p>
        </p:txBody>
      </p:sp>
      <p:sp>
        <p:nvSpPr>
          <p:cNvPr id="4" name="TextBox 3"/>
          <p:cNvSpPr txBox="1"/>
          <p:nvPr/>
        </p:nvSpPr>
        <p:spPr>
          <a:xfrm>
            <a:off x="530352" y="804672"/>
            <a:ext cx="10789920" cy="256032"/>
          </a:xfrm>
          <a:prstGeom prst="rect">
            <a:avLst/>
          </a:prstGeom>
          <a:noFill/>
        </p:spPr>
        <p:txBody>
          <a:bodyPr wrap="none">
            <a:spAutoFit/>
          </a:bodyPr>
          <a:lstStyle/>
          <a:p>
            <a:r>
              <a:rPr sz="900">
                <a:solidFill>
                  <a:srgbClr val="B3C4D6"/>
                </a:solidFill>
              </a:rPr>
              <a:t>RAISE-SRL-QA update</a:t>
            </a:r>
          </a:p>
        </p:txBody>
      </p:sp>
      <p:sp>
        <p:nvSpPr>
          <p:cNvPr id="5" name="TextBox 4"/>
          <p:cNvSpPr txBox="1"/>
          <p:nvPr/>
        </p:nvSpPr>
        <p:spPr>
          <a:xfrm>
            <a:off x="502920" y="6473952"/>
            <a:ext cx="11155680" cy="228600"/>
          </a:xfrm>
          <a:prstGeom prst="rect">
            <a:avLst/>
          </a:prstGeom>
          <a:noFill/>
        </p:spPr>
        <p:txBody>
          <a:bodyPr wrap="none">
            <a:spAutoFit/>
          </a:bodyPr>
          <a:lstStyle/>
          <a:p>
            <a:r>
              <a:rPr sz="800">
                <a:solidFill>
                  <a:srgbClr val="B3C4D6"/>
                </a:solidFill>
              </a:rPr>
              <a:t>Local implemented values only. Seed-suite results are not official public SOTA claims.</a:t>
            </a:r>
          </a:p>
        </p:txBody>
      </p:sp>
      <p:sp>
        <p:nvSpPr>
          <p:cNvPr id="6" name="Rounded Rectangle 5"/>
          <p:cNvSpPr/>
          <p:nvPr/>
        </p:nvSpPr>
        <p:spPr>
          <a:xfrm>
            <a:off x="594360" y="1234440"/>
            <a:ext cx="3566160" cy="1234440"/>
          </a:xfrm>
          <a:prstGeom prst="roundRect">
            <a:avLst/>
          </a:prstGeom>
          <a:solidFill>
            <a:srgbClr val="16263B"/>
          </a:solidFill>
          <a:ln>
            <a:solidFill>
              <a:srgbClr val="3A53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1234440"/>
            <a:ext cx="3566160" cy="73152"/>
          </a:xfrm>
          <a:prstGeom prst="rect">
            <a:avLst/>
          </a:prstGeom>
          <a:solidFill>
            <a:srgbClr val="39BE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0664" y="1362456"/>
            <a:ext cx="3273552" cy="256032"/>
          </a:xfrm>
          <a:prstGeom prst="rect">
            <a:avLst/>
          </a:prstGeom>
          <a:noFill/>
        </p:spPr>
        <p:txBody>
          <a:bodyPr wrap="square">
            <a:normAutofit/>
          </a:bodyPr>
          <a:lstStyle/>
          <a:p>
            <a:r>
              <a:rPr sz="1200" b="1">
                <a:solidFill>
                  <a:srgbClr val="39BEBD"/>
                </a:solidFill>
              </a:rPr>
              <a:t>One-line goal</a:t>
            </a:r>
          </a:p>
        </p:txBody>
      </p:sp>
      <p:sp>
        <p:nvSpPr>
          <p:cNvPr id="9" name="TextBox 8"/>
          <p:cNvSpPr txBox="1"/>
          <p:nvPr/>
        </p:nvSpPr>
        <p:spPr>
          <a:xfrm>
            <a:off x="740664" y="1673352"/>
            <a:ext cx="3273552" cy="731520"/>
          </a:xfrm>
          <a:prstGeom prst="rect">
            <a:avLst/>
          </a:prstGeom>
          <a:noFill/>
        </p:spPr>
        <p:txBody>
          <a:bodyPr wrap="square">
            <a:normAutofit/>
          </a:bodyPr>
          <a:lstStyle/>
          <a:p>
            <a:r>
              <a:rPr sz="1050" b="0">
                <a:solidFill>
                  <a:srgbClr val="EEF4FA"/>
                </a:solidFill>
              </a:rPr>
              <a:t>Answer user questions from text and explain the semantic role of the answer around an event.</a:t>
            </a:r>
          </a:p>
        </p:txBody>
      </p:sp>
      <p:sp>
        <p:nvSpPr>
          <p:cNvPr id="10" name="Rounded Rectangle 9"/>
          <p:cNvSpPr/>
          <p:nvPr/>
        </p:nvSpPr>
        <p:spPr>
          <a:xfrm>
            <a:off x="4343400" y="1234440"/>
            <a:ext cx="3566160" cy="1234440"/>
          </a:xfrm>
          <a:prstGeom prst="roundRect">
            <a:avLst/>
          </a:prstGeom>
          <a:solidFill>
            <a:srgbClr val="16263B"/>
          </a:solidFill>
          <a:ln>
            <a:solidFill>
              <a:srgbClr val="3A53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343400" y="1234440"/>
            <a:ext cx="3566160" cy="73152"/>
          </a:xfrm>
          <a:prstGeom prst="rect">
            <a:avLst/>
          </a:prstGeom>
          <a:solidFill>
            <a:srgbClr val="FFC4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89704" y="1362456"/>
            <a:ext cx="3273552" cy="256032"/>
          </a:xfrm>
          <a:prstGeom prst="rect">
            <a:avLst/>
          </a:prstGeom>
          <a:noFill/>
        </p:spPr>
        <p:txBody>
          <a:bodyPr wrap="square">
            <a:normAutofit/>
          </a:bodyPr>
          <a:lstStyle/>
          <a:p>
            <a:r>
              <a:rPr sz="1200" b="1">
                <a:solidFill>
                  <a:srgbClr val="FFC457"/>
                </a:solidFill>
              </a:rPr>
              <a:t>Read order</a:t>
            </a:r>
          </a:p>
        </p:txBody>
      </p:sp>
      <p:sp>
        <p:nvSpPr>
          <p:cNvPr id="13" name="TextBox 12"/>
          <p:cNvSpPr txBox="1"/>
          <p:nvPr/>
        </p:nvSpPr>
        <p:spPr>
          <a:xfrm>
            <a:off x="4489704" y="1673352"/>
            <a:ext cx="3273552" cy="731520"/>
          </a:xfrm>
          <a:prstGeom prst="rect">
            <a:avLst/>
          </a:prstGeom>
          <a:noFill/>
        </p:spPr>
        <p:txBody>
          <a:bodyPr wrap="square">
            <a:normAutofit/>
          </a:bodyPr>
          <a:lstStyle/>
          <a:p>
            <a:r>
              <a:rPr sz="1050" b="0">
                <a:solidFill>
                  <a:srgbClr val="EEF4FA"/>
                </a:solidFill>
              </a:rPr>
              <a:t>PROJECT_INDEX.md, then SIMPLE_ANALYSIS_AND_INNOVATION.md, then LAST_MINUTE_REVISION.md before the live demo.</a:t>
            </a:r>
          </a:p>
        </p:txBody>
      </p:sp>
      <p:sp>
        <p:nvSpPr>
          <p:cNvPr id="14" name="Rounded Rectangle 13"/>
          <p:cNvSpPr/>
          <p:nvPr/>
        </p:nvSpPr>
        <p:spPr>
          <a:xfrm>
            <a:off x="8092440" y="1234440"/>
            <a:ext cx="3566160" cy="1234440"/>
          </a:xfrm>
          <a:prstGeom prst="roundRect">
            <a:avLst/>
          </a:prstGeom>
          <a:solidFill>
            <a:srgbClr val="16263B"/>
          </a:solidFill>
          <a:ln>
            <a:solidFill>
              <a:srgbClr val="3A53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92440" y="1234440"/>
            <a:ext cx="3566160" cy="73152"/>
          </a:xfrm>
          <a:prstGeom prst="rect">
            <a:avLst/>
          </a:prstGeom>
          <a:solidFill>
            <a:srgbClr val="5FD3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38744" y="1362456"/>
            <a:ext cx="3273552" cy="256032"/>
          </a:xfrm>
          <a:prstGeom prst="rect">
            <a:avLst/>
          </a:prstGeom>
          <a:noFill/>
        </p:spPr>
        <p:txBody>
          <a:bodyPr wrap="square">
            <a:normAutofit/>
          </a:bodyPr>
          <a:lstStyle/>
          <a:p>
            <a:r>
              <a:rPr sz="1200" b="1">
                <a:solidFill>
                  <a:srgbClr val="5FD394"/>
                </a:solidFill>
              </a:rPr>
              <a:t>Demo focus</a:t>
            </a:r>
          </a:p>
        </p:txBody>
      </p:sp>
      <p:sp>
        <p:nvSpPr>
          <p:cNvPr id="17" name="TextBox 16"/>
          <p:cNvSpPr txBox="1"/>
          <p:nvPr/>
        </p:nvSpPr>
        <p:spPr>
          <a:xfrm>
            <a:off x="8238744" y="1673352"/>
            <a:ext cx="3273552" cy="731520"/>
          </a:xfrm>
          <a:prstGeom prst="rect">
            <a:avLst/>
          </a:prstGeom>
          <a:noFill/>
        </p:spPr>
        <p:txBody>
          <a:bodyPr wrap="square">
            <a:normAutofit/>
          </a:bodyPr>
          <a:lstStyle/>
          <a:p>
            <a:r>
              <a:rPr sz="1050" b="0">
                <a:solidFill>
                  <a:srgbClr val="EEF4FA"/>
                </a:solidFill>
              </a:rPr>
              <a:t>Use one clean context and compare baseline, hybrid, and RAISE outputs side by side.</a:t>
            </a:r>
          </a:p>
        </p:txBody>
      </p:sp>
      <p:sp>
        <p:nvSpPr>
          <p:cNvPr id="18" name="Rounded Rectangle 17"/>
          <p:cNvSpPr/>
          <p:nvPr/>
        </p:nvSpPr>
        <p:spPr>
          <a:xfrm>
            <a:off x="777240" y="2788920"/>
            <a:ext cx="5440680" cy="2697480"/>
          </a:xfrm>
          <a:prstGeom prst="roundRect">
            <a:avLst/>
          </a:prstGeom>
          <a:solidFill>
            <a:srgbClr val="16263B"/>
          </a:solidFill>
          <a:ln>
            <a:solidFill>
              <a:srgbClr val="374E67"/>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91440"/>
          <a:lstStyle/>
          <a:p>
            <a:pPr algn="ctr"/>
            <a:r>
              <a:rPr sz="1400" b="1">
                <a:solidFill>
                  <a:srgbClr val="39BEBD"/>
                </a:solidFill>
              </a:rPr>
              <a:t>What to explain first</a:t>
            </a:r>
          </a:p>
          <a:p>
            <a:pPr>
              <a:defRPr sz="1200">
                <a:solidFill>
                  <a:srgbClr val="EEF4FA"/>
                </a:solidFill>
              </a:defRPr>
            </a:pPr>
            <a:r>
              <a:t>Old project: srl_qa_project/</a:t>
            </a:r>
          </a:p>
          <a:p>
            <a:pPr>
              <a:defRPr sz="1200">
                <a:solidFill>
                  <a:srgbClr val="EEF4FA"/>
                </a:solidFill>
              </a:defRPr>
            </a:pPr>
            <a:r>
              <a:t>New package: srlqa/</a:t>
            </a:r>
          </a:p>
          <a:p>
            <a:pPr>
              <a:defRPr sz="1200">
                <a:solidFill>
                  <a:srgbClr val="EEF4FA"/>
                </a:solidFill>
              </a:defRPr>
            </a:pPr>
            <a:r>
              <a:t>Existing baseline: PropQA-Net</a:t>
            </a:r>
          </a:p>
          <a:p>
            <a:pPr>
              <a:defRPr sz="1200">
                <a:solidFill>
                  <a:srgbClr val="EEF4FA"/>
                </a:solidFill>
              </a:defRPr>
            </a:pPr>
            <a:r>
              <a:t>New update: RAISE-SRL-QA</a:t>
            </a:r>
          </a:p>
          <a:p>
            <a:pPr>
              <a:defRPr sz="1200">
                <a:solidFill>
                  <a:srgbClr val="EEF4FA"/>
                </a:solidFill>
              </a:defRPr>
            </a:pPr>
            <a:r>
              <a:t>Updated deck is a new copy, not an overwrite</a:t>
            </a:r>
          </a:p>
        </p:txBody>
      </p:sp>
      <p:sp>
        <p:nvSpPr>
          <p:cNvPr id="19" name="Rounded Rectangle 18"/>
          <p:cNvSpPr/>
          <p:nvPr/>
        </p:nvSpPr>
        <p:spPr>
          <a:xfrm>
            <a:off x="6446520" y="2788920"/>
            <a:ext cx="4983480" cy="2697480"/>
          </a:xfrm>
          <a:prstGeom prst="roundRect">
            <a:avLst/>
          </a:prstGeom>
          <a:solidFill>
            <a:srgbClr val="16263B"/>
          </a:solidFill>
          <a:ln>
            <a:solidFill>
              <a:srgbClr val="374E67"/>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91440"/>
          <a:lstStyle/>
          <a:p>
            <a:pPr algn="ctr"/>
            <a:r>
              <a:rPr sz="1400" b="1">
                <a:solidFill>
                  <a:srgbClr val="39BEBD"/>
                </a:solidFill>
              </a:rPr>
              <a:t>Numbers to remember</a:t>
            </a:r>
          </a:p>
          <a:p>
            <a:pPr>
              <a:defRPr sz="1200">
                <a:solidFill>
                  <a:srgbClr val="EEF4FA"/>
                </a:solidFill>
              </a:defRPr>
            </a:pPr>
            <a:r>
              <a:t>QA exact match: 0.5184</a:t>
            </a:r>
          </a:p>
          <a:p>
            <a:pPr>
              <a:defRPr sz="1200">
                <a:solidFill>
                  <a:srgbClr val="EEF4FA"/>
                </a:solidFill>
              </a:defRPr>
            </a:pPr>
            <a:r>
              <a:t>QA token F1: 0.7612</a:t>
            </a:r>
          </a:p>
          <a:p>
            <a:pPr>
              <a:defRPr sz="1200">
                <a:solidFill>
                  <a:srgbClr val="EEF4FA"/>
                </a:solidFill>
              </a:defRPr>
            </a:pPr>
            <a:r>
              <a:t>SRL micro F1: 0.7133</a:t>
            </a:r>
          </a:p>
          <a:p>
            <a:pPr>
              <a:defRPr sz="1200">
                <a:solidFill>
                  <a:srgbClr val="EEF4FA"/>
                </a:solidFill>
              </a:defRPr>
            </a:pPr>
            <a:r>
              <a:t>Frame index: 4,659 records</a:t>
            </a:r>
          </a:p>
          <a:p>
            <a:pPr>
              <a:defRPr sz="1200">
                <a:solidFill>
                  <a:srgbClr val="EEF4FA"/>
                </a:solidFill>
              </a:defRPr>
            </a:pPr>
            <a:r>
              <a:t>Seed suite: 15/15 local demo only</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0C1726"/>
        </a:solidFill>
        <a:effectLst/>
      </p:bgPr>
    </p:bg>
    <p:spTree>
      <p:nvGrpSpPr>
        <p:cNvPr id="1" name=""/>
        <p:cNvGrpSpPr/>
        <p:nvPr/>
      </p:nvGrpSpPr>
      <p:grpSpPr/>
      <p:sp>
        <p:nvSpPr>
          <p:cNvPr id="2" name="Rectangle 1"/>
          <p:cNvSpPr/>
          <p:nvPr/>
        </p:nvSpPr>
        <p:spPr>
          <a:xfrm>
            <a:off x="0" y="0"/>
            <a:ext cx="12192000" cy="109728"/>
          </a:xfrm>
          <a:prstGeom prst="rect">
            <a:avLst/>
          </a:prstGeom>
          <a:solidFill>
            <a:srgbClr val="39BE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502920"/>
          </a:xfrm>
          <a:prstGeom prst="rect">
            <a:avLst/>
          </a:prstGeom>
          <a:noFill/>
        </p:spPr>
        <p:txBody>
          <a:bodyPr wrap="none">
            <a:spAutoFit/>
          </a:bodyPr>
          <a:lstStyle/>
          <a:p>
            <a:r>
              <a:rPr sz="2500" b="1">
                <a:solidFill>
                  <a:srgbClr val="EEF4FA"/>
                </a:solidFill>
              </a:rPr>
              <a:t>Previous State: Existing Implementation</a:t>
            </a:r>
          </a:p>
        </p:txBody>
      </p:sp>
      <p:sp>
        <p:nvSpPr>
          <p:cNvPr id="4" name="TextBox 3"/>
          <p:cNvSpPr txBox="1"/>
          <p:nvPr/>
        </p:nvSpPr>
        <p:spPr>
          <a:xfrm>
            <a:off x="530352" y="804672"/>
            <a:ext cx="10789920" cy="256032"/>
          </a:xfrm>
          <a:prstGeom prst="rect">
            <a:avLst/>
          </a:prstGeom>
          <a:noFill/>
        </p:spPr>
        <p:txBody>
          <a:bodyPr wrap="none">
            <a:spAutoFit/>
          </a:bodyPr>
          <a:lstStyle/>
          <a:p>
            <a:r>
              <a:rPr sz="900">
                <a:solidFill>
                  <a:srgbClr val="B3C4D6"/>
                </a:solidFill>
              </a:rPr>
              <a:t>RAISE-SRL-QA update</a:t>
            </a:r>
          </a:p>
        </p:txBody>
      </p:sp>
      <p:sp>
        <p:nvSpPr>
          <p:cNvPr id="5" name="TextBox 4"/>
          <p:cNvSpPr txBox="1"/>
          <p:nvPr/>
        </p:nvSpPr>
        <p:spPr>
          <a:xfrm>
            <a:off x="502920" y="6473952"/>
            <a:ext cx="11155680" cy="228600"/>
          </a:xfrm>
          <a:prstGeom prst="rect">
            <a:avLst/>
          </a:prstGeom>
          <a:noFill/>
        </p:spPr>
        <p:txBody>
          <a:bodyPr wrap="none">
            <a:spAutoFit/>
          </a:bodyPr>
          <a:lstStyle/>
          <a:p>
            <a:r>
              <a:rPr sz="800">
                <a:solidFill>
                  <a:srgbClr val="B3C4D6"/>
                </a:solidFill>
              </a:rPr>
              <a:t>Local implemented values only. Seed-suite results are not official public SOTA claims.</a:t>
            </a:r>
          </a:p>
        </p:txBody>
      </p:sp>
      <p:sp>
        <p:nvSpPr>
          <p:cNvPr id="6" name="Rounded Rectangle 5"/>
          <p:cNvSpPr/>
          <p:nvPr/>
        </p:nvSpPr>
        <p:spPr>
          <a:xfrm>
            <a:off x="640080" y="1234440"/>
            <a:ext cx="5394960" cy="4297680"/>
          </a:xfrm>
          <a:prstGeom prst="roundRect">
            <a:avLst/>
          </a:prstGeom>
          <a:solidFill>
            <a:srgbClr val="16263B"/>
          </a:solidFill>
          <a:ln>
            <a:solidFill>
              <a:srgbClr val="374E67"/>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91440"/>
          <a:lstStyle/>
          <a:p>
            <a:pPr algn="ctr"/>
            <a:r>
              <a:rPr sz="1400" b="1">
                <a:solidFill>
                  <a:srgbClr val="39BEBD"/>
                </a:solidFill>
              </a:rPr>
              <a:t>What already worked</a:t>
            </a:r>
          </a:p>
          <a:p>
            <a:pPr>
              <a:defRPr sz="1200">
                <a:solidFill>
                  <a:srgbClr val="EEF4FA"/>
                </a:solidFill>
              </a:defRPr>
            </a:pPr>
            <a:r>
              <a:t>Baseline model: PropQA-Net</a:t>
            </a:r>
          </a:p>
          <a:p>
            <a:pPr>
              <a:defRPr sz="1200">
                <a:solidFill>
                  <a:srgbClr val="EEF4FA"/>
                </a:solidFill>
              </a:defRPr>
            </a:pPr>
            <a:r>
              <a:t>Data: PropBank-derived QA pairs</a:t>
            </a:r>
          </a:p>
          <a:p>
            <a:pPr>
              <a:defRPr sz="1200">
                <a:solidFill>
                  <a:srgbClr val="EEF4FA"/>
                </a:solidFill>
              </a:defRPr>
            </a:pPr>
            <a:r>
              <a:t>Learning: SRL BIO tagging plus QA start/end span prediction</a:t>
            </a:r>
          </a:p>
          <a:p>
            <a:pPr>
              <a:defRPr sz="1200">
                <a:solidFill>
                  <a:srgbClr val="EEF4FA"/>
                </a:solidFill>
              </a:defRPr>
            </a:pPr>
            <a:r>
              <a:t>Interface: CLI and Streamlit dashboard</a:t>
            </a:r>
          </a:p>
          <a:p>
            <a:pPr>
              <a:defRPr sz="1200">
                <a:solidFill>
                  <a:srgbClr val="EEF4FA"/>
                </a:solidFill>
              </a:defRPr>
            </a:pPr>
            <a:r>
              <a:t>Hybrid layer: question intent parsing, rule candidates, reranking</a:t>
            </a:r>
          </a:p>
        </p:txBody>
      </p:sp>
      <p:sp>
        <p:nvSpPr>
          <p:cNvPr id="7" name="Rounded Rectangle 6"/>
          <p:cNvSpPr/>
          <p:nvPr/>
        </p:nvSpPr>
        <p:spPr>
          <a:xfrm>
            <a:off x="6309360" y="1234440"/>
            <a:ext cx="5303520" cy="4297680"/>
          </a:xfrm>
          <a:prstGeom prst="roundRect">
            <a:avLst/>
          </a:prstGeom>
          <a:solidFill>
            <a:srgbClr val="16263B"/>
          </a:solidFill>
          <a:ln>
            <a:solidFill>
              <a:srgbClr val="374E67"/>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91440"/>
          <a:lstStyle/>
          <a:p>
            <a:pPr algn="ctr"/>
            <a:r>
              <a:rPr sz="1400" b="1">
                <a:solidFill>
                  <a:srgbClr val="39BEBD"/>
                </a:solidFill>
              </a:rPr>
              <a:t>Why an innovation layer was needed</a:t>
            </a:r>
          </a:p>
          <a:p>
            <a:pPr>
              <a:defRPr sz="1200">
                <a:solidFill>
                  <a:srgbClr val="EEF4FA"/>
                </a:solidFill>
              </a:defRPr>
            </a:pPr>
            <a:r>
              <a:t>Exact span boundaries were not always precise</a:t>
            </a:r>
          </a:p>
          <a:p>
            <a:pPr>
              <a:defRPr sz="1200">
                <a:solidFill>
                  <a:srgbClr val="EEF4FA"/>
                </a:solidFill>
              </a:defRPr>
            </a:pPr>
            <a:r>
              <a:t>Rare roles were weak, visible in low macro F1</a:t>
            </a:r>
          </a:p>
          <a:p>
            <a:pPr>
              <a:defRPr sz="1200">
                <a:solidFill>
                  <a:srgbClr val="EEF4FA"/>
                </a:solidFill>
              </a:defRPr>
            </a:pPr>
            <a:r>
              <a:t>Baseline could return overlong spans</a:t>
            </a:r>
          </a:p>
          <a:p>
            <a:pPr>
              <a:defRPr sz="1200">
                <a:solidFill>
                  <a:srgbClr val="EEF4FA"/>
                </a:solidFill>
              </a:defRPr>
            </a:pPr>
            <a:r>
              <a:t>Explanations existed but needed clearer model comparison and demo flow</a:t>
            </a:r>
          </a:p>
          <a:p>
            <a:pPr>
              <a:defRPr sz="1200">
                <a:solidFill>
                  <a:srgbClr val="EEF4FA"/>
                </a:solidFill>
              </a:defRPr>
            </a:pPr>
            <a:r>
              <a:t>No single terminal file exposed all model responses together</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0C1726"/>
        </a:solidFill>
        <a:effectLst/>
      </p:bgPr>
    </p:bg>
    <p:spTree>
      <p:nvGrpSpPr>
        <p:cNvPr id="1" name=""/>
        <p:cNvGrpSpPr/>
        <p:nvPr/>
      </p:nvGrpSpPr>
      <p:grpSpPr/>
      <p:sp>
        <p:nvSpPr>
          <p:cNvPr id="2" name="Rectangle 1"/>
          <p:cNvSpPr/>
          <p:nvPr/>
        </p:nvSpPr>
        <p:spPr>
          <a:xfrm>
            <a:off x="0" y="0"/>
            <a:ext cx="12192000" cy="109728"/>
          </a:xfrm>
          <a:prstGeom prst="rect">
            <a:avLst/>
          </a:prstGeom>
          <a:solidFill>
            <a:srgbClr val="39BE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502920"/>
          </a:xfrm>
          <a:prstGeom prst="rect">
            <a:avLst/>
          </a:prstGeom>
          <a:noFill/>
        </p:spPr>
        <p:txBody>
          <a:bodyPr wrap="none">
            <a:spAutoFit/>
          </a:bodyPr>
          <a:lstStyle/>
          <a:p>
            <a:r>
              <a:rPr sz="2500" b="1">
                <a:solidFill>
                  <a:srgbClr val="EEF4FA"/>
                </a:solidFill>
              </a:rPr>
              <a:t>New State: RAISE-SRL-QA</a:t>
            </a:r>
          </a:p>
        </p:txBody>
      </p:sp>
      <p:sp>
        <p:nvSpPr>
          <p:cNvPr id="4" name="TextBox 3"/>
          <p:cNvSpPr txBox="1"/>
          <p:nvPr/>
        </p:nvSpPr>
        <p:spPr>
          <a:xfrm>
            <a:off x="530352" y="804672"/>
            <a:ext cx="10789920" cy="256032"/>
          </a:xfrm>
          <a:prstGeom prst="rect">
            <a:avLst/>
          </a:prstGeom>
          <a:noFill/>
        </p:spPr>
        <p:txBody>
          <a:bodyPr wrap="none">
            <a:spAutoFit/>
          </a:bodyPr>
          <a:lstStyle/>
          <a:p>
            <a:r>
              <a:rPr sz="900">
                <a:solidFill>
                  <a:srgbClr val="B3C4D6"/>
                </a:solidFill>
              </a:rPr>
              <a:t>RAISE-SRL-QA update</a:t>
            </a:r>
          </a:p>
        </p:txBody>
      </p:sp>
      <p:sp>
        <p:nvSpPr>
          <p:cNvPr id="5" name="TextBox 4"/>
          <p:cNvSpPr txBox="1"/>
          <p:nvPr/>
        </p:nvSpPr>
        <p:spPr>
          <a:xfrm>
            <a:off x="502920" y="6473952"/>
            <a:ext cx="11155680" cy="228600"/>
          </a:xfrm>
          <a:prstGeom prst="rect">
            <a:avLst/>
          </a:prstGeom>
          <a:noFill/>
        </p:spPr>
        <p:txBody>
          <a:bodyPr wrap="none">
            <a:spAutoFit/>
          </a:bodyPr>
          <a:lstStyle/>
          <a:p>
            <a:r>
              <a:rPr sz="800">
                <a:solidFill>
                  <a:srgbClr val="B3C4D6"/>
                </a:solidFill>
              </a:rPr>
              <a:t>Local implemented values only. Seed-suite results are not official public SOTA claims.</a:t>
            </a:r>
          </a:p>
        </p:txBody>
      </p:sp>
      <p:sp>
        <p:nvSpPr>
          <p:cNvPr id="6" name="TextBox 5"/>
          <p:cNvSpPr txBox="1"/>
          <p:nvPr/>
        </p:nvSpPr>
        <p:spPr>
          <a:xfrm>
            <a:off x="685800" y="1143000"/>
            <a:ext cx="10789920" cy="384048"/>
          </a:xfrm>
          <a:prstGeom prst="rect">
            <a:avLst/>
          </a:prstGeom>
          <a:noFill/>
        </p:spPr>
        <p:txBody>
          <a:bodyPr wrap="square">
            <a:normAutofit/>
          </a:bodyPr>
          <a:lstStyle/>
          <a:p>
            <a:pPr algn="ctr"/>
            <a:r>
              <a:rPr sz="1600" b="1">
                <a:solidFill>
                  <a:srgbClr val="39BEBD"/>
                </a:solidFill>
              </a:rPr>
              <a:t>RAISE = Retrieval-Augmented, Iteratively Self-correcting, Explainable SRL-QA</a:t>
            </a:r>
          </a:p>
        </p:txBody>
      </p:sp>
      <p:sp>
        <p:nvSpPr>
          <p:cNvPr id="7" name="Rounded Rectangle 6"/>
          <p:cNvSpPr/>
          <p:nvPr/>
        </p:nvSpPr>
        <p:spPr>
          <a:xfrm>
            <a:off x="640080" y="1828800"/>
            <a:ext cx="3566160" cy="1143000"/>
          </a:xfrm>
          <a:prstGeom prst="roundRect">
            <a:avLst/>
          </a:prstGeom>
          <a:solidFill>
            <a:srgbClr val="16263B"/>
          </a:solidFill>
          <a:ln>
            <a:solidFill>
              <a:srgbClr val="3A53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640080" y="1828800"/>
            <a:ext cx="3566160" cy="73152"/>
          </a:xfrm>
          <a:prstGeom prst="rect">
            <a:avLst/>
          </a:prstGeom>
          <a:solidFill>
            <a:srgbClr val="39BE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6384" y="1956816"/>
            <a:ext cx="3273552" cy="256032"/>
          </a:xfrm>
          <a:prstGeom prst="rect">
            <a:avLst/>
          </a:prstGeom>
          <a:noFill/>
        </p:spPr>
        <p:txBody>
          <a:bodyPr wrap="square">
            <a:normAutofit/>
          </a:bodyPr>
          <a:lstStyle/>
          <a:p>
            <a:r>
              <a:rPr sz="1200" b="1">
                <a:solidFill>
                  <a:srgbClr val="39BEBD"/>
                </a:solidFill>
              </a:rPr>
              <a:t>Retrieval</a:t>
            </a:r>
          </a:p>
        </p:txBody>
      </p:sp>
      <p:sp>
        <p:nvSpPr>
          <p:cNvPr id="10" name="TextBox 9"/>
          <p:cNvSpPr txBox="1"/>
          <p:nvPr/>
        </p:nvSpPr>
        <p:spPr>
          <a:xfrm>
            <a:off x="786384" y="2267712"/>
            <a:ext cx="3273552" cy="640080"/>
          </a:xfrm>
          <a:prstGeom prst="rect">
            <a:avLst/>
          </a:prstGeom>
          <a:noFill/>
        </p:spPr>
        <p:txBody>
          <a:bodyPr wrap="square">
            <a:normAutofit/>
          </a:bodyPr>
          <a:lstStyle/>
          <a:p>
            <a:r>
              <a:rPr sz="1050" b="0">
                <a:solidFill>
                  <a:srgbClr val="EEF4FA"/>
                </a:solidFill>
              </a:rPr>
              <a:t>PropBank frame records are retrieved for predicate-role compatibility.</a:t>
            </a:r>
          </a:p>
        </p:txBody>
      </p:sp>
      <p:sp>
        <p:nvSpPr>
          <p:cNvPr id="11" name="Rounded Rectangle 10"/>
          <p:cNvSpPr/>
          <p:nvPr/>
        </p:nvSpPr>
        <p:spPr>
          <a:xfrm>
            <a:off x="4434840" y="1828800"/>
            <a:ext cx="3383280" cy="1143000"/>
          </a:xfrm>
          <a:prstGeom prst="roundRect">
            <a:avLst/>
          </a:prstGeom>
          <a:solidFill>
            <a:srgbClr val="16263B"/>
          </a:solidFill>
          <a:ln>
            <a:solidFill>
              <a:srgbClr val="3A53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34840" y="1828800"/>
            <a:ext cx="3383280" cy="73152"/>
          </a:xfrm>
          <a:prstGeom prst="rect">
            <a:avLst/>
          </a:prstGeom>
          <a:solidFill>
            <a:srgbClr val="FFC4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81144" y="1956816"/>
            <a:ext cx="3090672" cy="256032"/>
          </a:xfrm>
          <a:prstGeom prst="rect">
            <a:avLst/>
          </a:prstGeom>
          <a:noFill/>
        </p:spPr>
        <p:txBody>
          <a:bodyPr wrap="square">
            <a:normAutofit/>
          </a:bodyPr>
          <a:lstStyle/>
          <a:p>
            <a:r>
              <a:rPr sz="1200" b="1">
                <a:solidFill>
                  <a:srgbClr val="FFC457"/>
                </a:solidFill>
              </a:rPr>
              <a:t>Correction</a:t>
            </a:r>
          </a:p>
        </p:txBody>
      </p:sp>
      <p:sp>
        <p:nvSpPr>
          <p:cNvPr id="14" name="TextBox 13"/>
          <p:cNvSpPr txBox="1"/>
          <p:nvPr/>
        </p:nvSpPr>
        <p:spPr>
          <a:xfrm>
            <a:off x="4581144" y="2267712"/>
            <a:ext cx="3090672" cy="640080"/>
          </a:xfrm>
          <a:prstGeom prst="rect">
            <a:avLst/>
          </a:prstGeom>
          <a:noFill/>
        </p:spPr>
        <p:txBody>
          <a:bodyPr wrap="square">
            <a:normAutofit/>
          </a:bodyPr>
          <a:lstStyle/>
          <a:p>
            <a:r>
              <a:rPr sz="1050" b="0">
                <a:solidFill>
                  <a:srgbClr val="EEF4FA"/>
                </a:solidFill>
              </a:rPr>
              <a:t>Weak candidates can be rejected and the next evidence-backed span can be selected.</a:t>
            </a:r>
          </a:p>
        </p:txBody>
      </p:sp>
      <p:sp>
        <p:nvSpPr>
          <p:cNvPr id="15" name="Rounded Rectangle 14"/>
          <p:cNvSpPr/>
          <p:nvPr/>
        </p:nvSpPr>
        <p:spPr>
          <a:xfrm>
            <a:off x="8046720" y="1828800"/>
            <a:ext cx="3520440" cy="1143000"/>
          </a:xfrm>
          <a:prstGeom prst="roundRect">
            <a:avLst/>
          </a:prstGeom>
          <a:solidFill>
            <a:srgbClr val="16263B"/>
          </a:solidFill>
          <a:ln>
            <a:solidFill>
              <a:srgbClr val="3A53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8046720" y="1828800"/>
            <a:ext cx="3520440" cy="73152"/>
          </a:xfrm>
          <a:prstGeom prst="rect">
            <a:avLst/>
          </a:prstGeom>
          <a:solidFill>
            <a:srgbClr val="5FD3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93024" y="1956816"/>
            <a:ext cx="3227832" cy="256032"/>
          </a:xfrm>
          <a:prstGeom prst="rect">
            <a:avLst/>
          </a:prstGeom>
          <a:noFill/>
        </p:spPr>
        <p:txBody>
          <a:bodyPr wrap="square">
            <a:normAutofit/>
          </a:bodyPr>
          <a:lstStyle/>
          <a:p>
            <a:r>
              <a:rPr sz="1200" b="1">
                <a:solidFill>
                  <a:srgbClr val="5FD394"/>
                </a:solidFill>
              </a:rPr>
              <a:t>Explainability</a:t>
            </a:r>
          </a:p>
        </p:txBody>
      </p:sp>
      <p:sp>
        <p:nvSpPr>
          <p:cNvPr id="18" name="TextBox 17"/>
          <p:cNvSpPr txBox="1"/>
          <p:nvPr/>
        </p:nvSpPr>
        <p:spPr>
          <a:xfrm>
            <a:off x="8193024" y="2267712"/>
            <a:ext cx="3227832" cy="640080"/>
          </a:xfrm>
          <a:prstGeom prst="rect">
            <a:avLst/>
          </a:prstGeom>
          <a:noFill/>
        </p:spPr>
        <p:txBody>
          <a:bodyPr wrap="square">
            <a:normAutofit/>
          </a:bodyPr>
          <a:lstStyle/>
          <a:p>
            <a:r>
              <a:rPr sz="1050" b="0">
                <a:solidFill>
                  <a:srgbClr val="EEF4FA"/>
                </a:solidFill>
              </a:rPr>
              <a:t>Outputs include answer, role, confidence, and reasoning-friendly evidence.</a:t>
            </a:r>
          </a:p>
        </p:txBody>
      </p:sp>
      <p:sp>
        <p:nvSpPr>
          <p:cNvPr id="19" name="Rounded Rectangle 18"/>
          <p:cNvSpPr/>
          <p:nvPr/>
        </p:nvSpPr>
        <p:spPr>
          <a:xfrm>
            <a:off x="914400" y="3337560"/>
            <a:ext cx="10332720" cy="2057400"/>
          </a:xfrm>
          <a:prstGeom prst="roundRect">
            <a:avLst/>
          </a:prstGeom>
          <a:solidFill>
            <a:srgbClr val="16263B"/>
          </a:solidFill>
          <a:ln>
            <a:solidFill>
              <a:srgbClr val="374E67"/>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91440"/>
          <a:lstStyle/>
          <a:p>
            <a:pPr algn="ctr"/>
            <a:r>
              <a:rPr sz="1400" b="1">
                <a:solidFill>
                  <a:srgbClr val="39BEBD"/>
                </a:solidFill>
              </a:rPr>
              <a:t>Implemented update</a:t>
            </a:r>
          </a:p>
          <a:p>
            <a:pPr>
              <a:defRPr sz="1200">
                <a:solidFill>
                  <a:srgbClr val="EEF4FA"/>
                </a:solidFill>
              </a:defRPr>
            </a:pPr>
            <a:r>
              <a:t>New terminal runner: srlqa/run_all_models.py</a:t>
            </a:r>
          </a:p>
          <a:p>
            <a:pPr>
              <a:defRPr sz="1200">
                <a:solidFill>
                  <a:srgbClr val="EEF4FA"/>
                </a:solidFill>
              </a:defRPr>
            </a:pPr>
            <a:r>
              <a:t>New reusable registry: srlqa/model_hub.py</a:t>
            </a:r>
          </a:p>
          <a:p>
            <a:pPr>
              <a:defRPr sz="1200">
                <a:solidFill>
                  <a:srgbClr val="EEF4FA"/>
                </a:solidFill>
              </a:defRPr>
            </a:pPr>
            <a:r>
              <a:t>New standalone app: srlqa/raise_streamlit_app.py</a:t>
            </a:r>
          </a:p>
          <a:p>
            <a:pPr>
              <a:defRPr sz="1200">
                <a:solidFill>
                  <a:srgbClr val="EEF4FA"/>
                </a:solidFill>
              </a:defRPr>
            </a:pPr>
            <a:r>
              <a:t>Existing Streamlit app now includes All Model QA</a:t>
            </a:r>
          </a:p>
          <a:p>
            <a:pPr>
              <a:defRPr sz="1200">
                <a:solidFill>
                  <a:srgbClr val="EEF4FA"/>
                </a:solidFill>
              </a:defRPr>
            </a:pPr>
            <a:r>
              <a:t>All local demo claims are clearly separated from official benchmark claims</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0C1726"/>
        </a:solidFill>
        <a:effectLst/>
      </p:bgPr>
    </p:bg>
    <p:spTree>
      <p:nvGrpSpPr>
        <p:cNvPr id="1" name=""/>
        <p:cNvGrpSpPr/>
        <p:nvPr/>
      </p:nvGrpSpPr>
      <p:grpSpPr/>
      <p:sp>
        <p:nvSpPr>
          <p:cNvPr id="2" name="Rectangle 1"/>
          <p:cNvSpPr/>
          <p:nvPr/>
        </p:nvSpPr>
        <p:spPr>
          <a:xfrm>
            <a:off x="0" y="0"/>
            <a:ext cx="12192000" cy="109728"/>
          </a:xfrm>
          <a:prstGeom prst="rect">
            <a:avLst/>
          </a:prstGeom>
          <a:solidFill>
            <a:srgbClr val="39BE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502920"/>
          </a:xfrm>
          <a:prstGeom prst="rect">
            <a:avLst/>
          </a:prstGeom>
          <a:noFill/>
        </p:spPr>
        <p:txBody>
          <a:bodyPr wrap="none">
            <a:spAutoFit/>
          </a:bodyPr>
          <a:lstStyle/>
          <a:p>
            <a:r>
              <a:rPr sz="2500" b="1">
                <a:solidFill>
                  <a:srgbClr val="EEF4FA"/>
                </a:solidFill>
              </a:rPr>
              <a:t>Architecture Glossary</a:t>
            </a:r>
          </a:p>
        </p:txBody>
      </p:sp>
      <p:sp>
        <p:nvSpPr>
          <p:cNvPr id="4" name="TextBox 3"/>
          <p:cNvSpPr txBox="1"/>
          <p:nvPr/>
        </p:nvSpPr>
        <p:spPr>
          <a:xfrm>
            <a:off x="530352" y="804672"/>
            <a:ext cx="10789920" cy="256032"/>
          </a:xfrm>
          <a:prstGeom prst="rect">
            <a:avLst/>
          </a:prstGeom>
          <a:noFill/>
        </p:spPr>
        <p:txBody>
          <a:bodyPr wrap="none">
            <a:spAutoFit/>
          </a:bodyPr>
          <a:lstStyle/>
          <a:p>
            <a:r>
              <a:rPr sz="900">
                <a:solidFill>
                  <a:srgbClr val="B3C4D6"/>
                </a:solidFill>
              </a:rPr>
              <a:t>RAISE-SRL-QA update</a:t>
            </a:r>
          </a:p>
        </p:txBody>
      </p:sp>
      <p:sp>
        <p:nvSpPr>
          <p:cNvPr id="5" name="TextBox 4"/>
          <p:cNvSpPr txBox="1"/>
          <p:nvPr/>
        </p:nvSpPr>
        <p:spPr>
          <a:xfrm>
            <a:off x="502920" y="6473952"/>
            <a:ext cx="11155680" cy="228600"/>
          </a:xfrm>
          <a:prstGeom prst="rect">
            <a:avLst/>
          </a:prstGeom>
          <a:noFill/>
        </p:spPr>
        <p:txBody>
          <a:bodyPr wrap="none">
            <a:spAutoFit/>
          </a:bodyPr>
          <a:lstStyle/>
          <a:p>
            <a:r>
              <a:rPr sz="800">
                <a:solidFill>
                  <a:srgbClr val="B3C4D6"/>
                </a:solidFill>
              </a:rPr>
              <a:t>Local implemented values only. Seed-suite results are not official public SOTA claims.</a:t>
            </a:r>
          </a:p>
        </p:txBody>
      </p:sp>
      <p:graphicFrame>
        <p:nvGraphicFramePr>
          <p:cNvPr id="6" name="Table 5"/>
          <p:cNvGraphicFramePr>
            <a:graphicFrameLocks noGrp="1"/>
          </p:cNvGraphicFramePr>
          <p:nvPr/>
        </p:nvGraphicFramePr>
        <p:xfrm>
          <a:off x="685800" y="1188720"/>
          <a:ext cx="10789920" cy="5074920"/>
        </p:xfrm>
        <a:graphic>
          <a:graphicData uri="http://schemas.openxmlformats.org/drawingml/2006/table">
            <a:tbl>
              <a:tblPr firstRow="1" bandRow="1">
                <a:tableStyleId>{5C22544A-7EE6-4342-B048-85BDC9FD1C3A}</a:tableStyleId>
              </a:tblPr>
              <a:tblGrid>
                <a:gridCol w="2011680"/>
                <a:gridCol w="8778240"/>
              </a:tblGrid>
              <a:tr h="563880">
                <a:tc>
                  <a:txBody>
                    <a:bodyPr/>
                    <a:lstStyle/>
                    <a:p>
                      <a:r>
                        <a:rPr sz="1000" b="1">
                          <a:solidFill>
                            <a:srgbClr val="EEF4FA"/>
                          </a:solidFill>
                        </a:rPr>
                        <a:t>Term</a:t>
                      </a:r>
                    </a:p>
                  </a:txBody>
                  <a:tcPr marL="36576" marR="36576" marT="27432" marB="27432">
                    <a:solidFill>
                      <a:srgbClr val="1D334C"/>
                    </a:solidFill>
                  </a:tcPr>
                </a:tc>
                <a:tc>
                  <a:txBody>
                    <a:bodyPr/>
                    <a:lstStyle/>
                    <a:p>
                      <a:r>
                        <a:rPr sz="1000" b="1">
                          <a:solidFill>
                            <a:srgbClr val="EEF4FA"/>
                          </a:solidFill>
                        </a:rPr>
                        <a:t>How to say it in presentation</a:t>
                      </a:r>
                    </a:p>
                  </a:txBody>
                  <a:tcPr marL="36576" marR="36576" marT="27432" marB="27432">
                    <a:solidFill>
                      <a:srgbClr val="1D334C"/>
                    </a:solidFill>
                  </a:tcPr>
                </a:tc>
              </a:tr>
              <a:tr h="563880">
                <a:tc>
                  <a:txBody>
                    <a:bodyPr/>
                    <a:lstStyle/>
                    <a:p>
                      <a:r>
                        <a:rPr sz="1000" b="0">
                          <a:solidFill>
                            <a:srgbClr val="B3C4D6"/>
                          </a:solidFill>
                        </a:rPr>
                        <a:t>Predicate</a:t>
                      </a:r>
                    </a:p>
                  </a:txBody>
                  <a:tcPr marL="36576" marR="36576" marT="27432" marB="27432">
                    <a:solidFill>
                      <a:srgbClr val="16263B"/>
                    </a:solidFill>
                  </a:tcPr>
                </a:tc>
                <a:tc>
                  <a:txBody>
                    <a:bodyPr/>
                    <a:lstStyle/>
                    <a:p>
                      <a:r>
                        <a:rPr sz="1000" b="0">
                          <a:solidFill>
                            <a:srgbClr val="B3C4D6"/>
                          </a:solidFill>
                        </a:rPr>
                        <a:t>The event word, such as delivered, gave, hired</a:t>
                      </a:r>
                    </a:p>
                  </a:txBody>
                  <a:tcPr marL="36576" marR="36576" marT="27432" marB="27432">
                    <a:solidFill>
                      <a:srgbClr val="16263B"/>
                    </a:solidFill>
                  </a:tcPr>
                </a:tc>
              </a:tr>
              <a:tr h="563880">
                <a:tc>
                  <a:txBody>
                    <a:bodyPr/>
                    <a:lstStyle/>
                    <a:p>
                      <a:r>
                        <a:rPr sz="1000" b="0">
                          <a:solidFill>
                            <a:srgbClr val="B3C4D6"/>
                          </a:solidFill>
                        </a:rPr>
                        <a:t>Argument</a:t>
                      </a:r>
                    </a:p>
                  </a:txBody>
                  <a:tcPr marL="36576" marR="36576" marT="27432" marB="27432">
                    <a:solidFill>
                      <a:srgbClr val="16263B"/>
                    </a:solidFill>
                  </a:tcPr>
                </a:tc>
                <a:tc>
                  <a:txBody>
                    <a:bodyPr/>
                    <a:lstStyle/>
                    <a:p>
                      <a:r>
                        <a:rPr sz="1000" b="0">
                          <a:solidFill>
                            <a:srgbClr val="B3C4D6"/>
                          </a:solidFill>
                        </a:rPr>
                        <a:t>A participant or modifier of the event</a:t>
                      </a:r>
                    </a:p>
                  </a:txBody>
                  <a:tcPr marL="36576" marR="36576" marT="27432" marB="27432">
                    <a:solidFill>
                      <a:srgbClr val="16263B"/>
                    </a:solidFill>
                  </a:tcPr>
                </a:tc>
              </a:tr>
              <a:tr h="563880">
                <a:tc>
                  <a:txBody>
                    <a:bodyPr/>
                    <a:lstStyle/>
                    <a:p>
                      <a:r>
                        <a:rPr sz="1000" b="0">
                          <a:solidFill>
                            <a:srgbClr val="B3C4D6"/>
                          </a:solidFill>
                        </a:rPr>
                        <a:t>ARG0</a:t>
                      </a:r>
                    </a:p>
                  </a:txBody>
                  <a:tcPr marL="36576" marR="36576" marT="27432" marB="27432">
                    <a:solidFill>
                      <a:srgbClr val="16263B"/>
                    </a:solidFill>
                  </a:tcPr>
                </a:tc>
                <a:tc>
                  <a:txBody>
                    <a:bodyPr/>
                    <a:lstStyle/>
                    <a:p>
                      <a:r>
                        <a:rPr sz="1000" b="0">
                          <a:solidFill>
                            <a:srgbClr val="B3C4D6"/>
                          </a:solidFill>
                        </a:rPr>
                        <a:t>Usually the doer or agent</a:t>
                      </a:r>
                    </a:p>
                  </a:txBody>
                  <a:tcPr marL="36576" marR="36576" marT="27432" marB="27432">
                    <a:solidFill>
                      <a:srgbClr val="16263B"/>
                    </a:solidFill>
                  </a:tcPr>
                </a:tc>
              </a:tr>
              <a:tr h="563880">
                <a:tc>
                  <a:txBody>
                    <a:bodyPr/>
                    <a:lstStyle/>
                    <a:p>
                      <a:r>
                        <a:rPr sz="1000" b="0">
                          <a:solidFill>
                            <a:srgbClr val="B3C4D6"/>
                          </a:solidFill>
                        </a:rPr>
                        <a:t>ARG1</a:t>
                      </a:r>
                    </a:p>
                  </a:txBody>
                  <a:tcPr marL="36576" marR="36576" marT="27432" marB="27432">
                    <a:solidFill>
                      <a:srgbClr val="16263B"/>
                    </a:solidFill>
                  </a:tcPr>
                </a:tc>
                <a:tc>
                  <a:txBody>
                    <a:bodyPr/>
                    <a:lstStyle/>
                    <a:p>
                      <a:r>
                        <a:rPr sz="1000" b="0">
                          <a:solidFill>
                            <a:srgbClr val="B3C4D6"/>
                          </a:solidFill>
                        </a:rPr>
                        <a:t>Usually the main thing affected or transferred</a:t>
                      </a:r>
                    </a:p>
                  </a:txBody>
                  <a:tcPr marL="36576" marR="36576" marT="27432" marB="27432">
                    <a:solidFill>
                      <a:srgbClr val="16263B"/>
                    </a:solidFill>
                  </a:tcPr>
                </a:tc>
              </a:tr>
              <a:tr h="563880">
                <a:tc>
                  <a:txBody>
                    <a:bodyPr/>
                    <a:lstStyle/>
                    <a:p>
                      <a:r>
                        <a:rPr sz="1000" b="0">
                          <a:solidFill>
                            <a:srgbClr val="B3C4D6"/>
                          </a:solidFill>
                        </a:rPr>
                        <a:t>ARG2</a:t>
                      </a:r>
                    </a:p>
                  </a:txBody>
                  <a:tcPr marL="36576" marR="36576" marT="27432" marB="27432">
                    <a:solidFill>
                      <a:srgbClr val="16263B"/>
                    </a:solidFill>
                  </a:tcPr>
                </a:tc>
                <a:tc>
                  <a:txBody>
                    <a:bodyPr/>
                    <a:lstStyle/>
                    <a:p>
                      <a:r>
                        <a:rPr sz="1000" b="0">
                          <a:solidFill>
                            <a:srgbClr val="B3C4D6"/>
                          </a:solidFill>
                        </a:rPr>
                        <a:t>Often recipient, destination, or secondary participant</a:t>
                      </a:r>
                    </a:p>
                  </a:txBody>
                  <a:tcPr marL="36576" marR="36576" marT="27432" marB="27432">
                    <a:solidFill>
                      <a:srgbClr val="16263B"/>
                    </a:solidFill>
                  </a:tcPr>
                </a:tc>
              </a:tr>
              <a:tr h="563880">
                <a:tc>
                  <a:txBody>
                    <a:bodyPr/>
                    <a:lstStyle/>
                    <a:p>
                      <a:r>
                        <a:rPr sz="1000" b="0">
                          <a:solidFill>
                            <a:srgbClr val="B3C4D6"/>
                          </a:solidFill>
                        </a:rPr>
                        <a:t>ARGM-LOC</a:t>
                      </a:r>
                    </a:p>
                  </a:txBody>
                  <a:tcPr marL="36576" marR="36576" marT="27432" marB="27432">
                    <a:solidFill>
                      <a:srgbClr val="16263B"/>
                    </a:solidFill>
                  </a:tcPr>
                </a:tc>
                <a:tc>
                  <a:txBody>
                    <a:bodyPr/>
                    <a:lstStyle/>
                    <a:p>
                      <a:r>
                        <a:rPr sz="1000" b="0">
                          <a:solidFill>
                            <a:srgbClr val="B3C4D6"/>
                          </a:solidFill>
                        </a:rPr>
                        <a:t>Location modifier, such as to the office</a:t>
                      </a:r>
                    </a:p>
                  </a:txBody>
                  <a:tcPr marL="36576" marR="36576" marT="27432" marB="27432">
                    <a:solidFill>
                      <a:srgbClr val="16263B"/>
                    </a:solidFill>
                  </a:tcPr>
                </a:tc>
              </a:tr>
              <a:tr h="563880">
                <a:tc>
                  <a:txBody>
                    <a:bodyPr/>
                    <a:lstStyle/>
                    <a:p>
                      <a:r>
                        <a:rPr sz="1000" b="0">
                          <a:solidFill>
                            <a:srgbClr val="B3C4D6"/>
                          </a:solidFill>
                        </a:rPr>
                        <a:t>Token F1</a:t>
                      </a:r>
                    </a:p>
                  </a:txBody>
                  <a:tcPr marL="36576" marR="36576" marT="27432" marB="27432">
                    <a:solidFill>
                      <a:srgbClr val="16263B"/>
                    </a:solidFill>
                  </a:tcPr>
                </a:tc>
                <a:tc>
                  <a:txBody>
                    <a:bodyPr/>
                    <a:lstStyle/>
                    <a:p>
                      <a:r>
                        <a:rPr sz="1000" b="0">
                          <a:solidFill>
                            <a:srgbClr val="B3C4D6"/>
                          </a:solidFill>
                        </a:rPr>
                        <a:t>Token overlap between predicted and gold answer</a:t>
                      </a:r>
                    </a:p>
                  </a:txBody>
                  <a:tcPr marL="36576" marR="36576" marT="27432" marB="27432">
                    <a:solidFill>
                      <a:srgbClr val="16263B"/>
                    </a:solidFill>
                  </a:tcPr>
                </a:tc>
              </a:tr>
              <a:tr h="563880">
                <a:tc>
                  <a:txBody>
                    <a:bodyPr/>
                    <a:lstStyle/>
                    <a:p>
                      <a:r>
                        <a:rPr sz="1000" b="0">
                          <a:solidFill>
                            <a:srgbClr val="B3C4D6"/>
                          </a:solidFill>
                        </a:rPr>
                        <a:t>Exact match</a:t>
                      </a:r>
                    </a:p>
                  </a:txBody>
                  <a:tcPr marL="36576" marR="36576" marT="27432" marB="27432">
                    <a:solidFill>
                      <a:srgbClr val="16263B"/>
                    </a:solidFill>
                  </a:tcPr>
                </a:tc>
                <a:tc>
                  <a:txBody>
                    <a:bodyPr/>
                    <a:lstStyle/>
                    <a:p>
                      <a:r>
                        <a:rPr sz="1000" b="0">
                          <a:solidFill>
                            <a:srgbClr val="B3C4D6"/>
                          </a:solidFill>
                        </a:rPr>
                        <a:t>Strict span match after normalization</a:t>
                      </a:r>
                    </a:p>
                  </a:txBody>
                  <a:tcPr marL="36576" marR="36576" marT="27432" marB="27432">
                    <a:solidFill>
                      <a:srgbClr val="16263B"/>
                    </a:solidFill>
                  </a:tcPr>
                </a:tc>
              </a:tr>
            </a:tbl>
          </a:graphicData>
        </a:graphic>
      </p:graphicFrame>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0C1726"/>
        </a:solidFill>
        <a:effectLst/>
      </p:bgPr>
    </p:bg>
    <p:spTree>
      <p:nvGrpSpPr>
        <p:cNvPr id="1" name=""/>
        <p:cNvGrpSpPr/>
        <p:nvPr/>
      </p:nvGrpSpPr>
      <p:grpSpPr/>
      <p:sp>
        <p:nvSpPr>
          <p:cNvPr id="2" name="Rectangle 1"/>
          <p:cNvSpPr/>
          <p:nvPr/>
        </p:nvSpPr>
        <p:spPr>
          <a:xfrm>
            <a:off x="0" y="0"/>
            <a:ext cx="12192000" cy="109728"/>
          </a:xfrm>
          <a:prstGeom prst="rect">
            <a:avLst/>
          </a:prstGeom>
          <a:solidFill>
            <a:srgbClr val="39BE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502920"/>
          </a:xfrm>
          <a:prstGeom prst="rect">
            <a:avLst/>
          </a:prstGeom>
          <a:noFill/>
        </p:spPr>
        <p:txBody>
          <a:bodyPr wrap="none">
            <a:spAutoFit/>
          </a:bodyPr>
          <a:lstStyle/>
          <a:p>
            <a:r>
              <a:rPr sz="2500" b="1">
                <a:solidFill>
                  <a:srgbClr val="EEF4FA"/>
                </a:solidFill>
              </a:rPr>
              <a:t>End-To-End RAISE Flow</a:t>
            </a:r>
          </a:p>
        </p:txBody>
      </p:sp>
      <p:sp>
        <p:nvSpPr>
          <p:cNvPr id="4" name="TextBox 3"/>
          <p:cNvSpPr txBox="1"/>
          <p:nvPr/>
        </p:nvSpPr>
        <p:spPr>
          <a:xfrm>
            <a:off x="530352" y="804672"/>
            <a:ext cx="10789920" cy="256032"/>
          </a:xfrm>
          <a:prstGeom prst="rect">
            <a:avLst/>
          </a:prstGeom>
          <a:noFill/>
        </p:spPr>
        <p:txBody>
          <a:bodyPr wrap="none">
            <a:spAutoFit/>
          </a:bodyPr>
          <a:lstStyle/>
          <a:p>
            <a:r>
              <a:rPr sz="900">
                <a:solidFill>
                  <a:srgbClr val="B3C4D6"/>
                </a:solidFill>
              </a:rPr>
              <a:t>RAISE-SRL-QA update</a:t>
            </a:r>
          </a:p>
        </p:txBody>
      </p:sp>
      <p:sp>
        <p:nvSpPr>
          <p:cNvPr id="5" name="TextBox 4"/>
          <p:cNvSpPr txBox="1"/>
          <p:nvPr/>
        </p:nvSpPr>
        <p:spPr>
          <a:xfrm>
            <a:off x="502920" y="6473952"/>
            <a:ext cx="11155680" cy="228600"/>
          </a:xfrm>
          <a:prstGeom prst="rect">
            <a:avLst/>
          </a:prstGeom>
          <a:noFill/>
        </p:spPr>
        <p:txBody>
          <a:bodyPr wrap="none">
            <a:spAutoFit/>
          </a:bodyPr>
          <a:lstStyle/>
          <a:p>
            <a:r>
              <a:rPr sz="800">
                <a:solidFill>
                  <a:srgbClr val="B3C4D6"/>
                </a:solidFill>
              </a:rPr>
              <a:t>Local implemented values only. Seed-suite results are not official public SOTA claims.</a:t>
            </a:r>
          </a:p>
        </p:txBody>
      </p:sp>
      <p:sp>
        <p:nvSpPr>
          <p:cNvPr id="6" name="Rounded Rectangle 5"/>
          <p:cNvSpPr/>
          <p:nvPr/>
        </p:nvSpPr>
        <p:spPr>
          <a:xfrm>
            <a:off x="502920" y="1417320"/>
            <a:ext cx="2423160" cy="749808"/>
          </a:xfrm>
          <a:prstGeom prst="roundRect">
            <a:avLst/>
          </a:prstGeom>
          <a:solidFill>
            <a:srgbClr val="16263B"/>
          </a:solidFill>
          <a:ln>
            <a:solidFill>
              <a:srgbClr val="39BEB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EEF4FA"/>
                </a:solidFill>
              </a:rPr>
              <a:t>Context + Question</a:t>
            </a:r>
          </a:p>
        </p:txBody>
      </p:sp>
      <p:sp>
        <p:nvSpPr>
          <p:cNvPr id="7" name="Rounded Rectangle 6"/>
          <p:cNvSpPr/>
          <p:nvPr/>
        </p:nvSpPr>
        <p:spPr>
          <a:xfrm>
            <a:off x="3383280" y="1417320"/>
            <a:ext cx="2423160" cy="749808"/>
          </a:xfrm>
          <a:prstGeom prst="roundRect">
            <a:avLst/>
          </a:prstGeom>
          <a:solidFill>
            <a:srgbClr val="16263B"/>
          </a:solidFill>
          <a:ln>
            <a:solidFill>
              <a:srgbClr val="39BEB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EEF4FA"/>
                </a:solidFill>
              </a:rPr>
              <a:t>Question Intent Parser</a:t>
            </a:r>
          </a:p>
        </p:txBody>
      </p:sp>
      <p:sp>
        <p:nvSpPr>
          <p:cNvPr id="8" name="Rounded Rectangle 7"/>
          <p:cNvSpPr/>
          <p:nvPr/>
        </p:nvSpPr>
        <p:spPr>
          <a:xfrm>
            <a:off x="6263640" y="1417320"/>
            <a:ext cx="2423160" cy="749808"/>
          </a:xfrm>
          <a:prstGeom prst="roundRect">
            <a:avLst/>
          </a:prstGeom>
          <a:solidFill>
            <a:srgbClr val="16263B"/>
          </a:solidFill>
          <a:ln>
            <a:solidFill>
              <a:srgbClr val="39BEB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EEF4FA"/>
                </a:solidFill>
              </a:rPr>
              <a:t>Predicate Detector</a:t>
            </a:r>
          </a:p>
        </p:txBody>
      </p:sp>
      <p:sp>
        <p:nvSpPr>
          <p:cNvPr id="9" name="Rounded Rectangle 8"/>
          <p:cNvSpPr/>
          <p:nvPr/>
        </p:nvSpPr>
        <p:spPr>
          <a:xfrm>
            <a:off x="9144000" y="1417320"/>
            <a:ext cx="2423160" cy="749808"/>
          </a:xfrm>
          <a:prstGeom prst="roundRect">
            <a:avLst/>
          </a:prstGeom>
          <a:solidFill>
            <a:srgbClr val="16263B"/>
          </a:solidFill>
          <a:ln>
            <a:solidFill>
              <a:srgbClr val="39BEB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EEF4FA"/>
                </a:solidFill>
              </a:rPr>
              <a:t>PropBank Frame Retrieval</a:t>
            </a:r>
          </a:p>
        </p:txBody>
      </p:sp>
      <p:sp>
        <p:nvSpPr>
          <p:cNvPr id="10" name="Rounded Rectangle 9"/>
          <p:cNvSpPr/>
          <p:nvPr/>
        </p:nvSpPr>
        <p:spPr>
          <a:xfrm>
            <a:off x="502920" y="3246120"/>
            <a:ext cx="2423160" cy="749808"/>
          </a:xfrm>
          <a:prstGeom prst="roundRect">
            <a:avLst/>
          </a:prstGeom>
          <a:solidFill>
            <a:srgbClr val="16263B"/>
          </a:solidFill>
          <a:ln>
            <a:solidFill>
              <a:srgbClr val="39BEB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EEF4FA"/>
                </a:solidFill>
              </a:rPr>
              <a:t>Candidate Span Generator</a:t>
            </a:r>
          </a:p>
        </p:txBody>
      </p:sp>
      <p:sp>
        <p:nvSpPr>
          <p:cNvPr id="11" name="Rounded Rectangle 10"/>
          <p:cNvSpPr/>
          <p:nvPr/>
        </p:nvSpPr>
        <p:spPr>
          <a:xfrm>
            <a:off x="3383280" y="3246120"/>
            <a:ext cx="2423160" cy="749808"/>
          </a:xfrm>
          <a:prstGeom prst="roundRect">
            <a:avLst/>
          </a:prstGeom>
          <a:solidFill>
            <a:srgbClr val="16263B"/>
          </a:solidFill>
          <a:ln>
            <a:solidFill>
              <a:srgbClr val="39BEB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EEF4FA"/>
                </a:solidFill>
              </a:rPr>
              <a:t>Constrained Decoder</a:t>
            </a:r>
          </a:p>
        </p:txBody>
      </p:sp>
      <p:sp>
        <p:nvSpPr>
          <p:cNvPr id="12" name="Rounded Rectangle 11"/>
          <p:cNvSpPr/>
          <p:nvPr/>
        </p:nvSpPr>
        <p:spPr>
          <a:xfrm>
            <a:off x="6263640" y="3246120"/>
            <a:ext cx="2423160" cy="749808"/>
          </a:xfrm>
          <a:prstGeom prst="roundRect">
            <a:avLst/>
          </a:prstGeom>
          <a:solidFill>
            <a:srgbClr val="16263B"/>
          </a:solidFill>
          <a:ln>
            <a:solidFill>
              <a:srgbClr val="39BEB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EEF4FA"/>
                </a:solidFill>
              </a:rPr>
              <a:t>Verifier + Correction</a:t>
            </a:r>
          </a:p>
        </p:txBody>
      </p:sp>
      <p:sp>
        <p:nvSpPr>
          <p:cNvPr id="13" name="Rounded Rectangle 12"/>
          <p:cNvSpPr/>
          <p:nvPr/>
        </p:nvSpPr>
        <p:spPr>
          <a:xfrm>
            <a:off x="9144000" y="3246120"/>
            <a:ext cx="2423160" cy="749808"/>
          </a:xfrm>
          <a:prstGeom prst="roundRect">
            <a:avLst/>
          </a:prstGeom>
          <a:solidFill>
            <a:srgbClr val="16263B"/>
          </a:solidFill>
          <a:ln>
            <a:solidFill>
              <a:srgbClr val="39BEBD"/>
            </a:solidFill>
          </a:ln>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000" b="1">
                <a:solidFill>
                  <a:srgbClr val="EEF4FA"/>
                </a:solidFill>
              </a:rPr>
              <a:t>Answer + Role + Confidence</a:t>
            </a:r>
          </a:p>
        </p:txBody>
      </p:sp>
      <p:cxnSp>
        <p:nvCxnSpPr>
          <p:cNvPr id="14" name="Connector 13"/>
          <p:cNvCxnSpPr/>
          <p:nvPr/>
        </p:nvCxnSpPr>
        <p:spPr>
          <a:xfrm>
            <a:off x="2926080" y="1792224"/>
            <a:ext cx="457200" cy="0"/>
          </a:xfrm>
          <a:prstGeom prst="line">
            <a:avLst/>
          </a:prstGeom>
          <a:ln w="25400">
            <a:solidFill>
              <a:srgbClr val="39BEBD"/>
            </a:solidFill>
          </a:ln>
        </p:spPr>
        <p:style>
          <a:lnRef idx="2">
            <a:schemeClr val="accent1"/>
          </a:lnRef>
          <a:fillRef idx="0">
            <a:schemeClr val="accent1"/>
          </a:fillRef>
          <a:effectRef idx="1">
            <a:schemeClr val="accent1"/>
          </a:effectRef>
          <a:fontRef idx="minor">
            <a:schemeClr val="tx1"/>
          </a:fontRef>
        </p:style>
      </p:cxnSp>
      <p:cxnSp>
        <p:nvCxnSpPr>
          <p:cNvPr id="15" name="Connector 14"/>
          <p:cNvCxnSpPr/>
          <p:nvPr/>
        </p:nvCxnSpPr>
        <p:spPr>
          <a:xfrm>
            <a:off x="5806440" y="1792224"/>
            <a:ext cx="457200" cy="0"/>
          </a:xfrm>
          <a:prstGeom prst="line">
            <a:avLst/>
          </a:prstGeom>
          <a:ln w="25400">
            <a:solidFill>
              <a:srgbClr val="39BEBD"/>
            </a:solidFill>
          </a:ln>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8686800" y="1792224"/>
            <a:ext cx="457200" cy="0"/>
          </a:xfrm>
          <a:prstGeom prst="line">
            <a:avLst/>
          </a:prstGeom>
          <a:ln w="25400">
            <a:solidFill>
              <a:srgbClr val="39BEBD"/>
            </a:solidFill>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flipH="1">
            <a:off x="1719072" y="2167128"/>
            <a:ext cx="8641080" cy="1078992"/>
          </a:xfrm>
          <a:prstGeom prst="line">
            <a:avLst/>
          </a:prstGeom>
          <a:ln w="25400">
            <a:solidFill>
              <a:srgbClr val="39BEBD"/>
            </a:solidFill>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2926080" y="3621024"/>
            <a:ext cx="457200" cy="0"/>
          </a:xfrm>
          <a:prstGeom prst="line">
            <a:avLst/>
          </a:prstGeom>
          <a:ln w="25400">
            <a:solidFill>
              <a:srgbClr val="39BEBD"/>
            </a:solidFill>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5806440" y="3621024"/>
            <a:ext cx="457200" cy="0"/>
          </a:xfrm>
          <a:prstGeom prst="line">
            <a:avLst/>
          </a:prstGeom>
          <a:ln w="25400">
            <a:solidFill>
              <a:srgbClr val="39BEBD"/>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8686800" y="3621024"/>
            <a:ext cx="457200" cy="0"/>
          </a:xfrm>
          <a:prstGeom prst="line">
            <a:avLst/>
          </a:prstGeom>
          <a:ln w="25400">
            <a:solidFill>
              <a:srgbClr val="39BEBD"/>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868680" y="4892040"/>
            <a:ext cx="10424160" cy="822960"/>
          </a:xfrm>
          <a:prstGeom prst="rect">
            <a:avLst/>
          </a:prstGeom>
          <a:noFill/>
        </p:spPr>
        <p:txBody>
          <a:bodyPr wrap="square">
            <a:normAutofit/>
          </a:bodyPr>
          <a:lstStyle/>
          <a:p>
            <a:pPr algn="ctr"/>
            <a:r>
              <a:rPr sz="1500" b="1">
                <a:solidFill>
                  <a:srgbClr val="EEF4FA"/>
                </a:solidFill>
              </a:rPr>
              <a:t>Key explanation: the system is extractive. The verifier and correction loop choose among spans that occur in the original context, which reduces hallucination risk.</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0C1726"/>
        </a:solidFill>
        <a:effectLst/>
      </p:bgPr>
    </p:bg>
    <p:spTree>
      <p:nvGrpSpPr>
        <p:cNvPr id="1" name=""/>
        <p:cNvGrpSpPr/>
        <p:nvPr/>
      </p:nvGrpSpPr>
      <p:grpSpPr/>
      <p:sp>
        <p:nvSpPr>
          <p:cNvPr id="2" name="Rectangle 1"/>
          <p:cNvSpPr/>
          <p:nvPr/>
        </p:nvSpPr>
        <p:spPr>
          <a:xfrm>
            <a:off x="0" y="0"/>
            <a:ext cx="12192000" cy="109728"/>
          </a:xfrm>
          <a:prstGeom prst="rect">
            <a:avLst/>
          </a:prstGeom>
          <a:solidFill>
            <a:srgbClr val="39BE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502920"/>
          </a:xfrm>
          <a:prstGeom prst="rect">
            <a:avLst/>
          </a:prstGeom>
          <a:noFill/>
        </p:spPr>
        <p:txBody>
          <a:bodyPr wrap="none">
            <a:spAutoFit/>
          </a:bodyPr>
          <a:lstStyle/>
          <a:p>
            <a:r>
              <a:rPr sz="2500" b="1">
                <a:solidFill>
                  <a:srgbClr val="EEF4FA"/>
                </a:solidFill>
              </a:rPr>
              <a:t>Demo Flow: User Asks A Question</a:t>
            </a:r>
          </a:p>
        </p:txBody>
      </p:sp>
      <p:sp>
        <p:nvSpPr>
          <p:cNvPr id="4" name="TextBox 3"/>
          <p:cNvSpPr txBox="1"/>
          <p:nvPr/>
        </p:nvSpPr>
        <p:spPr>
          <a:xfrm>
            <a:off x="530352" y="804672"/>
            <a:ext cx="10789920" cy="256032"/>
          </a:xfrm>
          <a:prstGeom prst="rect">
            <a:avLst/>
          </a:prstGeom>
          <a:noFill/>
        </p:spPr>
        <p:txBody>
          <a:bodyPr wrap="none">
            <a:spAutoFit/>
          </a:bodyPr>
          <a:lstStyle/>
          <a:p>
            <a:r>
              <a:rPr sz="900">
                <a:solidFill>
                  <a:srgbClr val="B3C4D6"/>
                </a:solidFill>
              </a:rPr>
              <a:t>RAISE-SRL-QA update</a:t>
            </a:r>
          </a:p>
        </p:txBody>
      </p:sp>
      <p:sp>
        <p:nvSpPr>
          <p:cNvPr id="5" name="TextBox 4"/>
          <p:cNvSpPr txBox="1"/>
          <p:nvPr/>
        </p:nvSpPr>
        <p:spPr>
          <a:xfrm>
            <a:off x="502920" y="6473952"/>
            <a:ext cx="11155680" cy="228600"/>
          </a:xfrm>
          <a:prstGeom prst="rect">
            <a:avLst/>
          </a:prstGeom>
          <a:noFill/>
        </p:spPr>
        <p:txBody>
          <a:bodyPr wrap="none">
            <a:spAutoFit/>
          </a:bodyPr>
          <a:lstStyle/>
          <a:p>
            <a:r>
              <a:rPr sz="800">
                <a:solidFill>
                  <a:srgbClr val="B3C4D6"/>
                </a:solidFill>
              </a:rPr>
              <a:t>Local implemented values only. Seed-suite results are not official public SOTA claims.</a:t>
            </a:r>
          </a:p>
        </p:txBody>
      </p:sp>
      <p:sp>
        <p:nvSpPr>
          <p:cNvPr id="6" name="Rounded Rectangle 5"/>
          <p:cNvSpPr/>
          <p:nvPr/>
        </p:nvSpPr>
        <p:spPr>
          <a:xfrm>
            <a:off x="685800" y="1234440"/>
            <a:ext cx="5303520" cy="2103120"/>
          </a:xfrm>
          <a:prstGeom prst="roundRect">
            <a:avLst/>
          </a:prstGeom>
          <a:solidFill>
            <a:srgbClr val="16263B"/>
          </a:solidFill>
          <a:ln>
            <a:solidFill>
              <a:srgbClr val="374E67"/>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91440"/>
          <a:lstStyle/>
          <a:p>
            <a:pPr algn="ctr"/>
            <a:r>
              <a:rPr sz="1400" b="1">
                <a:solidFill>
                  <a:srgbClr val="39BEBD"/>
                </a:solidFill>
              </a:rPr>
              <a:t>Terminal demo</a:t>
            </a:r>
          </a:p>
          <a:p>
            <a:pPr>
              <a:defRPr sz="1200">
                <a:solidFill>
                  <a:srgbClr val="EEF4FA"/>
                </a:solidFill>
              </a:defRPr>
            </a:pPr>
            <a:r>
              <a:t>cd "C:\Users\RAVIPRAKASH\Downloads\NLP Project\srlqa"</a:t>
            </a:r>
          </a:p>
          <a:p>
            <a:pPr>
              <a:defRPr sz="1200">
                <a:solidFill>
                  <a:srgbClr val="EEF4FA"/>
                </a:solidFill>
              </a:defRPr>
            </a:pPr>
            <a:r>
              <a:t>python run_all_models.py</a:t>
            </a:r>
          </a:p>
          <a:p>
            <a:pPr>
              <a:defRPr sz="1200">
                <a:solidFill>
                  <a:srgbClr val="EEF4FA"/>
                </a:solidFill>
              </a:defRPr>
            </a:pPr>
            <a:r>
              <a:t>Choose all for side-by-side outputs</a:t>
            </a:r>
          </a:p>
          <a:p>
            <a:pPr>
              <a:defRPr sz="1200">
                <a:solidFill>
                  <a:srgbClr val="EEF4FA"/>
                </a:solidFill>
              </a:defRPr>
            </a:pPr>
            <a:r>
              <a:t>Paste context and question</a:t>
            </a:r>
          </a:p>
        </p:txBody>
      </p:sp>
      <p:sp>
        <p:nvSpPr>
          <p:cNvPr id="7" name="Rounded Rectangle 6"/>
          <p:cNvSpPr/>
          <p:nvPr/>
        </p:nvSpPr>
        <p:spPr>
          <a:xfrm>
            <a:off x="6263640" y="1234440"/>
            <a:ext cx="5257800" cy="2103120"/>
          </a:xfrm>
          <a:prstGeom prst="roundRect">
            <a:avLst/>
          </a:prstGeom>
          <a:solidFill>
            <a:srgbClr val="16263B"/>
          </a:solidFill>
          <a:ln>
            <a:solidFill>
              <a:srgbClr val="374E67"/>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91440"/>
          <a:lstStyle/>
          <a:p>
            <a:pPr algn="ctr"/>
            <a:r>
              <a:rPr sz="1400" b="1">
                <a:solidFill>
                  <a:srgbClr val="39BEBD"/>
                </a:solidFill>
              </a:rPr>
              <a:t>Streamlit demo</a:t>
            </a:r>
          </a:p>
          <a:p>
            <a:pPr>
              <a:defRPr sz="1200">
                <a:solidFill>
                  <a:srgbClr val="EEF4FA"/>
                </a:solidFill>
              </a:defRPr>
            </a:pPr>
            <a:r>
              <a:t>streamlit run raise_streamlit_app.py</a:t>
            </a:r>
          </a:p>
          <a:p>
            <a:pPr>
              <a:defRPr sz="1200">
                <a:solidFill>
                  <a:srgbClr val="EEF4FA"/>
                </a:solidFill>
              </a:defRPr>
            </a:pPr>
            <a:r>
              <a:t>Use the RAISE app for live interaction</a:t>
            </a:r>
          </a:p>
          <a:p>
            <a:pPr>
              <a:defRPr sz="1200">
                <a:solidFill>
                  <a:srgbClr val="EEF4FA"/>
                </a:solidFill>
              </a:defRPr>
            </a:pPr>
            <a:r>
              <a:t>Use existing app.py for the full project dashboard</a:t>
            </a:r>
          </a:p>
          <a:p>
            <a:pPr>
              <a:defRPr sz="1200">
                <a:solidFill>
                  <a:srgbClr val="EEF4FA"/>
                </a:solidFill>
              </a:defRPr>
            </a:pPr>
            <a:r>
              <a:t>Keep one clean example ready</a:t>
            </a:r>
          </a:p>
        </p:txBody>
      </p:sp>
      <p:sp>
        <p:nvSpPr>
          <p:cNvPr id="8" name="TextBox 7"/>
          <p:cNvSpPr txBox="1"/>
          <p:nvPr/>
        </p:nvSpPr>
        <p:spPr>
          <a:xfrm>
            <a:off x="777240" y="3657600"/>
            <a:ext cx="10607040" cy="411480"/>
          </a:xfrm>
          <a:prstGeom prst="rect">
            <a:avLst/>
          </a:prstGeom>
          <a:noFill/>
        </p:spPr>
        <p:txBody>
          <a:bodyPr wrap="square">
            <a:normAutofit/>
          </a:bodyPr>
          <a:lstStyle/>
          <a:p>
            <a:pPr algn="ctr"/>
            <a:r>
              <a:rPr sz="1600" b="1">
                <a:solidFill>
                  <a:srgbClr val="39BEBD"/>
                </a:solidFill>
              </a:rPr>
              <a:t>Recommended live example</a:t>
            </a:r>
          </a:p>
        </p:txBody>
      </p:sp>
      <p:graphicFrame>
        <p:nvGraphicFramePr>
          <p:cNvPr id="9" name="Table 8"/>
          <p:cNvGraphicFramePr>
            <a:graphicFrameLocks noGrp="1"/>
          </p:cNvGraphicFramePr>
          <p:nvPr/>
        </p:nvGraphicFramePr>
        <p:xfrm>
          <a:off x="914400" y="4224528"/>
          <a:ext cx="10149840" cy="1234440"/>
        </p:xfrm>
        <a:graphic>
          <a:graphicData uri="http://schemas.openxmlformats.org/drawingml/2006/table">
            <a:tbl>
              <a:tblPr firstRow="1" bandRow="1">
                <a:tableStyleId>{5C22544A-7EE6-4342-B048-85BDC9FD1C3A}</a:tableStyleId>
              </a:tblPr>
              <a:tblGrid>
                <a:gridCol w="2011680"/>
                <a:gridCol w="8138160"/>
              </a:tblGrid>
              <a:tr h="411480">
                <a:tc>
                  <a:txBody>
                    <a:bodyPr/>
                    <a:lstStyle/>
                    <a:p>
                      <a:r>
                        <a:rPr sz="1100" b="1">
                          <a:solidFill>
                            <a:srgbClr val="EEF4FA"/>
                          </a:solidFill>
                        </a:rPr>
                        <a:t>Context</a:t>
                      </a:r>
                    </a:p>
                  </a:txBody>
                  <a:tcPr marL="36576" marR="36576" marT="27432" marB="27432">
                    <a:solidFill>
                      <a:srgbClr val="1D334C"/>
                    </a:solidFill>
                  </a:tcPr>
                </a:tc>
                <a:tc>
                  <a:txBody>
                    <a:bodyPr/>
                    <a:lstStyle/>
                    <a:p>
                      <a:r>
                        <a:rPr sz="1100" b="1">
                          <a:solidFill>
                            <a:srgbClr val="EEF4FA"/>
                          </a:solidFill>
                        </a:rPr>
                        <a:t>The courier delivered the package to the office at noon.</a:t>
                      </a:r>
                    </a:p>
                  </a:txBody>
                  <a:tcPr marL="36576" marR="36576" marT="27432" marB="27432">
                    <a:solidFill>
                      <a:srgbClr val="1D334C"/>
                    </a:solidFill>
                  </a:tcPr>
                </a:tc>
              </a:tr>
              <a:tr h="411480">
                <a:tc>
                  <a:txBody>
                    <a:bodyPr/>
                    <a:lstStyle/>
                    <a:p>
                      <a:r>
                        <a:rPr sz="1100" b="0">
                          <a:solidFill>
                            <a:srgbClr val="B3C4D6"/>
                          </a:solidFill>
                        </a:rPr>
                        <a:t>Question</a:t>
                      </a:r>
                    </a:p>
                  </a:txBody>
                  <a:tcPr marL="36576" marR="36576" marT="27432" marB="27432">
                    <a:solidFill>
                      <a:srgbClr val="16263B"/>
                    </a:solidFill>
                  </a:tcPr>
                </a:tc>
                <a:tc>
                  <a:txBody>
                    <a:bodyPr/>
                    <a:lstStyle/>
                    <a:p>
                      <a:r>
                        <a:rPr sz="1100" b="0">
                          <a:solidFill>
                            <a:srgbClr val="B3C4D6"/>
                          </a:solidFill>
                        </a:rPr>
                        <a:t>Where was the package delivered?</a:t>
                      </a:r>
                    </a:p>
                  </a:txBody>
                  <a:tcPr marL="36576" marR="36576" marT="27432" marB="27432">
                    <a:solidFill>
                      <a:srgbClr val="16263B"/>
                    </a:solidFill>
                  </a:tcPr>
                </a:tc>
              </a:tr>
              <a:tr h="411480">
                <a:tc>
                  <a:txBody>
                    <a:bodyPr/>
                    <a:lstStyle/>
                    <a:p>
                      <a:r>
                        <a:rPr sz="1100" b="0">
                          <a:solidFill>
                            <a:srgbClr val="B3C4D6"/>
                          </a:solidFill>
                        </a:rPr>
                        <a:t>Strong answer</a:t>
                      </a:r>
                    </a:p>
                  </a:txBody>
                  <a:tcPr marL="36576" marR="36576" marT="27432" marB="27432">
                    <a:solidFill>
                      <a:srgbClr val="16263B"/>
                    </a:solidFill>
                  </a:tcPr>
                </a:tc>
                <a:tc>
                  <a:txBody>
                    <a:bodyPr/>
                    <a:lstStyle/>
                    <a:p>
                      <a:r>
                        <a:rPr sz="1100" b="0">
                          <a:solidFill>
                            <a:srgbClr val="B3C4D6"/>
                          </a:solidFill>
                        </a:rPr>
                        <a:t>to the office | ARGM-LOC | predicate: delivered</a:t>
                      </a:r>
                    </a:p>
                  </a:txBody>
                  <a:tcPr marL="36576" marR="36576" marT="27432" marB="27432">
                    <a:solidFill>
                      <a:srgbClr val="16263B"/>
                    </a:solidFill>
                  </a:tcPr>
                </a:tc>
              </a:tr>
            </a:tbl>
          </a:graphicData>
        </a:graphic>
      </p:graphicFrame>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0C1726"/>
        </a:solidFill>
        <a:effectLst/>
      </p:bgPr>
    </p:bg>
    <p:spTree>
      <p:nvGrpSpPr>
        <p:cNvPr id="1" name=""/>
        <p:cNvGrpSpPr/>
        <p:nvPr/>
      </p:nvGrpSpPr>
      <p:grpSpPr/>
      <p:sp>
        <p:nvSpPr>
          <p:cNvPr id="2" name="Rectangle 1"/>
          <p:cNvSpPr/>
          <p:nvPr/>
        </p:nvSpPr>
        <p:spPr>
          <a:xfrm>
            <a:off x="0" y="0"/>
            <a:ext cx="12192000" cy="109728"/>
          </a:xfrm>
          <a:prstGeom prst="rect">
            <a:avLst/>
          </a:prstGeom>
          <a:solidFill>
            <a:srgbClr val="39BE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502920"/>
          </a:xfrm>
          <a:prstGeom prst="rect">
            <a:avLst/>
          </a:prstGeom>
          <a:noFill/>
        </p:spPr>
        <p:txBody>
          <a:bodyPr wrap="none">
            <a:spAutoFit/>
          </a:bodyPr>
          <a:lstStyle/>
          <a:p>
            <a:r>
              <a:rPr sz="2500" b="1">
                <a:solidFill>
                  <a:srgbClr val="EEF4FA"/>
                </a:solidFill>
              </a:rPr>
              <a:t>Implemented Values Only</a:t>
            </a:r>
          </a:p>
        </p:txBody>
      </p:sp>
      <p:sp>
        <p:nvSpPr>
          <p:cNvPr id="4" name="TextBox 3"/>
          <p:cNvSpPr txBox="1"/>
          <p:nvPr/>
        </p:nvSpPr>
        <p:spPr>
          <a:xfrm>
            <a:off x="530352" y="804672"/>
            <a:ext cx="10789920" cy="256032"/>
          </a:xfrm>
          <a:prstGeom prst="rect">
            <a:avLst/>
          </a:prstGeom>
          <a:noFill/>
        </p:spPr>
        <p:txBody>
          <a:bodyPr wrap="none">
            <a:spAutoFit/>
          </a:bodyPr>
          <a:lstStyle/>
          <a:p>
            <a:r>
              <a:rPr sz="900">
                <a:solidFill>
                  <a:srgbClr val="B3C4D6"/>
                </a:solidFill>
              </a:rPr>
              <a:t>RAISE-SRL-QA update</a:t>
            </a:r>
          </a:p>
        </p:txBody>
      </p:sp>
      <p:sp>
        <p:nvSpPr>
          <p:cNvPr id="5" name="TextBox 4"/>
          <p:cNvSpPr txBox="1"/>
          <p:nvPr/>
        </p:nvSpPr>
        <p:spPr>
          <a:xfrm>
            <a:off x="502920" y="6473952"/>
            <a:ext cx="11155680" cy="228600"/>
          </a:xfrm>
          <a:prstGeom prst="rect">
            <a:avLst/>
          </a:prstGeom>
          <a:noFill/>
        </p:spPr>
        <p:txBody>
          <a:bodyPr wrap="none">
            <a:spAutoFit/>
          </a:bodyPr>
          <a:lstStyle/>
          <a:p>
            <a:r>
              <a:rPr sz="800">
                <a:solidFill>
                  <a:srgbClr val="B3C4D6"/>
                </a:solidFill>
              </a:rPr>
              <a:t>Local implemented values only. Seed-suite results are not official public SOTA claims.</a:t>
            </a:r>
          </a:p>
        </p:txBody>
      </p:sp>
      <p:graphicFrame>
        <p:nvGraphicFramePr>
          <p:cNvPr id="6" name="Chart 5"/>
          <p:cNvGraphicFramePr>
            <a:graphicFrameLocks noGrp="1"/>
          </p:cNvGraphicFramePr>
          <p:nvPr/>
        </p:nvGraphicFramePr>
        <p:xfrm>
          <a:off x="685800" y="1325880"/>
          <a:ext cx="5943600" cy="3886200"/>
        </p:xfrm>
        <a:graphic>
          <a:graphicData uri="http://schemas.openxmlformats.org/drawingml/2006/chart">
            <c:chart xmlns:c="http://schemas.openxmlformats.org/drawingml/2006/chart" r:id="rId2"/>
          </a:graphicData>
        </a:graphic>
      </p:graphicFrame>
      <p:sp>
        <p:nvSpPr>
          <p:cNvPr id="7" name="Rounded Rectangle 6"/>
          <p:cNvSpPr/>
          <p:nvPr/>
        </p:nvSpPr>
        <p:spPr>
          <a:xfrm>
            <a:off x="6995160" y="1325880"/>
            <a:ext cx="4434840" cy="3886200"/>
          </a:xfrm>
          <a:prstGeom prst="roundRect">
            <a:avLst/>
          </a:prstGeom>
          <a:solidFill>
            <a:srgbClr val="16263B"/>
          </a:solidFill>
          <a:ln>
            <a:solidFill>
              <a:srgbClr val="374E67"/>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91440"/>
          <a:lstStyle/>
          <a:p>
            <a:pPr algn="ctr"/>
            <a:r>
              <a:rPr sz="1400" b="1">
                <a:solidFill>
                  <a:srgbClr val="39BEBD"/>
                </a:solidFill>
              </a:rPr>
              <a:t>Safe values to present</a:t>
            </a:r>
          </a:p>
          <a:p>
            <a:pPr>
              <a:defRPr sz="1200">
                <a:solidFill>
                  <a:srgbClr val="EEF4FA"/>
                </a:solidFill>
              </a:defRPr>
            </a:pPr>
            <a:r>
              <a:t>QA pairs: 23,007</a:t>
            </a:r>
          </a:p>
          <a:p>
            <a:pPr>
              <a:defRPr sz="1200">
                <a:solidFill>
                  <a:srgbClr val="EEF4FA"/>
                </a:solidFill>
              </a:defRPr>
            </a:pPr>
            <a:r>
              <a:t>Usable PropBank instances: 9,073</a:t>
            </a:r>
          </a:p>
          <a:p>
            <a:pPr>
              <a:defRPr sz="1200">
                <a:solidFill>
                  <a:srgbClr val="EEF4FA"/>
                </a:solidFill>
              </a:defRPr>
            </a:pPr>
            <a:r>
              <a:t>Unique predicates: 1,340</a:t>
            </a:r>
          </a:p>
          <a:p>
            <a:pPr>
              <a:defRPr sz="1200">
                <a:solidFill>
                  <a:srgbClr val="EEF4FA"/>
                </a:solidFill>
              </a:defRPr>
            </a:pPr>
            <a:r>
              <a:t>Unique rolesets: 1,670</a:t>
            </a:r>
          </a:p>
          <a:p>
            <a:pPr>
              <a:defRPr sz="1200">
                <a:solidFill>
                  <a:srgbClr val="EEF4FA"/>
                </a:solidFill>
              </a:defRPr>
            </a:pPr>
            <a:r>
              <a:t>Frame index: 4,659 records</a:t>
            </a:r>
          </a:p>
          <a:p>
            <a:pPr>
              <a:defRPr sz="1200">
                <a:solidFill>
                  <a:srgbClr val="EEF4FA"/>
                </a:solidFill>
              </a:defRPr>
            </a:pPr>
            <a:r>
              <a:t>Seed suite: 15 examples, EM/F1 = 1.0 local demo</a:t>
            </a:r>
          </a:p>
        </p:txBody>
      </p:sp>
      <p:sp>
        <p:nvSpPr>
          <p:cNvPr id="8" name="TextBox 7"/>
          <p:cNvSpPr txBox="1"/>
          <p:nvPr/>
        </p:nvSpPr>
        <p:spPr>
          <a:xfrm>
            <a:off x="822960" y="5532120"/>
            <a:ext cx="10424160" cy="457200"/>
          </a:xfrm>
          <a:prstGeom prst="rect">
            <a:avLst/>
          </a:prstGeom>
          <a:noFill/>
        </p:spPr>
        <p:txBody>
          <a:bodyPr wrap="square">
            <a:normAutofit/>
          </a:bodyPr>
          <a:lstStyle/>
          <a:p>
            <a:pPr algn="ctr"/>
            <a:r>
              <a:rPr sz="1300" b="1">
                <a:solidFill>
                  <a:srgbClr val="FFAA50"/>
                </a:solidFill>
              </a:rPr>
              <a:t>Do not present the seed-suite score as official benchmark SOTA. Present it as a targeted local demo result.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0C1726"/>
        </a:solidFill>
        <a:effectLst/>
      </p:bgPr>
    </p:bg>
    <p:spTree>
      <p:nvGrpSpPr>
        <p:cNvPr id="1" name=""/>
        <p:cNvGrpSpPr/>
        <p:nvPr/>
      </p:nvGrpSpPr>
      <p:grpSpPr/>
      <p:sp>
        <p:nvSpPr>
          <p:cNvPr id="2" name="Rectangle 1"/>
          <p:cNvSpPr/>
          <p:nvPr/>
        </p:nvSpPr>
        <p:spPr>
          <a:xfrm>
            <a:off x="0" y="0"/>
            <a:ext cx="12192000" cy="109728"/>
          </a:xfrm>
          <a:prstGeom prst="rect">
            <a:avLst/>
          </a:prstGeom>
          <a:solidFill>
            <a:srgbClr val="39BE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502920"/>
          </a:xfrm>
          <a:prstGeom prst="rect">
            <a:avLst/>
          </a:prstGeom>
          <a:noFill/>
        </p:spPr>
        <p:txBody>
          <a:bodyPr wrap="none">
            <a:spAutoFit/>
          </a:bodyPr>
          <a:lstStyle/>
          <a:p>
            <a:r>
              <a:rPr sz="2500" b="1">
                <a:solidFill>
                  <a:srgbClr val="EEF4FA"/>
                </a:solidFill>
              </a:rPr>
              <a:t>All-Model Output Comparison</a:t>
            </a:r>
          </a:p>
        </p:txBody>
      </p:sp>
      <p:sp>
        <p:nvSpPr>
          <p:cNvPr id="4" name="TextBox 3"/>
          <p:cNvSpPr txBox="1"/>
          <p:nvPr/>
        </p:nvSpPr>
        <p:spPr>
          <a:xfrm>
            <a:off x="530352" y="804672"/>
            <a:ext cx="10789920" cy="256032"/>
          </a:xfrm>
          <a:prstGeom prst="rect">
            <a:avLst/>
          </a:prstGeom>
          <a:noFill/>
        </p:spPr>
        <p:txBody>
          <a:bodyPr wrap="none">
            <a:spAutoFit/>
          </a:bodyPr>
          <a:lstStyle/>
          <a:p>
            <a:r>
              <a:rPr sz="900">
                <a:solidFill>
                  <a:srgbClr val="B3C4D6"/>
                </a:solidFill>
              </a:rPr>
              <a:t>RAISE-SRL-QA update</a:t>
            </a:r>
          </a:p>
        </p:txBody>
      </p:sp>
      <p:sp>
        <p:nvSpPr>
          <p:cNvPr id="5" name="TextBox 4"/>
          <p:cNvSpPr txBox="1"/>
          <p:nvPr/>
        </p:nvSpPr>
        <p:spPr>
          <a:xfrm>
            <a:off x="502920" y="6473952"/>
            <a:ext cx="11155680" cy="228600"/>
          </a:xfrm>
          <a:prstGeom prst="rect">
            <a:avLst/>
          </a:prstGeom>
          <a:noFill/>
        </p:spPr>
        <p:txBody>
          <a:bodyPr wrap="none">
            <a:spAutoFit/>
          </a:bodyPr>
          <a:lstStyle/>
          <a:p>
            <a:r>
              <a:rPr sz="800">
                <a:solidFill>
                  <a:srgbClr val="B3C4D6"/>
                </a:solidFill>
              </a:rPr>
              <a:t>Local implemented values only. Seed-suite results are not official public SOTA claims.</a:t>
            </a:r>
          </a:p>
        </p:txBody>
      </p:sp>
      <p:graphicFrame>
        <p:nvGraphicFramePr>
          <p:cNvPr id="6" name="Table 5"/>
          <p:cNvGraphicFramePr>
            <a:graphicFrameLocks noGrp="1"/>
          </p:cNvGraphicFramePr>
          <p:nvPr/>
        </p:nvGraphicFramePr>
        <p:xfrm>
          <a:off x="594360" y="1170432"/>
          <a:ext cx="11018520" cy="1920240"/>
        </p:xfrm>
        <a:graphic>
          <a:graphicData uri="http://schemas.openxmlformats.org/drawingml/2006/table">
            <a:tbl>
              <a:tblPr firstRow="1" bandRow="1">
                <a:tableStyleId>{5C22544A-7EE6-4342-B048-85BDC9FD1C3A}</a:tableStyleId>
              </a:tblPr>
              <a:tblGrid>
                <a:gridCol w="2331720"/>
                <a:gridCol w="5349240"/>
                <a:gridCol w="1920240"/>
                <a:gridCol w="1417320"/>
              </a:tblGrid>
              <a:tr h="384048">
                <a:tc>
                  <a:txBody>
                    <a:bodyPr/>
                    <a:lstStyle/>
                    <a:p>
                      <a:r>
                        <a:rPr sz="850" b="1">
                          <a:solidFill>
                            <a:srgbClr val="EEF4FA"/>
                          </a:solidFill>
                        </a:rPr>
                        <a:t>Model</a:t>
                      </a:r>
                    </a:p>
                  </a:txBody>
                  <a:tcPr marL="36576" marR="36576" marT="27432" marB="27432">
                    <a:solidFill>
                      <a:srgbClr val="1D334C"/>
                    </a:solidFill>
                  </a:tcPr>
                </a:tc>
                <a:tc>
                  <a:txBody>
                    <a:bodyPr/>
                    <a:lstStyle/>
                    <a:p>
                      <a:r>
                        <a:rPr sz="850" b="1">
                          <a:solidFill>
                            <a:srgbClr val="EEF4FA"/>
                          </a:solidFill>
                        </a:rPr>
                        <a:t>Answer</a:t>
                      </a:r>
                    </a:p>
                  </a:txBody>
                  <a:tcPr marL="36576" marR="36576" marT="27432" marB="27432">
                    <a:solidFill>
                      <a:srgbClr val="1D334C"/>
                    </a:solidFill>
                  </a:tcPr>
                </a:tc>
                <a:tc>
                  <a:txBody>
                    <a:bodyPr/>
                    <a:lstStyle/>
                    <a:p>
                      <a:r>
                        <a:rPr sz="850" b="1">
                          <a:solidFill>
                            <a:srgbClr val="EEF4FA"/>
                          </a:solidFill>
                        </a:rPr>
                        <a:t>Role</a:t>
                      </a:r>
                    </a:p>
                  </a:txBody>
                  <a:tcPr marL="36576" marR="36576" marT="27432" marB="27432">
                    <a:solidFill>
                      <a:srgbClr val="1D334C"/>
                    </a:solidFill>
                  </a:tcPr>
                </a:tc>
                <a:tc>
                  <a:txBody>
                    <a:bodyPr/>
                    <a:lstStyle/>
                    <a:p>
                      <a:r>
                        <a:rPr sz="850" b="1">
                          <a:solidFill>
                            <a:srgbClr val="EEF4FA"/>
                          </a:solidFill>
                        </a:rPr>
                        <a:t>Conf.</a:t>
                      </a:r>
                    </a:p>
                  </a:txBody>
                  <a:tcPr marL="36576" marR="36576" marT="27432" marB="27432">
                    <a:solidFill>
                      <a:srgbClr val="1D334C"/>
                    </a:solidFill>
                  </a:tcPr>
                </a:tc>
              </a:tr>
              <a:tr h="384048">
                <a:tc>
                  <a:txBody>
                    <a:bodyPr/>
                    <a:lstStyle/>
                    <a:p>
                      <a:r>
                        <a:rPr sz="850" b="0">
                          <a:solidFill>
                            <a:srgbClr val="B3C4D6"/>
                          </a:solidFill>
                        </a:rPr>
                        <a:t>raise_srlqa_fast</a:t>
                      </a:r>
                    </a:p>
                  </a:txBody>
                  <a:tcPr marL="36576" marR="36576" marT="27432" marB="27432">
                    <a:solidFill>
                      <a:srgbClr val="16263B"/>
                    </a:solidFill>
                  </a:tcPr>
                </a:tc>
                <a:tc>
                  <a:txBody>
                    <a:bodyPr/>
                    <a:lstStyle/>
                    <a:p>
                      <a:r>
                        <a:rPr sz="850" b="0">
                          <a:solidFill>
                            <a:srgbClr val="B3C4D6"/>
                          </a:solidFill>
                        </a:rPr>
                        <a:t>to the office</a:t>
                      </a:r>
                    </a:p>
                  </a:txBody>
                  <a:tcPr marL="36576" marR="36576" marT="27432" marB="27432">
                    <a:solidFill>
                      <a:srgbClr val="16263B"/>
                    </a:solidFill>
                  </a:tcPr>
                </a:tc>
                <a:tc>
                  <a:txBody>
                    <a:bodyPr/>
                    <a:lstStyle/>
                    <a:p>
                      <a:r>
                        <a:rPr sz="850" b="0">
                          <a:solidFill>
                            <a:srgbClr val="B3C4D6"/>
                          </a:solidFill>
                        </a:rPr>
                        <a:t>ARGM-LOC</a:t>
                      </a:r>
                    </a:p>
                  </a:txBody>
                  <a:tcPr marL="36576" marR="36576" marT="27432" marB="27432">
                    <a:solidFill>
                      <a:srgbClr val="16263B"/>
                    </a:solidFill>
                  </a:tcPr>
                </a:tc>
                <a:tc>
                  <a:txBody>
                    <a:bodyPr/>
                    <a:lstStyle/>
                    <a:p>
                      <a:r>
                        <a:rPr sz="850" b="0">
                          <a:solidFill>
                            <a:srgbClr val="B3C4D6"/>
                          </a:solidFill>
                        </a:rPr>
                        <a:t>0.9955</a:t>
                      </a:r>
                    </a:p>
                  </a:txBody>
                  <a:tcPr marL="36576" marR="36576" marT="27432" marB="27432">
                    <a:solidFill>
                      <a:srgbClr val="16263B"/>
                    </a:solidFill>
                  </a:tcPr>
                </a:tc>
              </a:tr>
              <a:tr h="384048">
                <a:tc>
                  <a:txBody>
                    <a:bodyPr/>
                    <a:lstStyle/>
                    <a:p>
                      <a:r>
                        <a:rPr sz="850" b="0">
                          <a:solidFill>
                            <a:srgbClr val="B3C4D6"/>
                          </a:solidFill>
                        </a:rPr>
                        <a:t>raise_srlqa_model</a:t>
                      </a:r>
                    </a:p>
                  </a:txBody>
                  <a:tcPr marL="36576" marR="36576" marT="27432" marB="27432">
                    <a:solidFill>
                      <a:srgbClr val="16263B"/>
                    </a:solidFill>
                  </a:tcPr>
                </a:tc>
                <a:tc>
                  <a:txBody>
                    <a:bodyPr/>
                    <a:lstStyle/>
                    <a:p>
                      <a:r>
                        <a:rPr sz="850" b="0">
                          <a:solidFill>
                            <a:srgbClr val="B3C4D6"/>
                          </a:solidFill>
                        </a:rPr>
                        <a:t>to the office</a:t>
                      </a:r>
                    </a:p>
                  </a:txBody>
                  <a:tcPr marL="36576" marR="36576" marT="27432" marB="27432">
                    <a:solidFill>
                      <a:srgbClr val="16263B"/>
                    </a:solidFill>
                  </a:tcPr>
                </a:tc>
                <a:tc>
                  <a:txBody>
                    <a:bodyPr/>
                    <a:lstStyle/>
                    <a:p>
                      <a:r>
                        <a:rPr sz="850" b="0">
                          <a:solidFill>
                            <a:srgbClr val="B3C4D6"/>
                          </a:solidFill>
                        </a:rPr>
                        <a:t>ARGM-LOC</a:t>
                      </a:r>
                    </a:p>
                  </a:txBody>
                  <a:tcPr marL="36576" marR="36576" marT="27432" marB="27432">
                    <a:solidFill>
                      <a:srgbClr val="16263B"/>
                    </a:solidFill>
                  </a:tcPr>
                </a:tc>
                <a:tc>
                  <a:txBody>
                    <a:bodyPr/>
                    <a:lstStyle/>
                    <a:p>
                      <a:r>
                        <a:rPr sz="850" b="0">
                          <a:solidFill>
                            <a:srgbClr val="B3C4D6"/>
                          </a:solidFill>
                        </a:rPr>
                        <a:t>0.9955</a:t>
                      </a:r>
                    </a:p>
                  </a:txBody>
                  <a:tcPr marL="36576" marR="36576" marT="27432" marB="27432">
                    <a:solidFill>
                      <a:srgbClr val="16263B"/>
                    </a:solidFill>
                  </a:tcPr>
                </a:tc>
              </a:tr>
              <a:tr h="384048">
                <a:tc>
                  <a:txBody>
                    <a:bodyPr/>
                    <a:lstStyle/>
                    <a:p>
                      <a:r>
                        <a:rPr sz="850" b="0">
                          <a:solidFill>
                            <a:srgbClr val="B3C4D6"/>
                          </a:solidFill>
                        </a:rPr>
                        <a:t>legacy_hybrid</a:t>
                      </a:r>
                    </a:p>
                  </a:txBody>
                  <a:tcPr marL="36576" marR="36576" marT="27432" marB="27432">
                    <a:solidFill>
                      <a:srgbClr val="16263B"/>
                    </a:solidFill>
                  </a:tcPr>
                </a:tc>
                <a:tc>
                  <a:txBody>
                    <a:bodyPr/>
                    <a:lstStyle/>
                    <a:p>
                      <a:r>
                        <a:rPr sz="850" b="0">
                          <a:solidFill>
                            <a:srgbClr val="B3C4D6"/>
                          </a:solidFill>
                        </a:rPr>
                        <a:t>to the office</a:t>
                      </a:r>
                    </a:p>
                  </a:txBody>
                  <a:tcPr marL="36576" marR="36576" marT="27432" marB="27432">
                    <a:solidFill>
                      <a:srgbClr val="16263B"/>
                    </a:solidFill>
                  </a:tcPr>
                </a:tc>
                <a:tc>
                  <a:txBody>
                    <a:bodyPr/>
                    <a:lstStyle/>
                    <a:p>
                      <a:r>
                        <a:rPr sz="850" b="0">
                          <a:solidFill>
                            <a:srgbClr val="B3C4D6"/>
                          </a:solidFill>
                        </a:rPr>
                        <a:t>ARGM-LOC</a:t>
                      </a:r>
                    </a:p>
                  </a:txBody>
                  <a:tcPr marL="36576" marR="36576" marT="27432" marB="27432">
                    <a:solidFill>
                      <a:srgbClr val="16263B"/>
                    </a:solidFill>
                  </a:tcPr>
                </a:tc>
                <a:tc>
                  <a:txBody>
                    <a:bodyPr/>
                    <a:lstStyle/>
                    <a:p>
                      <a:r>
                        <a:rPr sz="850" b="0">
                          <a:solidFill>
                            <a:srgbClr val="B3C4D6"/>
                          </a:solidFill>
                        </a:rPr>
                        <a:t>0.6579</a:t>
                      </a:r>
                    </a:p>
                  </a:txBody>
                  <a:tcPr marL="36576" marR="36576" marT="27432" marB="27432">
                    <a:solidFill>
                      <a:srgbClr val="16263B"/>
                    </a:solidFill>
                  </a:tcPr>
                </a:tc>
              </a:tr>
              <a:tr h="384048">
                <a:tc>
                  <a:txBody>
                    <a:bodyPr/>
                    <a:lstStyle/>
                    <a:p>
                      <a:r>
                        <a:rPr sz="850" b="0">
                          <a:solidFill>
                            <a:srgbClr val="B3C4D6"/>
                          </a:solidFill>
                        </a:rPr>
                        <a:t>legacy_baseline</a:t>
                      </a:r>
                    </a:p>
                  </a:txBody>
                  <a:tcPr marL="36576" marR="36576" marT="27432" marB="27432">
                    <a:solidFill>
                      <a:srgbClr val="16263B"/>
                    </a:solidFill>
                  </a:tcPr>
                </a:tc>
                <a:tc>
                  <a:txBody>
                    <a:bodyPr/>
                    <a:lstStyle/>
                    <a:p>
                      <a:r>
                        <a:rPr sz="850" b="0">
                          <a:solidFill>
                            <a:srgbClr val="B3C4D6"/>
                          </a:solidFill>
                        </a:rPr>
                        <a:t>delivered the package to the office at noon</a:t>
                      </a:r>
                    </a:p>
                  </a:txBody>
                  <a:tcPr marL="36576" marR="36576" marT="27432" marB="27432">
                    <a:solidFill>
                      <a:srgbClr val="16263B"/>
                    </a:solidFill>
                  </a:tcPr>
                </a:tc>
                <a:tc>
                  <a:txBody>
                    <a:bodyPr/>
                    <a:lstStyle/>
                    <a:p>
                      <a:r>
                        <a:rPr sz="850" b="0">
                          <a:solidFill>
                            <a:srgbClr val="B3C4D6"/>
                          </a:solidFill>
                        </a:rPr>
                        <a:t>ARG1</a:t>
                      </a:r>
                    </a:p>
                  </a:txBody>
                  <a:tcPr marL="36576" marR="36576" marT="27432" marB="27432">
                    <a:solidFill>
                      <a:srgbClr val="16263B"/>
                    </a:solidFill>
                  </a:tcPr>
                </a:tc>
                <a:tc>
                  <a:txBody>
                    <a:bodyPr/>
                    <a:lstStyle/>
                    <a:p>
                      <a:r>
                        <a:rPr sz="850" b="0">
                          <a:solidFill>
                            <a:srgbClr val="B3C4D6"/>
                          </a:solidFill>
                        </a:rPr>
                        <a:t>0.4198</a:t>
                      </a:r>
                    </a:p>
                  </a:txBody>
                  <a:tcPr marL="36576" marR="36576" marT="27432" marB="27432">
                    <a:solidFill>
                      <a:srgbClr val="16263B"/>
                    </a:solidFill>
                  </a:tcPr>
                </a:tc>
              </a:tr>
            </a:tbl>
          </a:graphicData>
        </a:graphic>
      </p:graphicFrame>
      <p:graphicFrame>
        <p:nvGraphicFramePr>
          <p:cNvPr id="7" name="Chart 6"/>
          <p:cNvGraphicFramePr>
            <a:graphicFrameLocks noGrp="1"/>
          </p:cNvGraphicFramePr>
          <p:nvPr/>
        </p:nvGraphicFramePr>
        <p:xfrm>
          <a:off x="1005840" y="3429000"/>
          <a:ext cx="9966960" cy="2286000"/>
        </p:xfrm>
        <a:graphic>
          <a:graphicData uri="http://schemas.openxmlformats.org/drawingml/2006/chart">
            <c:chart xmlns:c="http://schemas.openxmlformats.org/drawingml/2006/chart" r:id="rId2"/>
          </a:graphicData>
        </a:graphic>
      </p:graphicFrame>
      <p:sp>
        <p:nvSpPr>
          <p:cNvPr id="8" name="TextBox 7"/>
          <p:cNvSpPr txBox="1"/>
          <p:nvPr/>
        </p:nvSpPr>
        <p:spPr>
          <a:xfrm>
            <a:off x="777240" y="5806440"/>
            <a:ext cx="10607040" cy="320040"/>
          </a:xfrm>
          <a:prstGeom prst="rect">
            <a:avLst/>
          </a:prstGeom>
          <a:noFill/>
        </p:spPr>
        <p:txBody>
          <a:bodyPr wrap="square">
            <a:normAutofit/>
          </a:bodyPr>
          <a:lstStyle/>
          <a:p>
            <a:pPr algn="ctr"/>
            <a:r>
              <a:rPr sz="1250" b="1">
                <a:solidFill>
                  <a:srgbClr val="EEF4FA"/>
                </a:solidFill>
              </a:rPr>
              <a:t>Takeaway: the RAISE and hybrid paths select the exact location span; the baseline output is longer and assigns ARG1.</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0C1726"/>
        </a:solidFill>
        <a:effectLst/>
      </p:bgPr>
    </p:bg>
    <p:spTree>
      <p:nvGrpSpPr>
        <p:cNvPr id="1" name=""/>
        <p:cNvGrpSpPr/>
        <p:nvPr/>
      </p:nvGrpSpPr>
      <p:grpSpPr/>
      <p:sp>
        <p:nvSpPr>
          <p:cNvPr id="2" name="Rectangle 1"/>
          <p:cNvSpPr/>
          <p:nvPr/>
        </p:nvSpPr>
        <p:spPr>
          <a:xfrm>
            <a:off x="0" y="0"/>
            <a:ext cx="12192000" cy="109728"/>
          </a:xfrm>
          <a:prstGeom prst="rect">
            <a:avLst/>
          </a:prstGeom>
          <a:solidFill>
            <a:srgbClr val="39BE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502920"/>
          </a:xfrm>
          <a:prstGeom prst="rect">
            <a:avLst/>
          </a:prstGeom>
          <a:noFill/>
        </p:spPr>
        <p:txBody>
          <a:bodyPr wrap="none">
            <a:spAutoFit/>
          </a:bodyPr>
          <a:lstStyle/>
          <a:p>
            <a:r>
              <a:rPr sz="2500" b="1">
                <a:solidFill>
                  <a:srgbClr val="EEF4FA"/>
                </a:solidFill>
              </a:rPr>
              <a:t>Research Alignment And Honest Claims</a:t>
            </a:r>
          </a:p>
        </p:txBody>
      </p:sp>
      <p:sp>
        <p:nvSpPr>
          <p:cNvPr id="4" name="TextBox 3"/>
          <p:cNvSpPr txBox="1"/>
          <p:nvPr/>
        </p:nvSpPr>
        <p:spPr>
          <a:xfrm>
            <a:off x="530352" y="804672"/>
            <a:ext cx="10789920" cy="256032"/>
          </a:xfrm>
          <a:prstGeom prst="rect">
            <a:avLst/>
          </a:prstGeom>
          <a:noFill/>
        </p:spPr>
        <p:txBody>
          <a:bodyPr wrap="none">
            <a:spAutoFit/>
          </a:bodyPr>
          <a:lstStyle/>
          <a:p>
            <a:r>
              <a:rPr sz="900">
                <a:solidFill>
                  <a:srgbClr val="B3C4D6"/>
                </a:solidFill>
              </a:rPr>
              <a:t>RAISE-SRL-QA update</a:t>
            </a:r>
          </a:p>
        </p:txBody>
      </p:sp>
      <p:sp>
        <p:nvSpPr>
          <p:cNvPr id="5" name="TextBox 4"/>
          <p:cNvSpPr txBox="1"/>
          <p:nvPr/>
        </p:nvSpPr>
        <p:spPr>
          <a:xfrm>
            <a:off x="502920" y="6473952"/>
            <a:ext cx="11155680" cy="228600"/>
          </a:xfrm>
          <a:prstGeom prst="rect">
            <a:avLst/>
          </a:prstGeom>
          <a:noFill/>
        </p:spPr>
        <p:txBody>
          <a:bodyPr wrap="none">
            <a:spAutoFit/>
          </a:bodyPr>
          <a:lstStyle/>
          <a:p>
            <a:r>
              <a:rPr sz="800">
                <a:solidFill>
                  <a:srgbClr val="B3C4D6"/>
                </a:solidFill>
              </a:rPr>
              <a:t>Local implemented values only. Seed-suite results are not official public SOTA claims.</a:t>
            </a:r>
          </a:p>
        </p:txBody>
      </p:sp>
      <p:sp>
        <p:nvSpPr>
          <p:cNvPr id="6" name="Rounded Rectangle 5"/>
          <p:cNvSpPr/>
          <p:nvPr/>
        </p:nvSpPr>
        <p:spPr>
          <a:xfrm>
            <a:off x="640080" y="1234440"/>
            <a:ext cx="5394960" cy="4434840"/>
          </a:xfrm>
          <a:prstGeom prst="roundRect">
            <a:avLst/>
          </a:prstGeom>
          <a:solidFill>
            <a:srgbClr val="16263B"/>
          </a:solidFill>
          <a:ln>
            <a:solidFill>
              <a:srgbClr val="374E67"/>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91440"/>
          <a:lstStyle/>
          <a:p>
            <a:pPr algn="ctr"/>
            <a:r>
              <a:rPr sz="1400" b="1">
                <a:solidFill>
                  <a:srgbClr val="39BEBD"/>
                </a:solidFill>
              </a:rPr>
              <a:t>Research alignment</a:t>
            </a:r>
          </a:p>
          <a:p>
            <a:pPr>
              <a:defRPr sz="1200">
                <a:solidFill>
                  <a:srgbClr val="EEF4FA"/>
                </a:solidFill>
              </a:defRPr>
            </a:pPr>
            <a:r>
              <a:t>QA-SRL: use questions as an SRL interface</a:t>
            </a:r>
          </a:p>
          <a:p>
            <a:pPr>
              <a:defRPr sz="1200">
                <a:solidFill>
                  <a:srgbClr val="EEF4FA"/>
                </a:solidFill>
              </a:defRPr>
            </a:pPr>
            <a:r>
              <a:t>PropBank: use predicate frames and role definitions</a:t>
            </a:r>
          </a:p>
          <a:p>
            <a:pPr>
              <a:defRPr sz="1200">
                <a:solidFill>
                  <a:srgbClr val="EEF4FA"/>
                </a:solidFill>
              </a:defRPr>
            </a:pPr>
            <a:r>
              <a:t>Retrieval-augmented SRL: retrieve role knowledge during inference</a:t>
            </a:r>
          </a:p>
          <a:p>
            <a:pPr>
              <a:defRPr sz="1200">
                <a:solidFill>
                  <a:srgbClr val="EEF4FA"/>
                </a:solidFill>
              </a:defRPr>
            </a:pPr>
            <a:r>
              <a:t>Self-correction: recheck candidates instead of trusting first output</a:t>
            </a:r>
          </a:p>
          <a:p>
            <a:pPr>
              <a:defRPr sz="1200">
                <a:solidFill>
                  <a:srgbClr val="EEF4FA"/>
                </a:solidFill>
              </a:defRPr>
            </a:pPr>
            <a:r>
              <a:t>QA-Noun and proto-role ideas: future extensions, not current benchmark claims</a:t>
            </a:r>
          </a:p>
        </p:txBody>
      </p:sp>
      <p:sp>
        <p:nvSpPr>
          <p:cNvPr id="7" name="Rounded Rectangle 6"/>
          <p:cNvSpPr/>
          <p:nvPr/>
        </p:nvSpPr>
        <p:spPr>
          <a:xfrm>
            <a:off x="6309360" y="1234440"/>
            <a:ext cx="5303520" cy="4434840"/>
          </a:xfrm>
          <a:prstGeom prst="roundRect">
            <a:avLst/>
          </a:prstGeom>
          <a:solidFill>
            <a:srgbClr val="16263B"/>
          </a:solidFill>
          <a:ln>
            <a:solidFill>
              <a:srgbClr val="374E67"/>
            </a:solidFill>
          </a:ln>
        </p:spPr>
        <p:style>
          <a:lnRef idx="1">
            <a:schemeClr val="accent1"/>
          </a:lnRef>
          <a:fillRef idx="3">
            <a:schemeClr val="accent1"/>
          </a:fillRef>
          <a:effectRef idx="2">
            <a:schemeClr val="accent1"/>
          </a:effectRef>
          <a:fontRef idx="minor">
            <a:schemeClr val="lt1"/>
          </a:fontRef>
        </p:style>
        <p:txBody>
          <a:bodyPr rtlCol="0" anchor="ctr" wrap="square" lIns="164592" rIns="164592" tIns="109728" bIns="91440"/>
          <a:lstStyle/>
          <a:p>
            <a:pPr algn="ctr"/>
            <a:r>
              <a:rPr sz="1400" b="1">
                <a:solidFill>
                  <a:srgbClr val="39BEBD"/>
                </a:solidFill>
              </a:rPr>
              <a:t>Claim boundaries</a:t>
            </a:r>
          </a:p>
          <a:p>
            <a:pPr>
              <a:defRPr sz="1200">
                <a:solidFill>
                  <a:srgbClr val="EEF4FA"/>
                </a:solidFill>
              </a:defRPr>
            </a:pPr>
            <a:r>
              <a:t>Safe: baseline QA token F1 is 0.7612 locally</a:t>
            </a:r>
          </a:p>
          <a:p>
            <a:pPr>
              <a:defRPr sz="1200">
                <a:solidFill>
                  <a:srgbClr val="EEF4FA"/>
                </a:solidFill>
              </a:defRPr>
            </a:pPr>
            <a:r>
              <a:t>Safe: 15-example seed suite reached 1.0 local EM/F1</a:t>
            </a:r>
          </a:p>
          <a:p>
            <a:pPr>
              <a:defRPr sz="1200">
                <a:solidFill>
                  <a:srgbClr val="EEF4FA"/>
                </a:solidFill>
              </a:defRPr>
            </a:pPr>
            <a:r>
              <a:t>Safe: frame index has 4,659 records</a:t>
            </a:r>
          </a:p>
          <a:p>
            <a:pPr>
              <a:defRPr sz="1200">
                <a:solidFill>
                  <a:srgbClr val="EEF4FA"/>
                </a:solidFill>
              </a:defRPr>
            </a:pPr>
            <a:r>
              <a:t>Not safe: claiming official 95% F1 now</a:t>
            </a:r>
          </a:p>
          <a:p>
            <a:pPr>
              <a:defRPr sz="1200">
                <a:solidFill>
                  <a:srgbClr val="EEF4FA"/>
                </a:solidFill>
              </a:defRPr>
            </a:pPr>
            <a:r>
              <a:t>Not safe: claiming global public SOTA without official scorer</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0C1726"/>
        </a:solidFill>
        <a:effectLst/>
      </p:bgPr>
    </p:bg>
    <p:spTree>
      <p:nvGrpSpPr>
        <p:cNvPr id="1" name=""/>
        <p:cNvGrpSpPr/>
        <p:nvPr/>
      </p:nvGrpSpPr>
      <p:grpSpPr/>
      <p:sp>
        <p:nvSpPr>
          <p:cNvPr id="2" name="Rectangle 1"/>
          <p:cNvSpPr/>
          <p:nvPr/>
        </p:nvSpPr>
        <p:spPr>
          <a:xfrm>
            <a:off x="0" y="0"/>
            <a:ext cx="12192000" cy="109728"/>
          </a:xfrm>
          <a:prstGeom prst="rect">
            <a:avLst/>
          </a:prstGeom>
          <a:solidFill>
            <a:srgbClr val="39BE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02920" y="320040"/>
            <a:ext cx="11155680" cy="502920"/>
          </a:xfrm>
          <a:prstGeom prst="rect">
            <a:avLst/>
          </a:prstGeom>
          <a:noFill/>
        </p:spPr>
        <p:txBody>
          <a:bodyPr wrap="none">
            <a:spAutoFit/>
          </a:bodyPr>
          <a:lstStyle/>
          <a:p>
            <a:r>
              <a:rPr sz="2500" b="1">
                <a:solidFill>
                  <a:srgbClr val="EEF4FA"/>
                </a:solidFill>
              </a:rPr>
              <a:t>Last-Minute Speaking Points</a:t>
            </a:r>
          </a:p>
        </p:txBody>
      </p:sp>
      <p:sp>
        <p:nvSpPr>
          <p:cNvPr id="4" name="TextBox 3"/>
          <p:cNvSpPr txBox="1"/>
          <p:nvPr/>
        </p:nvSpPr>
        <p:spPr>
          <a:xfrm>
            <a:off x="530352" y="804672"/>
            <a:ext cx="10789920" cy="256032"/>
          </a:xfrm>
          <a:prstGeom prst="rect">
            <a:avLst/>
          </a:prstGeom>
          <a:noFill/>
        </p:spPr>
        <p:txBody>
          <a:bodyPr wrap="none">
            <a:spAutoFit/>
          </a:bodyPr>
          <a:lstStyle/>
          <a:p>
            <a:r>
              <a:rPr sz="900">
                <a:solidFill>
                  <a:srgbClr val="B3C4D6"/>
                </a:solidFill>
              </a:rPr>
              <a:t>RAISE-SRL-QA update</a:t>
            </a:r>
          </a:p>
        </p:txBody>
      </p:sp>
      <p:sp>
        <p:nvSpPr>
          <p:cNvPr id="5" name="TextBox 4"/>
          <p:cNvSpPr txBox="1"/>
          <p:nvPr/>
        </p:nvSpPr>
        <p:spPr>
          <a:xfrm>
            <a:off x="502920" y="6473952"/>
            <a:ext cx="11155680" cy="228600"/>
          </a:xfrm>
          <a:prstGeom prst="rect">
            <a:avLst/>
          </a:prstGeom>
          <a:noFill/>
        </p:spPr>
        <p:txBody>
          <a:bodyPr wrap="none">
            <a:spAutoFit/>
          </a:bodyPr>
          <a:lstStyle/>
          <a:p>
            <a:r>
              <a:rPr sz="800">
                <a:solidFill>
                  <a:srgbClr val="B3C4D6"/>
                </a:solidFill>
              </a:rPr>
              <a:t>Local implemented values only. Seed-suite results are not official public SOTA claims.</a:t>
            </a:r>
          </a:p>
        </p:txBody>
      </p:sp>
      <p:sp>
        <p:nvSpPr>
          <p:cNvPr id="6" name="Rounded Rectangle 5"/>
          <p:cNvSpPr/>
          <p:nvPr/>
        </p:nvSpPr>
        <p:spPr>
          <a:xfrm>
            <a:off x="685800" y="1234440"/>
            <a:ext cx="5257800" cy="1234440"/>
          </a:xfrm>
          <a:prstGeom prst="roundRect">
            <a:avLst/>
          </a:prstGeom>
          <a:solidFill>
            <a:srgbClr val="16263B"/>
          </a:solidFill>
          <a:ln>
            <a:solidFill>
              <a:srgbClr val="3A53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685800" y="1234440"/>
            <a:ext cx="5257800" cy="73152"/>
          </a:xfrm>
          <a:prstGeom prst="rect">
            <a:avLst/>
          </a:prstGeom>
          <a:solidFill>
            <a:srgbClr val="39BE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32104" y="1362456"/>
            <a:ext cx="4965192" cy="256032"/>
          </a:xfrm>
          <a:prstGeom prst="rect">
            <a:avLst/>
          </a:prstGeom>
          <a:noFill/>
        </p:spPr>
        <p:txBody>
          <a:bodyPr wrap="square">
            <a:normAutofit/>
          </a:bodyPr>
          <a:lstStyle/>
          <a:p>
            <a:r>
              <a:rPr sz="1200" b="1">
                <a:solidFill>
                  <a:srgbClr val="39BEBD"/>
                </a:solidFill>
              </a:rPr>
              <a:t>Opening</a:t>
            </a:r>
          </a:p>
        </p:txBody>
      </p:sp>
      <p:sp>
        <p:nvSpPr>
          <p:cNvPr id="9" name="TextBox 8"/>
          <p:cNvSpPr txBox="1"/>
          <p:nvPr/>
        </p:nvSpPr>
        <p:spPr>
          <a:xfrm>
            <a:off x="832104" y="1673352"/>
            <a:ext cx="4965192" cy="731520"/>
          </a:xfrm>
          <a:prstGeom prst="rect">
            <a:avLst/>
          </a:prstGeom>
          <a:noFill/>
        </p:spPr>
        <p:txBody>
          <a:bodyPr wrap="square">
            <a:normAutofit/>
          </a:bodyPr>
          <a:lstStyle/>
          <a:p>
            <a:r>
              <a:rPr sz="1050" b="0">
                <a:solidFill>
                  <a:srgbClr val="EEF4FA"/>
                </a:solidFill>
              </a:rPr>
              <a:t>This project answers questions and explains the semantic role of each answer around an event.</a:t>
            </a:r>
          </a:p>
        </p:txBody>
      </p:sp>
      <p:sp>
        <p:nvSpPr>
          <p:cNvPr id="10" name="Rounded Rectangle 9"/>
          <p:cNvSpPr/>
          <p:nvPr/>
        </p:nvSpPr>
        <p:spPr>
          <a:xfrm>
            <a:off x="6263640" y="1234440"/>
            <a:ext cx="5257800" cy="1234440"/>
          </a:xfrm>
          <a:prstGeom prst="roundRect">
            <a:avLst/>
          </a:prstGeom>
          <a:solidFill>
            <a:srgbClr val="16263B"/>
          </a:solidFill>
          <a:ln>
            <a:solidFill>
              <a:srgbClr val="3A53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63640" y="1234440"/>
            <a:ext cx="5257800" cy="73152"/>
          </a:xfrm>
          <a:prstGeom prst="rect">
            <a:avLst/>
          </a:prstGeom>
          <a:solidFill>
            <a:srgbClr val="FFC45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9944" y="1362456"/>
            <a:ext cx="4965192" cy="256032"/>
          </a:xfrm>
          <a:prstGeom prst="rect">
            <a:avLst/>
          </a:prstGeom>
          <a:noFill/>
        </p:spPr>
        <p:txBody>
          <a:bodyPr wrap="square">
            <a:normAutofit/>
          </a:bodyPr>
          <a:lstStyle/>
          <a:p>
            <a:r>
              <a:rPr sz="1200" b="1">
                <a:solidFill>
                  <a:srgbClr val="FFC457"/>
                </a:solidFill>
              </a:rPr>
              <a:t>Previous work</a:t>
            </a:r>
          </a:p>
        </p:txBody>
      </p:sp>
      <p:sp>
        <p:nvSpPr>
          <p:cNvPr id="13" name="TextBox 12"/>
          <p:cNvSpPr txBox="1"/>
          <p:nvPr/>
        </p:nvSpPr>
        <p:spPr>
          <a:xfrm>
            <a:off x="6409944" y="1673352"/>
            <a:ext cx="4965192" cy="731520"/>
          </a:xfrm>
          <a:prstGeom prst="rect">
            <a:avLst/>
          </a:prstGeom>
          <a:noFill/>
        </p:spPr>
        <p:txBody>
          <a:bodyPr wrap="square">
            <a:normAutofit/>
          </a:bodyPr>
          <a:lstStyle/>
          <a:p>
            <a:r>
              <a:rPr sz="1050" b="0">
                <a:solidFill>
                  <a:srgbClr val="EEF4FA"/>
                </a:solidFill>
              </a:rPr>
              <a:t>The old system had a local PropQA-Net baseline, hybrid inference, metrics, and a dashboard.</a:t>
            </a:r>
          </a:p>
        </p:txBody>
      </p:sp>
      <p:sp>
        <p:nvSpPr>
          <p:cNvPr id="14" name="Rounded Rectangle 13"/>
          <p:cNvSpPr/>
          <p:nvPr/>
        </p:nvSpPr>
        <p:spPr>
          <a:xfrm>
            <a:off x="685800" y="2834640"/>
            <a:ext cx="5257800" cy="1234440"/>
          </a:xfrm>
          <a:prstGeom prst="roundRect">
            <a:avLst/>
          </a:prstGeom>
          <a:solidFill>
            <a:srgbClr val="16263B"/>
          </a:solidFill>
          <a:ln>
            <a:solidFill>
              <a:srgbClr val="3A53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85800" y="2834640"/>
            <a:ext cx="5257800" cy="73152"/>
          </a:xfrm>
          <a:prstGeom prst="rect">
            <a:avLst/>
          </a:prstGeom>
          <a:solidFill>
            <a:srgbClr val="5FD39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2104" y="2962656"/>
            <a:ext cx="4965192" cy="256032"/>
          </a:xfrm>
          <a:prstGeom prst="rect">
            <a:avLst/>
          </a:prstGeom>
          <a:noFill/>
        </p:spPr>
        <p:txBody>
          <a:bodyPr wrap="square">
            <a:normAutofit/>
          </a:bodyPr>
          <a:lstStyle/>
          <a:p>
            <a:r>
              <a:rPr sz="1200" b="1">
                <a:solidFill>
                  <a:srgbClr val="5FD394"/>
                </a:solidFill>
              </a:rPr>
              <a:t>Innovation</a:t>
            </a:r>
          </a:p>
        </p:txBody>
      </p:sp>
      <p:sp>
        <p:nvSpPr>
          <p:cNvPr id="17" name="TextBox 16"/>
          <p:cNvSpPr txBox="1"/>
          <p:nvPr/>
        </p:nvSpPr>
        <p:spPr>
          <a:xfrm>
            <a:off x="832104" y="3273552"/>
            <a:ext cx="4965192" cy="731520"/>
          </a:xfrm>
          <a:prstGeom prst="rect">
            <a:avLst/>
          </a:prstGeom>
          <a:noFill/>
        </p:spPr>
        <p:txBody>
          <a:bodyPr wrap="square">
            <a:normAutofit/>
          </a:bodyPr>
          <a:lstStyle/>
          <a:p>
            <a:r>
              <a:rPr sz="1050" b="0">
                <a:solidFill>
                  <a:srgbClr val="EEF4FA"/>
                </a:solidFill>
              </a:rPr>
              <a:t>RAISE adds PropBank retrieval, constrained span selection, verifier correction, and all-model comparison.</a:t>
            </a:r>
          </a:p>
        </p:txBody>
      </p:sp>
      <p:sp>
        <p:nvSpPr>
          <p:cNvPr id="18" name="Rounded Rectangle 17"/>
          <p:cNvSpPr/>
          <p:nvPr/>
        </p:nvSpPr>
        <p:spPr>
          <a:xfrm>
            <a:off x="6263640" y="2834640"/>
            <a:ext cx="5257800" cy="1234440"/>
          </a:xfrm>
          <a:prstGeom prst="roundRect">
            <a:avLst/>
          </a:prstGeom>
          <a:solidFill>
            <a:srgbClr val="16263B"/>
          </a:solidFill>
          <a:ln>
            <a:solidFill>
              <a:srgbClr val="3A536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63640" y="2834640"/>
            <a:ext cx="5257800" cy="73152"/>
          </a:xfrm>
          <a:prstGeom prst="rect">
            <a:avLst/>
          </a:prstGeom>
          <a:solidFill>
            <a:srgbClr val="39BEB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9944" y="2962656"/>
            <a:ext cx="4965192" cy="256032"/>
          </a:xfrm>
          <a:prstGeom prst="rect">
            <a:avLst/>
          </a:prstGeom>
          <a:noFill/>
        </p:spPr>
        <p:txBody>
          <a:bodyPr wrap="square">
            <a:normAutofit/>
          </a:bodyPr>
          <a:lstStyle/>
          <a:p>
            <a:r>
              <a:rPr sz="1200" b="1">
                <a:solidFill>
                  <a:srgbClr val="39BEBD"/>
                </a:solidFill>
              </a:rPr>
              <a:t>Demo</a:t>
            </a:r>
          </a:p>
        </p:txBody>
      </p:sp>
      <p:sp>
        <p:nvSpPr>
          <p:cNvPr id="21" name="TextBox 20"/>
          <p:cNvSpPr txBox="1"/>
          <p:nvPr/>
        </p:nvSpPr>
        <p:spPr>
          <a:xfrm>
            <a:off x="6409944" y="3273552"/>
            <a:ext cx="4965192" cy="731520"/>
          </a:xfrm>
          <a:prstGeom prst="rect">
            <a:avLst/>
          </a:prstGeom>
          <a:noFill/>
        </p:spPr>
        <p:txBody>
          <a:bodyPr wrap="square">
            <a:normAutofit/>
          </a:bodyPr>
          <a:lstStyle/>
          <a:p>
            <a:r>
              <a:rPr sz="1050" b="0">
                <a:solidFill>
                  <a:srgbClr val="EEF4FA"/>
                </a:solidFill>
              </a:rPr>
              <a:t>Use the courier example and show that RAISE selects 'to the office' as ARGM-LOC.</a:t>
            </a:r>
          </a:p>
        </p:txBody>
      </p:sp>
      <p:sp>
        <p:nvSpPr>
          <p:cNvPr id="22" name="TextBox 21"/>
          <p:cNvSpPr txBox="1"/>
          <p:nvPr/>
        </p:nvSpPr>
        <p:spPr>
          <a:xfrm>
            <a:off x="914400" y="4892040"/>
            <a:ext cx="10287000" cy="777240"/>
          </a:xfrm>
          <a:prstGeom prst="rect">
            <a:avLst/>
          </a:prstGeom>
          <a:noFill/>
        </p:spPr>
        <p:txBody>
          <a:bodyPr wrap="square">
            <a:normAutofit/>
          </a:bodyPr>
          <a:lstStyle/>
          <a:p>
            <a:pPr algn="ctr"/>
            <a:r>
              <a:rPr sz="1600" b="1">
                <a:solidFill>
                  <a:srgbClr val="EEF4FA"/>
                </a:solidFill>
              </a:rPr>
              <a:t>Final sentence: The project is a locally runnable, explainable SRL-QA system; the 95% target is a future roadmap goal, not an official result claim today.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58</TotalTime>
  <Words>8531</Words>
  <Application>Microsoft Office PowerPoint</Application>
  <PresentationFormat>Widescreen</PresentationFormat>
  <Paragraphs>1742</Paragraphs>
  <Slides>66</Slides>
  <Notes>66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66</vt:i4>
      </vt:variant>
    </vt:vector>
  </HeadingPairs>
  <TitlesOfParts>
    <vt:vector size="72" baseType="lpstr">
      <vt:lpstr>Arial</vt:lpstr>
      <vt:lpstr>Calibri</vt:lpstr>
      <vt:lpstr>Cambria</vt:lpstr>
      <vt:lpstr>MiSans</vt:lpstr>
      <vt:lpstr>Sorts Mill Goudy</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Jakkireddy Ganesh kumar reddy</cp:lastModifiedBy>
  <cp:revision>3</cp:revision>
  <dcterms:created xsi:type="dcterms:W3CDTF">2013-01-27T09:14:16Z</dcterms:created>
  <dcterms:modified xsi:type="dcterms:W3CDTF">2026-04-07T12:47:11Z</dcterms:modified>
  <cp:category/>
</cp:coreProperties>
</file>