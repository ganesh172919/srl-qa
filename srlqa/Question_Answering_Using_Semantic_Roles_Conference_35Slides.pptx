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59" autoAdjust="0"/>
    <p:restoredTop sz="90446" autoAdjust="0"/>
  </p:normalViewPr>
  <p:slideViewPr>
    <p:cSldViewPr snapToGrid="0" snapToObjects="1">
      <p:cViewPr varScale="1">
        <p:scale>
          <a:sx n="82" d="100"/>
          <a:sy n="82" d="100"/>
        </p:scale>
        <p:origin x="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46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0011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01/35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94944"/>
            <a:ext cx="7680960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87000"/>
              </a:lnSpc>
            </a:pPr>
            <a:r>
              <a:rPr sz="3700" b="1" i="0">
                <a:solidFill>
                  <a:srgbClr val="F6FAFF"/>
                </a:solidFill>
                <a:latin typeface="Aptos Display"/>
              </a:rPr>
              <a:t>Question Answering</a:t>
            </a:r>
          </a:p>
          <a:p>
            <a:pPr algn="l">
              <a:lnSpc>
                <a:spcPct val="87000"/>
              </a:lnSpc>
            </a:pPr>
            <a:r>
              <a:rPr sz="3700" b="1" i="0">
                <a:solidFill>
                  <a:srgbClr val="F6FAFF"/>
                </a:solidFill>
                <a:latin typeface="Aptos Display"/>
              </a:rPr>
              <a:t>Using Semantic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21408"/>
            <a:ext cx="7406640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B2C4D4"/>
                </a:solidFill>
                <a:latin typeface="Aptos"/>
              </a:rPr>
              <a:t>A PropBank-grounded SRL-QA system with retrieval, constrained span reasoning, verifier feedback, and PEFT-ready transformer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1874519" cy="135331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54864" cy="1353312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913632"/>
            <a:ext cx="1563623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QA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15384"/>
            <a:ext cx="1563623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197096"/>
            <a:ext cx="154533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6D2DC"/>
                </a:solidFill>
                <a:latin typeface="Aptos Display"/>
              </a:rPr>
              <a:t>23,007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736592"/>
            <a:ext cx="15453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QA pairs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3794760"/>
            <a:ext cx="2148840" cy="135331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1488" y="3794760"/>
            <a:ext cx="54864" cy="1353312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913632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usable PropBank instances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15384"/>
            <a:ext cx="1837944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197096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9B852"/>
                </a:solidFill>
                <a:latin typeface="Aptos Display"/>
              </a:rPr>
              <a:t>9,353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736592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usable PropBank instances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3794760"/>
            <a:ext cx="2148840" cy="135331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8928" y="3794760"/>
            <a:ext cx="54864" cy="1353312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913632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QA token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215384"/>
            <a:ext cx="1837944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197096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9DD95"/>
                </a:solidFill>
                <a:latin typeface="Aptos Display"/>
              </a:rPr>
              <a:t>76.1%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736592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baseline QA token F1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005840"/>
            <a:ext cx="3063240" cy="44348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1005840"/>
            <a:ext cx="54864" cy="443484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1124712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Core 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1426464"/>
            <a:ext cx="2752344" cy="3831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SRL-QA improves answerability by making the model reason over who did what to whom, when, where, how, and why - not just over lexical overlap.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Evidence: local project artifacts in srlqa/ plus cited primary research 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02/35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Thesis: SRL turns QA into predicate-argument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Instead of asking only where text overlaps, we ask which semantic role answers the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93392"/>
            <a:ext cx="1964131" cy="14813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93392"/>
            <a:ext cx="54864" cy="14813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112264"/>
            <a:ext cx="16532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14016"/>
            <a:ext cx="1653235" cy="8778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Where was the package delivered?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9347" y="2624328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77947" y="1993392"/>
            <a:ext cx="1964131" cy="14813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77947" y="1993392"/>
            <a:ext cx="54864" cy="14813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2539" y="2112264"/>
            <a:ext cx="16532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Target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2539" y="2414016"/>
            <a:ext cx="1653235" cy="8778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WHERE -&gt; ARGM-LOC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32934" y="2624328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61534" y="1993392"/>
            <a:ext cx="1964131" cy="14813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61534" y="1993392"/>
            <a:ext cx="54864" cy="14813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6126" y="2112264"/>
            <a:ext cx="16532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Predicate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6126" y="2414016"/>
            <a:ext cx="1653235" cy="8778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delivered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16521" y="2624328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45121" y="1993392"/>
            <a:ext cx="1964131" cy="14813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45121" y="1993392"/>
            <a:ext cx="54864" cy="14813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9713" y="2112264"/>
            <a:ext cx="16532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Candidate spans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9713" y="2414016"/>
            <a:ext cx="1653235" cy="8778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to the office; at noon; package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00108" y="2624328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8708" y="1993392"/>
            <a:ext cx="1964131" cy="14813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8708" y="1993392"/>
            <a:ext cx="54864" cy="14813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93300" y="2112264"/>
            <a:ext cx="165323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300" y="2414016"/>
            <a:ext cx="1653235" cy="8778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to the office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968496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968496"/>
            <a:ext cx="54864" cy="123444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08736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Why this matters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389120"/>
            <a:ext cx="293522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The answer span must be semantically compatible with a role, not merely nearby in the sentence.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3968496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51960" y="3968496"/>
            <a:ext cx="54864" cy="123444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408736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Research framing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6552" y="4389120"/>
            <a:ext cx="293522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We formulate SRL as extractive question answering over PropBank-style role structure.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968496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3968496"/>
            <a:ext cx="54864" cy="123444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6992" y="408736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Engineering framing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4389120"/>
            <a:ext cx="293522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Use retrieval, span constraints, and verification as lightweight structure around transformer QA.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03/35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Problem statement: text matching is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SRL-QA must disambiguate semantic roles, predicate scope, and answer span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64208"/>
            <a:ext cx="4983480" cy="39776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Role ambiguity:</a:t>
            </a:r>
            <a:r>
              <a:rPr sz="1400">
                <a:solidFill>
                  <a:srgbClr val="B2C4D4"/>
                </a:solidFill>
                <a:latin typeface="Aptos"/>
              </a:rPr>
              <a:t> the same entity can be agent, patient, recipient, source, or location across predicates.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Predicate ambiguity:</a:t>
            </a:r>
            <a:r>
              <a:rPr sz="1400">
                <a:solidFill>
                  <a:srgbClr val="B2C4D4"/>
                </a:solidFill>
                <a:latin typeface="Aptos"/>
              </a:rPr>
              <a:t> a question may target a role of a specific predicate, not any nearby event.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Span boundary errors:</a:t>
            </a:r>
            <a:r>
              <a:rPr sz="1400">
                <a:solidFill>
                  <a:srgbClr val="B2C4D4"/>
                </a:solidFill>
                <a:latin typeface="Aptos"/>
              </a:rPr>
              <a:t> QA models often return too much context or omit prepositions needed for role meaning.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Class imbalance:</a:t>
            </a:r>
            <a:r>
              <a:rPr sz="1400">
                <a:solidFill>
                  <a:srgbClr val="B2C4D4"/>
                </a:solidFill>
                <a:latin typeface="Aptos"/>
              </a:rPr>
              <a:t> ARG0/ARG1 dominate, while ARGM and rare core roles remain hard to learn.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Evaluation sensitivity:</a:t>
            </a:r>
            <a:r>
              <a:rPr sz="1400">
                <a:solidFill>
                  <a:srgbClr val="B2C4D4"/>
                </a:solidFill>
                <a:latin typeface="Aptos"/>
              </a:rPr>
              <a:t> exact match is harsh; token F1 can hide wrong-role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72768"/>
            <a:ext cx="5074920" cy="40690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572768"/>
            <a:ext cx="54864" cy="406908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691640"/>
            <a:ext cx="47640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error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1993392"/>
            <a:ext cx="4764024" cy="34655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12264"/>
            <a:ext cx="1444752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Wrong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1272" y="2148840"/>
            <a:ext cx="2377440" cy="70866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91272" y="2148840"/>
            <a:ext cx="1880538" cy="708660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41864" y="2112264"/>
            <a:ext cx="548640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19.8%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958084"/>
            <a:ext cx="1444752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Span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1272" y="2994660"/>
            <a:ext cx="2377440" cy="70866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91272" y="2994660"/>
            <a:ext cx="2377440" cy="708660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41864" y="2958084"/>
            <a:ext cx="548640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25.1%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803904"/>
            <a:ext cx="1444752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91272" y="3840480"/>
            <a:ext cx="2377440" cy="70866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91272" y="3840480"/>
            <a:ext cx="299238" cy="708660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41864" y="3803904"/>
            <a:ext cx="548640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649724"/>
            <a:ext cx="1444752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Predicate miss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91272" y="4686300"/>
            <a:ext cx="2377440" cy="70866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91272" y="4686300"/>
            <a:ext cx="18288" cy="708660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1864" y="4649724"/>
            <a:ext cx="548640" cy="7818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0.1%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Counts from srlqa/output/tables/baseline_error_taxonomy.csv; denominator = listed error-analysis total.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04/35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Semantic Role Labeling in one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SRL identifies the predicate and labels the arguments that participate in the event.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481328"/>
          <a:ext cx="6473951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389"/>
                <a:gridCol w="3087577"/>
                <a:gridCol w="1991985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60" b="1">
                          <a:solidFill>
                            <a:srgbClr val="F6FA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60" b="1">
                          <a:solidFill>
                            <a:srgbClr val="F6FAFF"/>
                          </a:solidFill>
                          <a:latin typeface="Aptos"/>
                        </a:rPr>
                        <a:t>Meaning in PropBank-style SRL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60" b="1">
                          <a:solidFill>
                            <a:srgbClr val="F6FAFF"/>
                          </a:solidFill>
                          <a:latin typeface="Aptos"/>
                        </a:rPr>
                        <a:t>QA mapping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ARG0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Proto-agent / doer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Who did it?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ARG1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Proto-patient / thing affected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What was affected?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ARG2-ARG5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Predicate-specific complements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To whom? from what? for what?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ARGM-TMP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Temporal modifier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When?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ARGM-LOC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Location modifier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Where?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ARGM-MNR/CAU/PNC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Manner, cause, purpose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9" b="0">
                          <a:solidFill>
                            <a:srgbClr val="B2C4D4"/>
                          </a:solidFill>
                          <a:latin typeface="Aptos"/>
                        </a:rPr>
                        <a:t>How? why? for what purpose?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452360" y="1627632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627632"/>
            <a:ext cx="54864" cy="1143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746504"/>
            <a:ext cx="3118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Predicate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048256"/>
            <a:ext cx="311810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Arguments are interpreted relative to a predicate such as deliver.01, sell.01, or acquire.01.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962656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962656"/>
            <a:ext cx="54864" cy="11430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3081528"/>
            <a:ext cx="3118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QA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3383280"/>
            <a:ext cx="311810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 role label becomes a question intent; an argument span becomes the extractive answer.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29768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4297680"/>
            <a:ext cx="54864" cy="114300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4416552"/>
            <a:ext cx="3118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Key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4718304"/>
            <a:ext cx="311810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The same surface phrase can be correct for one predicate and wrong for another.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05/35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PropBank through NLTK: dataset 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project uses PropBank as the semantic-role backbone and converts roles into QA-style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536192"/>
            <a:ext cx="4846320" cy="1865376"/>
          </a:xfrm>
          <a:prstGeom prst="roundRect">
            <a:avLst/>
          </a:prstGeom>
          <a:solidFill>
            <a:srgbClr val="091F31"/>
          </a:solidFill>
          <a:ln w="1270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55648"/>
            <a:ext cx="4480560" cy="1353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DD95"/>
                </a:solidFill>
                <a:latin typeface="Consolas"/>
              </a:rPr>
              <a:t>import nltk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DD95"/>
                </a:solidFill>
                <a:latin typeface="Consolas"/>
              </a:rPr>
              <a:t>nltk.download('propbank')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DD95"/>
                </a:solidFill>
                <a:latin typeface="Consolas"/>
              </a:rPr>
              <a:t>from nltk.corpus import propbank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DD95"/>
                </a:solidFill>
                <a:latin typeface="Consolas"/>
              </a:rPr>
              <a:t>instances = propbank.instances()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DD95"/>
                </a:solidFill>
                <a:latin typeface="Consolas"/>
              </a:rPr>
              <a:t>roleset = propbank.roleset('deliver.01')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389888"/>
            <a:ext cx="5074920" cy="34015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6D2DC"/>
                </a:solidFill>
                <a:latin typeface="Aptos"/>
              </a:rPr>
              <a:t>- Raw view:</a:t>
            </a:r>
            <a:r>
              <a:rPr sz="1280">
                <a:solidFill>
                  <a:srgbClr val="B2C4D4"/>
                </a:solidFill>
                <a:latin typeface="Aptos"/>
              </a:rPr>
              <a:t> predicates are anchored in Penn Treebank-style structures and PropBank frame files.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6D2DC"/>
                </a:solidFill>
                <a:latin typeface="Aptos"/>
              </a:rPr>
              <a:t>- Clean view:</a:t>
            </a:r>
            <a:r>
              <a:rPr sz="1280">
                <a:solidFill>
                  <a:srgbClr val="B2C4D4"/>
                </a:solidFill>
                <a:latin typeface="Aptos"/>
              </a:rPr>
              <a:t> each predicate instance yields a sentence, predicate lemma/roleset, argument labels, and answer spans.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6D2DC"/>
                </a:solidFill>
                <a:latin typeface="Aptos"/>
              </a:rPr>
              <a:t>- QA view:</a:t>
            </a:r>
            <a:r>
              <a:rPr sz="1280">
                <a:solidFill>
                  <a:srgbClr val="B2C4D4"/>
                </a:solidFill>
                <a:latin typeface="Aptos"/>
              </a:rPr>
              <a:t> a role label becomes a question template; the gold argument span becomes the answer.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80" b="1">
                <a:solidFill>
                  <a:srgbClr val="46D2DC"/>
                </a:solidFill>
                <a:latin typeface="Aptos"/>
              </a:rPr>
              <a:t>- Tree-pointer caveat:</a:t>
            </a:r>
            <a:r>
              <a:rPr sz="1280">
                <a:solidFill>
                  <a:srgbClr val="B2C4D4"/>
                </a:solidFill>
                <a:latin typeface="Aptos"/>
              </a:rPr>
              <a:t> NLTK exposes PropBank pointers, so conversion must normalize tree spans to text spans before transformer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77639"/>
            <a:ext cx="54864" cy="1060704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096511"/>
            <a:ext cx="1975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Total instances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361687"/>
            <a:ext cx="19751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6D2DC"/>
                </a:solidFill>
                <a:latin typeface="Aptos Display"/>
              </a:rPr>
              <a:t>112,917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800599"/>
            <a:ext cx="197510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977639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977639"/>
            <a:ext cx="54864" cy="1060704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4096511"/>
            <a:ext cx="1975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Usable instances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361687"/>
            <a:ext cx="19751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B852"/>
                </a:solidFill>
                <a:latin typeface="Aptos Display"/>
              </a:rPr>
              <a:t>9,353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800599"/>
            <a:ext cx="197510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977639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3977639"/>
            <a:ext cx="54864" cy="1060704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2" y="4096511"/>
            <a:ext cx="1975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Unique predicates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2" y="4361687"/>
            <a:ext cx="19751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9DD95"/>
                </a:solidFill>
                <a:latin typeface="Aptos Display"/>
              </a:rPr>
              <a:t>1,340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4800599"/>
            <a:ext cx="197510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977639"/>
            <a:ext cx="2286000" cy="1060704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977639"/>
            <a:ext cx="54864" cy="1060704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4096511"/>
            <a:ext cx="19751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Unique rolesets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4361687"/>
            <a:ext cx="19751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874"/>
                </a:solidFill>
                <a:latin typeface="Aptos Display"/>
              </a:rPr>
              <a:t>1,670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800599"/>
            <a:ext cx="1975104" cy="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NLTK PropBank HOWTO plus local EXACT_VALUES.json dataset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06/35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Project goal and evaluation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Build a reproducible SRL-QA pipeline, then report metrics with claim boundaries.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63040"/>
            <a:ext cx="5120640" cy="4297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6D2DC"/>
                </a:solidFill>
                <a:latin typeface="Aptos"/>
              </a:rPr>
              <a:t>- Task formulation:</a:t>
            </a:r>
            <a:r>
              <a:rPr sz="1330">
                <a:solidFill>
                  <a:srgbClr val="B2C4D4"/>
                </a:solidFill>
                <a:latin typeface="Aptos"/>
              </a:rPr>
              <a:t> extractive question answering over sentences with PropBank-style predicate-role supervision.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6D2DC"/>
                </a:solidFill>
                <a:latin typeface="Aptos"/>
              </a:rPr>
              <a:t>- Primary outputs:</a:t>
            </a:r>
            <a:r>
              <a:rPr sz="1330">
                <a:solidFill>
                  <a:srgbClr val="B2C4D4"/>
                </a:solidFill>
                <a:latin typeface="Aptos"/>
              </a:rPr>
              <a:t> answer span, inferred role, confidence, and a short reasoning trace.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6D2DC"/>
                </a:solidFill>
                <a:latin typeface="Aptos"/>
              </a:rPr>
              <a:t>- Training evidence:</a:t>
            </a:r>
            <a:r>
              <a:rPr sz="1330">
                <a:solidFill>
                  <a:srgbClr val="B2C4D4"/>
                </a:solidFill>
                <a:latin typeface="Aptos"/>
              </a:rPr>
              <a:t> baseline PropQA-Net metrics, LoRA/QLoRA notebooks, and local RAISE seed-suite runs.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6D2DC"/>
                </a:solidFill>
                <a:latin typeface="Aptos"/>
              </a:rPr>
              <a:t>- Metrics:</a:t>
            </a:r>
            <a:r>
              <a:rPr sz="1330">
                <a:solidFill>
                  <a:srgbClr val="B2C4D4"/>
                </a:solidFill>
                <a:latin typeface="Aptos"/>
              </a:rPr>
              <a:t> exact match, token F1, role accuracy or SRL micro F1, latency, and confidence.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30" b="1">
                <a:solidFill>
                  <a:srgbClr val="46D2DC"/>
                </a:solidFill>
                <a:latin typeface="Aptos"/>
              </a:rPr>
              <a:t>- Claim policy:</a:t>
            </a:r>
            <a:r>
              <a:rPr sz="1330">
                <a:solidFill>
                  <a:srgbClr val="B2C4D4"/>
                </a:solidFill>
                <a:latin typeface="Aptos"/>
              </a:rPr>
              <a:t> measured results must cite local files; roadmap targets are visibly separated.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72768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72768"/>
            <a:ext cx="54864" cy="129844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691640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QA exact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93392"/>
            <a:ext cx="1837944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975104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46D2DC"/>
                </a:solidFill>
                <a:latin typeface="Aptos Display"/>
              </a:rPr>
              <a:t>51.8%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514600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baseline QA exact match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572768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1572768"/>
            <a:ext cx="54864" cy="129844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1691640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QA token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1993392"/>
            <a:ext cx="1837944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1975104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9B852"/>
                </a:solidFill>
                <a:latin typeface="Aptos Display"/>
              </a:rPr>
              <a:t>76.1%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514600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baseline QA token 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218688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218688"/>
            <a:ext cx="54864" cy="1298448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3337560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SRL micro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639312"/>
            <a:ext cx="1837944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621024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9DD95"/>
                </a:solidFill>
                <a:latin typeface="Aptos Display"/>
              </a:rPr>
              <a:t>71.3%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160520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baseline SRL micro F1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3218688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3218688"/>
            <a:ext cx="54864" cy="1298448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5672" y="3337560"/>
            <a:ext cx="18379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SRL macro 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3639312"/>
            <a:ext cx="1837944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3621024"/>
            <a:ext cx="1819656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6874"/>
                </a:solidFill>
                <a:latin typeface="Aptos Display"/>
              </a:rPr>
              <a:t>16.2%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4160520"/>
            <a:ext cx="18196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B2C4D4"/>
                </a:solidFill>
                <a:latin typeface="Aptos"/>
              </a:rPr>
              <a:t>baseline SRL macro 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Baseline values trace to srlqa/plots/EXACT_VALUES.json and linked baseline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07/35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Literature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project sits at the intersection of PropBank SRL, QA-SRL, MRC, and efficient fine-tuning.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1965960"/>
            <a:ext cx="566928" cy="566928"/>
          </a:xfrm>
          <a:prstGeom prst="ellipse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PropBank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Predicate-argument corpus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221992"/>
            <a:ext cx="1197864" cy="45720"/>
          </a:xfrm>
          <a:prstGeom prst="rect">
            <a:avLst/>
          </a:prstGeom>
          <a:solidFill>
            <a:srgbClr val="476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69464" y="1965960"/>
            <a:ext cx="566928" cy="566928"/>
          </a:xfrm>
          <a:prstGeom prst="ellipse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424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QA-SRL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Roles as natural questions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6392" y="2221992"/>
            <a:ext cx="1197864" cy="45720"/>
          </a:xfrm>
          <a:prstGeom prst="rect">
            <a:avLst/>
          </a:prstGeom>
          <a:solidFill>
            <a:srgbClr val="476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34256" y="1965960"/>
            <a:ext cx="566928" cy="566928"/>
          </a:xfrm>
          <a:prstGeom prst="ellipse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6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14216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Deep SRL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4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End-to-end neural SRL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01184" y="2221992"/>
            <a:ext cx="1197864" cy="45720"/>
          </a:xfrm>
          <a:prstGeom prst="rect">
            <a:avLst/>
          </a:prstGeom>
          <a:solidFill>
            <a:srgbClr val="476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99048" y="1965960"/>
            <a:ext cx="566928" cy="566928"/>
          </a:xfrm>
          <a:prstGeom prst="ellipse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LISA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Syntax-aware attention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5976" y="2221992"/>
            <a:ext cx="1197864" cy="45720"/>
          </a:xfrm>
          <a:prstGeom prst="rect">
            <a:avLst/>
          </a:prstGeom>
          <a:solidFill>
            <a:srgbClr val="476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63840" y="1965960"/>
            <a:ext cx="566928" cy="566928"/>
          </a:xfrm>
          <a:prstGeom prst="ellipse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BERT/SQuAD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Transformer span QA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2221992"/>
            <a:ext cx="1197864" cy="45720"/>
          </a:xfrm>
          <a:prstGeom prst="rect">
            <a:avLst/>
          </a:prstGeom>
          <a:solidFill>
            <a:srgbClr val="476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28632" y="1965960"/>
            <a:ext cx="566928" cy="566928"/>
          </a:xfrm>
          <a:prstGeom prst="ellipse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1472" y="1554480"/>
            <a:ext cx="84124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6FAFF"/>
                </a:solidFill>
                <a:latin typeface="Aptos"/>
              </a:rPr>
              <a:t>2021-23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670048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6FAFF"/>
                </a:solidFill>
                <a:latin typeface="Aptos"/>
              </a:rPr>
              <a:t>LoRA/QLoRA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017520"/>
            <a:ext cx="1664208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B2C4D4"/>
                </a:solidFill>
                <a:latin typeface="Aptos"/>
              </a:rPr>
              <a:t>PEFT for large models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" y="4242816"/>
            <a:ext cx="10168128" cy="105156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" y="4242816"/>
            <a:ext cx="54864" cy="105156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4361688"/>
            <a:ext cx="9857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Survey takeaway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" y="4663440"/>
            <a:ext cx="9857232" cy="448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Earlier work gives us the pieces: PropBank labels, QA-style annotation, transformer span extraction, and efficient adaptation. Our system goal is to combine them with explicit retrieval, constraints, and verification.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Primary survey sources listed on final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08/35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PropBank and supervised SRL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PropBank gives canonical role inventories, but not a ready-made QA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444752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444752"/>
            <a:ext cx="54864" cy="132588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563624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What previous work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865376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Annotated predicates and their arguments over treebank structures; enabled supervised SRL systems.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1444752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444752"/>
            <a:ext cx="54864" cy="132588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563624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How models 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865376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Classic and neural SRL systems learn role labels from gold predicate-argument annotations.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1444752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1444752"/>
            <a:ext cx="54864" cy="132588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1563624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Limitation for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1865376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Role labels and tree pointers must be converted into natural questions and extractive answer spans.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56432"/>
            <a:ext cx="973836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Strength:</a:t>
            </a:r>
            <a:r>
              <a:rPr sz="1400">
                <a:solidFill>
                  <a:srgbClr val="B2C4D4"/>
                </a:solidFill>
                <a:latin typeface="Aptos"/>
              </a:rPr>
              <a:t> canonical role names make evaluation and error analysis precise.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Weakness:</a:t>
            </a:r>
            <a:r>
              <a:rPr sz="1400">
                <a:solidFill>
                  <a:srgbClr val="B2C4D4"/>
                </a:solidFill>
                <a:latin typeface="Aptos"/>
              </a:rPr>
              <a:t> rare roles and predicate-specific complements create heavy class imbalance.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Our use:</a:t>
            </a:r>
            <a:r>
              <a:rPr sz="1400">
                <a:solidFill>
                  <a:srgbClr val="B2C4D4"/>
                </a:solidFill>
                <a:latin typeface="Aptos"/>
              </a:rPr>
              <a:t> PropBank supplies the role schema and frame retrieval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Palmer et al. 2005, ACL Anthology J05-1004; NLTK PropBank HOWTO.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09/35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QA-SRL and natural-language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QA-SRL reframes semantic roles as question-answer pairs written in natural language.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481328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481328"/>
            <a:ext cx="54864" cy="13716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600200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What previous work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901952"/>
            <a:ext cx="29352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Asked crowd workers to annotate roles with questions and answer spans instead of formal role labels.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1481328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481328"/>
            <a:ext cx="54864" cy="13716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600200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How models 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901952"/>
            <a:ext cx="29352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Parsers learn to generate or recover QA-SRL questions and answer spans from 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1481328"/>
            <a:ext cx="32461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1481328"/>
            <a:ext cx="54864" cy="137160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1600200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Limitation for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1901952"/>
            <a:ext cx="29352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Natural questions are flexible, but mapping them back to canonical PropBank roles can be noisy.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703320"/>
            <a:ext cx="2258568" cy="1133856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3703320"/>
            <a:ext cx="54864" cy="1133856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82219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123944"/>
            <a:ext cx="1947672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ARGM-LOC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09544" y="4160520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38144" y="3703320"/>
            <a:ext cx="2258568" cy="1133856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38144" y="3703320"/>
            <a:ext cx="54864" cy="1133856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2736" y="382219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123944"/>
            <a:ext cx="1947672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Where did it happen?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87568" y="4160520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16168" y="3703320"/>
            <a:ext cx="2258568" cy="1133856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16168" y="3703320"/>
            <a:ext cx="54864" cy="1133856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82219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123944"/>
            <a:ext cx="1947672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to the office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165592" y="4160520"/>
            <a:ext cx="237744" cy="219456"/>
          </a:xfrm>
          <a:prstGeom prst="rightArrow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94192" y="3703320"/>
            <a:ext cx="2258568" cy="1133856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4192" y="3703320"/>
            <a:ext cx="54864" cy="1133856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3822192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Need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4123944"/>
            <a:ext cx="1947672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role consistency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He et al. 2015, ACL Anthology D15-1076; FitzGerald et al. 2018, ACL Anthology P18-1191.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10/35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large-scale QA-SRL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Large-scale QA-SRL work helps with coverage, but introduces parser and template dependencies.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" y="1481328"/>
          <a:ext cx="722375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420"/>
                <a:gridCol w="2928551"/>
                <a:gridCol w="3123788"/>
              </a:tblGrid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90" b="1">
                          <a:solidFill>
                            <a:srgbClr val="F6FAFF"/>
                          </a:solidFill>
                          <a:latin typeface="Aptos"/>
                        </a:rPr>
                        <a:t>Axis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90" b="1">
                          <a:solidFill>
                            <a:srgbClr val="F6FAFF"/>
                          </a:solidFill>
                          <a:latin typeface="Aptos"/>
                        </a:rPr>
                        <a:t>Previous QA-SRL systems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90" b="1">
                          <a:solidFill>
                            <a:srgbClr val="F6FAFF"/>
                          </a:solidFill>
                          <a:latin typeface="Aptos"/>
                        </a:rPr>
                        <a:t>Implication for this project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Question-answer annotations for predicates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Good fit for QA interface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Training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Question generation and answer-span prediction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Useful but not always PropBank-role exact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Human-readable semantic roles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Improves interpretability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Limitation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Surface-form variability and parser errors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0">
                          <a:solidFill>
                            <a:srgbClr val="B2C4D4"/>
                          </a:solidFill>
                          <a:latin typeface="Aptos"/>
                        </a:rPr>
                        <a:t>Needs canonical role normalization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275320" y="1682496"/>
            <a:ext cx="2788920" cy="107899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82496"/>
            <a:ext cx="54864" cy="1078992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801368"/>
            <a:ext cx="24780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Design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103120"/>
            <a:ext cx="2478024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Keep natural questions, but bind them to PropBank role priors.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017520"/>
            <a:ext cx="2788920" cy="107899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3017520"/>
            <a:ext cx="54864" cy="1078992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3136392"/>
            <a:ext cx="24780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Evaluation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438144"/>
            <a:ext cx="2478024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Score answer span and role consistency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FitzGerald et al. 2018, ACL Anthology P18-1191.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11/35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deep SRL and syntax-aware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Neural SRL improved role labeling, but most systems are not designed as QA pipelines.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408176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408176"/>
            <a:ext cx="54864" cy="132588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52704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Deep SRL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828800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Supervised neural sequence labeling learns predicate-argument structure end to 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532888"/>
            <a:ext cx="293522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He et al. 2017, ACL Anthology P17-1044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408176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408176"/>
            <a:ext cx="54864" cy="132588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52704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LISA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1828800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Self-attention is biased with linguistic/syntactic structure for SRL.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532888"/>
            <a:ext cx="293522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Strubell et al. 2018, ACL Anthology D18-1548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1408176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1408176"/>
            <a:ext cx="54864" cy="132588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527048"/>
            <a:ext cx="29352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Project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1828800"/>
            <a:ext cx="2935224" cy="7223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These systems label roles, but do not naturally answer user questions with explainable spans.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547872"/>
            <a:ext cx="1001268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Useful lesson:</a:t>
            </a:r>
            <a:r>
              <a:rPr sz="1400">
                <a:solidFill>
                  <a:srgbClr val="B2C4D4"/>
                </a:solidFill>
                <a:latin typeface="Aptos"/>
              </a:rPr>
              <a:t> role structure improves generalization beyond local token overlap.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Useful limitation:</a:t>
            </a:r>
            <a:r>
              <a:rPr sz="1400">
                <a:solidFill>
                  <a:srgbClr val="B2C4D4"/>
                </a:solidFill>
                <a:latin typeface="Aptos"/>
              </a:rPr>
              <a:t> a sequence tagger alone is not enough for QA-style output and interaction.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Our adaptation:</a:t>
            </a:r>
            <a:r>
              <a:rPr sz="1400">
                <a:solidFill>
                  <a:srgbClr val="B2C4D4"/>
                </a:solidFill>
                <a:latin typeface="Aptos"/>
              </a:rPr>
              <a:t> wrap SRL structure around extractive QA and post-hoc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12/35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MRC-style SRL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MRC-SRL casts each role query as a reading-comprehension question.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664208"/>
            <a:ext cx="2361438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664208"/>
            <a:ext cx="54864" cy="129844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1783080"/>
            <a:ext cx="205054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Sentence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84832"/>
            <a:ext cx="2050542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Predicate context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75254" y="2203704"/>
            <a:ext cx="237744" cy="219456"/>
          </a:xfrm>
          <a:prstGeom prst="rightArrow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03854" y="1664208"/>
            <a:ext cx="2361438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3854" y="1664208"/>
            <a:ext cx="54864" cy="129844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8446" y="1783080"/>
            <a:ext cx="205054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446" y="2084832"/>
            <a:ext cx="2050542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Role-specific question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56148" y="2203704"/>
            <a:ext cx="237744" cy="219456"/>
          </a:xfrm>
          <a:prstGeom prst="rightArrow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4748" y="1664208"/>
            <a:ext cx="2361438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4748" y="1664208"/>
            <a:ext cx="54864" cy="129844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1783080"/>
            <a:ext cx="205054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Encoder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9340" y="2084832"/>
            <a:ext cx="2050542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Transformer MRC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37042" y="2203704"/>
            <a:ext cx="237744" cy="219456"/>
          </a:xfrm>
          <a:prstGeom prst="rightArrow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65642" y="1664208"/>
            <a:ext cx="2361438" cy="129844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65642" y="1664208"/>
            <a:ext cx="54864" cy="129844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0234" y="1783080"/>
            <a:ext cx="205054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0234" y="2084832"/>
            <a:ext cx="2050542" cy="6949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Answer span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" y="3749039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" y="3749039"/>
            <a:ext cx="54864" cy="123444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867911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What it gives 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169663"/>
            <a:ext cx="266090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 practical span-prediction formulation compatible with transformer QA checkpoints.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3749039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3749039"/>
            <a:ext cx="54864" cy="123444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3867911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Training style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4169663"/>
            <a:ext cx="266090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Role questions are generated or templated, then optimized as answer-span extraction.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3749039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19872" y="3749039"/>
            <a:ext cx="54864" cy="123444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3867911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Limitation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4169663"/>
            <a:ext cx="266090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Template quality and role/query mismatch can cause brittle generalization.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Wang et al. 2022, ACL Anthology 2022.coling-1.191.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13/35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BERT and SQuAD-style extractive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Transformer QA is a strong span extractor, but needs semantic constraints for SRL reliability.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81328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81328"/>
            <a:ext cx="54864" cy="13716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600200"/>
            <a:ext cx="27066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901952"/>
            <a:ext cx="27066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Bidirectional transformer pretraining supplies contextual token representations.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651760"/>
            <a:ext cx="270662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Devlin et al. 2019, ACL Anthology N19-1423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1481328"/>
            <a:ext cx="30175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80" y="1481328"/>
            <a:ext cx="54864" cy="13716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3672" y="1600200"/>
            <a:ext cx="27066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SQuAD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1901952"/>
            <a:ext cx="27066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Extractive QA objective trains start/end span prediction from questions and passages.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651760"/>
            <a:ext cx="270662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Rajpurkar et al. 2016, ACL Anthology D16-1264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481328"/>
            <a:ext cx="347472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481328"/>
            <a:ext cx="54864" cy="137160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1600200"/>
            <a:ext cx="31638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SRL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1901952"/>
            <a:ext cx="316382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 plausible span can be syntactically nearby but semantically the wrong role.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85032"/>
            <a:ext cx="973836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Why use it:</a:t>
            </a:r>
            <a:r>
              <a:rPr sz="1400">
                <a:solidFill>
                  <a:srgbClr val="B2C4D4"/>
                </a:solidFill>
                <a:latin typeface="Aptos"/>
              </a:rPr>
              <a:t> pretrained QA models know how to localize answer spans.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Why adapt it:</a:t>
            </a:r>
            <a:r>
              <a:rPr sz="1400">
                <a:solidFill>
                  <a:srgbClr val="B2C4D4"/>
                </a:solidFill>
                <a:latin typeface="Aptos"/>
              </a:rPr>
              <a:t> SRL requires predicate and role compatibility, not only answerability.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46D2DC"/>
                </a:solidFill>
                <a:latin typeface="Aptos"/>
              </a:rPr>
              <a:t>- Project strategy:</a:t>
            </a:r>
            <a:r>
              <a:rPr sz="1400">
                <a:solidFill>
                  <a:srgbClr val="B2C4D4"/>
                </a:solidFill>
                <a:latin typeface="Aptos"/>
              </a:rPr>
              <a:t> transformer candidates are scored by PropBank retrieval and verifier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14/35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Survey: LoRA/QLoRA and 2B-model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Parameter-efficient fine-tuning makes larger language models realistic in a Colab-style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17320"/>
            <a:ext cx="54864" cy="13716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536192"/>
            <a:ext cx="28437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LoRA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837944"/>
            <a:ext cx="284378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Train low-rank adapters while keeping the base model frozen; lowers trainable parameters.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587752"/>
            <a:ext cx="28437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Hu et al. 2021, arXiv 2106.09685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141732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417320"/>
            <a:ext cx="54864" cy="13716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536192"/>
            <a:ext cx="28437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837944"/>
            <a:ext cx="284378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Fine-tune adapters on quantized base weights; improves memory feasibility for larger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587752"/>
            <a:ext cx="28437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Dettmers et al. 2023, arXiv 2305.14314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417320"/>
            <a:ext cx="3154680" cy="13716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417320"/>
            <a:ext cx="54864" cy="137160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1536192"/>
            <a:ext cx="28437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2B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1837944"/>
            <a:ext cx="2843784" cy="7680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Gemma 2 2B IT is configured for Colab GPU experiments with quantized loading.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1" y="2587752"/>
            <a:ext cx="28437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Gemma 2 2B IT model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675887"/>
            <a:ext cx="9829800" cy="13350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80" b="1">
                <a:solidFill>
                  <a:srgbClr val="46D2DC"/>
                </a:solidFill>
                <a:latin typeface="Aptos"/>
              </a:rPr>
              <a:t>- Notebook evidence:</a:t>
            </a:r>
            <a:r>
              <a:rPr sz="1380">
                <a:solidFill>
                  <a:srgbClr val="B2C4D4"/>
                </a:solidFill>
                <a:latin typeface="Aptos"/>
              </a:rPr>
              <a:t> local smoke tests validate the pipeline; full 2B QLoRA execution requires GPU and model access.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80" b="1">
                <a:solidFill>
                  <a:srgbClr val="46D2DC"/>
                </a:solidFill>
                <a:latin typeface="Aptos"/>
              </a:rPr>
              <a:t>- Engineering benefit:</a:t>
            </a:r>
            <a:r>
              <a:rPr sz="1380">
                <a:solidFill>
                  <a:srgbClr val="B2C4D4"/>
                </a:solidFill>
                <a:latin typeface="Aptos"/>
              </a:rPr>
              <a:t> adapters keep the implementation lightweight and reproducible.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80" b="1">
                <a:solidFill>
                  <a:srgbClr val="46D2DC"/>
                </a:solidFill>
                <a:latin typeface="Aptos"/>
              </a:rPr>
              <a:t>- Research caution:</a:t>
            </a:r>
            <a:r>
              <a:rPr sz="1380">
                <a:solidFill>
                  <a:srgbClr val="B2C4D4"/>
                </a:solidFill>
                <a:latin typeface="Aptos"/>
              </a:rPr>
              <a:t> PEFT enables experiments; it does not guarantee a target accuracy by itself.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15/35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Survey synthesis: what previous work contributes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We use prior work as building blocks, not as unsupported leaderboard claims.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912" y="1298448"/>
          <a:ext cx="11064237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2575801"/>
                <a:gridCol w="2048933"/>
                <a:gridCol w="2634342"/>
                <a:gridCol w="2224556"/>
              </a:tblGrid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30" b="1">
                          <a:solidFill>
                            <a:srgbClr val="F6FAFF"/>
                          </a:solidFill>
                          <a:latin typeface="Aptos"/>
                        </a:rPr>
                        <a:t>Work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30" b="1">
                          <a:solidFill>
                            <a:srgbClr val="F6FAFF"/>
                          </a:solidFill>
                          <a:latin typeface="Aptos"/>
                        </a:rPr>
                        <a:t>Training style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30" b="1">
                          <a:solidFill>
                            <a:srgbClr val="F6FA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30" b="1">
                          <a:solidFill>
                            <a:srgbClr val="F6FAFF"/>
                          </a:solidFill>
                          <a:latin typeface="Aptos"/>
                        </a:rPr>
                        <a:t>Limitation for SRL-QA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30" b="1">
                          <a:solidFill>
                            <a:srgbClr val="F6FAFF"/>
                          </a:solidFill>
                          <a:latin typeface="Aptos"/>
                        </a:rPr>
                        <a:t>Our use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PropBank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Gold predicate-role annotation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Canonical roles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Not QA formatted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Frame schema + retrieval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QA-SRL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Question-answer annotations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Natural interface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Role mapping variability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QA conversion idea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Deep/LISA SRL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Supervised role labeling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Strong role structure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Not interactive QA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Role-aware constraints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MRC-SRL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Role query -&gt; span extraction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Transformer-compatible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Template dependence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Task formulation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LoRA/QLoRA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Adapter fine-tuning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Low memory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Needs careful evaluation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90" b="0">
                          <a:solidFill>
                            <a:srgbClr val="B2C4D4"/>
                          </a:solidFill>
                          <a:latin typeface="Aptos"/>
                        </a:rPr>
                        <a:t>Colab-scale experiments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Sources: Palmer 2005; He 2015; FitzGerald 2018; He 2017; Strubell 2018; Wang 2022; Hu 2021; Dettmers 2023.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SURVEY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16/35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Gap analysis for our 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opportunity is not just a better encoder - it is structure around the encoder.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444752"/>
            <a:ext cx="5166360" cy="4160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40" b="1">
                <a:solidFill>
                  <a:srgbClr val="46D2DC"/>
                </a:solidFill>
                <a:latin typeface="Aptos"/>
              </a:rPr>
              <a:t>- Canonical role grounding:</a:t>
            </a:r>
            <a:r>
              <a:rPr sz="1340">
                <a:solidFill>
                  <a:srgbClr val="B2C4D4"/>
                </a:solidFill>
                <a:latin typeface="Aptos"/>
              </a:rPr>
              <a:t> QA-SRL is readable, but PropBank roles are better for controlled evaluation.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40" b="1">
                <a:solidFill>
                  <a:srgbClr val="46D2DC"/>
                </a:solidFill>
                <a:latin typeface="Aptos"/>
              </a:rPr>
              <a:t>- Answer-span discipline:</a:t>
            </a:r>
            <a:r>
              <a:rPr sz="1340">
                <a:solidFill>
                  <a:srgbClr val="B2C4D4"/>
                </a:solidFill>
                <a:latin typeface="Aptos"/>
              </a:rPr>
              <a:t> transformer QA needs constraints for role-compatible span boundaries.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40" b="1">
                <a:solidFill>
                  <a:srgbClr val="46D2DC"/>
                </a:solidFill>
                <a:latin typeface="Aptos"/>
              </a:rPr>
              <a:t>- Evidence retrieval:</a:t>
            </a:r>
            <a:r>
              <a:rPr sz="1340">
                <a:solidFill>
                  <a:srgbClr val="B2C4D4"/>
                </a:solidFill>
                <a:latin typeface="Aptos"/>
              </a:rPr>
              <a:t> frame definitions and role priors can narrow plausible answers before final selection.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40" b="1">
                <a:solidFill>
                  <a:srgbClr val="46D2DC"/>
                </a:solidFill>
                <a:latin typeface="Aptos"/>
              </a:rPr>
              <a:t>- Self-correction:</a:t>
            </a:r>
            <a:r>
              <a:rPr sz="1340">
                <a:solidFill>
                  <a:srgbClr val="B2C4D4"/>
                </a:solidFill>
                <a:latin typeface="Aptos"/>
              </a:rPr>
              <a:t> a verifier can reject spans that are extractive but semantically wrong.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40" b="1">
                <a:solidFill>
                  <a:srgbClr val="46D2DC"/>
                </a:solidFill>
                <a:latin typeface="Aptos"/>
              </a:rPr>
              <a:t>- Claim discipline:</a:t>
            </a:r>
            <a:r>
              <a:rPr sz="1340">
                <a:solidFill>
                  <a:srgbClr val="B2C4D4"/>
                </a:solidFill>
                <a:latin typeface="Aptos"/>
              </a:rPr>
              <a:t> small seed suites are useful engineering tests, not general benchmark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64208"/>
            <a:ext cx="4069080" cy="105156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664208"/>
            <a:ext cx="54864" cy="105156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783080"/>
            <a:ext cx="37581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Research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084832"/>
            <a:ext cx="3758184" cy="448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Bridge formal SRL, natural-language QA, and verifiable span extraction.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962656"/>
            <a:ext cx="4069080" cy="105156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962656"/>
            <a:ext cx="54864" cy="105156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3081528"/>
            <a:ext cx="37581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Engineering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383280"/>
            <a:ext cx="3758184" cy="448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Make the pipeline simple enough to run locally, but extensible for PEFT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261104"/>
            <a:ext cx="4069080" cy="105156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261104"/>
            <a:ext cx="54864" cy="105156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379976"/>
            <a:ext cx="375818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Presentation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681728"/>
            <a:ext cx="3758184" cy="4480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Report measured values, target bands, and evidence scopes separately.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17/35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Innovation opportunity: RAISE-SRL-QA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Retrieval-Augmented, Iteratively Self-correcting, Explainable SRL Question Answering.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00784"/>
            <a:ext cx="1973275" cy="14173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1700784"/>
            <a:ext cx="54864" cy="14173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19656"/>
            <a:ext cx="16623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21408"/>
            <a:ext cx="1662379" cy="8138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Retrieve PropBank frames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22499" y="2299716"/>
            <a:ext cx="237744" cy="219456"/>
          </a:xfrm>
          <a:prstGeom prst="rightArrow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51099" y="1700784"/>
            <a:ext cx="1973275" cy="14173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1099" y="1700784"/>
            <a:ext cx="54864" cy="14173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5691" y="1819656"/>
            <a:ext cx="16623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5691" y="2121408"/>
            <a:ext cx="1662379" cy="8138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Align question to role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15230" y="2299716"/>
            <a:ext cx="237744" cy="219456"/>
          </a:xfrm>
          <a:prstGeom prst="rightArrow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3830" y="1700784"/>
            <a:ext cx="1973275" cy="14173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3830" y="1700784"/>
            <a:ext cx="54864" cy="14173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8422" y="1819656"/>
            <a:ext cx="16623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8422" y="2121408"/>
            <a:ext cx="1662379" cy="8138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Infer predicate + candidates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07961" y="2299716"/>
            <a:ext cx="237744" cy="219456"/>
          </a:xfrm>
          <a:prstGeom prst="rightArrow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36561" y="1700784"/>
            <a:ext cx="1973275" cy="14173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36561" y="1700784"/>
            <a:ext cx="54864" cy="14173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1153" y="1819656"/>
            <a:ext cx="16623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1153" y="2121408"/>
            <a:ext cx="1662379" cy="8138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Score with verifier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200692" y="2299716"/>
            <a:ext cx="237744" cy="219456"/>
          </a:xfrm>
          <a:prstGeom prst="rightArrow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29292" y="1700784"/>
            <a:ext cx="1973275" cy="14173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29292" y="1700784"/>
            <a:ext cx="54864" cy="14173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3884" y="1819656"/>
            <a:ext cx="166237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3884" y="2121408"/>
            <a:ext cx="1662379" cy="8138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Explain + self-correct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840480"/>
            <a:ext cx="3063240" cy="117043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3840480"/>
            <a:ext cx="54864" cy="1170432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" y="3959352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Core novelty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" y="4261104"/>
            <a:ext cx="2752344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Use symbolic role evidence to constrain neural or heuristic answer candidates.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5968" y="3840480"/>
            <a:ext cx="3063240" cy="117043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15968" y="3840480"/>
            <a:ext cx="54864" cy="1170432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959352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Practical novelty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261104"/>
            <a:ext cx="2752344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Keep a fast deterministic path plus optional transformer-assisted candidate generation.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63256" y="3840480"/>
            <a:ext cx="3063240" cy="117043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63256" y="3840480"/>
            <a:ext cx="54864" cy="1170432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27848" y="3959352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Evaluation novelty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261104"/>
            <a:ext cx="2752344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Separate span correctness, role correctness, latency, and evidence scope.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18/35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Existing folder analysis: what is already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current project contains a real SRL-QA scaffold plus reports, plots, and model/evaluation artifacts.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" y="1325880"/>
          <a:ext cx="109727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180"/>
                <a:gridCol w="6155473"/>
                <a:gridCol w="1338146"/>
              </a:tblGrid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Evidence file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PropBank frame retrieval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srlqa/retrieval/propbank_index.py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Constrained span decoding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srlqa/decoding/span_rules.py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Role priors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srlqa/decoding/role_priors.py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Evidence span verifier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srlqa/verification/span_verifier.py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Self-correction loop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srlqa/verification/self_correction.py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Hard negative mining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srlqa/training/hard_negative_mining.py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Distillation scaffolding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srlqa/distillation/teacher_runner.py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Calibrated ensemble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srlqa/ensemble/weighted_voter.py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Nominal event templates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srlqa/nominal/qa_noun_templates.py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Present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srlqa/output/tables/innovation_matrix.csv.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19/35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Data pipeline: PropBank to SRL-QA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pipeline turns predicate-argument structure into transformer-ready question-answer instances.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1298448"/>
            <a:ext cx="5815584" cy="444398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2_data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121408"/>
            <a:ext cx="5760720" cy="2798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" y="5760720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Data pipeline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08760"/>
            <a:ext cx="4343400" cy="39776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B2C4D4"/>
                </a:solidFill>
                <a:latin typeface="Aptos"/>
              </a:rPr>
              <a:t>- Load PropBank/NLTK or cached SRL-QA assets.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B2C4D4"/>
                </a:solidFill>
                <a:latin typeface="Aptos"/>
              </a:rPr>
              <a:t>- Normalize sentences, predicates, rolesets, and argument spans.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B2C4D4"/>
                </a:solidFill>
                <a:latin typeface="Aptos"/>
              </a:rPr>
              <a:t>- Generate question templates by role and question type.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B2C4D4"/>
                </a:solidFill>
                <a:latin typeface="Aptos"/>
              </a:rPr>
              <a:t>- Split into train/validation/test or seed-suite evaluation scope.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>
                <a:solidFill>
                  <a:srgbClr val="B2C4D4"/>
                </a:solidFill>
                <a:latin typeface="Aptos"/>
              </a:rPr>
              <a:t>- Export tables and plots for reproducible reporting.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20/35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Dataset and EDA: counts, roles, and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role distribution is highly skewed; this explains why macro-F1 remains hard.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316736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316736"/>
            <a:ext cx="54864" cy="452628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435608"/>
            <a:ext cx="4946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QA pairs by question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37360"/>
            <a:ext cx="4946904" cy="3922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85623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9152" y="189280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59152" y="1892808"/>
            <a:ext cx="2560320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85623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12,881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49631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WHO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253288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59152" y="2532888"/>
            <a:ext cx="1176304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92624" y="249631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5,918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13639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WHEN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317296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59152" y="3172968"/>
            <a:ext cx="317033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2624" y="313639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1,595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77647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HOW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59152" y="381304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59152" y="3813048"/>
            <a:ext cx="308884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92624" y="377647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1,554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41655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445312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59152" y="4453128"/>
            <a:ext cx="139335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2624" y="441655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701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056632"/>
            <a:ext cx="1444752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WHY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9152" y="5093208"/>
            <a:ext cx="2560320" cy="50292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59152" y="5093208"/>
            <a:ext cx="71158" cy="502920"/>
          </a:xfrm>
          <a:prstGeom prst="round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92624" y="5056632"/>
            <a:ext cx="548640" cy="5760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358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1316736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1316736"/>
            <a:ext cx="54864" cy="452628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1435608"/>
            <a:ext cx="4946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Top argument labels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1737360"/>
            <a:ext cx="4946904" cy="3922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85623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189280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55280" y="1892808"/>
            <a:ext cx="2560320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88752" y="185623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8,094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3629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0" y="237286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55280" y="2372868"/>
            <a:ext cx="1872000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88752" y="233629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5,918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81635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ARGM-TMP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285292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55280" y="2852928"/>
            <a:ext cx="504535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88752" y="281635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1,595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29641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ARGM-MOD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55280" y="333298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955280" y="3332988"/>
            <a:ext cx="276150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88752" y="329641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873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77647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ARGM-ADV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55280" y="381304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955280" y="3813048"/>
            <a:ext cx="271721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88752" y="377647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859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425653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80" y="429310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955280" y="4293108"/>
            <a:ext cx="240405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88752" y="425653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760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73659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ARGM-MNR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55280" y="477316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955280" y="4773168"/>
            <a:ext cx="200548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88752" y="473659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634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5216652"/>
            <a:ext cx="1444752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ARGM-LOC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55280" y="5253228"/>
            <a:ext cx="2560320" cy="342900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955280" y="5253228"/>
            <a:ext cx="192324" cy="342900"/>
          </a:xfrm>
          <a:prstGeom prst="round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88752" y="5216652"/>
            <a:ext cx="548640" cy="4160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608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srlqa/plots/EXACT_VALUES.json. Counts are generated from local artifacts.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21/35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Architecture: baseline SRL-QA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baseline provides the comparison point for improvements and error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344168"/>
            <a:ext cx="5586984" cy="435254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chitecture_base_srl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48240"/>
            <a:ext cx="5532120" cy="2944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715000"/>
            <a:ext cx="5532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Baseline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72768"/>
            <a:ext cx="4498848" cy="35844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Input:</a:t>
            </a:r>
            <a:r>
              <a:rPr sz="1320">
                <a:solidFill>
                  <a:srgbClr val="B2C4D4"/>
                </a:solidFill>
                <a:latin typeface="Aptos"/>
              </a:rPr>
              <a:t> sentence/context plus a natural-language question.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Model:</a:t>
            </a:r>
            <a:r>
              <a:rPr sz="1320">
                <a:solidFill>
                  <a:srgbClr val="B2C4D4"/>
                </a:solidFill>
                <a:latin typeface="Aptos"/>
              </a:rPr>
              <a:t> legacy PropQA-Net or equivalent baseline span predictor.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Output:</a:t>
            </a:r>
            <a:r>
              <a:rPr sz="1320">
                <a:solidFill>
                  <a:srgbClr val="B2C4D4"/>
                </a:solidFill>
                <a:latin typeface="Aptos"/>
              </a:rPr>
              <a:t> answer span with QA exact match/token F1 scoring.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Observed issue:</a:t>
            </a:r>
            <a:r>
              <a:rPr sz="1320">
                <a:solidFill>
                  <a:srgbClr val="B2C4D4"/>
                </a:solidFill>
                <a:latin typeface="Aptos"/>
              </a:rPr>
              <a:t> role errors and span-boundary errors dominate the error taxonomy.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736592"/>
            <a:ext cx="4187952" cy="71323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736592"/>
            <a:ext cx="54864" cy="713232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4855464"/>
            <a:ext cx="3877056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Baseline token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5120640"/>
            <a:ext cx="387705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B852"/>
                </a:solidFill>
                <a:latin typeface="Aptos Display"/>
              </a:rPr>
              <a:t>76.1%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5559552"/>
            <a:ext cx="3877056" cy="-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>Measured saved baseline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22/35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Architecture: RAISE-SRL-QA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proposed system layers retrieval, constrained decoding, and verification around answer candidates.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1234440"/>
            <a:ext cx="6592824" cy="458114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3_rais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37222"/>
            <a:ext cx="6537960" cy="31755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" y="5833872"/>
            <a:ext cx="65379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RAISE-SRL-QA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481328"/>
            <a:ext cx="3675887" cy="3886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B2C4D4"/>
                </a:solidFill>
                <a:latin typeface="Aptos"/>
              </a:rPr>
              <a:t>- Question parser maps WH-form to a likely semantic role.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B2C4D4"/>
                </a:solidFill>
                <a:latin typeface="Aptos"/>
              </a:rPr>
              <a:t>- Predicate detector selects the target event.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B2C4D4"/>
                </a:solidFill>
                <a:latin typeface="Aptos"/>
              </a:rPr>
              <a:t>- PropBank frame retrieval narrows legal arguments.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B2C4D4"/>
                </a:solidFill>
                <a:latin typeface="Aptos"/>
              </a:rPr>
              <a:t>- Candidate generator proposes spans from heuristic and transformer paths.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B2C4D4"/>
                </a:solidFill>
                <a:latin typeface="Aptos"/>
              </a:rPr>
              <a:t>- Verifier accepts, rejects, or corrects the span.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23/35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Module detail: PropBank frame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Frame retrieval supplies role definitions and predicate-specific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271016"/>
            <a:ext cx="5861304" cy="448970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5_retriev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5733"/>
            <a:ext cx="5806440" cy="28202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779008"/>
            <a:ext cx="5806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Retrieval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1481328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11696" y="1481328"/>
            <a:ext cx="54864" cy="1024128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1600200"/>
            <a:ext cx="35753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901952"/>
            <a:ext cx="357530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Predicate lemma, roleset candidate, and question-derived role intent.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6" y="2788920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1696" y="2788920"/>
            <a:ext cx="54864" cy="102412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907792"/>
            <a:ext cx="35753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Retrieval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209544"/>
            <a:ext cx="357530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Frame roles, role descriptions, examples, and compatible argument types.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4096512"/>
            <a:ext cx="3886200" cy="102412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1696" y="4096512"/>
            <a:ext cx="54864" cy="1024128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4215384"/>
            <a:ext cx="35753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Why it helps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517136"/>
            <a:ext cx="357530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It filters spans that look answer-like but conflict with the predicate's semantic frame.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24/35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Module detail: constrained span decoding and role priors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decoder uses role-specific span rules before final answer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298448"/>
            <a:ext cx="5861304" cy="442569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6_constrained_decodin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1161"/>
            <a:ext cx="5806440" cy="28202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5742432"/>
            <a:ext cx="5806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Constrained decoding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1627632"/>
            <a:ext cx="4069080" cy="3337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60">
                <a:solidFill>
                  <a:srgbClr val="B2C4D4"/>
                </a:solidFill>
                <a:latin typeface="Aptos"/>
              </a:rPr>
              <a:t>- WHERE questions prefer prepositional/location spans over full predicate tails.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60">
                <a:solidFill>
                  <a:srgbClr val="B2C4D4"/>
                </a:solidFill>
                <a:latin typeface="Aptos"/>
              </a:rPr>
              <a:t>- WHEN questions prefer temporal spans such as dates, times, and ARGM-TMP candidates.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60">
                <a:solidFill>
                  <a:srgbClr val="B2C4D4"/>
                </a:solidFill>
                <a:latin typeface="Aptos"/>
              </a:rPr>
              <a:t>- WHO questions prefer entity/person spans compatible with ARG0 or recipient-like roles.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60">
                <a:solidFill>
                  <a:srgbClr val="B2C4D4"/>
                </a:solidFill>
                <a:latin typeface="Aptos"/>
              </a:rPr>
              <a:t>- Role priors reduce over-long answer spans and wrong modifier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Evidence: srlqa/decoding/span_rules.py and srlqa/decoding/role_priors.py.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25/35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Module detail: verifier and iterative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verifier turns a one-shot prediction into an inspectable correction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234440"/>
            <a:ext cx="6044184" cy="453542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7_verifier_correc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47603"/>
            <a:ext cx="5989320" cy="29090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" y="5788152"/>
            <a:ext cx="59893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Verifier and correction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1572768"/>
            <a:ext cx="3950208" cy="3703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 b="1">
                <a:solidFill>
                  <a:srgbClr val="46D2DC"/>
                </a:solidFill>
                <a:latin typeface="Aptos"/>
              </a:rPr>
              <a:t>- Check extractability:</a:t>
            </a:r>
            <a:r>
              <a:rPr sz="1270">
                <a:solidFill>
                  <a:srgbClr val="B2C4D4"/>
                </a:solidFill>
                <a:latin typeface="Aptos"/>
              </a:rPr>
              <a:t> the answer must occur as a span in the context.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 b="1">
                <a:solidFill>
                  <a:srgbClr val="46D2DC"/>
                </a:solidFill>
                <a:latin typeface="Aptos"/>
              </a:rPr>
              <a:t>- Check role compatibility:</a:t>
            </a:r>
            <a:r>
              <a:rPr sz="1270">
                <a:solidFill>
                  <a:srgbClr val="B2C4D4"/>
                </a:solidFill>
                <a:latin typeface="Aptos"/>
              </a:rPr>
              <a:t> candidate span should match the inferred semantic role.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 b="1">
                <a:solidFill>
                  <a:srgbClr val="46D2DC"/>
                </a:solidFill>
                <a:latin typeface="Aptos"/>
              </a:rPr>
              <a:t>- Check predicate context:</a:t>
            </a:r>
            <a:r>
              <a:rPr sz="1270">
                <a:solidFill>
                  <a:srgbClr val="B2C4D4"/>
                </a:solidFill>
                <a:latin typeface="Aptos"/>
              </a:rPr>
              <a:t> the span should belong to the target event, not a distractor event.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70">
                <a:solidFill>
                  <a:srgbClr val="B2C4D4"/>
                </a:solidFill>
                <a:latin typeface="Aptos"/>
              </a:rPr>
              <a:t>- Self-correct by choosing the next best candidate when verification fails.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26/35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Model experiments: all available local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project compares classical, heuristic, transformer-assisted, and hybrid tracks under a local scope.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371600"/>
          <a:ext cx="736091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228"/>
                <a:gridCol w="1211290"/>
                <a:gridCol w="931762"/>
                <a:gridCol w="931762"/>
                <a:gridCol w="931762"/>
                <a:gridCol w="1118114"/>
              </a:tblGrid>
              <a:tr h="57058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Track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EM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Token F1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Role acc.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50" b="1">
                          <a:solidFill>
                            <a:srgbClr val="F6FAFF"/>
                          </a:solidFill>
                          <a:latin typeface="Aptos"/>
                        </a:rPr>
                        <a:t>Latency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Classical baseline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60 ex.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8.3%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36.2%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28.3%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4.0 ms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Heuristic reranker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60 ex.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33.3%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53.8%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73.3%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5.0 ms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Transformer QA assist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60 ex.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33.3%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53.8%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73.3%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289.0 ms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70588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Full hybrid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60 ex.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33.3%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53.8%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73.3%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910" b="0">
                          <a:solidFill>
                            <a:srgbClr val="B2C4D4"/>
                          </a:solidFill>
                          <a:latin typeface="Aptos"/>
                        </a:rPr>
                        <a:t>377.1 ms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75320" y="1371600"/>
            <a:ext cx="2926080" cy="3337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70">
                <a:solidFill>
                  <a:srgbClr val="B2C4D4"/>
                </a:solidFill>
                <a:latin typeface="Aptos"/>
              </a:rPr>
              <a:t>- Classical baseline is fastest but weak on role-sensitive questions.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70">
                <a:solidFill>
                  <a:srgbClr val="B2C4D4"/>
                </a:solidFill>
                <a:latin typeface="Aptos"/>
              </a:rPr>
              <a:t>- Heuristic reranker improves role accuracy without transformer latency.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70">
                <a:solidFill>
                  <a:srgbClr val="B2C4D4"/>
                </a:solidFill>
                <a:latin typeface="Aptos"/>
              </a:rPr>
              <a:t>- Transformer assist and full hybrid match heuristic scores here but cost more latency.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70" b="1">
                <a:solidFill>
                  <a:srgbClr val="46D2DC"/>
                </a:solidFill>
                <a:latin typeface="Aptos"/>
              </a:rPr>
              <a:t>- Interpretation:</a:t>
            </a:r>
            <a:r>
              <a:rPr sz="1070">
                <a:solidFill>
                  <a:srgbClr val="B2C4D4"/>
                </a:solidFill>
                <a:latin typeface="Aptos"/>
              </a:rPr>
              <a:t> structural constraints mattered more than model size in this local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416552"/>
            <a:ext cx="5541264" cy="122529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1_combined_improvement_over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4443984"/>
            <a:ext cx="2340864" cy="1170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srlqa/plots/EXACT_VALUES.json combined benchmark tracks.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27/35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LoRA/QLoRA notebook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notebooks keep implementation simple while exposing an upgrade path to larger models.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353312"/>
          <a:ext cx="1097279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432"/>
                <a:gridCol w="2601797"/>
                <a:gridCol w="3054284"/>
                <a:gridCol w="3054284"/>
              </a:tblGrid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60" b="1">
                          <a:solidFill>
                            <a:srgbClr val="F6FAFF"/>
                          </a:solidFill>
                          <a:latin typeface="Aptos"/>
                        </a:rPr>
                        <a:t>Notebook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60" b="1">
                          <a:solidFill>
                            <a:srgbClr val="F6FAFF"/>
                          </a:solidFill>
                          <a:latin typeface="Aptos"/>
                        </a:rPr>
                        <a:t>Local smoke-test path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60" b="1">
                          <a:solidFill>
                            <a:srgbClr val="F6FAFF"/>
                          </a:solidFill>
                          <a:latin typeface="Aptos"/>
                        </a:rPr>
                        <a:t>Full experiment path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60" b="1">
                          <a:solidFill>
                            <a:srgbClr val="F6FAFF"/>
                          </a:solidFill>
                          <a:latin typeface="Aptos"/>
                        </a:rPr>
                        <a:t>Measured local note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LoRA/QLoRA encoder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DistilBERT QA + LoRA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DeBERTa-style QA fine-tuning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test token F1 0.4151; EM 0.1250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2B Gemma QLoRA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tiny GPT-2 smoke test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google/gemma-2-2b-it 4-bit QLoRA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0">
                          <a:solidFill>
                            <a:srgbClr val="B2C4D4"/>
                          </a:solidFill>
                          <a:latin typeface="Aptos"/>
                        </a:rPr>
                        <a:t>local CPU smoke test did not reach target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41248" y="3584448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584448"/>
            <a:ext cx="54864" cy="1143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79806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Why LoRA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279806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Adapter tuning reduces trainable parameters while keeping base weights frozen.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3584448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3584448"/>
            <a:ext cx="54864" cy="11430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279806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Why QLoRA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05072"/>
            <a:ext cx="279806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4-bit quantized loading is the practical route for 2B-class Colab experiments.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3584448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8" y="3584448"/>
            <a:ext cx="54864" cy="114300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703320"/>
            <a:ext cx="279806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Claim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05072"/>
            <a:ext cx="279806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The 2B path is implemented as a reproducible Colab-ready experiment, not as a locally proven 80%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Sources: local notebooks plus Gemma 2 2B IT model card.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28/35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Main measured results with evidence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Every numeric result on this slide is tied to a local file and an explicit evaluation scope.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207008"/>
          <a:ext cx="11283694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879"/>
                <a:gridCol w="2769005"/>
                <a:gridCol w="1107602"/>
                <a:gridCol w="1246052"/>
                <a:gridCol w="1246052"/>
                <a:gridCol w="2492104"/>
              </a:tblGrid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Evidence scope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System/metric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EM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Token F1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Role/SRL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40" b="1">
                          <a:solidFill>
                            <a:srgbClr val="F6FA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Saved baseline test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Legacy PropQA-Net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51.8%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76.1%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71.3%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EXACT_VALUES.json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60-example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Classical baseline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8.3%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36.2%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28.3%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benchmark tracks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60-example local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Full hybrid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33.3%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53.8%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73.3%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benchmark tracks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15-example seed suite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Legacy hybrid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66.7%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82.3%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93.3%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model_evaluation_summary.csv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15-example seed suite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RAISE-SRL-QA Fast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 b="0">
                          <a:solidFill>
                            <a:srgbClr val="B2C4D4"/>
                          </a:solidFill>
                          <a:latin typeface="Aptos"/>
                        </a:rPr>
                        <a:t>seed-suite only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8096" y="5230368"/>
            <a:ext cx="10332720" cy="530352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5230368"/>
            <a:ext cx="54864" cy="530352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349240"/>
            <a:ext cx="100218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650992"/>
            <a:ext cx="10021824" cy="-731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The strongest measured RAISE result is a local 15-example seed-suite result. It is useful engineering evidence, but not an official general benchmark claim.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29/35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Result plots: quality, latency, and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plots show why structural methods can improve correctness while latency depends on model choice.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" y="1207008"/>
            <a:ext cx="2798064" cy="204825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43940"/>
            <a:ext cx="2743200" cy="9743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3273552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1207008"/>
            <a:ext cx="2798064" cy="204825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del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744643"/>
            <a:ext cx="2743200" cy="9729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74720" y="3273552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Token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07008"/>
            <a:ext cx="2798064" cy="204825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aten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744643"/>
            <a:ext cx="2743200" cy="9729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82512" y="3273552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1207008"/>
            <a:ext cx="2295144" cy="2048256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nfidence_vs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1489774"/>
            <a:ext cx="2240280" cy="1482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90304" y="3273552"/>
            <a:ext cx="22402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Confidence vs 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023360"/>
            <a:ext cx="1033272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10">
                <a:solidFill>
                  <a:srgbClr val="B2C4D4"/>
                </a:solidFill>
                <a:latin typeface="Aptos"/>
              </a:rPr>
              <a:t>- Fast RAISE path is best for interactive presentation settings under the local seed-suite scope.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10">
                <a:solidFill>
                  <a:srgbClr val="B2C4D4"/>
                </a:solidFill>
                <a:latin typeface="Aptos"/>
              </a:rPr>
              <a:t>- Model-backed path is useful for candidate generation but adds significant latency.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10">
                <a:solidFill>
                  <a:srgbClr val="B2C4D4"/>
                </a:solidFill>
                <a:latin typeface="Aptos"/>
              </a:rPr>
              <a:t>- Confidence should be interpreted with calibration checks, not as proof of correctness.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Plots from srlqa/output/plots; local seed-suite scope where applicable.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30/35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Error analysis: where the system still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baseline error profile motivates the RAISE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1216152"/>
            <a:ext cx="5495544" cy="4489704"/>
          </a:xfrm>
          <a:prstGeom prst="roundRect">
            <a:avLst/>
          </a:prstGeom>
          <a:solidFill>
            <a:srgbClr val="0E2D43"/>
          </a:solidFill>
          <a:ln w="1016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l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94" y="1243584"/>
            <a:ext cx="5141524" cy="4434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" y="5724144"/>
            <a:ext cx="5440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47647A"/>
                </a:solidFill>
                <a:latin typeface="Aptos"/>
              </a:rPr>
              <a:t>Role confusion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298448"/>
            <a:ext cx="4846320" cy="338328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98448"/>
            <a:ext cx="54864" cy="338328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417320"/>
            <a:ext cx="45354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Error taxonomy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719072"/>
            <a:ext cx="4535424" cy="2779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837944"/>
            <a:ext cx="1444752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correct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874520"/>
            <a:ext cx="2148840" cy="402336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1312" y="1874520"/>
            <a:ext cx="2148840" cy="402336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33304" y="1837944"/>
            <a:ext cx="5486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1,789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377440"/>
            <a:ext cx="1444752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span boundary 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2414016"/>
            <a:ext cx="2148840" cy="402336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2" y="2414016"/>
            <a:ext cx="1040187" cy="402336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33304" y="2377440"/>
            <a:ext cx="5486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866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916936"/>
            <a:ext cx="1444752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other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2953512"/>
            <a:ext cx="2148840" cy="402336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11312" y="2953512"/>
            <a:ext cx="130924" cy="402336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33304" y="2916936"/>
            <a:ext cx="5486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109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3456432"/>
            <a:ext cx="1444752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wrong role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2" y="3493008"/>
            <a:ext cx="2148840" cy="402336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1312" y="3493008"/>
            <a:ext cx="822781" cy="402336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33304" y="3456432"/>
            <a:ext cx="5486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685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995928"/>
            <a:ext cx="1444752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B2C4D4"/>
                </a:solidFill>
                <a:latin typeface="Aptos"/>
              </a:rPr>
              <a:t>predicate miss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4032504"/>
            <a:ext cx="2148840" cy="402336"/>
          </a:xfrm>
          <a:prstGeom prst="roundRect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11312" y="4032504"/>
            <a:ext cx="18288" cy="402336"/>
          </a:xfrm>
          <a:prstGeom prst="round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3304" y="3995928"/>
            <a:ext cx="5486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 i="0">
                <a:solidFill>
                  <a:srgbClr val="F6FAFF"/>
                </a:solidFill>
                <a:latin typeface="Consolas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3952" y="4892040"/>
            <a:ext cx="4663440" cy="658368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73952" y="4892040"/>
            <a:ext cx="54864" cy="658368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5010912"/>
            <a:ext cx="43525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Main lesson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5312664"/>
            <a:ext cx="4352544" cy="548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Span-boundary and wrong-role errors are exactly the errors targeted by constrained decoding and verifier correction.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baseline_error_taxonomy.csv and role_confusion_matrix.png.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31/35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Innovation matrix: implemented vs future-evaluable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implementation contains multiple innovation modules, but not every module has a controlled ablation yet.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225296"/>
          <a:ext cx="1110995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474"/>
                <a:gridCol w="5834280"/>
                <a:gridCol w="2048204"/>
              </a:tblGrid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0" b="1">
                          <a:solidFill>
                            <a:srgbClr val="F6FAFF"/>
                          </a:solidFill>
                          <a:latin typeface="Aptos"/>
                        </a:rPr>
                        <a:t>Innovation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0" b="1">
                          <a:solidFill>
                            <a:srgbClr val="F6FAFF"/>
                          </a:solidFill>
                          <a:latin typeface="Aptos"/>
                        </a:rPr>
                        <a:t>Implemented evidence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0" b="1">
                          <a:solidFill>
                            <a:srgbClr val="F6FAFF"/>
                          </a:solidFill>
                          <a:latin typeface="Aptos"/>
                        </a:rPr>
                        <a:t>Independent ablation?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PropBank frame retrieval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srlqa/retrieval/propbank_index.py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Constrained span decoding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srlqa/decoding/span_rules.py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Role priors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srlqa/decoding/role_priors.py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Evidence span verifier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srlqa/verification/span_verifier.py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Self-correction loop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srlqa/verification/self_correction.py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Hard negative mining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srlqa/training/hard_negative_mining.py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Distillation scaffolding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srlqa/distillation/teacher_runner.py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Calibrated ensemble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srlqa/ensemble/weighted_voter.py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70" b="0">
                          <a:solidFill>
                            <a:srgbClr val="B2C4D4"/>
                          </a:solidFill>
                          <a:latin typeface="Aptos"/>
                        </a:rPr>
                        <a:t>No controlled log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Source: innovation_matrix.csv. Seed-suite context is reported separately from controlled ablations.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32/35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Comparison with previous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comparison emphasizes method fit and claim boundaries rather than unsupported leaderboard numbers.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1170432"/>
          <a:ext cx="1120139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633"/>
                <a:gridCol w="1659466"/>
                <a:gridCol w="1659466"/>
                <a:gridCol w="1659466"/>
                <a:gridCol w="1659466"/>
                <a:gridCol w="1866900"/>
              </a:tblGrid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PropBank SRL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QA-SRL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Deep/LISA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MRC-SRL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19" b="1">
                          <a:solidFill>
                            <a:srgbClr val="F6FAFF"/>
                          </a:solidFill>
                          <a:latin typeface="Aptos"/>
                        </a:rPr>
                        <a:t>This project</a:t>
                      </a:r>
                    </a:p>
                  </a:txBody>
                  <a:tcPr marL="36576" marR="36576" marT="18288" marB="18288">
                    <a:solidFill>
                      <a:srgbClr val="153E5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Canonical roles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Natural QA interface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Transformer span QA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Optional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Frame retrieval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Constrained decoding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Verifier/self-correction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PEFT 2B path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780" b="0">
                          <a:solidFill>
                            <a:srgbClr val="B2C4D4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0E2D4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Prior-work columns summarize cited methods qualitatively; project metrics remain local-file based.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33/35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Target roadmap: separated from measured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These are target bands for the next experimental cycle, not achieved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44752"/>
            <a:ext cx="2971800" cy="3429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444752"/>
            <a:ext cx="54864" cy="3429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563624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828800"/>
            <a:ext cx="26609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6D2DC"/>
                </a:solidFill>
                <a:latin typeface="Aptos Display"/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67712"/>
            <a:ext cx="2660904" cy="2441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>Stabilize PropBank conversion, span-boundary rules, and frozen benchmark scripts.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672584"/>
            <a:ext cx="266090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target token-F1 band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444752"/>
            <a:ext cx="2971800" cy="3429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444752"/>
            <a:ext cx="54864" cy="34290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563624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1828800"/>
            <a:ext cx="26609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B852"/>
                </a:solidFill>
                <a:latin typeface="Aptos Display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267712"/>
            <a:ext cx="2660904" cy="2441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>Add controlled ablations for retrieval, role priors, verifier, and LoRA fine-tuning.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672584"/>
            <a:ext cx="266090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target token-F1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444752"/>
            <a:ext cx="2971800" cy="3429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444752"/>
            <a:ext cx="54864" cy="342900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1563624"/>
            <a:ext cx="266090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1828800"/>
            <a:ext cx="266090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59DD95"/>
                </a:solidFill>
                <a:latin typeface="Aptos Display"/>
              </a:rPr>
              <a:t>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1" y="2267712"/>
            <a:ext cx="2660904" cy="2441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2C4D4"/>
                </a:solidFill>
                <a:latin typeface="Aptos"/>
              </a:rPr>
              <a:t>Scale to 2B QLoRA, hard negatives, calibrated ensemble, and external benchmark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1" y="4672584"/>
            <a:ext cx="266090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47647A"/>
                </a:solidFill>
                <a:latin typeface="Aptos"/>
              </a:rPr>
              <a:t>target token-F1 band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Roadmap values are intentionally separated from measured-result slides.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34/35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Limitations and threats to 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deck is intentionally conservative about what has been proven.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417320"/>
            <a:ext cx="5760720" cy="4315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Evaluation scope:</a:t>
            </a:r>
            <a:r>
              <a:rPr sz="1320">
                <a:solidFill>
                  <a:srgbClr val="B2C4D4"/>
                </a:solidFill>
                <a:latin typeface="Aptos"/>
              </a:rPr>
              <a:t> several strong RAISE scores come from a 15-example handcrafted seed suite.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Benchmark gap:</a:t>
            </a:r>
            <a:r>
              <a:rPr sz="1320">
                <a:solidFill>
                  <a:srgbClr val="B2C4D4"/>
                </a:solidFill>
                <a:latin typeface="Aptos"/>
              </a:rPr>
              <a:t> no external leaderboard claim is made for the local system.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Ablation gap:</a:t>
            </a:r>
            <a:r>
              <a:rPr sz="1320">
                <a:solidFill>
                  <a:srgbClr val="B2C4D4"/>
                </a:solidFill>
                <a:latin typeface="Aptos"/>
              </a:rPr>
              <a:t> innovation modules are implemented, but some lack independent controlled ablations.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Dataset conversion risk:</a:t>
            </a:r>
            <a:r>
              <a:rPr sz="1320">
                <a:solidFill>
                  <a:srgbClr val="B2C4D4"/>
                </a:solidFill>
                <a:latin typeface="Aptos"/>
              </a:rPr>
              <a:t> PropBank tree pointers require careful text-span normalization.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Model access risk:</a:t>
            </a:r>
            <a:r>
              <a:rPr sz="1320">
                <a:solidFill>
                  <a:srgbClr val="B2C4D4"/>
                </a:solidFill>
                <a:latin typeface="Aptos"/>
              </a:rPr>
              <a:t> full Gemma 2B QLoRA requires GPU runtime and accepted Hugging Face model terms.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20" b="1">
                <a:solidFill>
                  <a:srgbClr val="46D2DC"/>
                </a:solidFill>
                <a:latin typeface="Aptos"/>
              </a:rPr>
              <a:t>- Future fix:</a:t>
            </a:r>
            <a:r>
              <a:rPr sz="1320">
                <a:solidFill>
                  <a:srgbClr val="B2C4D4"/>
                </a:solidFill>
                <a:latin typeface="Aptos"/>
              </a:rPr>
              <a:t> freeze a benchmark split, add end-to-end notebook execution logs, and report statistical confidence intervals.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609344"/>
            <a:ext cx="370332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609344"/>
            <a:ext cx="54864" cy="114300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1728216"/>
            <a:ext cx="33924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What we can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29968"/>
            <a:ext cx="339242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A working, explainable SRL-QA implementation with local evidence and reproducible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090672"/>
            <a:ext cx="3703320" cy="11430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3090672"/>
            <a:ext cx="54864" cy="1143000"/>
          </a:xfrm>
          <a:prstGeom prst="rect">
            <a:avLst/>
          </a:prstGeom>
          <a:solidFill>
            <a:srgbClr val="FF6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3209544"/>
            <a:ext cx="33924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What we should not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511296"/>
            <a:ext cx="3392424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General state-of-the-art performance or achieved 80% accuracy without a frozen benchmark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572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4572000"/>
            <a:ext cx="54864" cy="91440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4690872"/>
            <a:ext cx="339242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Conference posture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4992624"/>
            <a:ext cx="3392424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Strong system story, honest evaluation, clear next experiments.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-1097280"/>
            <a:ext cx="3657600" cy="3657600"/>
          </a:xfrm>
          <a:prstGeom prst="ellipse">
            <a:avLst/>
          </a:prstGeom>
          <a:solidFill>
            <a:srgbClr val="09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"/>
            <a:ext cx="2377440" cy="310896"/>
          </a:xfrm>
          <a:prstGeom prst="roundRect">
            <a:avLst/>
          </a:prstGeom>
          <a:solidFill>
            <a:srgbClr val="153E56"/>
          </a:solidFill>
          <a:ln w="10160">
            <a:solidFill>
              <a:srgbClr val="46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10312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B2C4D4"/>
                </a:solidFill>
                <a:latin typeface="Consola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382512"/>
            <a:ext cx="868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7647A"/>
                </a:solidFill>
                <a:latin typeface="Consolas"/>
              </a:rPr>
              <a:t>35/35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6FAFF"/>
                </a:solidFill>
                <a:latin typeface="Aptos Display"/>
              </a:rPr>
              <a:t>Conclusion: SRL-QA as structured answer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15568"/>
            <a:ext cx="95097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2C4D4"/>
                </a:solidFill>
                <a:latin typeface="Aptos"/>
              </a:rPr>
              <a:t>The contribution is a principled bridge between PropBank roles, QA interaction, and verifiable span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353312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353312"/>
            <a:ext cx="54864" cy="1188720"/>
          </a:xfrm>
          <a:prstGeom prst="rect">
            <a:avLst/>
          </a:prstGeom>
          <a:solidFill>
            <a:srgbClr val="4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472184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Research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773936"/>
            <a:ext cx="2752344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Semantic roles make QA more controllable by linking questions to predicate-specific argument 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353312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3087" y="1353312"/>
            <a:ext cx="54864" cy="1188720"/>
          </a:xfrm>
          <a:prstGeom prst="rect">
            <a:avLst/>
          </a:prstGeom>
          <a:solidFill>
            <a:srgbClr val="F9B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472184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Engineering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1773936"/>
            <a:ext cx="2752344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RAISE-SRL-QA adds retrieval, constraints, verification, and optional PEFT models around a simple QA 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353312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0E2D43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52944" y="1353312"/>
            <a:ext cx="54864" cy="1188720"/>
          </a:xfrm>
          <a:prstGeom prst="rect">
            <a:avLst/>
          </a:prstGeom>
          <a:solidFill>
            <a:srgbClr val="59D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1472184"/>
            <a:ext cx="275234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6FAFF"/>
                </a:solidFill>
                <a:latin typeface="Aptos Display"/>
              </a:rPr>
              <a:t>Next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1773936"/>
            <a:ext cx="2752344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2C4D4"/>
                </a:solidFill>
                <a:latin typeface="Aptos"/>
              </a:rPr>
              <a:t>Run controlled ablations and the full 2B QLoRA experiment on a frozen benchmark split.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127248"/>
            <a:ext cx="10332720" cy="2029968"/>
          </a:xfrm>
          <a:prstGeom prst="roundRect">
            <a:avLst/>
          </a:prstGeom>
          <a:solidFill>
            <a:srgbClr val="091F31"/>
          </a:solidFill>
          <a:ln w="12700">
            <a:solidFill>
              <a:srgbClr val="476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310128"/>
            <a:ext cx="9893808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6FAFF"/>
                </a:solidFill>
                <a:latin typeface="Aptos Display"/>
              </a:rPr>
              <a:t>Reference URLs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657600"/>
            <a:ext cx="9829800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B2C4D4"/>
                </a:solidFill>
                <a:latin typeface="Aptos"/>
              </a:rPr>
              <a:t>Primary references: https://aclanthology.org/J05-1004/ | https://aclanthology.org/D15-1076/ | https://aclanthology.org/P18-1191/ | https://aclanthology.org/P17-1044/ | https://aclanthology.org/D18-1548/ | https://aclanthology.org/2022.coling-1.191/ | https://aclanthology.org/N19-1423/ | https://aclanthology.org/D16-1264/ | https://arxiv.org/abs/2106.09685 | https://arxiv.org/abs/2305.14314 | https://www.nltk.org/howto/propbank.html | https://huggingface.co/google/gemma-2-2b-it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19088"/>
            <a:ext cx="8869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7647A"/>
                </a:solidFill>
                <a:latin typeface="Aptos"/>
              </a:rPr>
              <a:t>All project numbers in the deck are either local measured values or explicitly labeled roadmap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9467</Words>
  <Application>Microsoft Office PowerPoint</Application>
  <PresentationFormat>Widescreen</PresentationFormat>
  <Paragraphs>1885</Paragraphs>
  <Slides>88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Arial</vt:lpstr>
      <vt:lpstr>Calibri</vt:lpstr>
      <vt:lpstr>Cambria</vt:lpstr>
      <vt:lpstr>Sorts Mill Goudy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Jakkireddy Ganesh kumar reddy</cp:lastModifiedBy>
  <cp:revision>6</cp:revision>
  <dcterms:created xsi:type="dcterms:W3CDTF">2013-01-27T09:14:16Z</dcterms:created>
  <dcterms:modified xsi:type="dcterms:W3CDTF">2026-04-08T01:47:38Z</dcterms:modified>
  <cp:category/>
</cp:coreProperties>
</file>