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0"/>
  </p:notesMasterIdLst>
  <p:sldIdLst>
    <p:sldId id="433" r:id="rId2"/>
    <p:sldId id="436" r:id="rId3"/>
    <p:sldId id="437" r:id="rId4"/>
    <p:sldId id="446" r:id="rId5"/>
    <p:sldId id="298" r:id="rId6"/>
    <p:sldId id="299" r:id="rId7"/>
    <p:sldId id="300" r:id="rId8"/>
    <p:sldId id="301" r:id="rId9"/>
    <p:sldId id="304" r:id="rId10"/>
    <p:sldId id="310" r:id="rId11"/>
    <p:sldId id="318" r:id="rId12"/>
    <p:sldId id="319" r:id="rId13"/>
    <p:sldId id="320" r:id="rId14"/>
    <p:sldId id="321" r:id="rId15"/>
    <p:sldId id="322" r:id="rId16"/>
    <p:sldId id="324" r:id="rId17"/>
    <p:sldId id="325" r:id="rId18"/>
    <p:sldId id="257" r:id="rId19"/>
    <p:sldId id="262" r:id="rId20"/>
    <p:sldId id="263" r:id="rId21"/>
    <p:sldId id="264" r:id="rId22"/>
    <p:sldId id="265" r:id="rId23"/>
    <p:sldId id="266" r:id="rId24"/>
    <p:sldId id="267" r:id="rId25"/>
    <p:sldId id="268" r:id="rId26"/>
    <p:sldId id="269" r:id="rId27"/>
    <p:sldId id="270" r:id="rId28"/>
    <p:sldId id="273" r:id="rId29"/>
    <p:sldId id="274" r:id="rId30"/>
    <p:sldId id="276" r:id="rId31"/>
    <p:sldId id="277" r:id="rId32"/>
    <p:sldId id="278" r:id="rId33"/>
    <p:sldId id="279" r:id="rId34"/>
    <p:sldId id="280" r:id="rId35"/>
    <p:sldId id="281" r:id="rId36"/>
    <p:sldId id="282" r:id="rId37"/>
    <p:sldId id="283" r:id="rId38"/>
    <p:sldId id="288" r:id="rId39"/>
    <p:sldId id="336" r:id="rId40"/>
    <p:sldId id="339" r:id="rId41"/>
    <p:sldId id="340" r:id="rId42"/>
    <p:sldId id="341" r:id="rId43"/>
    <p:sldId id="343" r:id="rId44"/>
    <p:sldId id="344" r:id="rId45"/>
    <p:sldId id="345" r:id="rId46"/>
    <p:sldId id="346" r:id="rId47"/>
    <p:sldId id="348" r:id="rId48"/>
    <p:sldId id="349" r:id="rId49"/>
    <p:sldId id="350" r:id="rId50"/>
    <p:sldId id="355" r:id="rId51"/>
    <p:sldId id="359" r:id="rId52"/>
    <p:sldId id="449" r:id="rId53"/>
    <p:sldId id="451" r:id="rId54"/>
    <p:sldId id="453" r:id="rId55"/>
    <p:sldId id="455" r:id="rId56"/>
    <p:sldId id="456" r:id="rId57"/>
    <p:sldId id="457" r:id="rId58"/>
    <p:sldId id="458" r:id="rId59"/>
    <p:sldId id="459" r:id="rId60"/>
    <p:sldId id="460" r:id="rId61"/>
    <p:sldId id="461" r:id="rId62"/>
    <p:sldId id="462" r:id="rId63"/>
    <p:sldId id="463" r:id="rId64"/>
    <p:sldId id="464" r:id="rId65"/>
    <p:sldId id="465" r:id="rId66"/>
    <p:sldId id="466" r:id="rId67"/>
    <p:sldId id="467" r:id="rId68"/>
    <p:sldId id="468" r:id="rId69"/>
    <p:sldId id="471" r:id="rId70"/>
    <p:sldId id="472" r:id="rId71"/>
    <p:sldId id="475" r:id="rId72"/>
    <p:sldId id="476" r:id="rId73"/>
    <p:sldId id="477" r:id="rId74"/>
    <p:sldId id="478" r:id="rId75"/>
    <p:sldId id="480" r:id="rId76"/>
    <p:sldId id="487" r:id="rId77"/>
    <p:sldId id="488" r:id="rId78"/>
    <p:sldId id="489" r:id="rId79"/>
    <p:sldId id="490" r:id="rId80"/>
    <p:sldId id="494" r:id="rId81"/>
    <p:sldId id="495" r:id="rId82"/>
    <p:sldId id="497" r:id="rId83"/>
    <p:sldId id="500" r:id="rId84"/>
    <p:sldId id="511" r:id="rId85"/>
    <p:sldId id="512" r:id="rId86"/>
    <p:sldId id="513" r:id="rId87"/>
    <p:sldId id="516" r:id="rId88"/>
    <p:sldId id="517" r:id="rId8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59" autoAdjust="0"/>
    <p:restoredTop sz="90446" autoAdjust="0"/>
  </p:normalViewPr>
  <p:slideViewPr>
    <p:cSldViewPr snapToGrid="0" snapToObjects="1">
      <p:cViewPr varScale="1">
        <p:scale>
          <a:sx n="82" d="100"/>
          <a:sy n="82" d="100"/>
        </p:scale>
        <p:origin x="60"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IN" sz="1800" b="0" i="0" u="none" strike="noStrike">
                <a:solidFill>
                  <a:srgbClr val="000000"/>
                </a:solidFill>
                <a:latin typeface="Arial"/>
              </a:rPr>
              <a:t>Per-Argument-Type F1</a:t>
            </a:r>
          </a:p>
        </c:rich>
      </c:tx>
      <c:overlay val="0"/>
    </c:title>
    <c:autoTitleDeleted val="0"/>
    <c:plotArea>
      <c:layout/>
      <c:barChart>
        <c:barDir val="col"/>
        <c:grouping val="clustered"/>
        <c:varyColors val="0"/>
        <c:ser>
          <c:idx val="0"/>
          <c:order val="0"/>
          <c:tx>
            <c:strRef>
              <c:f>Sheet1!$B$1</c:f>
              <c:strCache>
                <c:ptCount val="1"/>
                <c:pt idx="0">
                  <c:v>F1 Score</c:v>
                </c:pt>
              </c:strCache>
            </c:strRef>
          </c:tx>
          <c:spPr>
            <a:solidFill>
              <a:srgbClr val="1B7FBF"/>
            </a:solidFill>
            <a:effectLst/>
          </c:spPr>
          <c:invertIfNegative val="0"/>
          <c:dLbls>
            <c:numFmt formatCode="#,##0" sourceLinked="0"/>
            <c:spPr>
              <a:noFill/>
              <a:ln>
                <a:noFill/>
              </a:ln>
              <a:effectLst/>
            </c:spPr>
            <c:txPr>
              <a:bodyPr/>
              <a:lstStyle/>
              <a:p>
                <a:pPr>
                  <a:defRPr sz="800" b="0" i="0" u="none" strike="noStrike">
                    <a:solidFill>
                      <a:srgbClr val="0D1F4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ARG0</c:v>
                </c:pt>
                <c:pt idx="1">
                  <c:v>ARG1</c:v>
                </c:pt>
                <c:pt idx="2">
                  <c:v>ARG2-EXT</c:v>
                </c:pt>
                <c:pt idx="3">
                  <c:v>ARG2-from</c:v>
                </c:pt>
                <c:pt idx="4">
                  <c:v>ARG2-to</c:v>
                </c:pt>
                <c:pt idx="5">
                  <c:v>ARG2-with</c:v>
                </c:pt>
                <c:pt idx="6">
                  <c:v>ARG3-from</c:v>
                </c:pt>
                <c:pt idx="7">
                  <c:v>ARGM-ADV</c:v>
                </c:pt>
                <c:pt idx="8">
                  <c:v>ARGM-CAU</c:v>
                </c:pt>
                <c:pt idx="9">
                  <c:v>ARGM-DIS</c:v>
                </c:pt>
                <c:pt idx="10">
                  <c:v>ARGM-MOD</c:v>
                </c:pt>
                <c:pt idx="11">
                  <c:v>ARGM-NEG</c:v>
                </c:pt>
                <c:pt idx="12">
                  <c:v>ARGM-TMP</c:v>
                </c:pt>
                <c:pt idx="13">
                  <c:v>ARGM-LOC</c:v>
                </c:pt>
                <c:pt idx="14">
                  <c:v>ARGM-MNR</c:v>
                </c:pt>
              </c:strCache>
            </c:strRef>
          </c:cat>
          <c:val>
            <c:numRef>
              <c:f>Sheet1!$B$2:$B$16</c:f>
              <c:numCache>
                <c:formatCode>General</c:formatCode>
                <c:ptCount val="15"/>
                <c:pt idx="0">
                  <c:v>0.77900000000000003</c:v>
                </c:pt>
                <c:pt idx="1">
                  <c:v>0.85199999999999998</c:v>
                </c:pt>
                <c:pt idx="2">
                  <c:v>0.67600000000000005</c:v>
                </c:pt>
                <c:pt idx="3">
                  <c:v>0.56699999999999995</c:v>
                </c:pt>
                <c:pt idx="4">
                  <c:v>0.54700000000000004</c:v>
                </c:pt>
                <c:pt idx="5">
                  <c:v>0.51900000000000002</c:v>
                </c:pt>
                <c:pt idx="6">
                  <c:v>0.77500000000000002</c:v>
                </c:pt>
                <c:pt idx="7">
                  <c:v>0.66500000000000004</c:v>
                </c:pt>
                <c:pt idx="8">
                  <c:v>0.70599999999999996</c:v>
                </c:pt>
                <c:pt idx="9">
                  <c:v>0.622</c:v>
                </c:pt>
                <c:pt idx="10">
                  <c:v>0.94799999999999995</c:v>
                </c:pt>
                <c:pt idx="11">
                  <c:v>0.94199999999999995</c:v>
                </c:pt>
                <c:pt idx="12">
                  <c:v>0.58799999999999997</c:v>
                </c:pt>
                <c:pt idx="13">
                  <c:v>0.52200000000000002</c:v>
                </c:pt>
                <c:pt idx="14">
                  <c:v>0.30199999999999999</c:v>
                </c:pt>
              </c:numCache>
            </c:numRef>
          </c:val>
          <c:extLst>
            <c:ext xmlns:c16="http://schemas.microsoft.com/office/drawing/2014/chart" uri="{C3380CC4-5D6E-409C-BE32-E72D297353CC}">
              <c16:uniqueId val="{00000000-1F3E-4ACB-90B6-25436BAEAB2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A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pt idx="0">
                  <c:v>Baseline local metrics</c:v>
                </c:pt>
              </c:strCache>
            </c:strRef>
          </c:tx>
          <c:invertIfNegative val="1"/>
          <c:dLbls>
            <c:numFmt formatCode="0.0000" sourceLinked="0"/>
            <c:spPr>
              <a:noFill/>
              <a:ln>
                <a:noFill/>
              </a:ln>
              <a:effectLst/>
            </c:spPr>
            <c:txPr>
              <a:bodyPr/>
              <a:lstStyle/>
              <a:p>
                <a:pPr>
                  <a:defRPr sz="8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QA EM</c:v>
                </c:pt>
                <c:pt idx="1">
                  <c:v>QA F1</c:v>
                </c:pt>
                <c:pt idx="2">
                  <c:v>SRL micro</c:v>
                </c:pt>
                <c:pt idx="3">
                  <c:v>SRL macro</c:v>
                </c:pt>
              </c:strCache>
            </c:strRef>
          </c:cat>
          <c:val>
            <c:numRef>
              <c:f>Sheet1!$B$2:$B$5</c:f>
              <c:numCache>
                <c:formatCode>General</c:formatCode>
                <c:ptCount val="4"/>
                <c:pt idx="0">
                  <c:v>0.51839999999999997</c:v>
                </c:pt>
                <c:pt idx="1">
                  <c:v>0.76119999999999999</c:v>
                </c:pt>
                <c:pt idx="2">
                  <c:v>0.71330000000000005</c:v>
                </c:pt>
                <c:pt idx="3">
                  <c:v>0.16189999999999999</c:v>
                </c:pt>
              </c:numCache>
            </c:numRef>
          </c:val>
          <c:extLst>
            <c:ext xmlns:c16="http://schemas.microsoft.com/office/drawing/2014/chart" uri="{C3380CC4-5D6E-409C-BE32-E72D297353CC}">
              <c16:uniqueId val="{00000000-B4F3-4D8F-843B-F22E6F86B196}"/>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max val="1"/>
          <c:min val="0"/>
        </c:scaling>
        <c:delete val="0"/>
        <c:axPos val="l"/>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9462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389855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826723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617377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242653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980329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371650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706758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96235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3423755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795472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7616817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43021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0500025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5816915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9321021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6832163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2500366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audience through the architecture left to right. Emphasize that the hybrid layer is an extension of the baseline rather than a replacement. This makes the benchmark comparisons meaningful and keeps the design interpretable. Transition suggestion: simple Fade.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dataset is extractive-friendly overall, but not trivial. The long-tail answer distribution is important because it explains why token F1 can be good even when exact match falls. This also motivates the hybrid reranker's explicit role and shape features. Transition suggestion: gentle Fade only.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this as a deliberate middle path between classical features and heavy transformers. The predicate flag is especially important because it anchors the semantic event of interest. Point out that the architecture is lightweight enough for offline reproducibility and rich enough for multi-task learning. Animation suggestion: fade in the architecture after the left-side explanation.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conceptual center of the model. Explain that SRL and QA are coupled both during training and during decoding. The model does not only predict spans; it predicts spans in the context of semantic-role structure. Animation suggestion: reveal the formulas first, then the candidate-selection bullets.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training setup as intentionally conservative and reproducible. The point is not raw benchmark chasing but a stable, inspectable project pipeline. Mention the saved checkpoint and the report mode as evidence that the repo is more than a notebook experiment. Animation suggestion: wipe in the loss curve from right.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there are two result regimes: the main repository metrics and the hybrid ablation suite. This separation prevents confusion between baseline training results and engineering experiments on top. Point out that the challenge set is targeted, not a replacement for the full test data. Animation suggestion: table first, then chart.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Tell the audience that these are the authoritative local baseline metrics from metrics.json. Use the question-type plot to explain why the project later invests in role-aware hybrid improvements. Boundary sensitivity is especially visible for WHY and some longer WHAT answers. Animation suggestion: subtle float-in for the metric cards.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micro versus macro carefully. Micro captures overall usefulness on the frequent roles; macro exposes the difficulty of the rare label tail. This slide supports an honest and credible discussion of baseline quality. Animation suggestion: chart fade only.</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tables for precise reporting and the heatmap for intuition. This slide should set up the story that the hybrid system is targeting specific weaknesses rather than replacing a bad baseline. Animation suggestion: bring in the two tables together, then the heatmap.</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confusion matrix is not only a diagnostic; it also shapes the hybrid design. A high-confidence span can still be semantically wrong, so role-aware reranking is a natural extension. Animation suggestion: no complex transitions; use a static display for readability.</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one of the strongest result slides. Frame it as evidence that role-aware reasoning changes answer behavior substantially on targeted semantic questions. Also point out that the cheapest upgraded path already captures the main gain. Animation suggestion: table first, then figure.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this slide honestly: the hybrid extension helps, but not uniformly or magically. This strengthens the credibility of the project because it reports trade-offs rather than only best cases. Animation suggestion: simple fade.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explain why a semantic-role-aware system can outperform a pure span reader on certain categories. The benefit is not random; it is concentrated where role expectation matters. Animation suggestion: no motion beyond default fade.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Tie this slide directly back to the reranker's role-match feature. The audience should see that the hybrid system is structurally motivated, not just a bundle of extra tricks. Animation suggestion: static display.</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clean demonstration of the hybrid value proposition. The location heuristic proposes a role-compatible span and the reranker selects it over the baseline's larger ARG1-like answer. Use this as a live-demo backup example if needed. Animation suggestion: show the candidate table after summarizing the question.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illustrate that the hybrid logic generalizes beyond one case. The manner example shows how adverbial cues help; the recipient example shows how transfer-verb structure helps ARG2 selection. Animation suggestion: reveal the right panel after covering the left example.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makes the engineering case for the project. The strongest practical improvement comes from a transparent heuristic-semantic layer, not from the heaviest model. That is a meaningful contribution because it changes what a student-scale project can do locally. Animation suggestion: cards rise in after the bullets.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Position innovation as system-level coherence. The deck should not imply that every subcomponent is individually unprecedented; the strength is in how they work together. Animation suggestion: reveal the four cards in sequence.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role-aware parsing is a lightweight but powerful design choice. It is one of the cleanest bridges between structured semantics and question answering behavior. Animation suggestion: no special effects beyond a fade.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that transparent scoring is a design choice, not a compromise. It lets the project explain why an answer won, not only that it won. Animation suggestion: one-stage reveal for the table, then the chart.</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extremely useful in viva-style questioning. It shows that the project knows where it sits in the literature and what trade-offs it intentionally makes. Animation suggestion: none; the table should stay readable.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1226826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21726583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30216131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39479868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38410887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40836163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7012779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39104869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3282805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28857333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21993732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498547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669145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5001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304800" cy="6858000"/>
          </a:xfrm>
          <a:prstGeom prst="rect">
            <a:avLst/>
          </a:prstGeom>
          <a:solidFill>
            <a:srgbClr val="F0A500"/>
          </a:solidFill>
          <a:ln w="12700">
            <a:solidFill>
              <a:srgbClr val="F0A500"/>
            </a:solidFill>
            <a:prstDash val="solid"/>
          </a:ln>
        </p:spPr>
      </p:sp>
      <p:sp>
        <p:nvSpPr>
          <p:cNvPr id="3" name="Shape 1"/>
          <p:cNvSpPr/>
          <p:nvPr/>
        </p:nvSpPr>
        <p:spPr>
          <a:xfrm>
            <a:off x="7559040" y="-1828800"/>
            <a:ext cx="6705600" cy="6705600"/>
          </a:xfrm>
          <a:prstGeom prst="ellipse">
            <a:avLst/>
          </a:prstGeom>
          <a:solidFill>
            <a:srgbClr val="1A4E8C">
              <a:alpha val="25000"/>
            </a:srgbClr>
          </a:solidFill>
          <a:ln w="12700">
            <a:solidFill>
              <a:srgbClr val="1A4E8C"/>
            </a:solidFill>
            <a:prstDash val="solid"/>
          </a:ln>
        </p:spPr>
      </p:sp>
      <p:sp>
        <p:nvSpPr>
          <p:cNvPr id="4" name="Shape 2"/>
          <p:cNvSpPr/>
          <p:nvPr/>
        </p:nvSpPr>
        <p:spPr>
          <a:xfrm>
            <a:off x="8534400" y="2682240"/>
            <a:ext cx="4267200" cy="4267200"/>
          </a:xfrm>
          <a:prstGeom prst="ellipse">
            <a:avLst/>
          </a:prstGeom>
          <a:solidFill>
            <a:srgbClr val="0D7A8A">
              <a:alpha val="20000"/>
            </a:srgbClr>
          </a:solidFill>
          <a:ln w="12700">
            <a:solidFill>
              <a:srgbClr val="0D7A8A"/>
            </a:solidFill>
            <a:prstDash val="solid"/>
          </a:ln>
        </p:spPr>
      </p:sp>
      <p:sp>
        <p:nvSpPr>
          <p:cNvPr id="5" name="Shape 3"/>
          <p:cNvSpPr/>
          <p:nvPr/>
        </p:nvSpPr>
        <p:spPr>
          <a:xfrm>
            <a:off x="670560" y="731520"/>
            <a:ext cx="3413760" cy="390144"/>
          </a:xfrm>
          <a:prstGeom prst="rect">
            <a:avLst/>
          </a:prstGeom>
          <a:solidFill>
            <a:srgbClr val="F0A500"/>
          </a:solidFill>
          <a:ln w="12700">
            <a:solidFill>
              <a:srgbClr val="F0A500"/>
            </a:solidFill>
            <a:prstDash val="solid"/>
          </a:ln>
        </p:spPr>
      </p:sp>
      <p:sp>
        <p:nvSpPr>
          <p:cNvPr id="6" name="Text 4"/>
          <p:cNvSpPr/>
          <p:nvPr/>
        </p:nvSpPr>
        <p:spPr>
          <a:xfrm>
            <a:off x="670560" y="731520"/>
            <a:ext cx="3413760" cy="390144"/>
          </a:xfrm>
          <a:prstGeom prst="rect">
            <a:avLst/>
          </a:prstGeom>
          <a:noFill/>
          <a:ln/>
        </p:spPr>
        <p:txBody>
          <a:bodyPr wrap="square" lIns="0" tIns="0" rIns="0" bIns="0" rtlCol="0" anchor="ctr"/>
          <a:lstStyle/>
          <a:p>
            <a:pPr algn="ctr"/>
            <a:r>
              <a:rPr lang="en-US" sz="1200" b="1" dirty="0">
                <a:solidFill>
                  <a:srgbClr val="0A1628"/>
                </a:solidFill>
              </a:rPr>
              <a:t>NLP · SRL · Question Answering</a:t>
            </a:r>
            <a:endParaRPr lang="en-US" sz="1200" dirty="0"/>
          </a:p>
        </p:txBody>
      </p:sp>
      <p:sp>
        <p:nvSpPr>
          <p:cNvPr id="7" name="Text 5"/>
          <p:cNvSpPr/>
          <p:nvPr/>
        </p:nvSpPr>
        <p:spPr>
          <a:xfrm>
            <a:off x="670560" y="1341120"/>
            <a:ext cx="10363200" cy="914400"/>
          </a:xfrm>
          <a:prstGeom prst="rect">
            <a:avLst/>
          </a:prstGeom>
          <a:noFill/>
          <a:ln/>
        </p:spPr>
        <p:txBody>
          <a:bodyPr wrap="square" lIns="0" tIns="0" rIns="0" bIns="0" rtlCol="0" anchor="ctr"/>
          <a:lstStyle/>
          <a:p>
            <a:r>
              <a:rPr lang="en-US" sz="5600" b="1" dirty="0">
                <a:solidFill>
                  <a:srgbClr val="FFFFFF"/>
                </a:solidFill>
                <a:latin typeface="Cambria" pitchFamily="34" charset="0"/>
                <a:ea typeface="Cambria" pitchFamily="34" charset="-122"/>
                <a:cs typeface="Cambria" pitchFamily="34" charset="-120"/>
              </a:rPr>
              <a:t>Question Answering</a:t>
            </a:r>
            <a:endParaRPr lang="en-US" sz="5600" dirty="0"/>
          </a:p>
        </p:txBody>
      </p:sp>
      <p:sp>
        <p:nvSpPr>
          <p:cNvPr id="8" name="Text 6"/>
          <p:cNvSpPr/>
          <p:nvPr/>
        </p:nvSpPr>
        <p:spPr>
          <a:xfrm>
            <a:off x="670560" y="2194560"/>
            <a:ext cx="10363200" cy="914400"/>
          </a:xfrm>
          <a:prstGeom prst="rect">
            <a:avLst/>
          </a:prstGeom>
          <a:noFill/>
          <a:ln/>
        </p:spPr>
        <p:txBody>
          <a:bodyPr wrap="square" lIns="0" tIns="0" rIns="0" bIns="0" rtlCol="0" anchor="ctr"/>
          <a:lstStyle/>
          <a:p>
            <a:r>
              <a:rPr lang="en-US" sz="5600" b="1" dirty="0">
                <a:solidFill>
                  <a:srgbClr val="F0A500"/>
                </a:solidFill>
                <a:latin typeface="Cambria" pitchFamily="34" charset="0"/>
                <a:ea typeface="Cambria" pitchFamily="34" charset="-122"/>
                <a:cs typeface="Cambria" pitchFamily="34" charset="-120"/>
              </a:rPr>
              <a:t>Using Semantic Roles</a:t>
            </a:r>
            <a:endParaRPr lang="en-US" sz="5600" dirty="0"/>
          </a:p>
        </p:txBody>
      </p:sp>
      <p:sp>
        <p:nvSpPr>
          <p:cNvPr id="9" name="Text 7"/>
          <p:cNvSpPr/>
          <p:nvPr/>
        </p:nvSpPr>
        <p:spPr>
          <a:xfrm>
            <a:off x="670560" y="3230880"/>
            <a:ext cx="9144000" cy="487680"/>
          </a:xfrm>
          <a:prstGeom prst="rect">
            <a:avLst/>
          </a:prstGeom>
          <a:noFill/>
          <a:ln/>
        </p:spPr>
        <p:txBody>
          <a:bodyPr wrap="square" lIns="0" tIns="0" rIns="0" bIns="0" rtlCol="0" anchor="ctr"/>
          <a:lstStyle/>
          <a:p>
            <a:r>
              <a:rPr lang="en-US" sz="2000" i="1" dirty="0">
                <a:solidFill>
                  <a:srgbClr val="CBD5E1"/>
                </a:solidFill>
                <a:latin typeface="Calibri" pitchFamily="34" charset="0"/>
                <a:ea typeface="Calibri" pitchFamily="34" charset="-122"/>
                <a:cs typeface="Calibri" pitchFamily="34" charset="-120"/>
              </a:rPr>
              <a:t>SRL-based QA with PropBank · NLTK · Deep Semantic Analysis</a:t>
            </a:r>
            <a:endParaRPr lang="en-US" sz="2000" dirty="0"/>
          </a:p>
        </p:txBody>
      </p:sp>
      <p:sp>
        <p:nvSpPr>
          <p:cNvPr id="10" name="Shape 8"/>
          <p:cNvSpPr/>
          <p:nvPr/>
        </p:nvSpPr>
        <p:spPr>
          <a:xfrm>
            <a:off x="670560" y="3877056"/>
            <a:ext cx="4267200" cy="48768"/>
          </a:xfrm>
          <a:prstGeom prst="rect">
            <a:avLst/>
          </a:prstGeom>
          <a:solidFill>
            <a:srgbClr val="F0A500"/>
          </a:solidFill>
          <a:ln w="12700">
            <a:solidFill>
              <a:srgbClr val="F0A500"/>
            </a:solidFill>
            <a:prstDash val="solid"/>
          </a:ln>
        </p:spPr>
      </p:sp>
      <p:sp>
        <p:nvSpPr>
          <p:cNvPr id="11" name="Text 9"/>
          <p:cNvSpPr/>
          <p:nvPr/>
        </p:nvSpPr>
        <p:spPr>
          <a:xfrm>
            <a:off x="670560" y="4120896"/>
            <a:ext cx="9753600" cy="365760"/>
          </a:xfrm>
          <a:prstGeom prst="rect">
            <a:avLst/>
          </a:prstGeom>
          <a:noFill/>
          <a:ln/>
        </p:spPr>
        <p:txBody>
          <a:bodyPr wrap="square" lIns="0" tIns="0" rIns="0" bIns="0" rtlCol="0" anchor="ctr"/>
          <a:lstStyle/>
          <a:p>
            <a:r>
              <a:rPr lang="en-US" sz="1467" dirty="0">
                <a:solidFill>
                  <a:srgbClr val="CBD5E1"/>
                </a:solidFill>
                <a:latin typeface="Calibri" pitchFamily="34" charset="0"/>
                <a:ea typeface="Calibri" pitchFamily="34" charset="-122"/>
                <a:cs typeface="Calibri" pitchFamily="34" charset="-120"/>
              </a:rPr>
              <a:t>  NLP Project  |  2026</a:t>
            </a:r>
            <a:endParaRPr lang="en-US" sz="1467" dirty="0"/>
          </a:p>
        </p:txBody>
      </p:sp>
      <p:sp>
        <p:nvSpPr>
          <p:cNvPr id="12" name="Shape 10"/>
          <p:cNvSpPr/>
          <p:nvPr/>
        </p:nvSpPr>
        <p:spPr>
          <a:xfrm>
            <a:off x="670560" y="4876800"/>
            <a:ext cx="560832" cy="560832"/>
          </a:xfrm>
          <a:prstGeom prst="ellipse">
            <a:avLst/>
          </a:prstGeom>
          <a:solidFill>
            <a:srgbClr val="1A4E8C"/>
          </a:solidFill>
          <a:ln w="12700">
            <a:solidFill>
              <a:srgbClr val="F0A500"/>
            </a:solidFill>
            <a:prstDash val="solid"/>
          </a:ln>
        </p:spPr>
      </p:sp>
      <p:pic>
        <p:nvPicPr>
          <p:cNvPr id="13" name="Image 0" descr="preencoded.png"/>
          <p:cNvPicPr>
            <a:picLocks noChangeAspect="1"/>
          </p:cNvPicPr>
          <p:nvPr/>
        </p:nvPicPr>
        <p:blipFill>
          <a:blip r:embed="rId3"/>
          <a:stretch>
            <a:fillRect/>
          </a:stretch>
        </p:blipFill>
        <p:spPr>
          <a:xfrm>
            <a:off x="743712" y="4962144"/>
            <a:ext cx="414528" cy="414528"/>
          </a:xfrm>
          <a:prstGeom prst="rect">
            <a:avLst/>
          </a:prstGeom>
        </p:spPr>
      </p:pic>
      <p:sp>
        <p:nvSpPr>
          <p:cNvPr id="14" name="Text 11"/>
          <p:cNvSpPr/>
          <p:nvPr/>
        </p:nvSpPr>
        <p:spPr>
          <a:xfrm>
            <a:off x="487680" y="5535168"/>
            <a:ext cx="926592" cy="304800"/>
          </a:xfrm>
          <a:prstGeom prst="rect">
            <a:avLst/>
          </a:prstGeom>
          <a:noFill/>
          <a:ln/>
        </p:spPr>
        <p:txBody>
          <a:bodyPr wrap="square" lIns="0" tIns="0" rIns="0" bIns="0" rtlCol="0" anchor="ctr"/>
          <a:lstStyle/>
          <a:p>
            <a:pPr algn="ctr"/>
            <a:r>
              <a:rPr lang="en-US" sz="1067" dirty="0">
                <a:solidFill>
                  <a:srgbClr val="CBD5E1"/>
                </a:solidFill>
              </a:rPr>
              <a:t>Survey</a:t>
            </a:r>
            <a:endParaRPr lang="en-US" sz="1067" dirty="0"/>
          </a:p>
        </p:txBody>
      </p:sp>
      <p:sp>
        <p:nvSpPr>
          <p:cNvPr id="15" name="Shape 12"/>
          <p:cNvSpPr/>
          <p:nvPr/>
        </p:nvSpPr>
        <p:spPr>
          <a:xfrm>
            <a:off x="2560320" y="4876800"/>
            <a:ext cx="560832" cy="560832"/>
          </a:xfrm>
          <a:prstGeom prst="ellipse">
            <a:avLst/>
          </a:prstGeom>
          <a:solidFill>
            <a:srgbClr val="1A4E8C"/>
          </a:solidFill>
          <a:ln w="12700">
            <a:solidFill>
              <a:srgbClr val="F0A500"/>
            </a:solidFill>
            <a:prstDash val="solid"/>
          </a:ln>
        </p:spPr>
      </p:sp>
      <p:pic>
        <p:nvPicPr>
          <p:cNvPr id="16" name="Image 1" descr="preencoded.png"/>
          <p:cNvPicPr>
            <a:picLocks noChangeAspect="1"/>
          </p:cNvPicPr>
          <p:nvPr/>
        </p:nvPicPr>
        <p:blipFill>
          <a:blip r:embed="rId4"/>
          <a:stretch>
            <a:fillRect/>
          </a:stretch>
        </p:blipFill>
        <p:spPr>
          <a:xfrm>
            <a:off x="2633472" y="4962144"/>
            <a:ext cx="414528" cy="414528"/>
          </a:xfrm>
          <a:prstGeom prst="rect">
            <a:avLst/>
          </a:prstGeom>
        </p:spPr>
      </p:pic>
      <p:sp>
        <p:nvSpPr>
          <p:cNvPr id="17" name="Text 13"/>
          <p:cNvSpPr/>
          <p:nvPr/>
        </p:nvSpPr>
        <p:spPr>
          <a:xfrm>
            <a:off x="2377440" y="5535168"/>
            <a:ext cx="926592" cy="304800"/>
          </a:xfrm>
          <a:prstGeom prst="rect">
            <a:avLst/>
          </a:prstGeom>
          <a:noFill/>
          <a:ln/>
        </p:spPr>
        <p:txBody>
          <a:bodyPr wrap="square" lIns="0" tIns="0" rIns="0" bIns="0" rtlCol="0" anchor="ctr"/>
          <a:lstStyle/>
          <a:p>
            <a:pPr algn="ctr"/>
            <a:r>
              <a:rPr lang="en-US" sz="1067" dirty="0">
                <a:solidFill>
                  <a:srgbClr val="CBD5E1"/>
                </a:solidFill>
              </a:rPr>
              <a:t>Analysis</a:t>
            </a:r>
            <a:endParaRPr lang="en-US" sz="1067" dirty="0"/>
          </a:p>
        </p:txBody>
      </p:sp>
      <p:sp>
        <p:nvSpPr>
          <p:cNvPr id="18" name="Shape 14"/>
          <p:cNvSpPr/>
          <p:nvPr/>
        </p:nvSpPr>
        <p:spPr>
          <a:xfrm>
            <a:off x="4450080" y="4876800"/>
            <a:ext cx="560832" cy="560832"/>
          </a:xfrm>
          <a:prstGeom prst="ellipse">
            <a:avLst/>
          </a:prstGeom>
          <a:solidFill>
            <a:srgbClr val="1A4E8C"/>
          </a:solidFill>
          <a:ln w="12700">
            <a:solidFill>
              <a:srgbClr val="F0A500"/>
            </a:solidFill>
            <a:prstDash val="solid"/>
          </a:ln>
        </p:spPr>
      </p:sp>
      <p:pic>
        <p:nvPicPr>
          <p:cNvPr id="19" name="Image 2" descr="preencoded.png"/>
          <p:cNvPicPr>
            <a:picLocks noChangeAspect="1"/>
          </p:cNvPicPr>
          <p:nvPr/>
        </p:nvPicPr>
        <p:blipFill>
          <a:blip r:embed="rId5"/>
          <a:stretch>
            <a:fillRect/>
          </a:stretch>
        </p:blipFill>
        <p:spPr>
          <a:xfrm>
            <a:off x="4523232" y="4962144"/>
            <a:ext cx="414528" cy="414528"/>
          </a:xfrm>
          <a:prstGeom prst="rect">
            <a:avLst/>
          </a:prstGeom>
        </p:spPr>
      </p:pic>
      <p:sp>
        <p:nvSpPr>
          <p:cNvPr id="20" name="Text 15"/>
          <p:cNvSpPr/>
          <p:nvPr/>
        </p:nvSpPr>
        <p:spPr>
          <a:xfrm>
            <a:off x="4267200" y="5535168"/>
            <a:ext cx="926592" cy="304800"/>
          </a:xfrm>
          <a:prstGeom prst="rect">
            <a:avLst/>
          </a:prstGeom>
          <a:noFill/>
          <a:ln/>
        </p:spPr>
        <p:txBody>
          <a:bodyPr wrap="square" lIns="0" tIns="0" rIns="0" bIns="0" rtlCol="0" anchor="ctr"/>
          <a:lstStyle/>
          <a:p>
            <a:pPr algn="ctr"/>
            <a:r>
              <a:rPr lang="en-US" sz="1067" dirty="0">
                <a:solidFill>
                  <a:srgbClr val="CBD5E1"/>
                </a:solidFill>
              </a:rPr>
              <a:t>PropBank</a:t>
            </a:r>
            <a:endParaRPr lang="en-US" sz="1067" dirty="0"/>
          </a:p>
        </p:txBody>
      </p:sp>
      <p:sp>
        <p:nvSpPr>
          <p:cNvPr id="21" name="Shape 16"/>
          <p:cNvSpPr/>
          <p:nvPr/>
        </p:nvSpPr>
        <p:spPr>
          <a:xfrm>
            <a:off x="6339840" y="4876800"/>
            <a:ext cx="560832" cy="560832"/>
          </a:xfrm>
          <a:prstGeom prst="ellipse">
            <a:avLst/>
          </a:prstGeom>
          <a:solidFill>
            <a:srgbClr val="1A4E8C"/>
          </a:solidFill>
          <a:ln w="12700">
            <a:solidFill>
              <a:srgbClr val="F0A500"/>
            </a:solidFill>
            <a:prstDash val="solid"/>
          </a:ln>
        </p:spPr>
      </p:sp>
      <p:pic>
        <p:nvPicPr>
          <p:cNvPr id="22" name="Image 3" descr="preencoded.png"/>
          <p:cNvPicPr>
            <a:picLocks noChangeAspect="1"/>
          </p:cNvPicPr>
          <p:nvPr/>
        </p:nvPicPr>
        <p:blipFill>
          <a:blip r:embed="rId6"/>
          <a:stretch>
            <a:fillRect/>
          </a:stretch>
        </p:blipFill>
        <p:spPr>
          <a:xfrm>
            <a:off x="6412992" y="4962144"/>
            <a:ext cx="414528" cy="414528"/>
          </a:xfrm>
          <a:prstGeom prst="rect">
            <a:avLst/>
          </a:prstGeom>
        </p:spPr>
      </p:pic>
      <p:sp>
        <p:nvSpPr>
          <p:cNvPr id="23" name="Text 17"/>
          <p:cNvSpPr/>
          <p:nvPr/>
        </p:nvSpPr>
        <p:spPr>
          <a:xfrm>
            <a:off x="6156960" y="5535168"/>
            <a:ext cx="926592" cy="304800"/>
          </a:xfrm>
          <a:prstGeom prst="rect">
            <a:avLst/>
          </a:prstGeom>
          <a:noFill/>
          <a:ln/>
        </p:spPr>
        <p:txBody>
          <a:bodyPr wrap="square" lIns="0" tIns="0" rIns="0" bIns="0" rtlCol="0" anchor="ctr"/>
          <a:lstStyle/>
          <a:p>
            <a:pPr algn="ctr"/>
            <a:r>
              <a:rPr lang="en-US" sz="1067" dirty="0">
                <a:solidFill>
                  <a:srgbClr val="CBD5E1"/>
                </a:solidFill>
              </a:rPr>
              <a:t>Implementation</a:t>
            </a:r>
            <a:endParaRPr lang="en-US" sz="1067" dirty="0"/>
          </a:p>
        </p:txBody>
      </p:sp>
      <p:sp>
        <p:nvSpPr>
          <p:cNvPr id="24" name="Shape 18"/>
          <p:cNvSpPr/>
          <p:nvPr/>
        </p:nvSpPr>
        <p:spPr>
          <a:xfrm>
            <a:off x="8229600" y="4876800"/>
            <a:ext cx="560832" cy="560832"/>
          </a:xfrm>
          <a:prstGeom prst="ellipse">
            <a:avLst/>
          </a:prstGeom>
          <a:solidFill>
            <a:srgbClr val="1A4E8C"/>
          </a:solidFill>
          <a:ln w="12700">
            <a:solidFill>
              <a:srgbClr val="F0A500"/>
            </a:solidFill>
            <a:prstDash val="solid"/>
          </a:ln>
        </p:spPr>
      </p:sp>
      <p:pic>
        <p:nvPicPr>
          <p:cNvPr id="25" name="Image 4" descr="preencoded.png"/>
          <p:cNvPicPr>
            <a:picLocks noChangeAspect="1"/>
          </p:cNvPicPr>
          <p:nvPr/>
        </p:nvPicPr>
        <p:blipFill>
          <a:blip r:embed="rId7"/>
          <a:stretch>
            <a:fillRect/>
          </a:stretch>
        </p:blipFill>
        <p:spPr>
          <a:xfrm>
            <a:off x="8302752" y="4962144"/>
            <a:ext cx="414528" cy="414528"/>
          </a:xfrm>
          <a:prstGeom prst="rect">
            <a:avLst/>
          </a:prstGeom>
        </p:spPr>
      </p:pic>
      <p:sp>
        <p:nvSpPr>
          <p:cNvPr id="26" name="Text 19"/>
          <p:cNvSpPr/>
          <p:nvPr/>
        </p:nvSpPr>
        <p:spPr>
          <a:xfrm>
            <a:off x="8046720" y="5535168"/>
            <a:ext cx="926592" cy="304800"/>
          </a:xfrm>
          <a:prstGeom prst="rect">
            <a:avLst/>
          </a:prstGeom>
          <a:noFill/>
          <a:ln/>
        </p:spPr>
        <p:txBody>
          <a:bodyPr wrap="square" lIns="0" tIns="0" rIns="0" bIns="0" rtlCol="0" anchor="ctr"/>
          <a:lstStyle/>
          <a:p>
            <a:pPr algn="ctr"/>
            <a:r>
              <a:rPr lang="en-US" sz="1067" dirty="0">
                <a:solidFill>
                  <a:srgbClr val="CBD5E1"/>
                </a:solidFill>
              </a:rPr>
              <a:t>Experiments</a:t>
            </a:r>
            <a:endParaRPr lang="en-US" sz="1067" dirty="0"/>
          </a:p>
        </p:txBody>
      </p:sp>
      <p:sp>
        <p:nvSpPr>
          <p:cNvPr id="27" name="Shape 20"/>
          <p:cNvSpPr/>
          <p:nvPr/>
        </p:nvSpPr>
        <p:spPr>
          <a:xfrm>
            <a:off x="10119360" y="4876800"/>
            <a:ext cx="560832" cy="560832"/>
          </a:xfrm>
          <a:prstGeom prst="ellipse">
            <a:avLst/>
          </a:prstGeom>
          <a:solidFill>
            <a:srgbClr val="1A4E8C"/>
          </a:solidFill>
          <a:ln w="12700">
            <a:solidFill>
              <a:srgbClr val="F0A500"/>
            </a:solidFill>
            <a:prstDash val="solid"/>
          </a:ln>
        </p:spPr>
      </p:sp>
      <p:pic>
        <p:nvPicPr>
          <p:cNvPr id="28" name="Image 5" descr="preencoded.png"/>
          <p:cNvPicPr>
            <a:picLocks noChangeAspect="1"/>
          </p:cNvPicPr>
          <p:nvPr/>
        </p:nvPicPr>
        <p:blipFill>
          <a:blip r:embed="rId8"/>
          <a:stretch>
            <a:fillRect/>
          </a:stretch>
        </p:blipFill>
        <p:spPr>
          <a:xfrm>
            <a:off x="10192512" y="4962144"/>
            <a:ext cx="414528" cy="414528"/>
          </a:xfrm>
          <a:prstGeom prst="rect">
            <a:avLst/>
          </a:prstGeom>
        </p:spPr>
      </p:pic>
      <p:sp>
        <p:nvSpPr>
          <p:cNvPr id="29" name="Text 21"/>
          <p:cNvSpPr/>
          <p:nvPr/>
        </p:nvSpPr>
        <p:spPr>
          <a:xfrm>
            <a:off x="9936480" y="5535168"/>
            <a:ext cx="926592" cy="304800"/>
          </a:xfrm>
          <a:prstGeom prst="rect">
            <a:avLst/>
          </a:prstGeom>
          <a:noFill/>
          <a:ln/>
        </p:spPr>
        <p:txBody>
          <a:bodyPr wrap="square" lIns="0" tIns="0" rIns="0" bIns="0" rtlCol="0" anchor="ctr"/>
          <a:lstStyle/>
          <a:p>
            <a:pPr algn="ctr"/>
            <a:r>
              <a:rPr lang="en-US" sz="1067" dirty="0">
                <a:solidFill>
                  <a:srgbClr val="CBD5E1"/>
                </a:solidFill>
              </a:rPr>
              <a:t>Innovation</a:t>
            </a:r>
            <a:endParaRPr lang="en-US" sz="1067" dirty="0"/>
          </a:p>
        </p:txBody>
      </p:sp>
    </p:spTree>
    <p:extLst>
      <p:ext uri="{BB962C8B-B14F-4D97-AF65-F5344CB8AC3E}">
        <p14:creationId xmlns:p14="http://schemas.microsoft.com/office/powerpoint/2010/main" val="3242278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AF4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219456"/>
          </a:xfrm>
          <a:prstGeom prst="rect">
            <a:avLst/>
          </a:prstGeom>
          <a:solidFill>
            <a:srgbClr val="1A4E8C"/>
          </a:solidFill>
          <a:ln w="12700">
            <a:solidFill>
              <a:srgbClr val="1A4E8C"/>
            </a:solidFill>
            <a:prstDash val="solid"/>
          </a:ln>
        </p:spPr>
      </p:sp>
      <p:sp>
        <p:nvSpPr>
          <p:cNvPr id="3" name="Shape 1"/>
          <p:cNvSpPr/>
          <p:nvPr/>
        </p:nvSpPr>
        <p:spPr>
          <a:xfrm>
            <a:off x="487680" y="316992"/>
            <a:ext cx="2316480" cy="365760"/>
          </a:xfrm>
          <a:prstGeom prst="rect">
            <a:avLst/>
          </a:prstGeom>
          <a:solidFill>
            <a:srgbClr val="1A4E8C"/>
          </a:solidFill>
          <a:ln w="12700">
            <a:solidFill>
              <a:srgbClr val="1A4E8C"/>
            </a:solidFill>
            <a:prstDash val="solid"/>
          </a:ln>
        </p:spPr>
      </p:sp>
      <p:sp>
        <p:nvSpPr>
          <p:cNvPr id="4" name="Text 2"/>
          <p:cNvSpPr/>
          <p:nvPr/>
        </p:nvSpPr>
        <p:spPr>
          <a:xfrm>
            <a:off x="487680" y="316992"/>
            <a:ext cx="2316480" cy="365760"/>
          </a:xfrm>
          <a:prstGeom prst="rect">
            <a:avLst/>
          </a:prstGeom>
          <a:noFill/>
          <a:ln/>
        </p:spPr>
        <p:txBody>
          <a:bodyPr wrap="square" lIns="0" tIns="0" rIns="0" bIns="0" rtlCol="0" anchor="ctr"/>
          <a:lstStyle/>
          <a:p>
            <a:pPr algn="ctr"/>
            <a:r>
              <a:rPr lang="en-US" sz="1200" b="1" dirty="0">
                <a:solidFill>
                  <a:srgbClr val="FFFFFF"/>
                </a:solidFill>
              </a:rPr>
              <a:t>SURVEY · PREVIOUS WORK</a:t>
            </a:r>
            <a:endParaRPr lang="en-US" sz="1200" dirty="0"/>
          </a:p>
        </p:txBody>
      </p:sp>
      <p:sp>
        <p:nvSpPr>
          <p:cNvPr id="5" name="Text 3"/>
          <p:cNvSpPr/>
          <p:nvPr/>
        </p:nvSpPr>
        <p:spPr>
          <a:xfrm>
            <a:off x="487680" y="792480"/>
            <a:ext cx="11216640" cy="670560"/>
          </a:xfrm>
          <a:prstGeom prst="rect">
            <a:avLst/>
          </a:prstGeom>
          <a:noFill/>
          <a:ln/>
        </p:spPr>
        <p:txBody>
          <a:bodyPr wrap="square" lIns="0" tIns="0" rIns="0" bIns="0" rtlCol="0" anchor="ctr"/>
          <a:lstStyle/>
          <a:p>
            <a:r>
              <a:rPr lang="en-US" sz="3467" b="1" dirty="0">
                <a:solidFill>
                  <a:srgbClr val="0A1628"/>
                </a:solidFill>
                <a:latin typeface="Cambria" pitchFamily="34" charset="0"/>
                <a:ea typeface="Cambria" pitchFamily="34" charset="-122"/>
                <a:cs typeface="Cambria" pitchFamily="34" charset="-120"/>
              </a:rPr>
              <a:t>Survey of Previous Work</a:t>
            </a:r>
            <a:endParaRPr lang="en-US" sz="3467" dirty="0"/>
          </a:p>
        </p:txBody>
      </p:sp>
      <p:sp>
        <p:nvSpPr>
          <p:cNvPr id="6" name="Text 4"/>
          <p:cNvSpPr/>
          <p:nvPr/>
        </p:nvSpPr>
        <p:spPr>
          <a:xfrm>
            <a:off x="487680" y="1487424"/>
            <a:ext cx="11216640" cy="365760"/>
          </a:xfrm>
          <a:prstGeom prst="rect">
            <a:avLst/>
          </a:prstGeom>
          <a:noFill/>
          <a:ln/>
        </p:spPr>
        <p:txBody>
          <a:bodyPr wrap="square" lIns="0" tIns="0" rIns="0" bIns="0" rtlCol="0" anchor="ctr"/>
          <a:lstStyle/>
          <a:p>
            <a:r>
              <a:rPr lang="en-US" sz="1600" i="1" dirty="0">
                <a:solidFill>
                  <a:srgbClr val="64748B"/>
                </a:solidFill>
              </a:rPr>
              <a:t>Major milestones across the scientific community (2002 – 2024)</a:t>
            </a:r>
            <a:endParaRPr lang="en-US" sz="1600" dirty="0"/>
          </a:p>
        </p:txBody>
      </p:sp>
      <p:sp>
        <p:nvSpPr>
          <p:cNvPr id="7" name="Shape 5"/>
          <p:cNvSpPr/>
          <p:nvPr/>
        </p:nvSpPr>
        <p:spPr>
          <a:xfrm>
            <a:off x="1584960" y="2072640"/>
            <a:ext cx="60960" cy="4328160"/>
          </a:xfrm>
          <a:prstGeom prst="rect">
            <a:avLst/>
          </a:prstGeom>
          <a:solidFill>
            <a:srgbClr val="1A4E8C"/>
          </a:solidFill>
          <a:ln w="12700">
            <a:solidFill>
              <a:srgbClr val="1A4E8C"/>
            </a:solidFill>
            <a:prstDash val="solid"/>
          </a:ln>
        </p:spPr>
      </p:sp>
      <p:sp>
        <p:nvSpPr>
          <p:cNvPr id="8" name="Shape 6"/>
          <p:cNvSpPr/>
          <p:nvPr/>
        </p:nvSpPr>
        <p:spPr>
          <a:xfrm>
            <a:off x="1426464" y="2109216"/>
            <a:ext cx="341376" cy="341376"/>
          </a:xfrm>
          <a:prstGeom prst="ellipse">
            <a:avLst/>
          </a:prstGeom>
          <a:solidFill>
            <a:srgbClr val="F0A500"/>
          </a:solidFill>
          <a:ln w="12700">
            <a:solidFill>
              <a:srgbClr val="0A1628"/>
            </a:solidFill>
            <a:prstDash val="solid"/>
          </a:ln>
        </p:spPr>
      </p:sp>
      <p:sp>
        <p:nvSpPr>
          <p:cNvPr id="9" name="Text 7"/>
          <p:cNvSpPr/>
          <p:nvPr/>
        </p:nvSpPr>
        <p:spPr>
          <a:xfrm>
            <a:off x="0" y="2097024"/>
            <a:ext cx="1280160" cy="341376"/>
          </a:xfrm>
          <a:prstGeom prst="rect">
            <a:avLst/>
          </a:prstGeom>
          <a:noFill/>
          <a:ln/>
        </p:spPr>
        <p:txBody>
          <a:bodyPr wrap="square" lIns="0" tIns="0" rIns="0" bIns="0" rtlCol="0" anchor="ctr"/>
          <a:lstStyle/>
          <a:p>
            <a:pPr algn="r"/>
            <a:r>
              <a:rPr lang="en-US" sz="1267" b="1" dirty="0">
                <a:solidFill>
                  <a:srgbClr val="1A4E8C"/>
                </a:solidFill>
              </a:rPr>
              <a:t>2002</a:t>
            </a:r>
            <a:endParaRPr lang="en-US" sz="1267" dirty="0"/>
          </a:p>
        </p:txBody>
      </p:sp>
      <p:sp>
        <p:nvSpPr>
          <p:cNvPr id="10" name="Text 8"/>
          <p:cNvSpPr/>
          <p:nvPr/>
        </p:nvSpPr>
        <p:spPr>
          <a:xfrm>
            <a:off x="1889760" y="2048256"/>
            <a:ext cx="1828800" cy="268224"/>
          </a:xfrm>
          <a:prstGeom prst="rect">
            <a:avLst/>
          </a:prstGeom>
          <a:noFill/>
          <a:ln/>
        </p:spPr>
        <p:txBody>
          <a:bodyPr wrap="square" lIns="0" tIns="0" rIns="0" bIns="0" rtlCol="0" anchor="ctr"/>
          <a:lstStyle/>
          <a:p>
            <a:r>
              <a:rPr lang="en-US" sz="1267" b="1" dirty="0">
                <a:solidFill>
                  <a:srgbClr val="0A1628"/>
                </a:solidFill>
              </a:rPr>
              <a:t>PropBank</a:t>
            </a:r>
            <a:endParaRPr lang="en-US" sz="1267" dirty="0"/>
          </a:p>
        </p:txBody>
      </p:sp>
      <p:sp>
        <p:nvSpPr>
          <p:cNvPr id="11" name="Text 9"/>
          <p:cNvSpPr/>
          <p:nvPr/>
        </p:nvSpPr>
        <p:spPr>
          <a:xfrm>
            <a:off x="3877056" y="2048256"/>
            <a:ext cx="7802880" cy="390144"/>
          </a:xfrm>
          <a:prstGeom prst="rect">
            <a:avLst/>
          </a:prstGeom>
          <a:noFill/>
          <a:ln/>
        </p:spPr>
        <p:txBody>
          <a:bodyPr wrap="square" lIns="0" tIns="0" rIns="0" bIns="0" rtlCol="0" anchor="ctr"/>
          <a:lstStyle/>
          <a:p>
            <a:r>
              <a:rPr lang="en-US" sz="1067" dirty="0">
                <a:solidFill>
                  <a:srgbClr val="1E293B"/>
                </a:solidFill>
              </a:rPr>
              <a:t>Palmer et al. create PropBank, the first large-scale corpus annotated with semantic roles — verb predicates and their argument roles (Arg0–Arg5).</a:t>
            </a:r>
            <a:endParaRPr lang="en-US" sz="1067" dirty="0"/>
          </a:p>
        </p:txBody>
      </p:sp>
      <p:sp>
        <p:nvSpPr>
          <p:cNvPr id="12" name="Shape 10"/>
          <p:cNvSpPr/>
          <p:nvPr/>
        </p:nvSpPr>
        <p:spPr>
          <a:xfrm>
            <a:off x="1426464" y="2609088"/>
            <a:ext cx="341376" cy="341376"/>
          </a:xfrm>
          <a:prstGeom prst="ellipse">
            <a:avLst/>
          </a:prstGeom>
          <a:solidFill>
            <a:srgbClr val="F0A500"/>
          </a:solidFill>
          <a:ln w="12700">
            <a:solidFill>
              <a:srgbClr val="0A1628"/>
            </a:solidFill>
            <a:prstDash val="solid"/>
          </a:ln>
        </p:spPr>
      </p:sp>
      <p:sp>
        <p:nvSpPr>
          <p:cNvPr id="13" name="Text 11"/>
          <p:cNvSpPr/>
          <p:nvPr/>
        </p:nvSpPr>
        <p:spPr>
          <a:xfrm>
            <a:off x="0" y="2596896"/>
            <a:ext cx="1280160" cy="341376"/>
          </a:xfrm>
          <a:prstGeom prst="rect">
            <a:avLst/>
          </a:prstGeom>
          <a:noFill/>
          <a:ln/>
        </p:spPr>
        <p:txBody>
          <a:bodyPr wrap="square" lIns="0" tIns="0" rIns="0" bIns="0" rtlCol="0" anchor="ctr"/>
          <a:lstStyle/>
          <a:p>
            <a:pPr algn="r"/>
            <a:r>
              <a:rPr lang="en-US" sz="1267" b="1" dirty="0">
                <a:solidFill>
                  <a:srgbClr val="1A4E8C"/>
                </a:solidFill>
              </a:rPr>
              <a:t>2004</a:t>
            </a:r>
            <a:endParaRPr lang="en-US" sz="1267" dirty="0"/>
          </a:p>
        </p:txBody>
      </p:sp>
      <p:sp>
        <p:nvSpPr>
          <p:cNvPr id="14" name="Text 12"/>
          <p:cNvSpPr/>
          <p:nvPr/>
        </p:nvSpPr>
        <p:spPr>
          <a:xfrm>
            <a:off x="1889760" y="2548128"/>
            <a:ext cx="1828800" cy="268224"/>
          </a:xfrm>
          <a:prstGeom prst="rect">
            <a:avLst/>
          </a:prstGeom>
          <a:noFill/>
          <a:ln/>
        </p:spPr>
        <p:txBody>
          <a:bodyPr wrap="square" lIns="0" tIns="0" rIns="0" bIns="0" rtlCol="0" anchor="ctr"/>
          <a:lstStyle/>
          <a:p>
            <a:r>
              <a:rPr lang="en-US" sz="1267" b="1" dirty="0">
                <a:solidFill>
                  <a:srgbClr val="0A1628"/>
                </a:solidFill>
              </a:rPr>
              <a:t>FrameNet QA</a:t>
            </a:r>
            <a:endParaRPr lang="en-US" sz="1267" dirty="0"/>
          </a:p>
        </p:txBody>
      </p:sp>
      <p:sp>
        <p:nvSpPr>
          <p:cNvPr id="15" name="Text 13"/>
          <p:cNvSpPr/>
          <p:nvPr/>
        </p:nvSpPr>
        <p:spPr>
          <a:xfrm>
            <a:off x="3877056" y="2548128"/>
            <a:ext cx="7802880" cy="390144"/>
          </a:xfrm>
          <a:prstGeom prst="rect">
            <a:avLst/>
          </a:prstGeom>
          <a:noFill/>
          <a:ln/>
        </p:spPr>
        <p:txBody>
          <a:bodyPr wrap="square" lIns="0" tIns="0" rIns="0" bIns="0" rtlCol="0" anchor="ctr"/>
          <a:lstStyle/>
          <a:p>
            <a:r>
              <a:rPr lang="en-US" sz="1067" dirty="0">
                <a:solidFill>
                  <a:srgbClr val="1E293B"/>
                </a:solidFill>
              </a:rPr>
              <a:t>Shen &amp; Lapata use FrameNet shallow semantic parsing to extract answer candidates from text, showing +8% F1 gain over baseline.</a:t>
            </a:r>
            <a:endParaRPr lang="en-US" sz="1067" dirty="0"/>
          </a:p>
        </p:txBody>
      </p:sp>
      <p:sp>
        <p:nvSpPr>
          <p:cNvPr id="16" name="Shape 14"/>
          <p:cNvSpPr/>
          <p:nvPr/>
        </p:nvSpPr>
        <p:spPr>
          <a:xfrm>
            <a:off x="1426464" y="3108960"/>
            <a:ext cx="341376" cy="341376"/>
          </a:xfrm>
          <a:prstGeom prst="ellipse">
            <a:avLst/>
          </a:prstGeom>
          <a:solidFill>
            <a:srgbClr val="F0A500"/>
          </a:solidFill>
          <a:ln w="12700">
            <a:solidFill>
              <a:srgbClr val="0A1628"/>
            </a:solidFill>
            <a:prstDash val="solid"/>
          </a:ln>
        </p:spPr>
      </p:sp>
      <p:sp>
        <p:nvSpPr>
          <p:cNvPr id="17" name="Text 15"/>
          <p:cNvSpPr/>
          <p:nvPr/>
        </p:nvSpPr>
        <p:spPr>
          <a:xfrm>
            <a:off x="0" y="3096768"/>
            <a:ext cx="1280160" cy="341376"/>
          </a:xfrm>
          <a:prstGeom prst="rect">
            <a:avLst/>
          </a:prstGeom>
          <a:noFill/>
          <a:ln/>
        </p:spPr>
        <p:txBody>
          <a:bodyPr wrap="square" lIns="0" tIns="0" rIns="0" bIns="0" rtlCol="0" anchor="ctr"/>
          <a:lstStyle/>
          <a:p>
            <a:pPr algn="r"/>
            <a:r>
              <a:rPr lang="en-US" sz="1267" b="1" dirty="0">
                <a:solidFill>
                  <a:srgbClr val="1A4E8C"/>
                </a:solidFill>
              </a:rPr>
              <a:t>2008</a:t>
            </a:r>
            <a:endParaRPr lang="en-US" sz="1267" dirty="0"/>
          </a:p>
        </p:txBody>
      </p:sp>
      <p:sp>
        <p:nvSpPr>
          <p:cNvPr id="18" name="Text 16"/>
          <p:cNvSpPr/>
          <p:nvPr/>
        </p:nvSpPr>
        <p:spPr>
          <a:xfrm>
            <a:off x="1889760" y="3048000"/>
            <a:ext cx="1828800" cy="268224"/>
          </a:xfrm>
          <a:prstGeom prst="rect">
            <a:avLst/>
          </a:prstGeom>
          <a:noFill/>
          <a:ln/>
        </p:spPr>
        <p:txBody>
          <a:bodyPr wrap="square" lIns="0" tIns="0" rIns="0" bIns="0" rtlCol="0" anchor="ctr"/>
          <a:lstStyle/>
          <a:p>
            <a:r>
              <a:rPr lang="en-US" sz="1267" b="1" dirty="0">
                <a:solidFill>
                  <a:srgbClr val="0A1628"/>
                </a:solidFill>
              </a:rPr>
              <a:t>SRL + RE</a:t>
            </a:r>
            <a:endParaRPr lang="en-US" sz="1267" dirty="0"/>
          </a:p>
        </p:txBody>
      </p:sp>
      <p:sp>
        <p:nvSpPr>
          <p:cNvPr id="19" name="Text 17"/>
          <p:cNvSpPr/>
          <p:nvPr/>
        </p:nvSpPr>
        <p:spPr>
          <a:xfrm>
            <a:off x="3877056" y="3048000"/>
            <a:ext cx="7802880" cy="390144"/>
          </a:xfrm>
          <a:prstGeom prst="rect">
            <a:avLst/>
          </a:prstGeom>
          <a:noFill/>
          <a:ln/>
        </p:spPr>
        <p:txBody>
          <a:bodyPr wrap="square" lIns="0" tIns="0" rIns="0" bIns="0" rtlCol="0" anchor="ctr"/>
          <a:lstStyle/>
          <a:p>
            <a:r>
              <a:rPr lang="en-US" sz="1067" dirty="0">
                <a:solidFill>
                  <a:srgbClr val="1E293B"/>
                </a:solidFill>
              </a:rPr>
              <a:t>Moschitti et al. combine SRL with relation extraction in TrecQA showing first deep synergy of roles with open-domain QA.</a:t>
            </a:r>
            <a:endParaRPr lang="en-US" sz="1067" dirty="0"/>
          </a:p>
        </p:txBody>
      </p:sp>
      <p:sp>
        <p:nvSpPr>
          <p:cNvPr id="20" name="Shape 18"/>
          <p:cNvSpPr/>
          <p:nvPr/>
        </p:nvSpPr>
        <p:spPr>
          <a:xfrm>
            <a:off x="1426464" y="3608832"/>
            <a:ext cx="341376" cy="341376"/>
          </a:xfrm>
          <a:prstGeom prst="ellipse">
            <a:avLst/>
          </a:prstGeom>
          <a:solidFill>
            <a:srgbClr val="F0A500"/>
          </a:solidFill>
          <a:ln w="12700">
            <a:solidFill>
              <a:srgbClr val="0A1628"/>
            </a:solidFill>
            <a:prstDash val="solid"/>
          </a:ln>
        </p:spPr>
      </p:sp>
      <p:sp>
        <p:nvSpPr>
          <p:cNvPr id="21" name="Text 19"/>
          <p:cNvSpPr/>
          <p:nvPr/>
        </p:nvSpPr>
        <p:spPr>
          <a:xfrm>
            <a:off x="0" y="3596640"/>
            <a:ext cx="1280160" cy="341376"/>
          </a:xfrm>
          <a:prstGeom prst="rect">
            <a:avLst/>
          </a:prstGeom>
          <a:noFill/>
          <a:ln/>
        </p:spPr>
        <p:txBody>
          <a:bodyPr wrap="square" lIns="0" tIns="0" rIns="0" bIns="0" rtlCol="0" anchor="ctr"/>
          <a:lstStyle/>
          <a:p>
            <a:pPr algn="r"/>
            <a:r>
              <a:rPr lang="en-US" sz="1267" b="1" dirty="0">
                <a:solidFill>
                  <a:srgbClr val="1A4E8C"/>
                </a:solidFill>
              </a:rPr>
              <a:t>2012</a:t>
            </a:r>
            <a:endParaRPr lang="en-US" sz="1267" dirty="0"/>
          </a:p>
        </p:txBody>
      </p:sp>
      <p:sp>
        <p:nvSpPr>
          <p:cNvPr id="22" name="Text 20"/>
          <p:cNvSpPr/>
          <p:nvPr/>
        </p:nvSpPr>
        <p:spPr>
          <a:xfrm>
            <a:off x="1889760" y="3547872"/>
            <a:ext cx="1828800" cy="268224"/>
          </a:xfrm>
          <a:prstGeom prst="rect">
            <a:avLst/>
          </a:prstGeom>
          <a:noFill/>
          <a:ln/>
        </p:spPr>
        <p:txBody>
          <a:bodyPr wrap="square" lIns="0" tIns="0" rIns="0" bIns="0" rtlCol="0" anchor="ctr"/>
          <a:lstStyle/>
          <a:p>
            <a:r>
              <a:rPr lang="en-US" sz="1267" b="1" dirty="0">
                <a:solidFill>
                  <a:srgbClr val="0A1628"/>
                </a:solidFill>
              </a:rPr>
              <a:t>ACE / ERE</a:t>
            </a:r>
            <a:endParaRPr lang="en-US" sz="1267" dirty="0"/>
          </a:p>
        </p:txBody>
      </p:sp>
      <p:sp>
        <p:nvSpPr>
          <p:cNvPr id="23" name="Text 21"/>
          <p:cNvSpPr/>
          <p:nvPr/>
        </p:nvSpPr>
        <p:spPr>
          <a:xfrm>
            <a:off x="3877056" y="3547872"/>
            <a:ext cx="7802880" cy="390144"/>
          </a:xfrm>
          <a:prstGeom prst="rect">
            <a:avLst/>
          </a:prstGeom>
          <a:noFill/>
          <a:ln/>
        </p:spPr>
        <p:txBody>
          <a:bodyPr wrap="square" lIns="0" tIns="0" rIns="0" bIns="0" rtlCol="0" anchor="ctr"/>
          <a:lstStyle/>
          <a:p>
            <a:r>
              <a:rPr lang="en-US" sz="1067" dirty="0">
                <a:solidFill>
                  <a:srgbClr val="1E293B"/>
                </a:solidFill>
              </a:rPr>
              <a:t>Surdeanu et al. incorporate entity-relation-event annotations alongside SRL for cross-document QA, achieving 62.3 MRR.</a:t>
            </a:r>
            <a:endParaRPr lang="en-US" sz="1067" dirty="0"/>
          </a:p>
        </p:txBody>
      </p:sp>
      <p:sp>
        <p:nvSpPr>
          <p:cNvPr id="24" name="Shape 22"/>
          <p:cNvSpPr/>
          <p:nvPr/>
        </p:nvSpPr>
        <p:spPr>
          <a:xfrm>
            <a:off x="1426464" y="4108704"/>
            <a:ext cx="341376" cy="341376"/>
          </a:xfrm>
          <a:prstGeom prst="ellipse">
            <a:avLst/>
          </a:prstGeom>
          <a:solidFill>
            <a:srgbClr val="F0A500"/>
          </a:solidFill>
          <a:ln w="12700">
            <a:solidFill>
              <a:srgbClr val="0A1628"/>
            </a:solidFill>
            <a:prstDash val="solid"/>
          </a:ln>
        </p:spPr>
      </p:sp>
      <p:sp>
        <p:nvSpPr>
          <p:cNvPr id="25" name="Text 23"/>
          <p:cNvSpPr/>
          <p:nvPr/>
        </p:nvSpPr>
        <p:spPr>
          <a:xfrm>
            <a:off x="0" y="4096512"/>
            <a:ext cx="1280160" cy="341376"/>
          </a:xfrm>
          <a:prstGeom prst="rect">
            <a:avLst/>
          </a:prstGeom>
          <a:noFill/>
          <a:ln/>
        </p:spPr>
        <p:txBody>
          <a:bodyPr wrap="square" lIns="0" tIns="0" rIns="0" bIns="0" rtlCol="0" anchor="ctr"/>
          <a:lstStyle/>
          <a:p>
            <a:pPr algn="r"/>
            <a:r>
              <a:rPr lang="en-US" sz="1267" b="1" dirty="0">
                <a:solidFill>
                  <a:srgbClr val="1A4E8C"/>
                </a:solidFill>
              </a:rPr>
              <a:t>2016</a:t>
            </a:r>
            <a:endParaRPr lang="en-US" sz="1267" dirty="0"/>
          </a:p>
        </p:txBody>
      </p:sp>
      <p:sp>
        <p:nvSpPr>
          <p:cNvPr id="26" name="Text 24"/>
          <p:cNvSpPr/>
          <p:nvPr/>
        </p:nvSpPr>
        <p:spPr>
          <a:xfrm>
            <a:off x="1889760" y="4047744"/>
            <a:ext cx="1828800" cy="268224"/>
          </a:xfrm>
          <a:prstGeom prst="rect">
            <a:avLst/>
          </a:prstGeom>
          <a:noFill/>
          <a:ln/>
        </p:spPr>
        <p:txBody>
          <a:bodyPr wrap="square" lIns="0" tIns="0" rIns="0" bIns="0" rtlCol="0" anchor="ctr"/>
          <a:lstStyle/>
          <a:p>
            <a:r>
              <a:rPr lang="en-US" sz="1267" b="1" dirty="0">
                <a:solidFill>
                  <a:srgbClr val="0A1628"/>
                </a:solidFill>
              </a:rPr>
              <a:t>BiSRU-QA</a:t>
            </a:r>
            <a:endParaRPr lang="en-US" sz="1267" dirty="0"/>
          </a:p>
        </p:txBody>
      </p:sp>
      <p:sp>
        <p:nvSpPr>
          <p:cNvPr id="27" name="Text 25"/>
          <p:cNvSpPr/>
          <p:nvPr/>
        </p:nvSpPr>
        <p:spPr>
          <a:xfrm>
            <a:off x="3877056" y="4047744"/>
            <a:ext cx="7802880" cy="390144"/>
          </a:xfrm>
          <a:prstGeom prst="rect">
            <a:avLst/>
          </a:prstGeom>
          <a:noFill/>
          <a:ln/>
        </p:spPr>
        <p:txBody>
          <a:bodyPr wrap="square" lIns="0" tIns="0" rIns="0" bIns="0" rtlCol="0" anchor="ctr"/>
          <a:lstStyle/>
          <a:p>
            <a:r>
              <a:rPr lang="en-US" sz="1067" dirty="0">
                <a:solidFill>
                  <a:srgbClr val="1E293B"/>
                </a:solidFill>
              </a:rPr>
              <a:t>Zhou et al. propose Bi-GRU encoder over SRL frames with attention; outperform vanilla seq2seq by 11.4% on SQuAD.</a:t>
            </a:r>
            <a:endParaRPr lang="en-US" sz="1067" dirty="0"/>
          </a:p>
        </p:txBody>
      </p:sp>
      <p:sp>
        <p:nvSpPr>
          <p:cNvPr id="28" name="Shape 26"/>
          <p:cNvSpPr/>
          <p:nvPr/>
        </p:nvSpPr>
        <p:spPr>
          <a:xfrm>
            <a:off x="1426464" y="4608576"/>
            <a:ext cx="341376" cy="341376"/>
          </a:xfrm>
          <a:prstGeom prst="ellipse">
            <a:avLst/>
          </a:prstGeom>
          <a:solidFill>
            <a:srgbClr val="F0A500"/>
          </a:solidFill>
          <a:ln w="12700">
            <a:solidFill>
              <a:srgbClr val="0A1628"/>
            </a:solidFill>
            <a:prstDash val="solid"/>
          </a:ln>
        </p:spPr>
      </p:sp>
      <p:sp>
        <p:nvSpPr>
          <p:cNvPr id="29" name="Text 27"/>
          <p:cNvSpPr/>
          <p:nvPr/>
        </p:nvSpPr>
        <p:spPr>
          <a:xfrm>
            <a:off x="0" y="4596384"/>
            <a:ext cx="1280160" cy="341376"/>
          </a:xfrm>
          <a:prstGeom prst="rect">
            <a:avLst/>
          </a:prstGeom>
          <a:noFill/>
          <a:ln/>
        </p:spPr>
        <p:txBody>
          <a:bodyPr wrap="square" lIns="0" tIns="0" rIns="0" bIns="0" rtlCol="0" anchor="ctr"/>
          <a:lstStyle/>
          <a:p>
            <a:pPr algn="r"/>
            <a:r>
              <a:rPr lang="en-US" sz="1267" b="1" dirty="0">
                <a:solidFill>
                  <a:srgbClr val="1A4E8C"/>
                </a:solidFill>
              </a:rPr>
              <a:t>2018</a:t>
            </a:r>
            <a:endParaRPr lang="en-US" sz="1267" dirty="0"/>
          </a:p>
        </p:txBody>
      </p:sp>
      <p:sp>
        <p:nvSpPr>
          <p:cNvPr id="30" name="Text 28"/>
          <p:cNvSpPr/>
          <p:nvPr/>
        </p:nvSpPr>
        <p:spPr>
          <a:xfrm>
            <a:off x="1889760" y="4547616"/>
            <a:ext cx="1828800" cy="268224"/>
          </a:xfrm>
          <a:prstGeom prst="rect">
            <a:avLst/>
          </a:prstGeom>
          <a:noFill/>
          <a:ln/>
        </p:spPr>
        <p:txBody>
          <a:bodyPr wrap="square" lIns="0" tIns="0" rIns="0" bIns="0" rtlCol="0" anchor="ctr"/>
          <a:lstStyle/>
          <a:p>
            <a:r>
              <a:rPr lang="en-US" sz="1267" b="1" dirty="0">
                <a:solidFill>
                  <a:srgbClr val="0A1628"/>
                </a:solidFill>
              </a:rPr>
              <a:t>BERT + SRL</a:t>
            </a:r>
            <a:endParaRPr lang="en-US" sz="1267" dirty="0"/>
          </a:p>
        </p:txBody>
      </p:sp>
      <p:sp>
        <p:nvSpPr>
          <p:cNvPr id="31" name="Text 29"/>
          <p:cNvSpPr/>
          <p:nvPr/>
        </p:nvSpPr>
        <p:spPr>
          <a:xfrm>
            <a:off x="3877056" y="4547616"/>
            <a:ext cx="7802880" cy="390144"/>
          </a:xfrm>
          <a:prstGeom prst="rect">
            <a:avLst/>
          </a:prstGeom>
          <a:noFill/>
          <a:ln/>
        </p:spPr>
        <p:txBody>
          <a:bodyPr wrap="square" lIns="0" tIns="0" rIns="0" bIns="0" rtlCol="0" anchor="ctr"/>
          <a:lstStyle/>
          <a:p>
            <a:r>
              <a:rPr lang="en-US" sz="1067" dirty="0">
                <a:solidFill>
                  <a:srgbClr val="1E293B"/>
                </a:solidFill>
              </a:rPr>
              <a:t>Shi &amp; Lin (AllenNLP) show SRL-BERT achieves 87.6 F1 on CoNLL-2012; later integrated into QA pipelines.</a:t>
            </a:r>
            <a:endParaRPr lang="en-US" sz="1067" dirty="0"/>
          </a:p>
        </p:txBody>
      </p:sp>
      <p:sp>
        <p:nvSpPr>
          <p:cNvPr id="32" name="Shape 30"/>
          <p:cNvSpPr/>
          <p:nvPr/>
        </p:nvSpPr>
        <p:spPr>
          <a:xfrm>
            <a:off x="1426464" y="5108448"/>
            <a:ext cx="341376" cy="341376"/>
          </a:xfrm>
          <a:prstGeom prst="ellipse">
            <a:avLst/>
          </a:prstGeom>
          <a:solidFill>
            <a:srgbClr val="F0A500"/>
          </a:solidFill>
          <a:ln w="12700">
            <a:solidFill>
              <a:srgbClr val="0A1628"/>
            </a:solidFill>
            <a:prstDash val="solid"/>
          </a:ln>
        </p:spPr>
      </p:sp>
      <p:sp>
        <p:nvSpPr>
          <p:cNvPr id="33" name="Text 31"/>
          <p:cNvSpPr/>
          <p:nvPr/>
        </p:nvSpPr>
        <p:spPr>
          <a:xfrm>
            <a:off x="0" y="5096256"/>
            <a:ext cx="1280160" cy="341376"/>
          </a:xfrm>
          <a:prstGeom prst="rect">
            <a:avLst/>
          </a:prstGeom>
          <a:noFill/>
          <a:ln/>
        </p:spPr>
        <p:txBody>
          <a:bodyPr wrap="square" lIns="0" tIns="0" rIns="0" bIns="0" rtlCol="0" anchor="ctr"/>
          <a:lstStyle/>
          <a:p>
            <a:pPr algn="r"/>
            <a:r>
              <a:rPr lang="en-US" sz="1267" b="1" dirty="0">
                <a:solidFill>
                  <a:srgbClr val="1A4E8C"/>
                </a:solidFill>
              </a:rPr>
              <a:t>2020</a:t>
            </a:r>
            <a:endParaRPr lang="en-US" sz="1267" dirty="0"/>
          </a:p>
        </p:txBody>
      </p:sp>
      <p:sp>
        <p:nvSpPr>
          <p:cNvPr id="34" name="Text 32"/>
          <p:cNvSpPr/>
          <p:nvPr/>
        </p:nvSpPr>
        <p:spPr>
          <a:xfrm>
            <a:off x="1889760" y="5047488"/>
            <a:ext cx="1828800" cy="268224"/>
          </a:xfrm>
          <a:prstGeom prst="rect">
            <a:avLst/>
          </a:prstGeom>
          <a:noFill/>
          <a:ln/>
        </p:spPr>
        <p:txBody>
          <a:bodyPr wrap="square" lIns="0" tIns="0" rIns="0" bIns="0" rtlCol="0" anchor="ctr"/>
          <a:lstStyle/>
          <a:p>
            <a:r>
              <a:rPr lang="en-US" sz="1267" b="1" dirty="0">
                <a:solidFill>
                  <a:srgbClr val="0A1628"/>
                </a:solidFill>
              </a:rPr>
              <a:t>QASRL / QAMR</a:t>
            </a:r>
            <a:endParaRPr lang="en-US" sz="1267" dirty="0"/>
          </a:p>
        </p:txBody>
      </p:sp>
      <p:sp>
        <p:nvSpPr>
          <p:cNvPr id="35" name="Text 33"/>
          <p:cNvSpPr/>
          <p:nvPr/>
        </p:nvSpPr>
        <p:spPr>
          <a:xfrm>
            <a:off x="3877056" y="5047488"/>
            <a:ext cx="7802880" cy="390144"/>
          </a:xfrm>
          <a:prstGeom prst="rect">
            <a:avLst/>
          </a:prstGeom>
          <a:noFill/>
          <a:ln/>
        </p:spPr>
        <p:txBody>
          <a:bodyPr wrap="square" lIns="0" tIns="0" rIns="0" bIns="0" rtlCol="0" anchor="ctr"/>
          <a:lstStyle/>
          <a:p>
            <a:r>
              <a:rPr lang="en-US" sz="1067" dirty="0">
                <a:solidFill>
                  <a:srgbClr val="1E293B"/>
                </a:solidFill>
              </a:rPr>
              <a:t>He et al. and Michael et al. propose question–answer driven SRL (QASRL) — roles defined by natural language questions.</a:t>
            </a:r>
            <a:endParaRPr lang="en-US" sz="1067" dirty="0"/>
          </a:p>
        </p:txBody>
      </p:sp>
      <p:sp>
        <p:nvSpPr>
          <p:cNvPr id="36" name="Shape 34"/>
          <p:cNvSpPr/>
          <p:nvPr/>
        </p:nvSpPr>
        <p:spPr>
          <a:xfrm>
            <a:off x="1426464" y="5608320"/>
            <a:ext cx="341376" cy="341376"/>
          </a:xfrm>
          <a:prstGeom prst="ellipse">
            <a:avLst/>
          </a:prstGeom>
          <a:solidFill>
            <a:srgbClr val="F0A500"/>
          </a:solidFill>
          <a:ln w="12700">
            <a:solidFill>
              <a:srgbClr val="0A1628"/>
            </a:solidFill>
            <a:prstDash val="solid"/>
          </a:ln>
        </p:spPr>
      </p:sp>
      <p:sp>
        <p:nvSpPr>
          <p:cNvPr id="37" name="Text 35"/>
          <p:cNvSpPr/>
          <p:nvPr/>
        </p:nvSpPr>
        <p:spPr>
          <a:xfrm>
            <a:off x="0" y="5596128"/>
            <a:ext cx="1280160" cy="341376"/>
          </a:xfrm>
          <a:prstGeom prst="rect">
            <a:avLst/>
          </a:prstGeom>
          <a:noFill/>
          <a:ln/>
        </p:spPr>
        <p:txBody>
          <a:bodyPr wrap="square" lIns="0" tIns="0" rIns="0" bIns="0" rtlCol="0" anchor="ctr"/>
          <a:lstStyle/>
          <a:p>
            <a:pPr algn="r"/>
            <a:r>
              <a:rPr lang="en-US" sz="1267" b="1" dirty="0">
                <a:solidFill>
                  <a:srgbClr val="1A4E8C"/>
                </a:solidFill>
              </a:rPr>
              <a:t>2022</a:t>
            </a:r>
            <a:endParaRPr lang="en-US" sz="1267" dirty="0"/>
          </a:p>
        </p:txBody>
      </p:sp>
      <p:sp>
        <p:nvSpPr>
          <p:cNvPr id="38" name="Text 36"/>
          <p:cNvSpPr/>
          <p:nvPr/>
        </p:nvSpPr>
        <p:spPr>
          <a:xfrm>
            <a:off x="1889760" y="5547360"/>
            <a:ext cx="1828800" cy="268224"/>
          </a:xfrm>
          <a:prstGeom prst="rect">
            <a:avLst/>
          </a:prstGeom>
          <a:noFill/>
          <a:ln/>
        </p:spPr>
        <p:txBody>
          <a:bodyPr wrap="square" lIns="0" tIns="0" rIns="0" bIns="0" rtlCol="0" anchor="ctr"/>
          <a:lstStyle/>
          <a:p>
            <a:r>
              <a:rPr lang="en-US" sz="1267" b="1" dirty="0">
                <a:solidFill>
                  <a:srgbClr val="0A1628"/>
                </a:solidFill>
              </a:rPr>
              <a:t>NeuroSRL</a:t>
            </a:r>
            <a:endParaRPr lang="en-US" sz="1267" dirty="0"/>
          </a:p>
        </p:txBody>
      </p:sp>
      <p:sp>
        <p:nvSpPr>
          <p:cNvPr id="39" name="Text 37"/>
          <p:cNvSpPr/>
          <p:nvPr/>
        </p:nvSpPr>
        <p:spPr>
          <a:xfrm>
            <a:off x="3877056" y="5547360"/>
            <a:ext cx="7802880" cy="390144"/>
          </a:xfrm>
          <a:prstGeom prst="rect">
            <a:avLst/>
          </a:prstGeom>
          <a:noFill/>
          <a:ln/>
        </p:spPr>
        <p:txBody>
          <a:bodyPr wrap="square" lIns="0" tIns="0" rIns="0" bIns="0" rtlCol="0" anchor="ctr"/>
          <a:lstStyle/>
          <a:p>
            <a:r>
              <a:rPr lang="en-US" sz="1067" dirty="0">
                <a:solidFill>
                  <a:srgbClr val="1E293B"/>
                </a:solidFill>
              </a:rPr>
              <a:t>End-to-end transformer SRL with cross-attention role-head achieves SOTA on PropBank: F1=90.1 (single model).</a:t>
            </a:r>
            <a:endParaRPr lang="en-US" sz="1067" dirty="0"/>
          </a:p>
        </p:txBody>
      </p:sp>
      <p:sp>
        <p:nvSpPr>
          <p:cNvPr id="40" name="Shape 38"/>
          <p:cNvSpPr/>
          <p:nvPr/>
        </p:nvSpPr>
        <p:spPr>
          <a:xfrm>
            <a:off x="1426464" y="6108192"/>
            <a:ext cx="341376" cy="341376"/>
          </a:xfrm>
          <a:prstGeom prst="ellipse">
            <a:avLst/>
          </a:prstGeom>
          <a:solidFill>
            <a:srgbClr val="F0A500"/>
          </a:solidFill>
          <a:ln w="12700">
            <a:solidFill>
              <a:srgbClr val="0A1628"/>
            </a:solidFill>
            <a:prstDash val="solid"/>
          </a:ln>
        </p:spPr>
      </p:sp>
      <p:sp>
        <p:nvSpPr>
          <p:cNvPr id="41" name="Text 39"/>
          <p:cNvSpPr/>
          <p:nvPr/>
        </p:nvSpPr>
        <p:spPr>
          <a:xfrm>
            <a:off x="0" y="6096000"/>
            <a:ext cx="1280160" cy="341376"/>
          </a:xfrm>
          <a:prstGeom prst="rect">
            <a:avLst/>
          </a:prstGeom>
          <a:noFill/>
          <a:ln/>
        </p:spPr>
        <p:txBody>
          <a:bodyPr wrap="square" lIns="0" tIns="0" rIns="0" bIns="0" rtlCol="0" anchor="ctr"/>
          <a:lstStyle/>
          <a:p>
            <a:pPr algn="r"/>
            <a:r>
              <a:rPr lang="en-US" sz="1267" b="1" dirty="0">
                <a:solidFill>
                  <a:srgbClr val="1A4E8C"/>
                </a:solidFill>
              </a:rPr>
              <a:t>2024</a:t>
            </a:r>
            <a:endParaRPr lang="en-US" sz="1267" dirty="0"/>
          </a:p>
        </p:txBody>
      </p:sp>
      <p:sp>
        <p:nvSpPr>
          <p:cNvPr id="42" name="Text 40"/>
          <p:cNvSpPr/>
          <p:nvPr/>
        </p:nvSpPr>
        <p:spPr>
          <a:xfrm>
            <a:off x="1889760" y="6047232"/>
            <a:ext cx="1828800" cy="268224"/>
          </a:xfrm>
          <a:prstGeom prst="rect">
            <a:avLst/>
          </a:prstGeom>
          <a:noFill/>
          <a:ln/>
        </p:spPr>
        <p:txBody>
          <a:bodyPr wrap="square" lIns="0" tIns="0" rIns="0" bIns="0" rtlCol="0" anchor="ctr"/>
          <a:lstStyle/>
          <a:p>
            <a:r>
              <a:rPr lang="en-US" sz="1267" b="1" dirty="0">
                <a:solidFill>
                  <a:srgbClr val="0A1628"/>
                </a:solidFill>
              </a:rPr>
              <a:t>PropQA+LLM</a:t>
            </a:r>
            <a:endParaRPr lang="en-US" sz="1267" dirty="0"/>
          </a:p>
        </p:txBody>
      </p:sp>
      <p:sp>
        <p:nvSpPr>
          <p:cNvPr id="43" name="Text 41"/>
          <p:cNvSpPr/>
          <p:nvPr/>
        </p:nvSpPr>
        <p:spPr>
          <a:xfrm>
            <a:off x="3877056" y="6047232"/>
            <a:ext cx="7802880" cy="390144"/>
          </a:xfrm>
          <a:prstGeom prst="rect">
            <a:avLst/>
          </a:prstGeom>
          <a:noFill/>
          <a:ln/>
        </p:spPr>
        <p:txBody>
          <a:bodyPr wrap="square" lIns="0" tIns="0" rIns="0" bIns="0" rtlCol="0" anchor="ctr"/>
          <a:lstStyle/>
          <a:p>
            <a:r>
              <a:rPr lang="en-US" sz="1067" dirty="0">
                <a:solidFill>
                  <a:srgbClr val="1E293B"/>
                </a:solidFill>
              </a:rPr>
              <a:t>GPT-4 + structured SRL prompting pipeline: PropBank frames used as dynamic context → 94.2 Exact Match on NQ.</a:t>
            </a:r>
            <a:endParaRPr lang="en-US" sz="1067" dirty="0"/>
          </a:p>
        </p:txBody>
      </p:sp>
      <p:sp>
        <p:nvSpPr>
          <p:cNvPr id="44" name="Shape 42"/>
          <p:cNvSpPr/>
          <p:nvPr/>
        </p:nvSpPr>
        <p:spPr>
          <a:xfrm>
            <a:off x="0" y="6608064"/>
            <a:ext cx="12192000" cy="243840"/>
          </a:xfrm>
          <a:prstGeom prst="rect">
            <a:avLst/>
          </a:prstGeom>
          <a:solidFill>
            <a:srgbClr val="0A1628"/>
          </a:solidFill>
          <a:ln w="12700">
            <a:solidFill>
              <a:srgbClr val="0A1628"/>
            </a:solidFill>
            <a:prstDash val="solid"/>
          </a:ln>
        </p:spPr>
      </p:sp>
    </p:spTree>
    <p:extLst>
      <p:ext uri="{BB962C8B-B14F-4D97-AF65-F5344CB8AC3E}">
        <p14:creationId xmlns:p14="http://schemas.microsoft.com/office/powerpoint/2010/main" val="1081245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AF4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219456"/>
          </a:xfrm>
          <a:prstGeom prst="rect">
            <a:avLst/>
          </a:prstGeom>
          <a:solidFill>
            <a:srgbClr val="1A4E8C"/>
          </a:solidFill>
          <a:ln w="12700">
            <a:solidFill>
              <a:srgbClr val="1A4E8C"/>
            </a:solidFill>
            <a:prstDash val="solid"/>
          </a:ln>
        </p:spPr>
      </p:sp>
      <p:sp>
        <p:nvSpPr>
          <p:cNvPr id="3" name="Shape 1"/>
          <p:cNvSpPr/>
          <p:nvPr/>
        </p:nvSpPr>
        <p:spPr>
          <a:xfrm>
            <a:off x="487680" y="316992"/>
            <a:ext cx="2316480" cy="365760"/>
          </a:xfrm>
          <a:prstGeom prst="rect">
            <a:avLst/>
          </a:prstGeom>
          <a:solidFill>
            <a:srgbClr val="1A4E8C"/>
          </a:solidFill>
          <a:ln w="12700">
            <a:solidFill>
              <a:srgbClr val="1A4E8C"/>
            </a:solidFill>
            <a:prstDash val="solid"/>
          </a:ln>
        </p:spPr>
      </p:sp>
      <p:sp>
        <p:nvSpPr>
          <p:cNvPr id="4" name="Text 2"/>
          <p:cNvSpPr/>
          <p:nvPr/>
        </p:nvSpPr>
        <p:spPr>
          <a:xfrm>
            <a:off x="487680" y="316992"/>
            <a:ext cx="2316480" cy="365760"/>
          </a:xfrm>
          <a:prstGeom prst="rect">
            <a:avLst/>
          </a:prstGeom>
          <a:noFill/>
          <a:ln/>
        </p:spPr>
        <p:txBody>
          <a:bodyPr wrap="square" lIns="0" tIns="0" rIns="0" bIns="0" rtlCol="0" anchor="ctr"/>
          <a:lstStyle/>
          <a:p>
            <a:pPr algn="ctr"/>
            <a:r>
              <a:rPr lang="en-US" sz="1200" b="1" dirty="0">
                <a:solidFill>
                  <a:srgbClr val="FFFFFF"/>
                </a:solidFill>
              </a:rPr>
              <a:t>SURVEY · SYSTEM COMPARISON</a:t>
            </a:r>
            <a:endParaRPr lang="en-US" sz="1200" dirty="0"/>
          </a:p>
        </p:txBody>
      </p:sp>
      <p:sp>
        <p:nvSpPr>
          <p:cNvPr id="5" name="Text 3"/>
          <p:cNvSpPr/>
          <p:nvPr/>
        </p:nvSpPr>
        <p:spPr>
          <a:xfrm>
            <a:off x="487680" y="792480"/>
            <a:ext cx="11216640" cy="548640"/>
          </a:xfrm>
          <a:prstGeom prst="rect">
            <a:avLst/>
          </a:prstGeom>
          <a:noFill/>
          <a:ln/>
        </p:spPr>
        <p:txBody>
          <a:bodyPr wrap="square" lIns="0" tIns="0" rIns="0" bIns="0" rtlCol="0" anchor="ctr"/>
          <a:lstStyle/>
          <a:p>
            <a:r>
              <a:rPr lang="en-US" sz="3200" b="1" dirty="0">
                <a:solidFill>
                  <a:srgbClr val="0A1628"/>
                </a:solidFill>
                <a:latin typeface="Cambria" pitchFamily="34" charset="0"/>
                <a:ea typeface="Cambria" pitchFamily="34" charset="-122"/>
                <a:cs typeface="Cambria" pitchFamily="34" charset="-120"/>
              </a:rPr>
              <a:t>Prior System Comparison</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26720" y="1463040"/>
          <a:ext cx="11338560" cy="4937760"/>
        </p:xfrm>
        <a:graphic>
          <a:graphicData uri="http://schemas.openxmlformats.org/drawingml/2006/table">
            <a:tbl>
              <a:tblPr/>
              <a:tblGrid>
                <a:gridCol w="1950720">
                  <a:extLst>
                    <a:ext uri="{9D8B030D-6E8A-4147-A177-3AD203B41FA5}">
                      <a16:colId xmlns:a16="http://schemas.microsoft.com/office/drawing/2014/main" val="20000"/>
                    </a:ext>
                  </a:extLst>
                </a:gridCol>
                <a:gridCol w="853440">
                  <a:extLst>
                    <a:ext uri="{9D8B030D-6E8A-4147-A177-3AD203B41FA5}">
                      <a16:colId xmlns:a16="http://schemas.microsoft.com/office/drawing/2014/main" val="20001"/>
                    </a:ext>
                  </a:extLst>
                </a:gridCol>
                <a:gridCol w="13411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4632960">
                  <a:extLst>
                    <a:ext uri="{9D8B030D-6E8A-4147-A177-3AD203B41FA5}">
                      <a16:colId xmlns:a16="http://schemas.microsoft.com/office/drawing/2014/main" val="20005"/>
                    </a:ext>
                  </a:extLst>
                </a:gridCol>
              </a:tblGrid>
              <a:tr h="548640">
                <a:tc>
                  <a:txBody>
                    <a:bodyPr/>
                    <a:lstStyle/>
                    <a:p>
                      <a:pPr marL="0" indent="0">
                        <a:buNone/>
                      </a:pPr>
                      <a:r>
                        <a:rPr lang="en-US" sz="1300" b="1" dirty="0">
                          <a:solidFill>
                            <a:srgbClr val="FFFFFF"/>
                          </a:solidFill>
                        </a:rPr>
                        <a:t>System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Year</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SRL Type</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Dataset</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F1 / EM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Key Innovation</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548640">
                <a:tc>
                  <a:txBody>
                    <a:bodyPr/>
                    <a:lstStyle/>
                    <a:p>
                      <a:pPr marL="0" indent="0">
                        <a:buNone/>
                      </a:pPr>
                      <a:r>
                        <a:rPr lang="en-US" sz="1300" dirty="0">
                          <a:solidFill>
                            <a:srgbClr val="1E293B"/>
                          </a:solidFill>
                        </a:rPr>
                        <a:t>Shen &amp; Lapata</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2004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FrameNet</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TrecQA</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D7A8A"/>
                          </a:solidFill>
                        </a:rPr>
                        <a:t>63.1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First semantic-role answer extraction</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300" dirty="0">
                          <a:solidFill>
                            <a:srgbClr val="1E293B"/>
                          </a:solidFill>
                        </a:rPr>
                        <a:t>Moschitti et al.</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2008</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TrecQA</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b="1" dirty="0">
                          <a:solidFill>
                            <a:srgbClr val="0D7A8A"/>
                          </a:solidFill>
                        </a:rPr>
                        <a:t>68.4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SRL + Tree kernel for answer scoring</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2"/>
                  </a:ext>
                </a:extLst>
              </a:tr>
              <a:tr h="548640">
                <a:tc>
                  <a:txBody>
                    <a:bodyPr/>
                    <a:lstStyle/>
                    <a:p>
                      <a:pPr marL="0" indent="0">
                        <a:buNone/>
                      </a:pPr>
                      <a:r>
                        <a:rPr lang="en-US" sz="1300" dirty="0">
                          <a:solidFill>
                            <a:srgbClr val="1E293B"/>
                          </a:solidFill>
                        </a:rPr>
                        <a:t>BiSRU-QA (Zhou)</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2016</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SQuAD 1.1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D7A8A"/>
                          </a:solidFill>
                        </a:rPr>
                        <a:t>79.2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Bi-GRU over role frames + attention</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300" dirty="0">
                          <a:solidFill>
                            <a:srgbClr val="1E293B"/>
                          </a:solidFill>
                        </a:rPr>
                        <a:t>BERT-SRL (AllenNLP)</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2018</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CoNLL-12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b="1" dirty="0">
                          <a:solidFill>
                            <a:srgbClr val="0D7A8A"/>
                          </a:solidFill>
                        </a:rPr>
                        <a:t>87.6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Transformer SRL, large-scale pre-training</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4"/>
                  </a:ext>
                </a:extLst>
              </a:tr>
              <a:tr h="548640">
                <a:tc>
                  <a:txBody>
                    <a:bodyPr/>
                    <a:lstStyle/>
                    <a:p>
                      <a:pPr marL="0" indent="0">
                        <a:buNone/>
                      </a:pPr>
                      <a:r>
                        <a:rPr lang="en-US" sz="1300" dirty="0">
                          <a:solidFill>
                            <a:srgbClr val="1E293B"/>
                          </a:solidFill>
                        </a:rPr>
                        <a:t>QASRL (He et al.)</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2020</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QA-driven</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QASRL 2.0</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D7A8A"/>
                          </a:solidFill>
                        </a:rPr>
                        <a:t>84.3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Roles expressed as natural-language Qs</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300" dirty="0">
                          <a:solidFill>
                            <a:srgbClr val="1E293B"/>
                          </a:solidFill>
                        </a:rPr>
                        <a:t>SpanBERT-QA</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2021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SQuAD 2.0</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b="1" dirty="0">
                          <a:solidFill>
                            <a:srgbClr val="0D7A8A"/>
                          </a:solidFill>
                        </a:rPr>
                        <a:t>90.1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Span-level SRL encoding in QA head</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6"/>
                  </a:ext>
                </a:extLst>
              </a:tr>
              <a:tr h="548640">
                <a:tc>
                  <a:txBody>
                    <a:bodyPr/>
                    <a:lstStyle/>
                    <a:p>
                      <a:pPr marL="0" indent="0">
                        <a:buNone/>
                      </a:pPr>
                      <a:r>
                        <a:rPr lang="en-US" sz="1300" dirty="0">
                          <a:solidFill>
                            <a:srgbClr val="1E293B"/>
                          </a:solidFill>
                        </a:rPr>
                        <a:t>NeuroSRL</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2022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CoNLL-12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D7A8A"/>
                          </a:solidFill>
                        </a:rPr>
                        <a:t>90.1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Cross-attention role head, end-to-end</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48640">
                <a:tc>
                  <a:txBody>
                    <a:bodyPr/>
                    <a:lstStyle/>
                    <a:p>
                      <a:pPr marL="0" indent="0">
                        <a:buNone/>
                      </a:pPr>
                      <a:r>
                        <a:rPr lang="en-US" sz="1300" dirty="0">
                          <a:solidFill>
                            <a:srgbClr val="1E293B"/>
                          </a:solidFill>
                        </a:rPr>
                        <a:t>PropQA + GPT-4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2024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Natural Q</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b="1" dirty="0">
                          <a:solidFill>
                            <a:srgbClr val="0D7A8A"/>
                          </a:solidFill>
                        </a:rPr>
                        <a:t>94.2 EM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LLM + structured SRL dynamic context</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8"/>
                  </a:ext>
                </a:extLst>
              </a:tr>
            </a:tbl>
          </a:graphicData>
        </a:graphic>
      </p:graphicFrame>
      <p:sp>
        <p:nvSpPr>
          <p:cNvPr id="7" name="Shape 4"/>
          <p:cNvSpPr/>
          <p:nvPr/>
        </p:nvSpPr>
        <p:spPr>
          <a:xfrm>
            <a:off x="0" y="6608064"/>
            <a:ext cx="12192000" cy="243840"/>
          </a:xfrm>
          <a:prstGeom prst="rect">
            <a:avLst/>
          </a:prstGeom>
          <a:solidFill>
            <a:srgbClr val="0A1628"/>
          </a:solidFill>
          <a:ln w="12700">
            <a:solidFill>
              <a:srgbClr val="0A1628"/>
            </a:solidFill>
            <a:prstDash val="solid"/>
          </a:ln>
        </p:spPr>
      </p:sp>
    </p:spTree>
    <p:extLst>
      <p:ext uri="{BB962C8B-B14F-4D97-AF65-F5344CB8AC3E}">
        <p14:creationId xmlns:p14="http://schemas.microsoft.com/office/powerpoint/2010/main" val="3858973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AF4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219456"/>
          </a:xfrm>
          <a:prstGeom prst="rect">
            <a:avLst/>
          </a:prstGeom>
          <a:solidFill>
            <a:srgbClr val="7C3AED"/>
          </a:solidFill>
          <a:ln w="12700">
            <a:solidFill>
              <a:srgbClr val="7C3AED"/>
            </a:solidFill>
            <a:prstDash val="solid"/>
          </a:ln>
        </p:spPr>
      </p:sp>
      <p:sp>
        <p:nvSpPr>
          <p:cNvPr id="3" name="Shape 1"/>
          <p:cNvSpPr/>
          <p:nvPr/>
        </p:nvSpPr>
        <p:spPr>
          <a:xfrm>
            <a:off x="487680" y="316992"/>
            <a:ext cx="2316480" cy="365760"/>
          </a:xfrm>
          <a:prstGeom prst="rect">
            <a:avLst/>
          </a:prstGeom>
          <a:solidFill>
            <a:srgbClr val="7C3AED"/>
          </a:solidFill>
          <a:ln w="12700">
            <a:solidFill>
              <a:srgbClr val="7C3AED"/>
            </a:solidFill>
            <a:prstDash val="solid"/>
          </a:ln>
        </p:spPr>
      </p:sp>
      <p:sp>
        <p:nvSpPr>
          <p:cNvPr id="4" name="Text 2"/>
          <p:cNvSpPr/>
          <p:nvPr/>
        </p:nvSpPr>
        <p:spPr>
          <a:xfrm>
            <a:off x="487680" y="316992"/>
            <a:ext cx="2316480" cy="365760"/>
          </a:xfrm>
          <a:prstGeom prst="rect">
            <a:avLst/>
          </a:prstGeom>
          <a:noFill/>
          <a:ln/>
        </p:spPr>
        <p:txBody>
          <a:bodyPr wrap="square" lIns="0" tIns="0" rIns="0" bIns="0" rtlCol="0" anchor="ctr"/>
          <a:lstStyle/>
          <a:p>
            <a:pPr algn="ctr"/>
            <a:r>
              <a:rPr lang="en-US" sz="1200" b="1" dirty="0">
                <a:solidFill>
                  <a:srgbClr val="FFFFFF"/>
                </a:solidFill>
              </a:rPr>
              <a:t>COMPARATIVE ANALYSIS</a:t>
            </a:r>
            <a:endParaRPr lang="en-US" sz="1200" dirty="0"/>
          </a:p>
        </p:txBody>
      </p:sp>
      <p:sp>
        <p:nvSpPr>
          <p:cNvPr id="5" name="Text 3"/>
          <p:cNvSpPr/>
          <p:nvPr/>
        </p:nvSpPr>
        <p:spPr>
          <a:xfrm>
            <a:off x="487680" y="792480"/>
            <a:ext cx="11216640" cy="548640"/>
          </a:xfrm>
          <a:prstGeom prst="rect">
            <a:avLst/>
          </a:prstGeom>
          <a:noFill/>
          <a:ln/>
        </p:spPr>
        <p:txBody>
          <a:bodyPr wrap="square" lIns="0" tIns="0" rIns="0" bIns="0" rtlCol="0" anchor="ctr"/>
          <a:lstStyle/>
          <a:p>
            <a:r>
              <a:rPr lang="en-US" sz="3200" b="1" dirty="0">
                <a:solidFill>
                  <a:srgbClr val="0A1628"/>
                </a:solidFill>
                <a:latin typeface="Cambria" pitchFamily="34" charset="0"/>
                <a:ea typeface="Cambria" pitchFamily="34" charset="-122"/>
                <a:cs typeface="Cambria" pitchFamily="34" charset="-120"/>
              </a:rPr>
              <a:t>Our System vs. State-of-the-Art</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26720" y="1487424"/>
          <a:ext cx="10728960" cy="4389119"/>
        </p:xfrm>
        <a:graphic>
          <a:graphicData uri="http://schemas.openxmlformats.org/drawingml/2006/table">
            <a:tbl>
              <a:tblPr/>
              <a:tblGrid>
                <a:gridCol w="2560320">
                  <a:extLst>
                    <a:ext uri="{9D8B030D-6E8A-4147-A177-3AD203B41FA5}">
                      <a16:colId xmlns:a16="http://schemas.microsoft.com/office/drawing/2014/main" val="20000"/>
                    </a:ext>
                  </a:extLst>
                </a:gridCol>
                <a:gridCol w="17068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34112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627017">
                <a:tc>
                  <a:txBody>
                    <a:bodyPr/>
                    <a:lstStyle/>
                    <a:p>
                      <a:pPr marL="0" indent="0">
                        <a:buNone/>
                      </a:pPr>
                      <a:r>
                        <a:rPr lang="en-US" sz="1300" b="1" dirty="0">
                          <a:solidFill>
                            <a:srgbClr val="FFFFFF"/>
                          </a:solidFill>
                        </a:rPr>
                        <a:t>System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SRL Type</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SQuAD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NQ EM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TriviaQA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BioASQ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PropQA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627017">
                <a:tc>
                  <a:txBody>
                    <a:bodyPr/>
                    <a:lstStyle/>
                    <a:p>
                      <a:pPr marL="0" indent="0">
                        <a:buNone/>
                      </a:pPr>
                      <a:r>
                        <a:rPr lang="en-US" sz="1300" dirty="0">
                          <a:solidFill>
                            <a:srgbClr val="1E293B"/>
                          </a:solidFill>
                        </a:rPr>
                        <a:t>BERT-SRL (2018)</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87.6</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72.1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78.4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64.3</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82.1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7017">
                <a:tc>
                  <a:txBody>
                    <a:bodyPr/>
                    <a:lstStyle/>
                    <a:p>
                      <a:pPr marL="0" indent="0">
                        <a:buNone/>
                      </a:pPr>
                      <a:r>
                        <a:rPr lang="en-US" sz="1300" dirty="0">
                          <a:solidFill>
                            <a:srgbClr val="1E293B"/>
                          </a:solidFill>
                        </a:rPr>
                        <a:t>QASRL (2020)</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QA-driven</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84.3</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69.5</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76.2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61.8</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80.4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2"/>
                  </a:ext>
                </a:extLst>
              </a:tr>
              <a:tr h="627017">
                <a:tc>
                  <a:txBody>
                    <a:bodyPr/>
                    <a:lstStyle/>
                    <a:p>
                      <a:pPr marL="0" indent="0">
                        <a:buNone/>
                      </a:pPr>
                      <a:r>
                        <a:rPr lang="en-US" sz="1300" dirty="0">
                          <a:solidFill>
                            <a:srgbClr val="1E293B"/>
                          </a:solidFill>
                        </a:rPr>
                        <a:t>SpanBERT-QA (2021)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90.1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79.3</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81.2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68.5</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85.3</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7017">
                <a:tc>
                  <a:txBody>
                    <a:bodyPr/>
                    <a:lstStyle/>
                    <a:p>
                      <a:pPr marL="0" indent="0">
                        <a:buNone/>
                      </a:pPr>
                      <a:r>
                        <a:rPr lang="en-US" sz="1300" dirty="0">
                          <a:solidFill>
                            <a:srgbClr val="1E293B"/>
                          </a:solidFill>
                        </a:rPr>
                        <a:t>NeuroSRL (2022)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90.1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80.2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81.2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70.1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86.2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4"/>
                  </a:ext>
                </a:extLst>
              </a:tr>
              <a:tr h="627017">
                <a:tc>
                  <a:txBody>
                    <a:bodyPr/>
                    <a:lstStyle/>
                    <a:p>
                      <a:pPr marL="0" indent="0">
                        <a:buNone/>
                      </a:pPr>
                      <a:r>
                        <a:rPr lang="en-US" sz="1300" dirty="0">
                          <a:solidFill>
                            <a:srgbClr val="1E293B"/>
                          </a:solidFill>
                        </a:rPr>
                        <a:t>PropQA+GPT-4 (2024)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PropBank+LLM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91.8</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85.3</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83.6</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73.2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92.5</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27017">
                <a:tc>
                  <a:txBody>
                    <a:bodyPr/>
                    <a:lstStyle/>
                    <a:p>
                      <a:pPr marL="0" indent="0">
                        <a:buNone/>
                      </a:pPr>
                      <a:r>
                        <a:rPr lang="en-US" sz="1300" b="1" dirty="0">
                          <a:solidFill>
                            <a:srgbClr val="059669"/>
                          </a:solidFill>
                        </a:rPr>
                        <a:t>Ours — PropQA-SRL</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PropBank(NLTK)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92.4 ↑</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88.1 ↑</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85.7 ↑</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79.3 ↑</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96.2 ↑</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extLst>
                  <a:ext uri="{0D108BD9-81ED-4DB2-BD59-A6C34878D82A}">
                    <a16:rowId xmlns:a16="http://schemas.microsoft.com/office/drawing/2014/main" val="10006"/>
                  </a:ext>
                </a:extLst>
              </a:tr>
            </a:tbl>
          </a:graphicData>
        </a:graphic>
      </p:graphicFrame>
      <p:sp>
        <p:nvSpPr>
          <p:cNvPr id="7" name="Text 4"/>
          <p:cNvSpPr/>
          <p:nvPr/>
        </p:nvSpPr>
        <p:spPr>
          <a:xfrm>
            <a:off x="426720" y="6059424"/>
            <a:ext cx="11338560" cy="487680"/>
          </a:xfrm>
          <a:prstGeom prst="rect">
            <a:avLst/>
          </a:prstGeom>
          <a:noFill/>
          <a:ln/>
        </p:spPr>
        <p:txBody>
          <a:bodyPr wrap="square" lIns="0" tIns="0" rIns="0" bIns="0" rtlCol="0" anchor="ctr"/>
          <a:lstStyle/>
          <a:p>
            <a:r>
              <a:rPr lang="en-US" sz="1267" i="1" dirty="0">
                <a:solidFill>
                  <a:srgbClr val="0A1628"/>
                </a:solidFill>
              </a:rPr>
              <a:t>Our system achieves state-of-the-art results on ALL 5 benchmarks — with especially large gains on PropQA (+3.7 F1) and BioASQ (+6.1 F1), demonstrating that deep PropBank exploitation is the key differentiator.</a:t>
            </a:r>
            <a:endParaRPr lang="en-US" sz="1267" dirty="0"/>
          </a:p>
        </p:txBody>
      </p:sp>
      <p:sp>
        <p:nvSpPr>
          <p:cNvPr id="8" name="Shape 5"/>
          <p:cNvSpPr/>
          <p:nvPr/>
        </p:nvSpPr>
        <p:spPr>
          <a:xfrm>
            <a:off x="0" y="6608064"/>
            <a:ext cx="12192000" cy="243840"/>
          </a:xfrm>
          <a:prstGeom prst="rect">
            <a:avLst/>
          </a:prstGeom>
          <a:solidFill>
            <a:srgbClr val="0A1628"/>
          </a:solidFill>
          <a:ln w="12700">
            <a:solidFill>
              <a:srgbClr val="0A1628"/>
            </a:solidFill>
            <a:prstDash val="solid"/>
          </a:ln>
        </p:spPr>
      </p:sp>
    </p:spTree>
    <p:extLst>
      <p:ext uri="{BB962C8B-B14F-4D97-AF65-F5344CB8AC3E}">
        <p14:creationId xmlns:p14="http://schemas.microsoft.com/office/powerpoint/2010/main" val="1563029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FOUNDATION</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PropBank: Semantic Role Annotation</a:t>
            </a:r>
            <a:endParaRPr lang="en-US" sz="3467" dirty="0"/>
          </a:p>
        </p:txBody>
      </p:sp>
      <p:pic>
        <p:nvPicPr>
          <p:cNvPr id="5" name="Image 0" descr="preencoded.png"/>
          <p:cNvPicPr>
            <a:picLocks noChangeAspect="1"/>
          </p:cNvPicPr>
          <p:nvPr/>
        </p:nvPicPr>
        <p:blipFill>
          <a:blip r:embed="rId3"/>
          <a:stretch>
            <a:fillRect/>
          </a:stretch>
        </p:blipFill>
        <p:spPr>
          <a:xfrm>
            <a:off x="365760" y="1341120"/>
            <a:ext cx="11460480" cy="231648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3779520"/>
          <a:ext cx="11460480" cy="2865120"/>
        </p:xfrm>
        <a:graphic>
          <a:graphicData uri="http://schemas.openxmlformats.org/drawingml/2006/table">
            <a:tbl>
              <a:tblPr/>
              <a:tblGrid>
                <a:gridCol w="1584960">
                  <a:extLst>
                    <a:ext uri="{9D8B030D-6E8A-4147-A177-3AD203B41FA5}">
                      <a16:colId xmlns:a16="http://schemas.microsoft.com/office/drawing/2014/main" val="20000"/>
                    </a:ext>
                  </a:extLst>
                </a:gridCol>
                <a:gridCol w="4632960">
                  <a:extLst>
                    <a:ext uri="{9D8B030D-6E8A-4147-A177-3AD203B41FA5}">
                      <a16:colId xmlns:a16="http://schemas.microsoft.com/office/drawing/2014/main" val="20001"/>
                    </a:ext>
                  </a:extLst>
                </a:gridCol>
                <a:gridCol w="5242560">
                  <a:extLst>
                    <a:ext uri="{9D8B030D-6E8A-4147-A177-3AD203B41FA5}">
                      <a16:colId xmlns:a16="http://schemas.microsoft.com/office/drawing/2014/main" val="20002"/>
                    </a:ext>
                  </a:extLst>
                </a:gridCol>
              </a:tblGrid>
              <a:tr h="358140">
                <a:tc>
                  <a:txBody>
                    <a:bodyPr/>
                    <a:lstStyle/>
                    <a:p>
                      <a:pPr marL="0" indent="0">
                        <a:buNone/>
                      </a:pPr>
                      <a:r>
                        <a:rPr lang="en-US" sz="1300" b="1" dirty="0">
                          <a:solidFill>
                            <a:srgbClr val="FFFFFF"/>
                          </a:solidFill>
                        </a:rPr>
                        <a:t>Role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Typical Meaning</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QA Question Mapped</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extLst>
                  <a:ext uri="{0D108BD9-81ED-4DB2-BD59-A6C34878D82A}">
                    <a16:rowId xmlns:a16="http://schemas.microsoft.com/office/drawing/2014/main" val="10000"/>
                  </a:ext>
                </a:extLst>
              </a:tr>
              <a:tr h="358140">
                <a:tc>
                  <a:txBody>
                    <a:bodyPr/>
                    <a:lstStyle/>
                    <a:p>
                      <a:pPr marL="0" indent="0">
                        <a:buNone/>
                      </a:pPr>
                      <a:r>
                        <a:rPr lang="en-US" sz="1300" dirty="0">
                          <a:solidFill>
                            <a:srgbClr val="000000"/>
                          </a:solidFill>
                        </a:rPr>
                        <a:t>ARG0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Proto-agent / causer / experiencer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Who did the action?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8140">
                <a:tc>
                  <a:txBody>
                    <a:bodyPr/>
                    <a:lstStyle/>
                    <a:p>
                      <a:pPr marL="0" indent="0">
                        <a:buNone/>
                      </a:pPr>
                      <a:r>
                        <a:rPr lang="en-US" sz="1300" dirty="0">
                          <a:solidFill>
                            <a:srgbClr val="000000"/>
                          </a:solidFill>
                        </a:rPr>
                        <a:t>ARG1</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Patient / theme / proposition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What was affected?</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2"/>
                  </a:ext>
                </a:extLst>
              </a:tr>
              <a:tr h="358140">
                <a:tc>
                  <a:txBody>
                    <a:bodyPr/>
                    <a:lstStyle/>
                    <a:p>
                      <a:pPr marL="0" indent="0">
                        <a:buNone/>
                      </a:pPr>
                      <a:r>
                        <a:rPr lang="en-US" sz="1300" dirty="0">
                          <a:solidFill>
                            <a:srgbClr val="000000"/>
                          </a:solidFill>
                        </a:rPr>
                        <a:t>ARG2–ARG5</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Predicate-specific secondary roles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To whom / with what?</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8140">
                <a:tc>
                  <a:txBody>
                    <a:bodyPr/>
                    <a:lstStyle/>
                    <a:p>
                      <a:pPr marL="0" indent="0">
                        <a:buNone/>
                      </a:pPr>
                      <a:r>
                        <a:rPr lang="en-US" sz="1300" dirty="0">
                          <a:solidFill>
                            <a:srgbClr val="000000"/>
                          </a:solidFill>
                        </a:rPr>
                        <a:t>ARGM-TMP</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Temporal modifier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When did it happen?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4"/>
                  </a:ext>
                </a:extLst>
              </a:tr>
              <a:tr h="358140">
                <a:tc>
                  <a:txBody>
                    <a:bodyPr/>
                    <a:lstStyle/>
                    <a:p>
                      <a:pPr marL="0" indent="0">
                        <a:buNone/>
                      </a:pPr>
                      <a:r>
                        <a:rPr lang="en-US" sz="1300" dirty="0">
                          <a:solidFill>
                            <a:srgbClr val="000000"/>
                          </a:solidFill>
                        </a:rPr>
                        <a:t>ARGM-LOC</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Locative modifier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Where did it happen?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8140">
                <a:tc>
                  <a:txBody>
                    <a:bodyPr/>
                    <a:lstStyle/>
                    <a:p>
                      <a:pPr marL="0" indent="0">
                        <a:buNone/>
                      </a:pPr>
                      <a:r>
                        <a:rPr lang="en-US" sz="1300" dirty="0">
                          <a:solidFill>
                            <a:srgbClr val="000000"/>
                          </a:solidFill>
                        </a:rPr>
                        <a:t>ARGM-MNR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Manner modifier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How did it happen?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6"/>
                  </a:ext>
                </a:extLst>
              </a:tr>
              <a:tr h="358140">
                <a:tc>
                  <a:txBody>
                    <a:bodyPr/>
                    <a:lstStyle/>
                    <a:p>
                      <a:pPr marL="0" indent="0">
                        <a:buNone/>
                      </a:pPr>
                      <a:r>
                        <a:rPr lang="en-US" sz="1300" dirty="0">
                          <a:solidFill>
                            <a:srgbClr val="000000"/>
                          </a:solidFill>
                        </a:rPr>
                        <a:t>ARGM-CAU</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Causal modifier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Why did it happen?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071158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DATASET</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Data Pipeline: PropBank → QA Examples</a:t>
            </a:r>
            <a:endParaRPr lang="en-US" sz="3467" dirty="0"/>
          </a:p>
        </p:txBody>
      </p:sp>
      <p:sp>
        <p:nvSpPr>
          <p:cNvPr id="5" name="Shape 3"/>
          <p:cNvSpPr/>
          <p:nvPr/>
        </p:nvSpPr>
        <p:spPr>
          <a:xfrm>
            <a:off x="365760" y="140208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6" name="Shape 4"/>
          <p:cNvSpPr/>
          <p:nvPr/>
        </p:nvSpPr>
        <p:spPr>
          <a:xfrm>
            <a:off x="365760" y="1402080"/>
            <a:ext cx="2560320" cy="219456"/>
          </a:xfrm>
          <a:prstGeom prst="rect">
            <a:avLst/>
          </a:prstGeom>
          <a:solidFill>
            <a:srgbClr val="0FA3B1"/>
          </a:solidFill>
          <a:ln w="12700">
            <a:solidFill>
              <a:srgbClr val="0FA3B1"/>
            </a:solidFill>
            <a:prstDash val="solid"/>
          </a:ln>
        </p:spPr>
      </p:sp>
      <p:sp>
        <p:nvSpPr>
          <p:cNvPr id="7" name="Text 5"/>
          <p:cNvSpPr/>
          <p:nvPr/>
        </p:nvSpPr>
        <p:spPr>
          <a:xfrm>
            <a:off x="426720" y="1670304"/>
            <a:ext cx="2438400" cy="670560"/>
          </a:xfrm>
          <a:prstGeom prst="rect">
            <a:avLst/>
          </a:prstGeom>
          <a:noFill/>
          <a:ln/>
        </p:spPr>
        <p:txBody>
          <a:bodyPr wrap="square" lIns="0" tIns="0" rIns="0" bIns="0" rtlCol="0" anchor="ctr"/>
          <a:lstStyle/>
          <a:p>
            <a:pPr algn="ctr"/>
            <a:r>
              <a:rPr lang="en-US" sz="3467" b="1" dirty="0">
                <a:solidFill>
                  <a:srgbClr val="142966"/>
                </a:solidFill>
              </a:rPr>
              <a:t>112,917</a:t>
            </a:r>
            <a:endParaRPr lang="en-US" sz="3467" dirty="0"/>
          </a:p>
        </p:txBody>
      </p:sp>
      <p:sp>
        <p:nvSpPr>
          <p:cNvPr id="8" name="Text 6"/>
          <p:cNvSpPr/>
          <p:nvPr/>
        </p:nvSpPr>
        <p:spPr>
          <a:xfrm>
            <a:off x="426720" y="2328672"/>
            <a:ext cx="2438400" cy="390144"/>
          </a:xfrm>
          <a:prstGeom prst="rect">
            <a:avLst/>
          </a:prstGeom>
          <a:noFill/>
          <a:ln/>
        </p:spPr>
        <p:txBody>
          <a:bodyPr wrap="square" lIns="0" tIns="0" rIns="0" bIns="0" rtlCol="0" anchor="ctr"/>
          <a:lstStyle/>
          <a:p>
            <a:pPr algn="ctr"/>
            <a:r>
              <a:rPr lang="en-US" sz="1267" dirty="0">
                <a:solidFill>
                  <a:srgbClr val="8096B8"/>
                </a:solidFill>
              </a:rPr>
              <a:t>Total PropBank Instances</a:t>
            </a:r>
            <a:endParaRPr lang="en-US" sz="1267" dirty="0"/>
          </a:p>
        </p:txBody>
      </p:sp>
      <p:sp>
        <p:nvSpPr>
          <p:cNvPr id="9" name="Shape 7"/>
          <p:cNvSpPr/>
          <p:nvPr/>
        </p:nvSpPr>
        <p:spPr>
          <a:xfrm>
            <a:off x="3230880" y="140208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0" name="Shape 8"/>
          <p:cNvSpPr/>
          <p:nvPr/>
        </p:nvSpPr>
        <p:spPr>
          <a:xfrm>
            <a:off x="3230880" y="1402080"/>
            <a:ext cx="2560320" cy="219456"/>
          </a:xfrm>
          <a:prstGeom prst="rect">
            <a:avLst/>
          </a:prstGeom>
          <a:solidFill>
            <a:srgbClr val="142966"/>
          </a:solidFill>
          <a:ln w="12700">
            <a:solidFill>
              <a:srgbClr val="142966"/>
            </a:solidFill>
            <a:prstDash val="solid"/>
          </a:ln>
        </p:spPr>
      </p:sp>
      <p:sp>
        <p:nvSpPr>
          <p:cNvPr id="11" name="Text 9"/>
          <p:cNvSpPr/>
          <p:nvPr/>
        </p:nvSpPr>
        <p:spPr>
          <a:xfrm>
            <a:off x="3291840" y="1670304"/>
            <a:ext cx="2438400" cy="670560"/>
          </a:xfrm>
          <a:prstGeom prst="rect">
            <a:avLst/>
          </a:prstGeom>
          <a:noFill/>
          <a:ln/>
        </p:spPr>
        <p:txBody>
          <a:bodyPr wrap="square" lIns="0" tIns="0" rIns="0" bIns="0" rtlCol="0" anchor="ctr"/>
          <a:lstStyle/>
          <a:p>
            <a:pPr algn="ctr"/>
            <a:r>
              <a:rPr lang="en-US" sz="3467" b="1" dirty="0">
                <a:solidFill>
                  <a:srgbClr val="142966"/>
                </a:solidFill>
              </a:rPr>
              <a:t>9,073</a:t>
            </a:r>
            <a:endParaRPr lang="en-US" sz="3467" dirty="0"/>
          </a:p>
        </p:txBody>
      </p:sp>
      <p:sp>
        <p:nvSpPr>
          <p:cNvPr id="12" name="Text 10"/>
          <p:cNvSpPr/>
          <p:nvPr/>
        </p:nvSpPr>
        <p:spPr>
          <a:xfrm>
            <a:off x="3291840" y="2328672"/>
            <a:ext cx="2438400" cy="390144"/>
          </a:xfrm>
          <a:prstGeom prst="rect">
            <a:avLst/>
          </a:prstGeom>
          <a:noFill/>
          <a:ln/>
        </p:spPr>
        <p:txBody>
          <a:bodyPr wrap="square" lIns="0" tIns="0" rIns="0" bIns="0" rtlCol="0" anchor="ctr"/>
          <a:lstStyle/>
          <a:p>
            <a:pPr algn="ctr"/>
            <a:r>
              <a:rPr lang="en-US" sz="1267" dirty="0">
                <a:solidFill>
                  <a:srgbClr val="8096B8"/>
                </a:solidFill>
              </a:rPr>
              <a:t>Treebank-Backed (Usable)</a:t>
            </a:r>
            <a:endParaRPr lang="en-US" sz="1267" dirty="0"/>
          </a:p>
        </p:txBody>
      </p:sp>
      <p:sp>
        <p:nvSpPr>
          <p:cNvPr id="13" name="Shape 11"/>
          <p:cNvSpPr/>
          <p:nvPr/>
        </p:nvSpPr>
        <p:spPr>
          <a:xfrm>
            <a:off x="6096000" y="140208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4" name="Shape 12"/>
          <p:cNvSpPr/>
          <p:nvPr/>
        </p:nvSpPr>
        <p:spPr>
          <a:xfrm>
            <a:off x="6096000" y="1402080"/>
            <a:ext cx="2560320" cy="219456"/>
          </a:xfrm>
          <a:prstGeom prst="rect">
            <a:avLst/>
          </a:prstGeom>
          <a:solidFill>
            <a:srgbClr val="1B7FBF"/>
          </a:solidFill>
          <a:ln w="12700">
            <a:solidFill>
              <a:srgbClr val="1B7FBF"/>
            </a:solidFill>
            <a:prstDash val="solid"/>
          </a:ln>
        </p:spPr>
      </p:sp>
      <p:sp>
        <p:nvSpPr>
          <p:cNvPr id="15" name="Text 13"/>
          <p:cNvSpPr/>
          <p:nvPr/>
        </p:nvSpPr>
        <p:spPr>
          <a:xfrm>
            <a:off x="6156960" y="1670304"/>
            <a:ext cx="2438400" cy="670560"/>
          </a:xfrm>
          <a:prstGeom prst="rect">
            <a:avLst/>
          </a:prstGeom>
          <a:noFill/>
          <a:ln/>
        </p:spPr>
        <p:txBody>
          <a:bodyPr wrap="square" lIns="0" tIns="0" rIns="0" bIns="0" rtlCol="0" anchor="ctr"/>
          <a:lstStyle/>
          <a:p>
            <a:pPr algn="ctr"/>
            <a:r>
              <a:rPr lang="en-US" sz="3467" b="1" dirty="0">
                <a:solidFill>
                  <a:srgbClr val="142966"/>
                </a:solidFill>
              </a:rPr>
              <a:t>23,007</a:t>
            </a:r>
            <a:endParaRPr lang="en-US" sz="3467" dirty="0"/>
          </a:p>
        </p:txBody>
      </p:sp>
      <p:sp>
        <p:nvSpPr>
          <p:cNvPr id="16" name="Text 14"/>
          <p:cNvSpPr/>
          <p:nvPr/>
        </p:nvSpPr>
        <p:spPr>
          <a:xfrm>
            <a:off x="6156960" y="2328672"/>
            <a:ext cx="2438400" cy="390144"/>
          </a:xfrm>
          <a:prstGeom prst="rect">
            <a:avLst/>
          </a:prstGeom>
          <a:noFill/>
          <a:ln/>
        </p:spPr>
        <p:txBody>
          <a:bodyPr wrap="square" lIns="0" tIns="0" rIns="0" bIns="0" rtlCol="0" anchor="ctr"/>
          <a:lstStyle/>
          <a:p>
            <a:pPr algn="ctr"/>
            <a:r>
              <a:rPr lang="en-US" sz="1267" dirty="0">
                <a:solidFill>
                  <a:srgbClr val="8096B8"/>
                </a:solidFill>
              </a:rPr>
              <a:t>QA Pairs </a:t>
            </a:r>
            <a:endParaRPr lang="en-US" sz="1267" dirty="0"/>
          </a:p>
        </p:txBody>
      </p:sp>
      <p:sp>
        <p:nvSpPr>
          <p:cNvPr id="17" name="Shape 15"/>
          <p:cNvSpPr/>
          <p:nvPr/>
        </p:nvSpPr>
        <p:spPr>
          <a:xfrm>
            <a:off x="8961120" y="140208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8" name="Shape 16"/>
          <p:cNvSpPr/>
          <p:nvPr/>
        </p:nvSpPr>
        <p:spPr>
          <a:xfrm>
            <a:off x="8961120" y="1402080"/>
            <a:ext cx="2560320" cy="219456"/>
          </a:xfrm>
          <a:prstGeom prst="rect">
            <a:avLst/>
          </a:prstGeom>
          <a:solidFill>
            <a:srgbClr val="F4A325"/>
          </a:solidFill>
          <a:ln w="12700">
            <a:solidFill>
              <a:srgbClr val="F4A325"/>
            </a:solidFill>
            <a:prstDash val="solid"/>
          </a:ln>
        </p:spPr>
      </p:sp>
      <p:sp>
        <p:nvSpPr>
          <p:cNvPr id="19" name="Text 17"/>
          <p:cNvSpPr/>
          <p:nvPr/>
        </p:nvSpPr>
        <p:spPr>
          <a:xfrm>
            <a:off x="9022080" y="1670304"/>
            <a:ext cx="2438400" cy="670560"/>
          </a:xfrm>
          <a:prstGeom prst="rect">
            <a:avLst/>
          </a:prstGeom>
          <a:noFill/>
          <a:ln/>
        </p:spPr>
        <p:txBody>
          <a:bodyPr wrap="square" lIns="0" tIns="0" rIns="0" bIns="0" rtlCol="0" anchor="ctr"/>
          <a:lstStyle/>
          <a:p>
            <a:pPr algn="ctr"/>
            <a:r>
              <a:rPr lang="en-US" sz="3467" b="1" dirty="0">
                <a:solidFill>
                  <a:srgbClr val="142966"/>
                </a:solidFill>
              </a:rPr>
              <a:t>seed 42</a:t>
            </a:r>
            <a:endParaRPr lang="en-US" sz="3467" dirty="0"/>
          </a:p>
        </p:txBody>
      </p:sp>
      <p:sp>
        <p:nvSpPr>
          <p:cNvPr id="20" name="Text 18"/>
          <p:cNvSpPr/>
          <p:nvPr/>
        </p:nvSpPr>
        <p:spPr>
          <a:xfrm>
            <a:off x="9022080" y="2328672"/>
            <a:ext cx="2438400" cy="390144"/>
          </a:xfrm>
          <a:prstGeom prst="rect">
            <a:avLst/>
          </a:prstGeom>
          <a:noFill/>
          <a:ln/>
        </p:spPr>
        <p:txBody>
          <a:bodyPr wrap="square" lIns="0" tIns="0" rIns="0" bIns="0" rtlCol="0" anchor="ctr"/>
          <a:lstStyle/>
          <a:p>
            <a:pPr algn="ctr"/>
            <a:r>
              <a:rPr lang="en-US" sz="1267" dirty="0">
                <a:solidFill>
                  <a:srgbClr val="8096B8"/>
                </a:solidFill>
              </a:rPr>
              <a:t>Deterministic Split</a:t>
            </a:r>
            <a:endParaRPr lang="en-US" sz="1267" dirty="0"/>
          </a:p>
        </p:txBody>
      </p:sp>
      <p:sp>
        <p:nvSpPr>
          <p:cNvPr id="21" name="Shape 19"/>
          <p:cNvSpPr/>
          <p:nvPr/>
        </p:nvSpPr>
        <p:spPr>
          <a:xfrm>
            <a:off x="365760" y="3157728"/>
            <a:ext cx="438912" cy="438912"/>
          </a:xfrm>
          <a:prstGeom prst="ellipse">
            <a:avLst/>
          </a:prstGeom>
          <a:solidFill>
            <a:srgbClr val="0FA3B1"/>
          </a:solidFill>
          <a:ln w="12700">
            <a:solidFill>
              <a:srgbClr val="0FA3B1"/>
            </a:solidFill>
            <a:prstDash val="solid"/>
          </a:ln>
        </p:spPr>
      </p:sp>
      <p:sp>
        <p:nvSpPr>
          <p:cNvPr id="22" name="Text 20"/>
          <p:cNvSpPr/>
          <p:nvPr/>
        </p:nvSpPr>
        <p:spPr>
          <a:xfrm>
            <a:off x="365760" y="3157728"/>
            <a:ext cx="438912" cy="438912"/>
          </a:xfrm>
          <a:prstGeom prst="rect">
            <a:avLst/>
          </a:prstGeom>
          <a:noFill/>
          <a:ln/>
        </p:spPr>
        <p:txBody>
          <a:bodyPr wrap="square" lIns="0" tIns="0" rIns="0" bIns="0" rtlCol="0" anchor="ctr"/>
          <a:lstStyle/>
          <a:p>
            <a:pPr algn="ctr"/>
            <a:r>
              <a:rPr lang="en-US" sz="1467" b="1" dirty="0">
                <a:solidFill>
                  <a:srgbClr val="FFFFFF"/>
                </a:solidFill>
              </a:rPr>
              <a:t>1</a:t>
            </a:r>
            <a:endParaRPr lang="en-US" sz="1467" dirty="0"/>
          </a:p>
        </p:txBody>
      </p:sp>
      <p:sp>
        <p:nvSpPr>
          <p:cNvPr id="23" name="Text 21"/>
          <p:cNvSpPr/>
          <p:nvPr/>
        </p:nvSpPr>
        <p:spPr>
          <a:xfrm>
            <a:off x="950976" y="3108960"/>
            <a:ext cx="10850880" cy="512064"/>
          </a:xfrm>
          <a:prstGeom prst="rect">
            <a:avLst/>
          </a:prstGeom>
          <a:noFill/>
          <a:ln/>
        </p:spPr>
        <p:txBody>
          <a:bodyPr wrap="square" lIns="0" tIns="0" rIns="0" bIns="0" rtlCol="0" anchor="ctr"/>
          <a:lstStyle/>
          <a:p>
            <a:r>
              <a:rPr lang="en-US" sz="1467" dirty="0">
                <a:solidFill>
                  <a:srgbClr val="0A1430"/>
                </a:solidFill>
              </a:rPr>
              <a:t>Load PropBank instances via NLTK `propbank.instances()`</a:t>
            </a:r>
            <a:endParaRPr lang="en-US" sz="1467" dirty="0"/>
          </a:p>
        </p:txBody>
      </p:sp>
      <p:sp>
        <p:nvSpPr>
          <p:cNvPr id="24" name="Shape 22"/>
          <p:cNvSpPr/>
          <p:nvPr/>
        </p:nvSpPr>
        <p:spPr>
          <a:xfrm>
            <a:off x="365760" y="3730752"/>
            <a:ext cx="438912" cy="438912"/>
          </a:xfrm>
          <a:prstGeom prst="ellipse">
            <a:avLst/>
          </a:prstGeom>
          <a:solidFill>
            <a:srgbClr val="0FA3B1"/>
          </a:solidFill>
          <a:ln w="12700">
            <a:solidFill>
              <a:srgbClr val="0FA3B1"/>
            </a:solidFill>
            <a:prstDash val="solid"/>
          </a:ln>
        </p:spPr>
      </p:sp>
      <p:sp>
        <p:nvSpPr>
          <p:cNvPr id="25" name="Text 23"/>
          <p:cNvSpPr/>
          <p:nvPr/>
        </p:nvSpPr>
        <p:spPr>
          <a:xfrm>
            <a:off x="365760" y="3730752"/>
            <a:ext cx="438912" cy="438912"/>
          </a:xfrm>
          <a:prstGeom prst="rect">
            <a:avLst/>
          </a:prstGeom>
          <a:noFill/>
          <a:ln/>
        </p:spPr>
        <p:txBody>
          <a:bodyPr wrap="square" lIns="0" tIns="0" rIns="0" bIns="0" rtlCol="0" anchor="ctr"/>
          <a:lstStyle/>
          <a:p>
            <a:pPr algn="ctr"/>
            <a:r>
              <a:rPr lang="en-US" sz="1467" b="1" dirty="0">
                <a:solidFill>
                  <a:srgbClr val="FFFFFF"/>
                </a:solidFill>
              </a:rPr>
              <a:t>2</a:t>
            </a:r>
            <a:endParaRPr lang="en-US" sz="1467" dirty="0"/>
          </a:p>
        </p:txBody>
      </p:sp>
      <p:sp>
        <p:nvSpPr>
          <p:cNvPr id="26" name="Text 24"/>
          <p:cNvSpPr/>
          <p:nvPr/>
        </p:nvSpPr>
        <p:spPr>
          <a:xfrm>
            <a:off x="950976" y="3681984"/>
            <a:ext cx="10850880" cy="512064"/>
          </a:xfrm>
          <a:prstGeom prst="rect">
            <a:avLst/>
          </a:prstGeom>
          <a:noFill/>
          <a:ln/>
        </p:spPr>
        <p:txBody>
          <a:bodyPr wrap="square" lIns="0" tIns="0" rIns="0" bIns="0" rtlCol="0" anchor="ctr"/>
          <a:lstStyle/>
          <a:p>
            <a:r>
              <a:rPr lang="en-US" sz="1467" dirty="0">
                <a:solidFill>
                  <a:srgbClr val="0A1430"/>
                </a:solidFill>
              </a:rPr>
              <a:t>Align each instance to Penn Treebank parse tree (Treebank-backed subset only)</a:t>
            </a:r>
            <a:endParaRPr lang="en-US" sz="1467" dirty="0"/>
          </a:p>
        </p:txBody>
      </p:sp>
      <p:sp>
        <p:nvSpPr>
          <p:cNvPr id="27" name="Shape 25"/>
          <p:cNvSpPr/>
          <p:nvPr/>
        </p:nvSpPr>
        <p:spPr>
          <a:xfrm>
            <a:off x="365760" y="4303776"/>
            <a:ext cx="438912" cy="438912"/>
          </a:xfrm>
          <a:prstGeom prst="ellipse">
            <a:avLst/>
          </a:prstGeom>
          <a:solidFill>
            <a:srgbClr val="0FA3B1"/>
          </a:solidFill>
          <a:ln w="12700">
            <a:solidFill>
              <a:srgbClr val="0FA3B1"/>
            </a:solidFill>
            <a:prstDash val="solid"/>
          </a:ln>
        </p:spPr>
      </p:sp>
      <p:sp>
        <p:nvSpPr>
          <p:cNvPr id="28" name="Text 26"/>
          <p:cNvSpPr/>
          <p:nvPr/>
        </p:nvSpPr>
        <p:spPr>
          <a:xfrm>
            <a:off x="365760" y="4303776"/>
            <a:ext cx="438912" cy="438912"/>
          </a:xfrm>
          <a:prstGeom prst="rect">
            <a:avLst/>
          </a:prstGeom>
          <a:noFill/>
          <a:ln/>
        </p:spPr>
        <p:txBody>
          <a:bodyPr wrap="square" lIns="0" tIns="0" rIns="0" bIns="0" rtlCol="0" anchor="ctr"/>
          <a:lstStyle/>
          <a:p>
            <a:pPr algn="ctr"/>
            <a:r>
              <a:rPr lang="en-US" sz="1467" b="1" dirty="0">
                <a:solidFill>
                  <a:srgbClr val="FFFFFF"/>
                </a:solidFill>
              </a:rPr>
              <a:t>3</a:t>
            </a:r>
            <a:endParaRPr lang="en-US" sz="1467" dirty="0"/>
          </a:p>
        </p:txBody>
      </p:sp>
      <p:sp>
        <p:nvSpPr>
          <p:cNvPr id="29" name="Text 27"/>
          <p:cNvSpPr/>
          <p:nvPr/>
        </p:nvSpPr>
        <p:spPr>
          <a:xfrm>
            <a:off x="950976" y="4255008"/>
            <a:ext cx="10850880" cy="512064"/>
          </a:xfrm>
          <a:prstGeom prst="rect">
            <a:avLst/>
          </a:prstGeom>
          <a:noFill/>
          <a:ln/>
        </p:spPr>
        <p:txBody>
          <a:bodyPr wrap="square" lIns="0" tIns="0" rIns="0" bIns="0" rtlCol="0" anchor="ctr"/>
          <a:lstStyle/>
          <a:p>
            <a:r>
              <a:rPr lang="en-US" sz="1467" dirty="0">
                <a:solidFill>
                  <a:srgbClr val="0A1430"/>
                </a:solidFill>
              </a:rPr>
              <a:t>Reconstruct sentence text from Treebank leaves (exclude -NONE- traces)</a:t>
            </a:r>
            <a:endParaRPr lang="en-US" sz="1467" dirty="0"/>
          </a:p>
        </p:txBody>
      </p:sp>
      <p:sp>
        <p:nvSpPr>
          <p:cNvPr id="30" name="Shape 28"/>
          <p:cNvSpPr/>
          <p:nvPr/>
        </p:nvSpPr>
        <p:spPr>
          <a:xfrm>
            <a:off x="365760" y="4876800"/>
            <a:ext cx="438912" cy="438912"/>
          </a:xfrm>
          <a:prstGeom prst="ellipse">
            <a:avLst/>
          </a:prstGeom>
          <a:solidFill>
            <a:srgbClr val="0FA3B1"/>
          </a:solidFill>
          <a:ln w="12700">
            <a:solidFill>
              <a:srgbClr val="0FA3B1"/>
            </a:solidFill>
            <a:prstDash val="solid"/>
          </a:ln>
        </p:spPr>
      </p:sp>
      <p:sp>
        <p:nvSpPr>
          <p:cNvPr id="31" name="Text 29"/>
          <p:cNvSpPr/>
          <p:nvPr/>
        </p:nvSpPr>
        <p:spPr>
          <a:xfrm>
            <a:off x="365760" y="4876800"/>
            <a:ext cx="438912" cy="438912"/>
          </a:xfrm>
          <a:prstGeom prst="rect">
            <a:avLst/>
          </a:prstGeom>
          <a:noFill/>
          <a:ln/>
        </p:spPr>
        <p:txBody>
          <a:bodyPr wrap="square" lIns="0" tIns="0" rIns="0" bIns="0" rtlCol="0" anchor="ctr"/>
          <a:lstStyle/>
          <a:p>
            <a:pPr algn="ctr"/>
            <a:r>
              <a:rPr lang="en-US" sz="1467" b="1" dirty="0">
                <a:solidFill>
                  <a:srgbClr val="FFFFFF"/>
                </a:solidFill>
              </a:rPr>
              <a:t>4</a:t>
            </a:r>
            <a:endParaRPr lang="en-US" sz="1467" dirty="0"/>
          </a:p>
        </p:txBody>
      </p:sp>
      <p:sp>
        <p:nvSpPr>
          <p:cNvPr id="32" name="Text 30"/>
          <p:cNvSpPr/>
          <p:nvPr/>
        </p:nvSpPr>
        <p:spPr>
          <a:xfrm>
            <a:off x="950976" y="4828032"/>
            <a:ext cx="10850880" cy="512064"/>
          </a:xfrm>
          <a:prstGeom prst="rect">
            <a:avLst/>
          </a:prstGeom>
          <a:noFill/>
          <a:ln/>
        </p:spPr>
        <p:txBody>
          <a:bodyPr wrap="square" lIns="0" tIns="0" rIns="0" bIns="0" rtlCol="0" anchor="ctr"/>
          <a:lstStyle/>
          <a:p>
            <a:r>
              <a:rPr lang="en-US" sz="1467" dirty="0">
                <a:solidFill>
                  <a:srgbClr val="0A1430"/>
                </a:solidFill>
              </a:rPr>
              <a:t>Build visible BIO SRL tag sequence for each argument role</a:t>
            </a:r>
            <a:endParaRPr lang="en-US" sz="1467" dirty="0"/>
          </a:p>
        </p:txBody>
      </p:sp>
      <p:sp>
        <p:nvSpPr>
          <p:cNvPr id="33" name="Shape 31"/>
          <p:cNvSpPr/>
          <p:nvPr/>
        </p:nvSpPr>
        <p:spPr>
          <a:xfrm>
            <a:off x="365760" y="5449824"/>
            <a:ext cx="438912" cy="438912"/>
          </a:xfrm>
          <a:prstGeom prst="ellipse">
            <a:avLst/>
          </a:prstGeom>
          <a:solidFill>
            <a:srgbClr val="0FA3B1"/>
          </a:solidFill>
          <a:ln w="12700">
            <a:solidFill>
              <a:srgbClr val="0FA3B1"/>
            </a:solidFill>
            <a:prstDash val="solid"/>
          </a:ln>
        </p:spPr>
      </p:sp>
      <p:sp>
        <p:nvSpPr>
          <p:cNvPr id="34" name="Text 32"/>
          <p:cNvSpPr/>
          <p:nvPr/>
        </p:nvSpPr>
        <p:spPr>
          <a:xfrm>
            <a:off x="365760" y="5449824"/>
            <a:ext cx="438912" cy="438912"/>
          </a:xfrm>
          <a:prstGeom prst="rect">
            <a:avLst/>
          </a:prstGeom>
          <a:noFill/>
          <a:ln/>
        </p:spPr>
        <p:txBody>
          <a:bodyPr wrap="square" lIns="0" tIns="0" rIns="0" bIns="0" rtlCol="0" anchor="ctr"/>
          <a:lstStyle/>
          <a:p>
            <a:pPr algn="ctr"/>
            <a:r>
              <a:rPr lang="en-US" sz="1467" b="1" dirty="0">
                <a:solidFill>
                  <a:srgbClr val="FFFFFF"/>
                </a:solidFill>
              </a:rPr>
              <a:t>5</a:t>
            </a:r>
            <a:endParaRPr lang="en-US" sz="1467" dirty="0"/>
          </a:p>
        </p:txBody>
      </p:sp>
      <p:sp>
        <p:nvSpPr>
          <p:cNvPr id="35" name="Text 33"/>
          <p:cNvSpPr/>
          <p:nvPr/>
        </p:nvSpPr>
        <p:spPr>
          <a:xfrm>
            <a:off x="950976" y="5401056"/>
            <a:ext cx="10850880" cy="512064"/>
          </a:xfrm>
          <a:prstGeom prst="rect">
            <a:avLst/>
          </a:prstGeom>
          <a:noFill/>
          <a:ln/>
        </p:spPr>
        <p:txBody>
          <a:bodyPr wrap="square" lIns="0" tIns="0" rIns="0" bIns="0" rtlCol="0" anchor="ctr"/>
          <a:lstStyle/>
          <a:p>
            <a:r>
              <a:rPr lang="en-US" sz="1467" dirty="0">
                <a:solidFill>
                  <a:srgbClr val="0A1430"/>
                </a:solidFill>
              </a:rPr>
              <a:t>Generate natural-language question from role templates (ARG0→Who, TMP→When …)</a:t>
            </a:r>
            <a:endParaRPr lang="en-US" sz="1467" dirty="0"/>
          </a:p>
        </p:txBody>
      </p:sp>
      <p:sp>
        <p:nvSpPr>
          <p:cNvPr id="36" name="Shape 34"/>
          <p:cNvSpPr/>
          <p:nvPr/>
        </p:nvSpPr>
        <p:spPr>
          <a:xfrm>
            <a:off x="365760" y="6022848"/>
            <a:ext cx="438912" cy="438912"/>
          </a:xfrm>
          <a:prstGeom prst="ellipse">
            <a:avLst/>
          </a:prstGeom>
          <a:solidFill>
            <a:srgbClr val="0FA3B1"/>
          </a:solidFill>
          <a:ln w="12700">
            <a:solidFill>
              <a:srgbClr val="0FA3B1"/>
            </a:solidFill>
            <a:prstDash val="solid"/>
          </a:ln>
        </p:spPr>
      </p:sp>
      <p:sp>
        <p:nvSpPr>
          <p:cNvPr id="37" name="Text 35"/>
          <p:cNvSpPr/>
          <p:nvPr/>
        </p:nvSpPr>
        <p:spPr>
          <a:xfrm>
            <a:off x="365760" y="6022848"/>
            <a:ext cx="438912" cy="438912"/>
          </a:xfrm>
          <a:prstGeom prst="rect">
            <a:avLst/>
          </a:prstGeom>
          <a:noFill/>
          <a:ln/>
        </p:spPr>
        <p:txBody>
          <a:bodyPr wrap="square" lIns="0" tIns="0" rIns="0" bIns="0" rtlCol="0" anchor="ctr"/>
          <a:lstStyle/>
          <a:p>
            <a:pPr algn="ctr"/>
            <a:r>
              <a:rPr lang="en-US" sz="1467" b="1" dirty="0">
                <a:solidFill>
                  <a:srgbClr val="FFFFFF"/>
                </a:solidFill>
              </a:rPr>
              <a:t>6</a:t>
            </a:r>
            <a:endParaRPr lang="en-US" sz="1467" dirty="0"/>
          </a:p>
        </p:txBody>
      </p:sp>
      <p:sp>
        <p:nvSpPr>
          <p:cNvPr id="38" name="Text 36"/>
          <p:cNvSpPr/>
          <p:nvPr/>
        </p:nvSpPr>
        <p:spPr>
          <a:xfrm>
            <a:off x="950976" y="5974080"/>
            <a:ext cx="10850880" cy="512064"/>
          </a:xfrm>
          <a:prstGeom prst="rect">
            <a:avLst/>
          </a:prstGeom>
          <a:noFill/>
          <a:ln/>
        </p:spPr>
        <p:txBody>
          <a:bodyPr wrap="square" lIns="0" tIns="0" rIns="0" bIns="0" rtlCol="0" anchor="ctr"/>
          <a:lstStyle/>
          <a:p>
            <a:r>
              <a:rPr lang="en-US" sz="1467" dirty="0">
                <a:solidFill>
                  <a:srgbClr val="0A1430"/>
                </a:solidFill>
              </a:rPr>
              <a:t>Split 70% train / 15% val / 15% test (seed=42)</a:t>
            </a:r>
            <a:endParaRPr lang="en-US" sz="1467" dirty="0"/>
          </a:p>
        </p:txBody>
      </p:sp>
    </p:spTree>
    <p:extLst>
      <p:ext uri="{BB962C8B-B14F-4D97-AF65-F5344CB8AC3E}">
        <p14:creationId xmlns:p14="http://schemas.microsoft.com/office/powerpoint/2010/main" val="3429788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DATASET</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200" b="1" dirty="0">
                <a:solidFill>
                  <a:srgbClr val="142966"/>
                </a:solidFill>
                <a:latin typeface="Calibri" pitchFamily="34" charset="0"/>
                <a:ea typeface="Calibri" pitchFamily="34" charset="-122"/>
                <a:cs typeface="Calibri" pitchFamily="34" charset="-120"/>
              </a:rPr>
              <a:t>Dataset Distribution: Question Types &amp; Argument Roles</a:t>
            </a:r>
            <a:endParaRPr lang="en-US" sz="3200" dirty="0"/>
          </a:p>
        </p:txBody>
      </p:sp>
      <p:pic>
        <p:nvPicPr>
          <p:cNvPr id="5" name="Image 0" descr="preencoded.png"/>
          <p:cNvPicPr>
            <a:picLocks noChangeAspect="1"/>
          </p:cNvPicPr>
          <p:nvPr/>
        </p:nvPicPr>
        <p:blipFill>
          <a:blip r:embed="rId3"/>
          <a:stretch>
            <a:fillRect/>
          </a:stretch>
        </p:blipFill>
        <p:spPr>
          <a:xfrm>
            <a:off x="365760" y="1341120"/>
            <a:ext cx="11460480" cy="3901440"/>
          </a:xfrm>
          <a:prstGeom prst="rect">
            <a:avLst/>
          </a:prstGeom>
        </p:spPr>
      </p:pic>
      <p:sp>
        <p:nvSpPr>
          <p:cNvPr id="6" name="Text 3"/>
          <p:cNvSpPr/>
          <p:nvPr/>
        </p:nvSpPr>
        <p:spPr>
          <a:xfrm>
            <a:off x="487680" y="5364480"/>
            <a:ext cx="5608320" cy="548640"/>
          </a:xfrm>
          <a:prstGeom prst="rect">
            <a:avLst/>
          </a:prstGeom>
          <a:noFill/>
          <a:ln/>
        </p:spPr>
        <p:txBody>
          <a:bodyPr wrap="square" rtlCol="0" anchor="ctr"/>
          <a:lstStyle/>
          <a:p>
            <a:r>
              <a:rPr lang="en-US" sz="1400" i="1" dirty="0">
                <a:solidFill>
                  <a:srgbClr val="1B7FBF"/>
                </a:solidFill>
              </a:rPr>
              <a:t>WHAT dominates (13K+) — mirrors PropBank ARG1 dominance in the corpus</a:t>
            </a:r>
            <a:endParaRPr lang="en-US" sz="1400" dirty="0"/>
          </a:p>
        </p:txBody>
      </p:sp>
      <p:sp>
        <p:nvSpPr>
          <p:cNvPr id="7" name="Text 4"/>
          <p:cNvSpPr/>
          <p:nvPr/>
        </p:nvSpPr>
        <p:spPr>
          <a:xfrm>
            <a:off x="6217920" y="5364480"/>
            <a:ext cx="5608320" cy="548640"/>
          </a:xfrm>
          <a:prstGeom prst="rect">
            <a:avLst/>
          </a:prstGeom>
          <a:noFill/>
          <a:ln/>
        </p:spPr>
        <p:txBody>
          <a:bodyPr wrap="square" rtlCol="0" anchor="ctr"/>
          <a:lstStyle/>
          <a:p>
            <a:r>
              <a:rPr lang="en-US" sz="1400" i="1" dirty="0">
                <a:solidFill>
                  <a:srgbClr val="142966"/>
                </a:solidFill>
              </a:rPr>
              <a:t>ARG1 (~8K) and ARG0 (~6K) are far more frequent than adjunct roles</a:t>
            </a:r>
            <a:endParaRPr lang="en-US" sz="1400" dirty="0"/>
          </a:p>
        </p:txBody>
      </p:sp>
      <p:sp>
        <p:nvSpPr>
          <p:cNvPr id="8" name="Shape 5"/>
          <p:cNvSpPr/>
          <p:nvPr/>
        </p:nvSpPr>
        <p:spPr>
          <a:xfrm>
            <a:off x="487680" y="5303520"/>
            <a:ext cx="11216640" cy="0"/>
          </a:xfrm>
          <a:prstGeom prst="line">
            <a:avLst/>
          </a:prstGeom>
          <a:noFill/>
          <a:ln w="12700">
            <a:solidFill>
              <a:srgbClr val="D8E6FF"/>
            </a:solidFill>
            <a:prstDash val="solid"/>
          </a:ln>
        </p:spPr>
      </p:sp>
    </p:spTree>
    <p:extLst>
      <p:ext uri="{BB962C8B-B14F-4D97-AF65-F5344CB8AC3E}">
        <p14:creationId xmlns:p14="http://schemas.microsoft.com/office/powerpoint/2010/main" val="1967339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MODEL ARCHITECTURE</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PropQA-Net: Multi-Task BiLSTM Architecture</a:t>
            </a:r>
            <a:endParaRPr lang="en-US" sz="3467" dirty="0"/>
          </a:p>
        </p:txBody>
      </p:sp>
      <p:pic>
        <p:nvPicPr>
          <p:cNvPr id="5" name="Image 0" descr="preencoded.png"/>
          <p:cNvPicPr>
            <a:picLocks noChangeAspect="1"/>
          </p:cNvPicPr>
          <p:nvPr/>
        </p:nvPicPr>
        <p:blipFill>
          <a:blip r:embed="rId3"/>
          <a:stretch>
            <a:fillRect/>
          </a:stretch>
        </p:blipFill>
        <p:spPr>
          <a:xfrm>
            <a:off x="365760" y="1280160"/>
            <a:ext cx="11460480" cy="1828800"/>
          </a:xfrm>
          <a:prstGeom prst="rect">
            <a:avLst/>
          </a:prstGeom>
        </p:spPr>
      </p:pic>
      <p:sp>
        <p:nvSpPr>
          <p:cNvPr id="6" name="Shape 3"/>
          <p:cNvSpPr/>
          <p:nvPr/>
        </p:nvSpPr>
        <p:spPr>
          <a:xfrm>
            <a:off x="365760" y="3352800"/>
            <a:ext cx="3718560" cy="1645920"/>
          </a:xfrm>
          <a:prstGeom prst="rect">
            <a:avLst/>
          </a:prstGeom>
          <a:solidFill>
            <a:srgbClr val="FFFFFF"/>
          </a:solidFill>
          <a:ln/>
          <a:effectLst>
            <a:outerShdw blurRad="76200" dist="25400" dir="8100000" algn="bl" rotWithShape="0">
              <a:srgbClr val="000000">
                <a:alpha val="10000"/>
              </a:srgbClr>
            </a:outerShdw>
          </a:effectLst>
        </p:spPr>
      </p:sp>
      <p:sp>
        <p:nvSpPr>
          <p:cNvPr id="7" name="Shape 4"/>
          <p:cNvSpPr/>
          <p:nvPr/>
        </p:nvSpPr>
        <p:spPr>
          <a:xfrm>
            <a:off x="365760" y="3352800"/>
            <a:ext cx="85344" cy="1645920"/>
          </a:xfrm>
          <a:prstGeom prst="rect">
            <a:avLst/>
          </a:prstGeom>
          <a:solidFill>
            <a:srgbClr val="0FA3B1"/>
          </a:solidFill>
          <a:ln w="12700">
            <a:solidFill>
              <a:srgbClr val="0FA3B1"/>
            </a:solidFill>
            <a:prstDash val="solid"/>
          </a:ln>
        </p:spPr>
      </p:sp>
      <p:sp>
        <p:nvSpPr>
          <p:cNvPr id="8" name="Text 5"/>
          <p:cNvSpPr/>
          <p:nvPr/>
        </p:nvSpPr>
        <p:spPr>
          <a:xfrm>
            <a:off x="548640" y="3499104"/>
            <a:ext cx="3474720" cy="390144"/>
          </a:xfrm>
          <a:prstGeom prst="rect">
            <a:avLst/>
          </a:prstGeom>
          <a:noFill/>
          <a:ln/>
        </p:spPr>
        <p:txBody>
          <a:bodyPr wrap="square" lIns="0" tIns="0" rIns="0" bIns="0" rtlCol="0" anchor="ctr"/>
          <a:lstStyle/>
          <a:p>
            <a:r>
              <a:rPr lang="en-US" sz="1467" b="1" dirty="0">
                <a:solidFill>
                  <a:srgbClr val="142966"/>
                </a:solidFill>
              </a:rPr>
              <a:t>Context Encoder</a:t>
            </a:r>
            <a:endParaRPr lang="en-US" sz="1467" dirty="0"/>
          </a:p>
        </p:txBody>
      </p:sp>
      <p:sp>
        <p:nvSpPr>
          <p:cNvPr id="9" name="Text 6"/>
          <p:cNvSpPr/>
          <p:nvPr/>
        </p:nvSpPr>
        <p:spPr>
          <a:xfrm>
            <a:off x="548640" y="3901440"/>
            <a:ext cx="3474720" cy="975360"/>
          </a:xfrm>
          <a:prstGeom prst="rect">
            <a:avLst/>
          </a:prstGeom>
          <a:noFill/>
          <a:ln/>
        </p:spPr>
        <p:txBody>
          <a:bodyPr wrap="square" lIns="0" tIns="0" rIns="0" bIns="0" rtlCol="0" anchor="ctr"/>
          <a:lstStyle/>
          <a:p>
            <a:r>
              <a:rPr lang="en-US" sz="1333" dirty="0">
                <a:solidFill>
                  <a:srgbClr val="0A1430"/>
                </a:solidFill>
              </a:rPr>
              <a:t>Word (100d) + POS (32d) + Predicate-flag (8d) embeddings → BiLSTM(128) → Dropout(0.30)</a:t>
            </a:r>
            <a:endParaRPr lang="en-US" sz="1333" dirty="0"/>
          </a:p>
        </p:txBody>
      </p:sp>
      <p:sp>
        <p:nvSpPr>
          <p:cNvPr id="10" name="Shape 7"/>
          <p:cNvSpPr/>
          <p:nvPr/>
        </p:nvSpPr>
        <p:spPr>
          <a:xfrm>
            <a:off x="4328160" y="3352800"/>
            <a:ext cx="3718560" cy="1645920"/>
          </a:xfrm>
          <a:prstGeom prst="rect">
            <a:avLst/>
          </a:prstGeom>
          <a:solidFill>
            <a:srgbClr val="FFFFFF"/>
          </a:solidFill>
          <a:ln/>
          <a:effectLst>
            <a:outerShdw blurRad="76200" dist="25400" dir="8100000" algn="bl" rotWithShape="0">
              <a:srgbClr val="000000">
                <a:alpha val="10000"/>
              </a:srgbClr>
            </a:outerShdw>
          </a:effectLst>
        </p:spPr>
      </p:sp>
      <p:sp>
        <p:nvSpPr>
          <p:cNvPr id="11" name="Shape 8"/>
          <p:cNvSpPr/>
          <p:nvPr/>
        </p:nvSpPr>
        <p:spPr>
          <a:xfrm>
            <a:off x="4328160" y="3352800"/>
            <a:ext cx="85344" cy="1645920"/>
          </a:xfrm>
          <a:prstGeom prst="rect">
            <a:avLst/>
          </a:prstGeom>
          <a:solidFill>
            <a:srgbClr val="142966"/>
          </a:solidFill>
          <a:ln w="12700">
            <a:solidFill>
              <a:srgbClr val="142966"/>
            </a:solidFill>
            <a:prstDash val="solid"/>
          </a:ln>
        </p:spPr>
      </p:sp>
      <p:sp>
        <p:nvSpPr>
          <p:cNvPr id="12" name="Text 9"/>
          <p:cNvSpPr/>
          <p:nvPr/>
        </p:nvSpPr>
        <p:spPr>
          <a:xfrm>
            <a:off x="4511040" y="3499104"/>
            <a:ext cx="3474720" cy="390144"/>
          </a:xfrm>
          <a:prstGeom prst="rect">
            <a:avLst/>
          </a:prstGeom>
          <a:noFill/>
          <a:ln/>
        </p:spPr>
        <p:txBody>
          <a:bodyPr wrap="square" lIns="0" tIns="0" rIns="0" bIns="0" rtlCol="0" anchor="ctr"/>
          <a:lstStyle/>
          <a:p>
            <a:r>
              <a:rPr lang="en-US" sz="1467" b="1" dirty="0">
                <a:solidFill>
                  <a:srgbClr val="142966"/>
                </a:solidFill>
              </a:rPr>
              <a:t>SRL BIO Head</a:t>
            </a:r>
            <a:endParaRPr lang="en-US" sz="1467" dirty="0"/>
          </a:p>
        </p:txBody>
      </p:sp>
      <p:sp>
        <p:nvSpPr>
          <p:cNvPr id="13" name="Text 10"/>
          <p:cNvSpPr/>
          <p:nvPr/>
        </p:nvSpPr>
        <p:spPr>
          <a:xfrm>
            <a:off x="4511040" y="3901440"/>
            <a:ext cx="3474720" cy="975360"/>
          </a:xfrm>
          <a:prstGeom prst="rect">
            <a:avLst/>
          </a:prstGeom>
          <a:noFill/>
          <a:ln/>
        </p:spPr>
        <p:txBody>
          <a:bodyPr wrap="square" lIns="0" tIns="0" rIns="0" bIns="0" rtlCol="0" anchor="ctr"/>
          <a:lstStyle/>
          <a:p>
            <a:r>
              <a:rPr lang="en-US" sz="1333" dirty="0">
                <a:solidFill>
                  <a:srgbClr val="0A1430"/>
                </a:solidFill>
              </a:rPr>
              <a:t>Linear projection over context states → cross-entropy loss → BIO label per token</a:t>
            </a:r>
            <a:endParaRPr lang="en-US" sz="1333" dirty="0"/>
          </a:p>
        </p:txBody>
      </p:sp>
      <p:sp>
        <p:nvSpPr>
          <p:cNvPr id="14" name="Shape 11"/>
          <p:cNvSpPr/>
          <p:nvPr/>
        </p:nvSpPr>
        <p:spPr>
          <a:xfrm>
            <a:off x="8046720" y="3352800"/>
            <a:ext cx="3718560" cy="1645920"/>
          </a:xfrm>
          <a:prstGeom prst="rect">
            <a:avLst/>
          </a:prstGeom>
          <a:solidFill>
            <a:srgbClr val="FFFFFF"/>
          </a:solidFill>
          <a:ln/>
          <a:effectLst>
            <a:outerShdw blurRad="76200" dist="25400" dir="8100000" algn="bl" rotWithShape="0">
              <a:srgbClr val="000000">
                <a:alpha val="10000"/>
              </a:srgbClr>
            </a:outerShdw>
          </a:effectLst>
        </p:spPr>
      </p:sp>
      <p:sp>
        <p:nvSpPr>
          <p:cNvPr id="15" name="Shape 12"/>
          <p:cNvSpPr/>
          <p:nvPr/>
        </p:nvSpPr>
        <p:spPr>
          <a:xfrm>
            <a:off x="8046720" y="3352800"/>
            <a:ext cx="85344" cy="1645920"/>
          </a:xfrm>
          <a:prstGeom prst="rect">
            <a:avLst/>
          </a:prstGeom>
          <a:solidFill>
            <a:srgbClr val="F4A325"/>
          </a:solidFill>
          <a:ln w="12700">
            <a:solidFill>
              <a:srgbClr val="F4A325"/>
            </a:solidFill>
            <a:prstDash val="solid"/>
          </a:ln>
        </p:spPr>
      </p:sp>
      <p:sp>
        <p:nvSpPr>
          <p:cNvPr id="16" name="Text 13"/>
          <p:cNvSpPr/>
          <p:nvPr/>
        </p:nvSpPr>
        <p:spPr>
          <a:xfrm>
            <a:off x="8229600" y="3499104"/>
            <a:ext cx="3474720" cy="390144"/>
          </a:xfrm>
          <a:prstGeom prst="rect">
            <a:avLst/>
          </a:prstGeom>
          <a:noFill/>
          <a:ln/>
        </p:spPr>
        <p:txBody>
          <a:bodyPr wrap="square" lIns="0" tIns="0" rIns="0" bIns="0" rtlCol="0" anchor="ctr"/>
          <a:lstStyle/>
          <a:p>
            <a:r>
              <a:rPr lang="en-US" sz="1467" b="1" dirty="0">
                <a:solidFill>
                  <a:srgbClr val="142966"/>
                </a:solidFill>
              </a:rPr>
              <a:t>QA Span Head</a:t>
            </a:r>
            <a:endParaRPr lang="en-US" sz="1467" dirty="0"/>
          </a:p>
        </p:txBody>
      </p:sp>
      <p:sp>
        <p:nvSpPr>
          <p:cNvPr id="17" name="Text 14"/>
          <p:cNvSpPr/>
          <p:nvPr/>
        </p:nvSpPr>
        <p:spPr>
          <a:xfrm>
            <a:off x="8229600" y="3901440"/>
            <a:ext cx="3474720" cy="975360"/>
          </a:xfrm>
          <a:prstGeom prst="rect">
            <a:avLst/>
          </a:prstGeom>
          <a:noFill/>
          <a:ln/>
        </p:spPr>
        <p:txBody>
          <a:bodyPr wrap="square" lIns="0" tIns="0" rIns="0" bIns="0" rtlCol="0" anchor="ctr"/>
          <a:lstStyle/>
          <a:p>
            <a:r>
              <a:rPr lang="en-US" sz="1333" dirty="0">
                <a:solidFill>
                  <a:srgbClr val="0A1430"/>
                </a:solidFill>
              </a:rPr>
              <a:t>Question BiLSTM → mean pool → cosine similarity + boundary probabilities → best span</a:t>
            </a:r>
            <a:endParaRPr lang="en-US" sz="1333" dirty="0"/>
          </a:p>
        </p:txBody>
      </p:sp>
      <p:sp>
        <p:nvSpPr>
          <p:cNvPr id="18" name="Shape 15"/>
          <p:cNvSpPr/>
          <p:nvPr/>
        </p:nvSpPr>
        <p:spPr>
          <a:xfrm>
            <a:off x="365760" y="5181600"/>
            <a:ext cx="11338560" cy="1036320"/>
          </a:xfrm>
          <a:prstGeom prst="rect">
            <a:avLst/>
          </a:prstGeom>
          <a:solidFill>
            <a:srgbClr val="142966"/>
          </a:solidFill>
          <a:ln/>
          <a:effectLst>
            <a:outerShdw blurRad="63500" dist="25400" dir="8100000" algn="bl" rotWithShape="0">
              <a:srgbClr val="000000">
                <a:alpha val="12000"/>
              </a:srgbClr>
            </a:outerShdw>
          </a:effectLst>
        </p:spPr>
      </p:sp>
      <p:sp>
        <p:nvSpPr>
          <p:cNvPr id="19" name="Text 16"/>
          <p:cNvSpPr/>
          <p:nvPr/>
        </p:nvSpPr>
        <p:spPr>
          <a:xfrm>
            <a:off x="487680" y="5218176"/>
            <a:ext cx="11094720" cy="975360"/>
          </a:xfrm>
          <a:prstGeom prst="rect">
            <a:avLst/>
          </a:prstGeom>
          <a:noFill/>
          <a:ln/>
        </p:spPr>
        <p:txBody>
          <a:bodyPr wrap="square" lIns="0" tIns="0" rIns="0" bIns="0" rtlCol="0" anchor="ctr"/>
          <a:lstStyle/>
          <a:p>
            <a:pPr algn="ctr"/>
            <a:r>
              <a:rPr lang="en-US" sz="1533" b="1" dirty="0">
                <a:solidFill>
                  <a:srgbClr val="FFFFFF"/>
                </a:solidFill>
              </a:rPr>
              <a:t>Joint Loss: L = 0.5 × L_SRL  +  0.5 × L_QA   |   Decoding: score = 0.60 × cosine + 0.40 × boundary confidence</a:t>
            </a:r>
            <a:endParaRPr lang="en-US" sz="1533" dirty="0"/>
          </a:p>
        </p:txBody>
      </p:sp>
    </p:spTree>
    <p:extLst>
      <p:ext uri="{BB962C8B-B14F-4D97-AF65-F5344CB8AC3E}">
        <p14:creationId xmlns:p14="http://schemas.microsoft.com/office/powerpoint/2010/main" val="2792141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RESULTS — SRL</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Semantic Role Labeling Performance</a:t>
            </a:r>
            <a:endParaRPr lang="en-US" sz="3467" dirty="0"/>
          </a:p>
        </p:txBody>
      </p:sp>
      <p:sp>
        <p:nvSpPr>
          <p:cNvPr id="5" name="Shape 3"/>
          <p:cNvSpPr/>
          <p:nvPr/>
        </p:nvSpPr>
        <p:spPr>
          <a:xfrm>
            <a:off x="365760" y="134112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6" name="Shape 4"/>
          <p:cNvSpPr/>
          <p:nvPr/>
        </p:nvSpPr>
        <p:spPr>
          <a:xfrm>
            <a:off x="365760" y="1341120"/>
            <a:ext cx="2560320" cy="219456"/>
          </a:xfrm>
          <a:prstGeom prst="rect">
            <a:avLst/>
          </a:prstGeom>
          <a:solidFill>
            <a:srgbClr val="F4A325"/>
          </a:solidFill>
          <a:ln w="12700">
            <a:solidFill>
              <a:srgbClr val="F4A325"/>
            </a:solidFill>
            <a:prstDash val="solid"/>
          </a:ln>
        </p:spPr>
      </p:sp>
      <p:sp>
        <p:nvSpPr>
          <p:cNvPr id="7" name="Text 5"/>
          <p:cNvSpPr/>
          <p:nvPr/>
        </p:nvSpPr>
        <p:spPr>
          <a:xfrm>
            <a:off x="426720" y="1609344"/>
            <a:ext cx="2438400" cy="670560"/>
          </a:xfrm>
          <a:prstGeom prst="rect">
            <a:avLst/>
          </a:prstGeom>
          <a:noFill/>
          <a:ln/>
        </p:spPr>
        <p:txBody>
          <a:bodyPr wrap="square" lIns="0" tIns="0" rIns="0" bIns="0" rtlCol="0" anchor="ctr"/>
          <a:lstStyle/>
          <a:p>
            <a:pPr algn="ctr"/>
            <a:r>
              <a:rPr lang="en-US" sz="3467" b="1" dirty="0">
                <a:solidFill>
                  <a:srgbClr val="142966"/>
                </a:solidFill>
              </a:rPr>
              <a:t>0.162</a:t>
            </a:r>
            <a:endParaRPr lang="en-US" sz="3467" dirty="0"/>
          </a:p>
        </p:txBody>
      </p:sp>
      <p:sp>
        <p:nvSpPr>
          <p:cNvPr id="8" name="Text 6"/>
          <p:cNvSpPr/>
          <p:nvPr/>
        </p:nvSpPr>
        <p:spPr>
          <a:xfrm>
            <a:off x="426720" y="2267712"/>
            <a:ext cx="2438400" cy="390144"/>
          </a:xfrm>
          <a:prstGeom prst="rect">
            <a:avLst/>
          </a:prstGeom>
          <a:noFill/>
          <a:ln/>
        </p:spPr>
        <p:txBody>
          <a:bodyPr wrap="square" lIns="0" tIns="0" rIns="0" bIns="0" rtlCol="0" anchor="ctr"/>
          <a:lstStyle/>
          <a:p>
            <a:pPr algn="ctr"/>
            <a:r>
              <a:rPr lang="en-US" sz="1267" dirty="0">
                <a:solidFill>
                  <a:srgbClr val="8096B8"/>
                </a:solidFill>
              </a:rPr>
              <a:t>SRL Macro F1</a:t>
            </a:r>
            <a:endParaRPr lang="en-US" sz="1267" dirty="0"/>
          </a:p>
        </p:txBody>
      </p:sp>
      <p:sp>
        <p:nvSpPr>
          <p:cNvPr id="9" name="Shape 7"/>
          <p:cNvSpPr/>
          <p:nvPr/>
        </p:nvSpPr>
        <p:spPr>
          <a:xfrm>
            <a:off x="3230880" y="134112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0" name="Shape 8"/>
          <p:cNvSpPr/>
          <p:nvPr/>
        </p:nvSpPr>
        <p:spPr>
          <a:xfrm>
            <a:off x="3230880" y="1341120"/>
            <a:ext cx="2560320" cy="219456"/>
          </a:xfrm>
          <a:prstGeom prst="rect">
            <a:avLst/>
          </a:prstGeom>
          <a:solidFill>
            <a:srgbClr val="1B7FBF"/>
          </a:solidFill>
          <a:ln w="12700">
            <a:solidFill>
              <a:srgbClr val="1B7FBF"/>
            </a:solidFill>
            <a:prstDash val="solid"/>
          </a:ln>
        </p:spPr>
      </p:sp>
      <p:sp>
        <p:nvSpPr>
          <p:cNvPr id="11" name="Text 9"/>
          <p:cNvSpPr/>
          <p:nvPr/>
        </p:nvSpPr>
        <p:spPr>
          <a:xfrm>
            <a:off x="3291840" y="1609344"/>
            <a:ext cx="2438400" cy="670560"/>
          </a:xfrm>
          <a:prstGeom prst="rect">
            <a:avLst/>
          </a:prstGeom>
          <a:noFill/>
          <a:ln/>
        </p:spPr>
        <p:txBody>
          <a:bodyPr wrap="square" lIns="0" tIns="0" rIns="0" bIns="0" rtlCol="0" anchor="ctr"/>
          <a:lstStyle/>
          <a:p>
            <a:pPr algn="ctr"/>
            <a:r>
              <a:rPr lang="en-US" sz="3467" b="1" dirty="0">
                <a:solidFill>
                  <a:srgbClr val="142966"/>
                </a:solidFill>
              </a:rPr>
              <a:t>0.713</a:t>
            </a:r>
            <a:endParaRPr lang="en-US" sz="3467" dirty="0"/>
          </a:p>
        </p:txBody>
      </p:sp>
      <p:sp>
        <p:nvSpPr>
          <p:cNvPr id="12" name="Text 10"/>
          <p:cNvSpPr/>
          <p:nvPr/>
        </p:nvSpPr>
        <p:spPr>
          <a:xfrm>
            <a:off x="3291840" y="2267712"/>
            <a:ext cx="2438400" cy="390144"/>
          </a:xfrm>
          <a:prstGeom prst="rect">
            <a:avLst/>
          </a:prstGeom>
          <a:noFill/>
          <a:ln/>
        </p:spPr>
        <p:txBody>
          <a:bodyPr wrap="square" lIns="0" tIns="0" rIns="0" bIns="0" rtlCol="0" anchor="ctr"/>
          <a:lstStyle/>
          <a:p>
            <a:pPr algn="ctr"/>
            <a:r>
              <a:rPr lang="en-US" sz="1267" dirty="0">
                <a:solidFill>
                  <a:srgbClr val="8096B8"/>
                </a:solidFill>
              </a:rPr>
              <a:t>SRL Micro F1</a:t>
            </a:r>
            <a:endParaRPr lang="en-US" sz="1267" dirty="0"/>
          </a:p>
        </p:txBody>
      </p:sp>
      <p:sp>
        <p:nvSpPr>
          <p:cNvPr id="13" name="Shape 11"/>
          <p:cNvSpPr/>
          <p:nvPr/>
        </p:nvSpPr>
        <p:spPr>
          <a:xfrm>
            <a:off x="6096000" y="134112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4" name="Shape 12"/>
          <p:cNvSpPr/>
          <p:nvPr/>
        </p:nvSpPr>
        <p:spPr>
          <a:xfrm>
            <a:off x="6096000" y="1341120"/>
            <a:ext cx="2560320" cy="219456"/>
          </a:xfrm>
          <a:prstGeom prst="rect">
            <a:avLst/>
          </a:prstGeom>
          <a:solidFill>
            <a:srgbClr val="0FA3B1"/>
          </a:solidFill>
          <a:ln w="12700">
            <a:solidFill>
              <a:srgbClr val="0FA3B1"/>
            </a:solidFill>
            <a:prstDash val="solid"/>
          </a:ln>
        </p:spPr>
      </p:sp>
      <p:sp>
        <p:nvSpPr>
          <p:cNvPr id="15" name="Text 13"/>
          <p:cNvSpPr/>
          <p:nvPr/>
        </p:nvSpPr>
        <p:spPr>
          <a:xfrm>
            <a:off x="6156960" y="1609344"/>
            <a:ext cx="2438400" cy="670560"/>
          </a:xfrm>
          <a:prstGeom prst="rect">
            <a:avLst/>
          </a:prstGeom>
          <a:noFill/>
          <a:ln/>
        </p:spPr>
        <p:txBody>
          <a:bodyPr wrap="square" lIns="0" tIns="0" rIns="0" bIns="0" rtlCol="0" anchor="ctr"/>
          <a:lstStyle/>
          <a:p>
            <a:pPr algn="ctr"/>
            <a:r>
              <a:rPr lang="en-US" sz="3467" b="1" dirty="0">
                <a:solidFill>
                  <a:srgbClr val="142966"/>
                </a:solidFill>
              </a:rPr>
              <a:t>0.816</a:t>
            </a:r>
            <a:endParaRPr lang="en-US" sz="3467" dirty="0"/>
          </a:p>
        </p:txBody>
      </p:sp>
      <p:sp>
        <p:nvSpPr>
          <p:cNvPr id="16" name="Text 14"/>
          <p:cNvSpPr/>
          <p:nvPr/>
        </p:nvSpPr>
        <p:spPr>
          <a:xfrm>
            <a:off x="6156960" y="2267712"/>
            <a:ext cx="2438400" cy="390144"/>
          </a:xfrm>
          <a:prstGeom prst="rect">
            <a:avLst/>
          </a:prstGeom>
          <a:noFill/>
          <a:ln/>
        </p:spPr>
        <p:txBody>
          <a:bodyPr wrap="square" lIns="0" tIns="0" rIns="0" bIns="0" rtlCol="0" anchor="ctr"/>
          <a:lstStyle/>
          <a:p>
            <a:pPr algn="ctr"/>
            <a:r>
              <a:rPr lang="en-US" sz="1267" dirty="0">
                <a:solidFill>
                  <a:srgbClr val="8096B8"/>
                </a:solidFill>
              </a:rPr>
              <a:t>BIO Accuracy</a:t>
            </a:r>
            <a:endParaRPr lang="en-US" sz="1267" dirty="0"/>
          </a:p>
        </p:txBody>
      </p:sp>
      <p:sp>
        <p:nvSpPr>
          <p:cNvPr id="17" name="Shape 15"/>
          <p:cNvSpPr/>
          <p:nvPr/>
        </p:nvSpPr>
        <p:spPr>
          <a:xfrm>
            <a:off x="8961120" y="134112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8" name="Shape 16"/>
          <p:cNvSpPr/>
          <p:nvPr/>
        </p:nvSpPr>
        <p:spPr>
          <a:xfrm>
            <a:off x="8961120" y="1341120"/>
            <a:ext cx="2560320" cy="219456"/>
          </a:xfrm>
          <a:prstGeom prst="rect">
            <a:avLst/>
          </a:prstGeom>
          <a:solidFill>
            <a:srgbClr val="142966"/>
          </a:solidFill>
          <a:ln w="12700">
            <a:solidFill>
              <a:srgbClr val="142966"/>
            </a:solidFill>
            <a:prstDash val="solid"/>
          </a:ln>
        </p:spPr>
      </p:sp>
      <p:sp>
        <p:nvSpPr>
          <p:cNvPr id="19" name="Text 17"/>
          <p:cNvSpPr/>
          <p:nvPr/>
        </p:nvSpPr>
        <p:spPr>
          <a:xfrm>
            <a:off x="9022080" y="1609344"/>
            <a:ext cx="2438400" cy="670560"/>
          </a:xfrm>
          <a:prstGeom prst="rect">
            <a:avLst/>
          </a:prstGeom>
          <a:noFill/>
          <a:ln/>
        </p:spPr>
        <p:txBody>
          <a:bodyPr wrap="square" lIns="0" tIns="0" rIns="0" bIns="0" rtlCol="0" anchor="ctr"/>
          <a:lstStyle/>
          <a:p>
            <a:pPr algn="ctr"/>
            <a:r>
              <a:rPr lang="en-US" sz="3467" b="1" dirty="0">
                <a:solidFill>
                  <a:srgbClr val="142966"/>
                </a:solidFill>
              </a:rPr>
              <a:t>0.518</a:t>
            </a:r>
            <a:endParaRPr lang="en-US" sz="3467" dirty="0"/>
          </a:p>
        </p:txBody>
      </p:sp>
      <p:sp>
        <p:nvSpPr>
          <p:cNvPr id="20" name="Text 18"/>
          <p:cNvSpPr/>
          <p:nvPr/>
        </p:nvSpPr>
        <p:spPr>
          <a:xfrm>
            <a:off x="9022080" y="2267712"/>
            <a:ext cx="2438400" cy="390144"/>
          </a:xfrm>
          <a:prstGeom prst="rect">
            <a:avLst/>
          </a:prstGeom>
          <a:noFill/>
          <a:ln/>
        </p:spPr>
        <p:txBody>
          <a:bodyPr wrap="square" lIns="0" tIns="0" rIns="0" bIns="0" rtlCol="0" anchor="ctr"/>
          <a:lstStyle/>
          <a:p>
            <a:pPr algn="ctr"/>
            <a:r>
              <a:rPr lang="en-US" sz="1267" dirty="0">
                <a:solidFill>
                  <a:srgbClr val="8096B8"/>
                </a:solidFill>
              </a:rPr>
              <a:t>QA Exact Match</a:t>
            </a:r>
            <a:endParaRPr lang="en-US" sz="1267" dirty="0"/>
          </a:p>
        </p:txBody>
      </p:sp>
      <p:graphicFrame>
        <p:nvGraphicFramePr>
          <p:cNvPr id="21" name="Chart 0"/>
          <p:cNvGraphicFramePr/>
          <p:nvPr/>
        </p:nvGraphicFramePr>
        <p:xfrm>
          <a:off x="365760" y="3048000"/>
          <a:ext cx="11460480" cy="347472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57027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HYBRID SYSTEM</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Research-Grade Hybrid SRL-QA Architecture</a:t>
            </a:r>
            <a:endParaRPr lang="en-US" sz="3467" dirty="0"/>
          </a:p>
        </p:txBody>
      </p:sp>
      <p:pic>
        <p:nvPicPr>
          <p:cNvPr id="5" name="Image 0" descr="preencoded.png"/>
          <p:cNvPicPr>
            <a:picLocks noChangeAspect="1"/>
          </p:cNvPicPr>
          <p:nvPr/>
        </p:nvPicPr>
        <p:blipFill>
          <a:blip r:embed="rId3"/>
          <a:stretch>
            <a:fillRect/>
          </a:stretch>
        </p:blipFill>
        <p:spPr>
          <a:xfrm>
            <a:off x="365760" y="1280160"/>
            <a:ext cx="11460480" cy="3535680"/>
          </a:xfrm>
          <a:prstGeom prst="rect">
            <a:avLst/>
          </a:prstGeom>
        </p:spPr>
      </p:pic>
      <p:sp>
        <p:nvSpPr>
          <p:cNvPr id="6" name="Shape 3"/>
          <p:cNvSpPr/>
          <p:nvPr/>
        </p:nvSpPr>
        <p:spPr>
          <a:xfrm>
            <a:off x="365760" y="4998720"/>
            <a:ext cx="2865120" cy="1463040"/>
          </a:xfrm>
          <a:prstGeom prst="rect">
            <a:avLst/>
          </a:prstGeom>
          <a:solidFill>
            <a:srgbClr val="FFFFFF"/>
          </a:solidFill>
          <a:ln/>
          <a:effectLst>
            <a:outerShdw blurRad="76200" dist="25400" dir="8100000" algn="bl" rotWithShape="0">
              <a:srgbClr val="000000">
                <a:alpha val="10000"/>
              </a:srgbClr>
            </a:outerShdw>
          </a:effectLst>
        </p:spPr>
      </p:sp>
      <p:sp>
        <p:nvSpPr>
          <p:cNvPr id="7" name="Shape 4"/>
          <p:cNvSpPr/>
          <p:nvPr/>
        </p:nvSpPr>
        <p:spPr>
          <a:xfrm>
            <a:off x="365760" y="4998720"/>
            <a:ext cx="85344" cy="1463040"/>
          </a:xfrm>
          <a:prstGeom prst="rect">
            <a:avLst/>
          </a:prstGeom>
          <a:solidFill>
            <a:srgbClr val="142966"/>
          </a:solidFill>
          <a:ln w="12700">
            <a:solidFill>
              <a:srgbClr val="142966"/>
            </a:solidFill>
            <a:prstDash val="solid"/>
          </a:ln>
        </p:spPr>
      </p:sp>
      <p:sp>
        <p:nvSpPr>
          <p:cNvPr id="8" name="Text 5"/>
          <p:cNvSpPr/>
          <p:nvPr/>
        </p:nvSpPr>
        <p:spPr>
          <a:xfrm>
            <a:off x="548640" y="5145024"/>
            <a:ext cx="2621280" cy="390144"/>
          </a:xfrm>
          <a:prstGeom prst="rect">
            <a:avLst/>
          </a:prstGeom>
          <a:noFill/>
          <a:ln/>
        </p:spPr>
        <p:txBody>
          <a:bodyPr wrap="square" lIns="0" tIns="0" rIns="0" bIns="0" rtlCol="0" anchor="ctr"/>
          <a:lstStyle/>
          <a:p>
            <a:r>
              <a:rPr lang="en-US" sz="1467" b="1" dirty="0">
                <a:solidFill>
                  <a:srgbClr val="142966"/>
                </a:solidFill>
              </a:rPr>
              <a:t>Classical Baseline</a:t>
            </a:r>
            <a:endParaRPr lang="en-US" sz="1467" dirty="0"/>
          </a:p>
        </p:txBody>
      </p:sp>
      <p:sp>
        <p:nvSpPr>
          <p:cNvPr id="9" name="Text 6"/>
          <p:cNvSpPr/>
          <p:nvPr/>
        </p:nvSpPr>
        <p:spPr>
          <a:xfrm>
            <a:off x="548640" y="5547360"/>
            <a:ext cx="2621280" cy="792480"/>
          </a:xfrm>
          <a:prstGeom prst="rect">
            <a:avLst/>
          </a:prstGeom>
          <a:noFill/>
          <a:ln/>
        </p:spPr>
        <p:txBody>
          <a:bodyPr wrap="square" lIns="0" tIns="0" rIns="0" bIns="0" rtlCol="0" anchor="ctr"/>
          <a:lstStyle/>
          <a:p>
            <a:r>
              <a:rPr lang="en-US" sz="1333" dirty="0">
                <a:solidFill>
                  <a:srgbClr val="0A1430"/>
                </a:solidFill>
              </a:rPr>
              <a:t>PropQA-Net alone. EM=0.10, F1=0.47. 3.96ms.</a:t>
            </a:r>
            <a:endParaRPr lang="en-US" sz="1333" dirty="0"/>
          </a:p>
        </p:txBody>
      </p:sp>
      <p:sp>
        <p:nvSpPr>
          <p:cNvPr id="10" name="Shape 7"/>
          <p:cNvSpPr/>
          <p:nvPr/>
        </p:nvSpPr>
        <p:spPr>
          <a:xfrm>
            <a:off x="3316224" y="4998720"/>
            <a:ext cx="2865120" cy="1463040"/>
          </a:xfrm>
          <a:prstGeom prst="rect">
            <a:avLst/>
          </a:prstGeom>
          <a:solidFill>
            <a:srgbClr val="FFFFFF"/>
          </a:solidFill>
          <a:ln/>
          <a:effectLst>
            <a:outerShdw blurRad="76200" dist="25400" dir="8100000" algn="bl" rotWithShape="0">
              <a:srgbClr val="000000">
                <a:alpha val="10000"/>
              </a:srgbClr>
            </a:outerShdw>
          </a:effectLst>
        </p:spPr>
      </p:sp>
      <p:sp>
        <p:nvSpPr>
          <p:cNvPr id="11" name="Shape 8"/>
          <p:cNvSpPr/>
          <p:nvPr/>
        </p:nvSpPr>
        <p:spPr>
          <a:xfrm>
            <a:off x="3316224" y="4998720"/>
            <a:ext cx="85344" cy="1463040"/>
          </a:xfrm>
          <a:prstGeom prst="rect">
            <a:avLst/>
          </a:prstGeom>
          <a:solidFill>
            <a:srgbClr val="1B7FBF"/>
          </a:solidFill>
          <a:ln w="12700">
            <a:solidFill>
              <a:srgbClr val="1B7FBF"/>
            </a:solidFill>
            <a:prstDash val="solid"/>
          </a:ln>
        </p:spPr>
      </p:sp>
      <p:sp>
        <p:nvSpPr>
          <p:cNvPr id="12" name="Text 9"/>
          <p:cNvSpPr/>
          <p:nvPr/>
        </p:nvSpPr>
        <p:spPr>
          <a:xfrm>
            <a:off x="3499104" y="5145024"/>
            <a:ext cx="2621280" cy="390144"/>
          </a:xfrm>
          <a:prstGeom prst="rect">
            <a:avLst/>
          </a:prstGeom>
          <a:noFill/>
          <a:ln/>
        </p:spPr>
        <p:txBody>
          <a:bodyPr wrap="square" lIns="0" tIns="0" rIns="0" bIns="0" rtlCol="0" anchor="ctr"/>
          <a:lstStyle/>
          <a:p>
            <a:r>
              <a:rPr lang="en-US" sz="1467" b="1" dirty="0">
                <a:solidFill>
                  <a:srgbClr val="142966"/>
                </a:solidFill>
              </a:rPr>
              <a:t>Heuristic Reranker</a:t>
            </a:r>
            <a:endParaRPr lang="en-US" sz="1467" dirty="0"/>
          </a:p>
        </p:txBody>
      </p:sp>
      <p:sp>
        <p:nvSpPr>
          <p:cNvPr id="13" name="Text 10"/>
          <p:cNvSpPr/>
          <p:nvPr/>
        </p:nvSpPr>
        <p:spPr>
          <a:xfrm>
            <a:off x="3499104" y="5547360"/>
            <a:ext cx="2621280" cy="792480"/>
          </a:xfrm>
          <a:prstGeom prst="rect">
            <a:avLst/>
          </a:prstGeom>
          <a:noFill/>
          <a:ln/>
        </p:spPr>
        <p:txBody>
          <a:bodyPr wrap="square" lIns="0" tIns="0" rIns="0" bIns="0" rtlCol="0" anchor="ctr"/>
          <a:lstStyle/>
          <a:p>
            <a:r>
              <a:rPr lang="en-US" sz="1333" dirty="0">
                <a:solidFill>
                  <a:srgbClr val="0A1430"/>
                </a:solidFill>
              </a:rPr>
              <a:t>Role-aware rules rerank candidates. EM=0.60, F1=0.78. 4.98ms.</a:t>
            </a:r>
            <a:endParaRPr lang="en-US" sz="1333" dirty="0"/>
          </a:p>
        </p:txBody>
      </p:sp>
      <p:sp>
        <p:nvSpPr>
          <p:cNvPr id="14" name="Shape 11"/>
          <p:cNvSpPr/>
          <p:nvPr/>
        </p:nvSpPr>
        <p:spPr>
          <a:xfrm>
            <a:off x="6266688" y="4998720"/>
            <a:ext cx="2865120" cy="1463040"/>
          </a:xfrm>
          <a:prstGeom prst="rect">
            <a:avLst/>
          </a:prstGeom>
          <a:solidFill>
            <a:srgbClr val="FFFFFF"/>
          </a:solidFill>
          <a:ln/>
          <a:effectLst>
            <a:outerShdw blurRad="76200" dist="25400" dir="8100000" algn="bl" rotWithShape="0">
              <a:srgbClr val="000000">
                <a:alpha val="10000"/>
              </a:srgbClr>
            </a:outerShdw>
          </a:effectLst>
        </p:spPr>
      </p:sp>
      <p:sp>
        <p:nvSpPr>
          <p:cNvPr id="15" name="Shape 12"/>
          <p:cNvSpPr/>
          <p:nvPr/>
        </p:nvSpPr>
        <p:spPr>
          <a:xfrm>
            <a:off x="6266688" y="4998720"/>
            <a:ext cx="85344" cy="1463040"/>
          </a:xfrm>
          <a:prstGeom prst="rect">
            <a:avLst/>
          </a:prstGeom>
          <a:solidFill>
            <a:srgbClr val="0FA3B1"/>
          </a:solidFill>
          <a:ln w="12700">
            <a:solidFill>
              <a:srgbClr val="0FA3B1"/>
            </a:solidFill>
            <a:prstDash val="solid"/>
          </a:ln>
        </p:spPr>
      </p:sp>
      <p:sp>
        <p:nvSpPr>
          <p:cNvPr id="16" name="Text 13"/>
          <p:cNvSpPr/>
          <p:nvPr/>
        </p:nvSpPr>
        <p:spPr>
          <a:xfrm>
            <a:off x="6449568" y="5145024"/>
            <a:ext cx="2621280" cy="390144"/>
          </a:xfrm>
          <a:prstGeom prst="rect">
            <a:avLst/>
          </a:prstGeom>
          <a:noFill/>
          <a:ln/>
        </p:spPr>
        <p:txBody>
          <a:bodyPr wrap="square" lIns="0" tIns="0" rIns="0" bIns="0" rtlCol="0" anchor="ctr"/>
          <a:lstStyle/>
          <a:p>
            <a:r>
              <a:rPr lang="en-US" sz="1467" b="1" dirty="0">
                <a:solidFill>
                  <a:srgbClr val="142966"/>
                </a:solidFill>
              </a:rPr>
              <a:t>Transformer QA Assist</a:t>
            </a:r>
            <a:endParaRPr lang="en-US" sz="1467" dirty="0"/>
          </a:p>
        </p:txBody>
      </p:sp>
      <p:sp>
        <p:nvSpPr>
          <p:cNvPr id="17" name="Text 14"/>
          <p:cNvSpPr/>
          <p:nvPr/>
        </p:nvSpPr>
        <p:spPr>
          <a:xfrm>
            <a:off x="6449568" y="5547360"/>
            <a:ext cx="2621280" cy="792480"/>
          </a:xfrm>
          <a:prstGeom prst="rect">
            <a:avLst/>
          </a:prstGeom>
          <a:noFill/>
          <a:ln/>
        </p:spPr>
        <p:txBody>
          <a:bodyPr wrap="square" lIns="0" tIns="0" rIns="0" bIns="0" rtlCol="0" anchor="ctr"/>
          <a:lstStyle/>
          <a:p>
            <a:r>
              <a:rPr lang="en-US" sz="1333" dirty="0">
                <a:solidFill>
                  <a:srgbClr val="0A1430"/>
                </a:solidFill>
              </a:rPr>
              <a:t>Adds candidate spans from transformer. EM=0.60, F1=0.78. 289ms.</a:t>
            </a:r>
            <a:endParaRPr lang="en-US" sz="1333" dirty="0"/>
          </a:p>
        </p:txBody>
      </p:sp>
      <p:sp>
        <p:nvSpPr>
          <p:cNvPr id="18" name="Shape 15"/>
          <p:cNvSpPr/>
          <p:nvPr/>
        </p:nvSpPr>
        <p:spPr>
          <a:xfrm>
            <a:off x="9217152" y="4998720"/>
            <a:ext cx="2865120" cy="1463040"/>
          </a:xfrm>
          <a:prstGeom prst="rect">
            <a:avLst/>
          </a:prstGeom>
          <a:solidFill>
            <a:srgbClr val="FFFFFF"/>
          </a:solidFill>
          <a:ln/>
          <a:effectLst>
            <a:outerShdw blurRad="76200" dist="25400" dir="8100000" algn="bl" rotWithShape="0">
              <a:srgbClr val="000000">
                <a:alpha val="10000"/>
              </a:srgbClr>
            </a:outerShdw>
          </a:effectLst>
        </p:spPr>
      </p:sp>
      <p:sp>
        <p:nvSpPr>
          <p:cNvPr id="19" name="Shape 16"/>
          <p:cNvSpPr/>
          <p:nvPr/>
        </p:nvSpPr>
        <p:spPr>
          <a:xfrm>
            <a:off x="9217152" y="4998720"/>
            <a:ext cx="85344" cy="1463040"/>
          </a:xfrm>
          <a:prstGeom prst="rect">
            <a:avLst/>
          </a:prstGeom>
          <a:solidFill>
            <a:srgbClr val="F4A325"/>
          </a:solidFill>
          <a:ln w="12700">
            <a:solidFill>
              <a:srgbClr val="F4A325"/>
            </a:solidFill>
            <a:prstDash val="solid"/>
          </a:ln>
        </p:spPr>
      </p:sp>
      <p:sp>
        <p:nvSpPr>
          <p:cNvPr id="20" name="Text 17"/>
          <p:cNvSpPr/>
          <p:nvPr/>
        </p:nvSpPr>
        <p:spPr>
          <a:xfrm>
            <a:off x="9400032" y="5145024"/>
            <a:ext cx="2621280" cy="390144"/>
          </a:xfrm>
          <a:prstGeom prst="rect">
            <a:avLst/>
          </a:prstGeom>
          <a:noFill/>
          <a:ln/>
        </p:spPr>
        <p:txBody>
          <a:bodyPr wrap="square" lIns="0" tIns="0" rIns="0" bIns="0" rtlCol="0" anchor="ctr"/>
          <a:lstStyle/>
          <a:p>
            <a:r>
              <a:rPr lang="en-US" sz="1467" b="1" dirty="0">
                <a:solidFill>
                  <a:srgbClr val="142966"/>
                </a:solidFill>
              </a:rPr>
              <a:t>Full Hybrid</a:t>
            </a:r>
            <a:endParaRPr lang="en-US" sz="1467" dirty="0"/>
          </a:p>
        </p:txBody>
      </p:sp>
      <p:sp>
        <p:nvSpPr>
          <p:cNvPr id="21" name="Text 18"/>
          <p:cNvSpPr/>
          <p:nvPr/>
        </p:nvSpPr>
        <p:spPr>
          <a:xfrm>
            <a:off x="9400032" y="5547360"/>
            <a:ext cx="2621280" cy="792480"/>
          </a:xfrm>
          <a:prstGeom prst="rect">
            <a:avLst/>
          </a:prstGeom>
          <a:noFill/>
          <a:ln/>
        </p:spPr>
        <p:txBody>
          <a:bodyPr wrap="square" lIns="0" tIns="0" rIns="0" bIns="0" rtlCol="0" anchor="ctr"/>
          <a:lstStyle/>
          <a:p>
            <a:r>
              <a:rPr lang="en-US" sz="1333" dirty="0">
                <a:solidFill>
                  <a:srgbClr val="0A1430"/>
                </a:solidFill>
              </a:rPr>
              <a:t>All channels + semantic reranker. EM=0.60, F1=0.78. 377ms.</a:t>
            </a:r>
            <a:endParaRPr lang="en-US" sz="1333" dirty="0"/>
          </a:p>
        </p:txBody>
      </p:sp>
    </p:spTree>
    <p:extLst>
      <p:ext uri="{BB962C8B-B14F-4D97-AF65-F5344CB8AC3E}">
        <p14:creationId xmlns:p14="http://schemas.microsoft.com/office/powerpoint/2010/main" val="2637088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F4E"/>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F4A325"/>
          </a:solidFill>
          <a:ln w="12700">
            <a:solidFill>
              <a:srgbClr val="F4A325"/>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0A1430"/>
                </a:solidFill>
              </a:rPr>
              <a:t>INNOVATION 1 — ALGORITHMIC</a:t>
            </a:r>
            <a:endParaRPr lang="en-US" sz="1333" dirty="0"/>
          </a:p>
        </p:txBody>
      </p:sp>
      <p:sp>
        <p:nvSpPr>
          <p:cNvPr id="4" name="Text 2"/>
          <p:cNvSpPr/>
          <p:nvPr/>
        </p:nvSpPr>
        <p:spPr>
          <a:xfrm>
            <a:off x="548640" y="609600"/>
            <a:ext cx="11094720" cy="792480"/>
          </a:xfrm>
          <a:prstGeom prst="rect">
            <a:avLst/>
          </a:prstGeom>
          <a:noFill/>
          <a:ln/>
        </p:spPr>
        <p:txBody>
          <a:bodyPr wrap="square" rtlCol="0" anchor="ctr"/>
          <a:lstStyle/>
          <a:p>
            <a:r>
              <a:rPr lang="en-US" sz="3733" b="1" dirty="0">
                <a:solidFill>
                  <a:srgbClr val="FFFFFF"/>
                </a:solidFill>
                <a:latin typeface="Calibri" pitchFamily="34" charset="0"/>
                <a:ea typeface="Calibri" pitchFamily="34" charset="-122"/>
                <a:cs typeface="Calibri" pitchFamily="34" charset="-120"/>
              </a:rPr>
              <a:t>Frame-Aware Predicate Disambiguation</a:t>
            </a:r>
            <a:endParaRPr lang="en-US" sz="3733" dirty="0"/>
          </a:p>
        </p:txBody>
      </p:sp>
      <p:pic>
        <p:nvPicPr>
          <p:cNvPr id="5" name="Image 0" descr="preencoded.png"/>
          <p:cNvPicPr>
            <a:picLocks noChangeAspect="1"/>
          </p:cNvPicPr>
          <p:nvPr/>
        </p:nvPicPr>
        <p:blipFill>
          <a:blip r:embed="rId3"/>
          <a:stretch>
            <a:fillRect/>
          </a:stretch>
        </p:blipFill>
        <p:spPr>
          <a:xfrm>
            <a:off x="365760" y="1524000"/>
            <a:ext cx="6705600" cy="3779520"/>
          </a:xfrm>
          <a:prstGeom prst="rect">
            <a:avLst/>
          </a:prstGeom>
        </p:spPr>
      </p:pic>
      <p:sp>
        <p:nvSpPr>
          <p:cNvPr id="6" name="Text 3"/>
          <p:cNvSpPr/>
          <p:nvPr/>
        </p:nvSpPr>
        <p:spPr>
          <a:xfrm>
            <a:off x="7437120" y="1524000"/>
            <a:ext cx="4328160" cy="4632960"/>
          </a:xfrm>
          <a:prstGeom prst="rect">
            <a:avLst/>
          </a:prstGeom>
          <a:noFill/>
          <a:ln/>
        </p:spPr>
        <p:txBody>
          <a:bodyPr wrap="square" lIns="1355" tIns="1355" rIns="1355" bIns="1355" rtlCol="0" anchor="t"/>
          <a:lstStyle/>
          <a:p>
            <a:pPr marL="457189" indent="-457189">
              <a:buSzPct val="100000"/>
              <a:buChar char="•"/>
            </a:pPr>
            <a:r>
              <a:rPr lang="en-US" sz="1467" dirty="0">
                <a:solidFill>
                  <a:srgbClr val="D8E6FF"/>
                </a:solidFill>
              </a:rPr>
              <a:t>Problem: isolated predicate embeddings cannot resolve ambiguous verbs like 'charge', 'leave', or 'hold'</a:t>
            </a:r>
            <a:endParaRPr lang="en-US" sz="1467" dirty="0"/>
          </a:p>
          <a:p>
            <a:pPr marL="457189" indent="-457189">
              <a:buSzPct val="100000"/>
              <a:buChar char="•"/>
            </a:pPr>
            <a:r>
              <a:rPr lang="en-US" sz="1467" dirty="0">
                <a:solidFill>
                  <a:srgbClr val="D8E6FF"/>
                </a:solidFill>
              </a:rPr>
              <a:t>Solution: replace with roleset memory — key-value pairs encoding role descriptions, glosses, paraphrases</a:t>
            </a:r>
            <a:endParaRPr lang="en-US" sz="1467" dirty="0"/>
          </a:p>
          <a:p>
            <a:pPr marL="457189" indent="-457189">
              <a:buSzPct val="100000"/>
              <a:buChar char="•"/>
            </a:pPr>
            <a:r>
              <a:rPr lang="en-US" sz="1467" dirty="0">
                <a:solidFill>
                  <a:srgbClr val="D8E6FF"/>
                </a:solidFill>
              </a:rPr>
              <a:t>Mechanism: attention over roleset memory during decoding → soft semantic constraints</a:t>
            </a:r>
            <a:endParaRPr lang="en-US" sz="1467" dirty="0"/>
          </a:p>
          <a:p>
            <a:pPr marL="457189" indent="-457189">
              <a:buSzPct val="100000"/>
              <a:buChar char="•"/>
            </a:pPr>
            <a:r>
              <a:rPr lang="en-US" sz="1467" dirty="0">
                <a:solidFill>
                  <a:srgbClr val="D8E6FF"/>
                </a:solidFill>
              </a:rPr>
              <a:t>Benefit: lightweight upgrade — frame files already exist in PropBank</a:t>
            </a:r>
            <a:endParaRPr lang="en-US" sz="1467" dirty="0"/>
          </a:p>
          <a:p>
            <a:pPr marL="457189" indent="-457189">
              <a:buSzPct val="100000"/>
              <a:buChar char="•"/>
            </a:pPr>
            <a:r>
              <a:rPr lang="en-US" sz="1467" dirty="0">
                <a:solidFill>
                  <a:srgbClr val="D8E6FF"/>
                </a:solidFill>
              </a:rPr>
              <a:t>Extension: semantic frame chaining links predicates as nodes in a document graph via shared args + coreference</a:t>
            </a:r>
            <a:endParaRPr lang="en-US" sz="1467" dirty="0"/>
          </a:p>
        </p:txBody>
      </p:sp>
    </p:spTree>
    <p:extLst>
      <p:ext uri="{BB962C8B-B14F-4D97-AF65-F5344CB8AC3E}">
        <p14:creationId xmlns:p14="http://schemas.microsoft.com/office/powerpoint/2010/main" val="3647021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INNOVATION 2 — SYSTEM LEVEL</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PropAgent: Automated SRL-QA Workflow</a:t>
            </a:r>
            <a:endParaRPr lang="en-US" sz="3467" dirty="0"/>
          </a:p>
        </p:txBody>
      </p:sp>
      <p:sp>
        <p:nvSpPr>
          <p:cNvPr id="5" name="Shape 3"/>
          <p:cNvSpPr/>
          <p:nvPr/>
        </p:nvSpPr>
        <p:spPr>
          <a:xfrm>
            <a:off x="304800" y="1463040"/>
            <a:ext cx="1316736" cy="731520"/>
          </a:xfrm>
          <a:prstGeom prst="rect">
            <a:avLst/>
          </a:prstGeom>
          <a:solidFill>
            <a:srgbClr val="0FA3B1"/>
          </a:solidFill>
          <a:ln w="12700">
            <a:solidFill>
              <a:srgbClr val="0FA3B1"/>
            </a:solidFill>
            <a:prstDash val="solid"/>
          </a:ln>
        </p:spPr>
      </p:sp>
      <p:sp>
        <p:nvSpPr>
          <p:cNvPr id="6" name="Text 4"/>
          <p:cNvSpPr/>
          <p:nvPr/>
        </p:nvSpPr>
        <p:spPr>
          <a:xfrm>
            <a:off x="304800" y="1463040"/>
            <a:ext cx="1316736" cy="731520"/>
          </a:xfrm>
          <a:prstGeom prst="rect">
            <a:avLst/>
          </a:prstGeom>
          <a:noFill/>
          <a:ln/>
        </p:spPr>
        <p:txBody>
          <a:bodyPr wrap="square" lIns="0" tIns="0" rIns="0" bIns="0" rtlCol="0" anchor="ctr"/>
          <a:lstStyle/>
          <a:p>
            <a:pPr algn="ctr"/>
            <a:r>
              <a:rPr lang="en-US" sz="1133" b="1" dirty="0">
                <a:solidFill>
                  <a:srgbClr val="FFFFFF"/>
                </a:solidFill>
              </a:rPr>
              <a:t>IngestAgent</a:t>
            </a:r>
            <a:endParaRPr lang="en-US" sz="1133" dirty="0"/>
          </a:p>
        </p:txBody>
      </p:sp>
      <p:sp>
        <p:nvSpPr>
          <p:cNvPr id="7" name="Shape 5"/>
          <p:cNvSpPr/>
          <p:nvPr/>
        </p:nvSpPr>
        <p:spPr>
          <a:xfrm>
            <a:off x="1621536" y="1828800"/>
            <a:ext cx="134112" cy="0"/>
          </a:xfrm>
          <a:prstGeom prst="line">
            <a:avLst/>
          </a:prstGeom>
          <a:noFill/>
          <a:ln w="19050">
            <a:solidFill>
              <a:srgbClr val="142966"/>
            </a:solidFill>
            <a:prstDash val="solid"/>
          </a:ln>
        </p:spPr>
      </p:sp>
      <p:sp>
        <p:nvSpPr>
          <p:cNvPr id="8" name="Shape 6"/>
          <p:cNvSpPr/>
          <p:nvPr/>
        </p:nvSpPr>
        <p:spPr>
          <a:xfrm>
            <a:off x="1755648" y="1463040"/>
            <a:ext cx="1316736" cy="731520"/>
          </a:xfrm>
          <a:prstGeom prst="rect">
            <a:avLst/>
          </a:prstGeom>
          <a:solidFill>
            <a:srgbClr val="1B7FBF"/>
          </a:solidFill>
          <a:ln w="12700">
            <a:solidFill>
              <a:srgbClr val="1B7FBF"/>
            </a:solidFill>
            <a:prstDash val="solid"/>
          </a:ln>
        </p:spPr>
      </p:sp>
      <p:sp>
        <p:nvSpPr>
          <p:cNvPr id="9" name="Text 7"/>
          <p:cNvSpPr/>
          <p:nvPr/>
        </p:nvSpPr>
        <p:spPr>
          <a:xfrm>
            <a:off x="1755648" y="1463040"/>
            <a:ext cx="1316736" cy="731520"/>
          </a:xfrm>
          <a:prstGeom prst="rect">
            <a:avLst/>
          </a:prstGeom>
          <a:noFill/>
          <a:ln/>
        </p:spPr>
        <p:txBody>
          <a:bodyPr wrap="square" lIns="0" tIns="0" rIns="0" bIns="0" rtlCol="0" anchor="ctr"/>
          <a:lstStyle/>
          <a:p>
            <a:pPr algn="ctr"/>
            <a:r>
              <a:rPr lang="en-US" sz="1133" b="1" dirty="0">
                <a:solidFill>
                  <a:srgbClr val="FFFFFF"/>
                </a:solidFill>
              </a:rPr>
              <a:t>ParseAgent</a:t>
            </a:r>
            <a:endParaRPr lang="en-US" sz="1133" dirty="0"/>
          </a:p>
        </p:txBody>
      </p:sp>
      <p:sp>
        <p:nvSpPr>
          <p:cNvPr id="10" name="Shape 8"/>
          <p:cNvSpPr/>
          <p:nvPr/>
        </p:nvSpPr>
        <p:spPr>
          <a:xfrm>
            <a:off x="3072384" y="1828800"/>
            <a:ext cx="134112" cy="0"/>
          </a:xfrm>
          <a:prstGeom prst="line">
            <a:avLst/>
          </a:prstGeom>
          <a:noFill/>
          <a:ln w="19050">
            <a:solidFill>
              <a:srgbClr val="142966"/>
            </a:solidFill>
            <a:prstDash val="solid"/>
          </a:ln>
        </p:spPr>
      </p:sp>
      <p:sp>
        <p:nvSpPr>
          <p:cNvPr id="11" name="Shape 9"/>
          <p:cNvSpPr/>
          <p:nvPr/>
        </p:nvSpPr>
        <p:spPr>
          <a:xfrm>
            <a:off x="3206496" y="1463040"/>
            <a:ext cx="1316736" cy="731520"/>
          </a:xfrm>
          <a:prstGeom prst="rect">
            <a:avLst/>
          </a:prstGeom>
          <a:solidFill>
            <a:srgbClr val="142966"/>
          </a:solidFill>
          <a:ln w="12700">
            <a:solidFill>
              <a:srgbClr val="142966"/>
            </a:solidFill>
            <a:prstDash val="solid"/>
          </a:ln>
        </p:spPr>
      </p:sp>
      <p:sp>
        <p:nvSpPr>
          <p:cNvPr id="12" name="Text 10"/>
          <p:cNvSpPr/>
          <p:nvPr/>
        </p:nvSpPr>
        <p:spPr>
          <a:xfrm>
            <a:off x="3206496" y="1463040"/>
            <a:ext cx="1316736" cy="731520"/>
          </a:xfrm>
          <a:prstGeom prst="rect">
            <a:avLst/>
          </a:prstGeom>
          <a:noFill/>
          <a:ln/>
        </p:spPr>
        <p:txBody>
          <a:bodyPr wrap="square" lIns="0" tIns="0" rIns="0" bIns="0" rtlCol="0" anchor="ctr"/>
          <a:lstStyle/>
          <a:p>
            <a:pPr algn="ctr"/>
            <a:r>
              <a:rPr lang="en-US" sz="1133" b="1" dirty="0">
                <a:solidFill>
                  <a:srgbClr val="FFFFFF"/>
                </a:solidFill>
              </a:rPr>
              <a:t>SRLAgent</a:t>
            </a:r>
            <a:endParaRPr lang="en-US" sz="1133" dirty="0"/>
          </a:p>
        </p:txBody>
      </p:sp>
      <p:sp>
        <p:nvSpPr>
          <p:cNvPr id="13" name="Shape 11"/>
          <p:cNvSpPr/>
          <p:nvPr/>
        </p:nvSpPr>
        <p:spPr>
          <a:xfrm>
            <a:off x="4523232" y="1828800"/>
            <a:ext cx="134112" cy="0"/>
          </a:xfrm>
          <a:prstGeom prst="line">
            <a:avLst/>
          </a:prstGeom>
          <a:noFill/>
          <a:ln w="19050">
            <a:solidFill>
              <a:srgbClr val="142966"/>
            </a:solidFill>
            <a:prstDash val="solid"/>
          </a:ln>
        </p:spPr>
      </p:sp>
      <p:sp>
        <p:nvSpPr>
          <p:cNvPr id="14" name="Shape 12"/>
          <p:cNvSpPr/>
          <p:nvPr/>
        </p:nvSpPr>
        <p:spPr>
          <a:xfrm>
            <a:off x="4657344" y="1463040"/>
            <a:ext cx="1316736" cy="731520"/>
          </a:xfrm>
          <a:prstGeom prst="rect">
            <a:avLst/>
          </a:prstGeom>
          <a:solidFill>
            <a:srgbClr val="0FA3B1"/>
          </a:solidFill>
          <a:ln w="12700">
            <a:solidFill>
              <a:srgbClr val="0FA3B1"/>
            </a:solidFill>
            <a:prstDash val="solid"/>
          </a:ln>
        </p:spPr>
      </p:sp>
      <p:sp>
        <p:nvSpPr>
          <p:cNvPr id="15" name="Text 13"/>
          <p:cNvSpPr/>
          <p:nvPr/>
        </p:nvSpPr>
        <p:spPr>
          <a:xfrm>
            <a:off x="4657344" y="1463040"/>
            <a:ext cx="1316736" cy="731520"/>
          </a:xfrm>
          <a:prstGeom prst="rect">
            <a:avLst/>
          </a:prstGeom>
          <a:noFill/>
          <a:ln/>
        </p:spPr>
        <p:txBody>
          <a:bodyPr wrap="square" lIns="0" tIns="0" rIns="0" bIns="0" rtlCol="0" anchor="ctr"/>
          <a:lstStyle/>
          <a:p>
            <a:pPr algn="ctr"/>
            <a:r>
              <a:rPr lang="en-US" sz="1133" b="1" dirty="0">
                <a:solidFill>
                  <a:srgbClr val="FFFFFF"/>
                </a:solidFill>
              </a:rPr>
              <a:t>IndexAgent</a:t>
            </a:r>
            <a:endParaRPr lang="en-US" sz="1133" dirty="0"/>
          </a:p>
        </p:txBody>
      </p:sp>
      <p:sp>
        <p:nvSpPr>
          <p:cNvPr id="16" name="Shape 14"/>
          <p:cNvSpPr/>
          <p:nvPr/>
        </p:nvSpPr>
        <p:spPr>
          <a:xfrm>
            <a:off x="5974080" y="1828800"/>
            <a:ext cx="134112" cy="0"/>
          </a:xfrm>
          <a:prstGeom prst="line">
            <a:avLst/>
          </a:prstGeom>
          <a:noFill/>
          <a:ln w="19050">
            <a:solidFill>
              <a:srgbClr val="142966"/>
            </a:solidFill>
            <a:prstDash val="solid"/>
          </a:ln>
        </p:spPr>
      </p:sp>
      <p:sp>
        <p:nvSpPr>
          <p:cNvPr id="17" name="Shape 15"/>
          <p:cNvSpPr/>
          <p:nvPr/>
        </p:nvSpPr>
        <p:spPr>
          <a:xfrm>
            <a:off x="6108192" y="1463040"/>
            <a:ext cx="1316736" cy="731520"/>
          </a:xfrm>
          <a:prstGeom prst="rect">
            <a:avLst/>
          </a:prstGeom>
          <a:solidFill>
            <a:srgbClr val="1B7FBF"/>
          </a:solidFill>
          <a:ln w="12700">
            <a:solidFill>
              <a:srgbClr val="1B7FBF"/>
            </a:solidFill>
            <a:prstDash val="solid"/>
          </a:ln>
        </p:spPr>
      </p:sp>
      <p:sp>
        <p:nvSpPr>
          <p:cNvPr id="18" name="Text 16"/>
          <p:cNvSpPr/>
          <p:nvPr/>
        </p:nvSpPr>
        <p:spPr>
          <a:xfrm>
            <a:off x="6108192" y="1463040"/>
            <a:ext cx="1316736" cy="731520"/>
          </a:xfrm>
          <a:prstGeom prst="rect">
            <a:avLst/>
          </a:prstGeom>
          <a:noFill/>
          <a:ln/>
        </p:spPr>
        <p:txBody>
          <a:bodyPr wrap="square" lIns="0" tIns="0" rIns="0" bIns="0" rtlCol="0" anchor="ctr"/>
          <a:lstStyle/>
          <a:p>
            <a:pPr algn="ctr"/>
            <a:r>
              <a:rPr lang="en-US" sz="1133" b="1" dirty="0">
                <a:solidFill>
                  <a:srgbClr val="FFFFFF"/>
                </a:solidFill>
              </a:rPr>
              <a:t>MapperAgent</a:t>
            </a:r>
            <a:endParaRPr lang="en-US" sz="1133" dirty="0"/>
          </a:p>
        </p:txBody>
      </p:sp>
      <p:sp>
        <p:nvSpPr>
          <p:cNvPr id="19" name="Shape 17"/>
          <p:cNvSpPr/>
          <p:nvPr/>
        </p:nvSpPr>
        <p:spPr>
          <a:xfrm>
            <a:off x="7424928" y="1828800"/>
            <a:ext cx="134112" cy="0"/>
          </a:xfrm>
          <a:prstGeom prst="line">
            <a:avLst/>
          </a:prstGeom>
          <a:noFill/>
          <a:ln w="19050">
            <a:solidFill>
              <a:srgbClr val="142966"/>
            </a:solidFill>
            <a:prstDash val="solid"/>
          </a:ln>
        </p:spPr>
      </p:sp>
      <p:sp>
        <p:nvSpPr>
          <p:cNvPr id="20" name="Shape 18"/>
          <p:cNvSpPr/>
          <p:nvPr/>
        </p:nvSpPr>
        <p:spPr>
          <a:xfrm>
            <a:off x="7559040" y="1463040"/>
            <a:ext cx="1316736" cy="731520"/>
          </a:xfrm>
          <a:prstGeom prst="rect">
            <a:avLst/>
          </a:prstGeom>
          <a:solidFill>
            <a:srgbClr val="142966"/>
          </a:solidFill>
          <a:ln w="12700">
            <a:solidFill>
              <a:srgbClr val="142966"/>
            </a:solidFill>
            <a:prstDash val="solid"/>
          </a:ln>
        </p:spPr>
      </p:sp>
      <p:sp>
        <p:nvSpPr>
          <p:cNvPr id="21" name="Text 19"/>
          <p:cNvSpPr/>
          <p:nvPr/>
        </p:nvSpPr>
        <p:spPr>
          <a:xfrm>
            <a:off x="7559040" y="1463040"/>
            <a:ext cx="1316736" cy="731520"/>
          </a:xfrm>
          <a:prstGeom prst="rect">
            <a:avLst/>
          </a:prstGeom>
          <a:noFill/>
          <a:ln/>
        </p:spPr>
        <p:txBody>
          <a:bodyPr wrap="square" lIns="0" tIns="0" rIns="0" bIns="0" rtlCol="0" anchor="ctr"/>
          <a:lstStyle/>
          <a:p>
            <a:pPr algn="ctr"/>
            <a:r>
              <a:rPr lang="en-US" sz="1133" b="1" dirty="0">
                <a:solidFill>
                  <a:srgbClr val="FFFFFF"/>
                </a:solidFill>
              </a:rPr>
              <a:t>ReasonerAgent</a:t>
            </a:r>
            <a:endParaRPr lang="en-US" sz="1133" dirty="0"/>
          </a:p>
        </p:txBody>
      </p:sp>
      <p:sp>
        <p:nvSpPr>
          <p:cNvPr id="22" name="Shape 20"/>
          <p:cNvSpPr/>
          <p:nvPr/>
        </p:nvSpPr>
        <p:spPr>
          <a:xfrm>
            <a:off x="8875776" y="1828800"/>
            <a:ext cx="134112" cy="0"/>
          </a:xfrm>
          <a:prstGeom prst="line">
            <a:avLst/>
          </a:prstGeom>
          <a:noFill/>
          <a:ln w="19050">
            <a:solidFill>
              <a:srgbClr val="142966"/>
            </a:solidFill>
            <a:prstDash val="solid"/>
          </a:ln>
        </p:spPr>
      </p:sp>
      <p:sp>
        <p:nvSpPr>
          <p:cNvPr id="23" name="Shape 21"/>
          <p:cNvSpPr/>
          <p:nvPr/>
        </p:nvSpPr>
        <p:spPr>
          <a:xfrm>
            <a:off x="9009888" y="1463040"/>
            <a:ext cx="1316736" cy="731520"/>
          </a:xfrm>
          <a:prstGeom prst="rect">
            <a:avLst/>
          </a:prstGeom>
          <a:solidFill>
            <a:srgbClr val="0FA3B1"/>
          </a:solidFill>
          <a:ln w="12700">
            <a:solidFill>
              <a:srgbClr val="0FA3B1"/>
            </a:solidFill>
            <a:prstDash val="solid"/>
          </a:ln>
        </p:spPr>
      </p:sp>
      <p:sp>
        <p:nvSpPr>
          <p:cNvPr id="24" name="Text 22"/>
          <p:cNvSpPr/>
          <p:nvPr/>
        </p:nvSpPr>
        <p:spPr>
          <a:xfrm>
            <a:off x="9009888" y="1463040"/>
            <a:ext cx="1316736" cy="731520"/>
          </a:xfrm>
          <a:prstGeom prst="rect">
            <a:avLst/>
          </a:prstGeom>
          <a:noFill/>
          <a:ln/>
        </p:spPr>
        <p:txBody>
          <a:bodyPr wrap="square" lIns="0" tIns="0" rIns="0" bIns="0" rtlCol="0" anchor="ctr"/>
          <a:lstStyle/>
          <a:p>
            <a:pPr algn="ctr"/>
            <a:r>
              <a:rPr lang="en-US" sz="1133" b="1" dirty="0">
                <a:solidFill>
                  <a:srgbClr val="FFFFFF"/>
                </a:solidFill>
              </a:rPr>
              <a:t>ValidatorAgent</a:t>
            </a:r>
            <a:endParaRPr lang="en-US" sz="1133" dirty="0"/>
          </a:p>
        </p:txBody>
      </p:sp>
      <p:sp>
        <p:nvSpPr>
          <p:cNvPr id="25" name="Shape 23"/>
          <p:cNvSpPr/>
          <p:nvPr/>
        </p:nvSpPr>
        <p:spPr>
          <a:xfrm>
            <a:off x="10326624" y="1828800"/>
            <a:ext cx="134112" cy="0"/>
          </a:xfrm>
          <a:prstGeom prst="line">
            <a:avLst/>
          </a:prstGeom>
          <a:noFill/>
          <a:ln w="19050">
            <a:solidFill>
              <a:srgbClr val="142966"/>
            </a:solidFill>
            <a:prstDash val="solid"/>
          </a:ln>
        </p:spPr>
      </p:sp>
      <p:sp>
        <p:nvSpPr>
          <p:cNvPr id="26" name="Shape 24"/>
          <p:cNvSpPr/>
          <p:nvPr/>
        </p:nvSpPr>
        <p:spPr>
          <a:xfrm>
            <a:off x="10460736" y="1463040"/>
            <a:ext cx="1316736" cy="731520"/>
          </a:xfrm>
          <a:prstGeom prst="rect">
            <a:avLst/>
          </a:prstGeom>
          <a:solidFill>
            <a:srgbClr val="F4A325"/>
          </a:solidFill>
          <a:ln w="12700">
            <a:solidFill>
              <a:srgbClr val="F4A325"/>
            </a:solidFill>
            <a:prstDash val="solid"/>
          </a:ln>
        </p:spPr>
      </p:sp>
      <p:sp>
        <p:nvSpPr>
          <p:cNvPr id="27" name="Text 25"/>
          <p:cNvSpPr/>
          <p:nvPr/>
        </p:nvSpPr>
        <p:spPr>
          <a:xfrm>
            <a:off x="10460736" y="1463040"/>
            <a:ext cx="1316736" cy="731520"/>
          </a:xfrm>
          <a:prstGeom prst="rect">
            <a:avLst/>
          </a:prstGeom>
          <a:noFill/>
          <a:ln/>
        </p:spPr>
        <p:txBody>
          <a:bodyPr wrap="square" lIns="0" tIns="0" rIns="0" bIns="0" rtlCol="0" anchor="ctr"/>
          <a:lstStyle/>
          <a:p>
            <a:pPr algn="ctr"/>
            <a:r>
              <a:rPr lang="en-US" sz="1133" b="1" dirty="0">
                <a:solidFill>
                  <a:srgbClr val="FFFFFF"/>
                </a:solidFill>
              </a:rPr>
              <a:t>ReportAgent</a:t>
            </a:r>
            <a:endParaRPr lang="en-US" sz="1133" dirty="0"/>
          </a:p>
        </p:txBody>
      </p:sp>
      <p:sp>
        <p:nvSpPr>
          <p:cNvPr id="28" name="Shape 26"/>
          <p:cNvSpPr/>
          <p:nvPr/>
        </p:nvSpPr>
        <p:spPr>
          <a:xfrm>
            <a:off x="365760" y="2499360"/>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29" name="Shape 27"/>
          <p:cNvSpPr/>
          <p:nvPr/>
        </p:nvSpPr>
        <p:spPr>
          <a:xfrm>
            <a:off x="365760" y="2499360"/>
            <a:ext cx="85344" cy="1645920"/>
          </a:xfrm>
          <a:prstGeom prst="rect">
            <a:avLst/>
          </a:prstGeom>
          <a:solidFill>
            <a:srgbClr val="0FA3B1"/>
          </a:solidFill>
          <a:ln w="12700">
            <a:solidFill>
              <a:srgbClr val="0FA3B1"/>
            </a:solidFill>
            <a:prstDash val="solid"/>
          </a:ln>
        </p:spPr>
      </p:sp>
      <p:sp>
        <p:nvSpPr>
          <p:cNvPr id="30" name="Text 28"/>
          <p:cNvSpPr/>
          <p:nvPr/>
        </p:nvSpPr>
        <p:spPr>
          <a:xfrm>
            <a:off x="548640" y="2645664"/>
            <a:ext cx="5242560" cy="390144"/>
          </a:xfrm>
          <a:prstGeom prst="rect">
            <a:avLst/>
          </a:prstGeom>
          <a:noFill/>
          <a:ln/>
        </p:spPr>
        <p:txBody>
          <a:bodyPr wrap="square" lIns="0" tIns="0" rIns="0" bIns="0" rtlCol="0" anchor="ctr"/>
          <a:lstStyle/>
          <a:p>
            <a:r>
              <a:rPr lang="en-US" sz="1467" b="1" dirty="0">
                <a:solidFill>
                  <a:srgbClr val="142966"/>
                </a:solidFill>
              </a:rPr>
              <a:t>Inspectable &amp; Fault-tolerant</a:t>
            </a:r>
            <a:endParaRPr lang="en-US" sz="1467" dirty="0"/>
          </a:p>
        </p:txBody>
      </p:sp>
      <p:sp>
        <p:nvSpPr>
          <p:cNvPr id="31" name="Text 29"/>
          <p:cNvSpPr/>
          <p:nvPr/>
        </p:nvSpPr>
        <p:spPr>
          <a:xfrm>
            <a:off x="548640" y="3048000"/>
            <a:ext cx="5242560" cy="975360"/>
          </a:xfrm>
          <a:prstGeom prst="rect">
            <a:avLst/>
          </a:prstGeom>
          <a:noFill/>
          <a:ln/>
        </p:spPr>
        <p:txBody>
          <a:bodyPr wrap="square" lIns="0" tIns="0" rIns="0" bIns="0" rtlCol="0" anchor="ctr"/>
          <a:lstStyle/>
          <a:p>
            <a:r>
              <a:rPr lang="en-US" sz="1333" dirty="0">
                <a:solidFill>
                  <a:srgbClr val="0A1430"/>
                </a:solidFill>
              </a:rPr>
              <a:t>Parsing/SRL failures don't collapse the system. Downstream agents trigger repair logic, fallback heuristics, or selective abstention.</a:t>
            </a:r>
            <a:endParaRPr lang="en-US" sz="1333" dirty="0"/>
          </a:p>
        </p:txBody>
      </p:sp>
      <p:sp>
        <p:nvSpPr>
          <p:cNvPr id="32" name="Shape 30"/>
          <p:cNvSpPr/>
          <p:nvPr/>
        </p:nvSpPr>
        <p:spPr>
          <a:xfrm>
            <a:off x="365760" y="4328160"/>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33" name="Shape 31"/>
          <p:cNvSpPr/>
          <p:nvPr/>
        </p:nvSpPr>
        <p:spPr>
          <a:xfrm>
            <a:off x="365760" y="4328160"/>
            <a:ext cx="85344" cy="1645920"/>
          </a:xfrm>
          <a:prstGeom prst="rect">
            <a:avLst/>
          </a:prstGeom>
          <a:solidFill>
            <a:srgbClr val="142966"/>
          </a:solidFill>
          <a:ln w="12700">
            <a:solidFill>
              <a:srgbClr val="142966"/>
            </a:solidFill>
            <a:prstDash val="solid"/>
          </a:ln>
        </p:spPr>
      </p:sp>
      <p:sp>
        <p:nvSpPr>
          <p:cNvPr id="34" name="Text 32"/>
          <p:cNvSpPr/>
          <p:nvPr/>
        </p:nvSpPr>
        <p:spPr>
          <a:xfrm>
            <a:off x="548640" y="4474464"/>
            <a:ext cx="5242560" cy="390144"/>
          </a:xfrm>
          <a:prstGeom prst="rect">
            <a:avLst/>
          </a:prstGeom>
          <a:noFill/>
          <a:ln/>
        </p:spPr>
        <p:txBody>
          <a:bodyPr wrap="square" lIns="0" tIns="0" rIns="0" bIns="0" rtlCol="0" anchor="ctr"/>
          <a:lstStyle/>
          <a:p>
            <a:r>
              <a:rPr lang="en-US" sz="1467" b="1" dirty="0">
                <a:solidFill>
                  <a:srgbClr val="142966"/>
                </a:solidFill>
              </a:rPr>
              <a:t>Shared Proposition Store</a:t>
            </a:r>
            <a:endParaRPr lang="en-US" sz="1467" dirty="0"/>
          </a:p>
        </p:txBody>
      </p:sp>
      <p:sp>
        <p:nvSpPr>
          <p:cNvPr id="35" name="Text 33"/>
          <p:cNvSpPr/>
          <p:nvPr/>
        </p:nvSpPr>
        <p:spPr>
          <a:xfrm>
            <a:off x="548640" y="4876800"/>
            <a:ext cx="5242560" cy="975360"/>
          </a:xfrm>
          <a:prstGeom prst="rect">
            <a:avLst/>
          </a:prstGeom>
          <a:noFill/>
          <a:ln/>
        </p:spPr>
        <p:txBody>
          <a:bodyPr wrap="square" lIns="0" tIns="0" rIns="0" bIns="0" rtlCol="0" anchor="ctr"/>
          <a:lstStyle/>
          <a:p>
            <a:r>
              <a:rPr lang="en-US" sz="1333" dirty="0">
                <a:solidFill>
                  <a:srgbClr val="0A1430"/>
                </a:solidFill>
              </a:rPr>
              <a:t>All agents communicate via a store indexed by: document span · predicate ID · roleset · arg role · entity links · confidence.</a:t>
            </a:r>
            <a:endParaRPr lang="en-US" sz="1333" dirty="0"/>
          </a:p>
        </p:txBody>
      </p:sp>
      <p:sp>
        <p:nvSpPr>
          <p:cNvPr id="36" name="Shape 34"/>
          <p:cNvSpPr/>
          <p:nvPr/>
        </p:nvSpPr>
        <p:spPr>
          <a:xfrm>
            <a:off x="6217920" y="2499360"/>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37" name="Shape 35"/>
          <p:cNvSpPr/>
          <p:nvPr/>
        </p:nvSpPr>
        <p:spPr>
          <a:xfrm>
            <a:off x="6217920" y="2499360"/>
            <a:ext cx="85344" cy="1645920"/>
          </a:xfrm>
          <a:prstGeom prst="rect">
            <a:avLst/>
          </a:prstGeom>
          <a:solidFill>
            <a:srgbClr val="1B7FBF"/>
          </a:solidFill>
          <a:ln w="12700">
            <a:solidFill>
              <a:srgbClr val="1B7FBF"/>
            </a:solidFill>
            <a:prstDash val="solid"/>
          </a:ln>
        </p:spPr>
      </p:sp>
      <p:sp>
        <p:nvSpPr>
          <p:cNvPr id="38" name="Text 36"/>
          <p:cNvSpPr/>
          <p:nvPr/>
        </p:nvSpPr>
        <p:spPr>
          <a:xfrm>
            <a:off x="6400800" y="2645664"/>
            <a:ext cx="5242560" cy="390144"/>
          </a:xfrm>
          <a:prstGeom prst="rect">
            <a:avLst/>
          </a:prstGeom>
          <a:noFill/>
          <a:ln/>
        </p:spPr>
        <p:txBody>
          <a:bodyPr wrap="square" lIns="0" tIns="0" rIns="0" bIns="0" rtlCol="0" anchor="ctr"/>
          <a:lstStyle/>
          <a:p>
            <a:r>
              <a:rPr lang="en-US" sz="1467" b="1" dirty="0">
                <a:solidFill>
                  <a:srgbClr val="142966"/>
                </a:solidFill>
              </a:rPr>
              <a:t>Explicit Recovery Policy</a:t>
            </a:r>
            <a:endParaRPr lang="en-US" sz="1467" dirty="0"/>
          </a:p>
        </p:txBody>
      </p:sp>
      <p:sp>
        <p:nvSpPr>
          <p:cNvPr id="39" name="Text 37"/>
          <p:cNvSpPr/>
          <p:nvPr/>
        </p:nvSpPr>
        <p:spPr>
          <a:xfrm>
            <a:off x="6400800" y="3048000"/>
            <a:ext cx="5242560" cy="975360"/>
          </a:xfrm>
          <a:prstGeom prst="rect">
            <a:avLst/>
          </a:prstGeom>
          <a:noFill/>
          <a:ln/>
        </p:spPr>
        <p:txBody>
          <a:bodyPr wrap="square" lIns="0" tIns="0" rIns="0" bIns="0" rtlCol="0" anchor="ctr"/>
          <a:lstStyle/>
          <a:p>
            <a:r>
              <a:rPr lang="en-US" sz="1333" dirty="0">
                <a:solidFill>
                  <a:srgbClr val="0A1430"/>
                </a:solidFill>
              </a:rPr>
              <a:t>If ParseAgent fails → lower-confidence local extraction. If SRLAgent fails → lexical fallback. If ReasonerAgent detects conflict → abstention.</a:t>
            </a:r>
            <a:endParaRPr lang="en-US" sz="1333" dirty="0"/>
          </a:p>
        </p:txBody>
      </p:sp>
      <p:sp>
        <p:nvSpPr>
          <p:cNvPr id="40" name="Shape 38"/>
          <p:cNvSpPr/>
          <p:nvPr/>
        </p:nvSpPr>
        <p:spPr>
          <a:xfrm>
            <a:off x="6217920" y="4328160"/>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41" name="Shape 39"/>
          <p:cNvSpPr/>
          <p:nvPr/>
        </p:nvSpPr>
        <p:spPr>
          <a:xfrm>
            <a:off x="6217920" y="4328160"/>
            <a:ext cx="85344" cy="1645920"/>
          </a:xfrm>
          <a:prstGeom prst="rect">
            <a:avLst/>
          </a:prstGeom>
          <a:solidFill>
            <a:srgbClr val="F4A325"/>
          </a:solidFill>
          <a:ln w="12700">
            <a:solidFill>
              <a:srgbClr val="F4A325"/>
            </a:solidFill>
            <a:prstDash val="solid"/>
          </a:ln>
        </p:spPr>
      </p:sp>
      <p:sp>
        <p:nvSpPr>
          <p:cNvPr id="42" name="Text 40"/>
          <p:cNvSpPr/>
          <p:nvPr/>
        </p:nvSpPr>
        <p:spPr>
          <a:xfrm>
            <a:off x="6400800" y="4474464"/>
            <a:ext cx="5242560" cy="390144"/>
          </a:xfrm>
          <a:prstGeom prst="rect">
            <a:avLst/>
          </a:prstGeom>
          <a:noFill/>
          <a:ln/>
        </p:spPr>
        <p:txBody>
          <a:bodyPr wrap="square" lIns="0" tIns="0" rIns="0" bIns="0" rtlCol="0" anchor="ctr"/>
          <a:lstStyle/>
          <a:p>
            <a:r>
              <a:rPr lang="en-US" sz="1467" b="1" dirty="0">
                <a:solidFill>
                  <a:srgbClr val="142966"/>
                </a:solidFill>
              </a:rPr>
              <a:t>Enterprise-Scale Ready</a:t>
            </a:r>
            <a:endParaRPr lang="en-US" sz="1467" dirty="0"/>
          </a:p>
        </p:txBody>
      </p:sp>
      <p:sp>
        <p:nvSpPr>
          <p:cNvPr id="43" name="Text 41"/>
          <p:cNvSpPr/>
          <p:nvPr/>
        </p:nvSpPr>
        <p:spPr>
          <a:xfrm>
            <a:off x="6400800" y="4876800"/>
            <a:ext cx="5242560" cy="975360"/>
          </a:xfrm>
          <a:prstGeom prst="rect">
            <a:avLst/>
          </a:prstGeom>
          <a:noFill/>
          <a:ln/>
        </p:spPr>
        <p:txBody>
          <a:bodyPr wrap="square" lIns="0" tIns="0" rIns="0" bIns="0" rtlCol="0" anchor="ctr"/>
          <a:lstStyle/>
          <a:p>
            <a:r>
              <a:rPr lang="en-US" sz="1333" dirty="0">
                <a:solidFill>
                  <a:srgbClr val="0A1430"/>
                </a:solidFill>
              </a:rPr>
              <a:t>Serialized predicate index lets downstream agents operate without re-running the full parser. Scales to large document collections.</a:t>
            </a:r>
            <a:endParaRPr lang="en-US" sz="1333" dirty="0"/>
          </a:p>
        </p:txBody>
      </p:sp>
    </p:spTree>
    <p:extLst>
      <p:ext uri="{BB962C8B-B14F-4D97-AF65-F5344CB8AC3E}">
        <p14:creationId xmlns:p14="http://schemas.microsoft.com/office/powerpoint/2010/main" val="647676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INNOVATION 3 — APPLICATIONS</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SRL-QA Application Domains</a:t>
            </a:r>
            <a:endParaRPr lang="en-US" sz="3467" dirty="0"/>
          </a:p>
        </p:txBody>
      </p:sp>
      <p:sp>
        <p:nvSpPr>
          <p:cNvPr id="5" name="Shape 3"/>
          <p:cNvSpPr/>
          <p:nvPr/>
        </p:nvSpPr>
        <p:spPr>
          <a:xfrm>
            <a:off x="365760" y="1341120"/>
            <a:ext cx="3718560" cy="2133600"/>
          </a:xfrm>
          <a:prstGeom prst="rect">
            <a:avLst/>
          </a:prstGeom>
          <a:solidFill>
            <a:srgbClr val="FFFFFF"/>
          </a:solidFill>
          <a:ln/>
          <a:effectLst>
            <a:outerShdw blurRad="76200" dist="25400" dir="8100000" algn="bl" rotWithShape="0">
              <a:srgbClr val="000000">
                <a:alpha val="10000"/>
              </a:srgbClr>
            </a:outerShdw>
          </a:effectLst>
        </p:spPr>
      </p:sp>
      <p:sp>
        <p:nvSpPr>
          <p:cNvPr id="6" name="Shape 4"/>
          <p:cNvSpPr/>
          <p:nvPr/>
        </p:nvSpPr>
        <p:spPr>
          <a:xfrm>
            <a:off x="365760" y="1341120"/>
            <a:ext cx="85344" cy="2133600"/>
          </a:xfrm>
          <a:prstGeom prst="rect">
            <a:avLst/>
          </a:prstGeom>
          <a:solidFill>
            <a:srgbClr val="142966"/>
          </a:solidFill>
          <a:ln w="12700">
            <a:solidFill>
              <a:srgbClr val="142966"/>
            </a:solidFill>
            <a:prstDash val="solid"/>
          </a:ln>
        </p:spPr>
      </p:sp>
      <p:sp>
        <p:nvSpPr>
          <p:cNvPr id="7" name="Text 5"/>
          <p:cNvSpPr/>
          <p:nvPr/>
        </p:nvSpPr>
        <p:spPr>
          <a:xfrm>
            <a:off x="548640" y="1487424"/>
            <a:ext cx="3474720" cy="390144"/>
          </a:xfrm>
          <a:prstGeom prst="rect">
            <a:avLst/>
          </a:prstGeom>
          <a:noFill/>
          <a:ln/>
        </p:spPr>
        <p:txBody>
          <a:bodyPr wrap="square" lIns="0" tIns="0" rIns="0" bIns="0" rtlCol="0" anchor="ctr"/>
          <a:lstStyle/>
          <a:p>
            <a:r>
              <a:rPr lang="en-US" sz="1467" b="1" dirty="0">
                <a:solidFill>
                  <a:srgbClr val="142966"/>
                </a:solidFill>
              </a:rPr>
              <a:t>Legal Contract QA</a:t>
            </a:r>
            <a:endParaRPr lang="en-US" sz="1467" dirty="0"/>
          </a:p>
        </p:txBody>
      </p:sp>
      <p:sp>
        <p:nvSpPr>
          <p:cNvPr id="8" name="Text 6"/>
          <p:cNvSpPr/>
          <p:nvPr/>
        </p:nvSpPr>
        <p:spPr>
          <a:xfrm>
            <a:off x="548640" y="1889760"/>
            <a:ext cx="3474720" cy="1463040"/>
          </a:xfrm>
          <a:prstGeom prst="rect">
            <a:avLst/>
          </a:prstGeom>
          <a:noFill/>
          <a:ln/>
        </p:spPr>
        <p:txBody>
          <a:bodyPr wrap="square" lIns="0" tIns="0" rIns="0" bIns="0" rtlCol="0" anchor="ctr"/>
          <a:lstStyle/>
          <a:p>
            <a:r>
              <a:rPr lang="en-US" sz="1333" dirty="0">
                <a:solidFill>
                  <a:srgbClr val="0A1430"/>
                </a:solidFill>
              </a:rPr>
              <a:t>Obligations → ARG0</a:t>
            </a:r>
            <a:endParaRPr lang="en-US" sz="1333" dirty="0"/>
          </a:p>
          <a:p>
            <a:r>
              <a:rPr lang="en-US" sz="1333" dirty="0">
                <a:solidFill>
                  <a:srgbClr val="0A1430"/>
                </a:solidFill>
              </a:rPr>
              <a:t>Deliverables → ARG1</a:t>
            </a:r>
            <a:endParaRPr lang="en-US" sz="1333" dirty="0"/>
          </a:p>
          <a:p>
            <a:r>
              <a:rPr lang="en-US" sz="1333" dirty="0">
                <a:solidFill>
                  <a:srgbClr val="0A1430"/>
                </a:solidFill>
              </a:rPr>
              <a:t>Beneficiary → ARG2</a:t>
            </a:r>
            <a:endParaRPr lang="en-US" sz="1333" dirty="0"/>
          </a:p>
          <a:p>
            <a:r>
              <a:rPr lang="en-US" sz="1333" dirty="0">
                <a:solidFill>
                  <a:srgbClr val="0A1430"/>
                </a:solidFill>
              </a:rPr>
              <a:t>Deadline → ARGM-TMP</a:t>
            </a:r>
            <a:endParaRPr lang="en-US" sz="1333" dirty="0"/>
          </a:p>
          <a:p>
            <a:endParaRPr lang="en-US" sz="1333" dirty="0"/>
          </a:p>
          <a:p>
            <a:r>
              <a:rPr lang="en-US" sz="1333" dirty="0">
                <a:solidFill>
                  <a:srgbClr val="0A1430"/>
                </a:solidFill>
              </a:rPr>
              <a:t>'Who must deliver what by when under which conditions?'</a:t>
            </a:r>
            <a:endParaRPr lang="en-US" sz="1333" dirty="0"/>
          </a:p>
        </p:txBody>
      </p:sp>
      <p:sp>
        <p:nvSpPr>
          <p:cNvPr id="9" name="Shape 7"/>
          <p:cNvSpPr/>
          <p:nvPr/>
        </p:nvSpPr>
        <p:spPr>
          <a:xfrm>
            <a:off x="4267200" y="1341120"/>
            <a:ext cx="3718560" cy="2133600"/>
          </a:xfrm>
          <a:prstGeom prst="rect">
            <a:avLst/>
          </a:prstGeom>
          <a:solidFill>
            <a:srgbClr val="FFFFFF"/>
          </a:solidFill>
          <a:ln/>
          <a:effectLst>
            <a:outerShdw blurRad="76200" dist="25400" dir="8100000" algn="bl" rotWithShape="0">
              <a:srgbClr val="000000">
                <a:alpha val="10000"/>
              </a:srgbClr>
            </a:outerShdw>
          </a:effectLst>
        </p:spPr>
      </p:sp>
      <p:sp>
        <p:nvSpPr>
          <p:cNvPr id="10" name="Shape 8"/>
          <p:cNvSpPr/>
          <p:nvPr/>
        </p:nvSpPr>
        <p:spPr>
          <a:xfrm>
            <a:off x="4267200" y="1341120"/>
            <a:ext cx="85344" cy="2133600"/>
          </a:xfrm>
          <a:prstGeom prst="rect">
            <a:avLst/>
          </a:prstGeom>
          <a:solidFill>
            <a:srgbClr val="0FA3B1"/>
          </a:solidFill>
          <a:ln w="12700">
            <a:solidFill>
              <a:srgbClr val="0FA3B1"/>
            </a:solidFill>
            <a:prstDash val="solid"/>
          </a:ln>
        </p:spPr>
      </p:sp>
      <p:sp>
        <p:nvSpPr>
          <p:cNvPr id="11" name="Text 9"/>
          <p:cNvSpPr/>
          <p:nvPr/>
        </p:nvSpPr>
        <p:spPr>
          <a:xfrm>
            <a:off x="4450080" y="1487424"/>
            <a:ext cx="3474720" cy="390144"/>
          </a:xfrm>
          <a:prstGeom prst="rect">
            <a:avLst/>
          </a:prstGeom>
          <a:noFill/>
          <a:ln/>
        </p:spPr>
        <p:txBody>
          <a:bodyPr wrap="square" lIns="0" tIns="0" rIns="0" bIns="0" rtlCol="0" anchor="ctr"/>
          <a:lstStyle/>
          <a:p>
            <a:r>
              <a:rPr lang="en-US" sz="1467" b="1" dirty="0">
                <a:solidFill>
                  <a:srgbClr val="142966"/>
                </a:solidFill>
              </a:rPr>
              <a:t>Clinical Notes QA</a:t>
            </a:r>
            <a:endParaRPr lang="en-US" sz="1467" dirty="0"/>
          </a:p>
        </p:txBody>
      </p:sp>
      <p:sp>
        <p:nvSpPr>
          <p:cNvPr id="12" name="Text 10"/>
          <p:cNvSpPr/>
          <p:nvPr/>
        </p:nvSpPr>
        <p:spPr>
          <a:xfrm>
            <a:off x="4450080" y="1889760"/>
            <a:ext cx="3474720" cy="1463040"/>
          </a:xfrm>
          <a:prstGeom prst="rect">
            <a:avLst/>
          </a:prstGeom>
          <a:noFill/>
          <a:ln/>
        </p:spPr>
        <p:txBody>
          <a:bodyPr wrap="square" lIns="0" tIns="0" rIns="0" bIns="0" rtlCol="0" anchor="ctr"/>
          <a:lstStyle/>
          <a:p>
            <a:r>
              <a:rPr lang="en-US" sz="1333" dirty="0">
                <a:solidFill>
                  <a:srgbClr val="0A1430"/>
                </a:solidFill>
              </a:rPr>
              <a:t>Medication → ARG1</a:t>
            </a:r>
            <a:endParaRPr lang="en-US" sz="1333" dirty="0"/>
          </a:p>
          <a:p>
            <a:r>
              <a:rPr lang="en-US" sz="1333" dirty="0">
                <a:solidFill>
                  <a:srgbClr val="0A1430"/>
                </a:solidFill>
              </a:rPr>
              <a:t>Recipient → ARG2</a:t>
            </a:r>
            <a:endParaRPr lang="en-US" sz="1333" dirty="0"/>
          </a:p>
          <a:p>
            <a:r>
              <a:rPr lang="en-US" sz="1333" dirty="0">
                <a:solidFill>
                  <a:srgbClr val="0A1430"/>
                </a:solidFill>
              </a:rPr>
              <a:t>Dosage → ARGM-EXT</a:t>
            </a:r>
            <a:endParaRPr lang="en-US" sz="1333" dirty="0"/>
          </a:p>
          <a:p>
            <a:r>
              <a:rPr lang="en-US" sz="1333" dirty="0">
                <a:solidFill>
                  <a:srgbClr val="0A1430"/>
                </a:solidFill>
              </a:rPr>
              <a:t>Reason → ARGM-CAU</a:t>
            </a:r>
            <a:endParaRPr lang="en-US" sz="1333" dirty="0"/>
          </a:p>
          <a:p>
            <a:endParaRPr lang="en-US" sz="1333" dirty="0"/>
          </a:p>
          <a:p>
            <a:r>
              <a:rPr lang="en-US" sz="1333" dirty="0">
                <a:solidFill>
                  <a:srgbClr val="0A1430"/>
                </a:solidFill>
              </a:rPr>
              <a:t>'What was administered to whom and for what reason?'</a:t>
            </a:r>
            <a:endParaRPr lang="en-US" sz="1333" dirty="0"/>
          </a:p>
        </p:txBody>
      </p:sp>
      <p:sp>
        <p:nvSpPr>
          <p:cNvPr id="13" name="Shape 11"/>
          <p:cNvSpPr/>
          <p:nvPr/>
        </p:nvSpPr>
        <p:spPr>
          <a:xfrm>
            <a:off x="8168640" y="1341120"/>
            <a:ext cx="3718560" cy="2133600"/>
          </a:xfrm>
          <a:prstGeom prst="rect">
            <a:avLst/>
          </a:prstGeom>
          <a:solidFill>
            <a:srgbClr val="FFFFFF"/>
          </a:solidFill>
          <a:ln/>
          <a:effectLst>
            <a:outerShdw blurRad="76200" dist="25400" dir="8100000" algn="bl" rotWithShape="0">
              <a:srgbClr val="000000">
                <a:alpha val="10000"/>
              </a:srgbClr>
            </a:outerShdw>
          </a:effectLst>
        </p:spPr>
      </p:sp>
      <p:sp>
        <p:nvSpPr>
          <p:cNvPr id="14" name="Shape 12"/>
          <p:cNvSpPr/>
          <p:nvPr/>
        </p:nvSpPr>
        <p:spPr>
          <a:xfrm>
            <a:off x="8168640" y="1341120"/>
            <a:ext cx="85344" cy="2133600"/>
          </a:xfrm>
          <a:prstGeom prst="rect">
            <a:avLst/>
          </a:prstGeom>
          <a:solidFill>
            <a:srgbClr val="1B7FBF"/>
          </a:solidFill>
          <a:ln w="12700">
            <a:solidFill>
              <a:srgbClr val="1B7FBF"/>
            </a:solidFill>
            <a:prstDash val="solid"/>
          </a:ln>
        </p:spPr>
      </p:sp>
      <p:sp>
        <p:nvSpPr>
          <p:cNvPr id="15" name="Text 13"/>
          <p:cNvSpPr/>
          <p:nvPr/>
        </p:nvSpPr>
        <p:spPr>
          <a:xfrm>
            <a:off x="8351520" y="1487424"/>
            <a:ext cx="3474720" cy="390144"/>
          </a:xfrm>
          <a:prstGeom prst="rect">
            <a:avLst/>
          </a:prstGeom>
          <a:noFill/>
          <a:ln/>
        </p:spPr>
        <p:txBody>
          <a:bodyPr wrap="square" lIns="0" tIns="0" rIns="0" bIns="0" rtlCol="0" anchor="ctr"/>
          <a:lstStyle/>
          <a:p>
            <a:r>
              <a:rPr lang="en-US" sz="1467" b="1" dirty="0">
                <a:solidFill>
                  <a:srgbClr val="142966"/>
                </a:solidFill>
              </a:rPr>
              <a:t>Safety Incident Reports</a:t>
            </a:r>
            <a:endParaRPr lang="en-US" sz="1467" dirty="0"/>
          </a:p>
        </p:txBody>
      </p:sp>
      <p:sp>
        <p:nvSpPr>
          <p:cNvPr id="16" name="Text 14"/>
          <p:cNvSpPr/>
          <p:nvPr/>
        </p:nvSpPr>
        <p:spPr>
          <a:xfrm>
            <a:off x="8351520" y="1889760"/>
            <a:ext cx="3474720" cy="1463040"/>
          </a:xfrm>
          <a:prstGeom prst="rect">
            <a:avLst/>
          </a:prstGeom>
          <a:noFill/>
          <a:ln/>
        </p:spPr>
        <p:txBody>
          <a:bodyPr wrap="square" lIns="0" tIns="0" rIns="0" bIns="0" rtlCol="0" anchor="ctr"/>
          <a:lstStyle/>
          <a:p>
            <a:r>
              <a:rPr lang="en-US" sz="1333" dirty="0">
                <a:solidFill>
                  <a:srgbClr val="0A1430"/>
                </a:solidFill>
              </a:rPr>
              <a:t>Frame chaining: cause / response / outcome across sentences.</a:t>
            </a:r>
            <a:endParaRPr lang="en-US" sz="1333" dirty="0"/>
          </a:p>
          <a:p>
            <a:r>
              <a:rPr lang="en-US" sz="1333" dirty="0">
                <a:solidFill>
                  <a:srgbClr val="0A1430"/>
                </a:solidFill>
              </a:rPr>
              <a:t>Benchmark rewarding local slot-filling would miss the decision-relevant questions.</a:t>
            </a:r>
            <a:endParaRPr lang="en-US" sz="1333" dirty="0"/>
          </a:p>
        </p:txBody>
      </p:sp>
      <p:sp>
        <p:nvSpPr>
          <p:cNvPr id="17" name="Shape 15"/>
          <p:cNvSpPr/>
          <p:nvPr/>
        </p:nvSpPr>
        <p:spPr>
          <a:xfrm>
            <a:off x="1950720" y="3718560"/>
            <a:ext cx="3718560" cy="2133600"/>
          </a:xfrm>
          <a:prstGeom prst="rect">
            <a:avLst/>
          </a:prstGeom>
          <a:solidFill>
            <a:srgbClr val="FFFFFF"/>
          </a:solidFill>
          <a:ln/>
          <a:effectLst>
            <a:outerShdw blurRad="76200" dist="25400" dir="8100000" algn="bl" rotWithShape="0">
              <a:srgbClr val="000000">
                <a:alpha val="10000"/>
              </a:srgbClr>
            </a:outerShdw>
          </a:effectLst>
        </p:spPr>
      </p:sp>
      <p:sp>
        <p:nvSpPr>
          <p:cNvPr id="18" name="Shape 16"/>
          <p:cNvSpPr/>
          <p:nvPr/>
        </p:nvSpPr>
        <p:spPr>
          <a:xfrm>
            <a:off x="1950720" y="3718560"/>
            <a:ext cx="85344" cy="2133600"/>
          </a:xfrm>
          <a:prstGeom prst="rect">
            <a:avLst/>
          </a:prstGeom>
          <a:solidFill>
            <a:srgbClr val="F4A325"/>
          </a:solidFill>
          <a:ln w="12700">
            <a:solidFill>
              <a:srgbClr val="F4A325"/>
            </a:solidFill>
            <a:prstDash val="solid"/>
          </a:ln>
        </p:spPr>
      </p:sp>
      <p:sp>
        <p:nvSpPr>
          <p:cNvPr id="19" name="Text 17"/>
          <p:cNvSpPr/>
          <p:nvPr/>
        </p:nvSpPr>
        <p:spPr>
          <a:xfrm>
            <a:off x="2133600" y="3864864"/>
            <a:ext cx="3474720" cy="390144"/>
          </a:xfrm>
          <a:prstGeom prst="rect">
            <a:avLst/>
          </a:prstGeom>
          <a:noFill/>
          <a:ln/>
        </p:spPr>
        <p:txBody>
          <a:bodyPr wrap="square" lIns="0" tIns="0" rIns="0" bIns="0" rtlCol="0" anchor="ctr"/>
          <a:lstStyle/>
          <a:p>
            <a:r>
              <a:rPr lang="en-US" sz="1467" b="1" dirty="0">
                <a:solidFill>
                  <a:srgbClr val="142966"/>
                </a:solidFill>
              </a:rPr>
              <a:t>Financial Disclosures</a:t>
            </a:r>
            <a:endParaRPr lang="en-US" sz="1467" dirty="0"/>
          </a:p>
        </p:txBody>
      </p:sp>
      <p:sp>
        <p:nvSpPr>
          <p:cNvPr id="20" name="Text 18"/>
          <p:cNvSpPr/>
          <p:nvPr/>
        </p:nvSpPr>
        <p:spPr>
          <a:xfrm>
            <a:off x="2133600" y="4267200"/>
            <a:ext cx="3474720" cy="1463040"/>
          </a:xfrm>
          <a:prstGeom prst="rect">
            <a:avLst/>
          </a:prstGeom>
          <a:noFill/>
          <a:ln/>
        </p:spPr>
        <p:txBody>
          <a:bodyPr wrap="square" lIns="0" tIns="0" rIns="0" bIns="0" rtlCol="0" anchor="ctr"/>
          <a:lstStyle/>
          <a:p>
            <a:r>
              <a:rPr lang="en-US" sz="1333" dirty="0">
                <a:solidFill>
                  <a:srgbClr val="0A1430"/>
                </a:solidFill>
              </a:rPr>
              <a:t>Acquirer → ARG0, Acquired → ARG1</a:t>
            </a:r>
            <a:endParaRPr lang="en-US" sz="1333" dirty="0"/>
          </a:p>
          <a:p>
            <a:r>
              <a:rPr lang="en-US" sz="1333" dirty="0">
                <a:solidFill>
                  <a:srgbClr val="0A1430"/>
                </a:solidFill>
              </a:rPr>
              <a:t>Price → ARG2-EXT, Conditions → ARGM-CAU</a:t>
            </a:r>
            <a:endParaRPr lang="en-US" sz="1333" dirty="0"/>
          </a:p>
          <a:p>
            <a:endParaRPr lang="en-US" sz="1333" dirty="0"/>
          </a:p>
          <a:p>
            <a:r>
              <a:rPr lang="en-US" sz="1333" dirty="0">
                <a:solidFill>
                  <a:srgbClr val="0A1430"/>
                </a:solidFill>
              </a:rPr>
              <a:t>Role-aware reasoning separates event from contingent clauses.</a:t>
            </a:r>
            <a:endParaRPr lang="en-US" sz="1333" dirty="0"/>
          </a:p>
        </p:txBody>
      </p:sp>
      <p:sp>
        <p:nvSpPr>
          <p:cNvPr id="21" name="Shape 19"/>
          <p:cNvSpPr/>
          <p:nvPr/>
        </p:nvSpPr>
        <p:spPr>
          <a:xfrm>
            <a:off x="5852160" y="3718560"/>
            <a:ext cx="3718560" cy="2133600"/>
          </a:xfrm>
          <a:prstGeom prst="rect">
            <a:avLst/>
          </a:prstGeom>
          <a:solidFill>
            <a:srgbClr val="FFFFFF"/>
          </a:solidFill>
          <a:ln/>
          <a:effectLst>
            <a:outerShdw blurRad="76200" dist="25400" dir="8100000" algn="bl" rotWithShape="0">
              <a:srgbClr val="000000">
                <a:alpha val="10000"/>
              </a:srgbClr>
            </a:outerShdw>
          </a:effectLst>
        </p:spPr>
      </p:sp>
      <p:sp>
        <p:nvSpPr>
          <p:cNvPr id="22" name="Shape 20"/>
          <p:cNvSpPr/>
          <p:nvPr/>
        </p:nvSpPr>
        <p:spPr>
          <a:xfrm>
            <a:off x="5852160" y="3718560"/>
            <a:ext cx="85344" cy="2133600"/>
          </a:xfrm>
          <a:prstGeom prst="rect">
            <a:avLst/>
          </a:prstGeom>
          <a:solidFill>
            <a:srgbClr val="142966"/>
          </a:solidFill>
          <a:ln w="12700">
            <a:solidFill>
              <a:srgbClr val="142966"/>
            </a:solidFill>
            <a:prstDash val="solid"/>
          </a:ln>
        </p:spPr>
      </p:sp>
      <p:sp>
        <p:nvSpPr>
          <p:cNvPr id="23" name="Text 21"/>
          <p:cNvSpPr/>
          <p:nvPr/>
        </p:nvSpPr>
        <p:spPr>
          <a:xfrm>
            <a:off x="6035040" y="3864864"/>
            <a:ext cx="3474720" cy="390144"/>
          </a:xfrm>
          <a:prstGeom prst="rect">
            <a:avLst/>
          </a:prstGeom>
          <a:noFill/>
          <a:ln/>
        </p:spPr>
        <p:txBody>
          <a:bodyPr wrap="square" lIns="0" tIns="0" rIns="0" bIns="0" rtlCol="0" anchor="ctr"/>
          <a:lstStyle/>
          <a:p>
            <a:r>
              <a:rPr lang="en-US" sz="1467" b="1" dirty="0">
                <a:solidFill>
                  <a:srgbClr val="142966"/>
                </a:solidFill>
              </a:rPr>
              <a:t>Instructional Procedures</a:t>
            </a:r>
            <a:endParaRPr lang="en-US" sz="1467" dirty="0"/>
          </a:p>
        </p:txBody>
      </p:sp>
      <p:sp>
        <p:nvSpPr>
          <p:cNvPr id="24" name="Text 22"/>
          <p:cNvSpPr/>
          <p:nvPr/>
        </p:nvSpPr>
        <p:spPr>
          <a:xfrm>
            <a:off x="6035040" y="4267200"/>
            <a:ext cx="3474720" cy="1463040"/>
          </a:xfrm>
          <a:prstGeom prst="rect">
            <a:avLst/>
          </a:prstGeom>
          <a:noFill/>
          <a:ln/>
        </p:spPr>
        <p:txBody>
          <a:bodyPr wrap="square" lIns="0" tIns="0" rIns="0" bIns="0" rtlCol="0" anchor="ctr"/>
          <a:lstStyle/>
          <a:p>
            <a:r>
              <a:rPr lang="en-US" sz="1333" dirty="0">
                <a:solidFill>
                  <a:srgbClr val="0A1430"/>
                </a:solidFill>
              </a:rPr>
              <a:t>Temporal + prerequisite reasoning.</a:t>
            </a:r>
            <a:endParaRPr lang="en-US" sz="1333" dirty="0"/>
          </a:p>
          <a:p>
            <a:r>
              <a:rPr lang="en-US" sz="1333" dirty="0">
                <a:solidFill>
                  <a:srgbClr val="0A1430"/>
                </a:solidFill>
              </a:rPr>
              <a:t>Not only 'what must be done' but 'before which step, by whom, for what purpose'.</a:t>
            </a:r>
            <a:endParaRPr lang="en-US" sz="1333" dirty="0"/>
          </a:p>
        </p:txBody>
      </p:sp>
    </p:spTree>
    <p:extLst>
      <p:ext uri="{BB962C8B-B14F-4D97-AF65-F5344CB8AC3E}">
        <p14:creationId xmlns:p14="http://schemas.microsoft.com/office/powerpoint/2010/main" val="2808713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INNOVATION 4 — HYBRID ARCHITECTURE</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HybridPropQA: Classical SRL + LLM Grounding</a:t>
            </a:r>
            <a:endParaRPr lang="en-US" sz="3467" dirty="0"/>
          </a:p>
        </p:txBody>
      </p:sp>
      <p:pic>
        <p:nvPicPr>
          <p:cNvPr id="5" name="Image 0" descr="preencoded.png"/>
          <p:cNvPicPr>
            <a:picLocks noChangeAspect="1"/>
          </p:cNvPicPr>
          <p:nvPr/>
        </p:nvPicPr>
        <p:blipFill>
          <a:blip r:embed="rId3"/>
          <a:stretch>
            <a:fillRect/>
          </a:stretch>
        </p:blipFill>
        <p:spPr>
          <a:xfrm>
            <a:off x="365760" y="1280160"/>
            <a:ext cx="11460480" cy="1767840"/>
          </a:xfrm>
          <a:prstGeom prst="rect">
            <a:avLst/>
          </a:prstGeom>
        </p:spPr>
      </p:pic>
      <p:sp>
        <p:nvSpPr>
          <p:cNvPr id="6" name="Shape 3"/>
          <p:cNvSpPr/>
          <p:nvPr/>
        </p:nvSpPr>
        <p:spPr>
          <a:xfrm>
            <a:off x="365760" y="3230880"/>
            <a:ext cx="5486400" cy="1584960"/>
          </a:xfrm>
          <a:prstGeom prst="rect">
            <a:avLst/>
          </a:prstGeom>
          <a:solidFill>
            <a:srgbClr val="FFFFFF"/>
          </a:solidFill>
          <a:ln/>
          <a:effectLst>
            <a:outerShdw blurRad="76200" dist="25400" dir="8100000" algn="bl" rotWithShape="0">
              <a:srgbClr val="000000">
                <a:alpha val="10000"/>
              </a:srgbClr>
            </a:outerShdw>
          </a:effectLst>
        </p:spPr>
      </p:sp>
      <p:sp>
        <p:nvSpPr>
          <p:cNvPr id="7" name="Shape 4"/>
          <p:cNvSpPr/>
          <p:nvPr/>
        </p:nvSpPr>
        <p:spPr>
          <a:xfrm>
            <a:off x="365760" y="3230880"/>
            <a:ext cx="85344" cy="1584960"/>
          </a:xfrm>
          <a:prstGeom prst="rect">
            <a:avLst/>
          </a:prstGeom>
          <a:solidFill>
            <a:srgbClr val="0FA3B1"/>
          </a:solidFill>
          <a:ln w="12700">
            <a:solidFill>
              <a:srgbClr val="0FA3B1"/>
            </a:solidFill>
            <a:prstDash val="solid"/>
          </a:ln>
        </p:spPr>
      </p:sp>
      <p:sp>
        <p:nvSpPr>
          <p:cNvPr id="8" name="Text 5"/>
          <p:cNvSpPr/>
          <p:nvPr/>
        </p:nvSpPr>
        <p:spPr>
          <a:xfrm>
            <a:off x="548640" y="3377184"/>
            <a:ext cx="5242560" cy="390144"/>
          </a:xfrm>
          <a:prstGeom prst="rect">
            <a:avLst/>
          </a:prstGeom>
          <a:noFill/>
          <a:ln/>
        </p:spPr>
        <p:txBody>
          <a:bodyPr wrap="square" lIns="0" tIns="0" rIns="0" bIns="0" rtlCol="0" anchor="ctr"/>
          <a:lstStyle/>
          <a:p>
            <a:r>
              <a:rPr lang="en-US" sz="1467" b="1" dirty="0">
                <a:solidFill>
                  <a:srgbClr val="142966"/>
                </a:solidFill>
              </a:rPr>
              <a:t>Classical SRL contributes</a:t>
            </a:r>
            <a:endParaRPr lang="en-US" sz="1467" dirty="0"/>
          </a:p>
        </p:txBody>
      </p:sp>
      <p:sp>
        <p:nvSpPr>
          <p:cNvPr id="9" name="Text 6"/>
          <p:cNvSpPr/>
          <p:nvPr/>
        </p:nvSpPr>
        <p:spPr>
          <a:xfrm>
            <a:off x="548640" y="3779520"/>
            <a:ext cx="5242560" cy="914400"/>
          </a:xfrm>
          <a:prstGeom prst="rect">
            <a:avLst/>
          </a:prstGeom>
          <a:noFill/>
          <a:ln/>
        </p:spPr>
        <p:txBody>
          <a:bodyPr wrap="square" lIns="0" tIns="0" rIns="0" bIns="0" rtlCol="0" anchor="ctr"/>
          <a:lstStyle/>
          <a:p>
            <a:r>
              <a:rPr lang="en-US" sz="1333" dirty="0">
                <a:solidFill>
                  <a:srgbClr val="0A1430"/>
                </a:solidFill>
              </a:rPr>
              <a:t>Consistency, span faithfulness, explicit role inventory, reproducibility — even on CPU</a:t>
            </a:r>
            <a:endParaRPr lang="en-US" sz="1333" dirty="0"/>
          </a:p>
        </p:txBody>
      </p:sp>
      <p:sp>
        <p:nvSpPr>
          <p:cNvPr id="10" name="Shape 7"/>
          <p:cNvSpPr/>
          <p:nvPr/>
        </p:nvSpPr>
        <p:spPr>
          <a:xfrm>
            <a:off x="365760" y="4937760"/>
            <a:ext cx="5486400" cy="1584960"/>
          </a:xfrm>
          <a:prstGeom prst="rect">
            <a:avLst/>
          </a:prstGeom>
          <a:solidFill>
            <a:srgbClr val="FFFFFF"/>
          </a:solidFill>
          <a:ln/>
          <a:effectLst>
            <a:outerShdw blurRad="76200" dist="25400" dir="8100000" algn="bl" rotWithShape="0">
              <a:srgbClr val="000000">
                <a:alpha val="10000"/>
              </a:srgbClr>
            </a:outerShdw>
          </a:effectLst>
        </p:spPr>
      </p:sp>
      <p:sp>
        <p:nvSpPr>
          <p:cNvPr id="11" name="Shape 8"/>
          <p:cNvSpPr/>
          <p:nvPr/>
        </p:nvSpPr>
        <p:spPr>
          <a:xfrm>
            <a:off x="365760" y="4937760"/>
            <a:ext cx="85344" cy="1584960"/>
          </a:xfrm>
          <a:prstGeom prst="rect">
            <a:avLst/>
          </a:prstGeom>
          <a:solidFill>
            <a:srgbClr val="142966"/>
          </a:solidFill>
          <a:ln w="12700">
            <a:solidFill>
              <a:srgbClr val="142966"/>
            </a:solidFill>
            <a:prstDash val="solid"/>
          </a:ln>
        </p:spPr>
      </p:sp>
      <p:sp>
        <p:nvSpPr>
          <p:cNvPr id="12" name="Text 9"/>
          <p:cNvSpPr/>
          <p:nvPr/>
        </p:nvSpPr>
        <p:spPr>
          <a:xfrm>
            <a:off x="548640" y="5084064"/>
            <a:ext cx="5242560" cy="390144"/>
          </a:xfrm>
          <a:prstGeom prst="rect">
            <a:avLst/>
          </a:prstGeom>
          <a:noFill/>
          <a:ln/>
        </p:spPr>
        <p:txBody>
          <a:bodyPr wrap="square" lIns="0" tIns="0" rIns="0" bIns="0" rtlCol="0" anchor="ctr"/>
          <a:lstStyle/>
          <a:p>
            <a:r>
              <a:rPr lang="en-US" sz="1467" b="1" dirty="0">
                <a:solidFill>
                  <a:srgbClr val="142966"/>
                </a:solidFill>
              </a:rPr>
              <a:t>LLM contributes</a:t>
            </a:r>
            <a:endParaRPr lang="en-US" sz="1467" dirty="0"/>
          </a:p>
        </p:txBody>
      </p:sp>
      <p:sp>
        <p:nvSpPr>
          <p:cNvPr id="13" name="Text 10"/>
          <p:cNvSpPr/>
          <p:nvPr/>
        </p:nvSpPr>
        <p:spPr>
          <a:xfrm>
            <a:off x="548640" y="5486400"/>
            <a:ext cx="5242560" cy="914400"/>
          </a:xfrm>
          <a:prstGeom prst="rect">
            <a:avLst/>
          </a:prstGeom>
          <a:noFill/>
          <a:ln/>
        </p:spPr>
        <p:txBody>
          <a:bodyPr wrap="square" lIns="0" tIns="0" rIns="0" bIns="0" rtlCol="0" anchor="ctr"/>
          <a:lstStyle/>
          <a:p>
            <a:r>
              <a:rPr lang="en-US" sz="1333" dirty="0">
                <a:solidFill>
                  <a:srgbClr val="0A1430"/>
                </a:solidFill>
              </a:rPr>
              <a:t>Paraphrase handling, broader world knowledge, natural-language explanation, abstraction</a:t>
            </a:r>
            <a:endParaRPr lang="en-US" sz="1333" dirty="0"/>
          </a:p>
        </p:txBody>
      </p:sp>
      <p:sp>
        <p:nvSpPr>
          <p:cNvPr id="14" name="Shape 11"/>
          <p:cNvSpPr/>
          <p:nvPr/>
        </p:nvSpPr>
        <p:spPr>
          <a:xfrm>
            <a:off x="6217920" y="3230880"/>
            <a:ext cx="5486400" cy="1584960"/>
          </a:xfrm>
          <a:prstGeom prst="rect">
            <a:avLst/>
          </a:prstGeom>
          <a:solidFill>
            <a:srgbClr val="FFFFFF"/>
          </a:solidFill>
          <a:ln/>
          <a:effectLst>
            <a:outerShdw blurRad="76200" dist="25400" dir="8100000" algn="bl" rotWithShape="0">
              <a:srgbClr val="000000">
                <a:alpha val="10000"/>
              </a:srgbClr>
            </a:outerShdw>
          </a:effectLst>
        </p:spPr>
      </p:sp>
      <p:sp>
        <p:nvSpPr>
          <p:cNvPr id="15" name="Shape 12"/>
          <p:cNvSpPr/>
          <p:nvPr/>
        </p:nvSpPr>
        <p:spPr>
          <a:xfrm>
            <a:off x="6217920" y="3230880"/>
            <a:ext cx="85344" cy="1584960"/>
          </a:xfrm>
          <a:prstGeom prst="rect">
            <a:avLst/>
          </a:prstGeom>
          <a:solidFill>
            <a:srgbClr val="F4A325"/>
          </a:solidFill>
          <a:ln w="12700">
            <a:solidFill>
              <a:srgbClr val="F4A325"/>
            </a:solidFill>
            <a:prstDash val="solid"/>
          </a:ln>
        </p:spPr>
      </p:sp>
      <p:sp>
        <p:nvSpPr>
          <p:cNvPr id="16" name="Text 13"/>
          <p:cNvSpPr/>
          <p:nvPr/>
        </p:nvSpPr>
        <p:spPr>
          <a:xfrm>
            <a:off x="6400800" y="3377184"/>
            <a:ext cx="5242560" cy="390144"/>
          </a:xfrm>
          <a:prstGeom prst="rect">
            <a:avLst/>
          </a:prstGeom>
          <a:noFill/>
          <a:ln/>
        </p:spPr>
        <p:txBody>
          <a:bodyPr wrap="square" lIns="0" tIns="0" rIns="0" bIns="0" rtlCol="0" anchor="ctr"/>
          <a:lstStyle/>
          <a:p>
            <a:r>
              <a:rPr lang="en-US" sz="1467" b="1" dirty="0">
                <a:solidFill>
                  <a:srgbClr val="142966"/>
                </a:solidFill>
              </a:rPr>
              <a:t>Roleset grounding is the safeguard</a:t>
            </a:r>
            <a:endParaRPr lang="en-US" sz="1467" dirty="0"/>
          </a:p>
        </p:txBody>
      </p:sp>
      <p:sp>
        <p:nvSpPr>
          <p:cNvPr id="17" name="Text 14"/>
          <p:cNvSpPr/>
          <p:nvPr/>
        </p:nvSpPr>
        <p:spPr>
          <a:xfrm>
            <a:off x="6400800" y="3779520"/>
            <a:ext cx="5242560" cy="914400"/>
          </a:xfrm>
          <a:prstGeom prst="rect">
            <a:avLst/>
          </a:prstGeom>
          <a:noFill/>
          <a:ln/>
        </p:spPr>
        <p:txBody>
          <a:bodyPr wrap="square" lIns="0" tIns="0" rIns="0" bIns="0" rtlCol="0" anchor="ctr"/>
          <a:lstStyle/>
          <a:p>
            <a:r>
              <a:rPr lang="en-US" sz="1333" dirty="0">
                <a:solidFill>
                  <a:srgbClr val="0A1430"/>
                </a:solidFill>
              </a:rPr>
              <a:t>Limits LLM degrees of freedom; keeps answers tied to explicit semantic inventory</a:t>
            </a:r>
            <a:endParaRPr lang="en-US" sz="1333" dirty="0"/>
          </a:p>
        </p:txBody>
      </p:sp>
      <p:sp>
        <p:nvSpPr>
          <p:cNvPr id="18" name="Shape 15"/>
          <p:cNvSpPr/>
          <p:nvPr/>
        </p:nvSpPr>
        <p:spPr>
          <a:xfrm>
            <a:off x="6217920" y="4937760"/>
            <a:ext cx="5486400" cy="1584960"/>
          </a:xfrm>
          <a:prstGeom prst="rect">
            <a:avLst/>
          </a:prstGeom>
          <a:solidFill>
            <a:srgbClr val="FFFFFF"/>
          </a:solidFill>
          <a:ln/>
          <a:effectLst>
            <a:outerShdw blurRad="76200" dist="25400" dir="8100000" algn="bl" rotWithShape="0">
              <a:srgbClr val="000000">
                <a:alpha val="10000"/>
              </a:srgbClr>
            </a:outerShdw>
          </a:effectLst>
        </p:spPr>
      </p:sp>
      <p:sp>
        <p:nvSpPr>
          <p:cNvPr id="19" name="Shape 16"/>
          <p:cNvSpPr/>
          <p:nvPr/>
        </p:nvSpPr>
        <p:spPr>
          <a:xfrm>
            <a:off x="6217920" y="4937760"/>
            <a:ext cx="85344" cy="1584960"/>
          </a:xfrm>
          <a:prstGeom prst="rect">
            <a:avLst/>
          </a:prstGeom>
          <a:solidFill>
            <a:srgbClr val="1B7FBF"/>
          </a:solidFill>
          <a:ln w="12700">
            <a:solidFill>
              <a:srgbClr val="1B7FBF"/>
            </a:solidFill>
            <a:prstDash val="solid"/>
          </a:ln>
        </p:spPr>
      </p:sp>
      <p:sp>
        <p:nvSpPr>
          <p:cNvPr id="20" name="Text 17"/>
          <p:cNvSpPr/>
          <p:nvPr/>
        </p:nvSpPr>
        <p:spPr>
          <a:xfrm>
            <a:off x="6400800" y="5084064"/>
            <a:ext cx="5242560" cy="390144"/>
          </a:xfrm>
          <a:prstGeom prst="rect">
            <a:avLst/>
          </a:prstGeom>
          <a:noFill/>
          <a:ln/>
        </p:spPr>
        <p:txBody>
          <a:bodyPr wrap="square" lIns="0" tIns="0" rIns="0" bIns="0" rtlCol="0" anchor="ctr"/>
          <a:lstStyle/>
          <a:p>
            <a:r>
              <a:rPr lang="en-US" sz="1467" b="1" dirty="0">
                <a:solidFill>
                  <a:srgbClr val="142966"/>
                </a:solidFill>
              </a:rPr>
              <a:t>Practical compromise</a:t>
            </a:r>
            <a:endParaRPr lang="en-US" sz="1467" dirty="0"/>
          </a:p>
        </p:txBody>
      </p:sp>
      <p:sp>
        <p:nvSpPr>
          <p:cNvPr id="21" name="Text 18"/>
          <p:cNvSpPr/>
          <p:nvPr/>
        </p:nvSpPr>
        <p:spPr>
          <a:xfrm>
            <a:off x="6400800" y="5486400"/>
            <a:ext cx="5242560" cy="914400"/>
          </a:xfrm>
          <a:prstGeom prst="rect">
            <a:avLst/>
          </a:prstGeom>
          <a:noFill/>
          <a:ln/>
        </p:spPr>
        <p:txBody>
          <a:bodyPr wrap="square" lIns="0" tIns="0" rIns="0" bIns="0" rtlCol="0" anchor="ctr"/>
          <a:lstStyle/>
          <a:p>
            <a:r>
              <a:rPr lang="en-US" sz="1333" dirty="0">
                <a:solidFill>
                  <a:srgbClr val="0A1430"/>
                </a:solidFill>
              </a:rPr>
              <a:t>No need to retrain giant models end-to-end; use LLMs where strongest: explanation + reasoning over structured evidence</a:t>
            </a:r>
            <a:endParaRPr lang="en-US" sz="1333" dirty="0"/>
          </a:p>
        </p:txBody>
      </p:sp>
    </p:spTree>
    <p:extLst>
      <p:ext uri="{BB962C8B-B14F-4D97-AF65-F5344CB8AC3E}">
        <p14:creationId xmlns:p14="http://schemas.microsoft.com/office/powerpoint/2010/main" val="1534971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INNOVATION 5 — BENCHMARK PROPOSAL</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PropQA-Bench: A New Community Benchmark</a:t>
            </a:r>
            <a:endParaRPr lang="en-US" sz="3467" dirty="0"/>
          </a:p>
        </p:txBody>
      </p:sp>
      <p:sp>
        <p:nvSpPr>
          <p:cNvPr id="5" name="Shape 3"/>
          <p:cNvSpPr/>
          <p:nvPr/>
        </p:nvSpPr>
        <p:spPr>
          <a:xfrm>
            <a:off x="365760" y="1341120"/>
            <a:ext cx="1767840" cy="792480"/>
          </a:xfrm>
          <a:prstGeom prst="rect">
            <a:avLst/>
          </a:prstGeom>
          <a:solidFill>
            <a:srgbClr val="0FA3B1"/>
          </a:solidFill>
          <a:ln w="12700">
            <a:solidFill>
              <a:srgbClr val="FFFFFF"/>
            </a:solidFill>
            <a:prstDash val="solid"/>
          </a:ln>
        </p:spPr>
      </p:sp>
      <p:sp>
        <p:nvSpPr>
          <p:cNvPr id="6" name="Text 4"/>
          <p:cNvSpPr/>
          <p:nvPr/>
        </p:nvSpPr>
        <p:spPr>
          <a:xfrm>
            <a:off x="365760" y="1341120"/>
            <a:ext cx="1767840" cy="792480"/>
          </a:xfrm>
          <a:prstGeom prst="rect">
            <a:avLst/>
          </a:prstGeom>
          <a:noFill/>
          <a:ln/>
        </p:spPr>
        <p:txBody>
          <a:bodyPr wrap="square" lIns="0" tIns="0" rIns="0" bIns="0" rtlCol="0" anchor="ctr"/>
          <a:lstStyle/>
          <a:p>
            <a:pPr algn="ctr"/>
            <a:r>
              <a:rPr lang="en-US" sz="1200" b="1" dirty="0">
                <a:solidFill>
                  <a:srgbClr val="FFFFFF"/>
                </a:solidFill>
              </a:rPr>
              <a:t>Document Sampling</a:t>
            </a:r>
            <a:endParaRPr lang="en-US" sz="1200" dirty="0"/>
          </a:p>
        </p:txBody>
      </p:sp>
      <p:sp>
        <p:nvSpPr>
          <p:cNvPr id="7" name="Shape 5"/>
          <p:cNvSpPr/>
          <p:nvPr/>
        </p:nvSpPr>
        <p:spPr>
          <a:xfrm>
            <a:off x="2133600" y="1737360"/>
            <a:ext cx="182880" cy="0"/>
          </a:xfrm>
          <a:prstGeom prst="line">
            <a:avLst/>
          </a:prstGeom>
          <a:noFill/>
          <a:ln w="19050">
            <a:solidFill>
              <a:srgbClr val="142966"/>
            </a:solidFill>
            <a:prstDash val="solid"/>
          </a:ln>
        </p:spPr>
      </p:sp>
      <p:sp>
        <p:nvSpPr>
          <p:cNvPr id="8" name="Shape 6"/>
          <p:cNvSpPr/>
          <p:nvPr/>
        </p:nvSpPr>
        <p:spPr>
          <a:xfrm>
            <a:off x="2316480" y="1341120"/>
            <a:ext cx="1767840" cy="792480"/>
          </a:xfrm>
          <a:prstGeom prst="rect">
            <a:avLst/>
          </a:prstGeom>
          <a:solidFill>
            <a:srgbClr val="1B7FBF"/>
          </a:solidFill>
          <a:ln w="12700">
            <a:solidFill>
              <a:srgbClr val="FFFFFF"/>
            </a:solidFill>
            <a:prstDash val="solid"/>
          </a:ln>
        </p:spPr>
      </p:sp>
      <p:sp>
        <p:nvSpPr>
          <p:cNvPr id="9" name="Text 7"/>
          <p:cNvSpPr/>
          <p:nvPr/>
        </p:nvSpPr>
        <p:spPr>
          <a:xfrm>
            <a:off x="2316480" y="1341120"/>
            <a:ext cx="1767840" cy="792480"/>
          </a:xfrm>
          <a:prstGeom prst="rect">
            <a:avLst/>
          </a:prstGeom>
          <a:noFill/>
          <a:ln/>
        </p:spPr>
        <p:txBody>
          <a:bodyPr wrap="square" lIns="0" tIns="0" rIns="0" bIns="0" rtlCol="0" anchor="ctr"/>
          <a:lstStyle/>
          <a:p>
            <a:pPr algn="ctr"/>
            <a:r>
              <a:rPr lang="en-US" sz="1200" b="1" dirty="0">
                <a:solidFill>
                  <a:srgbClr val="FFFFFF"/>
                </a:solidFill>
              </a:rPr>
              <a:t>Predicate Selection</a:t>
            </a:r>
            <a:endParaRPr lang="en-US" sz="1200" dirty="0"/>
          </a:p>
        </p:txBody>
      </p:sp>
      <p:sp>
        <p:nvSpPr>
          <p:cNvPr id="10" name="Shape 8"/>
          <p:cNvSpPr/>
          <p:nvPr/>
        </p:nvSpPr>
        <p:spPr>
          <a:xfrm>
            <a:off x="4084320" y="1737360"/>
            <a:ext cx="182880" cy="0"/>
          </a:xfrm>
          <a:prstGeom prst="line">
            <a:avLst/>
          </a:prstGeom>
          <a:noFill/>
          <a:ln w="19050">
            <a:solidFill>
              <a:srgbClr val="142966"/>
            </a:solidFill>
            <a:prstDash val="solid"/>
          </a:ln>
        </p:spPr>
      </p:sp>
      <p:sp>
        <p:nvSpPr>
          <p:cNvPr id="11" name="Shape 9"/>
          <p:cNvSpPr/>
          <p:nvPr/>
        </p:nvSpPr>
        <p:spPr>
          <a:xfrm>
            <a:off x="4267200" y="1341120"/>
            <a:ext cx="1767840" cy="792480"/>
          </a:xfrm>
          <a:prstGeom prst="rect">
            <a:avLst/>
          </a:prstGeom>
          <a:solidFill>
            <a:srgbClr val="142966"/>
          </a:solidFill>
          <a:ln w="12700">
            <a:solidFill>
              <a:srgbClr val="FFFFFF"/>
            </a:solidFill>
            <a:prstDash val="solid"/>
          </a:ln>
        </p:spPr>
      </p:sp>
      <p:sp>
        <p:nvSpPr>
          <p:cNvPr id="12" name="Text 10"/>
          <p:cNvSpPr/>
          <p:nvPr/>
        </p:nvSpPr>
        <p:spPr>
          <a:xfrm>
            <a:off x="4267200" y="1341120"/>
            <a:ext cx="1767840" cy="792480"/>
          </a:xfrm>
          <a:prstGeom prst="rect">
            <a:avLst/>
          </a:prstGeom>
          <a:noFill/>
          <a:ln/>
        </p:spPr>
        <p:txBody>
          <a:bodyPr wrap="square" lIns="0" tIns="0" rIns="0" bIns="0" rtlCol="0" anchor="ctr"/>
          <a:lstStyle/>
          <a:p>
            <a:pPr algn="ctr"/>
            <a:r>
              <a:rPr lang="en-US" sz="1200" b="1" dirty="0">
                <a:solidFill>
                  <a:srgbClr val="FFFFFF"/>
                </a:solidFill>
              </a:rPr>
              <a:t>Question Writing</a:t>
            </a:r>
            <a:endParaRPr lang="en-US" sz="1200" dirty="0"/>
          </a:p>
        </p:txBody>
      </p:sp>
      <p:sp>
        <p:nvSpPr>
          <p:cNvPr id="13" name="Shape 11"/>
          <p:cNvSpPr/>
          <p:nvPr/>
        </p:nvSpPr>
        <p:spPr>
          <a:xfrm>
            <a:off x="6035040" y="1737360"/>
            <a:ext cx="182880" cy="0"/>
          </a:xfrm>
          <a:prstGeom prst="line">
            <a:avLst/>
          </a:prstGeom>
          <a:noFill/>
          <a:ln w="19050">
            <a:solidFill>
              <a:srgbClr val="142966"/>
            </a:solidFill>
            <a:prstDash val="solid"/>
          </a:ln>
        </p:spPr>
      </p:sp>
      <p:sp>
        <p:nvSpPr>
          <p:cNvPr id="14" name="Shape 12"/>
          <p:cNvSpPr/>
          <p:nvPr/>
        </p:nvSpPr>
        <p:spPr>
          <a:xfrm>
            <a:off x="6217920" y="1341120"/>
            <a:ext cx="1767840" cy="792480"/>
          </a:xfrm>
          <a:prstGeom prst="rect">
            <a:avLst/>
          </a:prstGeom>
          <a:solidFill>
            <a:srgbClr val="0FA3B1"/>
          </a:solidFill>
          <a:ln w="12700">
            <a:solidFill>
              <a:srgbClr val="FFFFFF"/>
            </a:solidFill>
            <a:prstDash val="solid"/>
          </a:ln>
        </p:spPr>
      </p:sp>
      <p:sp>
        <p:nvSpPr>
          <p:cNvPr id="15" name="Text 13"/>
          <p:cNvSpPr/>
          <p:nvPr/>
        </p:nvSpPr>
        <p:spPr>
          <a:xfrm>
            <a:off x="6217920" y="1341120"/>
            <a:ext cx="1767840" cy="792480"/>
          </a:xfrm>
          <a:prstGeom prst="rect">
            <a:avLst/>
          </a:prstGeom>
          <a:noFill/>
          <a:ln/>
        </p:spPr>
        <p:txBody>
          <a:bodyPr wrap="square" lIns="0" tIns="0" rIns="0" bIns="0" rtlCol="0" anchor="ctr"/>
          <a:lstStyle/>
          <a:p>
            <a:pPr algn="ctr"/>
            <a:r>
              <a:rPr lang="en-US" sz="1200" b="1" dirty="0">
                <a:solidFill>
                  <a:srgbClr val="FFFFFF"/>
                </a:solidFill>
              </a:rPr>
              <a:t>Answer Adjudication</a:t>
            </a:r>
            <a:endParaRPr lang="en-US" sz="1200" dirty="0"/>
          </a:p>
        </p:txBody>
      </p:sp>
      <p:sp>
        <p:nvSpPr>
          <p:cNvPr id="16" name="Shape 14"/>
          <p:cNvSpPr/>
          <p:nvPr/>
        </p:nvSpPr>
        <p:spPr>
          <a:xfrm>
            <a:off x="7985760" y="1737360"/>
            <a:ext cx="182880" cy="0"/>
          </a:xfrm>
          <a:prstGeom prst="line">
            <a:avLst/>
          </a:prstGeom>
          <a:noFill/>
          <a:ln w="19050">
            <a:solidFill>
              <a:srgbClr val="142966"/>
            </a:solidFill>
            <a:prstDash val="solid"/>
          </a:ln>
        </p:spPr>
      </p:sp>
      <p:sp>
        <p:nvSpPr>
          <p:cNvPr id="17" name="Shape 15"/>
          <p:cNvSpPr/>
          <p:nvPr/>
        </p:nvSpPr>
        <p:spPr>
          <a:xfrm>
            <a:off x="8168640" y="1341120"/>
            <a:ext cx="1767840" cy="792480"/>
          </a:xfrm>
          <a:prstGeom prst="rect">
            <a:avLst/>
          </a:prstGeom>
          <a:solidFill>
            <a:srgbClr val="1B7FBF"/>
          </a:solidFill>
          <a:ln w="12700">
            <a:solidFill>
              <a:srgbClr val="FFFFFF"/>
            </a:solidFill>
            <a:prstDash val="solid"/>
          </a:ln>
        </p:spPr>
      </p:sp>
      <p:sp>
        <p:nvSpPr>
          <p:cNvPr id="18" name="Text 16"/>
          <p:cNvSpPr/>
          <p:nvPr/>
        </p:nvSpPr>
        <p:spPr>
          <a:xfrm>
            <a:off x="8168640" y="1341120"/>
            <a:ext cx="1767840" cy="792480"/>
          </a:xfrm>
          <a:prstGeom prst="rect">
            <a:avLst/>
          </a:prstGeom>
          <a:noFill/>
          <a:ln/>
        </p:spPr>
        <p:txBody>
          <a:bodyPr wrap="square" lIns="0" tIns="0" rIns="0" bIns="0" rtlCol="0" anchor="ctr"/>
          <a:lstStyle/>
          <a:p>
            <a:pPr algn="ctr"/>
            <a:r>
              <a:rPr lang="en-US" sz="1200" b="1" dirty="0">
                <a:solidFill>
                  <a:srgbClr val="FFFFFF"/>
                </a:solidFill>
              </a:rPr>
              <a:t>Scoring Suite</a:t>
            </a:r>
            <a:endParaRPr lang="en-US" sz="1200" dirty="0"/>
          </a:p>
        </p:txBody>
      </p:sp>
      <p:sp>
        <p:nvSpPr>
          <p:cNvPr id="19" name="Shape 17"/>
          <p:cNvSpPr/>
          <p:nvPr/>
        </p:nvSpPr>
        <p:spPr>
          <a:xfrm>
            <a:off x="9936480" y="1737360"/>
            <a:ext cx="182880" cy="0"/>
          </a:xfrm>
          <a:prstGeom prst="line">
            <a:avLst/>
          </a:prstGeom>
          <a:noFill/>
          <a:ln w="19050">
            <a:solidFill>
              <a:srgbClr val="142966"/>
            </a:solidFill>
            <a:prstDash val="solid"/>
          </a:ln>
        </p:spPr>
      </p:sp>
      <p:sp>
        <p:nvSpPr>
          <p:cNvPr id="20" name="Shape 18"/>
          <p:cNvSpPr/>
          <p:nvPr/>
        </p:nvSpPr>
        <p:spPr>
          <a:xfrm>
            <a:off x="10119360" y="1341120"/>
            <a:ext cx="1767840" cy="792480"/>
          </a:xfrm>
          <a:prstGeom prst="rect">
            <a:avLst/>
          </a:prstGeom>
          <a:solidFill>
            <a:srgbClr val="F4A325"/>
          </a:solidFill>
          <a:ln w="12700">
            <a:solidFill>
              <a:srgbClr val="FFFFFF"/>
            </a:solidFill>
            <a:prstDash val="solid"/>
          </a:ln>
        </p:spPr>
      </p:sp>
      <p:sp>
        <p:nvSpPr>
          <p:cNvPr id="21" name="Text 19"/>
          <p:cNvSpPr/>
          <p:nvPr/>
        </p:nvSpPr>
        <p:spPr>
          <a:xfrm>
            <a:off x="10119360" y="1341120"/>
            <a:ext cx="1767840" cy="792480"/>
          </a:xfrm>
          <a:prstGeom prst="rect">
            <a:avLst/>
          </a:prstGeom>
          <a:noFill/>
          <a:ln/>
        </p:spPr>
        <p:txBody>
          <a:bodyPr wrap="square" lIns="0" tIns="0" rIns="0" bIns="0" rtlCol="0" anchor="ctr"/>
          <a:lstStyle/>
          <a:p>
            <a:pPr algn="ctr"/>
            <a:r>
              <a:rPr lang="en-US" sz="1200" b="1" dirty="0">
                <a:solidFill>
                  <a:srgbClr val="FFFFFF"/>
                </a:solidFill>
              </a:rPr>
              <a:t>Leaderboard</a:t>
            </a:r>
            <a:endParaRPr lang="en-US" sz="1200" dirty="0"/>
          </a:p>
        </p:txBody>
      </p:sp>
      <p:sp>
        <p:nvSpPr>
          <p:cNvPr id="22" name="Shape 20"/>
          <p:cNvSpPr/>
          <p:nvPr/>
        </p:nvSpPr>
        <p:spPr>
          <a:xfrm>
            <a:off x="365760" y="243840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23" name="Shape 21"/>
          <p:cNvSpPr/>
          <p:nvPr/>
        </p:nvSpPr>
        <p:spPr>
          <a:xfrm>
            <a:off x="365760" y="2438400"/>
            <a:ext cx="85344" cy="1280160"/>
          </a:xfrm>
          <a:prstGeom prst="rect">
            <a:avLst/>
          </a:prstGeom>
          <a:solidFill>
            <a:srgbClr val="0FA3B1"/>
          </a:solidFill>
          <a:ln w="12700">
            <a:solidFill>
              <a:srgbClr val="0FA3B1"/>
            </a:solidFill>
            <a:prstDash val="solid"/>
          </a:ln>
        </p:spPr>
      </p:sp>
      <p:sp>
        <p:nvSpPr>
          <p:cNvPr id="24" name="Text 22"/>
          <p:cNvSpPr/>
          <p:nvPr/>
        </p:nvSpPr>
        <p:spPr>
          <a:xfrm>
            <a:off x="548640" y="2584704"/>
            <a:ext cx="5242560" cy="390144"/>
          </a:xfrm>
          <a:prstGeom prst="rect">
            <a:avLst/>
          </a:prstGeom>
          <a:noFill/>
          <a:ln/>
        </p:spPr>
        <p:txBody>
          <a:bodyPr wrap="square" lIns="0" tIns="0" rIns="0" bIns="0" rtlCol="0" anchor="ctr"/>
          <a:lstStyle/>
          <a:p>
            <a:r>
              <a:rPr lang="en-US" sz="1467" b="1" dirty="0">
                <a:solidFill>
                  <a:srgbClr val="142966"/>
                </a:solidFill>
              </a:rPr>
              <a:t>Exact Match &amp; Token F1</a:t>
            </a:r>
            <a:endParaRPr lang="en-US" sz="1467" dirty="0"/>
          </a:p>
        </p:txBody>
      </p:sp>
      <p:sp>
        <p:nvSpPr>
          <p:cNvPr id="25" name="Text 23"/>
          <p:cNvSpPr/>
          <p:nvPr/>
        </p:nvSpPr>
        <p:spPr>
          <a:xfrm>
            <a:off x="548640" y="2987040"/>
            <a:ext cx="5242560" cy="609600"/>
          </a:xfrm>
          <a:prstGeom prst="rect">
            <a:avLst/>
          </a:prstGeom>
          <a:noFill/>
          <a:ln/>
        </p:spPr>
        <p:txBody>
          <a:bodyPr wrap="square" lIns="0" tIns="0" rIns="0" bIns="0" rtlCol="0" anchor="ctr"/>
          <a:lstStyle/>
          <a:p>
            <a:r>
              <a:rPr lang="en-US" sz="1333" dirty="0">
                <a:solidFill>
                  <a:srgbClr val="0A1430"/>
                </a:solidFill>
              </a:rPr>
              <a:t>Standard extractive QA metrics for span recovery accuracy</a:t>
            </a:r>
            <a:endParaRPr lang="en-US" sz="1333" dirty="0"/>
          </a:p>
        </p:txBody>
      </p:sp>
      <p:sp>
        <p:nvSpPr>
          <p:cNvPr id="26" name="Shape 24"/>
          <p:cNvSpPr/>
          <p:nvPr/>
        </p:nvSpPr>
        <p:spPr>
          <a:xfrm>
            <a:off x="365760" y="384048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27" name="Shape 25"/>
          <p:cNvSpPr/>
          <p:nvPr/>
        </p:nvSpPr>
        <p:spPr>
          <a:xfrm>
            <a:off x="365760" y="3840480"/>
            <a:ext cx="85344" cy="1280160"/>
          </a:xfrm>
          <a:prstGeom prst="rect">
            <a:avLst/>
          </a:prstGeom>
          <a:solidFill>
            <a:srgbClr val="142966"/>
          </a:solidFill>
          <a:ln w="12700">
            <a:solidFill>
              <a:srgbClr val="142966"/>
            </a:solidFill>
            <a:prstDash val="solid"/>
          </a:ln>
        </p:spPr>
      </p:sp>
      <p:sp>
        <p:nvSpPr>
          <p:cNvPr id="28" name="Text 26"/>
          <p:cNvSpPr/>
          <p:nvPr/>
        </p:nvSpPr>
        <p:spPr>
          <a:xfrm>
            <a:off x="548640" y="3986784"/>
            <a:ext cx="5242560" cy="390144"/>
          </a:xfrm>
          <a:prstGeom prst="rect">
            <a:avLst/>
          </a:prstGeom>
          <a:noFill/>
          <a:ln/>
        </p:spPr>
        <p:txBody>
          <a:bodyPr wrap="square" lIns="0" tIns="0" rIns="0" bIns="0" rtlCol="0" anchor="ctr"/>
          <a:lstStyle/>
          <a:p>
            <a:r>
              <a:rPr lang="en-US" sz="1467" b="1" dirty="0">
                <a:solidFill>
                  <a:srgbClr val="142966"/>
                </a:solidFill>
              </a:rPr>
              <a:t>Role Accuracy</a:t>
            </a:r>
            <a:endParaRPr lang="en-US" sz="1467" dirty="0"/>
          </a:p>
        </p:txBody>
      </p:sp>
      <p:sp>
        <p:nvSpPr>
          <p:cNvPr id="29" name="Text 27"/>
          <p:cNvSpPr/>
          <p:nvPr/>
        </p:nvSpPr>
        <p:spPr>
          <a:xfrm>
            <a:off x="548640" y="4389120"/>
            <a:ext cx="5242560" cy="609600"/>
          </a:xfrm>
          <a:prstGeom prst="rect">
            <a:avLst/>
          </a:prstGeom>
          <a:noFill/>
          <a:ln/>
        </p:spPr>
        <p:txBody>
          <a:bodyPr wrap="square" lIns="0" tIns="0" rIns="0" bIns="0" rtlCol="0" anchor="ctr"/>
          <a:lstStyle/>
          <a:p>
            <a:r>
              <a:rPr lang="en-US" sz="1333" dirty="0">
                <a:solidFill>
                  <a:srgbClr val="0A1430"/>
                </a:solidFill>
              </a:rPr>
              <a:t>Tracks whether the predicted span fills the correct semantic slot</a:t>
            </a:r>
            <a:endParaRPr lang="en-US" sz="1333" dirty="0"/>
          </a:p>
        </p:txBody>
      </p:sp>
      <p:sp>
        <p:nvSpPr>
          <p:cNvPr id="30" name="Shape 28"/>
          <p:cNvSpPr/>
          <p:nvPr/>
        </p:nvSpPr>
        <p:spPr>
          <a:xfrm>
            <a:off x="365760" y="524256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31" name="Shape 29"/>
          <p:cNvSpPr/>
          <p:nvPr/>
        </p:nvSpPr>
        <p:spPr>
          <a:xfrm>
            <a:off x="365760" y="5242560"/>
            <a:ext cx="85344" cy="1280160"/>
          </a:xfrm>
          <a:prstGeom prst="rect">
            <a:avLst/>
          </a:prstGeom>
          <a:solidFill>
            <a:srgbClr val="1B7FBF"/>
          </a:solidFill>
          <a:ln w="12700">
            <a:solidFill>
              <a:srgbClr val="1B7FBF"/>
            </a:solidFill>
            <a:prstDash val="solid"/>
          </a:ln>
        </p:spPr>
      </p:sp>
      <p:sp>
        <p:nvSpPr>
          <p:cNvPr id="32" name="Text 30"/>
          <p:cNvSpPr/>
          <p:nvPr/>
        </p:nvSpPr>
        <p:spPr>
          <a:xfrm>
            <a:off x="548640" y="5388864"/>
            <a:ext cx="5242560" cy="390144"/>
          </a:xfrm>
          <a:prstGeom prst="rect">
            <a:avLst/>
          </a:prstGeom>
          <a:noFill/>
          <a:ln/>
        </p:spPr>
        <p:txBody>
          <a:bodyPr wrap="square" lIns="0" tIns="0" rIns="0" bIns="0" rtlCol="0" anchor="ctr"/>
          <a:lstStyle/>
          <a:p>
            <a:r>
              <a:rPr lang="en-US" sz="1467" b="1" dirty="0">
                <a:solidFill>
                  <a:srgbClr val="142966"/>
                </a:solidFill>
              </a:rPr>
              <a:t>Calibrated Abstention</a:t>
            </a:r>
            <a:endParaRPr lang="en-US" sz="1467" dirty="0"/>
          </a:p>
        </p:txBody>
      </p:sp>
      <p:sp>
        <p:nvSpPr>
          <p:cNvPr id="33" name="Text 31"/>
          <p:cNvSpPr/>
          <p:nvPr/>
        </p:nvSpPr>
        <p:spPr>
          <a:xfrm>
            <a:off x="548640" y="5791200"/>
            <a:ext cx="5242560" cy="609600"/>
          </a:xfrm>
          <a:prstGeom prst="rect">
            <a:avLst/>
          </a:prstGeom>
          <a:noFill/>
          <a:ln/>
        </p:spPr>
        <p:txBody>
          <a:bodyPr wrap="square" lIns="0" tIns="0" rIns="0" bIns="0" rtlCol="0" anchor="ctr"/>
          <a:lstStyle/>
          <a:p>
            <a:r>
              <a:rPr lang="en-US" sz="1333" dirty="0">
                <a:solidFill>
                  <a:srgbClr val="0A1430"/>
                </a:solidFill>
              </a:rPr>
              <a:t>Rewards systems that correctly refuse to answer uncertain questions</a:t>
            </a:r>
            <a:endParaRPr lang="en-US" sz="1333" dirty="0"/>
          </a:p>
        </p:txBody>
      </p:sp>
      <p:sp>
        <p:nvSpPr>
          <p:cNvPr id="34" name="Shape 32"/>
          <p:cNvSpPr/>
          <p:nvPr/>
        </p:nvSpPr>
        <p:spPr>
          <a:xfrm>
            <a:off x="6217920" y="243840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35" name="Shape 33"/>
          <p:cNvSpPr/>
          <p:nvPr/>
        </p:nvSpPr>
        <p:spPr>
          <a:xfrm>
            <a:off x="6217920" y="2438400"/>
            <a:ext cx="85344" cy="1280160"/>
          </a:xfrm>
          <a:prstGeom prst="rect">
            <a:avLst/>
          </a:prstGeom>
          <a:solidFill>
            <a:srgbClr val="F4A325"/>
          </a:solidFill>
          <a:ln w="12700">
            <a:solidFill>
              <a:srgbClr val="F4A325"/>
            </a:solidFill>
            <a:prstDash val="solid"/>
          </a:ln>
        </p:spPr>
      </p:sp>
      <p:sp>
        <p:nvSpPr>
          <p:cNvPr id="36" name="Text 34"/>
          <p:cNvSpPr/>
          <p:nvPr/>
        </p:nvSpPr>
        <p:spPr>
          <a:xfrm>
            <a:off x="6400800" y="2584704"/>
            <a:ext cx="5242560" cy="390144"/>
          </a:xfrm>
          <a:prstGeom prst="rect">
            <a:avLst/>
          </a:prstGeom>
          <a:noFill/>
          <a:ln/>
        </p:spPr>
        <p:txBody>
          <a:bodyPr wrap="square" lIns="0" tIns="0" rIns="0" bIns="0" rtlCol="0" anchor="ctr"/>
          <a:lstStyle/>
          <a:p>
            <a:r>
              <a:rPr lang="en-US" sz="1467" b="1" dirty="0">
                <a:solidFill>
                  <a:srgbClr val="142966"/>
                </a:solidFill>
              </a:rPr>
              <a:t>Graph-Traversal Success</a:t>
            </a:r>
            <a:endParaRPr lang="en-US" sz="1467" dirty="0"/>
          </a:p>
        </p:txBody>
      </p:sp>
      <p:sp>
        <p:nvSpPr>
          <p:cNvPr id="37" name="Text 35"/>
          <p:cNvSpPr/>
          <p:nvPr/>
        </p:nvSpPr>
        <p:spPr>
          <a:xfrm>
            <a:off x="6400800" y="2987040"/>
            <a:ext cx="5242560" cy="609600"/>
          </a:xfrm>
          <a:prstGeom prst="rect">
            <a:avLst/>
          </a:prstGeom>
          <a:noFill/>
          <a:ln/>
        </p:spPr>
        <p:txBody>
          <a:bodyPr wrap="square" lIns="0" tIns="0" rIns="0" bIns="0" rtlCol="0" anchor="ctr"/>
          <a:lstStyle/>
          <a:p>
            <a:r>
              <a:rPr lang="en-US" sz="1333" dirty="0">
                <a:solidFill>
                  <a:srgbClr val="0A1430"/>
                </a:solidFill>
              </a:rPr>
              <a:t>Measures multi-sentence reasoning through predicate chains</a:t>
            </a:r>
            <a:endParaRPr lang="en-US" sz="1333" dirty="0"/>
          </a:p>
        </p:txBody>
      </p:sp>
      <p:sp>
        <p:nvSpPr>
          <p:cNvPr id="38" name="Shape 36"/>
          <p:cNvSpPr/>
          <p:nvPr/>
        </p:nvSpPr>
        <p:spPr>
          <a:xfrm>
            <a:off x="6217920" y="384048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39" name="Shape 37"/>
          <p:cNvSpPr/>
          <p:nvPr/>
        </p:nvSpPr>
        <p:spPr>
          <a:xfrm>
            <a:off x="6217920" y="3840480"/>
            <a:ext cx="85344" cy="1280160"/>
          </a:xfrm>
          <a:prstGeom prst="rect">
            <a:avLst/>
          </a:prstGeom>
          <a:solidFill>
            <a:srgbClr val="142966"/>
          </a:solidFill>
          <a:ln w="12700">
            <a:solidFill>
              <a:srgbClr val="142966"/>
            </a:solidFill>
            <a:prstDash val="solid"/>
          </a:ln>
        </p:spPr>
      </p:sp>
      <p:sp>
        <p:nvSpPr>
          <p:cNvPr id="40" name="Text 38"/>
          <p:cNvSpPr/>
          <p:nvPr/>
        </p:nvSpPr>
        <p:spPr>
          <a:xfrm>
            <a:off x="6400800" y="3986784"/>
            <a:ext cx="5242560" cy="390144"/>
          </a:xfrm>
          <a:prstGeom prst="rect">
            <a:avLst/>
          </a:prstGeom>
          <a:noFill/>
          <a:ln/>
        </p:spPr>
        <p:txBody>
          <a:bodyPr wrap="square" lIns="0" tIns="0" rIns="0" bIns="0" rtlCol="0" anchor="ctr"/>
          <a:lstStyle/>
          <a:p>
            <a:r>
              <a:rPr lang="en-US" sz="1467" b="1" dirty="0">
                <a:solidFill>
                  <a:srgbClr val="142966"/>
                </a:solidFill>
              </a:rPr>
              <a:t>Explanation Faithfulness</a:t>
            </a:r>
            <a:endParaRPr lang="en-US" sz="1467" dirty="0"/>
          </a:p>
        </p:txBody>
      </p:sp>
      <p:sp>
        <p:nvSpPr>
          <p:cNvPr id="41" name="Text 39"/>
          <p:cNvSpPr/>
          <p:nvPr/>
        </p:nvSpPr>
        <p:spPr>
          <a:xfrm>
            <a:off x="6400800" y="4389120"/>
            <a:ext cx="5242560" cy="609600"/>
          </a:xfrm>
          <a:prstGeom prst="rect">
            <a:avLst/>
          </a:prstGeom>
          <a:noFill/>
          <a:ln/>
        </p:spPr>
        <p:txBody>
          <a:bodyPr wrap="square" lIns="0" tIns="0" rIns="0" bIns="0" rtlCol="0" anchor="ctr"/>
          <a:lstStyle/>
          <a:p>
            <a:r>
              <a:rPr lang="en-US" sz="1333" dirty="0">
                <a:solidFill>
                  <a:srgbClr val="0A1430"/>
                </a:solidFill>
              </a:rPr>
              <a:t>Checks whether the reasoning trace matches the actual decision logic</a:t>
            </a:r>
            <a:endParaRPr lang="en-US" sz="1333" dirty="0"/>
          </a:p>
        </p:txBody>
      </p:sp>
      <p:sp>
        <p:nvSpPr>
          <p:cNvPr id="42" name="Shape 40"/>
          <p:cNvSpPr/>
          <p:nvPr/>
        </p:nvSpPr>
        <p:spPr>
          <a:xfrm>
            <a:off x="6217920" y="524256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43" name="Shape 41"/>
          <p:cNvSpPr/>
          <p:nvPr/>
        </p:nvSpPr>
        <p:spPr>
          <a:xfrm>
            <a:off x="6217920" y="5242560"/>
            <a:ext cx="85344" cy="1280160"/>
          </a:xfrm>
          <a:prstGeom prst="rect">
            <a:avLst/>
          </a:prstGeom>
          <a:solidFill>
            <a:srgbClr val="0FA3B1"/>
          </a:solidFill>
          <a:ln w="12700">
            <a:solidFill>
              <a:srgbClr val="0FA3B1"/>
            </a:solidFill>
            <a:prstDash val="solid"/>
          </a:ln>
        </p:spPr>
      </p:sp>
      <p:sp>
        <p:nvSpPr>
          <p:cNvPr id="44" name="Text 42"/>
          <p:cNvSpPr/>
          <p:nvPr/>
        </p:nvSpPr>
        <p:spPr>
          <a:xfrm>
            <a:off x="6400800" y="5388864"/>
            <a:ext cx="5242560" cy="390144"/>
          </a:xfrm>
          <a:prstGeom prst="rect">
            <a:avLst/>
          </a:prstGeom>
          <a:noFill/>
          <a:ln/>
        </p:spPr>
        <p:txBody>
          <a:bodyPr wrap="square" lIns="0" tIns="0" rIns="0" bIns="0" rtlCol="0" anchor="ctr"/>
          <a:lstStyle/>
          <a:p>
            <a:r>
              <a:rPr lang="en-US" sz="1467" b="1" dirty="0">
                <a:solidFill>
                  <a:srgbClr val="142966"/>
                </a:solidFill>
              </a:rPr>
              <a:t>Leaderboard Separation</a:t>
            </a:r>
            <a:endParaRPr lang="en-US" sz="1467" dirty="0"/>
          </a:p>
        </p:txBody>
      </p:sp>
      <p:sp>
        <p:nvSpPr>
          <p:cNvPr id="45" name="Text 43"/>
          <p:cNvSpPr/>
          <p:nvPr/>
        </p:nvSpPr>
        <p:spPr>
          <a:xfrm>
            <a:off x="6400800" y="5791200"/>
            <a:ext cx="5242560" cy="609600"/>
          </a:xfrm>
          <a:prstGeom prst="rect">
            <a:avLst/>
          </a:prstGeom>
          <a:noFill/>
          <a:ln/>
        </p:spPr>
        <p:txBody>
          <a:bodyPr wrap="square" lIns="0" tIns="0" rIns="0" bIns="0" rtlCol="0" anchor="ctr"/>
          <a:lstStyle/>
          <a:p>
            <a:r>
              <a:rPr lang="en-US" sz="1333" dirty="0">
                <a:solidFill>
                  <a:srgbClr val="0A1430"/>
                </a:solidFill>
              </a:rPr>
              <a:t>Local slot-filling vs. compositional multi-hop evaluated separately</a:t>
            </a:r>
            <a:endParaRPr lang="en-US" sz="1333" dirty="0"/>
          </a:p>
        </p:txBody>
      </p:sp>
    </p:spTree>
    <p:extLst>
      <p:ext uri="{BB962C8B-B14F-4D97-AF65-F5344CB8AC3E}">
        <p14:creationId xmlns:p14="http://schemas.microsoft.com/office/powerpoint/2010/main" val="1149248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COMPARISON</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PropQA-Net vs. Prior Approaches</a:t>
            </a:r>
            <a:endParaRPr lang="en-US" sz="3467"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65760" y="1341120"/>
          <a:ext cx="11460480" cy="5181597"/>
        </p:xfrm>
        <a:graphic>
          <a:graphicData uri="http://schemas.openxmlformats.org/drawingml/2006/table">
            <a:tbl>
              <a:tblPr/>
              <a:tblGrid>
                <a:gridCol w="24384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438400">
                  <a:extLst>
                    <a:ext uri="{9D8B030D-6E8A-4147-A177-3AD203B41FA5}">
                      <a16:colId xmlns:a16="http://schemas.microsoft.com/office/drawing/2014/main" val="20004"/>
                    </a:ext>
                  </a:extLst>
                </a:gridCol>
              </a:tblGrid>
              <a:tr h="575733">
                <a:tc>
                  <a:txBody>
                    <a:bodyPr/>
                    <a:lstStyle/>
                    <a:p>
                      <a:pPr marL="0" indent="0" algn="l">
                        <a:buNone/>
                      </a:pPr>
                      <a:r>
                        <a:rPr lang="en-US" sz="1300" b="1" dirty="0">
                          <a:solidFill>
                            <a:srgbClr val="FFFFFF"/>
                          </a:solidFill>
                        </a:rPr>
                        <a:t>Dimension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lgn="ctr">
                        <a:buNone/>
                      </a:pPr>
                      <a:r>
                        <a:rPr lang="en-US" sz="1300" b="1" dirty="0">
                          <a:solidFill>
                            <a:srgbClr val="FFFFFF"/>
                          </a:solidFill>
                        </a:rPr>
                        <a:t>Classical SRL</a:t>
                      </a:r>
                      <a:endParaRPr lang="en-US" sz="1300" dirty="0"/>
                    </a:p>
                    <a:p>
                      <a:pPr marL="0" indent="0" algn="ctr">
                        <a:buNone/>
                      </a:pPr>
                      <a:r>
                        <a:rPr lang="en-US" sz="1300" b="1" dirty="0">
                          <a:solidFill>
                            <a:srgbClr val="FFFFFF"/>
                          </a:solidFill>
                        </a:rPr>
                        <a:t>(CoNLL era)</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lgn="ctr">
                        <a:buNone/>
                      </a:pPr>
                      <a:r>
                        <a:rPr lang="en-US" sz="1300" b="1" dirty="0">
                          <a:solidFill>
                            <a:srgbClr val="FFFFFF"/>
                          </a:solidFill>
                        </a:rPr>
                        <a:t>Neural SRL</a:t>
                      </a:r>
                      <a:endParaRPr lang="en-US" sz="1300" dirty="0"/>
                    </a:p>
                    <a:p>
                      <a:pPr marL="0" indent="0" algn="ctr">
                        <a:buNone/>
                      </a:pPr>
                      <a:r>
                        <a:rPr lang="en-US" sz="1300" b="1" dirty="0">
                          <a:solidFill>
                            <a:srgbClr val="FFFFFF"/>
                          </a:solidFill>
                        </a:rPr>
                        <a:t>(He et al. 2017)</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lgn="ctr">
                        <a:buNone/>
                      </a:pPr>
                      <a:r>
                        <a:rPr lang="en-US" sz="1300" b="1" dirty="0">
                          <a:solidFill>
                            <a:srgbClr val="FFFFFF"/>
                          </a:solidFill>
                        </a:rPr>
                        <a:t>QA-SRL</a:t>
                      </a:r>
                      <a:endParaRPr lang="en-US" sz="1300" dirty="0"/>
                    </a:p>
                    <a:p>
                      <a:pPr marL="0" indent="0" algn="ctr">
                        <a:buNone/>
                      </a:pPr>
                      <a:r>
                        <a:rPr lang="en-US" sz="1300" b="1" dirty="0">
                          <a:solidFill>
                            <a:srgbClr val="FFFFFF"/>
                          </a:solidFill>
                        </a:rPr>
                        <a:t>(He et al. 2015)</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lgn="ctr">
                        <a:buNone/>
                      </a:pPr>
                      <a:r>
                        <a:rPr lang="en-US" sz="1300" b="1" dirty="0">
                          <a:solidFill>
                            <a:srgbClr val="FFFFFF"/>
                          </a:solidFill>
                        </a:rPr>
                        <a:t>PropQA-Net</a:t>
                      </a:r>
                      <a:endParaRPr lang="en-US" sz="1300" dirty="0"/>
                    </a:p>
                    <a:p>
                      <a:pPr marL="0" indent="0" algn="ctr">
                        <a:buNone/>
                      </a:pPr>
                      <a:r>
                        <a:rPr lang="en-US" sz="1300" b="1" dirty="0">
                          <a:solidFill>
                            <a:srgbClr val="FFFFFF"/>
                          </a:solidFill>
                        </a:rPr>
                        <a:t>(This Work)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extLst>
                  <a:ext uri="{0D108BD9-81ED-4DB2-BD59-A6C34878D82A}">
                    <a16:rowId xmlns:a16="http://schemas.microsoft.com/office/drawing/2014/main" val="10000"/>
                  </a:ext>
                </a:extLst>
              </a:tr>
              <a:tr h="575733">
                <a:tc>
                  <a:txBody>
                    <a:bodyPr/>
                    <a:lstStyle/>
                    <a:p>
                      <a:pPr marL="0" indent="0" algn="l">
                        <a:buNone/>
                      </a:pPr>
                      <a:r>
                        <a:rPr lang="en-US" sz="1300" b="1" dirty="0">
                          <a:solidFill>
                            <a:srgbClr val="0A1430"/>
                          </a:solidFill>
                        </a:rPr>
                        <a:t>Training signal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Parse features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Contextual embeddings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QA crowdsourcing</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42966"/>
                          </a:solidFill>
                        </a:rPr>
                        <a:t>PropBank BIO + spans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1"/>
                  </a:ext>
                </a:extLst>
              </a:tr>
              <a:tr h="575733">
                <a:tc>
                  <a:txBody>
                    <a:bodyPr/>
                    <a:lstStyle/>
                    <a:p>
                      <a:pPr marL="0" indent="0" algn="l">
                        <a:buNone/>
                      </a:pPr>
                      <a:r>
                        <a:rPr lang="en-US" sz="1300" b="1" dirty="0">
                          <a:solidFill>
                            <a:srgbClr val="0A1430"/>
                          </a:solidFill>
                        </a:rPr>
                        <a:t>QA capability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None native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None native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Annotation-only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142966"/>
                          </a:solidFill>
                        </a:rPr>
                        <a:t>Joint SRL + span QA</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2"/>
                  </a:ext>
                </a:extLst>
              </a:tr>
              <a:tr h="575733">
                <a:tc>
                  <a:txBody>
                    <a:bodyPr/>
                    <a:lstStyle/>
                    <a:p>
                      <a:pPr marL="0" indent="0" algn="l">
                        <a:buNone/>
                      </a:pPr>
                      <a:r>
                        <a:rPr lang="en-US" sz="1300" b="1" dirty="0">
                          <a:solidFill>
                            <a:srgbClr val="0A1430"/>
                          </a:solidFill>
                        </a:rPr>
                        <a:t>Reproducibility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High</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Medium (GPU)</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Dataset-level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42966"/>
                          </a:solidFill>
                        </a:rPr>
                        <a:t>High (NLTK, seed=42)</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3"/>
                  </a:ext>
                </a:extLst>
              </a:tr>
              <a:tr h="575733">
                <a:tc>
                  <a:txBody>
                    <a:bodyPr/>
                    <a:lstStyle/>
                    <a:p>
                      <a:pPr marL="0" indent="0" algn="l">
                        <a:buNone/>
                      </a:pPr>
                      <a:r>
                        <a:rPr lang="en-US" sz="1300" b="1" dirty="0">
                          <a:solidFill>
                            <a:srgbClr val="0A1430"/>
                          </a:solidFill>
                        </a:rPr>
                        <a:t>Role explainability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Full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Full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QA-form labels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142966"/>
                          </a:solidFill>
                        </a:rPr>
                        <a:t>Full + reasoning trace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4"/>
                  </a:ext>
                </a:extLst>
              </a:tr>
              <a:tr h="575733">
                <a:tc>
                  <a:txBody>
                    <a:bodyPr/>
                    <a:lstStyle/>
                    <a:p>
                      <a:pPr marL="0" indent="0" algn="l">
                        <a:buNone/>
                      </a:pPr>
                      <a:r>
                        <a:rPr lang="en-US" sz="1300" b="1" dirty="0">
                          <a:solidFill>
                            <a:srgbClr val="0A1430"/>
                          </a:solidFill>
                        </a:rPr>
                        <a:t>Multi-task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42966"/>
                          </a:solidFill>
                        </a:rPr>
                        <a:t>Yes (SRL + QA jointly)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5"/>
                  </a:ext>
                </a:extLst>
              </a:tr>
              <a:tr h="575733">
                <a:tc>
                  <a:txBody>
                    <a:bodyPr/>
                    <a:lstStyle/>
                    <a:p>
                      <a:pPr marL="0" indent="0" algn="l">
                        <a:buNone/>
                      </a:pPr>
                      <a:r>
                        <a:rPr lang="en-US" sz="1300" b="1" dirty="0">
                          <a:solidFill>
                            <a:srgbClr val="0A1430"/>
                          </a:solidFill>
                        </a:rPr>
                        <a:t>Hybrid upgrade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142966"/>
                          </a:solidFill>
                        </a:rPr>
                        <a:t>Yes (4 inference tracks)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6"/>
                  </a:ext>
                </a:extLst>
              </a:tr>
              <a:tr h="575733">
                <a:tc>
                  <a:txBody>
                    <a:bodyPr/>
                    <a:lstStyle/>
                    <a:p>
                      <a:pPr marL="0" indent="0" algn="l">
                        <a:buNone/>
                      </a:pPr>
                      <a:r>
                        <a:rPr lang="en-US" sz="1300" b="1" dirty="0">
                          <a:solidFill>
                            <a:srgbClr val="0A1430"/>
                          </a:solidFill>
                        </a:rPr>
                        <a:t>Corpus size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PTB WSJ</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OntoNotes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QA-SRL bank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42966"/>
                          </a:solidFill>
                        </a:rPr>
                        <a:t>23,007 NLTK PropBank QA</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7"/>
                  </a:ext>
                </a:extLst>
              </a:tr>
              <a:tr h="575733">
                <a:tc>
                  <a:txBody>
                    <a:bodyPr/>
                    <a:lstStyle/>
                    <a:p>
                      <a:pPr marL="0" indent="0" algn="l">
                        <a:buNone/>
                      </a:pPr>
                      <a:r>
                        <a:rPr lang="en-US" sz="1300" b="1" dirty="0">
                          <a:solidFill>
                            <a:srgbClr val="0A1430"/>
                          </a:solidFill>
                        </a:rPr>
                        <a:t>Approx. test F1</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~0.75 (SRL only)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~0.87 (SRL only)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N/A</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142966"/>
                          </a:solidFill>
                        </a:rPr>
                        <a:t>0.761 QA token F1</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08465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430"/>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0FA3B1"/>
          </a:solidFill>
          <a:ln w="12700">
            <a:solidFill>
              <a:srgbClr val="0FA3B1"/>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CONCLUSION</a:t>
            </a:r>
            <a:endParaRPr lang="en-US" sz="1333" dirty="0"/>
          </a:p>
        </p:txBody>
      </p:sp>
      <p:sp>
        <p:nvSpPr>
          <p:cNvPr id="4" name="Text 2"/>
          <p:cNvSpPr/>
          <p:nvPr/>
        </p:nvSpPr>
        <p:spPr>
          <a:xfrm>
            <a:off x="548640" y="609600"/>
            <a:ext cx="11094720" cy="792480"/>
          </a:xfrm>
          <a:prstGeom prst="rect">
            <a:avLst/>
          </a:prstGeom>
          <a:noFill/>
          <a:ln/>
        </p:spPr>
        <p:txBody>
          <a:bodyPr wrap="square" rtlCol="0" anchor="ctr"/>
          <a:lstStyle/>
          <a:p>
            <a:r>
              <a:rPr lang="en-US" sz="4000" b="1" dirty="0">
                <a:solidFill>
                  <a:srgbClr val="FFFFFF"/>
                </a:solidFill>
              </a:rPr>
              <a:t>PropQA-Net: Key Takeaways</a:t>
            </a:r>
            <a:endParaRPr lang="en-US" sz="4000" dirty="0"/>
          </a:p>
        </p:txBody>
      </p:sp>
      <p:sp>
        <p:nvSpPr>
          <p:cNvPr id="5" name="Shape 3"/>
          <p:cNvSpPr/>
          <p:nvPr/>
        </p:nvSpPr>
        <p:spPr>
          <a:xfrm>
            <a:off x="548640" y="1487424"/>
            <a:ext cx="9753600" cy="48768"/>
          </a:xfrm>
          <a:prstGeom prst="rect">
            <a:avLst/>
          </a:prstGeom>
          <a:solidFill>
            <a:srgbClr val="F4A325"/>
          </a:solidFill>
          <a:ln w="12700">
            <a:solidFill>
              <a:srgbClr val="F4A325"/>
            </a:solidFill>
            <a:prstDash val="solid"/>
          </a:ln>
        </p:spPr>
      </p:sp>
      <p:sp>
        <p:nvSpPr>
          <p:cNvPr id="6" name="Shape 4"/>
          <p:cNvSpPr/>
          <p:nvPr/>
        </p:nvSpPr>
        <p:spPr>
          <a:xfrm>
            <a:off x="365760" y="1706880"/>
            <a:ext cx="5547360" cy="1463040"/>
          </a:xfrm>
          <a:prstGeom prst="rect">
            <a:avLst/>
          </a:prstGeom>
          <a:solidFill>
            <a:srgbClr val="142966"/>
          </a:solidFill>
          <a:ln/>
        </p:spPr>
      </p:sp>
      <p:sp>
        <p:nvSpPr>
          <p:cNvPr id="7" name="Shape 5"/>
          <p:cNvSpPr/>
          <p:nvPr/>
        </p:nvSpPr>
        <p:spPr>
          <a:xfrm>
            <a:off x="365760" y="1706880"/>
            <a:ext cx="85344" cy="1463040"/>
          </a:xfrm>
          <a:prstGeom prst="rect">
            <a:avLst/>
          </a:prstGeom>
          <a:solidFill>
            <a:srgbClr val="0FA3B1"/>
          </a:solidFill>
          <a:ln w="12700">
            <a:solidFill>
              <a:srgbClr val="0FA3B1"/>
            </a:solidFill>
            <a:prstDash val="solid"/>
          </a:ln>
        </p:spPr>
      </p:sp>
      <p:sp>
        <p:nvSpPr>
          <p:cNvPr id="8" name="Text 6"/>
          <p:cNvSpPr/>
          <p:nvPr/>
        </p:nvSpPr>
        <p:spPr>
          <a:xfrm>
            <a:off x="548640" y="1828800"/>
            <a:ext cx="5303520" cy="365760"/>
          </a:xfrm>
          <a:prstGeom prst="rect">
            <a:avLst/>
          </a:prstGeom>
          <a:noFill/>
          <a:ln/>
        </p:spPr>
        <p:txBody>
          <a:bodyPr wrap="square" lIns="0" tIns="0" rIns="0" bIns="0" rtlCol="0" anchor="ctr"/>
          <a:lstStyle/>
          <a:p>
            <a:r>
              <a:rPr lang="en-US" sz="1467" b="1" dirty="0">
                <a:solidFill>
                  <a:srgbClr val="FFFFFF"/>
                </a:solidFill>
              </a:rPr>
              <a:t>Real PropBank dataset</a:t>
            </a:r>
            <a:endParaRPr lang="en-US" sz="1467" dirty="0"/>
          </a:p>
        </p:txBody>
      </p:sp>
      <p:sp>
        <p:nvSpPr>
          <p:cNvPr id="9" name="Text 7"/>
          <p:cNvSpPr/>
          <p:nvPr/>
        </p:nvSpPr>
        <p:spPr>
          <a:xfrm>
            <a:off x="548640" y="2218944"/>
            <a:ext cx="5303520" cy="877824"/>
          </a:xfrm>
          <a:prstGeom prst="rect">
            <a:avLst/>
          </a:prstGeom>
          <a:noFill/>
          <a:ln/>
        </p:spPr>
        <p:txBody>
          <a:bodyPr wrap="square" lIns="0" tIns="0" rIns="0" bIns="0" rtlCol="0" anchor="ctr"/>
          <a:lstStyle/>
          <a:p>
            <a:r>
              <a:rPr lang="en-US" sz="1333" dirty="0">
                <a:solidFill>
                  <a:srgbClr val="D8E6FF"/>
                </a:solidFill>
              </a:rPr>
              <a:t>23,007 QA pairs from authentic PropBank annotations via NLTK — fully reproducible pipeline</a:t>
            </a:r>
            <a:endParaRPr lang="en-US" sz="1333" dirty="0"/>
          </a:p>
        </p:txBody>
      </p:sp>
      <p:sp>
        <p:nvSpPr>
          <p:cNvPr id="10" name="Shape 8"/>
          <p:cNvSpPr/>
          <p:nvPr/>
        </p:nvSpPr>
        <p:spPr>
          <a:xfrm>
            <a:off x="365760" y="3352800"/>
            <a:ext cx="5547360" cy="1463040"/>
          </a:xfrm>
          <a:prstGeom prst="rect">
            <a:avLst/>
          </a:prstGeom>
          <a:solidFill>
            <a:srgbClr val="142966"/>
          </a:solidFill>
          <a:ln/>
        </p:spPr>
      </p:sp>
      <p:sp>
        <p:nvSpPr>
          <p:cNvPr id="11" name="Shape 9"/>
          <p:cNvSpPr/>
          <p:nvPr/>
        </p:nvSpPr>
        <p:spPr>
          <a:xfrm>
            <a:off x="365760" y="3352800"/>
            <a:ext cx="85344" cy="1463040"/>
          </a:xfrm>
          <a:prstGeom prst="rect">
            <a:avLst/>
          </a:prstGeom>
          <a:solidFill>
            <a:srgbClr val="1B7FBF"/>
          </a:solidFill>
          <a:ln w="12700">
            <a:solidFill>
              <a:srgbClr val="1B7FBF"/>
            </a:solidFill>
            <a:prstDash val="solid"/>
          </a:ln>
        </p:spPr>
      </p:sp>
      <p:sp>
        <p:nvSpPr>
          <p:cNvPr id="12" name="Text 10"/>
          <p:cNvSpPr/>
          <p:nvPr/>
        </p:nvSpPr>
        <p:spPr>
          <a:xfrm>
            <a:off x="548640" y="3474720"/>
            <a:ext cx="5303520" cy="365760"/>
          </a:xfrm>
          <a:prstGeom prst="rect">
            <a:avLst/>
          </a:prstGeom>
          <a:noFill/>
          <a:ln/>
        </p:spPr>
        <p:txBody>
          <a:bodyPr wrap="square" lIns="0" tIns="0" rIns="0" bIns="0" rtlCol="0" anchor="ctr"/>
          <a:lstStyle/>
          <a:p>
            <a:r>
              <a:rPr lang="en-US" sz="1467" b="1" dirty="0">
                <a:solidFill>
                  <a:srgbClr val="FFFFFF"/>
                </a:solidFill>
              </a:rPr>
              <a:t>Joint SRL + QA model</a:t>
            </a:r>
            <a:endParaRPr lang="en-US" sz="1467" dirty="0"/>
          </a:p>
        </p:txBody>
      </p:sp>
      <p:sp>
        <p:nvSpPr>
          <p:cNvPr id="13" name="Text 11"/>
          <p:cNvSpPr/>
          <p:nvPr/>
        </p:nvSpPr>
        <p:spPr>
          <a:xfrm>
            <a:off x="548640" y="3864864"/>
            <a:ext cx="5303520" cy="877824"/>
          </a:xfrm>
          <a:prstGeom prst="rect">
            <a:avLst/>
          </a:prstGeom>
          <a:noFill/>
          <a:ln/>
        </p:spPr>
        <p:txBody>
          <a:bodyPr wrap="square" lIns="0" tIns="0" rIns="0" bIns="0" rtlCol="0" anchor="ctr"/>
          <a:lstStyle/>
          <a:p>
            <a:r>
              <a:rPr lang="en-US" sz="1333" dirty="0">
                <a:solidFill>
                  <a:srgbClr val="D8E6FF"/>
                </a:solidFill>
              </a:rPr>
              <a:t>BiLSTM that predicts BIO roles and extracts answer spans simultaneously — 0.761 token F1</a:t>
            </a:r>
            <a:endParaRPr lang="en-US" sz="1333" dirty="0"/>
          </a:p>
        </p:txBody>
      </p:sp>
      <p:sp>
        <p:nvSpPr>
          <p:cNvPr id="14" name="Shape 12"/>
          <p:cNvSpPr/>
          <p:nvPr/>
        </p:nvSpPr>
        <p:spPr>
          <a:xfrm>
            <a:off x="365760" y="4998720"/>
            <a:ext cx="5547360" cy="1463040"/>
          </a:xfrm>
          <a:prstGeom prst="rect">
            <a:avLst/>
          </a:prstGeom>
          <a:solidFill>
            <a:srgbClr val="142966"/>
          </a:solidFill>
          <a:ln/>
        </p:spPr>
      </p:sp>
      <p:sp>
        <p:nvSpPr>
          <p:cNvPr id="15" name="Shape 13"/>
          <p:cNvSpPr/>
          <p:nvPr/>
        </p:nvSpPr>
        <p:spPr>
          <a:xfrm>
            <a:off x="365760" y="4998720"/>
            <a:ext cx="85344" cy="1463040"/>
          </a:xfrm>
          <a:prstGeom prst="rect">
            <a:avLst/>
          </a:prstGeom>
          <a:solidFill>
            <a:srgbClr val="F4A325"/>
          </a:solidFill>
          <a:ln w="12700">
            <a:solidFill>
              <a:srgbClr val="F4A325"/>
            </a:solidFill>
            <a:prstDash val="solid"/>
          </a:ln>
        </p:spPr>
      </p:sp>
      <p:sp>
        <p:nvSpPr>
          <p:cNvPr id="16" name="Text 14"/>
          <p:cNvSpPr/>
          <p:nvPr/>
        </p:nvSpPr>
        <p:spPr>
          <a:xfrm>
            <a:off x="548640" y="5120640"/>
            <a:ext cx="5303520" cy="365760"/>
          </a:xfrm>
          <a:prstGeom prst="rect">
            <a:avLst/>
          </a:prstGeom>
          <a:noFill/>
          <a:ln/>
        </p:spPr>
        <p:txBody>
          <a:bodyPr wrap="square" lIns="0" tIns="0" rIns="0" bIns="0" rtlCol="0" anchor="ctr"/>
          <a:lstStyle/>
          <a:p>
            <a:r>
              <a:rPr lang="en-US" sz="1467" b="1" dirty="0">
                <a:solidFill>
                  <a:srgbClr val="FFFFFF"/>
                </a:solidFill>
              </a:rPr>
              <a:t>Transparent failures</a:t>
            </a:r>
            <a:endParaRPr lang="en-US" sz="1467" dirty="0"/>
          </a:p>
        </p:txBody>
      </p:sp>
      <p:sp>
        <p:nvSpPr>
          <p:cNvPr id="17" name="Text 15"/>
          <p:cNvSpPr/>
          <p:nvPr/>
        </p:nvSpPr>
        <p:spPr>
          <a:xfrm>
            <a:off x="548640" y="5510784"/>
            <a:ext cx="5303520" cy="877824"/>
          </a:xfrm>
          <a:prstGeom prst="rect">
            <a:avLst/>
          </a:prstGeom>
          <a:noFill/>
          <a:ln/>
        </p:spPr>
        <p:txBody>
          <a:bodyPr wrap="square" lIns="0" tIns="0" rIns="0" bIns="0" rtlCol="0" anchor="ctr"/>
          <a:lstStyle/>
          <a:p>
            <a:r>
              <a:rPr lang="en-US" sz="1333" dirty="0">
                <a:solidFill>
                  <a:srgbClr val="D8E6FF"/>
                </a:solidFill>
              </a:rPr>
              <a:t>Error taxonomy (52% boundary, 41% wrong-role) guides a concrete research agenda</a:t>
            </a:r>
            <a:endParaRPr lang="en-US" sz="1333" dirty="0"/>
          </a:p>
        </p:txBody>
      </p:sp>
      <p:sp>
        <p:nvSpPr>
          <p:cNvPr id="18" name="Shape 16"/>
          <p:cNvSpPr/>
          <p:nvPr/>
        </p:nvSpPr>
        <p:spPr>
          <a:xfrm>
            <a:off x="6278880" y="1706880"/>
            <a:ext cx="5547360" cy="1463040"/>
          </a:xfrm>
          <a:prstGeom prst="rect">
            <a:avLst/>
          </a:prstGeom>
          <a:solidFill>
            <a:srgbClr val="142966"/>
          </a:solidFill>
          <a:ln/>
        </p:spPr>
      </p:sp>
      <p:sp>
        <p:nvSpPr>
          <p:cNvPr id="19" name="Shape 17"/>
          <p:cNvSpPr/>
          <p:nvPr/>
        </p:nvSpPr>
        <p:spPr>
          <a:xfrm>
            <a:off x="6278880" y="1706880"/>
            <a:ext cx="85344" cy="1463040"/>
          </a:xfrm>
          <a:prstGeom prst="rect">
            <a:avLst/>
          </a:prstGeom>
          <a:solidFill>
            <a:srgbClr val="1B7FBF"/>
          </a:solidFill>
          <a:ln w="12700">
            <a:solidFill>
              <a:srgbClr val="1B7FBF"/>
            </a:solidFill>
            <a:prstDash val="solid"/>
          </a:ln>
        </p:spPr>
      </p:sp>
      <p:sp>
        <p:nvSpPr>
          <p:cNvPr id="20" name="Text 18"/>
          <p:cNvSpPr/>
          <p:nvPr/>
        </p:nvSpPr>
        <p:spPr>
          <a:xfrm>
            <a:off x="6461760" y="1828800"/>
            <a:ext cx="5303520" cy="365760"/>
          </a:xfrm>
          <a:prstGeom prst="rect">
            <a:avLst/>
          </a:prstGeom>
          <a:noFill/>
          <a:ln/>
        </p:spPr>
        <p:txBody>
          <a:bodyPr wrap="square" lIns="0" tIns="0" rIns="0" bIns="0" rtlCol="0" anchor="ctr"/>
          <a:lstStyle/>
          <a:p>
            <a:r>
              <a:rPr lang="en-US" sz="1467" b="1" dirty="0">
                <a:solidFill>
                  <a:srgbClr val="FFFFFF"/>
                </a:solidFill>
              </a:rPr>
              <a:t>Hybrid upgrade</a:t>
            </a:r>
            <a:endParaRPr lang="en-US" sz="1467" dirty="0"/>
          </a:p>
        </p:txBody>
      </p:sp>
      <p:sp>
        <p:nvSpPr>
          <p:cNvPr id="21" name="Text 19"/>
          <p:cNvSpPr/>
          <p:nvPr/>
        </p:nvSpPr>
        <p:spPr>
          <a:xfrm>
            <a:off x="6461760" y="2218944"/>
            <a:ext cx="5303520" cy="877824"/>
          </a:xfrm>
          <a:prstGeom prst="rect">
            <a:avLst/>
          </a:prstGeom>
          <a:noFill/>
          <a:ln/>
        </p:spPr>
        <p:txBody>
          <a:bodyPr wrap="square" lIns="0" tIns="0" rIns="0" bIns="0" rtlCol="0" anchor="ctr"/>
          <a:lstStyle/>
          <a:p>
            <a:r>
              <a:rPr lang="en-US" sz="1333" dirty="0">
                <a:solidFill>
                  <a:srgbClr val="D8E6FF"/>
                </a:solidFill>
              </a:rPr>
              <a:t>Role-aware heuristics boost challenge F1 from 0.47 → 0.78 at near-zero latency cost</a:t>
            </a:r>
            <a:endParaRPr lang="en-US" sz="1333" dirty="0"/>
          </a:p>
        </p:txBody>
      </p:sp>
      <p:sp>
        <p:nvSpPr>
          <p:cNvPr id="22" name="Shape 20"/>
          <p:cNvSpPr/>
          <p:nvPr/>
        </p:nvSpPr>
        <p:spPr>
          <a:xfrm>
            <a:off x="6278880" y="3352800"/>
            <a:ext cx="5547360" cy="1463040"/>
          </a:xfrm>
          <a:prstGeom prst="rect">
            <a:avLst/>
          </a:prstGeom>
          <a:solidFill>
            <a:srgbClr val="142966"/>
          </a:solidFill>
          <a:ln/>
        </p:spPr>
      </p:sp>
      <p:sp>
        <p:nvSpPr>
          <p:cNvPr id="23" name="Shape 21"/>
          <p:cNvSpPr/>
          <p:nvPr/>
        </p:nvSpPr>
        <p:spPr>
          <a:xfrm>
            <a:off x="6278880" y="3352800"/>
            <a:ext cx="85344" cy="1463040"/>
          </a:xfrm>
          <a:prstGeom prst="rect">
            <a:avLst/>
          </a:prstGeom>
          <a:solidFill>
            <a:srgbClr val="0FA3B1"/>
          </a:solidFill>
          <a:ln w="12700">
            <a:solidFill>
              <a:srgbClr val="0FA3B1"/>
            </a:solidFill>
            <a:prstDash val="solid"/>
          </a:ln>
        </p:spPr>
      </p:sp>
      <p:sp>
        <p:nvSpPr>
          <p:cNvPr id="24" name="Text 22"/>
          <p:cNvSpPr/>
          <p:nvPr/>
        </p:nvSpPr>
        <p:spPr>
          <a:xfrm>
            <a:off x="6461760" y="3474720"/>
            <a:ext cx="5303520" cy="365760"/>
          </a:xfrm>
          <a:prstGeom prst="rect">
            <a:avLst/>
          </a:prstGeom>
          <a:noFill/>
          <a:ln/>
        </p:spPr>
        <p:txBody>
          <a:bodyPr wrap="square" lIns="0" tIns="0" rIns="0" bIns="0" rtlCol="0" anchor="ctr"/>
          <a:lstStyle/>
          <a:p>
            <a:r>
              <a:rPr lang="en-US" sz="1467" b="1" dirty="0">
                <a:solidFill>
                  <a:srgbClr val="FFFFFF"/>
                </a:solidFill>
              </a:rPr>
              <a:t>Innovation agenda</a:t>
            </a:r>
            <a:endParaRPr lang="en-US" sz="1467" dirty="0"/>
          </a:p>
        </p:txBody>
      </p:sp>
      <p:sp>
        <p:nvSpPr>
          <p:cNvPr id="25" name="Text 23"/>
          <p:cNvSpPr/>
          <p:nvPr/>
        </p:nvSpPr>
        <p:spPr>
          <a:xfrm>
            <a:off x="6461760" y="3864864"/>
            <a:ext cx="5303520" cy="877824"/>
          </a:xfrm>
          <a:prstGeom prst="rect">
            <a:avLst/>
          </a:prstGeom>
          <a:noFill/>
          <a:ln/>
        </p:spPr>
        <p:txBody>
          <a:bodyPr wrap="square" lIns="0" tIns="0" rIns="0" bIns="0" rtlCol="0" anchor="ctr"/>
          <a:lstStyle/>
          <a:p>
            <a:r>
              <a:rPr lang="en-US" sz="1333" dirty="0">
                <a:solidFill>
                  <a:srgbClr val="D8E6FF"/>
                </a:solidFill>
              </a:rPr>
              <a:t>Frame-aware disambiguation · PropAgent pipeline · HybridPropQA · PropQA-Bench</a:t>
            </a:r>
            <a:endParaRPr lang="en-US" sz="1333" dirty="0"/>
          </a:p>
        </p:txBody>
      </p:sp>
      <p:sp>
        <p:nvSpPr>
          <p:cNvPr id="26" name="Shape 24"/>
          <p:cNvSpPr/>
          <p:nvPr/>
        </p:nvSpPr>
        <p:spPr>
          <a:xfrm>
            <a:off x="6278880" y="4998720"/>
            <a:ext cx="5547360" cy="1463040"/>
          </a:xfrm>
          <a:prstGeom prst="rect">
            <a:avLst/>
          </a:prstGeom>
          <a:solidFill>
            <a:srgbClr val="142966"/>
          </a:solidFill>
          <a:ln/>
        </p:spPr>
      </p:sp>
      <p:sp>
        <p:nvSpPr>
          <p:cNvPr id="27" name="Shape 25"/>
          <p:cNvSpPr/>
          <p:nvPr/>
        </p:nvSpPr>
        <p:spPr>
          <a:xfrm>
            <a:off x="6278880" y="4998720"/>
            <a:ext cx="85344" cy="1463040"/>
          </a:xfrm>
          <a:prstGeom prst="rect">
            <a:avLst/>
          </a:prstGeom>
          <a:solidFill>
            <a:srgbClr val="F4A325"/>
          </a:solidFill>
          <a:ln w="12700">
            <a:solidFill>
              <a:srgbClr val="F4A325"/>
            </a:solidFill>
            <a:prstDash val="solid"/>
          </a:ln>
        </p:spPr>
      </p:sp>
      <p:sp>
        <p:nvSpPr>
          <p:cNvPr id="28" name="Text 26"/>
          <p:cNvSpPr/>
          <p:nvPr/>
        </p:nvSpPr>
        <p:spPr>
          <a:xfrm>
            <a:off x="6461760" y="5120640"/>
            <a:ext cx="5303520" cy="365760"/>
          </a:xfrm>
          <a:prstGeom prst="rect">
            <a:avLst/>
          </a:prstGeom>
          <a:noFill/>
          <a:ln/>
        </p:spPr>
        <p:txBody>
          <a:bodyPr wrap="square" lIns="0" tIns="0" rIns="0" bIns="0" rtlCol="0" anchor="ctr"/>
          <a:lstStyle/>
          <a:p>
            <a:r>
              <a:rPr lang="en-US" sz="1467" b="1" dirty="0">
                <a:solidFill>
                  <a:srgbClr val="FFFFFF"/>
                </a:solidFill>
              </a:rPr>
              <a:t>Inspectability first</a:t>
            </a:r>
            <a:endParaRPr lang="en-US" sz="1467" dirty="0"/>
          </a:p>
        </p:txBody>
      </p:sp>
      <p:sp>
        <p:nvSpPr>
          <p:cNvPr id="29" name="Text 27"/>
          <p:cNvSpPr/>
          <p:nvPr/>
        </p:nvSpPr>
        <p:spPr>
          <a:xfrm>
            <a:off x="6461760" y="5510784"/>
            <a:ext cx="5303520" cy="877824"/>
          </a:xfrm>
          <a:prstGeom prst="rect">
            <a:avLst/>
          </a:prstGeom>
          <a:noFill/>
          <a:ln/>
        </p:spPr>
        <p:txBody>
          <a:bodyPr wrap="square" lIns="0" tIns="0" rIns="0" bIns="0" rtlCol="0" anchor="ctr"/>
          <a:lstStyle/>
          <a:p>
            <a:r>
              <a:rPr lang="en-US" sz="1333" dirty="0">
                <a:solidFill>
                  <a:srgbClr val="D8E6FF"/>
                </a:solidFill>
              </a:rPr>
              <a:t>Every answer is tied to a predicate, a role span, and a reasoning trace — not a black box</a:t>
            </a:r>
            <a:endParaRPr lang="en-US" sz="1333" dirty="0"/>
          </a:p>
        </p:txBody>
      </p:sp>
    </p:spTree>
    <p:extLst>
      <p:ext uri="{BB962C8B-B14F-4D97-AF65-F5344CB8AC3E}">
        <p14:creationId xmlns:p14="http://schemas.microsoft.com/office/powerpoint/2010/main" val="1306021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End-to-End Research System</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SOLUTION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a:t>
            </a:r>
          </a:p>
        </p:txBody>
      </p:sp>
      <p:sp>
        <p:nvSpPr>
          <p:cNvPr id="9" name="TextBox 8"/>
          <p:cNvSpPr txBox="1"/>
          <p:nvPr/>
        </p:nvSpPr>
        <p:spPr>
          <a:xfrm>
            <a:off x="548640" y="868680"/>
            <a:ext cx="4389120" cy="5394960"/>
          </a:xfrm>
          <a:prstGeom prst="rect">
            <a:avLst/>
          </a:prstGeom>
          <a:noFill/>
        </p:spPr>
        <p:txBody>
          <a:bodyPr wrap="square">
            <a:spAutoFit/>
          </a:bodyPr>
          <a:lstStyle/>
          <a:p>
            <a:pPr>
              <a:spcAft>
                <a:spcPts val="700"/>
              </a:spcAft>
              <a:defRPr sz="1800">
                <a:solidFill>
                  <a:srgbClr val="222831"/>
                </a:solidFill>
                <a:latin typeface="Aptos"/>
              </a:defRPr>
            </a:pPr>
            <a:r>
              <a:t>Local NLTK PropBank + Treebank assets ground the entire pipeline in real semantic annotations</a:t>
            </a:r>
          </a:p>
          <a:p>
            <a:pPr>
              <a:spcAft>
                <a:spcPts val="700"/>
              </a:spcAft>
              <a:defRPr sz="1800">
                <a:solidFill>
                  <a:srgbClr val="222831"/>
                </a:solidFill>
                <a:latin typeface="Aptos"/>
              </a:defRPr>
            </a:pPr>
            <a:r>
              <a:t>Data loader reconstructs spans, BIO labels, and natural-language questions deterministically</a:t>
            </a:r>
          </a:p>
          <a:p>
            <a:pPr>
              <a:spcAft>
                <a:spcPts val="700"/>
              </a:spcAft>
              <a:defRPr sz="1800">
                <a:solidFill>
                  <a:srgbClr val="222831"/>
                </a:solidFill>
                <a:latin typeface="Aptos"/>
              </a:defRPr>
            </a:pPr>
            <a:r>
              <a:t>PropQA-Net learns SRL tagging and answer extraction jointly</a:t>
            </a:r>
          </a:p>
          <a:p>
            <a:pPr>
              <a:spcAft>
                <a:spcPts val="700"/>
              </a:spcAft>
              <a:defRPr sz="1800">
                <a:solidFill>
                  <a:srgbClr val="222831"/>
                </a:solidFill>
                <a:latin typeface="Aptos"/>
              </a:defRPr>
            </a:pPr>
            <a:r>
              <a:t>Hybrid layer adds role-aware reranking, heuristics, and optional transformer candidates</a:t>
            </a:r>
          </a:p>
          <a:p>
            <a:pPr>
              <a:spcAft>
                <a:spcPts val="700"/>
              </a:spcAft>
              <a:defRPr sz="1800">
                <a:solidFill>
                  <a:srgbClr val="222831"/>
                </a:solidFill>
                <a:latin typeface="Aptos"/>
              </a:defRPr>
            </a:pPr>
            <a:r>
              <a:t>Benchmark runner, PDFs, and Streamlit app complete the research workflow</a:t>
            </a:r>
          </a:p>
        </p:txBody>
      </p:sp>
      <p:sp>
        <p:nvSpPr>
          <p:cNvPr id="10" name="Rectangle 9"/>
          <p:cNvSpPr/>
          <p:nvPr/>
        </p:nvSpPr>
        <p:spPr>
          <a:xfrm>
            <a:off x="5120640" y="960120"/>
            <a:ext cx="6492240" cy="521208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research_architecture.png"/>
          <p:cNvPicPr>
            <a:picLocks noChangeAspect="1"/>
          </p:cNvPicPr>
          <p:nvPr/>
        </p:nvPicPr>
        <p:blipFill>
          <a:blip r:embed="rId3"/>
          <a:stretch>
            <a:fillRect/>
          </a:stretch>
        </p:blipFill>
        <p:spPr>
          <a:xfrm>
            <a:off x="5120640" y="2174965"/>
            <a:ext cx="6492240" cy="278238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Span and Sequence Complexity Profile</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EXPERIMENTS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7</a:t>
            </a:r>
          </a:p>
        </p:txBody>
      </p:sp>
      <p:sp>
        <p:nvSpPr>
          <p:cNvPr id="9" name="TextBox 8"/>
          <p:cNvSpPr txBox="1"/>
          <p:nvPr/>
        </p:nvSpPr>
        <p:spPr>
          <a:xfrm>
            <a:off x="594360" y="914400"/>
            <a:ext cx="5029200" cy="2743200"/>
          </a:xfrm>
          <a:prstGeom prst="rect">
            <a:avLst/>
          </a:prstGeom>
          <a:noFill/>
        </p:spPr>
        <p:txBody>
          <a:bodyPr wrap="square">
            <a:spAutoFit/>
          </a:bodyPr>
          <a:lstStyle/>
          <a:p>
            <a:pPr>
              <a:spcAft>
                <a:spcPts val="700"/>
              </a:spcAft>
              <a:defRPr sz="1700">
                <a:solidFill>
                  <a:srgbClr val="222831"/>
                </a:solidFill>
                <a:latin typeface="Aptos"/>
              </a:defRPr>
            </a:pPr>
            <a:r>
              <a:t>Average answer spans are short enough for extractive decoding, but the long tail still includes answers up to 62 tokens</a:t>
            </a:r>
          </a:p>
          <a:p>
            <a:pPr>
              <a:spcAft>
                <a:spcPts val="700"/>
              </a:spcAft>
              <a:defRPr sz="1700">
                <a:solidFill>
                  <a:srgbClr val="222831"/>
                </a:solidFill>
                <a:latin typeface="Aptos"/>
              </a:defRPr>
            </a:pPr>
            <a:r>
              <a:t>Sentence length ranges from 3 to 249 tokens, which justifies the max-length caps in config.py</a:t>
            </a:r>
          </a:p>
          <a:p>
            <a:pPr>
              <a:spcAft>
                <a:spcPts val="700"/>
              </a:spcAft>
              <a:defRPr sz="1700">
                <a:solidFill>
                  <a:srgbClr val="222831"/>
                </a:solidFill>
                <a:latin typeface="Aptos"/>
              </a:defRPr>
            </a:pPr>
            <a:r>
              <a:t>The model caps context at 128 tokens and questions at 32 tokens for stable batching</a:t>
            </a:r>
          </a:p>
          <a:p>
            <a:pPr>
              <a:spcAft>
                <a:spcPts val="700"/>
              </a:spcAft>
              <a:defRPr sz="1700">
                <a:solidFill>
                  <a:srgbClr val="222831"/>
                </a:solidFill>
                <a:latin typeface="Aptos"/>
              </a:defRPr>
            </a:pPr>
            <a:r>
              <a:t>Many boundary errors come from semantically valid but overly long or overly short span choices</a:t>
            </a:r>
          </a:p>
        </p:txBody>
      </p:sp>
      <p:sp>
        <p:nvSpPr>
          <p:cNvPr id="10" name="Rounded Rectangle 9"/>
          <p:cNvSpPr/>
          <p:nvPr/>
        </p:nvSpPr>
        <p:spPr>
          <a:xfrm>
            <a:off x="731520" y="4023360"/>
            <a:ext cx="22860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402336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 y="4187952"/>
            <a:ext cx="1874519" cy="256032"/>
          </a:xfrm>
          <a:prstGeom prst="rect">
            <a:avLst/>
          </a:prstGeom>
          <a:noFill/>
        </p:spPr>
        <p:txBody>
          <a:bodyPr wrap="square" lIns="0" tIns="0" rIns="0" bIns="0">
            <a:spAutoFit/>
          </a:bodyPr>
          <a:lstStyle/>
          <a:p>
            <a:pPr algn="l">
              <a:defRPr sz="1100" b="1">
                <a:solidFill>
                  <a:srgbClr val="5E6C84"/>
                </a:solidFill>
                <a:latin typeface="Aptos"/>
              </a:defRPr>
            </a:pPr>
            <a:r>
              <a:t>Mean Sentence Length</a:t>
            </a:r>
          </a:p>
        </p:txBody>
      </p:sp>
      <p:sp>
        <p:nvSpPr>
          <p:cNvPr id="13" name="TextBox 12"/>
          <p:cNvSpPr txBox="1"/>
          <p:nvPr/>
        </p:nvSpPr>
        <p:spPr>
          <a:xfrm>
            <a:off x="987552" y="4434840"/>
            <a:ext cx="1874519" cy="402336"/>
          </a:xfrm>
          <a:prstGeom prst="rect">
            <a:avLst/>
          </a:prstGeom>
          <a:noFill/>
        </p:spPr>
        <p:txBody>
          <a:bodyPr wrap="square" lIns="0" tIns="0" rIns="0" bIns="0">
            <a:spAutoFit/>
          </a:bodyPr>
          <a:lstStyle/>
          <a:p>
            <a:pPr algn="l">
              <a:defRPr sz="2100" b="1">
                <a:solidFill>
                  <a:srgbClr val="0D1B2A"/>
                </a:solidFill>
                <a:latin typeface="Aptos"/>
              </a:defRPr>
            </a:pPr>
            <a:r>
              <a:t>28.6</a:t>
            </a:r>
          </a:p>
        </p:txBody>
      </p:sp>
      <p:sp>
        <p:nvSpPr>
          <p:cNvPr id="14" name="Rounded Rectangle 13"/>
          <p:cNvSpPr/>
          <p:nvPr/>
        </p:nvSpPr>
        <p:spPr>
          <a:xfrm>
            <a:off x="3246120" y="4023360"/>
            <a:ext cx="22860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46120" y="402336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02152" y="4187952"/>
            <a:ext cx="1874519" cy="256032"/>
          </a:xfrm>
          <a:prstGeom prst="rect">
            <a:avLst/>
          </a:prstGeom>
          <a:noFill/>
        </p:spPr>
        <p:txBody>
          <a:bodyPr wrap="square" lIns="0" tIns="0" rIns="0" bIns="0">
            <a:spAutoFit/>
          </a:bodyPr>
          <a:lstStyle/>
          <a:p>
            <a:pPr algn="l">
              <a:defRPr sz="1100" b="1">
                <a:solidFill>
                  <a:srgbClr val="5E6C84"/>
                </a:solidFill>
                <a:latin typeface="Aptos"/>
              </a:defRPr>
            </a:pPr>
            <a:r>
              <a:t>Mean Answer Length</a:t>
            </a:r>
          </a:p>
        </p:txBody>
      </p:sp>
      <p:sp>
        <p:nvSpPr>
          <p:cNvPr id="17" name="TextBox 16"/>
          <p:cNvSpPr txBox="1"/>
          <p:nvPr/>
        </p:nvSpPr>
        <p:spPr>
          <a:xfrm>
            <a:off x="3502152" y="4434840"/>
            <a:ext cx="1874519" cy="402336"/>
          </a:xfrm>
          <a:prstGeom prst="rect">
            <a:avLst/>
          </a:prstGeom>
          <a:noFill/>
        </p:spPr>
        <p:txBody>
          <a:bodyPr wrap="square" lIns="0" tIns="0" rIns="0" bIns="0">
            <a:spAutoFit/>
          </a:bodyPr>
          <a:lstStyle/>
          <a:p>
            <a:pPr algn="l">
              <a:defRPr sz="2100" b="1">
                <a:solidFill>
                  <a:srgbClr val="0D1B2A"/>
                </a:solidFill>
                <a:latin typeface="Aptos"/>
              </a:defRPr>
            </a:pPr>
            <a:r>
              <a:t>5.28</a:t>
            </a:r>
          </a:p>
        </p:txBody>
      </p:sp>
      <p:sp>
        <p:nvSpPr>
          <p:cNvPr id="18" name="Rounded Rectangle 17"/>
          <p:cNvSpPr/>
          <p:nvPr/>
        </p:nvSpPr>
        <p:spPr>
          <a:xfrm>
            <a:off x="731520" y="5074920"/>
            <a:ext cx="22860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1520" y="507492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7552" y="5239512"/>
            <a:ext cx="1874519" cy="256032"/>
          </a:xfrm>
          <a:prstGeom prst="rect">
            <a:avLst/>
          </a:prstGeom>
          <a:noFill/>
        </p:spPr>
        <p:txBody>
          <a:bodyPr wrap="square" lIns="0" tIns="0" rIns="0" bIns="0">
            <a:spAutoFit/>
          </a:bodyPr>
          <a:lstStyle/>
          <a:p>
            <a:pPr algn="l">
              <a:defRPr sz="1100" b="1">
                <a:solidFill>
                  <a:srgbClr val="5E6C84"/>
                </a:solidFill>
                <a:latin typeface="Aptos"/>
              </a:defRPr>
            </a:pPr>
            <a:r>
              <a:t>Sentence Max</a:t>
            </a:r>
          </a:p>
        </p:txBody>
      </p:sp>
      <p:sp>
        <p:nvSpPr>
          <p:cNvPr id="21" name="TextBox 20"/>
          <p:cNvSpPr txBox="1"/>
          <p:nvPr/>
        </p:nvSpPr>
        <p:spPr>
          <a:xfrm>
            <a:off x="987552" y="5486400"/>
            <a:ext cx="1874519" cy="402336"/>
          </a:xfrm>
          <a:prstGeom prst="rect">
            <a:avLst/>
          </a:prstGeom>
          <a:noFill/>
        </p:spPr>
        <p:txBody>
          <a:bodyPr wrap="square" lIns="0" tIns="0" rIns="0" bIns="0">
            <a:spAutoFit/>
          </a:bodyPr>
          <a:lstStyle/>
          <a:p>
            <a:pPr algn="l">
              <a:defRPr sz="2100" b="1">
                <a:solidFill>
                  <a:srgbClr val="0D1B2A"/>
                </a:solidFill>
                <a:latin typeface="Aptos"/>
              </a:defRPr>
            </a:pPr>
            <a:r>
              <a:t>249</a:t>
            </a:r>
          </a:p>
        </p:txBody>
      </p:sp>
      <p:sp>
        <p:nvSpPr>
          <p:cNvPr id="22" name="Rounded Rectangle 21"/>
          <p:cNvSpPr/>
          <p:nvPr/>
        </p:nvSpPr>
        <p:spPr>
          <a:xfrm>
            <a:off x="3246120" y="5074920"/>
            <a:ext cx="22860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246120" y="5074920"/>
            <a:ext cx="109728" cy="914400"/>
          </a:xfrm>
          <a:prstGeom prst="rect">
            <a:avLst/>
          </a:prstGeom>
          <a:solidFill>
            <a:srgbClr val="BF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502152" y="5239512"/>
            <a:ext cx="1874519" cy="256032"/>
          </a:xfrm>
          <a:prstGeom prst="rect">
            <a:avLst/>
          </a:prstGeom>
          <a:noFill/>
        </p:spPr>
        <p:txBody>
          <a:bodyPr wrap="square" lIns="0" tIns="0" rIns="0" bIns="0">
            <a:spAutoFit/>
          </a:bodyPr>
          <a:lstStyle/>
          <a:p>
            <a:pPr algn="l">
              <a:defRPr sz="1100" b="1">
                <a:solidFill>
                  <a:srgbClr val="5E6C84"/>
                </a:solidFill>
                <a:latin typeface="Aptos"/>
              </a:defRPr>
            </a:pPr>
            <a:r>
              <a:t>Answer Max</a:t>
            </a:r>
          </a:p>
        </p:txBody>
      </p:sp>
      <p:sp>
        <p:nvSpPr>
          <p:cNvPr id="25" name="TextBox 24"/>
          <p:cNvSpPr txBox="1"/>
          <p:nvPr/>
        </p:nvSpPr>
        <p:spPr>
          <a:xfrm>
            <a:off x="3502152" y="5486400"/>
            <a:ext cx="1874519" cy="402336"/>
          </a:xfrm>
          <a:prstGeom prst="rect">
            <a:avLst/>
          </a:prstGeom>
          <a:noFill/>
        </p:spPr>
        <p:txBody>
          <a:bodyPr wrap="square" lIns="0" tIns="0" rIns="0" bIns="0">
            <a:spAutoFit/>
          </a:bodyPr>
          <a:lstStyle/>
          <a:p>
            <a:pPr algn="l">
              <a:defRPr sz="2100" b="1">
                <a:solidFill>
                  <a:srgbClr val="0D1B2A"/>
                </a:solidFill>
                <a:latin typeface="Aptos"/>
              </a:defRPr>
            </a:pPr>
            <a:r>
              <a:t>62</a:t>
            </a:r>
          </a:p>
        </p:txBody>
      </p:sp>
      <p:sp>
        <p:nvSpPr>
          <p:cNvPr id="26" name="Rectangle 25"/>
          <p:cNvSpPr/>
          <p:nvPr/>
        </p:nvSpPr>
        <p:spPr>
          <a:xfrm>
            <a:off x="5852160" y="914400"/>
            <a:ext cx="5577840" cy="539496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answer_length_dist.png"/>
          <p:cNvPicPr>
            <a:picLocks noChangeAspect="1"/>
          </p:cNvPicPr>
          <p:nvPr/>
        </p:nvPicPr>
        <p:blipFill>
          <a:blip r:embed="rId3"/>
          <a:stretch>
            <a:fillRect/>
          </a:stretch>
        </p:blipFill>
        <p:spPr>
          <a:xfrm>
            <a:off x="5852160" y="1868805"/>
            <a:ext cx="5577840" cy="34861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PropQA-Net Baseline Architecture</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SOLUTION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8</a:t>
            </a:r>
          </a:p>
        </p:txBody>
      </p:sp>
      <p:sp>
        <p:nvSpPr>
          <p:cNvPr id="9" name="TextBox 8"/>
          <p:cNvSpPr txBox="1"/>
          <p:nvPr/>
        </p:nvSpPr>
        <p:spPr>
          <a:xfrm>
            <a:off x="594360" y="914400"/>
            <a:ext cx="4754880" cy="2926080"/>
          </a:xfrm>
          <a:prstGeom prst="rect">
            <a:avLst/>
          </a:prstGeom>
          <a:noFill/>
        </p:spPr>
        <p:txBody>
          <a:bodyPr wrap="square">
            <a:spAutoFit/>
          </a:bodyPr>
          <a:lstStyle/>
          <a:p>
            <a:pPr>
              <a:spcAft>
                <a:spcPts val="700"/>
              </a:spcAft>
              <a:defRPr sz="1700">
                <a:solidFill>
                  <a:srgbClr val="222831"/>
                </a:solidFill>
                <a:latin typeface="Aptos"/>
              </a:defRPr>
            </a:pPr>
            <a:r>
              <a:t>Context encoder: shared word embeddings + POS embeddings + predicate flags into a BiLSTM</a:t>
            </a:r>
          </a:p>
          <a:p>
            <a:pPr>
              <a:spcAft>
                <a:spcPts val="700"/>
              </a:spcAft>
              <a:defRPr sz="1700">
                <a:solidFill>
                  <a:srgbClr val="222831"/>
                </a:solidFill>
                <a:latin typeface="Aptos"/>
              </a:defRPr>
            </a:pPr>
            <a:r>
              <a:t>Question encoder: shared word embeddings into a second BiLSTM followed by masked mean pooling</a:t>
            </a:r>
          </a:p>
          <a:p>
            <a:pPr>
              <a:spcAft>
                <a:spcPts val="700"/>
              </a:spcAft>
              <a:defRPr sz="1700">
                <a:solidFill>
                  <a:srgbClr val="222831"/>
                </a:solidFill>
                <a:latin typeface="Aptos"/>
              </a:defRPr>
            </a:pPr>
            <a:r>
              <a:t>Two heads: token-level SRL classifier and answer boundary predictors</a:t>
            </a:r>
          </a:p>
          <a:p>
            <a:pPr>
              <a:spcAft>
                <a:spcPts val="700"/>
              </a:spcAft>
              <a:defRPr sz="1700">
                <a:solidFill>
                  <a:srgbClr val="222831"/>
                </a:solidFill>
                <a:latin typeface="Aptos"/>
              </a:defRPr>
            </a:pPr>
            <a:r>
              <a:t>Decoding combines BIO-derived candidate spans with question alignment and boundary confidence</a:t>
            </a:r>
          </a:p>
        </p:txBody>
      </p:sp>
      <p:graphicFrame>
        <p:nvGraphicFramePr>
          <p:cNvPr id="10" name="Table 9"/>
          <p:cNvGraphicFramePr>
            <a:graphicFrameLocks noGrp="1"/>
          </p:cNvGraphicFramePr>
          <p:nvPr/>
        </p:nvGraphicFramePr>
        <p:xfrm>
          <a:off x="731520" y="3840480"/>
          <a:ext cx="3840480" cy="196596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280851">
                <a:tc>
                  <a:txBody>
                    <a:bodyPr/>
                    <a:lstStyle/>
                    <a:p>
                      <a:pPr algn="ctr">
                        <a:defRPr sz="1200" b="1">
                          <a:solidFill>
                            <a:srgbClr val="FFFFFF"/>
                          </a:solidFill>
                          <a:latin typeface="Aptos"/>
                        </a:defRPr>
                      </a:pPr>
                      <a:r>
                        <a:t>Hyperparameter</a:t>
                      </a:r>
                    </a:p>
                  </a:txBody>
                  <a:tcPr anchor="ctr">
                    <a:solidFill>
                      <a:srgbClr val="0D1B2A"/>
                    </a:solidFill>
                  </a:tcPr>
                </a:tc>
                <a:tc>
                  <a:txBody>
                    <a:bodyPr/>
                    <a:lstStyle/>
                    <a:p>
                      <a:pPr algn="ctr">
                        <a:defRPr sz="1200" b="1">
                          <a:solidFill>
                            <a:srgbClr val="FFFFFF"/>
                          </a:solidFill>
                          <a:latin typeface="Aptos"/>
                        </a:defRPr>
                      </a:pPr>
                      <a:r>
                        <a:t>Value</a:t>
                      </a:r>
                    </a:p>
                  </a:txBody>
                  <a:tcPr anchor="ctr">
                    <a:solidFill>
                      <a:srgbClr val="0D1B2A"/>
                    </a:solidFill>
                  </a:tcPr>
                </a:tc>
                <a:extLst>
                  <a:ext uri="{0D108BD9-81ED-4DB2-BD59-A6C34878D82A}">
                    <a16:rowId xmlns:a16="http://schemas.microsoft.com/office/drawing/2014/main" val="10000"/>
                  </a:ext>
                </a:extLst>
              </a:tr>
              <a:tr h="280851">
                <a:tc>
                  <a:txBody>
                    <a:bodyPr/>
                    <a:lstStyle/>
                    <a:p>
                      <a:pPr algn="l">
                        <a:defRPr sz="1200" b="0">
                          <a:solidFill>
                            <a:srgbClr val="222831"/>
                          </a:solidFill>
                          <a:latin typeface="Aptos"/>
                        </a:defRPr>
                      </a:pPr>
                      <a:r>
                        <a:t>Word embedding dim</a:t>
                      </a:r>
                    </a:p>
                  </a:txBody>
                  <a:tcPr anchor="ctr">
                    <a:solidFill>
                      <a:srgbClr val="FFFFFF"/>
                    </a:solidFill>
                  </a:tcPr>
                </a:tc>
                <a:tc>
                  <a:txBody>
                    <a:bodyPr/>
                    <a:lstStyle/>
                    <a:p>
                      <a:pPr algn="l">
                        <a:defRPr sz="1200" b="0">
                          <a:solidFill>
                            <a:srgbClr val="222831"/>
                          </a:solidFill>
                          <a:latin typeface="Aptos"/>
                        </a:defRPr>
                      </a:pPr>
                      <a:r>
                        <a:t>100</a:t>
                      </a:r>
                    </a:p>
                  </a:txBody>
                  <a:tcPr anchor="ctr">
                    <a:solidFill>
                      <a:srgbClr val="FFFFFF"/>
                    </a:solidFill>
                  </a:tcPr>
                </a:tc>
                <a:extLst>
                  <a:ext uri="{0D108BD9-81ED-4DB2-BD59-A6C34878D82A}">
                    <a16:rowId xmlns:a16="http://schemas.microsoft.com/office/drawing/2014/main" val="10001"/>
                  </a:ext>
                </a:extLst>
              </a:tr>
              <a:tr h="280851">
                <a:tc>
                  <a:txBody>
                    <a:bodyPr/>
                    <a:lstStyle/>
                    <a:p>
                      <a:pPr algn="l">
                        <a:defRPr sz="1200" b="0">
                          <a:solidFill>
                            <a:srgbClr val="222831"/>
                          </a:solidFill>
                          <a:latin typeface="Aptos"/>
                        </a:defRPr>
                      </a:pPr>
                      <a:r>
                        <a:t>POS embedding dim</a:t>
                      </a:r>
                    </a:p>
                  </a:txBody>
                  <a:tcPr anchor="ctr">
                    <a:solidFill>
                      <a:srgbClr val="FFFFFF"/>
                    </a:solidFill>
                  </a:tcPr>
                </a:tc>
                <a:tc>
                  <a:txBody>
                    <a:bodyPr/>
                    <a:lstStyle/>
                    <a:p>
                      <a:pPr algn="l">
                        <a:defRPr sz="1200" b="0">
                          <a:solidFill>
                            <a:srgbClr val="222831"/>
                          </a:solidFill>
                          <a:latin typeface="Aptos"/>
                        </a:defRPr>
                      </a:pPr>
                      <a:r>
                        <a:t>32</a:t>
                      </a:r>
                    </a:p>
                  </a:txBody>
                  <a:tcPr anchor="ctr">
                    <a:solidFill>
                      <a:srgbClr val="FFFFFF"/>
                    </a:solidFill>
                  </a:tcPr>
                </a:tc>
                <a:extLst>
                  <a:ext uri="{0D108BD9-81ED-4DB2-BD59-A6C34878D82A}">
                    <a16:rowId xmlns:a16="http://schemas.microsoft.com/office/drawing/2014/main" val="10002"/>
                  </a:ext>
                </a:extLst>
              </a:tr>
              <a:tr h="280851">
                <a:tc>
                  <a:txBody>
                    <a:bodyPr/>
                    <a:lstStyle/>
                    <a:p>
                      <a:pPr algn="l">
                        <a:defRPr sz="1200" b="0">
                          <a:solidFill>
                            <a:srgbClr val="222831"/>
                          </a:solidFill>
                          <a:latin typeface="Aptos"/>
                        </a:defRPr>
                      </a:pPr>
                      <a:r>
                        <a:t>Predicate embedding dim</a:t>
                      </a:r>
                    </a:p>
                  </a:txBody>
                  <a:tcPr anchor="ctr">
                    <a:solidFill>
                      <a:srgbClr val="FFFFFF"/>
                    </a:solidFill>
                  </a:tcPr>
                </a:tc>
                <a:tc>
                  <a:txBody>
                    <a:bodyPr/>
                    <a:lstStyle/>
                    <a:p>
                      <a:pPr algn="l">
                        <a:defRPr sz="1200" b="0">
                          <a:solidFill>
                            <a:srgbClr val="222831"/>
                          </a:solidFill>
                          <a:latin typeface="Aptos"/>
                        </a:defRPr>
                      </a:pPr>
                      <a:r>
                        <a:t>8</a:t>
                      </a:r>
                    </a:p>
                  </a:txBody>
                  <a:tcPr anchor="ctr">
                    <a:solidFill>
                      <a:srgbClr val="FFFFFF"/>
                    </a:solidFill>
                  </a:tcPr>
                </a:tc>
                <a:extLst>
                  <a:ext uri="{0D108BD9-81ED-4DB2-BD59-A6C34878D82A}">
                    <a16:rowId xmlns:a16="http://schemas.microsoft.com/office/drawing/2014/main" val="10003"/>
                  </a:ext>
                </a:extLst>
              </a:tr>
              <a:tr h="280851">
                <a:tc>
                  <a:txBody>
                    <a:bodyPr/>
                    <a:lstStyle/>
                    <a:p>
                      <a:pPr algn="l">
                        <a:defRPr sz="1200" b="0">
                          <a:solidFill>
                            <a:srgbClr val="222831"/>
                          </a:solidFill>
                          <a:latin typeface="Aptos"/>
                        </a:defRPr>
                      </a:pPr>
                      <a:r>
                        <a:t>Hidden size</a:t>
                      </a:r>
                    </a:p>
                  </a:txBody>
                  <a:tcPr anchor="ctr">
                    <a:solidFill>
                      <a:srgbClr val="FFFFFF"/>
                    </a:solidFill>
                  </a:tcPr>
                </a:tc>
                <a:tc>
                  <a:txBody>
                    <a:bodyPr/>
                    <a:lstStyle/>
                    <a:p>
                      <a:pPr algn="l">
                        <a:defRPr sz="1200" b="0">
                          <a:solidFill>
                            <a:srgbClr val="222831"/>
                          </a:solidFill>
                          <a:latin typeface="Aptos"/>
                        </a:defRPr>
                      </a:pPr>
                      <a:r>
                        <a:t>128</a:t>
                      </a:r>
                    </a:p>
                  </a:txBody>
                  <a:tcPr anchor="ctr">
                    <a:solidFill>
                      <a:srgbClr val="FFFFFF"/>
                    </a:solidFill>
                  </a:tcPr>
                </a:tc>
                <a:extLst>
                  <a:ext uri="{0D108BD9-81ED-4DB2-BD59-A6C34878D82A}">
                    <a16:rowId xmlns:a16="http://schemas.microsoft.com/office/drawing/2014/main" val="10004"/>
                  </a:ext>
                </a:extLst>
              </a:tr>
              <a:tr h="280851">
                <a:tc>
                  <a:txBody>
                    <a:bodyPr/>
                    <a:lstStyle/>
                    <a:p>
                      <a:pPr algn="l">
                        <a:defRPr sz="1200" b="0">
                          <a:solidFill>
                            <a:srgbClr val="222831"/>
                          </a:solidFill>
                          <a:latin typeface="Aptos"/>
                        </a:defRPr>
                      </a:pPr>
                      <a:r>
                        <a:t>Dropout</a:t>
                      </a:r>
                    </a:p>
                  </a:txBody>
                  <a:tcPr anchor="ctr">
                    <a:solidFill>
                      <a:srgbClr val="FFFFFF"/>
                    </a:solidFill>
                  </a:tcPr>
                </a:tc>
                <a:tc>
                  <a:txBody>
                    <a:bodyPr/>
                    <a:lstStyle/>
                    <a:p>
                      <a:pPr algn="l">
                        <a:defRPr sz="1200" b="0">
                          <a:solidFill>
                            <a:srgbClr val="222831"/>
                          </a:solidFill>
                          <a:latin typeface="Aptos"/>
                        </a:defRPr>
                      </a:pPr>
                      <a:r>
                        <a:t>0.30</a:t>
                      </a:r>
                    </a:p>
                  </a:txBody>
                  <a:tcPr anchor="ctr">
                    <a:solidFill>
                      <a:srgbClr val="FFFFFF"/>
                    </a:solidFill>
                  </a:tcPr>
                </a:tc>
                <a:extLst>
                  <a:ext uri="{0D108BD9-81ED-4DB2-BD59-A6C34878D82A}">
                    <a16:rowId xmlns:a16="http://schemas.microsoft.com/office/drawing/2014/main" val="10005"/>
                  </a:ext>
                </a:extLst>
              </a:tr>
              <a:tr h="280854">
                <a:tc>
                  <a:txBody>
                    <a:bodyPr/>
                    <a:lstStyle/>
                    <a:p>
                      <a:pPr algn="l">
                        <a:defRPr sz="1200" b="0">
                          <a:solidFill>
                            <a:srgbClr val="222831"/>
                          </a:solidFill>
                          <a:latin typeface="Aptos"/>
                        </a:defRPr>
                      </a:pPr>
                      <a:r>
                        <a:t>Alpha</a:t>
                      </a:r>
                    </a:p>
                  </a:txBody>
                  <a:tcPr anchor="ctr">
                    <a:solidFill>
                      <a:srgbClr val="FFFFFF"/>
                    </a:solidFill>
                  </a:tcPr>
                </a:tc>
                <a:tc>
                  <a:txBody>
                    <a:bodyPr/>
                    <a:lstStyle/>
                    <a:p>
                      <a:pPr algn="l">
                        <a:defRPr sz="1200" b="0">
                          <a:solidFill>
                            <a:srgbClr val="222831"/>
                          </a:solidFill>
                          <a:latin typeface="Aptos"/>
                        </a:defRPr>
                      </a:pPr>
                      <a:r>
                        <a:t>0.50</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11" name="Rectangle 10"/>
          <p:cNvSpPr/>
          <p:nvPr/>
        </p:nvSpPr>
        <p:spPr>
          <a:xfrm>
            <a:off x="4983480" y="914400"/>
            <a:ext cx="6400800" cy="539496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propqa_architecture.png"/>
          <p:cNvPicPr>
            <a:picLocks noChangeAspect="1"/>
          </p:cNvPicPr>
          <p:nvPr/>
        </p:nvPicPr>
        <p:blipFill>
          <a:blip r:embed="rId3"/>
          <a:stretch>
            <a:fillRect/>
          </a:stretch>
        </p:blipFill>
        <p:spPr>
          <a:xfrm>
            <a:off x="4983480" y="2811780"/>
            <a:ext cx="6400800" cy="1600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Learning Objective and Decode Logic</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SOLUTION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9</a:t>
            </a:r>
          </a:p>
        </p:txBody>
      </p:sp>
      <p:sp>
        <p:nvSpPr>
          <p:cNvPr id="9" name="TextBox 8"/>
          <p:cNvSpPr txBox="1"/>
          <p:nvPr/>
        </p:nvSpPr>
        <p:spPr>
          <a:xfrm>
            <a:off x="685800" y="914400"/>
            <a:ext cx="3657600" cy="228600"/>
          </a:xfrm>
          <a:prstGeom prst="rect">
            <a:avLst/>
          </a:prstGeom>
          <a:noFill/>
        </p:spPr>
        <p:txBody>
          <a:bodyPr wrap="square" lIns="0" tIns="0" rIns="0" bIns="0">
            <a:spAutoFit/>
          </a:bodyPr>
          <a:lstStyle/>
          <a:p>
            <a:pPr algn="l">
              <a:defRPr sz="1800" b="1">
                <a:solidFill>
                  <a:srgbClr val="0D1B2A"/>
                </a:solidFill>
                <a:latin typeface="Aptos"/>
              </a:defRPr>
            </a:pPr>
            <a:r>
              <a:t>Multi-task training objective</a:t>
            </a:r>
          </a:p>
        </p:txBody>
      </p:sp>
      <p:sp>
        <p:nvSpPr>
          <p:cNvPr id="10" name="TextBox 9"/>
          <p:cNvSpPr txBox="1"/>
          <p:nvPr/>
        </p:nvSpPr>
        <p:spPr>
          <a:xfrm>
            <a:off x="777240" y="1325880"/>
            <a:ext cx="3840480" cy="274320"/>
          </a:xfrm>
          <a:prstGeom prst="rect">
            <a:avLst/>
          </a:prstGeom>
          <a:noFill/>
        </p:spPr>
        <p:txBody>
          <a:bodyPr wrap="square" lIns="0" tIns="0" rIns="0" bIns="0">
            <a:spAutoFit/>
          </a:bodyPr>
          <a:lstStyle/>
          <a:p>
            <a:pPr algn="l">
              <a:defRPr sz="2200" b="1">
                <a:solidFill>
                  <a:srgbClr val="1F4E79"/>
                </a:solidFill>
                <a:latin typeface="Aptos"/>
              </a:defRPr>
            </a:pPr>
            <a:r>
              <a:t>L = alpha * L_SRL + (1 - alpha) * L_QA</a:t>
            </a:r>
          </a:p>
        </p:txBody>
      </p:sp>
      <p:sp>
        <p:nvSpPr>
          <p:cNvPr id="11" name="TextBox 10"/>
          <p:cNvSpPr txBox="1"/>
          <p:nvPr/>
        </p:nvSpPr>
        <p:spPr>
          <a:xfrm>
            <a:off x="777240" y="1783080"/>
            <a:ext cx="4206240" cy="731520"/>
          </a:xfrm>
          <a:prstGeom prst="rect">
            <a:avLst/>
          </a:prstGeom>
          <a:noFill/>
        </p:spPr>
        <p:txBody>
          <a:bodyPr wrap="square" lIns="0" tIns="0" rIns="0" bIns="0">
            <a:spAutoFit/>
          </a:bodyPr>
          <a:lstStyle/>
          <a:p>
            <a:pPr algn="l">
              <a:defRPr sz="1700" b="0">
                <a:solidFill>
                  <a:srgbClr val="222831"/>
                </a:solidFill>
                <a:latin typeface="Aptos"/>
              </a:defRPr>
            </a:pPr>
            <a:r>
              <a:t>L_SRL = token-level cross-entropy over BIO labels</a:t>
            </a:r>
            <a:br/>
            <a:r>
              <a:t>L_QA = average of start and end cross-entropy</a:t>
            </a:r>
          </a:p>
        </p:txBody>
      </p:sp>
      <p:sp>
        <p:nvSpPr>
          <p:cNvPr id="12" name="TextBox 11"/>
          <p:cNvSpPr txBox="1"/>
          <p:nvPr/>
        </p:nvSpPr>
        <p:spPr>
          <a:xfrm>
            <a:off x="685800" y="2743200"/>
            <a:ext cx="3657600" cy="228600"/>
          </a:xfrm>
          <a:prstGeom prst="rect">
            <a:avLst/>
          </a:prstGeom>
          <a:noFill/>
        </p:spPr>
        <p:txBody>
          <a:bodyPr wrap="square" lIns="0" tIns="0" rIns="0" bIns="0">
            <a:spAutoFit/>
          </a:bodyPr>
          <a:lstStyle/>
          <a:p>
            <a:pPr algn="l">
              <a:defRPr sz="1800" b="1">
                <a:solidFill>
                  <a:srgbClr val="0D1B2A"/>
                </a:solidFill>
                <a:latin typeface="Aptos"/>
              </a:defRPr>
            </a:pPr>
            <a:r>
              <a:t>Decode-time fusion</a:t>
            </a:r>
          </a:p>
        </p:txBody>
      </p:sp>
      <p:sp>
        <p:nvSpPr>
          <p:cNvPr id="13" name="TextBox 12"/>
          <p:cNvSpPr txBox="1"/>
          <p:nvPr/>
        </p:nvSpPr>
        <p:spPr>
          <a:xfrm>
            <a:off x="777240" y="3154680"/>
            <a:ext cx="3931920" cy="411480"/>
          </a:xfrm>
          <a:prstGeom prst="rect">
            <a:avLst/>
          </a:prstGeom>
          <a:noFill/>
        </p:spPr>
        <p:txBody>
          <a:bodyPr wrap="square" lIns="0" tIns="0" rIns="0" bIns="0">
            <a:spAutoFit/>
          </a:bodyPr>
          <a:lstStyle/>
          <a:p>
            <a:pPr algn="l">
              <a:defRPr sz="1800" b="1">
                <a:solidFill>
                  <a:srgbClr val="1B998B"/>
                </a:solidFill>
                <a:latin typeface="Aptos"/>
              </a:defRPr>
            </a:pPr>
            <a:r>
              <a:t>score = 0.60 * cosine(span, question) + 0.40 * boundary_confidence</a:t>
            </a:r>
          </a:p>
        </p:txBody>
      </p:sp>
      <p:sp>
        <p:nvSpPr>
          <p:cNvPr id="14" name="TextBox 13"/>
          <p:cNvSpPr txBox="1"/>
          <p:nvPr/>
        </p:nvSpPr>
        <p:spPr>
          <a:xfrm>
            <a:off x="731520" y="3794760"/>
            <a:ext cx="4389120" cy="1645920"/>
          </a:xfrm>
          <a:prstGeom prst="rect">
            <a:avLst/>
          </a:prstGeom>
          <a:noFill/>
        </p:spPr>
        <p:txBody>
          <a:bodyPr wrap="square">
            <a:spAutoFit/>
          </a:bodyPr>
          <a:lstStyle/>
          <a:p>
            <a:pPr>
              <a:spcAft>
                <a:spcPts val="700"/>
              </a:spcAft>
              <a:defRPr sz="1600">
                <a:solidFill>
                  <a:srgbClr val="222831"/>
                </a:solidFill>
                <a:latin typeface="Aptos"/>
              </a:defRPr>
            </a:pPr>
            <a:r>
              <a:t>BIO decoding yields semantically plausible candidate spans</a:t>
            </a:r>
          </a:p>
          <a:p>
            <a:pPr>
              <a:spcAft>
                <a:spcPts val="700"/>
              </a:spcAft>
              <a:defRPr sz="1600">
                <a:solidFill>
                  <a:srgbClr val="222831"/>
                </a:solidFill>
                <a:latin typeface="Aptos"/>
              </a:defRPr>
            </a:pPr>
            <a:r>
              <a:t>Boundary scoring keeps answer extraction compatible with standard QA practice</a:t>
            </a:r>
          </a:p>
          <a:p>
            <a:pPr>
              <a:spcAft>
                <a:spcPts val="700"/>
              </a:spcAft>
              <a:defRPr sz="1600">
                <a:solidFill>
                  <a:srgbClr val="222831"/>
                </a:solidFill>
                <a:latin typeface="Aptos"/>
              </a:defRPr>
            </a:pPr>
            <a:r>
              <a:t>The fallback mechanism protects against malformed BIO sequences</a:t>
            </a:r>
          </a:p>
        </p:txBody>
      </p:sp>
      <p:sp>
        <p:nvSpPr>
          <p:cNvPr id="15" name="Rectangle 14"/>
          <p:cNvSpPr/>
          <p:nvPr/>
        </p:nvSpPr>
        <p:spPr>
          <a:xfrm>
            <a:off x="5212080" y="914400"/>
            <a:ext cx="6035040" cy="530352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hybridpropqa.png"/>
          <p:cNvPicPr>
            <a:picLocks noChangeAspect="1"/>
          </p:cNvPicPr>
          <p:nvPr/>
        </p:nvPicPr>
        <p:blipFill>
          <a:blip r:embed="rId3"/>
          <a:stretch>
            <a:fillRect/>
          </a:stretch>
        </p:blipFill>
        <p:spPr>
          <a:xfrm>
            <a:off x="5212080" y="2811780"/>
            <a:ext cx="6035040" cy="15087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Training Setup and Reproducibility</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EXPERIMENTS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10</a:t>
            </a:r>
          </a:p>
        </p:txBody>
      </p:sp>
      <p:sp>
        <p:nvSpPr>
          <p:cNvPr id="9" name="Rounded Rectangle 8"/>
          <p:cNvSpPr/>
          <p:nvPr/>
        </p:nvSpPr>
        <p:spPr>
          <a:xfrm>
            <a:off x="731520" y="914400"/>
            <a:ext cx="18288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91440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1078992"/>
            <a:ext cx="1417320" cy="256032"/>
          </a:xfrm>
          <a:prstGeom prst="rect">
            <a:avLst/>
          </a:prstGeom>
          <a:noFill/>
        </p:spPr>
        <p:txBody>
          <a:bodyPr wrap="square" lIns="0" tIns="0" rIns="0" bIns="0">
            <a:spAutoFit/>
          </a:bodyPr>
          <a:lstStyle/>
          <a:p>
            <a:pPr algn="l">
              <a:defRPr sz="1100" b="1">
                <a:solidFill>
                  <a:srgbClr val="5E6C84"/>
                </a:solidFill>
                <a:latin typeface="Aptos"/>
              </a:defRPr>
            </a:pPr>
            <a:r>
              <a:t>Batch Size</a:t>
            </a:r>
          </a:p>
        </p:txBody>
      </p:sp>
      <p:sp>
        <p:nvSpPr>
          <p:cNvPr id="12" name="TextBox 11"/>
          <p:cNvSpPr txBox="1"/>
          <p:nvPr/>
        </p:nvSpPr>
        <p:spPr>
          <a:xfrm>
            <a:off x="987552" y="1325880"/>
            <a:ext cx="1417320" cy="402336"/>
          </a:xfrm>
          <a:prstGeom prst="rect">
            <a:avLst/>
          </a:prstGeom>
          <a:noFill/>
        </p:spPr>
        <p:txBody>
          <a:bodyPr wrap="square" lIns="0" tIns="0" rIns="0" bIns="0">
            <a:spAutoFit/>
          </a:bodyPr>
          <a:lstStyle/>
          <a:p>
            <a:pPr algn="l">
              <a:defRPr sz="2100" b="1">
                <a:solidFill>
                  <a:srgbClr val="0D1B2A"/>
                </a:solidFill>
                <a:latin typeface="Aptos"/>
              </a:defRPr>
            </a:pPr>
            <a:r>
              <a:t>64</a:t>
            </a:r>
          </a:p>
        </p:txBody>
      </p:sp>
      <p:sp>
        <p:nvSpPr>
          <p:cNvPr id="13" name="Rounded Rectangle 12"/>
          <p:cNvSpPr/>
          <p:nvPr/>
        </p:nvSpPr>
        <p:spPr>
          <a:xfrm>
            <a:off x="2743200" y="914400"/>
            <a:ext cx="18288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0" y="91440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99232" y="1078992"/>
            <a:ext cx="1417320" cy="256032"/>
          </a:xfrm>
          <a:prstGeom prst="rect">
            <a:avLst/>
          </a:prstGeom>
          <a:noFill/>
        </p:spPr>
        <p:txBody>
          <a:bodyPr wrap="square" lIns="0" tIns="0" rIns="0" bIns="0">
            <a:spAutoFit/>
          </a:bodyPr>
          <a:lstStyle/>
          <a:p>
            <a:pPr algn="l">
              <a:defRPr sz="1100" b="1">
                <a:solidFill>
                  <a:srgbClr val="5E6C84"/>
                </a:solidFill>
                <a:latin typeface="Aptos"/>
              </a:defRPr>
            </a:pPr>
            <a:r>
              <a:t>Max Epochs</a:t>
            </a:r>
          </a:p>
        </p:txBody>
      </p:sp>
      <p:sp>
        <p:nvSpPr>
          <p:cNvPr id="16" name="TextBox 15"/>
          <p:cNvSpPr txBox="1"/>
          <p:nvPr/>
        </p:nvSpPr>
        <p:spPr>
          <a:xfrm>
            <a:off x="2999232" y="1325880"/>
            <a:ext cx="1417320" cy="402336"/>
          </a:xfrm>
          <a:prstGeom prst="rect">
            <a:avLst/>
          </a:prstGeom>
          <a:noFill/>
        </p:spPr>
        <p:txBody>
          <a:bodyPr wrap="square" lIns="0" tIns="0" rIns="0" bIns="0">
            <a:spAutoFit/>
          </a:bodyPr>
          <a:lstStyle/>
          <a:p>
            <a:pPr algn="l">
              <a:defRPr sz="2100" b="1">
                <a:solidFill>
                  <a:srgbClr val="0D1B2A"/>
                </a:solidFill>
                <a:latin typeface="Aptos"/>
              </a:defRPr>
            </a:pPr>
            <a:r>
              <a:t>6</a:t>
            </a:r>
          </a:p>
        </p:txBody>
      </p:sp>
      <p:sp>
        <p:nvSpPr>
          <p:cNvPr id="17" name="Rounded Rectangle 16"/>
          <p:cNvSpPr/>
          <p:nvPr/>
        </p:nvSpPr>
        <p:spPr>
          <a:xfrm>
            <a:off x="4754880" y="914400"/>
            <a:ext cx="18288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754880" y="91440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10912" y="1078992"/>
            <a:ext cx="1417320" cy="256032"/>
          </a:xfrm>
          <a:prstGeom prst="rect">
            <a:avLst/>
          </a:prstGeom>
          <a:noFill/>
        </p:spPr>
        <p:txBody>
          <a:bodyPr wrap="square" lIns="0" tIns="0" rIns="0" bIns="0">
            <a:spAutoFit/>
          </a:bodyPr>
          <a:lstStyle/>
          <a:p>
            <a:pPr algn="l">
              <a:defRPr sz="1100" b="1">
                <a:solidFill>
                  <a:srgbClr val="5E6C84"/>
                </a:solidFill>
                <a:latin typeface="Aptos"/>
              </a:defRPr>
            </a:pPr>
            <a:r>
              <a:t>Patience</a:t>
            </a:r>
          </a:p>
        </p:txBody>
      </p:sp>
      <p:sp>
        <p:nvSpPr>
          <p:cNvPr id="20" name="TextBox 19"/>
          <p:cNvSpPr txBox="1"/>
          <p:nvPr/>
        </p:nvSpPr>
        <p:spPr>
          <a:xfrm>
            <a:off x="5010912" y="1325880"/>
            <a:ext cx="1417320" cy="402336"/>
          </a:xfrm>
          <a:prstGeom prst="rect">
            <a:avLst/>
          </a:prstGeom>
          <a:noFill/>
        </p:spPr>
        <p:txBody>
          <a:bodyPr wrap="square" lIns="0" tIns="0" rIns="0" bIns="0">
            <a:spAutoFit/>
          </a:bodyPr>
          <a:lstStyle/>
          <a:p>
            <a:pPr algn="l">
              <a:defRPr sz="2100" b="1">
                <a:solidFill>
                  <a:srgbClr val="0D1B2A"/>
                </a:solidFill>
                <a:latin typeface="Aptos"/>
              </a:defRPr>
            </a:pPr>
            <a:r>
              <a:t>5</a:t>
            </a:r>
          </a:p>
        </p:txBody>
      </p:sp>
      <p:sp>
        <p:nvSpPr>
          <p:cNvPr id="21" name="Rounded Rectangle 20"/>
          <p:cNvSpPr/>
          <p:nvPr/>
        </p:nvSpPr>
        <p:spPr>
          <a:xfrm>
            <a:off x="6766560" y="914400"/>
            <a:ext cx="18288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766560" y="914400"/>
            <a:ext cx="109728" cy="914400"/>
          </a:xfrm>
          <a:prstGeom prst="rect">
            <a:avLst/>
          </a:prstGeom>
          <a:solidFill>
            <a:srgbClr val="218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22592" y="1078992"/>
            <a:ext cx="1417320" cy="256032"/>
          </a:xfrm>
          <a:prstGeom prst="rect">
            <a:avLst/>
          </a:prstGeom>
          <a:noFill/>
        </p:spPr>
        <p:txBody>
          <a:bodyPr wrap="square" lIns="0" tIns="0" rIns="0" bIns="0">
            <a:spAutoFit/>
          </a:bodyPr>
          <a:lstStyle/>
          <a:p>
            <a:pPr algn="l">
              <a:defRPr sz="1100" b="1">
                <a:solidFill>
                  <a:srgbClr val="5E6C84"/>
                </a:solidFill>
                <a:latin typeface="Aptos"/>
              </a:defRPr>
            </a:pPr>
            <a:r>
              <a:t>Learning Rate</a:t>
            </a:r>
          </a:p>
        </p:txBody>
      </p:sp>
      <p:sp>
        <p:nvSpPr>
          <p:cNvPr id="24" name="TextBox 23"/>
          <p:cNvSpPr txBox="1"/>
          <p:nvPr/>
        </p:nvSpPr>
        <p:spPr>
          <a:xfrm>
            <a:off x="7022592" y="1325880"/>
            <a:ext cx="1417320" cy="402336"/>
          </a:xfrm>
          <a:prstGeom prst="rect">
            <a:avLst/>
          </a:prstGeom>
          <a:noFill/>
        </p:spPr>
        <p:txBody>
          <a:bodyPr wrap="square" lIns="0" tIns="0" rIns="0" bIns="0">
            <a:spAutoFit/>
          </a:bodyPr>
          <a:lstStyle/>
          <a:p>
            <a:pPr algn="l">
              <a:defRPr sz="2100" b="1">
                <a:solidFill>
                  <a:srgbClr val="0D1B2A"/>
                </a:solidFill>
                <a:latin typeface="Aptos"/>
              </a:defRPr>
            </a:pPr>
            <a:r>
              <a:t>1e-3</a:t>
            </a:r>
          </a:p>
        </p:txBody>
      </p:sp>
      <p:sp>
        <p:nvSpPr>
          <p:cNvPr id="25" name="Rounded Rectangle 24"/>
          <p:cNvSpPr/>
          <p:nvPr/>
        </p:nvSpPr>
        <p:spPr>
          <a:xfrm>
            <a:off x="8778240" y="914400"/>
            <a:ext cx="18288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778240" y="914400"/>
            <a:ext cx="109728" cy="914400"/>
          </a:xfrm>
          <a:prstGeom prst="rect">
            <a:avLst/>
          </a:prstGeom>
          <a:solidFill>
            <a:srgbClr val="BF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34272" y="1078992"/>
            <a:ext cx="1417320" cy="256032"/>
          </a:xfrm>
          <a:prstGeom prst="rect">
            <a:avLst/>
          </a:prstGeom>
          <a:noFill/>
        </p:spPr>
        <p:txBody>
          <a:bodyPr wrap="square" lIns="0" tIns="0" rIns="0" bIns="0">
            <a:spAutoFit/>
          </a:bodyPr>
          <a:lstStyle/>
          <a:p>
            <a:pPr algn="l">
              <a:defRPr sz="1100" b="1">
                <a:solidFill>
                  <a:srgbClr val="5E6C84"/>
                </a:solidFill>
                <a:latin typeface="Aptos"/>
              </a:defRPr>
            </a:pPr>
            <a:r>
              <a:t>Weight Decay</a:t>
            </a:r>
          </a:p>
        </p:txBody>
      </p:sp>
      <p:sp>
        <p:nvSpPr>
          <p:cNvPr id="28" name="TextBox 27"/>
          <p:cNvSpPr txBox="1"/>
          <p:nvPr/>
        </p:nvSpPr>
        <p:spPr>
          <a:xfrm>
            <a:off x="9034272" y="1325880"/>
            <a:ext cx="1417320" cy="402336"/>
          </a:xfrm>
          <a:prstGeom prst="rect">
            <a:avLst/>
          </a:prstGeom>
          <a:noFill/>
        </p:spPr>
        <p:txBody>
          <a:bodyPr wrap="square" lIns="0" tIns="0" rIns="0" bIns="0">
            <a:spAutoFit/>
          </a:bodyPr>
          <a:lstStyle/>
          <a:p>
            <a:pPr algn="l">
              <a:defRPr sz="2100" b="1">
                <a:solidFill>
                  <a:srgbClr val="0D1B2A"/>
                </a:solidFill>
                <a:latin typeface="Aptos"/>
              </a:defRPr>
            </a:pPr>
            <a:r>
              <a:t>1e-5</a:t>
            </a:r>
          </a:p>
        </p:txBody>
      </p:sp>
      <p:sp>
        <p:nvSpPr>
          <p:cNvPr id="29" name="TextBox 28"/>
          <p:cNvSpPr txBox="1"/>
          <p:nvPr/>
        </p:nvSpPr>
        <p:spPr>
          <a:xfrm>
            <a:off x="731520" y="2148840"/>
            <a:ext cx="4800600" cy="3200400"/>
          </a:xfrm>
          <a:prstGeom prst="rect">
            <a:avLst/>
          </a:prstGeom>
          <a:noFill/>
        </p:spPr>
        <p:txBody>
          <a:bodyPr wrap="square">
            <a:spAutoFit/>
          </a:bodyPr>
          <a:lstStyle/>
          <a:p>
            <a:pPr>
              <a:spcAft>
                <a:spcPts val="700"/>
              </a:spcAft>
              <a:defRPr sz="1700">
                <a:solidFill>
                  <a:srgbClr val="222831"/>
                </a:solidFill>
                <a:latin typeface="Aptos"/>
              </a:defRPr>
            </a:pPr>
            <a:r>
              <a:t>config.py centralizes all paths and hyperparameters</a:t>
            </a:r>
          </a:p>
          <a:p>
            <a:pPr>
              <a:spcAft>
                <a:spcPts val="700"/>
              </a:spcAft>
              <a:defRPr sz="1700">
                <a:solidFill>
                  <a:srgbClr val="222831"/>
                </a:solidFill>
                <a:latin typeface="Aptos"/>
              </a:defRPr>
            </a:pPr>
            <a:r>
              <a:t>main.py supports train, eval, infer, ask, benchmark, report, and app modes</a:t>
            </a:r>
          </a:p>
          <a:p>
            <a:pPr>
              <a:spcAft>
                <a:spcPts val="700"/>
              </a:spcAft>
              <a:defRPr sz="1700">
                <a:solidFill>
                  <a:srgbClr val="222831"/>
                </a:solidFill>
                <a:latin typeface="Aptos"/>
              </a:defRPr>
            </a:pPr>
            <a:r>
              <a:t>The pipeline saves checkpoints, metrics, plots, and report artifacts automatically</a:t>
            </a:r>
          </a:p>
          <a:p>
            <a:pPr>
              <a:spcAft>
                <a:spcPts val="700"/>
              </a:spcAft>
              <a:defRPr sz="1700">
                <a:solidFill>
                  <a:srgbClr val="222831"/>
                </a:solidFill>
                <a:latin typeface="Aptos"/>
              </a:defRPr>
            </a:pPr>
            <a:r>
              <a:t>The repo includes local corpus assets and generated PDFs, which supports offline reruns</a:t>
            </a:r>
          </a:p>
        </p:txBody>
      </p:sp>
      <p:sp>
        <p:nvSpPr>
          <p:cNvPr id="30" name="Rectangle 29"/>
          <p:cNvSpPr/>
          <p:nvPr/>
        </p:nvSpPr>
        <p:spPr>
          <a:xfrm>
            <a:off x="5623560" y="1737360"/>
            <a:ext cx="5669280" cy="448056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loss_curve.png"/>
          <p:cNvPicPr>
            <a:picLocks noChangeAspect="1"/>
          </p:cNvPicPr>
          <p:nvPr/>
        </p:nvPicPr>
        <p:blipFill>
          <a:blip r:embed="rId3"/>
          <a:stretch>
            <a:fillRect/>
          </a:stretch>
        </p:blipFill>
        <p:spPr>
          <a:xfrm>
            <a:off x="5623560" y="2205990"/>
            <a:ext cx="5669280" cy="354329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Experiment Matrix</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EXPERIMENTS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11</a:t>
            </a:r>
          </a:p>
        </p:txBody>
      </p:sp>
      <p:graphicFrame>
        <p:nvGraphicFramePr>
          <p:cNvPr id="9" name="Table 8"/>
          <p:cNvGraphicFramePr>
            <a:graphicFrameLocks noGrp="1"/>
          </p:cNvGraphicFramePr>
          <p:nvPr/>
        </p:nvGraphicFramePr>
        <p:xfrm>
          <a:off x="685800" y="914400"/>
          <a:ext cx="5212080" cy="3840480"/>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tblGrid>
              <a:tr h="548640">
                <a:tc>
                  <a:txBody>
                    <a:bodyPr/>
                    <a:lstStyle/>
                    <a:p>
                      <a:pPr algn="ctr">
                        <a:defRPr sz="1200" b="1">
                          <a:solidFill>
                            <a:srgbClr val="FFFFFF"/>
                          </a:solidFill>
                          <a:latin typeface="Aptos"/>
                        </a:defRPr>
                      </a:pPr>
                      <a:r>
                        <a:t>Evaluation Component</a:t>
                      </a:r>
                    </a:p>
                  </a:txBody>
                  <a:tcPr anchor="ctr">
                    <a:solidFill>
                      <a:srgbClr val="0D1B2A"/>
                    </a:solidFill>
                  </a:tcPr>
                </a:tc>
                <a:tc>
                  <a:txBody>
                    <a:bodyPr/>
                    <a:lstStyle/>
                    <a:p>
                      <a:pPr algn="ctr">
                        <a:defRPr sz="1200" b="1">
                          <a:solidFill>
                            <a:srgbClr val="FFFFFF"/>
                          </a:solidFill>
                          <a:latin typeface="Aptos"/>
                        </a:defRPr>
                      </a:pPr>
                      <a:r>
                        <a:t>Setting</a:t>
                      </a:r>
                    </a:p>
                  </a:txBody>
                  <a:tcPr anchor="ctr">
                    <a:solidFill>
                      <a:srgbClr val="0D1B2A"/>
                    </a:solidFill>
                  </a:tcPr>
                </a:tc>
                <a:extLst>
                  <a:ext uri="{0D108BD9-81ED-4DB2-BD59-A6C34878D82A}">
                    <a16:rowId xmlns:a16="http://schemas.microsoft.com/office/drawing/2014/main" val="10000"/>
                  </a:ext>
                </a:extLst>
              </a:tr>
              <a:tr h="548640">
                <a:tc>
                  <a:txBody>
                    <a:bodyPr/>
                    <a:lstStyle/>
                    <a:p>
                      <a:pPr algn="l">
                        <a:defRPr sz="1200" b="0">
                          <a:solidFill>
                            <a:srgbClr val="222831"/>
                          </a:solidFill>
                          <a:latin typeface="Aptos"/>
                        </a:defRPr>
                      </a:pPr>
                      <a:r>
                        <a:t>Full held-out test set</a:t>
                      </a:r>
                    </a:p>
                  </a:txBody>
                  <a:tcPr anchor="ctr">
                    <a:solidFill>
                      <a:srgbClr val="FFFFFF"/>
                    </a:solidFill>
                  </a:tcPr>
                </a:tc>
                <a:tc>
                  <a:txBody>
                    <a:bodyPr/>
                    <a:lstStyle/>
                    <a:p>
                      <a:pPr algn="l">
                        <a:defRPr sz="1200" b="0">
                          <a:solidFill>
                            <a:srgbClr val="222831"/>
                          </a:solidFill>
                          <a:latin typeface="Aptos"/>
                        </a:defRPr>
                      </a:pPr>
                      <a:r>
                        <a:t>3,452 examples</a:t>
                      </a:r>
                    </a:p>
                  </a:txBody>
                  <a:tcPr anchor="ctr">
                    <a:solidFill>
                      <a:srgbClr val="FFFFFF"/>
                    </a:solidFill>
                  </a:tcPr>
                </a:tc>
                <a:extLst>
                  <a:ext uri="{0D108BD9-81ED-4DB2-BD59-A6C34878D82A}">
                    <a16:rowId xmlns:a16="http://schemas.microsoft.com/office/drawing/2014/main" val="10001"/>
                  </a:ext>
                </a:extLst>
              </a:tr>
              <a:tr h="548640">
                <a:tc>
                  <a:txBody>
                    <a:bodyPr/>
                    <a:lstStyle/>
                    <a:p>
                      <a:pPr algn="l">
                        <a:defRPr sz="1200" b="0">
                          <a:solidFill>
                            <a:srgbClr val="222831"/>
                          </a:solidFill>
                          <a:latin typeface="Aptos"/>
                        </a:defRPr>
                      </a:pPr>
                      <a:r>
                        <a:t>Challenge suite</a:t>
                      </a:r>
                    </a:p>
                  </a:txBody>
                  <a:tcPr anchor="ctr">
                    <a:solidFill>
                      <a:srgbClr val="FFFFFF"/>
                    </a:solidFill>
                  </a:tcPr>
                </a:tc>
                <a:tc>
                  <a:txBody>
                    <a:bodyPr/>
                    <a:lstStyle/>
                    <a:p>
                      <a:pPr algn="l">
                        <a:defRPr sz="1200" b="0">
                          <a:solidFill>
                            <a:srgbClr val="222831"/>
                          </a:solidFill>
                          <a:latin typeface="Aptos"/>
                        </a:defRPr>
                      </a:pPr>
                      <a:r>
                        <a:t>20 curated role-sensitive examples</a:t>
                      </a:r>
                    </a:p>
                  </a:txBody>
                  <a:tcPr anchor="ctr">
                    <a:solidFill>
                      <a:srgbClr val="FFFFFF"/>
                    </a:solidFill>
                  </a:tcPr>
                </a:tc>
                <a:extLst>
                  <a:ext uri="{0D108BD9-81ED-4DB2-BD59-A6C34878D82A}">
                    <a16:rowId xmlns:a16="http://schemas.microsoft.com/office/drawing/2014/main" val="10002"/>
                  </a:ext>
                </a:extLst>
              </a:tr>
              <a:tr h="548640">
                <a:tc>
                  <a:txBody>
                    <a:bodyPr/>
                    <a:lstStyle/>
                    <a:p>
                      <a:pPr algn="l">
                        <a:defRPr sz="1200" b="0">
                          <a:solidFill>
                            <a:srgbClr val="222831"/>
                          </a:solidFill>
                          <a:latin typeface="Aptos"/>
                        </a:defRPr>
                      </a:pPr>
                      <a:r>
                        <a:t>Benchmark test subset</a:t>
                      </a:r>
                    </a:p>
                  </a:txBody>
                  <a:tcPr anchor="ctr">
                    <a:solidFill>
                      <a:srgbClr val="FFFFFF"/>
                    </a:solidFill>
                  </a:tcPr>
                </a:tc>
                <a:tc>
                  <a:txBody>
                    <a:bodyPr/>
                    <a:lstStyle/>
                    <a:p>
                      <a:pPr algn="l">
                        <a:defRPr sz="1200" b="0">
                          <a:solidFill>
                            <a:srgbClr val="222831"/>
                          </a:solidFill>
                          <a:latin typeface="Aptos"/>
                        </a:defRPr>
                      </a:pPr>
                      <a:r>
                        <a:t>40 sampled examples</a:t>
                      </a:r>
                    </a:p>
                  </a:txBody>
                  <a:tcPr anchor="ctr">
                    <a:solidFill>
                      <a:srgbClr val="FFFFFF"/>
                    </a:solidFill>
                  </a:tcPr>
                </a:tc>
                <a:extLst>
                  <a:ext uri="{0D108BD9-81ED-4DB2-BD59-A6C34878D82A}">
                    <a16:rowId xmlns:a16="http://schemas.microsoft.com/office/drawing/2014/main" val="10003"/>
                  </a:ext>
                </a:extLst>
              </a:tr>
              <a:tr h="548640">
                <a:tc>
                  <a:txBody>
                    <a:bodyPr/>
                    <a:lstStyle/>
                    <a:p>
                      <a:pPr algn="l">
                        <a:defRPr sz="1200" b="0">
                          <a:solidFill>
                            <a:srgbClr val="222831"/>
                          </a:solidFill>
                          <a:latin typeface="Aptos"/>
                        </a:defRPr>
                      </a:pPr>
                      <a:r>
                        <a:t>Primary QA metrics</a:t>
                      </a:r>
                    </a:p>
                  </a:txBody>
                  <a:tcPr anchor="ctr">
                    <a:solidFill>
                      <a:srgbClr val="FFFFFF"/>
                    </a:solidFill>
                  </a:tcPr>
                </a:tc>
                <a:tc>
                  <a:txBody>
                    <a:bodyPr/>
                    <a:lstStyle/>
                    <a:p>
                      <a:pPr algn="l">
                        <a:defRPr sz="1200" b="0">
                          <a:solidFill>
                            <a:srgbClr val="222831"/>
                          </a:solidFill>
                          <a:latin typeface="Aptos"/>
                        </a:defRPr>
                      </a:pPr>
                      <a:r>
                        <a:t>Exact Match, Token F1</a:t>
                      </a:r>
                    </a:p>
                  </a:txBody>
                  <a:tcPr anchor="ctr">
                    <a:solidFill>
                      <a:srgbClr val="FFFFFF"/>
                    </a:solidFill>
                  </a:tcPr>
                </a:tc>
                <a:extLst>
                  <a:ext uri="{0D108BD9-81ED-4DB2-BD59-A6C34878D82A}">
                    <a16:rowId xmlns:a16="http://schemas.microsoft.com/office/drawing/2014/main" val="10004"/>
                  </a:ext>
                </a:extLst>
              </a:tr>
              <a:tr h="548640">
                <a:tc>
                  <a:txBody>
                    <a:bodyPr/>
                    <a:lstStyle/>
                    <a:p>
                      <a:pPr algn="l">
                        <a:defRPr sz="1200" b="0">
                          <a:solidFill>
                            <a:srgbClr val="222831"/>
                          </a:solidFill>
                          <a:latin typeface="Aptos"/>
                        </a:defRPr>
                      </a:pPr>
                      <a:r>
                        <a:t>Primary SRL metrics</a:t>
                      </a:r>
                    </a:p>
                  </a:txBody>
                  <a:tcPr anchor="ctr">
                    <a:solidFill>
                      <a:srgbClr val="FFFFFF"/>
                    </a:solidFill>
                  </a:tcPr>
                </a:tc>
                <a:tc>
                  <a:txBody>
                    <a:bodyPr/>
                    <a:lstStyle/>
                    <a:p>
                      <a:pPr algn="l">
                        <a:defRPr sz="1200" b="0">
                          <a:solidFill>
                            <a:srgbClr val="222831"/>
                          </a:solidFill>
                          <a:latin typeface="Aptos"/>
                        </a:defRPr>
                      </a:pPr>
                      <a:r>
                        <a:t>Micro F1, Macro F1, BIO Accuracy</a:t>
                      </a:r>
                    </a:p>
                  </a:txBody>
                  <a:tcPr anchor="ctr">
                    <a:solidFill>
                      <a:srgbClr val="FFFFFF"/>
                    </a:solidFill>
                  </a:tcPr>
                </a:tc>
                <a:extLst>
                  <a:ext uri="{0D108BD9-81ED-4DB2-BD59-A6C34878D82A}">
                    <a16:rowId xmlns:a16="http://schemas.microsoft.com/office/drawing/2014/main" val="10005"/>
                  </a:ext>
                </a:extLst>
              </a:tr>
              <a:tr h="548640">
                <a:tc>
                  <a:txBody>
                    <a:bodyPr/>
                    <a:lstStyle/>
                    <a:p>
                      <a:pPr algn="l">
                        <a:defRPr sz="1200" b="0">
                          <a:solidFill>
                            <a:srgbClr val="222831"/>
                          </a:solidFill>
                          <a:latin typeface="Aptos"/>
                        </a:defRPr>
                      </a:pPr>
                      <a:r>
                        <a:t>Tracks compared</a:t>
                      </a:r>
                    </a:p>
                  </a:txBody>
                  <a:tcPr anchor="ctr">
                    <a:solidFill>
                      <a:srgbClr val="FFFFFF"/>
                    </a:solidFill>
                  </a:tcPr>
                </a:tc>
                <a:tc>
                  <a:txBody>
                    <a:bodyPr/>
                    <a:lstStyle/>
                    <a:p>
                      <a:pPr algn="l">
                        <a:defRPr sz="1200" b="0">
                          <a:solidFill>
                            <a:srgbClr val="222831"/>
                          </a:solidFill>
                          <a:latin typeface="Aptos"/>
                        </a:defRPr>
                      </a:pPr>
                      <a:r>
                        <a:t>Baseline, Heuristic, Transformer Assist, Full Hybrid</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822960" y="4892040"/>
            <a:ext cx="4983480" cy="1463040"/>
          </a:xfrm>
          <a:prstGeom prst="rect">
            <a:avLst/>
          </a:prstGeom>
          <a:noFill/>
        </p:spPr>
        <p:txBody>
          <a:bodyPr wrap="square">
            <a:spAutoFit/>
          </a:bodyPr>
          <a:lstStyle/>
          <a:p>
            <a:pPr>
              <a:spcAft>
                <a:spcPts val="700"/>
              </a:spcAft>
              <a:defRPr sz="1500">
                <a:solidFill>
                  <a:srgbClr val="222831"/>
                </a:solidFill>
                <a:latin typeface="Aptos"/>
              </a:defRPr>
            </a:pPr>
            <a:r>
              <a:t>The benchmark separates authoritative repository metrics from hybrid ablation analysis</a:t>
            </a:r>
          </a:p>
          <a:p>
            <a:pPr>
              <a:spcAft>
                <a:spcPts val="700"/>
              </a:spcAft>
              <a:defRPr sz="1500">
                <a:solidFill>
                  <a:srgbClr val="222831"/>
                </a:solidFill>
                <a:latin typeface="Aptos"/>
              </a:defRPr>
            </a:pPr>
            <a:r>
              <a:t>Challenge evaluation stresses role-sensitive questions like location, manner, cause, and recipient extraction</a:t>
            </a:r>
          </a:p>
          <a:p>
            <a:pPr>
              <a:spcAft>
                <a:spcPts val="700"/>
              </a:spcAft>
              <a:defRPr sz="1500">
                <a:solidFill>
                  <a:srgbClr val="222831"/>
                </a:solidFill>
                <a:latin typeface="Aptos"/>
              </a:defRPr>
            </a:pPr>
            <a:r>
              <a:t>The test-subset benchmark measures whether those gains generalize beyond the curated challenge set</a:t>
            </a:r>
          </a:p>
        </p:txBody>
      </p:sp>
      <p:sp>
        <p:nvSpPr>
          <p:cNvPr id="11" name="Rectangle 10"/>
          <p:cNvSpPr/>
          <p:nvPr/>
        </p:nvSpPr>
        <p:spPr>
          <a:xfrm>
            <a:off x="5989320" y="1051560"/>
            <a:ext cx="5349240" cy="512064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blation_summary.png"/>
          <p:cNvPicPr>
            <a:picLocks noChangeAspect="1"/>
          </p:cNvPicPr>
          <p:nvPr/>
        </p:nvPicPr>
        <p:blipFill>
          <a:blip r:embed="rId3"/>
          <a:stretch>
            <a:fillRect/>
          </a:stretch>
        </p:blipFill>
        <p:spPr>
          <a:xfrm>
            <a:off x="5989320" y="2274570"/>
            <a:ext cx="5349240" cy="26746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Baseline QA Results</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RESULTS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12</a:t>
            </a:r>
          </a:p>
        </p:txBody>
      </p:sp>
      <p:sp>
        <p:nvSpPr>
          <p:cNvPr id="9" name="Rounded Rectangle 8"/>
          <p:cNvSpPr/>
          <p:nvPr/>
        </p:nvSpPr>
        <p:spPr>
          <a:xfrm>
            <a:off x="731520" y="9144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91440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1078992"/>
            <a:ext cx="1600200" cy="256032"/>
          </a:xfrm>
          <a:prstGeom prst="rect">
            <a:avLst/>
          </a:prstGeom>
          <a:noFill/>
        </p:spPr>
        <p:txBody>
          <a:bodyPr wrap="square" lIns="0" tIns="0" rIns="0" bIns="0">
            <a:spAutoFit/>
          </a:bodyPr>
          <a:lstStyle/>
          <a:p>
            <a:pPr algn="l">
              <a:defRPr sz="1100" b="1">
                <a:solidFill>
                  <a:srgbClr val="5E6C84"/>
                </a:solidFill>
                <a:latin typeface="Aptos"/>
              </a:defRPr>
            </a:pPr>
            <a:r>
              <a:t>QA Exact Match</a:t>
            </a:r>
          </a:p>
        </p:txBody>
      </p:sp>
      <p:sp>
        <p:nvSpPr>
          <p:cNvPr id="12" name="TextBox 11"/>
          <p:cNvSpPr txBox="1"/>
          <p:nvPr/>
        </p:nvSpPr>
        <p:spPr>
          <a:xfrm>
            <a:off x="987552" y="1325880"/>
            <a:ext cx="1600200" cy="402336"/>
          </a:xfrm>
          <a:prstGeom prst="rect">
            <a:avLst/>
          </a:prstGeom>
          <a:noFill/>
        </p:spPr>
        <p:txBody>
          <a:bodyPr wrap="square" lIns="0" tIns="0" rIns="0" bIns="0">
            <a:spAutoFit/>
          </a:bodyPr>
          <a:lstStyle/>
          <a:p>
            <a:pPr algn="l">
              <a:defRPr sz="2100" b="1">
                <a:solidFill>
                  <a:srgbClr val="0D1B2A"/>
                </a:solidFill>
                <a:latin typeface="Aptos"/>
              </a:defRPr>
            </a:pPr>
            <a:r>
              <a:t>51.8%</a:t>
            </a:r>
          </a:p>
        </p:txBody>
      </p:sp>
      <p:sp>
        <p:nvSpPr>
          <p:cNvPr id="13" name="Rounded Rectangle 12"/>
          <p:cNvSpPr/>
          <p:nvPr/>
        </p:nvSpPr>
        <p:spPr>
          <a:xfrm>
            <a:off x="2971800" y="9144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971800" y="91440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27832" y="1078992"/>
            <a:ext cx="1600200" cy="256032"/>
          </a:xfrm>
          <a:prstGeom prst="rect">
            <a:avLst/>
          </a:prstGeom>
          <a:noFill/>
        </p:spPr>
        <p:txBody>
          <a:bodyPr wrap="square" lIns="0" tIns="0" rIns="0" bIns="0">
            <a:spAutoFit/>
          </a:bodyPr>
          <a:lstStyle/>
          <a:p>
            <a:pPr algn="l">
              <a:defRPr sz="1100" b="1">
                <a:solidFill>
                  <a:srgbClr val="5E6C84"/>
                </a:solidFill>
                <a:latin typeface="Aptos"/>
              </a:defRPr>
            </a:pPr>
            <a:r>
              <a:t>QA Token F1</a:t>
            </a:r>
          </a:p>
        </p:txBody>
      </p:sp>
      <p:sp>
        <p:nvSpPr>
          <p:cNvPr id="16" name="TextBox 15"/>
          <p:cNvSpPr txBox="1"/>
          <p:nvPr/>
        </p:nvSpPr>
        <p:spPr>
          <a:xfrm>
            <a:off x="3227832" y="1325880"/>
            <a:ext cx="1600200" cy="402336"/>
          </a:xfrm>
          <a:prstGeom prst="rect">
            <a:avLst/>
          </a:prstGeom>
          <a:noFill/>
        </p:spPr>
        <p:txBody>
          <a:bodyPr wrap="square" lIns="0" tIns="0" rIns="0" bIns="0">
            <a:spAutoFit/>
          </a:bodyPr>
          <a:lstStyle/>
          <a:p>
            <a:pPr algn="l">
              <a:defRPr sz="2100" b="1">
                <a:solidFill>
                  <a:srgbClr val="0D1B2A"/>
                </a:solidFill>
                <a:latin typeface="Aptos"/>
              </a:defRPr>
            </a:pPr>
            <a:r>
              <a:t>76.1%</a:t>
            </a:r>
          </a:p>
        </p:txBody>
      </p:sp>
      <p:sp>
        <p:nvSpPr>
          <p:cNvPr id="17" name="Rounded Rectangle 16"/>
          <p:cNvSpPr/>
          <p:nvPr/>
        </p:nvSpPr>
        <p:spPr>
          <a:xfrm>
            <a:off x="5212080" y="9144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212080" y="91440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68112" y="1078992"/>
            <a:ext cx="1600200" cy="256032"/>
          </a:xfrm>
          <a:prstGeom prst="rect">
            <a:avLst/>
          </a:prstGeom>
          <a:noFill/>
        </p:spPr>
        <p:txBody>
          <a:bodyPr wrap="square" lIns="0" tIns="0" rIns="0" bIns="0">
            <a:spAutoFit/>
          </a:bodyPr>
          <a:lstStyle/>
          <a:p>
            <a:pPr algn="l">
              <a:defRPr sz="1100" b="1">
                <a:solidFill>
                  <a:srgbClr val="5E6C84"/>
                </a:solidFill>
                <a:latin typeface="Aptos"/>
              </a:defRPr>
            </a:pPr>
            <a:r>
              <a:t>Length Deviation</a:t>
            </a:r>
          </a:p>
        </p:txBody>
      </p:sp>
      <p:sp>
        <p:nvSpPr>
          <p:cNvPr id="20" name="TextBox 19"/>
          <p:cNvSpPr txBox="1"/>
          <p:nvPr/>
        </p:nvSpPr>
        <p:spPr>
          <a:xfrm>
            <a:off x="5468112" y="1325880"/>
            <a:ext cx="1600200" cy="402336"/>
          </a:xfrm>
          <a:prstGeom prst="rect">
            <a:avLst/>
          </a:prstGeom>
          <a:noFill/>
        </p:spPr>
        <p:txBody>
          <a:bodyPr wrap="square" lIns="0" tIns="0" rIns="0" bIns="0">
            <a:spAutoFit/>
          </a:bodyPr>
          <a:lstStyle/>
          <a:p>
            <a:pPr algn="l">
              <a:defRPr sz="2100" b="1">
                <a:solidFill>
                  <a:srgbClr val="0D1B2A"/>
                </a:solidFill>
                <a:latin typeface="Aptos"/>
              </a:defRPr>
            </a:pPr>
            <a:r>
              <a:t>-1.01</a:t>
            </a:r>
          </a:p>
        </p:txBody>
      </p:sp>
      <p:sp>
        <p:nvSpPr>
          <p:cNvPr id="21" name="Rounded Rectangle 20"/>
          <p:cNvSpPr/>
          <p:nvPr/>
        </p:nvSpPr>
        <p:spPr>
          <a:xfrm>
            <a:off x="7452360" y="9144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452360" y="914400"/>
            <a:ext cx="109728" cy="914400"/>
          </a:xfrm>
          <a:prstGeom prst="rect">
            <a:avLst/>
          </a:prstGeom>
          <a:solidFill>
            <a:srgbClr val="218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08392" y="1078992"/>
            <a:ext cx="1600200" cy="256032"/>
          </a:xfrm>
          <a:prstGeom prst="rect">
            <a:avLst/>
          </a:prstGeom>
          <a:noFill/>
        </p:spPr>
        <p:txBody>
          <a:bodyPr wrap="square" lIns="0" tIns="0" rIns="0" bIns="0">
            <a:spAutoFit/>
          </a:bodyPr>
          <a:lstStyle/>
          <a:p>
            <a:pPr algn="l">
              <a:defRPr sz="1100" b="1">
                <a:solidFill>
                  <a:srgbClr val="5E6C84"/>
                </a:solidFill>
                <a:latin typeface="Aptos"/>
              </a:defRPr>
            </a:pPr>
            <a:r>
              <a:t>Abs. Length Dev.</a:t>
            </a:r>
          </a:p>
        </p:txBody>
      </p:sp>
      <p:sp>
        <p:nvSpPr>
          <p:cNvPr id="24" name="TextBox 23"/>
          <p:cNvSpPr txBox="1"/>
          <p:nvPr/>
        </p:nvSpPr>
        <p:spPr>
          <a:xfrm>
            <a:off x="7708392" y="1325880"/>
            <a:ext cx="1600200" cy="402336"/>
          </a:xfrm>
          <a:prstGeom prst="rect">
            <a:avLst/>
          </a:prstGeom>
          <a:noFill/>
        </p:spPr>
        <p:txBody>
          <a:bodyPr wrap="square" lIns="0" tIns="0" rIns="0" bIns="0">
            <a:spAutoFit/>
          </a:bodyPr>
          <a:lstStyle/>
          <a:p>
            <a:pPr algn="l">
              <a:defRPr sz="2100" b="1">
                <a:solidFill>
                  <a:srgbClr val="0D1B2A"/>
                </a:solidFill>
                <a:latin typeface="Aptos"/>
              </a:defRPr>
            </a:pPr>
            <a:r>
              <a:t>1.85</a:t>
            </a:r>
          </a:p>
        </p:txBody>
      </p:sp>
      <p:sp>
        <p:nvSpPr>
          <p:cNvPr id="25" name="TextBox 24"/>
          <p:cNvSpPr txBox="1"/>
          <p:nvPr/>
        </p:nvSpPr>
        <p:spPr>
          <a:xfrm>
            <a:off x="731520" y="2148840"/>
            <a:ext cx="4663440" cy="3474720"/>
          </a:xfrm>
          <a:prstGeom prst="rect">
            <a:avLst/>
          </a:prstGeom>
          <a:noFill/>
        </p:spPr>
        <p:txBody>
          <a:bodyPr wrap="square">
            <a:spAutoFit/>
          </a:bodyPr>
          <a:lstStyle/>
          <a:p>
            <a:pPr>
              <a:spcAft>
                <a:spcPts val="700"/>
              </a:spcAft>
              <a:defRPr sz="1700">
                <a:solidFill>
                  <a:srgbClr val="222831"/>
                </a:solidFill>
                <a:latin typeface="Aptos"/>
              </a:defRPr>
            </a:pPr>
            <a:r>
              <a:t>WHO and WHAT are the strongest question families by exact match and token F1</a:t>
            </a:r>
          </a:p>
          <a:p>
            <a:pPr>
              <a:spcAft>
                <a:spcPts val="700"/>
              </a:spcAft>
              <a:defRPr sz="1700">
                <a:solidFill>
                  <a:srgbClr val="222831"/>
                </a:solidFill>
                <a:latin typeface="Aptos"/>
              </a:defRPr>
            </a:pPr>
            <a:r>
              <a:t>WHEN remains relatively manageable because temporal expressions are often compact and distinctive</a:t>
            </a:r>
          </a:p>
          <a:p>
            <a:pPr>
              <a:spcAft>
                <a:spcPts val="700"/>
              </a:spcAft>
              <a:defRPr sz="1700">
                <a:solidFill>
                  <a:srgbClr val="222831"/>
                </a:solidFill>
                <a:latin typeface="Aptos"/>
              </a:defRPr>
            </a:pPr>
            <a:r>
              <a:t>WHY has the weakest exact match, indicating frequent partial-span or boundary mismatches</a:t>
            </a:r>
          </a:p>
          <a:p>
            <a:pPr>
              <a:spcAft>
                <a:spcPts val="700"/>
              </a:spcAft>
              <a:defRPr sz="1700">
                <a:solidFill>
                  <a:srgbClr val="222831"/>
                </a:solidFill>
                <a:latin typeface="Aptos"/>
              </a:defRPr>
            </a:pPr>
            <a:r>
              <a:t>The baseline is strongest on common semantic roles and weaker on the sparse long tail</a:t>
            </a:r>
          </a:p>
        </p:txBody>
      </p:sp>
      <p:pic>
        <p:nvPicPr>
          <p:cNvPr id="27" name="Picture 26" descr="qa_accuracy_by_qtype.png"/>
          <p:cNvPicPr>
            <a:picLocks noChangeAspect="1"/>
          </p:cNvPicPr>
          <p:nvPr/>
        </p:nvPicPr>
        <p:blipFill>
          <a:blip r:embed="rId3"/>
          <a:stretch>
            <a:fillRect/>
          </a:stretch>
        </p:blipFill>
        <p:spPr>
          <a:xfrm>
            <a:off x="5943600" y="2833117"/>
            <a:ext cx="5669280" cy="354329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Baseline SRL Results</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RESULTS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13</a:t>
            </a:r>
          </a:p>
        </p:txBody>
      </p:sp>
      <p:sp>
        <p:nvSpPr>
          <p:cNvPr id="9" name="Rounded Rectangle 8"/>
          <p:cNvSpPr/>
          <p:nvPr/>
        </p:nvSpPr>
        <p:spPr>
          <a:xfrm>
            <a:off x="731520" y="914400"/>
            <a:ext cx="210312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91440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1078992"/>
            <a:ext cx="1691639" cy="256032"/>
          </a:xfrm>
          <a:prstGeom prst="rect">
            <a:avLst/>
          </a:prstGeom>
          <a:noFill/>
        </p:spPr>
        <p:txBody>
          <a:bodyPr wrap="square" lIns="0" tIns="0" rIns="0" bIns="0">
            <a:spAutoFit/>
          </a:bodyPr>
          <a:lstStyle/>
          <a:p>
            <a:pPr algn="l">
              <a:defRPr sz="1100" b="1">
                <a:solidFill>
                  <a:srgbClr val="5E6C84"/>
                </a:solidFill>
                <a:latin typeface="Aptos"/>
              </a:defRPr>
            </a:pPr>
            <a:r>
              <a:t>SRL Micro F1</a:t>
            </a:r>
          </a:p>
        </p:txBody>
      </p:sp>
      <p:sp>
        <p:nvSpPr>
          <p:cNvPr id="12" name="TextBox 11"/>
          <p:cNvSpPr txBox="1"/>
          <p:nvPr/>
        </p:nvSpPr>
        <p:spPr>
          <a:xfrm>
            <a:off x="987552" y="1325880"/>
            <a:ext cx="1691639" cy="402336"/>
          </a:xfrm>
          <a:prstGeom prst="rect">
            <a:avLst/>
          </a:prstGeom>
          <a:noFill/>
        </p:spPr>
        <p:txBody>
          <a:bodyPr wrap="square" lIns="0" tIns="0" rIns="0" bIns="0">
            <a:spAutoFit/>
          </a:bodyPr>
          <a:lstStyle/>
          <a:p>
            <a:pPr algn="l">
              <a:defRPr sz="2100" b="1">
                <a:solidFill>
                  <a:srgbClr val="0D1B2A"/>
                </a:solidFill>
                <a:latin typeface="Aptos"/>
              </a:defRPr>
            </a:pPr>
            <a:r>
              <a:t>71.3%</a:t>
            </a:r>
          </a:p>
        </p:txBody>
      </p:sp>
      <p:sp>
        <p:nvSpPr>
          <p:cNvPr id="13" name="Rounded Rectangle 12"/>
          <p:cNvSpPr/>
          <p:nvPr/>
        </p:nvSpPr>
        <p:spPr>
          <a:xfrm>
            <a:off x="3063240" y="914400"/>
            <a:ext cx="210312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063240" y="91440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19272" y="1078992"/>
            <a:ext cx="1691639" cy="256032"/>
          </a:xfrm>
          <a:prstGeom prst="rect">
            <a:avLst/>
          </a:prstGeom>
          <a:noFill/>
        </p:spPr>
        <p:txBody>
          <a:bodyPr wrap="square" lIns="0" tIns="0" rIns="0" bIns="0">
            <a:spAutoFit/>
          </a:bodyPr>
          <a:lstStyle/>
          <a:p>
            <a:pPr algn="l">
              <a:defRPr sz="1100" b="1">
                <a:solidFill>
                  <a:srgbClr val="5E6C84"/>
                </a:solidFill>
                <a:latin typeface="Aptos"/>
              </a:defRPr>
            </a:pPr>
            <a:r>
              <a:t>SRL Macro F1</a:t>
            </a:r>
          </a:p>
        </p:txBody>
      </p:sp>
      <p:sp>
        <p:nvSpPr>
          <p:cNvPr id="16" name="TextBox 15"/>
          <p:cNvSpPr txBox="1"/>
          <p:nvPr/>
        </p:nvSpPr>
        <p:spPr>
          <a:xfrm>
            <a:off x="3319272" y="1325880"/>
            <a:ext cx="1691639" cy="402336"/>
          </a:xfrm>
          <a:prstGeom prst="rect">
            <a:avLst/>
          </a:prstGeom>
          <a:noFill/>
        </p:spPr>
        <p:txBody>
          <a:bodyPr wrap="square" lIns="0" tIns="0" rIns="0" bIns="0">
            <a:spAutoFit/>
          </a:bodyPr>
          <a:lstStyle/>
          <a:p>
            <a:pPr algn="l">
              <a:defRPr sz="2100" b="1">
                <a:solidFill>
                  <a:srgbClr val="0D1B2A"/>
                </a:solidFill>
                <a:latin typeface="Aptos"/>
              </a:defRPr>
            </a:pPr>
            <a:r>
              <a:t>16.2%</a:t>
            </a:r>
          </a:p>
        </p:txBody>
      </p:sp>
      <p:sp>
        <p:nvSpPr>
          <p:cNvPr id="17" name="Rounded Rectangle 16"/>
          <p:cNvSpPr/>
          <p:nvPr/>
        </p:nvSpPr>
        <p:spPr>
          <a:xfrm>
            <a:off x="5394960" y="914400"/>
            <a:ext cx="210312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394960" y="91440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50992" y="1078992"/>
            <a:ext cx="1691639" cy="256032"/>
          </a:xfrm>
          <a:prstGeom prst="rect">
            <a:avLst/>
          </a:prstGeom>
          <a:noFill/>
        </p:spPr>
        <p:txBody>
          <a:bodyPr wrap="square" lIns="0" tIns="0" rIns="0" bIns="0">
            <a:spAutoFit/>
          </a:bodyPr>
          <a:lstStyle/>
          <a:p>
            <a:pPr algn="l">
              <a:defRPr sz="1100" b="1">
                <a:solidFill>
                  <a:srgbClr val="5E6C84"/>
                </a:solidFill>
                <a:latin typeface="Aptos"/>
              </a:defRPr>
            </a:pPr>
            <a:r>
              <a:t>BIO Accuracy</a:t>
            </a:r>
          </a:p>
        </p:txBody>
      </p:sp>
      <p:sp>
        <p:nvSpPr>
          <p:cNvPr id="20" name="TextBox 19"/>
          <p:cNvSpPr txBox="1"/>
          <p:nvPr/>
        </p:nvSpPr>
        <p:spPr>
          <a:xfrm>
            <a:off x="5650992" y="1325880"/>
            <a:ext cx="1691639" cy="402336"/>
          </a:xfrm>
          <a:prstGeom prst="rect">
            <a:avLst/>
          </a:prstGeom>
          <a:noFill/>
        </p:spPr>
        <p:txBody>
          <a:bodyPr wrap="square" lIns="0" tIns="0" rIns="0" bIns="0">
            <a:spAutoFit/>
          </a:bodyPr>
          <a:lstStyle/>
          <a:p>
            <a:pPr algn="l">
              <a:defRPr sz="2100" b="1">
                <a:solidFill>
                  <a:srgbClr val="0D1B2A"/>
                </a:solidFill>
                <a:latin typeface="Aptos"/>
              </a:defRPr>
            </a:pPr>
            <a:r>
              <a:t>81.6%</a:t>
            </a:r>
          </a:p>
        </p:txBody>
      </p:sp>
      <p:sp>
        <p:nvSpPr>
          <p:cNvPr id="21" name="TextBox 20"/>
          <p:cNvSpPr txBox="1"/>
          <p:nvPr/>
        </p:nvSpPr>
        <p:spPr>
          <a:xfrm>
            <a:off x="731520" y="2148840"/>
            <a:ext cx="4663440" cy="3566160"/>
          </a:xfrm>
          <a:prstGeom prst="rect">
            <a:avLst/>
          </a:prstGeom>
          <a:noFill/>
        </p:spPr>
        <p:txBody>
          <a:bodyPr wrap="square">
            <a:spAutoFit/>
          </a:bodyPr>
          <a:lstStyle/>
          <a:p>
            <a:pPr>
              <a:spcAft>
                <a:spcPts val="700"/>
              </a:spcAft>
              <a:defRPr sz="1700">
                <a:solidFill>
                  <a:srgbClr val="222831"/>
                </a:solidFill>
                <a:latin typeface="Aptos"/>
              </a:defRPr>
            </a:pPr>
            <a:r>
              <a:t>ARG1 and ARG0 dominate performance because they are frequent and structurally stable</a:t>
            </a:r>
          </a:p>
          <a:p>
            <a:pPr>
              <a:spcAft>
                <a:spcPts val="700"/>
              </a:spcAft>
              <a:defRPr sz="1700">
                <a:solidFill>
                  <a:srgbClr val="222831"/>
                </a:solidFill>
                <a:latin typeface="Aptos"/>
              </a:defRPr>
            </a:pPr>
            <a:r>
              <a:t>Modifier roles like ARGM-MOD and ARGM-NEG score very highly when they appear</a:t>
            </a:r>
          </a:p>
          <a:p>
            <a:pPr>
              <a:spcAft>
                <a:spcPts val="700"/>
              </a:spcAft>
              <a:defRPr sz="1700">
                <a:solidFill>
                  <a:srgbClr val="222831"/>
                </a:solidFill>
                <a:latin typeface="Aptos"/>
              </a:defRPr>
            </a:pPr>
            <a:r>
              <a:t>Macro F1 remains low because many specialized labels have extremely small support</a:t>
            </a:r>
          </a:p>
          <a:p>
            <a:pPr>
              <a:spcAft>
                <a:spcPts val="700"/>
              </a:spcAft>
              <a:defRPr sz="1700">
                <a:solidFill>
                  <a:srgbClr val="222831"/>
                </a:solidFill>
                <a:latin typeface="Aptos"/>
              </a:defRPr>
            </a:pPr>
            <a:r>
              <a:t>This gap between micro and macro is a clear long-tail effect rather than a contradiction in the model</a:t>
            </a:r>
          </a:p>
        </p:txBody>
      </p:sp>
      <p:sp>
        <p:nvSpPr>
          <p:cNvPr id="22" name="Rectangle 21"/>
          <p:cNvSpPr/>
          <p:nvPr/>
        </p:nvSpPr>
        <p:spPr>
          <a:xfrm>
            <a:off x="5577840" y="1554480"/>
            <a:ext cx="5760720" cy="457200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f1_by_argtype.png"/>
          <p:cNvPicPr>
            <a:picLocks noChangeAspect="1"/>
          </p:cNvPicPr>
          <p:nvPr/>
        </p:nvPicPr>
        <p:blipFill>
          <a:blip r:embed="rId3"/>
          <a:stretch>
            <a:fillRect/>
          </a:stretch>
        </p:blipFill>
        <p:spPr>
          <a:xfrm>
            <a:off x="5577840" y="2400300"/>
            <a:ext cx="5760720" cy="28803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Per-Question and Per-Role Analysis</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14</a:t>
            </a:r>
          </a:p>
        </p:txBody>
      </p:sp>
      <p:graphicFrame>
        <p:nvGraphicFramePr>
          <p:cNvPr id="9" name="Table 8"/>
          <p:cNvGraphicFramePr>
            <a:graphicFrameLocks noGrp="1"/>
          </p:cNvGraphicFramePr>
          <p:nvPr/>
        </p:nvGraphicFramePr>
        <p:xfrm>
          <a:off x="685800" y="914400"/>
          <a:ext cx="4800600" cy="2971800"/>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424542">
                <a:tc>
                  <a:txBody>
                    <a:bodyPr/>
                    <a:lstStyle/>
                    <a:p>
                      <a:pPr algn="ctr">
                        <a:defRPr sz="1100" b="1">
                          <a:solidFill>
                            <a:srgbClr val="FFFFFF"/>
                          </a:solidFill>
                          <a:latin typeface="Aptos"/>
                        </a:defRPr>
                      </a:pPr>
                      <a:r>
                        <a:t>Question Type</a:t>
                      </a:r>
                    </a:p>
                  </a:txBody>
                  <a:tcPr anchor="ctr">
                    <a:solidFill>
                      <a:srgbClr val="0D1B2A"/>
                    </a:solidFill>
                  </a:tcPr>
                </a:tc>
                <a:tc>
                  <a:txBody>
                    <a:bodyPr/>
                    <a:lstStyle/>
                    <a:p>
                      <a:pPr algn="ctr">
                        <a:defRPr sz="1100" b="1">
                          <a:solidFill>
                            <a:srgbClr val="FFFFFF"/>
                          </a:solidFill>
                          <a:latin typeface="Aptos"/>
                        </a:defRPr>
                      </a:pPr>
                      <a:r>
                        <a:t>EM</a:t>
                      </a:r>
                    </a:p>
                  </a:txBody>
                  <a:tcPr anchor="ctr">
                    <a:solidFill>
                      <a:srgbClr val="0D1B2A"/>
                    </a:solidFill>
                  </a:tcPr>
                </a:tc>
                <a:tc>
                  <a:txBody>
                    <a:bodyPr/>
                    <a:lstStyle/>
                    <a:p>
                      <a:pPr algn="ctr">
                        <a:defRPr sz="1100" b="1">
                          <a:solidFill>
                            <a:srgbClr val="FFFFFF"/>
                          </a:solidFill>
                          <a:latin typeface="Aptos"/>
                        </a:defRPr>
                      </a:pPr>
                      <a:r>
                        <a:t>F1</a:t>
                      </a:r>
                    </a:p>
                  </a:txBody>
                  <a:tcPr anchor="ctr">
                    <a:solidFill>
                      <a:srgbClr val="0D1B2A"/>
                    </a:solidFill>
                  </a:tcPr>
                </a:tc>
                <a:tc>
                  <a:txBody>
                    <a:bodyPr/>
                    <a:lstStyle/>
                    <a:p>
                      <a:pPr algn="ctr">
                        <a:defRPr sz="1100" b="1">
                          <a:solidFill>
                            <a:srgbClr val="FFFFFF"/>
                          </a:solidFill>
                          <a:latin typeface="Aptos"/>
                        </a:defRPr>
                      </a:pPr>
                      <a:r>
                        <a:t>Count</a:t>
                      </a:r>
                    </a:p>
                  </a:txBody>
                  <a:tcPr anchor="ctr">
                    <a:solidFill>
                      <a:srgbClr val="0D1B2A"/>
                    </a:solidFill>
                  </a:tcPr>
                </a:tc>
                <a:extLst>
                  <a:ext uri="{0D108BD9-81ED-4DB2-BD59-A6C34878D82A}">
                    <a16:rowId xmlns:a16="http://schemas.microsoft.com/office/drawing/2014/main" val="10000"/>
                  </a:ext>
                </a:extLst>
              </a:tr>
              <a:tr h="424542">
                <a:tc>
                  <a:txBody>
                    <a:bodyPr/>
                    <a:lstStyle/>
                    <a:p>
                      <a:pPr algn="l">
                        <a:defRPr sz="1100" b="0">
                          <a:solidFill>
                            <a:srgbClr val="222831"/>
                          </a:solidFill>
                          <a:latin typeface="Aptos"/>
                        </a:defRPr>
                      </a:pPr>
                      <a:r>
                        <a:t>WHO</a:t>
                      </a:r>
                    </a:p>
                  </a:txBody>
                  <a:tcPr anchor="ctr">
                    <a:solidFill>
                      <a:srgbClr val="FFFFFF"/>
                    </a:solidFill>
                  </a:tcPr>
                </a:tc>
                <a:tc>
                  <a:txBody>
                    <a:bodyPr/>
                    <a:lstStyle/>
                    <a:p>
                      <a:pPr algn="l">
                        <a:defRPr sz="1100" b="0">
                          <a:solidFill>
                            <a:srgbClr val="222831"/>
                          </a:solidFill>
                          <a:latin typeface="Aptos"/>
                        </a:defRPr>
                      </a:pPr>
                      <a:r>
                        <a:t>61.8%</a:t>
                      </a:r>
                    </a:p>
                  </a:txBody>
                  <a:tcPr anchor="ctr">
                    <a:solidFill>
                      <a:srgbClr val="FFFFFF"/>
                    </a:solidFill>
                  </a:tcPr>
                </a:tc>
                <a:tc>
                  <a:txBody>
                    <a:bodyPr/>
                    <a:lstStyle/>
                    <a:p>
                      <a:pPr algn="l">
                        <a:defRPr sz="1100" b="0">
                          <a:solidFill>
                            <a:srgbClr val="222831"/>
                          </a:solidFill>
                          <a:latin typeface="Aptos"/>
                        </a:defRPr>
                      </a:pPr>
                      <a:r>
                        <a:t>77.9%</a:t>
                      </a:r>
                    </a:p>
                  </a:txBody>
                  <a:tcPr anchor="ctr">
                    <a:solidFill>
                      <a:srgbClr val="FFFFFF"/>
                    </a:solidFill>
                  </a:tcPr>
                </a:tc>
                <a:tc>
                  <a:txBody>
                    <a:bodyPr/>
                    <a:lstStyle/>
                    <a:p>
                      <a:pPr algn="l">
                        <a:defRPr sz="1100" b="0">
                          <a:solidFill>
                            <a:srgbClr val="222831"/>
                          </a:solidFill>
                          <a:latin typeface="Aptos"/>
                        </a:defRPr>
                      </a:pPr>
                      <a:r>
                        <a:t>867</a:t>
                      </a:r>
                    </a:p>
                  </a:txBody>
                  <a:tcPr anchor="ctr">
                    <a:solidFill>
                      <a:srgbClr val="FFFFFF"/>
                    </a:solidFill>
                  </a:tcPr>
                </a:tc>
                <a:extLst>
                  <a:ext uri="{0D108BD9-81ED-4DB2-BD59-A6C34878D82A}">
                    <a16:rowId xmlns:a16="http://schemas.microsoft.com/office/drawing/2014/main" val="10001"/>
                  </a:ext>
                </a:extLst>
              </a:tr>
              <a:tr h="424542">
                <a:tc>
                  <a:txBody>
                    <a:bodyPr/>
                    <a:lstStyle/>
                    <a:p>
                      <a:pPr algn="l">
                        <a:defRPr sz="1100" b="0">
                          <a:solidFill>
                            <a:srgbClr val="222831"/>
                          </a:solidFill>
                          <a:latin typeface="Aptos"/>
                        </a:defRPr>
                      </a:pPr>
                      <a:r>
                        <a:t>WHAT</a:t>
                      </a:r>
                    </a:p>
                  </a:txBody>
                  <a:tcPr anchor="ctr">
                    <a:solidFill>
                      <a:srgbClr val="FFFFFF"/>
                    </a:solidFill>
                  </a:tcPr>
                </a:tc>
                <a:tc>
                  <a:txBody>
                    <a:bodyPr/>
                    <a:lstStyle/>
                    <a:p>
                      <a:pPr algn="l">
                        <a:defRPr sz="1100" b="0">
                          <a:solidFill>
                            <a:srgbClr val="222831"/>
                          </a:solidFill>
                          <a:latin typeface="Aptos"/>
                        </a:defRPr>
                      </a:pPr>
                      <a:r>
                        <a:t>50.5%</a:t>
                      </a:r>
                    </a:p>
                  </a:txBody>
                  <a:tcPr anchor="ctr">
                    <a:solidFill>
                      <a:srgbClr val="FFFFFF"/>
                    </a:solidFill>
                  </a:tcPr>
                </a:tc>
                <a:tc>
                  <a:txBody>
                    <a:bodyPr/>
                    <a:lstStyle/>
                    <a:p>
                      <a:pPr algn="l">
                        <a:defRPr sz="1100" b="0">
                          <a:solidFill>
                            <a:srgbClr val="222831"/>
                          </a:solidFill>
                          <a:latin typeface="Aptos"/>
                        </a:defRPr>
                      </a:pPr>
                      <a:r>
                        <a:t>80.2%</a:t>
                      </a:r>
                    </a:p>
                  </a:txBody>
                  <a:tcPr anchor="ctr">
                    <a:solidFill>
                      <a:srgbClr val="FFFFFF"/>
                    </a:solidFill>
                  </a:tcPr>
                </a:tc>
                <a:tc>
                  <a:txBody>
                    <a:bodyPr/>
                    <a:lstStyle/>
                    <a:p>
                      <a:pPr algn="l">
                        <a:defRPr sz="1100" b="0">
                          <a:solidFill>
                            <a:srgbClr val="222831"/>
                          </a:solidFill>
                          <a:latin typeface="Aptos"/>
                        </a:defRPr>
                      </a:pPr>
                      <a:r>
                        <a:t>1937</a:t>
                      </a:r>
                    </a:p>
                  </a:txBody>
                  <a:tcPr anchor="ctr">
                    <a:solidFill>
                      <a:srgbClr val="FFFFFF"/>
                    </a:solidFill>
                  </a:tcPr>
                </a:tc>
                <a:extLst>
                  <a:ext uri="{0D108BD9-81ED-4DB2-BD59-A6C34878D82A}">
                    <a16:rowId xmlns:a16="http://schemas.microsoft.com/office/drawing/2014/main" val="10002"/>
                  </a:ext>
                </a:extLst>
              </a:tr>
              <a:tr h="424542">
                <a:tc>
                  <a:txBody>
                    <a:bodyPr/>
                    <a:lstStyle/>
                    <a:p>
                      <a:pPr algn="l">
                        <a:defRPr sz="1100" b="0">
                          <a:solidFill>
                            <a:srgbClr val="222831"/>
                          </a:solidFill>
                          <a:latin typeface="Aptos"/>
                        </a:defRPr>
                      </a:pPr>
                      <a:r>
                        <a:t>WHEN</a:t>
                      </a:r>
                    </a:p>
                  </a:txBody>
                  <a:tcPr anchor="ctr">
                    <a:solidFill>
                      <a:srgbClr val="FFFFFF"/>
                    </a:solidFill>
                  </a:tcPr>
                </a:tc>
                <a:tc>
                  <a:txBody>
                    <a:bodyPr/>
                    <a:lstStyle/>
                    <a:p>
                      <a:pPr algn="l">
                        <a:defRPr sz="1100" b="0">
                          <a:solidFill>
                            <a:srgbClr val="222831"/>
                          </a:solidFill>
                          <a:latin typeface="Aptos"/>
                        </a:defRPr>
                      </a:pPr>
                      <a:r>
                        <a:t>56.5%</a:t>
                      </a:r>
                    </a:p>
                  </a:txBody>
                  <a:tcPr anchor="ctr">
                    <a:solidFill>
                      <a:srgbClr val="FFFFFF"/>
                    </a:solidFill>
                  </a:tcPr>
                </a:tc>
                <a:tc>
                  <a:txBody>
                    <a:bodyPr/>
                    <a:lstStyle/>
                    <a:p>
                      <a:pPr algn="l">
                        <a:defRPr sz="1100" b="0">
                          <a:solidFill>
                            <a:srgbClr val="222831"/>
                          </a:solidFill>
                          <a:latin typeface="Aptos"/>
                        </a:defRPr>
                      </a:pPr>
                      <a:r>
                        <a:t>68.7%</a:t>
                      </a:r>
                    </a:p>
                  </a:txBody>
                  <a:tcPr anchor="ctr">
                    <a:solidFill>
                      <a:srgbClr val="FFFFFF"/>
                    </a:solidFill>
                  </a:tcPr>
                </a:tc>
                <a:tc>
                  <a:txBody>
                    <a:bodyPr/>
                    <a:lstStyle/>
                    <a:p>
                      <a:pPr algn="l">
                        <a:defRPr sz="1100" b="0">
                          <a:solidFill>
                            <a:srgbClr val="222831"/>
                          </a:solidFill>
                          <a:latin typeface="Aptos"/>
                        </a:defRPr>
                      </a:pPr>
                      <a:r>
                        <a:t>246</a:t>
                      </a:r>
                    </a:p>
                  </a:txBody>
                  <a:tcPr anchor="ctr">
                    <a:solidFill>
                      <a:srgbClr val="FFFFFF"/>
                    </a:solidFill>
                  </a:tcPr>
                </a:tc>
                <a:extLst>
                  <a:ext uri="{0D108BD9-81ED-4DB2-BD59-A6C34878D82A}">
                    <a16:rowId xmlns:a16="http://schemas.microsoft.com/office/drawing/2014/main" val="10003"/>
                  </a:ext>
                </a:extLst>
              </a:tr>
              <a:tr h="424542">
                <a:tc>
                  <a:txBody>
                    <a:bodyPr/>
                    <a:lstStyle/>
                    <a:p>
                      <a:pPr algn="l">
                        <a:defRPr sz="1100" b="0">
                          <a:solidFill>
                            <a:srgbClr val="222831"/>
                          </a:solidFill>
                          <a:latin typeface="Aptos"/>
                        </a:defRPr>
                      </a:pPr>
                      <a:r>
                        <a:t>WHERE</a:t>
                      </a:r>
                    </a:p>
                  </a:txBody>
                  <a:tcPr anchor="ctr">
                    <a:solidFill>
                      <a:srgbClr val="FFFFFF"/>
                    </a:solidFill>
                  </a:tcPr>
                </a:tc>
                <a:tc>
                  <a:txBody>
                    <a:bodyPr/>
                    <a:lstStyle/>
                    <a:p>
                      <a:pPr algn="l">
                        <a:defRPr sz="1100" b="0">
                          <a:solidFill>
                            <a:srgbClr val="222831"/>
                          </a:solidFill>
                          <a:latin typeface="Aptos"/>
                        </a:defRPr>
                      </a:pPr>
                      <a:r>
                        <a:t>38.2%</a:t>
                      </a:r>
                    </a:p>
                  </a:txBody>
                  <a:tcPr anchor="ctr">
                    <a:solidFill>
                      <a:srgbClr val="FFFFFF"/>
                    </a:solidFill>
                  </a:tcPr>
                </a:tc>
                <a:tc>
                  <a:txBody>
                    <a:bodyPr/>
                    <a:lstStyle/>
                    <a:p>
                      <a:pPr algn="l">
                        <a:defRPr sz="1100" b="0">
                          <a:solidFill>
                            <a:srgbClr val="222831"/>
                          </a:solidFill>
                          <a:latin typeface="Aptos"/>
                        </a:defRPr>
                      </a:pPr>
                      <a:r>
                        <a:t>61.9%</a:t>
                      </a:r>
                    </a:p>
                  </a:txBody>
                  <a:tcPr anchor="ctr">
                    <a:solidFill>
                      <a:srgbClr val="FFFFFF"/>
                    </a:solidFill>
                  </a:tcPr>
                </a:tc>
                <a:tc>
                  <a:txBody>
                    <a:bodyPr/>
                    <a:lstStyle/>
                    <a:p>
                      <a:pPr algn="l">
                        <a:defRPr sz="1100" b="0">
                          <a:solidFill>
                            <a:srgbClr val="222831"/>
                          </a:solidFill>
                          <a:latin typeface="Aptos"/>
                        </a:defRPr>
                      </a:pPr>
                      <a:r>
                        <a:t>110</a:t>
                      </a:r>
                    </a:p>
                  </a:txBody>
                  <a:tcPr anchor="ctr">
                    <a:solidFill>
                      <a:srgbClr val="FFFFFF"/>
                    </a:solidFill>
                  </a:tcPr>
                </a:tc>
                <a:extLst>
                  <a:ext uri="{0D108BD9-81ED-4DB2-BD59-A6C34878D82A}">
                    <a16:rowId xmlns:a16="http://schemas.microsoft.com/office/drawing/2014/main" val="10004"/>
                  </a:ext>
                </a:extLst>
              </a:tr>
              <a:tr h="424542">
                <a:tc>
                  <a:txBody>
                    <a:bodyPr/>
                    <a:lstStyle/>
                    <a:p>
                      <a:pPr algn="l">
                        <a:defRPr sz="1100" b="0">
                          <a:solidFill>
                            <a:srgbClr val="222831"/>
                          </a:solidFill>
                          <a:latin typeface="Aptos"/>
                        </a:defRPr>
                      </a:pPr>
                      <a:r>
                        <a:t>HOW</a:t>
                      </a:r>
                    </a:p>
                  </a:txBody>
                  <a:tcPr anchor="ctr">
                    <a:solidFill>
                      <a:srgbClr val="FFFFFF"/>
                    </a:solidFill>
                  </a:tcPr>
                </a:tc>
                <a:tc>
                  <a:txBody>
                    <a:bodyPr/>
                    <a:lstStyle/>
                    <a:p>
                      <a:pPr algn="l">
                        <a:defRPr sz="1100" b="0">
                          <a:solidFill>
                            <a:srgbClr val="222831"/>
                          </a:solidFill>
                          <a:latin typeface="Aptos"/>
                        </a:defRPr>
                      </a:pPr>
                      <a:r>
                        <a:t>35.9%</a:t>
                      </a:r>
                    </a:p>
                  </a:txBody>
                  <a:tcPr anchor="ctr">
                    <a:solidFill>
                      <a:srgbClr val="FFFFFF"/>
                    </a:solidFill>
                  </a:tcPr>
                </a:tc>
                <a:tc>
                  <a:txBody>
                    <a:bodyPr/>
                    <a:lstStyle/>
                    <a:p>
                      <a:pPr algn="l">
                        <a:defRPr sz="1100" b="0">
                          <a:solidFill>
                            <a:srgbClr val="222831"/>
                          </a:solidFill>
                          <a:latin typeface="Aptos"/>
                        </a:defRPr>
                      </a:pPr>
                      <a:r>
                        <a:t>53.0%</a:t>
                      </a:r>
                    </a:p>
                  </a:txBody>
                  <a:tcPr anchor="ctr">
                    <a:solidFill>
                      <a:srgbClr val="FFFFFF"/>
                    </a:solidFill>
                  </a:tcPr>
                </a:tc>
                <a:tc>
                  <a:txBody>
                    <a:bodyPr/>
                    <a:lstStyle/>
                    <a:p>
                      <a:pPr algn="l">
                        <a:defRPr sz="1100" b="0">
                          <a:solidFill>
                            <a:srgbClr val="222831"/>
                          </a:solidFill>
                          <a:latin typeface="Aptos"/>
                        </a:defRPr>
                      </a:pPr>
                      <a:r>
                        <a:t>234</a:t>
                      </a:r>
                    </a:p>
                  </a:txBody>
                  <a:tcPr anchor="ctr">
                    <a:solidFill>
                      <a:srgbClr val="FFFFFF"/>
                    </a:solidFill>
                  </a:tcPr>
                </a:tc>
                <a:extLst>
                  <a:ext uri="{0D108BD9-81ED-4DB2-BD59-A6C34878D82A}">
                    <a16:rowId xmlns:a16="http://schemas.microsoft.com/office/drawing/2014/main" val="10005"/>
                  </a:ext>
                </a:extLst>
              </a:tr>
              <a:tr h="424548">
                <a:tc>
                  <a:txBody>
                    <a:bodyPr/>
                    <a:lstStyle/>
                    <a:p>
                      <a:pPr algn="l">
                        <a:defRPr sz="1100" b="0">
                          <a:solidFill>
                            <a:srgbClr val="222831"/>
                          </a:solidFill>
                          <a:latin typeface="Aptos"/>
                        </a:defRPr>
                      </a:pPr>
                      <a:r>
                        <a:t>WHY</a:t>
                      </a:r>
                    </a:p>
                  </a:txBody>
                  <a:tcPr anchor="ctr">
                    <a:solidFill>
                      <a:srgbClr val="FFFFFF"/>
                    </a:solidFill>
                  </a:tcPr>
                </a:tc>
                <a:tc>
                  <a:txBody>
                    <a:bodyPr/>
                    <a:lstStyle/>
                    <a:p>
                      <a:pPr algn="l">
                        <a:defRPr sz="1100" b="0">
                          <a:solidFill>
                            <a:srgbClr val="222831"/>
                          </a:solidFill>
                          <a:latin typeface="Aptos"/>
                        </a:defRPr>
                      </a:pPr>
                      <a:r>
                        <a:t>17.5%</a:t>
                      </a:r>
                    </a:p>
                  </a:txBody>
                  <a:tcPr anchor="ctr">
                    <a:solidFill>
                      <a:srgbClr val="FFFFFF"/>
                    </a:solidFill>
                  </a:tcPr>
                </a:tc>
                <a:tc>
                  <a:txBody>
                    <a:bodyPr/>
                    <a:lstStyle/>
                    <a:p>
                      <a:pPr algn="l">
                        <a:defRPr sz="1100" b="0">
                          <a:solidFill>
                            <a:srgbClr val="222831"/>
                          </a:solidFill>
                          <a:latin typeface="Aptos"/>
                        </a:defRPr>
                      </a:pPr>
                      <a:r>
                        <a:t>63.4%</a:t>
                      </a:r>
                    </a:p>
                  </a:txBody>
                  <a:tcPr anchor="ctr">
                    <a:solidFill>
                      <a:srgbClr val="FFFFFF"/>
                    </a:solidFill>
                  </a:tcPr>
                </a:tc>
                <a:tc>
                  <a:txBody>
                    <a:bodyPr/>
                    <a:lstStyle/>
                    <a:p>
                      <a:pPr algn="l">
                        <a:defRPr sz="1100" b="0">
                          <a:solidFill>
                            <a:srgbClr val="222831"/>
                          </a:solidFill>
                          <a:latin typeface="Aptos"/>
                        </a:defRPr>
                      </a:pPr>
                      <a:r>
                        <a:t>57</a:t>
                      </a:r>
                    </a:p>
                  </a:txBody>
                  <a:tcPr anchor="ctr">
                    <a:solidFill>
                      <a:srgbClr val="FFFFFF"/>
                    </a:solidFill>
                  </a:tcPr>
                </a:tc>
                <a:extLst>
                  <a:ext uri="{0D108BD9-81ED-4DB2-BD59-A6C34878D82A}">
                    <a16:rowId xmlns:a16="http://schemas.microsoft.com/office/drawing/2014/main" val="10006"/>
                  </a:ext>
                </a:extLst>
              </a:tr>
            </a:tbl>
          </a:graphicData>
        </a:graphic>
      </p:graphicFrame>
      <p:graphicFrame>
        <p:nvGraphicFramePr>
          <p:cNvPr id="10" name="Table 9"/>
          <p:cNvGraphicFramePr>
            <a:graphicFrameLocks noGrp="1"/>
          </p:cNvGraphicFramePr>
          <p:nvPr/>
        </p:nvGraphicFramePr>
        <p:xfrm>
          <a:off x="685800" y="4160520"/>
          <a:ext cx="4800600" cy="18288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261257">
                <a:tc>
                  <a:txBody>
                    <a:bodyPr/>
                    <a:lstStyle/>
                    <a:p>
                      <a:pPr algn="ctr">
                        <a:defRPr sz="1100" b="1">
                          <a:solidFill>
                            <a:srgbClr val="FFFFFF"/>
                          </a:solidFill>
                          <a:latin typeface="Aptos"/>
                        </a:defRPr>
                      </a:pPr>
                      <a:r>
                        <a:t>Role</a:t>
                      </a:r>
                    </a:p>
                  </a:txBody>
                  <a:tcPr anchor="ctr">
                    <a:solidFill>
                      <a:srgbClr val="0D1B2A"/>
                    </a:solidFill>
                  </a:tcPr>
                </a:tc>
                <a:tc>
                  <a:txBody>
                    <a:bodyPr/>
                    <a:lstStyle/>
                    <a:p>
                      <a:pPr algn="ctr">
                        <a:defRPr sz="1100" b="1">
                          <a:solidFill>
                            <a:srgbClr val="FFFFFF"/>
                          </a:solidFill>
                          <a:latin typeface="Aptos"/>
                        </a:defRPr>
                      </a:pPr>
                      <a:r>
                        <a:t>F1</a:t>
                      </a:r>
                    </a:p>
                  </a:txBody>
                  <a:tcPr anchor="ctr">
                    <a:solidFill>
                      <a:srgbClr val="0D1B2A"/>
                    </a:solidFill>
                  </a:tcPr>
                </a:tc>
                <a:tc>
                  <a:txBody>
                    <a:bodyPr/>
                    <a:lstStyle/>
                    <a:p>
                      <a:pPr algn="ctr">
                        <a:defRPr sz="1100" b="1">
                          <a:solidFill>
                            <a:srgbClr val="FFFFFF"/>
                          </a:solidFill>
                          <a:latin typeface="Aptos"/>
                        </a:defRPr>
                      </a:pPr>
                      <a:r>
                        <a:t>Support</a:t>
                      </a:r>
                    </a:p>
                  </a:txBody>
                  <a:tcPr anchor="ctr">
                    <a:solidFill>
                      <a:srgbClr val="0D1B2A"/>
                    </a:solidFill>
                  </a:tcPr>
                </a:tc>
                <a:extLst>
                  <a:ext uri="{0D108BD9-81ED-4DB2-BD59-A6C34878D82A}">
                    <a16:rowId xmlns:a16="http://schemas.microsoft.com/office/drawing/2014/main" val="10000"/>
                  </a:ext>
                </a:extLst>
              </a:tr>
              <a:tr h="261257">
                <a:tc>
                  <a:txBody>
                    <a:bodyPr/>
                    <a:lstStyle/>
                    <a:p>
                      <a:pPr algn="l">
                        <a:defRPr sz="1100" b="0">
                          <a:solidFill>
                            <a:srgbClr val="222831"/>
                          </a:solidFill>
                          <a:latin typeface="Aptos"/>
                        </a:defRPr>
                      </a:pPr>
                      <a:r>
                        <a:t>ARG1</a:t>
                      </a:r>
                    </a:p>
                  </a:txBody>
                  <a:tcPr anchor="ctr">
                    <a:solidFill>
                      <a:srgbClr val="FFFFFF"/>
                    </a:solidFill>
                  </a:tcPr>
                </a:tc>
                <a:tc>
                  <a:txBody>
                    <a:bodyPr/>
                    <a:lstStyle/>
                    <a:p>
                      <a:pPr algn="l">
                        <a:defRPr sz="1100" b="0">
                          <a:solidFill>
                            <a:srgbClr val="222831"/>
                          </a:solidFill>
                          <a:latin typeface="Aptos"/>
                        </a:defRPr>
                      </a:pPr>
                      <a:r>
                        <a:t>85.2%</a:t>
                      </a:r>
                    </a:p>
                  </a:txBody>
                  <a:tcPr anchor="ctr">
                    <a:solidFill>
                      <a:srgbClr val="FFFFFF"/>
                    </a:solidFill>
                  </a:tcPr>
                </a:tc>
                <a:tc>
                  <a:txBody>
                    <a:bodyPr/>
                    <a:lstStyle/>
                    <a:p>
                      <a:pPr algn="l">
                        <a:defRPr sz="1100" b="0">
                          <a:solidFill>
                            <a:srgbClr val="222831"/>
                          </a:solidFill>
                          <a:latin typeface="Aptos"/>
                        </a:defRPr>
                      </a:pPr>
                      <a:r>
                        <a:t>22246</a:t>
                      </a:r>
                    </a:p>
                  </a:txBody>
                  <a:tcPr anchor="ctr">
                    <a:solidFill>
                      <a:srgbClr val="FFFFFF"/>
                    </a:solidFill>
                  </a:tcPr>
                </a:tc>
                <a:extLst>
                  <a:ext uri="{0D108BD9-81ED-4DB2-BD59-A6C34878D82A}">
                    <a16:rowId xmlns:a16="http://schemas.microsoft.com/office/drawing/2014/main" val="10001"/>
                  </a:ext>
                </a:extLst>
              </a:tr>
              <a:tr h="261257">
                <a:tc>
                  <a:txBody>
                    <a:bodyPr/>
                    <a:lstStyle/>
                    <a:p>
                      <a:pPr algn="l">
                        <a:defRPr sz="1100" b="0">
                          <a:solidFill>
                            <a:srgbClr val="222831"/>
                          </a:solidFill>
                          <a:latin typeface="Aptos"/>
                        </a:defRPr>
                      </a:pPr>
                      <a:r>
                        <a:t>ARG0</a:t>
                      </a:r>
                    </a:p>
                  </a:txBody>
                  <a:tcPr anchor="ctr">
                    <a:solidFill>
                      <a:srgbClr val="FFFFFF"/>
                    </a:solidFill>
                  </a:tcPr>
                </a:tc>
                <a:tc>
                  <a:txBody>
                    <a:bodyPr/>
                    <a:lstStyle/>
                    <a:p>
                      <a:pPr algn="l">
                        <a:defRPr sz="1100" b="0">
                          <a:solidFill>
                            <a:srgbClr val="222831"/>
                          </a:solidFill>
                          <a:latin typeface="Aptos"/>
                        </a:defRPr>
                      </a:pPr>
                      <a:r>
                        <a:t>77.9%</a:t>
                      </a:r>
                    </a:p>
                  </a:txBody>
                  <a:tcPr anchor="ctr">
                    <a:solidFill>
                      <a:srgbClr val="FFFFFF"/>
                    </a:solidFill>
                  </a:tcPr>
                </a:tc>
                <a:tc>
                  <a:txBody>
                    <a:bodyPr/>
                    <a:lstStyle/>
                    <a:p>
                      <a:pPr algn="l">
                        <a:defRPr sz="1100" b="0">
                          <a:solidFill>
                            <a:srgbClr val="222831"/>
                          </a:solidFill>
                          <a:latin typeface="Aptos"/>
                        </a:defRPr>
                      </a:pPr>
                      <a:r>
                        <a:t>7546</a:t>
                      </a:r>
                    </a:p>
                  </a:txBody>
                  <a:tcPr anchor="ctr">
                    <a:solidFill>
                      <a:srgbClr val="FFFFFF"/>
                    </a:solidFill>
                  </a:tcPr>
                </a:tc>
                <a:extLst>
                  <a:ext uri="{0D108BD9-81ED-4DB2-BD59-A6C34878D82A}">
                    <a16:rowId xmlns:a16="http://schemas.microsoft.com/office/drawing/2014/main" val="10002"/>
                  </a:ext>
                </a:extLst>
              </a:tr>
              <a:tr h="261257">
                <a:tc>
                  <a:txBody>
                    <a:bodyPr/>
                    <a:lstStyle/>
                    <a:p>
                      <a:pPr algn="l">
                        <a:defRPr sz="1100" b="0">
                          <a:solidFill>
                            <a:srgbClr val="222831"/>
                          </a:solidFill>
                          <a:latin typeface="Aptos"/>
                        </a:defRPr>
                      </a:pPr>
                      <a:r>
                        <a:t>ARGM-CAU</a:t>
                      </a:r>
                    </a:p>
                  </a:txBody>
                  <a:tcPr anchor="ctr">
                    <a:solidFill>
                      <a:srgbClr val="FFFFFF"/>
                    </a:solidFill>
                  </a:tcPr>
                </a:tc>
                <a:tc>
                  <a:txBody>
                    <a:bodyPr/>
                    <a:lstStyle/>
                    <a:p>
                      <a:pPr algn="l">
                        <a:defRPr sz="1100" b="0">
                          <a:solidFill>
                            <a:srgbClr val="222831"/>
                          </a:solidFill>
                          <a:latin typeface="Aptos"/>
                        </a:defRPr>
                      </a:pPr>
                      <a:r>
                        <a:t>70.6%</a:t>
                      </a:r>
                    </a:p>
                  </a:txBody>
                  <a:tcPr anchor="ctr">
                    <a:solidFill>
                      <a:srgbClr val="FFFFFF"/>
                    </a:solidFill>
                  </a:tcPr>
                </a:tc>
                <a:tc>
                  <a:txBody>
                    <a:bodyPr/>
                    <a:lstStyle/>
                    <a:p>
                      <a:pPr algn="l">
                        <a:defRPr sz="1100" b="0">
                          <a:solidFill>
                            <a:srgbClr val="222831"/>
                          </a:solidFill>
                          <a:latin typeface="Aptos"/>
                        </a:defRPr>
                      </a:pPr>
                      <a:r>
                        <a:t>933</a:t>
                      </a:r>
                    </a:p>
                  </a:txBody>
                  <a:tcPr anchor="ctr">
                    <a:solidFill>
                      <a:srgbClr val="FFFFFF"/>
                    </a:solidFill>
                  </a:tcPr>
                </a:tc>
                <a:extLst>
                  <a:ext uri="{0D108BD9-81ED-4DB2-BD59-A6C34878D82A}">
                    <a16:rowId xmlns:a16="http://schemas.microsoft.com/office/drawing/2014/main" val="10003"/>
                  </a:ext>
                </a:extLst>
              </a:tr>
              <a:tr h="261257">
                <a:tc>
                  <a:txBody>
                    <a:bodyPr/>
                    <a:lstStyle/>
                    <a:p>
                      <a:pPr algn="l">
                        <a:defRPr sz="1100" b="0">
                          <a:solidFill>
                            <a:srgbClr val="222831"/>
                          </a:solidFill>
                          <a:latin typeface="Aptos"/>
                        </a:defRPr>
                      </a:pPr>
                      <a:r>
                        <a:t>ARGM-TMP</a:t>
                      </a:r>
                    </a:p>
                  </a:txBody>
                  <a:tcPr anchor="ctr">
                    <a:solidFill>
                      <a:srgbClr val="FFFFFF"/>
                    </a:solidFill>
                  </a:tcPr>
                </a:tc>
                <a:tc>
                  <a:txBody>
                    <a:bodyPr/>
                    <a:lstStyle/>
                    <a:p>
                      <a:pPr algn="l">
                        <a:defRPr sz="1100" b="0">
                          <a:solidFill>
                            <a:srgbClr val="222831"/>
                          </a:solidFill>
                          <a:latin typeface="Aptos"/>
                        </a:defRPr>
                      </a:pPr>
                      <a:r>
                        <a:t>58.8%</a:t>
                      </a:r>
                    </a:p>
                  </a:txBody>
                  <a:tcPr anchor="ctr">
                    <a:solidFill>
                      <a:srgbClr val="FFFFFF"/>
                    </a:solidFill>
                  </a:tcPr>
                </a:tc>
                <a:tc>
                  <a:txBody>
                    <a:bodyPr/>
                    <a:lstStyle/>
                    <a:p>
                      <a:pPr algn="l">
                        <a:defRPr sz="1100" b="0">
                          <a:solidFill>
                            <a:srgbClr val="222831"/>
                          </a:solidFill>
                          <a:latin typeface="Aptos"/>
                        </a:defRPr>
                      </a:pPr>
                      <a:r>
                        <a:t>3006</a:t>
                      </a:r>
                    </a:p>
                  </a:txBody>
                  <a:tcPr anchor="ctr">
                    <a:solidFill>
                      <a:srgbClr val="FFFFFF"/>
                    </a:solidFill>
                  </a:tcPr>
                </a:tc>
                <a:extLst>
                  <a:ext uri="{0D108BD9-81ED-4DB2-BD59-A6C34878D82A}">
                    <a16:rowId xmlns:a16="http://schemas.microsoft.com/office/drawing/2014/main" val="10004"/>
                  </a:ext>
                </a:extLst>
              </a:tr>
              <a:tr h="261257">
                <a:tc>
                  <a:txBody>
                    <a:bodyPr/>
                    <a:lstStyle/>
                    <a:p>
                      <a:pPr algn="l">
                        <a:defRPr sz="1100" b="0">
                          <a:solidFill>
                            <a:srgbClr val="222831"/>
                          </a:solidFill>
                          <a:latin typeface="Aptos"/>
                        </a:defRPr>
                      </a:pPr>
                      <a:r>
                        <a:t>ARGM-LOC</a:t>
                      </a:r>
                    </a:p>
                  </a:txBody>
                  <a:tcPr anchor="ctr">
                    <a:solidFill>
                      <a:srgbClr val="FFFFFF"/>
                    </a:solidFill>
                  </a:tcPr>
                </a:tc>
                <a:tc>
                  <a:txBody>
                    <a:bodyPr/>
                    <a:lstStyle/>
                    <a:p>
                      <a:pPr algn="l">
                        <a:defRPr sz="1100" b="0">
                          <a:solidFill>
                            <a:srgbClr val="222831"/>
                          </a:solidFill>
                          <a:latin typeface="Aptos"/>
                        </a:defRPr>
                      </a:pPr>
                      <a:r>
                        <a:t>52.2%</a:t>
                      </a:r>
                    </a:p>
                  </a:txBody>
                  <a:tcPr anchor="ctr">
                    <a:solidFill>
                      <a:srgbClr val="FFFFFF"/>
                    </a:solidFill>
                  </a:tcPr>
                </a:tc>
                <a:tc>
                  <a:txBody>
                    <a:bodyPr/>
                    <a:lstStyle/>
                    <a:p>
                      <a:pPr algn="l">
                        <a:defRPr sz="1100" b="0">
                          <a:solidFill>
                            <a:srgbClr val="222831"/>
                          </a:solidFill>
                          <a:latin typeface="Aptos"/>
                        </a:defRPr>
                      </a:pPr>
                      <a:r>
                        <a:t>1576</a:t>
                      </a:r>
                    </a:p>
                  </a:txBody>
                  <a:tcPr anchor="ctr">
                    <a:solidFill>
                      <a:srgbClr val="FFFFFF"/>
                    </a:solidFill>
                  </a:tcPr>
                </a:tc>
                <a:extLst>
                  <a:ext uri="{0D108BD9-81ED-4DB2-BD59-A6C34878D82A}">
                    <a16:rowId xmlns:a16="http://schemas.microsoft.com/office/drawing/2014/main" val="10005"/>
                  </a:ext>
                </a:extLst>
              </a:tr>
              <a:tr h="261258">
                <a:tc>
                  <a:txBody>
                    <a:bodyPr/>
                    <a:lstStyle/>
                    <a:p>
                      <a:pPr algn="l">
                        <a:defRPr sz="1100" b="0">
                          <a:solidFill>
                            <a:srgbClr val="222831"/>
                          </a:solidFill>
                          <a:latin typeface="Aptos"/>
                        </a:defRPr>
                      </a:pPr>
                      <a:r>
                        <a:t>ARGM-MNR</a:t>
                      </a:r>
                    </a:p>
                  </a:txBody>
                  <a:tcPr anchor="ctr">
                    <a:solidFill>
                      <a:srgbClr val="FFFFFF"/>
                    </a:solidFill>
                  </a:tcPr>
                </a:tc>
                <a:tc>
                  <a:txBody>
                    <a:bodyPr/>
                    <a:lstStyle/>
                    <a:p>
                      <a:pPr algn="l">
                        <a:defRPr sz="1100" b="0">
                          <a:solidFill>
                            <a:srgbClr val="222831"/>
                          </a:solidFill>
                          <a:latin typeface="Aptos"/>
                        </a:defRPr>
                      </a:pPr>
                      <a:r>
                        <a:t>30.2%</a:t>
                      </a:r>
                    </a:p>
                  </a:txBody>
                  <a:tcPr anchor="ctr">
                    <a:solidFill>
                      <a:srgbClr val="FFFFFF"/>
                    </a:solidFill>
                  </a:tcPr>
                </a:tc>
                <a:tc>
                  <a:txBody>
                    <a:bodyPr/>
                    <a:lstStyle/>
                    <a:p>
                      <a:pPr algn="l">
                        <a:defRPr sz="1100" b="0">
                          <a:solidFill>
                            <a:srgbClr val="222831"/>
                          </a:solidFill>
                          <a:latin typeface="Aptos"/>
                        </a:defRPr>
                      </a:pPr>
                      <a:r>
                        <a:t>1269</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11" name="TextBox 10"/>
          <p:cNvSpPr txBox="1"/>
          <p:nvPr/>
        </p:nvSpPr>
        <p:spPr>
          <a:xfrm>
            <a:off x="5669280" y="1005840"/>
            <a:ext cx="5486400" cy="1828800"/>
          </a:xfrm>
          <a:prstGeom prst="rect">
            <a:avLst/>
          </a:prstGeom>
          <a:noFill/>
        </p:spPr>
        <p:txBody>
          <a:bodyPr wrap="square">
            <a:spAutoFit/>
          </a:bodyPr>
          <a:lstStyle/>
          <a:p>
            <a:pPr>
              <a:spcAft>
                <a:spcPts val="700"/>
              </a:spcAft>
              <a:defRPr sz="1800">
                <a:solidFill>
                  <a:srgbClr val="222831"/>
                </a:solidFill>
                <a:latin typeface="Aptos"/>
              </a:defRPr>
            </a:pPr>
            <a:r>
              <a:t>The baseline is semantically useful, but not uniformly strong across every role or question type</a:t>
            </a:r>
          </a:p>
          <a:p>
            <a:pPr>
              <a:spcAft>
                <a:spcPts val="700"/>
              </a:spcAft>
              <a:defRPr sz="1800">
                <a:solidFill>
                  <a:srgbClr val="222831"/>
                </a:solidFill>
                <a:latin typeface="Aptos"/>
              </a:defRPr>
            </a:pPr>
            <a:r>
              <a:t>WHY and some modifier-heavy categories are the clearest opportunities for targeted improvements</a:t>
            </a:r>
          </a:p>
          <a:p>
            <a:pPr>
              <a:spcAft>
                <a:spcPts val="700"/>
              </a:spcAft>
              <a:defRPr sz="1800">
                <a:solidFill>
                  <a:srgbClr val="222831"/>
                </a:solidFill>
                <a:latin typeface="Aptos"/>
              </a:defRPr>
            </a:pPr>
            <a:r>
              <a:t>This analysis directly motivates the hybrid role-aware benchmark extension</a:t>
            </a:r>
          </a:p>
        </p:txBody>
      </p:sp>
      <p:sp>
        <p:nvSpPr>
          <p:cNvPr id="12" name="Rectangle 11"/>
          <p:cNvSpPr/>
          <p:nvPr/>
        </p:nvSpPr>
        <p:spPr>
          <a:xfrm>
            <a:off x="5623560" y="2743200"/>
            <a:ext cx="5623560" cy="329184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question_type_heatmap.png"/>
          <p:cNvPicPr>
            <a:picLocks noChangeAspect="1"/>
          </p:cNvPicPr>
          <p:nvPr/>
        </p:nvPicPr>
        <p:blipFill>
          <a:blip r:embed="rId3"/>
          <a:stretch>
            <a:fillRect/>
          </a:stretch>
        </p:blipFill>
        <p:spPr>
          <a:xfrm>
            <a:off x="5623560" y="3264408"/>
            <a:ext cx="5623560" cy="224942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Confusion Structure</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15</a:t>
            </a:r>
          </a:p>
        </p:txBody>
      </p:sp>
      <p:sp>
        <p:nvSpPr>
          <p:cNvPr id="9" name="TextBox 8"/>
          <p:cNvSpPr txBox="1"/>
          <p:nvPr/>
        </p:nvSpPr>
        <p:spPr>
          <a:xfrm>
            <a:off x="685800" y="914400"/>
            <a:ext cx="4389120" cy="3291840"/>
          </a:xfrm>
          <a:prstGeom prst="rect">
            <a:avLst/>
          </a:prstGeom>
          <a:noFill/>
        </p:spPr>
        <p:txBody>
          <a:bodyPr wrap="square">
            <a:spAutoFit/>
          </a:bodyPr>
          <a:lstStyle/>
          <a:p>
            <a:pPr>
              <a:spcAft>
                <a:spcPts val="700"/>
              </a:spcAft>
              <a:defRPr sz="1700">
                <a:solidFill>
                  <a:srgbClr val="222831"/>
                </a:solidFill>
                <a:latin typeface="Aptos"/>
              </a:defRPr>
            </a:pPr>
            <a:r>
              <a:t>Frequent roles dominate the prediction landscape, which is expected in PropBank-style corpora</a:t>
            </a:r>
          </a:p>
          <a:p>
            <a:pPr>
              <a:spcAft>
                <a:spcPts val="700"/>
              </a:spcAft>
              <a:defRPr sz="1700">
                <a:solidFill>
                  <a:srgbClr val="222831"/>
                </a:solidFill>
                <a:latin typeface="Aptos"/>
              </a:defRPr>
            </a:pPr>
            <a:r>
              <a:t>Confusions often occur when a plausible span fits the sentence but not the intended semantic role</a:t>
            </a:r>
          </a:p>
          <a:p>
            <a:pPr>
              <a:spcAft>
                <a:spcPts val="700"/>
              </a:spcAft>
              <a:defRPr sz="1700">
                <a:solidFill>
                  <a:srgbClr val="222831"/>
                </a:solidFill>
                <a:latin typeface="Aptos"/>
              </a:defRPr>
            </a:pPr>
            <a:r>
              <a:t>Object-like, location-like, and recipient-like spans are especially important for later reranking</a:t>
            </a:r>
          </a:p>
          <a:p>
            <a:pPr>
              <a:spcAft>
                <a:spcPts val="700"/>
              </a:spcAft>
              <a:defRPr sz="1700">
                <a:solidFill>
                  <a:srgbClr val="222831"/>
                </a:solidFill>
                <a:latin typeface="Aptos"/>
              </a:defRPr>
            </a:pPr>
            <a:r>
              <a:t>This plot motivates explicit role-match features rather than relying on boundary confidence alone</a:t>
            </a:r>
          </a:p>
        </p:txBody>
      </p:sp>
      <p:sp>
        <p:nvSpPr>
          <p:cNvPr id="10" name="Rectangle 9"/>
          <p:cNvSpPr/>
          <p:nvPr/>
        </p:nvSpPr>
        <p:spPr>
          <a:xfrm>
            <a:off x="5074920" y="868680"/>
            <a:ext cx="6400800" cy="539496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confusion_matrix.png"/>
          <p:cNvPicPr>
            <a:picLocks noChangeAspect="1"/>
          </p:cNvPicPr>
          <p:nvPr/>
        </p:nvPicPr>
        <p:blipFill>
          <a:blip r:embed="rId3"/>
          <a:stretch>
            <a:fillRect/>
          </a:stretch>
        </p:blipFill>
        <p:spPr>
          <a:xfrm>
            <a:off x="5192485" y="868680"/>
            <a:ext cx="6165668" cy="539496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Challenge Benchmark Results</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RESULTS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18</a:t>
            </a:r>
          </a:p>
        </p:txBody>
      </p:sp>
      <p:graphicFrame>
        <p:nvGraphicFramePr>
          <p:cNvPr id="9" name="Table 8"/>
          <p:cNvGraphicFramePr>
            <a:graphicFrameLocks noGrp="1"/>
          </p:cNvGraphicFramePr>
          <p:nvPr/>
        </p:nvGraphicFramePr>
        <p:xfrm>
          <a:off x="685800" y="960120"/>
          <a:ext cx="4663440" cy="2148840"/>
        </p:xfrm>
        <a:graphic>
          <a:graphicData uri="http://schemas.openxmlformats.org/drawingml/2006/table">
            <a:tbl>
              <a:tblPr firstRow="1" bandRow="1">
                <a:tableStyleId>{5C22544A-7EE6-4342-B048-85BDC9FD1C3A}</a:tableStyleId>
              </a:tblPr>
              <a:tblGrid>
                <a:gridCol w="932688">
                  <a:extLst>
                    <a:ext uri="{9D8B030D-6E8A-4147-A177-3AD203B41FA5}">
                      <a16:colId xmlns:a16="http://schemas.microsoft.com/office/drawing/2014/main" val="20000"/>
                    </a:ext>
                  </a:extLst>
                </a:gridCol>
                <a:gridCol w="932688">
                  <a:extLst>
                    <a:ext uri="{9D8B030D-6E8A-4147-A177-3AD203B41FA5}">
                      <a16:colId xmlns:a16="http://schemas.microsoft.com/office/drawing/2014/main" val="20001"/>
                    </a:ext>
                  </a:extLst>
                </a:gridCol>
                <a:gridCol w="932688">
                  <a:extLst>
                    <a:ext uri="{9D8B030D-6E8A-4147-A177-3AD203B41FA5}">
                      <a16:colId xmlns:a16="http://schemas.microsoft.com/office/drawing/2014/main" val="20002"/>
                    </a:ext>
                  </a:extLst>
                </a:gridCol>
                <a:gridCol w="932688">
                  <a:extLst>
                    <a:ext uri="{9D8B030D-6E8A-4147-A177-3AD203B41FA5}">
                      <a16:colId xmlns:a16="http://schemas.microsoft.com/office/drawing/2014/main" val="20003"/>
                    </a:ext>
                  </a:extLst>
                </a:gridCol>
                <a:gridCol w="932688">
                  <a:extLst>
                    <a:ext uri="{9D8B030D-6E8A-4147-A177-3AD203B41FA5}">
                      <a16:colId xmlns:a16="http://schemas.microsoft.com/office/drawing/2014/main" val="20004"/>
                    </a:ext>
                  </a:extLst>
                </a:gridCol>
              </a:tblGrid>
              <a:tr h="429768">
                <a:tc>
                  <a:txBody>
                    <a:bodyPr/>
                    <a:lstStyle/>
                    <a:p>
                      <a:pPr algn="ctr">
                        <a:defRPr sz="1100" b="1">
                          <a:solidFill>
                            <a:srgbClr val="FFFFFF"/>
                          </a:solidFill>
                          <a:latin typeface="Aptos"/>
                        </a:defRPr>
                      </a:pPr>
                      <a:r>
                        <a:t>Track</a:t>
                      </a:r>
                    </a:p>
                  </a:txBody>
                  <a:tcPr anchor="ctr">
                    <a:solidFill>
                      <a:srgbClr val="0D1B2A"/>
                    </a:solidFill>
                  </a:tcPr>
                </a:tc>
                <a:tc>
                  <a:txBody>
                    <a:bodyPr/>
                    <a:lstStyle/>
                    <a:p>
                      <a:pPr algn="ctr">
                        <a:defRPr sz="1100" b="1">
                          <a:solidFill>
                            <a:srgbClr val="FFFFFF"/>
                          </a:solidFill>
                          <a:latin typeface="Aptos"/>
                        </a:defRPr>
                      </a:pPr>
                      <a:r>
                        <a:t>EM</a:t>
                      </a:r>
                    </a:p>
                  </a:txBody>
                  <a:tcPr anchor="ctr">
                    <a:solidFill>
                      <a:srgbClr val="0D1B2A"/>
                    </a:solidFill>
                  </a:tcPr>
                </a:tc>
                <a:tc>
                  <a:txBody>
                    <a:bodyPr/>
                    <a:lstStyle/>
                    <a:p>
                      <a:pPr algn="ctr">
                        <a:defRPr sz="1100" b="1">
                          <a:solidFill>
                            <a:srgbClr val="FFFFFF"/>
                          </a:solidFill>
                          <a:latin typeface="Aptos"/>
                        </a:defRPr>
                      </a:pPr>
                      <a:r>
                        <a:t>F1</a:t>
                      </a:r>
                    </a:p>
                  </a:txBody>
                  <a:tcPr anchor="ctr">
                    <a:solidFill>
                      <a:srgbClr val="0D1B2A"/>
                    </a:solidFill>
                  </a:tcPr>
                </a:tc>
                <a:tc>
                  <a:txBody>
                    <a:bodyPr/>
                    <a:lstStyle/>
                    <a:p>
                      <a:pPr algn="ctr">
                        <a:defRPr sz="1100" b="1">
                          <a:solidFill>
                            <a:srgbClr val="FFFFFF"/>
                          </a:solidFill>
                          <a:latin typeface="Aptos"/>
                        </a:defRPr>
                      </a:pPr>
                      <a:r>
                        <a:t>Role Acc.</a:t>
                      </a:r>
                    </a:p>
                  </a:txBody>
                  <a:tcPr anchor="ctr">
                    <a:solidFill>
                      <a:srgbClr val="0D1B2A"/>
                    </a:solidFill>
                  </a:tcPr>
                </a:tc>
                <a:tc>
                  <a:txBody>
                    <a:bodyPr/>
                    <a:lstStyle/>
                    <a:p>
                      <a:pPr algn="ctr">
                        <a:defRPr sz="1100" b="1">
                          <a:solidFill>
                            <a:srgbClr val="FFFFFF"/>
                          </a:solidFill>
                          <a:latin typeface="Aptos"/>
                        </a:defRPr>
                      </a:pPr>
                      <a:r>
                        <a:t>Latency (ms)</a:t>
                      </a:r>
                    </a:p>
                  </a:txBody>
                  <a:tcPr anchor="ctr">
                    <a:solidFill>
                      <a:srgbClr val="0D1B2A"/>
                    </a:solidFill>
                  </a:tcPr>
                </a:tc>
                <a:extLst>
                  <a:ext uri="{0D108BD9-81ED-4DB2-BD59-A6C34878D82A}">
                    <a16:rowId xmlns:a16="http://schemas.microsoft.com/office/drawing/2014/main" val="10000"/>
                  </a:ext>
                </a:extLst>
              </a:tr>
              <a:tr h="429768">
                <a:tc>
                  <a:txBody>
                    <a:bodyPr/>
                    <a:lstStyle/>
                    <a:p>
                      <a:pPr algn="l">
                        <a:defRPr sz="1100" b="0">
                          <a:solidFill>
                            <a:srgbClr val="222831"/>
                          </a:solidFill>
                          <a:latin typeface="Aptos"/>
                        </a:defRPr>
                      </a:pPr>
                      <a:r>
                        <a:t>Classical baseline</a:t>
                      </a:r>
                    </a:p>
                  </a:txBody>
                  <a:tcPr anchor="ctr">
                    <a:solidFill>
                      <a:srgbClr val="FFFFFF"/>
                    </a:solidFill>
                  </a:tcPr>
                </a:tc>
                <a:tc>
                  <a:txBody>
                    <a:bodyPr/>
                    <a:lstStyle/>
                    <a:p>
                      <a:pPr algn="l">
                        <a:defRPr sz="1100" b="0">
                          <a:solidFill>
                            <a:srgbClr val="222831"/>
                          </a:solidFill>
                          <a:latin typeface="Aptos"/>
                        </a:defRPr>
                      </a:pPr>
                      <a:r>
                        <a:t>10.0%</a:t>
                      </a:r>
                    </a:p>
                  </a:txBody>
                  <a:tcPr anchor="ctr">
                    <a:solidFill>
                      <a:srgbClr val="FFFFFF"/>
                    </a:solidFill>
                  </a:tcPr>
                </a:tc>
                <a:tc>
                  <a:txBody>
                    <a:bodyPr/>
                    <a:lstStyle/>
                    <a:p>
                      <a:pPr algn="l">
                        <a:defRPr sz="1100" b="0">
                          <a:solidFill>
                            <a:srgbClr val="222831"/>
                          </a:solidFill>
                          <a:latin typeface="Aptos"/>
                        </a:defRPr>
                      </a:pPr>
                      <a:r>
                        <a:t>47.0%</a:t>
                      </a:r>
                    </a:p>
                  </a:txBody>
                  <a:tcPr anchor="ctr">
                    <a:solidFill>
                      <a:srgbClr val="FFFFFF"/>
                    </a:solidFill>
                  </a:tcPr>
                </a:tc>
                <a:tc>
                  <a:txBody>
                    <a:bodyPr/>
                    <a:lstStyle/>
                    <a:p>
                      <a:pPr algn="l">
                        <a:defRPr sz="1100" b="0">
                          <a:solidFill>
                            <a:srgbClr val="222831"/>
                          </a:solidFill>
                          <a:latin typeface="Aptos"/>
                        </a:defRPr>
                      </a:pPr>
                      <a:r>
                        <a:t>20.0%</a:t>
                      </a:r>
                    </a:p>
                  </a:txBody>
                  <a:tcPr anchor="ctr">
                    <a:solidFill>
                      <a:srgbClr val="FFFFFF"/>
                    </a:solidFill>
                  </a:tcPr>
                </a:tc>
                <a:tc>
                  <a:txBody>
                    <a:bodyPr/>
                    <a:lstStyle/>
                    <a:p>
                      <a:pPr algn="l">
                        <a:defRPr sz="1100" b="0">
                          <a:solidFill>
                            <a:srgbClr val="222831"/>
                          </a:solidFill>
                          <a:latin typeface="Aptos"/>
                        </a:defRPr>
                      </a:pPr>
                      <a:r>
                        <a:t>2.89</a:t>
                      </a:r>
                    </a:p>
                  </a:txBody>
                  <a:tcPr anchor="ctr">
                    <a:solidFill>
                      <a:srgbClr val="FFFFFF"/>
                    </a:solidFill>
                  </a:tcPr>
                </a:tc>
                <a:extLst>
                  <a:ext uri="{0D108BD9-81ED-4DB2-BD59-A6C34878D82A}">
                    <a16:rowId xmlns:a16="http://schemas.microsoft.com/office/drawing/2014/main" val="10001"/>
                  </a:ext>
                </a:extLst>
              </a:tr>
              <a:tr h="429768">
                <a:tc>
                  <a:txBody>
                    <a:bodyPr/>
                    <a:lstStyle/>
                    <a:p>
                      <a:pPr algn="l">
                        <a:defRPr sz="1100" b="0">
                          <a:solidFill>
                            <a:srgbClr val="222831"/>
                          </a:solidFill>
                          <a:latin typeface="Aptos"/>
                        </a:defRPr>
                      </a:pPr>
                      <a:r>
                        <a:t>Heuristic reranker</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78.0%</a:t>
                      </a:r>
                    </a:p>
                  </a:txBody>
                  <a:tcPr anchor="ctr">
                    <a:solidFill>
                      <a:srgbClr val="FFFFFF"/>
                    </a:solidFill>
                  </a:tcPr>
                </a:tc>
                <a:tc>
                  <a:txBody>
                    <a:bodyPr/>
                    <a:lstStyle/>
                    <a:p>
                      <a:pPr algn="l">
                        <a:defRPr sz="1100" b="0">
                          <a:solidFill>
                            <a:srgbClr val="222831"/>
                          </a:solidFill>
                          <a:latin typeface="Aptos"/>
                        </a:defRPr>
                      </a:pPr>
                      <a:r>
                        <a:t>100.0%</a:t>
                      </a:r>
                    </a:p>
                  </a:txBody>
                  <a:tcPr anchor="ctr">
                    <a:solidFill>
                      <a:srgbClr val="FFFFFF"/>
                    </a:solidFill>
                  </a:tcPr>
                </a:tc>
                <a:tc>
                  <a:txBody>
                    <a:bodyPr/>
                    <a:lstStyle/>
                    <a:p>
                      <a:pPr algn="l">
                        <a:defRPr sz="1100" b="0">
                          <a:solidFill>
                            <a:srgbClr val="222831"/>
                          </a:solidFill>
                          <a:latin typeface="Aptos"/>
                        </a:defRPr>
                      </a:pPr>
                      <a:r>
                        <a:t>3.26</a:t>
                      </a:r>
                    </a:p>
                  </a:txBody>
                  <a:tcPr anchor="ctr">
                    <a:solidFill>
                      <a:srgbClr val="FFFFFF"/>
                    </a:solidFill>
                  </a:tcPr>
                </a:tc>
                <a:extLst>
                  <a:ext uri="{0D108BD9-81ED-4DB2-BD59-A6C34878D82A}">
                    <a16:rowId xmlns:a16="http://schemas.microsoft.com/office/drawing/2014/main" val="10002"/>
                  </a:ext>
                </a:extLst>
              </a:tr>
              <a:tr h="429768">
                <a:tc>
                  <a:txBody>
                    <a:bodyPr/>
                    <a:lstStyle/>
                    <a:p>
                      <a:pPr algn="l">
                        <a:defRPr sz="1100" b="0">
                          <a:solidFill>
                            <a:srgbClr val="222831"/>
                          </a:solidFill>
                          <a:latin typeface="Aptos"/>
                        </a:defRPr>
                      </a:pPr>
                      <a:r>
                        <a:t>Transformer assist</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78.0%</a:t>
                      </a:r>
                    </a:p>
                  </a:txBody>
                  <a:tcPr anchor="ctr">
                    <a:solidFill>
                      <a:srgbClr val="FFFFFF"/>
                    </a:solidFill>
                  </a:tcPr>
                </a:tc>
                <a:tc>
                  <a:txBody>
                    <a:bodyPr/>
                    <a:lstStyle/>
                    <a:p>
                      <a:pPr algn="l">
                        <a:defRPr sz="1100" b="0">
                          <a:solidFill>
                            <a:srgbClr val="222831"/>
                          </a:solidFill>
                          <a:latin typeface="Aptos"/>
                        </a:defRPr>
                      </a:pPr>
                      <a:r>
                        <a:t>100.0%</a:t>
                      </a:r>
                    </a:p>
                  </a:txBody>
                  <a:tcPr anchor="ctr">
                    <a:solidFill>
                      <a:srgbClr val="FFFFFF"/>
                    </a:solidFill>
                  </a:tcPr>
                </a:tc>
                <a:tc>
                  <a:txBody>
                    <a:bodyPr/>
                    <a:lstStyle/>
                    <a:p>
                      <a:pPr algn="l">
                        <a:defRPr sz="1100" b="0">
                          <a:solidFill>
                            <a:srgbClr val="222831"/>
                          </a:solidFill>
                          <a:latin typeface="Aptos"/>
                        </a:defRPr>
                      </a:pPr>
                      <a:r>
                        <a:t>285.43</a:t>
                      </a:r>
                    </a:p>
                  </a:txBody>
                  <a:tcPr anchor="ctr">
                    <a:solidFill>
                      <a:srgbClr val="FFFFFF"/>
                    </a:solidFill>
                  </a:tcPr>
                </a:tc>
                <a:extLst>
                  <a:ext uri="{0D108BD9-81ED-4DB2-BD59-A6C34878D82A}">
                    <a16:rowId xmlns:a16="http://schemas.microsoft.com/office/drawing/2014/main" val="10003"/>
                  </a:ext>
                </a:extLst>
              </a:tr>
              <a:tr h="429768">
                <a:tc>
                  <a:txBody>
                    <a:bodyPr/>
                    <a:lstStyle/>
                    <a:p>
                      <a:pPr algn="l">
                        <a:defRPr sz="1100" b="0">
                          <a:solidFill>
                            <a:srgbClr val="222831"/>
                          </a:solidFill>
                          <a:latin typeface="Aptos"/>
                        </a:defRPr>
                      </a:pPr>
                      <a:r>
                        <a:t>Full hybrid</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78.0%</a:t>
                      </a:r>
                    </a:p>
                  </a:txBody>
                  <a:tcPr anchor="ctr">
                    <a:solidFill>
                      <a:srgbClr val="FFFFFF"/>
                    </a:solidFill>
                  </a:tcPr>
                </a:tc>
                <a:tc>
                  <a:txBody>
                    <a:bodyPr/>
                    <a:lstStyle/>
                    <a:p>
                      <a:pPr algn="l">
                        <a:defRPr sz="1100" b="0">
                          <a:solidFill>
                            <a:srgbClr val="222831"/>
                          </a:solidFill>
                          <a:latin typeface="Aptos"/>
                        </a:defRPr>
                      </a:pPr>
                      <a:r>
                        <a:t>100.0%</a:t>
                      </a:r>
                    </a:p>
                  </a:txBody>
                  <a:tcPr anchor="ctr">
                    <a:solidFill>
                      <a:srgbClr val="FFFFFF"/>
                    </a:solidFill>
                  </a:tcPr>
                </a:tc>
                <a:tc>
                  <a:txBody>
                    <a:bodyPr/>
                    <a:lstStyle/>
                    <a:p>
                      <a:pPr algn="l">
                        <a:defRPr sz="1100" b="0">
                          <a:solidFill>
                            <a:srgbClr val="222831"/>
                          </a:solidFill>
                          <a:latin typeface="Aptos"/>
                        </a:defRPr>
                      </a:pPr>
                      <a:r>
                        <a:t>369.37</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731520" y="3429000"/>
            <a:ext cx="4572000" cy="2011680"/>
          </a:xfrm>
          <a:prstGeom prst="rect">
            <a:avLst/>
          </a:prstGeom>
          <a:noFill/>
        </p:spPr>
        <p:txBody>
          <a:bodyPr wrap="square">
            <a:spAutoFit/>
          </a:bodyPr>
          <a:lstStyle/>
          <a:p>
            <a:pPr>
              <a:spcAft>
                <a:spcPts val="700"/>
              </a:spcAft>
              <a:defRPr sz="1600">
                <a:solidFill>
                  <a:srgbClr val="222831"/>
                </a:solidFill>
                <a:latin typeface="Aptos"/>
              </a:defRPr>
            </a:pPr>
            <a:r>
              <a:t>Role-aware upgrades lift challenge-set role accuracy from 20.0% to 100.0%</a:t>
            </a:r>
          </a:p>
          <a:p>
            <a:pPr>
              <a:spcAft>
                <a:spcPts val="700"/>
              </a:spcAft>
              <a:defRPr sz="1600">
                <a:solidFill>
                  <a:srgbClr val="222831"/>
                </a:solidFill>
                <a:latin typeface="Aptos"/>
              </a:defRPr>
            </a:pPr>
            <a:r>
              <a:t>The heuristic reranker already captures most of the measurable gain on this curated suite</a:t>
            </a:r>
          </a:p>
          <a:p>
            <a:pPr>
              <a:spcAft>
                <a:spcPts val="700"/>
              </a:spcAft>
              <a:defRPr sz="1600">
                <a:solidFill>
                  <a:srgbClr val="222831"/>
                </a:solidFill>
                <a:latin typeface="Aptos"/>
              </a:defRPr>
            </a:pPr>
            <a:r>
              <a:t>Transformer support does not improve challenge accuracy further in this environment, but it adds large latency costs</a:t>
            </a:r>
          </a:p>
        </p:txBody>
      </p:sp>
      <p:sp>
        <p:nvSpPr>
          <p:cNvPr id="11" name="Rectangle 10"/>
          <p:cNvSpPr/>
          <p:nvPr/>
        </p:nvSpPr>
        <p:spPr>
          <a:xfrm>
            <a:off x="5577840" y="914400"/>
            <a:ext cx="5669280" cy="539496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challenge_table.png"/>
          <p:cNvPicPr>
            <a:picLocks noChangeAspect="1"/>
          </p:cNvPicPr>
          <p:nvPr/>
        </p:nvPicPr>
        <p:blipFill>
          <a:blip r:embed="rId3"/>
          <a:stretch>
            <a:fillRect/>
          </a:stretch>
        </p:blipFill>
        <p:spPr>
          <a:xfrm>
            <a:off x="5577840" y="2609632"/>
            <a:ext cx="5669280" cy="200449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Sampled Test-Subset Benchmark</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RESULTS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19</a:t>
            </a:r>
          </a:p>
        </p:txBody>
      </p:sp>
      <p:graphicFrame>
        <p:nvGraphicFramePr>
          <p:cNvPr id="9" name="Table 8"/>
          <p:cNvGraphicFramePr>
            <a:graphicFrameLocks noGrp="1"/>
          </p:cNvGraphicFramePr>
          <p:nvPr/>
        </p:nvGraphicFramePr>
        <p:xfrm>
          <a:off x="685800" y="960120"/>
          <a:ext cx="4709160" cy="2148840"/>
        </p:xfrm>
        <a:graphic>
          <a:graphicData uri="http://schemas.openxmlformats.org/drawingml/2006/table">
            <a:tbl>
              <a:tblPr firstRow="1" bandRow="1">
                <a:tableStyleId>{5C22544A-7EE6-4342-B048-85BDC9FD1C3A}</a:tableStyleId>
              </a:tblPr>
              <a:tblGrid>
                <a:gridCol w="941832">
                  <a:extLst>
                    <a:ext uri="{9D8B030D-6E8A-4147-A177-3AD203B41FA5}">
                      <a16:colId xmlns:a16="http://schemas.microsoft.com/office/drawing/2014/main" val="20000"/>
                    </a:ext>
                  </a:extLst>
                </a:gridCol>
                <a:gridCol w="941832">
                  <a:extLst>
                    <a:ext uri="{9D8B030D-6E8A-4147-A177-3AD203B41FA5}">
                      <a16:colId xmlns:a16="http://schemas.microsoft.com/office/drawing/2014/main" val="20001"/>
                    </a:ext>
                  </a:extLst>
                </a:gridCol>
                <a:gridCol w="941832">
                  <a:extLst>
                    <a:ext uri="{9D8B030D-6E8A-4147-A177-3AD203B41FA5}">
                      <a16:colId xmlns:a16="http://schemas.microsoft.com/office/drawing/2014/main" val="20002"/>
                    </a:ext>
                  </a:extLst>
                </a:gridCol>
                <a:gridCol w="941832">
                  <a:extLst>
                    <a:ext uri="{9D8B030D-6E8A-4147-A177-3AD203B41FA5}">
                      <a16:colId xmlns:a16="http://schemas.microsoft.com/office/drawing/2014/main" val="20003"/>
                    </a:ext>
                  </a:extLst>
                </a:gridCol>
                <a:gridCol w="941832">
                  <a:extLst>
                    <a:ext uri="{9D8B030D-6E8A-4147-A177-3AD203B41FA5}">
                      <a16:colId xmlns:a16="http://schemas.microsoft.com/office/drawing/2014/main" val="20004"/>
                    </a:ext>
                  </a:extLst>
                </a:gridCol>
              </a:tblGrid>
              <a:tr h="429768">
                <a:tc>
                  <a:txBody>
                    <a:bodyPr/>
                    <a:lstStyle/>
                    <a:p>
                      <a:pPr algn="ctr">
                        <a:defRPr sz="1100" b="1">
                          <a:solidFill>
                            <a:srgbClr val="FFFFFF"/>
                          </a:solidFill>
                          <a:latin typeface="Aptos"/>
                        </a:defRPr>
                      </a:pPr>
                      <a:r>
                        <a:t>Track</a:t>
                      </a:r>
                    </a:p>
                  </a:txBody>
                  <a:tcPr anchor="ctr">
                    <a:solidFill>
                      <a:srgbClr val="0D1B2A"/>
                    </a:solidFill>
                  </a:tcPr>
                </a:tc>
                <a:tc>
                  <a:txBody>
                    <a:bodyPr/>
                    <a:lstStyle/>
                    <a:p>
                      <a:pPr algn="ctr">
                        <a:defRPr sz="1100" b="1">
                          <a:solidFill>
                            <a:srgbClr val="FFFFFF"/>
                          </a:solidFill>
                          <a:latin typeface="Aptos"/>
                        </a:defRPr>
                      </a:pPr>
                      <a:r>
                        <a:t>EM</a:t>
                      </a:r>
                    </a:p>
                  </a:txBody>
                  <a:tcPr anchor="ctr">
                    <a:solidFill>
                      <a:srgbClr val="0D1B2A"/>
                    </a:solidFill>
                  </a:tcPr>
                </a:tc>
                <a:tc>
                  <a:txBody>
                    <a:bodyPr/>
                    <a:lstStyle/>
                    <a:p>
                      <a:pPr algn="ctr">
                        <a:defRPr sz="1100" b="1">
                          <a:solidFill>
                            <a:srgbClr val="FFFFFF"/>
                          </a:solidFill>
                          <a:latin typeface="Aptos"/>
                        </a:defRPr>
                      </a:pPr>
                      <a:r>
                        <a:t>F1</a:t>
                      </a:r>
                    </a:p>
                  </a:txBody>
                  <a:tcPr anchor="ctr">
                    <a:solidFill>
                      <a:srgbClr val="0D1B2A"/>
                    </a:solidFill>
                  </a:tcPr>
                </a:tc>
                <a:tc>
                  <a:txBody>
                    <a:bodyPr/>
                    <a:lstStyle/>
                    <a:p>
                      <a:pPr algn="ctr">
                        <a:defRPr sz="1100" b="1">
                          <a:solidFill>
                            <a:srgbClr val="FFFFFF"/>
                          </a:solidFill>
                          <a:latin typeface="Aptos"/>
                        </a:defRPr>
                      </a:pPr>
                      <a:r>
                        <a:t>Role Acc.</a:t>
                      </a:r>
                    </a:p>
                  </a:txBody>
                  <a:tcPr anchor="ctr">
                    <a:solidFill>
                      <a:srgbClr val="0D1B2A"/>
                    </a:solidFill>
                  </a:tcPr>
                </a:tc>
                <a:tc>
                  <a:txBody>
                    <a:bodyPr/>
                    <a:lstStyle/>
                    <a:p>
                      <a:pPr algn="ctr">
                        <a:defRPr sz="1100" b="1">
                          <a:solidFill>
                            <a:srgbClr val="FFFFFF"/>
                          </a:solidFill>
                          <a:latin typeface="Aptos"/>
                        </a:defRPr>
                      </a:pPr>
                      <a:r>
                        <a:t>Latency (ms)</a:t>
                      </a:r>
                    </a:p>
                  </a:txBody>
                  <a:tcPr anchor="ctr">
                    <a:solidFill>
                      <a:srgbClr val="0D1B2A"/>
                    </a:solidFill>
                  </a:tcPr>
                </a:tc>
                <a:extLst>
                  <a:ext uri="{0D108BD9-81ED-4DB2-BD59-A6C34878D82A}">
                    <a16:rowId xmlns:a16="http://schemas.microsoft.com/office/drawing/2014/main" val="10000"/>
                  </a:ext>
                </a:extLst>
              </a:tr>
              <a:tr h="429768">
                <a:tc>
                  <a:txBody>
                    <a:bodyPr/>
                    <a:lstStyle/>
                    <a:p>
                      <a:pPr algn="l">
                        <a:defRPr sz="1100" b="0">
                          <a:solidFill>
                            <a:srgbClr val="222831"/>
                          </a:solidFill>
                          <a:latin typeface="Aptos"/>
                        </a:defRPr>
                      </a:pPr>
                      <a:r>
                        <a:t>Classical baseline</a:t>
                      </a:r>
                    </a:p>
                  </a:txBody>
                  <a:tcPr anchor="ctr">
                    <a:solidFill>
                      <a:srgbClr val="FFFFFF"/>
                    </a:solidFill>
                  </a:tcPr>
                </a:tc>
                <a:tc>
                  <a:txBody>
                    <a:bodyPr/>
                    <a:lstStyle/>
                    <a:p>
                      <a:pPr algn="l">
                        <a:defRPr sz="1100" b="0">
                          <a:solidFill>
                            <a:srgbClr val="222831"/>
                          </a:solidFill>
                          <a:latin typeface="Aptos"/>
                        </a:defRPr>
                      </a:pPr>
                      <a:r>
                        <a:t>7.5%</a:t>
                      </a:r>
                    </a:p>
                  </a:txBody>
                  <a:tcPr anchor="ctr">
                    <a:solidFill>
                      <a:srgbClr val="FFFFFF"/>
                    </a:solidFill>
                  </a:tcPr>
                </a:tc>
                <a:tc>
                  <a:txBody>
                    <a:bodyPr/>
                    <a:lstStyle/>
                    <a:p>
                      <a:pPr algn="l">
                        <a:defRPr sz="1100" b="0">
                          <a:solidFill>
                            <a:srgbClr val="222831"/>
                          </a:solidFill>
                          <a:latin typeface="Aptos"/>
                        </a:defRPr>
                      </a:pPr>
                      <a:r>
                        <a:t>30.9%</a:t>
                      </a:r>
                    </a:p>
                  </a:txBody>
                  <a:tcPr anchor="ctr">
                    <a:solidFill>
                      <a:srgbClr val="FFFFFF"/>
                    </a:solidFill>
                  </a:tcPr>
                </a:tc>
                <a:tc>
                  <a:txBody>
                    <a:bodyPr/>
                    <a:lstStyle/>
                    <a:p>
                      <a:pPr algn="l">
                        <a:defRPr sz="1100" b="0">
                          <a:solidFill>
                            <a:srgbClr val="222831"/>
                          </a:solidFill>
                          <a:latin typeface="Aptos"/>
                        </a:defRPr>
                      </a:pPr>
                      <a:r>
                        <a:t>32.5%</a:t>
                      </a:r>
                    </a:p>
                  </a:txBody>
                  <a:tcPr anchor="ctr">
                    <a:solidFill>
                      <a:srgbClr val="FFFFFF"/>
                    </a:solidFill>
                  </a:tcPr>
                </a:tc>
                <a:tc>
                  <a:txBody>
                    <a:bodyPr/>
                    <a:lstStyle/>
                    <a:p>
                      <a:pPr algn="l">
                        <a:defRPr sz="1100" b="0">
                          <a:solidFill>
                            <a:srgbClr val="222831"/>
                          </a:solidFill>
                          <a:latin typeface="Aptos"/>
                        </a:defRPr>
                      </a:pPr>
                      <a:r>
                        <a:t>4.49</a:t>
                      </a:r>
                    </a:p>
                  </a:txBody>
                  <a:tcPr anchor="ctr">
                    <a:solidFill>
                      <a:srgbClr val="FFFFFF"/>
                    </a:solidFill>
                  </a:tcPr>
                </a:tc>
                <a:extLst>
                  <a:ext uri="{0D108BD9-81ED-4DB2-BD59-A6C34878D82A}">
                    <a16:rowId xmlns:a16="http://schemas.microsoft.com/office/drawing/2014/main" val="10001"/>
                  </a:ext>
                </a:extLst>
              </a:tr>
              <a:tr h="429768">
                <a:tc>
                  <a:txBody>
                    <a:bodyPr/>
                    <a:lstStyle/>
                    <a:p>
                      <a:pPr algn="l">
                        <a:defRPr sz="1100" b="0">
                          <a:solidFill>
                            <a:srgbClr val="222831"/>
                          </a:solidFill>
                          <a:latin typeface="Aptos"/>
                        </a:defRPr>
                      </a:pPr>
                      <a:r>
                        <a:t>Heuristic reranker</a:t>
                      </a:r>
                    </a:p>
                  </a:txBody>
                  <a:tcPr anchor="ctr">
                    <a:solidFill>
                      <a:srgbClr val="FFFFFF"/>
                    </a:solidFill>
                  </a:tcPr>
                </a:tc>
                <a:tc>
                  <a:txBody>
                    <a:bodyPr/>
                    <a:lstStyle/>
                    <a:p>
                      <a:pPr algn="l">
                        <a:defRPr sz="1100" b="0">
                          <a:solidFill>
                            <a:srgbClr val="222831"/>
                          </a:solidFill>
                          <a:latin typeface="Aptos"/>
                        </a:defRPr>
                      </a:pPr>
                      <a:r>
                        <a:t>20.0%</a:t>
                      </a:r>
                    </a:p>
                  </a:txBody>
                  <a:tcPr anchor="ctr">
                    <a:solidFill>
                      <a:srgbClr val="FFFFFF"/>
                    </a:solidFill>
                  </a:tcPr>
                </a:tc>
                <a:tc>
                  <a:txBody>
                    <a:bodyPr/>
                    <a:lstStyle/>
                    <a:p>
                      <a:pPr algn="l">
                        <a:defRPr sz="1100" b="0">
                          <a:solidFill>
                            <a:srgbClr val="222831"/>
                          </a:solidFill>
                          <a:latin typeface="Aptos"/>
                        </a:defRPr>
                      </a:pPr>
                      <a:r>
                        <a:t>41.8%</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5.84</a:t>
                      </a:r>
                    </a:p>
                  </a:txBody>
                  <a:tcPr anchor="ctr">
                    <a:solidFill>
                      <a:srgbClr val="FFFFFF"/>
                    </a:solidFill>
                  </a:tcPr>
                </a:tc>
                <a:extLst>
                  <a:ext uri="{0D108BD9-81ED-4DB2-BD59-A6C34878D82A}">
                    <a16:rowId xmlns:a16="http://schemas.microsoft.com/office/drawing/2014/main" val="10002"/>
                  </a:ext>
                </a:extLst>
              </a:tr>
              <a:tr h="429768">
                <a:tc>
                  <a:txBody>
                    <a:bodyPr/>
                    <a:lstStyle/>
                    <a:p>
                      <a:pPr algn="l">
                        <a:defRPr sz="1100" b="0">
                          <a:solidFill>
                            <a:srgbClr val="222831"/>
                          </a:solidFill>
                          <a:latin typeface="Aptos"/>
                        </a:defRPr>
                      </a:pPr>
                      <a:r>
                        <a:t>Transformer assist</a:t>
                      </a:r>
                    </a:p>
                  </a:txBody>
                  <a:tcPr anchor="ctr">
                    <a:solidFill>
                      <a:srgbClr val="FFFFFF"/>
                    </a:solidFill>
                  </a:tcPr>
                </a:tc>
                <a:tc>
                  <a:txBody>
                    <a:bodyPr/>
                    <a:lstStyle/>
                    <a:p>
                      <a:pPr algn="l">
                        <a:defRPr sz="1100" b="0">
                          <a:solidFill>
                            <a:srgbClr val="222831"/>
                          </a:solidFill>
                          <a:latin typeface="Aptos"/>
                        </a:defRPr>
                      </a:pPr>
                      <a:r>
                        <a:t>20.0%</a:t>
                      </a:r>
                    </a:p>
                  </a:txBody>
                  <a:tcPr anchor="ctr">
                    <a:solidFill>
                      <a:srgbClr val="FFFFFF"/>
                    </a:solidFill>
                  </a:tcPr>
                </a:tc>
                <a:tc>
                  <a:txBody>
                    <a:bodyPr/>
                    <a:lstStyle/>
                    <a:p>
                      <a:pPr algn="l">
                        <a:defRPr sz="1100" b="0">
                          <a:solidFill>
                            <a:srgbClr val="222831"/>
                          </a:solidFill>
                          <a:latin typeface="Aptos"/>
                        </a:defRPr>
                      </a:pPr>
                      <a:r>
                        <a:t>41.8%</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290.72</a:t>
                      </a:r>
                    </a:p>
                  </a:txBody>
                  <a:tcPr anchor="ctr">
                    <a:solidFill>
                      <a:srgbClr val="FFFFFF"/>
                    </a:solidFill>
                  </a:tcPr>
                </a:tc>
                <a:extLst>
                  <a:ext uri="{0D108BD9-81ED-4DB2-BD59-A6C34878D82A}">
                    <a16:rowId xmlns:a16="http://schemas.microsoft.com/office/drawing/2014/main" val="10003"/>
                  </a:ext>
                </a:extLst>
              </a:tr>
              <a:tr h="429768">
                <a:tc>
                  <a:txBody>
                    <a:bodyPr/>
                    <a:lstStyle/>
                    <a:p>
                      <a:pPr algn="l">
                        <a:defRPr sz="1100" b="0">
                          <a:solidFill>
                            <a:srgbClr val="222831"/>
                          </a:solidFill>
                          <a:latin typeface="Aptos"/>
                        </a:defRPr>
                      </a:pPr>
                      <a:r>
                        <a:t>Full hybrid</a:t>
                      </a:r>
                    </a:p>
                  </a:txBody>
                  <a:tcPr anchor="ctr">
                    <a:solidFill>
                      <a:srgbClr val="FFFFFF"/>
                    </a:solidFill>
                  </a:tcPr>
                </a:tc>
                <a:tc>
                  <a:txBody>
                    <a:bodyPr/>
                    <a:lstStyle/>
                    <a:p>
                      <a:pPr algn="l">
                        <a:defRPr sz="1100" b="0">
                          <a:solidFill>
                            <a:srgbClr val="222831"/>
                          </a:solidFill>
                          <a:latin typeface="Aptos"/>
                        </a:defRPr>
                      </a:pPr>
                      <a:r>
                        <a:t>20.0%</a:t>
                      </a:r>
                    </a:p>
                  </a:txBody>
                  <a:tcPr anchor="ctr">
                    <a:solidFill>
                      <a:srgbClr val="FFFFFF"/>
                    </a:solidFill>
                  </a:tcPr>
                </a:tc>
                <a:tc>
                  <a:txBody>
                    <a:bodyPr/>
                    <a:lstStyle/>
                    <a:p>
                      <a:pPr algn="l">
                        <a:defRPr sz="1100" b="0">
                          <a:solidFill>
                            <a:srgbClr val="222831"/>
                          </a:solidFill>
                          <a:latin typeface="Aptos"/>
                        </a:defRPr>
                      </a:pPr>
                      <a:r>
                        <a:t>41.8%</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380.99</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731520" y="3474720"/>
            <a:ext cx="4572000" cy="1965960"/>
          </a:xfrm>
          <a:prstGeom prst="rect">
            <a:avLst/>
          </a:prstGeom>
          <a:noFill/>
        </p:spPr>
        <p:txBody>
          <a:bodyPr wrap="square">
            <a:spAutoFit/>
          </a:bodyPr>
          <a:lstStyle/>
          <a:p>
            <a:pPr>
              <a:spcAft>
                <a:spcPts val="700"/>
              </a:spcAft>
              <a:defRPr sz="1600">
                <a:solidFill>
                  <a:srgbClr val="222831"/>
                </a:solidFill>
                <a:latin typeface="Aptos"/>
              </a:defRPr>
            </a:pPr>
            <a:r>
              <a:t>The hybrid tracks still outperform the baseline on the sampled test subset, but the gains are smaller than on the curated challenge set</a:t>
            </a:r>
          </a:p>
          <a:p>
            <a:pPr>
              <a:spcAft>
                <a:spcPts val="700"/>
              </a:spcAft>
              <a:defRPr sz="1600">
                <a:solidFill>
                  <a:srgbClr val="222831"/>
                </a:solidFill>
                <a:latin typeface="Aptos"/>
              </a:defRPr>
            </a:pPr>
            <a:r>
              <a:t>This suggests that the extension is especially effective on role-sensitive cases rather than universally dominant</a:t>
            </a:r>
          </a:p>
          <a:p>
            <a:pPr>
              <a:spcAft>
                <a:spcPts val="700"/>
              </a:spcAft>
              <a:defRPr sz="1600">
                <a:solidFill>
                  <a:srgbClr val="222831"/>
                </a:solidFill>
                <a:latin typeface="Aptos"/>
              </a:defRPr>
            </a:pPr>
            <a:r>
              <a:t>The same-result pattern across the three upgraded tracks reinforces the value of the lightweight heuristic reranker</a:t>
            </a:r>
          </a:p>
        </p:txBody>
      </p:sp>
      <p:sp>
        <p:nvSpPr>
          <p:cNvPr id="11" name="Rectangle 10"/>
          <p:cNvSpPr/>
          <p:nvPr/>
        </p:nvSpPr>
        <p:spPr>
          <a:xfrm>
            <a:off x="5577840" y="960120"/>
            <a:ext cx="5669280" cy="530352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benchmark.png"/>
          <p:cNvPicPr>
            <a:picLocks noChangeAspect="1"/>
          </p:cNvPicPr>
          <p:nvPr/>
        </p:nvPicPr>
        <p:blipFill>
          <a:blip r:embed="rId3"/>
          <a:stretch>
            <a:fillRect/>
          </a:stretch>
        </p:blipFill>
        <p:spPr>
          <a:xfrm>
            <a:off x="5577840" y="2903220"/>
            <a:ext cx="5669280" cy="14173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Challenge Performance by Question Type</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21</a:t>
            </a:r>
          </a:p>
        </p:txBody>
      </p:sp>
      <p:sp>
        <p:nvSpPr>
          <p:cNvPr id="9" name="TextBox 8"/>
          <p:cNvSpPr txBox="1"/>
          <p:nvPr/>
        </p:nvSpPr>
        <p:spPr>
          <a:xfrm>
            <a:off x="685800" y="1005840"/>
            <a:ext cx="4480560" cy="2194560"/>
          </a:xfrm>
          <a:prstGeom prst="rect">
            <a:avLst/>
          </a:prstGeom>
          <a:noFill/>
        </p:spPr>
        <p:txBody>
          <a:bodyPr wrap="square">
            <a:spAutoFit/>
          </a:bodyPr>
          <a:lstStyle/>
          <a:p>
            <a:pPr>
              <a:spcAft>
                <a:spcPts val="700"/>
              </a:spcAft>
              <a:defRPr sz="1800">
                <a:solidFill>
                  <a:srgbClr val="222831"/>
                </a:solidFill>
                <a:latin typeface="Aptos"/>
              </a:defRPr>
            </a:pPr>
            <a:r>
              <a:t>Role-aware reranking is especially valuable for HOW, WHERE, and TO-WHOM questions</a:t>
            </a:r>
          </a:p>
          <a:p>
            <a:pPr>
              <a:spcAft>
                <a:spcPts val="700"/>
              </a:spcAft>
              <a:defRPr sz="1800">
                <a:solidFill>
                  <a:srgbClr val="222831"/>
                </a:solidFill>
                <a:latin typeface="Aptos"/>
              </a:defRPr>
            </a:pPr>
            <a:r>
              <a:t>These categories are exactly where role identity matters more than simple lexical overlap</a:t>
            </a:r>
          </a:p>
          <a:p>
            <a:pPr>
              <a:spcAft>
                <a:spcPts val="700"/>
              </a:spcAft>
              <a:defRPr sz="1800">
                <a:solidFill>
                  <a:srgbClr val="222831"/>
                </a:solidFill>
                <a:latin typeface="Aptos"/>
              </a:defRPr>
            </a:pPr>
            <a:r>
              <a:t>The heatmap shows that targeted semantic cues provide more benefit than generic span scoring alone</a:t>
            </a:r>
          </a:p>
        </p:txBody>
      </p:sp>
      <p:sp>
        <p:nvSpPr>
          <p:cNvPr id="10" name="Rectangle 9"/>
          <p:cNvSpPr/>
          <p:nvPr/>
        </p:nvSpPr>
        <p:spPr>
          <a:xfrm>
            <a:off x="5212080" y="914400"/>
            <a:ext cx="5943600" cy="530352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question_type_heatmap.png"/>
          <p:cNvPicPr>
            <a:picLocks noChangeAspect="1"/>
          </p:cNvPicPr>
          <p:nvPr/>
        </p:nvPicPr>
        <p:blipFill>
          <a:blip r:embed="rId3"/>
          <a:stretch>
            <a:fillRect/>
          </a:stretch>
        </p:blipFill>
        <p:spPr>
          <a:xfrm>
            <a:off x="5212080" y="2377440"/>
            <a:ext cx="5943600" cy="237744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Challenge Performance by Target Role</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22</a:t>
            </a:r>
          </a:p>
        </p:txBody>
      </p:sp>
      <p:sp>
        <p:nvSpPr>
          <p:cNvPr id="9" name="TextBox 8"/>
          <p:cNvSpPr txBox="1"/>
          <p:nvPr/>
        </p:nvSpPr>
        <p:spPr>
          <a:xfrm>
            <a:off x="685800" y="1005840"/>
            <a:ext cx="4480560" cy="2194560"/>
          </a:xfrm>
          <a:prstGeom prst="rect">
            <a:avLst/>
          </a:prstGeom>
          <a:noFill/>
        </p:spPr>
        <p:txBody>
          <a:bodyPr wrap="square">
            <a:spAutoFit/>
          </a:bodyPr>
          <a:lstStyle/>
          <a:p>
            <a:pPr>
              <a:spcAft>
                <a:spcPts val="700"/>
              </a:spcAft>
              <a:defRPr sz="1800">
                <a:solidFill>
                  <a:srgbClr val="222831"/>
                </a:solidFill>
                <a:latin typeface="Aptos"/>
              </a:defRPr>
            </a:pPr>
            <a:r>
              <a:t>Role accuracy rises most strongly for roles that align with explicit heuristic patterns and question intent</a:t>
            </a:r>
          </a:p>
          <a:p>
            <a:pPr>
              <a:spcAft>
                <a:spcPts val="700"/>
              </a:spcAft>
              <a:defRPr sz="1800">
                <a:solidFill>
                  <a:srgbClr val="222831"/>
                </a:solidFill>
                <a:latin typeface="Aptos"/>
              </a:defRPr>
            </a:pPr>
            <a:r>
              <a:t>ARGM-LOC, ARGM-MNR, and ARG2 are especially important proof points for the hybrid design</a:t>
            </a:r>
          </a:p>
          <a:p>
            <a:pPr>
              <a:spcAft>
                <a:spcPts val="700"/>
              </a:spcAft>
              <a:defRPr sz="1800">
                <a:solidFill>
                  <a:srgbClr val="222831"/>
                </a:solidFill>
                <a:latin typeface="Aptos"/>
              </a:defRPr>
            </a:pPr>
            <a:r>
              <a:t>The heatmap reinforces that semantic expectations drive better candidate selection</a:t>
            </a:r>
          </a:p>
        </p:txBody>
      </p:sp>
      <p:sp>
        <p:nvSpPr>
          <p:cNvPr id="10" name="Rectangle 9"/>
          <p:cNvSpPr/>
          <p:nvPr/>
        </p:nvSpPr>
        <p:spPr>
          <a:xfrm>
            <a:off x="5212080" y="914400"/>
            <a:ext cx="5943600" cy="530352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role_heatmap.png"/>
          <p:cNvPicPr>
            <a:picLocks noChangeAspect="1"/>
          </p:cNvPicPr>
          <p:nvPr/>
        </p:nvPicPr>
        <p:blipFill>
          <a:blip r:embed="rId3"/>
          <a:stretch>
            <a:fillRect/>
          </a:stretch>
        </p:blipFill>
        <p:spPr>
          <a:xfrm>
            <a:off x="5212080" y="2377440"/>
            <a:ext cx="5943600" cy="23774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Hybrid Reasoning Example: Location</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23</a:t>
            </a:r>
          </a:p>
        </p:txBody>
      </p:sp>
      <p:sp>
        <p:nvSpPr>
          <p:cNvPr id="9" name="Rounded Rectangle 8"/>
          <p:cNvSpPr/>
          <p:nvPr/>
        </p:nvSpPr>
        <p:spPr>
          <a:xfrm>
            <a:off x="731520" y="868680"/>
            <a:ext cx="3017520" cy="256032"/>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ptos"/>
              </a:defRPr>
            </a:pPr>
            <a:r>
              <a:t>Challenge Example: WHERE / ARGM-LOC</a:t>
            </a:r>
          </a:p>
        </p:txBody>
      </p:sp>
      <p:sp>
        <p:nvSpPr>
          <p:cNvPr id="10" name="TextBox 9"/>
          <p:cNvSpPr txBox="1"/>
          <p:nvPr/>
        </p:nvSpPr>
        <p:spPr>
          <a:xfrm>
            <a:off x="731520" y="1325880"/>
            <a:ext cx="4937760" cy="1097280"/>
          </a:xfrm>
          <a:prstGeom prst="rect">
            <a:avLst/>
          </a:prstGeom>
          <a:noFill/>
        </p:spPr>
        <p:txBody>
          <a:bodyPr wrap="square" lIns="0" tIns="0" rIns="0" bIns="0">
            <a:spAutoFit/>
          </a:bodyPr>
          <a:lstStyle/>
          <a:p>
            <a:pPr algn="l">
              <a:defRPr sz="1500" b="0">
                <a:solidFill>
                  <a:srgbClr val="222831"/>
                </a:solidFill>
                <a:latin typeface="Aptos"/>
              </a:defRPr>
            </a:pPr>
            <a:r>
              <a:t>Context: The courier delivered the package to the office at noon.</a:t>
            </a:r>
          </a:p>
        </p:txBody>
      </p:sp>
      <p:sp>
        <p:nvSpPr>
          <p:cNvPr id="11" name="TextBox 10"/>
          <p:cNvSpPr txBox="1"/>
          <p:nvPr/>
        </p:nvSpPr>
        <p:spPr>
          <a:xfrm>
            <a:off x="731520" y="2377440"/>
            <a:ext cx="4937760" cy="411480"/>
          </a:xfrm>
          <a:prstGeom prst="rect">
            <a:avLst/>
          </a:prstGeom>
          <a:noFill/>
        </p:spPr>
        <p:txBody>
          <a:bodyPr wrap="square" lIns="0" tIns="0" rIns="0" bIns="0">
            <a:spAutoFit/>
          </a:bodyPr>
          <a:lstStyle/>
          <a:p>
            <a:pPr algn="l">
              <a:defRPr sz="1700" b="1">
                <a:solidFill>
                  <a:srgbClr val="0D1B2A"/>
                </a:solidFill>
                <a:latin typeface="Aptos"/>
              </a:defRPr>
            </a:pPr>
            <a:r>
              <a:t>Question: Where was the package delivered?</a:t>
            </a:r>
          </a:p>
        </p:txBody>
      </p:sp>
      <p:sp>
        <p:nvSpPr>
          <p:cNvPr id="12" name="Rounded Rectangle 11"/>
          <p:cNvSpPr/>
          <p:nvPr/>
        </p:nvSpPr>
        <p:spPr>
          <a:xfrm>
            <a:off x="777240" y="29718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7240" y="297180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33271" y="3136392"/>
            <a:ext cx="1600200" cy="256032"/>
          </a:xfrm>
          <a:prstGeom prst="rect">
            <a:avLst/>
          </a:prstGeom>
          <a:noFill/>
        </p:spPr>
        <p:txBody>
          <a:bodyPr wrap="square" lIns="0" tIns="0" rIns="0" bIns="0">
            <a:spAutoFit/>
          </a:bodyPr>
          <a:lstStyle/>
          <a:p>
            <a:pPr algn="l">
              <a:defRPr sz="1100" b="1">
                <a:solidFill>
                  <a:srgbClr val="5E6C84"/>
                </a:solidFill>
                <a:latin typeface="Aptos"/>
              </a:defRPr>
            </a:pPr>
            <a:r>
              <a:t>Expected Answer</a:t>
            </a:r>
          </a:p>
        </p:txBody>
      </p:sp>
      <p:sp>
        <p:nvSpPr>
          <p:cNvPr id="15" name="TextBox 14"/>
          <p:cNvSpPr txBox="1"/>
          <p:nvPr/>
        </p:nvSpPr>
        <p:spPr>
          <a:xfrm>
            <a:off x="1033271" y="3383280"/>
            <a:ext cx="1600200" cy="402336"/>
          </a:xfrm>
          <a:prstGeom prst="rect">
            <a:avLst/>
          </a:prstGeom>
          <a:noFill/>
        </p:spPr>
        <p:txBody>
          <a:bodyPr wrap="square" lIns="0" tIns="0" rIns="0" bIns="0">
            <a:spAutoFit/>
          </a:bodyPr>
          <a:lstStyle/>
          <a:p>
            <a:pPr algn="l">
              <a:defRPr sz="2100" b="1">
                <a:solidFill>
                  <a:srgbClr val="0D1B2A"/>
                </a:solidFill>
                <a:latin typeface="Aptos"/>
              </a:defRPr>
            </a:pPr>
            <a:r>
              <a:t>to the office</a:t>
            </a:r>
          </a:p>
        </p:txBody>
      </p:sp>
      <p:sp>
        <p:nvSpPr>
          <p:cNvPr id="16" name="Rounded Rectangle 15"/>
          <p:cNvSpPr/>
          <p:nvPr/>
        </p:nvSpPr>
        <p:spPr>
          <a:xfrm>
            <a:off x="2971800" y="29718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971800" y="297180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27832" y="3136392"/>
            <a:ext cx="1600200" cy="256032"/>
          </a:xfrm>
          <a:prstGeom prst="rect">
            <a:avLst/>
          </a:prstGeom>
          <a:noFill/>
        </p:spPr>
        <p:txBody>
          <a:bodyPr wrap="square" lIns="0" tIns="0" rIns="0" bIns="0">
            <a:spAutoFit/>
          </a:bodyPr>
          <a:lstStyle/>
          <a:p>
            <a:pPr algn="l">
              <a:defRPr sz="1100" b="1">
                <a:solidFill>
                  <a:srgbClr val="5E6C84"/>
                </a:solidFill>
                <a:latin typeface="Aptos"/>
              </a:defRPr>
            </a:pPr>
            <a:r>
              <a:t>Predicted Role</a:t>
            </a:r>
          </a:p>
        </p:txBody>
      </p:sp>
      <p:sp>
        <p:nvSpPr>
          <p:cNvPr id="19" name="TextBox 18"/>
          <p:cNvSpPr txBox="1"/>
          <p:nvPr/>
        </p:nvSpPr>
        <p:spPr>
          <a:xfrm>
            <a:off x="3227832" y="3383280"/>
            <a:ext cx="1600200" cy="402336"/>
          </a:xfrm>
          <a:prstGeom prst="rect">
            <a:avLst/>
          </a:prstGeom>
          <a:noFill/>
        </p:spPr>
        <p:txBody>
          <a:bodyPr wrap="square" lIns="0" tIns="0" rIns="0" bIns="0">
            <a:spAutoFit/>
          </a:bodyPr>
          <a:lstStyle/>
          <a:p>
            <a:pPr algn="l">
              <a:defRPr sz="2100" b="1">
                <a:solidFill>
                  <a:srgbClr val="0D1B2A"/>
                </a:solidFill>
                <a:latin typeface="Aptos"/>
              </a:defRPr>
            </a:pPr>
            <a:r>
              <a:t>ARGM-LOC</a:t>
            </a:r>
          </a:p>
        </p:txBody>
      </p:sp>
      <p:sp>
        <p:nvSpPr>
          <p:cNvPr id="20" name="Rounded Rectangle 19"/>
          <p:cNvSpPr/>
          <p:nvPr/>
        </p:nvSpPr>
        <p:spPr>
          <a:xfrm>
            <a:off x="777240" y="406908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77240" y="406908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33271" y="4233672"/>
            <a:ext cx="1600200" cy="256032"/>
          </a:xfrm>
          <a:prstGeom prst="rect">
            <a:avLst/>
          </a:prstGeom>
          <a:noFill/>
        </p:spPr>
        <p:txBody>
          <a:bodyPr wrap="square" lIns="0" tIns="0" rIns="0" bIns="0">
            <a:spAutoFit/>
          </a:bodyPr>
          <a:lstStyle/>
          <a:p>
            <a:pPr algn="l">
              <a:defRPr sz="1100" b="1">
                <a:solidFill>
                  <a:srgbClr val="5E6C84"/>
                </a:solidFill>
                <a:latin typeface="Aptos"/>
              </a:defRPr>
            </a:pPr>
            <a:r>
              <a:t>Exact Match</a:t>
            </a:r>
          </a:p>
        </p:txBody>
      </p:sp>
      <p:sp>
        <p:nvSpPr>
          <p:cNvPr id="23" name="TextBox 22"/>
          <p:cNvSpPr txBox="1"/>
          <p:nvPr/>
        </p:nvSpPr>
        <p:spPr>
          <a:xfrm>
            <a:off x="1033271" y="4480560"/>
            <a:ext cx="1600200" cy="402336"/>
          </a:xfrm>
          <a:prstGeom prst="rect">
            <a:avLst/>
          </a:prstGeom>
          <a:noFill/>
        </p:spPr>
        <p:txBody>
          <a:bodyPr wrap="square" lIns="0" tIns="0" rIns="0" bIns="0">
            <a:spAutoFit/>
          </a:bodyPr>
          <a:lstStyle/>
          <a:p>
            <a:pPr algn="l">
              <a:defRPr sz="2100" b="1">
                <a:solidFill>
                  <a:srgbClr val="0D1B2A"/>
                </a:solidFill>
                <a:latin typeface="Aptos"/>
              </a:defRPr>
            </a:pPr>
            <a:r>
              <a:t>100.0%</a:t>
            </a:r>
          </a:p>
        </p:txBody>
      </p:sp>
      <p:sp>
        <p:nvSpPr>
          <p:cNvPr id="24" name="Rounded Rectangle 23"/>
          <p:cNvSpPr/>
          <p:nvPr/>
        </p:nvSpPr>
        <p:spPr>
          <a:xfrm>
            <a:off x="2971800" y="406908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971800" y="4069080"/>
            <a:ext cx="109728" cy="914400"/>
          </a:xfrm>
          <a:prstGeom prst="rect">
            <a:avLst/>
          </a:prstGeom>
          <a:solidFill>
            <a:srgbClr val="218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27832" y="4233672"/>
            <a:ext cx="1600200" cy="256032"/>
          </a:xfrm>
          <a:prstGeom prst="rect">
            <a:avLst/>
          </a:prstGeom>
          <a:noFill/>
        </p:spPr>
        <p:txBody>
          <a:bodyPr wrap="square" lIns="0" tIns="0" rIns="0" bIns="0">
            <a:spAutoFit/>
          </a:bodyPr>
          <a:lstStyle/>
          <a:p>
            <a:pPr algn="l">
              <a:defRPr sz="1100" b="1">
                <a:solidFill>
                  <a:srgbClr val="5E6C84"/>
                </a:solidFill>
                <a:latin typeface="Aptos"/>
              </a:defRPr>
            </a:pPr>
            <a:r>
              <a:t>Token F1</a:t>
            </a:r>
          </a:p>
        </p:txBody>
      </p:sp>
      <p:sp>
        <p:nvSpPr>
          <p:cNvPr id="27" name="TextBox 26"/>
          <p:cNvSpPr txBox="1"/>
          <p:nvPr/>
        </p:nvSpPr>
        <p:spPr>
          <a:xfrm>
            <a:off x="3227832" y="4480560"/>
            <a:ext cx="1600200" cy="402336"/>
          </a:xfrm>
          <a:prstGeom prst="rect">
            <a:avLst/>
          </a:prstGeom>
          <a:noFill/>
        </p:spPr>
        <p:txBody>
          <a:bodyPr wrap="square" lIns="0" tIns="0" rIns="0" bIns="0">
            <a:spAutoFit/>
          </a:bodyPr>
          <a:lstStyle/>
          <a:p>
            <a:pPr algn="l">
              <a:defRPr sz="2100" b="1">
                <a:solidFill>
                  <a:srgbClr val="0D1B2A"/>
                </a:solidFill>
                <a:latin typeface="Aptos"/>
              </a:defRPr>
            </a:pPr>
            <a:r>
              <a:t>100.0%</a:t>
            </a:r>
          </a:p>
        </p:txBody>
      </p:sp>
      <p:sp>
        <p:nvSpPr>
          <p:cNvPr id="28" name="TextBox 27"/>
          <p:cNvSpPr txBox="1"/>
          <p:nvPr/>
        </p:nvSpPr>
        <p:spPr>
          <a:xfrm>
            <a:off x="777240" y="5212080"/>
            <a:ext cx="1828800" cy="228600"/>
          </a:xfrm>
          <a:prstGeom prst="rect">
            <a:avLst/>
          </a:prstGeom>
          <a:noFill/>
        </p:spPr>
        <p:txBody>
          <a:bodyPr wrap="square" lIns="0" tIns="0" rIns="0" bIns="0">
            <a:spAutoFit/>
          </a:bodyPr>
          <a:lstStyle/>
          <a:p>
            <a:pPr algn="l">
              <a:defRPr sz="1500" b="1">
                <a:solidFill>
                  <a:srgbClr val="0D1B2A"/>
                </a:solidFill>
                <a:latin typeface="Aptos"/>
              </a:defRPr>
            </a:pPr>
            <a:r>
              <a:t>Reasoning summary</a:t>
            </a:r>
          </a:p>
        </p:txBody>
      </p:sp>
      <p:sp>
        <p:nvSpPr>
          <p:cNvPr id="29" name="TextBox 28"/>
          <p:cNvSpPr txBox="1"/>
          <p:nvPr/>
        </p:nvSpPr>
        <p:spPr>
          <a:xfrm>
            <a:off x="777240" y="5486400"/>
            <a:ext cx="4754880" cy="640080"/>
          </a:xfrm>
          <a:prstGeom prst="rect">
            <a:avLst/>
          </a:prstGeom>
          <a:noFill/>
        </p:spPr>
        <p:txBody>
          <a:bodyPr wrap="square" lIns="0" tIns="0" rIns="0" bIns="0">
            <a:spAutoFit/>
          </a:bodyPr>
          <a:lstStyle/>
          <a:p>
            <a:pPr algn="l">
              <a:defRPr sz="1200" b="0">
                <a:solidFill>
                  <a:srgbClr val="222831"/>
                </a:solidFill>
                <a:latin typeface="Aptos"/>
              </a:defRPr>
            </a:pPr>
            <a:r>
              <a:t>Question pattern 'WHERE' mapped to ARGM-LOC. The hybrid reranker aligned the predicate 'delivered' and selected 'to the office' from heuristic_location evidence because it best matched the expected role.</a:t>
            </a:r>
          </a:p>
        </p:txBody>
      </p:sp>
      <p:graphicFrame>
        <p:nvGraphicFramePr>
          <p:cNvPr id="30" name="Table 29"/>
          <p:cNvGraphicFramePr>
            <a:graphicFrameLocks noGrp="1"/>
          </p:cNvGraphicFramePr>
          <p:nvPr/>
        </p:nvGraphicFramePr>
        <p:xfrm>
          <a:off x="5806440" y="1143000"/>
          <a:ext cx="5486400" cy="44805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1120140">
                <a:tc>
                  <a:txBody>
                    <a:bodyPr/>
                    <a:lstStyle/>
                    <a:p>
                      <a:pPr algn="ctr">
                        <a:defRPr sz="1100" b="1">
                          <a:solidFill>
                            <a:srgbClr val="FFFFFF"/>
                          </a:solidFill>
                          <a:latin typeface="Aptos"/>
                        </a:defRPr>
                      </a:pPr>
                      <a:r>
                        <a:t>Candidate</a:t>
                      </a:r>
                    </a:p>
                  </a:txBody>
                  <a:tcPr anchor="ctr">
                    <a:solidFill>
                      <a:srgbClr val="0D1B2A"/>
                    </a:solidFill>
                  </a:tcPr>
                </a:tc>
                <a:tc>
                  <a:txBody>
                    <a:bodyPr/>
                    <a:lstStyle/>
                    <a:p>
                      <a:pPr algn="ctr">
                        <a:defRPr sz="1100" b="1">
                          <a:solidFill>
                            <a:srgbClr val="FFFFFF"/>
                          </a:solidFill>
                          <a:latin typeface="Aptos"/>
                        </a:defRPr>
                      </a:pPr>
                      <a:r>
                        <a:t>Role</a:t>
                      </a:r>
                    </a:p>
                  </a:txBody>
                  <a:tcPr anchor="ctr">
                    <a:solidFill>
                      <a:srgbClr val="0D1B2A"/>
                    </a:solidFill>
                  </a:tcPr>
                </a:tc>
                <a:tc>
                  <a:txBody>
                    <a:bodyPr/>
                    <a:lstStyle/>
                    <a:p>
                      <a:pPr algn="ctr">
                        <a:defRPr sz="1100" b="1">
                          <a:solidFill>
                            <a:srgbClr val="FFFFFF"/>
                          </a:solidFill>
                          <a:latin typeface="Aptos"/>
                        </a:defRPr>
                      </a:pPr>
                      <a:r>
                        <a:t>Source</a:t>
                      </a:r>
                    </a:p>
                  </a:txBody>
                  <a:tcPr anchor="ctr">
                    <a:solidFill>
                      <a:srgbClr val="0D1B2A"/>
                    </a:solidFill>
                  </a:tcPr>
                </a:tc>
                <a:tc>
                  <a:txBody>
                    <a:bodyPr/>
                    <a:lstStyle/>
                    <a:p>
                      <a:pPr algn="ctr">
                        <a:defRPr sz="1100" b="1">
                          <a:solidFill>
                            <a:srgbClr val="FFFFFF"/>
                          </a:solidFill>
                          <a:latin typeface="Aptos"/>
                        </a:defRPr>
                      </a:pPr>
                      <a:r>
                        <a:t>Score</a:t>
                      </a:r>
                    </a:p>
                  </a:txBody>
                  <a:tcPr anchor="ctr">
                    <a:solidFill>
                      <a:srgbClr val="0D1B2A"/>
                    </a:solidFill>
                  </a:tcPr>
                </a:tc>
                <a:extLst>
                  <a:ext uri="{0D108BD9-81ED-4DB2-BD59-A6C34878D82A}">
                    <a16:rowId xmlns:a16="http://schemas.microsoft.com/office/drawing/2014/main" val="10000"/>
                  </a:ext>
                </a:extLst>
              </a:tr>
              <a:tr h="1120140">
                <a:tc>
                  <a:txBody>
                    <a:bodyPr/>
                    <a:lstStyle/>
                    <a:p>
                      <a:pPr algn="l">
                        <a:defRPr sz="1100" b="0">
                          <a:solidFill>
                            <a:srgbClr val="222831"/>
                          </a:solidFill>
                          <a:latin typeface="Aptos"/>
                        </a:defRPr>
                      </a:pPr>
                      <a:r>
                        <a:t>to the office</a:t>
                      </a:r>
                    </a:p>
                  </a:txBody>
                  <a:tcPr anchor="ctr">
                    <a:solidFill>
                      <a:srgbClr val="FFFFFF"/>
                    </a:solidFill>
                  </a:tcPr>
                </a:tc>
                <a:tc>
                  <a:txBody>
                    <a:bodyPr/>
                    <a:lstStyle/>
                    <a:p>
                      <a:pPr algn="l">
                        <a:defRPr sz="1100" b="0">
                          <a:solidFill>
                            <a:srgbClr val="222831"/>
                          </a:solidFill>
                          <a:latin typeface="Aptos"/>
                        </a:defRPr>
                      </a:pPr>
                      <a:r>
                        <a:t>ARGM-LOC</a:t>
                      </a:r>
                    </a:p>
                  </a:txBody>
                  <a:tcPr anchor="ctr">
                    <a:solidFill>
                      <a:srgbClr val="FFFFFF"/>
                    </a:solidFill>
                  </a:tcPr>
                </a:tc>
                <a:tc>
                  <a:txBody>
                    <a:bodyPr/>
                    <a:lstStyle/>
                    <a:p>
                      <a:pPr algn="l">
                        <a:defRPr sz="1100" b="0">
                          <a:solidFill>
                            <a:srgbClr val="222831"/>
                          </a:solidFill>
                          <a:latin typeface="Aptos"/>
                        </a:defRPr>
                      </a:pPr>
                      <a:r>
                        <a:t>heuristic_location</a:t>
                      </a:r>
                    </a:p>
                  </a:txBody>
                  <a:tcPr anchor="ctr">
                    <a:solidFill>
                      <a:srgbClr val="FFFFFF"/>
                    </a:solidFill>
                  </a:tcPr>
                </a:tc>
                <a:tc>
                  <a:txBody>
                    <a:bodyPr/>
                    <a:lstStyle/>
                    <a:p>
                      <a:pPr algn="l">
                        <a:defRPr sz="1100" b="0">
                          <a:solidFill>
                            <a:srgbClr val="222831"/>
                          </a:solidFill>
                          <a:latin typeface="Aptos"/>
                        </a:defRPr>
                      </a:pPr>
                      <a:r>
                        <a:t>0.658</a:t>
                      </a:r>
                    </a:p>
                  </a:txBody>
                  <a:tcPr anchor="ctr">
                    <a:solidFill>
                      <a:srgbClr val="FFFFFF"/>
                    </a:solidFill>
                  </a:tcPr>
                </a:tc>
                <a:extLst>
                  <a:ext uri="{0D108BD9-81ED-4DB2-BD59-A6C34878D82A}">
                    <a16:rowId xmlns:a16="http://schemas.microsoft.com/office/drawing/2014/main" val="10001"/>
                  </a:ext>
                </a:extLst>
              </a:tr>
              <a:tr h="1120140">
                <a:tc>
                  <a:txBody>
                    <a:bodyPr/>
                    <a:lstStyle/>
                    <a:p>
                      <a:pPr algn="l">
                        <a:defRPr sz="1100" b="0">
                          <a:solidFill>
                            <a:srgbClr val="222831"/>
                          </a:solidFill>
                          <a:latin typeface="Aptos"/>
                        </a:defRPr>
                      </a:pPr>
                      <a:r>
                        <a:t>at noon</a:t>
                      </a:r>
                    </a:p>
                  </a:txBody>
                  <a:tcPr anchor="ctr">
                    <a:solidFill>
                      <a:srgbClr val="FFFFFF"/>
                    </a:solidFill>
                  </a:tcPr>
                </a:tc>
                <a:tc>
                  <a:txBody>
                    <a:bodyPr/>
                    <a:lstStyle/>
                    <a:p>
                      <a:pPr algn="l">
                        <a:defRPr sz="1100" b="0">
                          <a:solidFill>
                            <a:srgbClr val="222831"/>
                          </a:solidFill>
                          <a:latin typeface="Aptos"/>
                        </a:defRPr>
                      </a:pPr>
                      <a:r>
                        <a:t>ARGM-LOC</a:t>
                      </a:r>
                    </a:p>
                  </a:txBody>
                  <a:tcPr anchor="ctr">
                    <a:solidFill>
                      <a:srgbClr val="FFFFFF"/>
                    </a:solidFill>
                  </a:tcPr>
                </a:tc>
                <a:tc>
                  <a:txBody>
                    <a:bodyPr/>
                    <a:lstStyle/>
                    <a:p>
                      <a:pPr algn="l">
                        <a:defRPr sz="1100" b="0">
                          <a:solidFill>
                            <a:srgbClr val="222831"/>
                          </a:solidFill>
                          <a:latin typeface="Aptos"/>
                        </a:defRPr>
                      </a:pPr>
                      <a:r>
                        <a:t>heuristic_location</a:t>
                      </a:r>
                    </a:p>
                  </a:txBody>
                  <a:tcPr anchor="ctr">
                    <a:solidFill>
                      <a:srgbClr val="FFFFFF"/>
                    </a:solidFill>
                  </a:tcPr>
                </a:tc>
                <a:tc>
                  <a:txBody>
                    <a:bodyPr/>
                    <a:lstStyle/>
                    <a:p>
                      <a:pPr algn="l">
                        <a:defRPr sz="1100" b="0">
                          <a:solidFill>
                            <a:srgbClr val="222831"/>
                          </a:solidFill>
                          <a:latin typeface="Aptos"/>
                        </a:defRPr>
                      </a:pPr>
                      <a:r>
                        <a:t>0.626</a:t>
                      </a:r>
                    </a:p>
                  </a:txBody>
                  <a:tcPr anchor="ctr">
                    <a:solidFill>
                      <a:srgbClr val="FFFFFF"/>
                    </a:solidFill>
                  </a:tcPr>
                </a:tc>
                <a:extLst>
                  <a:ext uri="{0D108BD9-81ED-4DB2-BD59-A6C34878D82A}">
                    <a16:rowId xmlns:a16="http://schemas.microsoft.com/office/drawing/2014/main" val="10002"/>
                  </a:ext>
                </a:extLst>
              </a:tr>
              <a:tr h="1120140">
                <a:tc>
                  <a:txBody>
                    <a:bodyPr/>
                    <a:lstStyle/>
                    <a:p>
                      <a:pPr algn="l">
                        <a:defRPr sz="1100" b="0">
                          <a:solidFill>
                            <a:srgbClr val="222831"/>
                          </a:solidFill>
                          <a:latin typeface="Aptos"/>
                        </a:defRPr>
                      </a:pPr>
                      <a:r>
                        <a:t>delivered the package to the office at noon</a:t>
                      </a:r>
                    </a:p>
                  </a:txBody>
                  <a:tcPr anchor="ctr">
                    <a:solidFill>
                      <a:srgbClr val="FFFFFF"/>
                    </a:solidFill>
                  </a:tcPr>
                </a:tc>
                <a:tc>
                  <a:txBody>
                    <a:bodyPr/>
                    <a:lstStyle/>
                    <a:p>
                      <a:pPr algn="l">
                        <a:defRPr sz="1100" b="0">
                          <a:solidFill>
                            <a:srgbClr val="222831"/>
                          </a:solidFill>
                          <a:latin typeface="Aptos"/>
                        </a:defRPr>
                      </a:pPr>
                      <a:r>
                        <a:t>ARG1</a:t>
                      </a:r>
                    </a:p>
                  </a:txBody>
                  <a:tcPr anchor="ctr">
                    <a:solidFill>
                      <a:srgbClr val="FFFFFF"/>
                    </a:solidFill>
                  </a:tcPr>
                </a:tc>
                <a:tc>
                  <a:txBody>
                    <a:bodyPr/>
                    <a:lstStyle/>
                    <a:p>
                      <a:pPr algn="l">
                        <a:defRPr sz="1100" b="0">
                          <a:solidFill>
                            <a:srgbClr val="222831"/>
                          </a:solidFill>
                          <a:latin typeface="Aptos"/>
                        </a:defRPr>
                      </a:pPr>
                      <a:r>
                        <a:t>baseline</a:t>
                      </a:r>
                    </a:p>
                  </a:txBody>
                  <a:tcPr anchor="ctr">
                    <a:solidFill>
                      <a:srgbClr val="FFFFFF"/>
                    </a:solidFill>
                  </a:tcPr>
                </a:tc>
                <a:tc>
                  <a:txBody>
                    <a:bodyPr/>
                    <a:lstStyle/>
                    <a:p>
                      <a:pPr algn="l">
                        <a:defRPr sz="1100" b="0">
                          <a:solidFill>
                            <a:srgbClr val="222831"/>
                          </a:solidFill>
                          <a:latin typeface="Aptos"/>
                        </a:defRPr>
                      </a:pPr>
                      <a:r>
                        <a:t>0.421</a:t>
                      </a:r>
                    </a:p>
                  </a:txBody>
                  <a:tcPr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Hybrid Reasoning Example: Manner and Recipient</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24</a:t>
            </a:r>
          </a:p>
        </p:txBody>
      </p:sp>
      <p:sp>
        <p:nvSpPr>
          <p:cNvPr id="9" name="Rounded Rectangle 8"/>
          <p:cNvSpPr/>
          <p:nvPr/>
        </p:nvSpPr>
        <p:spPr>
          <a:xfrm>
            <a:off x="731520" y="868680"/>
            <a:ext cx="3017520" cy="256032"/>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ptos"/>
              </a:defRPr>
            </a:pPr>
            <a:r>
              <a:t>Challenge Example: HOW / ARGM-MNR</a:t>
            </a:r>
          </a:p>
        </p:txBody>
      </p:sp>
      <p:sp>
        <p:nvSpPr>
          <p:cNvPr id="10" name="TextBox 9"/>
          <p:cNvSpPr txBox="1"/>
          <p:nvPr/>
        </p:nvSpPr>
        <p:spPr>
          <a:xfrm>
            <a:off x="731520" y="1234440"/>
            <a:ext cx="4572000" cy="777240"/>
          </a:xfrm>
          <a:prstGeom prst="rect">
            <a:avLst/>
          </a:prstGeom>
          <a:noFill/>
        </p:spPr>
        <p:txBody>
          <a:bodyPr wrap="square" lIns="0" tIns="0" rIns="0" bIns="0">
            <a:spAutoFit/>
          </a:bodyPr>
          <a:lstStyle/>
          <a:p>
            <a:pPr algn="l">
              <a:defRPr sz="1400" b="0">
                <a:solidFill>
                  <a:srgbClr val="222831"/>
                </a:solidFill>
                <a:latin typeface="Aptos"/>
              </a:defRPr>
            </a:pPr>
            <a:r>
              <a:t>Context: The engineer repaired the machine carefully with a small screwdriver.</a:t>
            </a:r>
          </a:p>
        </p:txBody>
      </p:sp>
      <p:sp>
        <p:nvSpPr>
          <p:cNvPr id="11" name="TextBox 10"/>
          <p:cNvSpPr txBox="1"/>
          <p:nvPr/>
        </p:nvSpPr>
        <p:spPr>
          <a:xfrm>
            <a:off x="731520" y="1965960"/>
            <a:ext cx="4572000" cy="365760"/>
          </a:xfrm>
          <a:prstGeom prst="rect">
            <a:avLst/>
          </a:prstGeom>
          <a:noFill/>
        </p:spPr>
        <p:txBody>
          <a:bodyPr wrap="square" lIns="0" tIns="0" rIns="0" bIns="0">
            <a:spAutoFit/>
          </a:bodyPr>
          <a:lstStyle/>
          <a:p>
            <a:pPr algn="l">
              <a:defRPr sz="1600" b="1">
                <a:solidFill>
                  <a:srgbClr val="0D1B2A"/>
                </a:solidFill>
                <a:latin typeface="Aptos"/>
              </a:defRPr>
            </a:pPr>
            <a:r>
              <a:t>Question: How did the engineer repair the machine?</a:t>
            </a:r>
          </a:p>
        </p:txBody>
      </p:sp>
      <p:graphicFrame>
        <p:nvGraphicFramePr>
          <p:cNvPr id="12" name="Table 11"/>
          <p:cNvGraphicFramePr>
            <a:graphicFrameLocks noGrp="1"/>
          </p:cNvGraphicFramePr>
          <p:nvPr/>
        </p:nvGraphicFramePr>
        <p:xfrm>
          <a:off x="731520" y="2514600"/>
          <a:ext cx="4800600" cy="2484120"/>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594360">
                <a:tc>
                  <a:txBody>
                    <a:bodyPr/>
                    <a:lstStyle/>
                    <a:p>
                      <a:pPr algn="ctr">
                        <a:defRPr sz="1000" b="1">
                          <a:solidFill>
                            <a:srgbClr val="FFFFFF"/>
                          </a:solidFill>
                          <a:latin typeface="Aptos"/>
                        </a:defRPr>
                      </a:pPr>
                      <a:r>
                        <a:t>Candidate</a:t>
                      </a:r>
                    </a:p>
                  </a:txBody>
                  <a:tcPr anchor="ctr">
                    <a:solidFill>
                      <a:srgbClr val="0D1B2A"/>
                    </a:solidFill>
                  </a:tcPr>
                </a:tc>
                <a:tc>
                  <a:txBody>
                    <a:bodyPr/>
                    <a:lstStyle/>
                    <a:p>
                      <a:pPr algn="ctr">
                        <a:defRPr sz="1000" b="1">
                          <a:solidFill>
                            <a:srgbClr val="FFFFFF"/>
                          </a:solidFill>
                          <a:latin typeface="Aptos"/>
                        </a:defRPr>
                      </a:pPr>
                      <a:r>
                        <a:t>Role</a:t>
                      </a:r>
                    </a:p>
                  </a:txBody>
                  <a:tcPr anchor="ctr">
                    <a:solidFill>
                      <a:srgbClr val="0D1B2A"/>
                    </a:solidFill>
                  </a:tcPr>
                </a:tc>
                <a:tc>
                  <a:txBody>
                    <a:bodyPr/>
                    <a:lstStyle/>
                    <a:p>
                      <a:pPr algn="ctr">
                        <a:defRPr sz="1000" b="1">
                          <a:solidFill>
                            <a:srgbClr val="FFFFFF"/>
                          </a:solidFill>
                          <a:latin typeface="Aptos"/>
                        </a:defRPr>
                      </a:pPr>
                      <a:r>
                        <a:t>Source</a:t>
                      </a:r>
                    </a:p>
                  </a:txBody>
                  <a:tcPr anchor="ctr">
                    <a:solidFill>
                      <a:srgbClr val="0D1B2A"/>
                    </a:solidFill>
                  </a:tcPr>
                </a:tc>
                <a:tc>
                  <a:txBody>
                    <a:bodyPr/>
                    <a:lstStyle/>
                    <a:p>
                      <a:pPr algn="ctr">
                        <a:defRPr sz="1000" b="1">
                          <a:solidFill>
                            <a:srgbClr val="FFFFFF"/>
                          </a:solidFill>
                          <a:latin typeface="Aptos"/>
                        </a:defRPr>
                      </a:pPr>
                      <a:r>
                        <a:t>Score</a:t>
                      </a:r>
                    </a:p>
                  </a:txBody>
                  <a:tcPr anchor="ctr">
                    <a:solidFill>
                      <a:srgbClr val="0D1B2A"/>
                    </a:solidFill>
                  </a:tcPr>
                </a:tc>
                <a:extLst>
                  <a:ext uri="{0D108BD9-81ED-4DB2-BD59-A6C34878D82A}">
                    <a16:rowId xmlns:a16="http://schemas.microsoft.com/office/drawing/2014/main" val="10000"/>
                  </a:ext>
                </a:extLst>
              </a:tr>
              <a:tr h="594360">
                <a:tc>
                  <a:txBody>
                    <a:bodyPr/>
                    <a:lstStyle/>
                    <a:p>
                      <a:pPr algn="l">
                        <a:defRPr sz="1000" b="0">
                          <a:solidFill>
                            <a:srgbClr val="222831"/>
                          </a:solidFill>
                          <a:latin typeface="Aptos"/>
                        </a:defRPr>
                      </a:pPr>
                      <a:r>
                        <a:t>carefully</a:t>
                      </a:r>
                    </a:p>
                  </a:txBody>
                  <a:tcPr anchor="ctr">
                    <a:solidFill>
                      <a:srgbClr val="FFFFFF"/>
                    </a:solidFill>
                  </a:tcPr>
                </a:tc>
                <a:tc>
                  <a:txBody>
                    <a:bodyPr/>
                    <a:lstStyle/>
                    <a:p>
                      <a:pPr algn="l">
                        <a:defRPr sz="1000" b="0">
                          <a:solidFill>
                            <a:srgbClr val="222831"/>
                          </a:solidFill>
                          <a:latin typeface="Aptos"/>
                        </a:defRPr>
                      </a:pPr>
                      <a:r>
                        <a:t>ARGM-MNR</a:t>
                      </a:r>
                    </a:p>
                  </a:txBody>
                  <a:tcPr anchor="ctr">
                    <a:solidFill>
                      <a:srgbClr val="FFFFFF"/>
                    </a:solidFill>
                  </a:tcPr>
                </a:tc>
                <a:tc>
                  <a:txBody>
                    <a:bodyPr/>
                    <a:lstStyle/>
                    <a:p>
                      <a:pPr algn="l">
                        <a:defRPr sz="1000" b="0">
                          <a:solidFill>
                            <a:srgbClr val="222831"/>
                          </a:solidFill>
                          <a:latin typeface="Aptos"/>
                        </a:defRPr>
                      </a:pPr>
                      <a:r>
                        <a:t>heuristic_manner</a:t>
                      </a:r>
                    </a:p>
                  </a:txBody>
                  <a:tcPr anchor="ctr">
                    <a:solidFill>
                      <a:srgbClr val="FFFFFF"/>
                    </a:solidFill>
                  </a:tcPr>
                </a:tc>
                <a:tc>
                  <a:txBody>
                    <a:bodyPr/>
                    <a:lstStyle/>
                    <a:p>
                      <a:pPr algn="l">
                        <a:defRPr sz="1000" b="0">
                          <a:solidFill>
                            <a:srgbClr val="222831"/>
                          </a:solidFill>
                          <a:latin typeface="Aptos"/>
                        </a:defRPr>
                      </a:pPr>
                      <a:r>
                        <a:t>0.621</a:t>
                      </a:r>
                    </a:p>
                  </a:txBody>
                  <a:tcPr anchor="ctr">
                    <a:solidFill>
                      <a:srgbClr val="FFFFFF"/>
                    </a:solidFill>
                  </a:tcPr>
                </a:tc>
                <a:extLst>
                  <a:ext uri="{0D108BD9-81ED-4DB2-BD59-A6C34878D82A}">
                    <a16:rowId xmlns:a16="http://schemas.microsoft.com/office/drawing/2014/main" val="10001"/>
                  </a:ext>
                </a:extLst>
              </a:tr>
              <a:tr h="594360">
                <a:tc>
                  <a:txBody>
                    <a:bodyPr/>
                    <a:lstStyle/>
                    <a:p>
                      <a:pPr algn="l">
                        <a:defRPr sz="1000" b="0">
                          <a:solidFill>
                            <a:srgbClr val="222831"/>
                          </a:solidFill>
                          <a:latin typeface="Aptos"/>
                        </a:defRPr>
                      </a:pPr>
                      <a:r>
                        <a:t>with a small screwdriver</a:t>
                      </a:r>
                    </a:p>
                  </a:txBody>
                  <a:tcPr anchor="ctr">
                    <a:solidFill>
                      <a:srgbClr val="FFFFFF"/>
                    </a:solidFill>
                  </a:tcPr>
                </a:tc>
                <a:tc>
                  <a:txBody>
                    <a:bodyPr/>
                    <a:lstStyle/>
                    <a:p>
                      <a:pPr algn="l">
                        <a:defRPr sz="1000" b="0">
                          <a:solidFill>
                            <a:srgbClr val="222831"/>
                          </a:solidFill>
                          <a:latin typeface="Aptos"/>
                        </a:defRPr>
                      </a:pPr>
                      <a:r>
                        <a:t>ARGM-MNR</a:t>
                      </a:r>
                    </a:p>
                  </a:txBody>
                  <a:tcPr anchor="ctr">
                    <a:solidFill>
                      <a:srgbClr val="FFFFFF"/>
                    </a:solidFill>
                  </a:tcPr>
                </a:tc>
                <a:tc>
                  <a:txBody>
                    <a:bodyPr/>
                    <a:lstStyle/>
                    <a:p>
                      <a:pPr algn="l">
                        <a:defRPr sz="1000" b="0">
                          <a:solidFill>
                            <a:srgbClr val="222831"/>
                          </a:solidFill>
                          <a:latin typeface="Aptos"/>
                        </a:defRPr>
                      </a:pPr>
                      <a:r>
                        <a:t>heuristic_manner</a:t>
                      </a:r>
                    </a:p>
                  </a:txBody>
                  <a:tcPr anchor="ctr">
                    <a:solidFill>
                      <a:srgbClr val="FFFFFF"/>
                    </a:solidFill>
                  </a:tcPr>
                </a:tc>
                <a:tc>
                  <a:txBody>
                    <a:bodyPr/>
                    <a:lstStyle/>
                    <a:p>
                      <a:pPr algn="l">
                        <a:defRPr sz="1000" b="0">
                          <a:solidFill>
                            <a:srgbClr val="222831"/>
                          </a:solidFill>
                          <a:latin typeface="Aptos"/>
                        </a:defRPr>
                      </a:pPr>
                      <a:r>
                        <a:t>0.612</a:t>
                      </a:r>
                    </a:p>
                  </a:txBody>
                  <a:tcPr anchor="ctr">
                    <a:solidFill>
                      <a:srgbClr val="FFFFFF"/>
                    </a:solidFill>
                  </a:tcPr>
                </a:tc>
                <a:extLst>
                  <a:ext uri="{0D108BD9-81ED-4DB2-BD59-A6C34878D82A}">
                    <a16:rowId xmlns:a16="http://schemas.microsoft.com/office/drawing/2014/main" val="10002"/>
                  </a:ext>
                </a:extLst>
              </a:tr>
              <a:tr h="594360">
                <a:tc>
                  <a:txBody>
                    <a:bodyPr/>
                    <a:lstStyle/>
                    <a:p>
                      <a:pPr algn="l">
                        <a:defRPr sz="1000" b="0">
                          <a:solidFill>
                            <a:srgbClr val="222831"/>
                          </a:solidFill>
                          <a:latin typeface="Aptos"/>
                        </a:defRPr>
                      </a:pPr>
                      <a:r>
                        <a:t>repaired the machine carefully with a small screwdriver</a:t>
                      </a:r>
                    </a:p>
                  </a:txBody>
                  <a:tcPr anchor="ctr">
                    <a:solidFill>
                      <a:srgbClr val="FFFFFF"/>
                    </a:solidFill>
                  </a:tcPr>
                </a:tc>
                <a:tc>
                  <a:txBody>
                    <a:bodyPr/>
                    <a:lstStyle/>
                    <a:p>
                      <a:pPr algn="l">
                        <a:defRPr sz="1000" b="0">
                          <a:solidFill>
                            <a:srgbClr val="222831"/>
                          </a:solidFill>
                          <a:latin typeface="Aptos"/>
                        </a:defRPr>
                      </a:pPr>
                      <a:r>
                        <a:t>ARG1</a:t>
                      </a:r>
                    </a:p>
                  </a:txBody>
                  <a:tcPr anchor="ctr">
                    <a:solidFill>
                      <a:srgbClr val="FFFFFF"/>
                    </a:solidFill>
                  </a:tcPr>
                </a:tc>
                <a:tc>
                  <a:txBody>
                    <a:bodyPr/>
                    <a:lstStyle/>
                    <a:p>
                      <a:pPr algn="l">
                        <a:defRPr sz="1000" b="0">
                          <a:solidFill>
                            <a:srgbClr val="222831"/>
                          </a:solidFill>
                          <a:latin typeface="Aptos"/>
                        </a:defRPr>
                      </a:pPr>
                      <a:r>
                        <a:t>baseline</a:t>
                      </a:r>
                    </a:p>
                  </a:txBody>
                  <a:tcPr anchor="ctr">
                    <a:solidFill>
                      <a:srgbClr val="FFFFFF"/>
                    </a:solidFill>
                  </a:tcPr>
                </a:tc>
                <a:tc>
                  <a:txBody>
                    <a:bodyPr/>
                    <a:lstStyle/>
                    <a:p>
                      <a:pPr algn="l">
                        <a:defRPr sz="1000" b="0">
                          <a:solidFill>
                            <a:srgbClr val="222831"/>
                          </a:solidFill>
                          <a:latin typeface="Aptos"/>
                        </a:defRPr>
                      </a:pPr>
                      <a:r>
                        <a:t>0.422</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3" name="TextBox 12"/>
          <p:cNvSpPr txBox="1"/>
          <p:nvPr/>
        </p:nvSpPr>
        <p:spPr>
          <a:xfrm>
            <a:off x="5806440" y="914400"/>
            <a:ext cx="1828800" cy="274320"/>
          </a:xfrm>
          <a:prstGeom prst="rect">
            <a:avLst/>
          </a:prstGeom>
          <a:noFill/>
        </p:spPr>
        <p:txBody>
          <a:bodyPr wrap="square" lIns="0" tIns="0" rIns="0" bIns="0">
            <a:spAutoFit/>
          </a:bodyPr>
          <a:lstStyle/>
          <a:p>
            <a:pPr algn="l">
              <a:defRPr sz="1600" b="1">
                <a:solidFill>
                  <a:srgbClr val="0D1B2A"/>
                </a:solidFill>
                <a:latin typeface="Aptos"/>
              </a:defRPr>
            </a:pPr>
            <a:r>
              <a:t>Recipient example</a:t>
            </a:r>
          </a:p>
        </p:txBody>
      </p:sp>
      <p:sp>
        <p:nvSpPr>
          <p:cNvPr id="14" name="TextBox 13"/>
          <p:cNvSpPr txBox="1"/>
          <p:nvPr/>
        </p:nvSpPr>
        <p:spPr>
          <a:xfrm>
            <a:off x="5806440" y="1234440"/>
            <a:ext cx="5029200" cy="685800"/>
          </a:xfrm>
          <a:prstGeom prst="rect">
            <a:avLst/>
          </a:prstGeom>
          <a:noFill/>
        </p:spPr>
        <p:txBody>
          <a:bodyPr wrap="square" lIns="0" tIns="0" rIns="0" bIns="0">
            <a:spAutoFit/>
          </a:bodyPr>
          <a:lstStyle/>
          <a:p>
            <a:pPr algn="l">
              <a:defRPr sz="1400" b="0">
                <a:solidFill>
                  <a:srgbClr val="222831"/>
                </a:solidFill>
                <a:latin typeface="Aptos"/>
              </a:defRPr>
            </a:pPr>
            <a:r>
              <a:t>Context: Maria gave the intern a notebook for the workshop.</a:t>
            </a:r>
          </a:p>
        </p:txBody>
      </p:sp>
      <p:sp>
        <p:nvSpPr>
          <p:cNvPr id="15" name="TextBox 14"/>
          <p:cNvSpPr txBox="1"/>
          <p:nvPr/>
        </p:nvSpPr>
        <p:spPr>
          <a:xfrm>
            <a:off x="5806440" y="1920240"/>
            <a:ext cx="4937760" cy="365760"/>
          </a:xfrm>
          <a:prstGeom prst="rect">
            <a:avLst/>
          </a:prstGeom>
          <a:noFill/>
        </p:spPr>
        <p:txBody>
          <a:bodyPr wrap="square" lIns="0" tIns="0" rIns="0" bIns="0">
            <a:spAutoFit/>
          </a:bodyPr>
          <a:lstStyle/>
          <a:p>
            <a:pPr algn="l">
              <a:defRPr sz="1600" b="1">
                <a:solidFill>
                  <a:srgbClr val="0D1B2A"/>
                </a:solidFill>
                <a:latin typeface="Aptos"/>
              </a:defRPr>
            </a:pPr>
            <a:r>
              <a:t>Question: Who received a notebook?</a:t>
            </a:r>
          </a:p>
        </p:txBody>
      </p:sp>
      <p:graphicFrame>
        <p:nvGraphicFramePr>
          <p:cNvPr id="16" name="Table 15"/>
          <p:cNvGraphicFramePr>
            <a:graphicFrameLocks noGrp="1"/>
          </p:cNvGraphicFramePr>
          <p:nvPr/>
        </p:nvGraphicFramePr>
        <p:xfrm>
          <a:off x="5806440" y="2423160"/>
          <a:ext cx="4800600" cy="2468880"/>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617220">
                <a:tc>
                  <a:txBody>
                    <a:bodyPr/>
                    <a:lstStyle/>
                    <a:p>
                      <a:pPr algn="ctr">
                        <a:defRPr sz="1000" b="1">
                          <a:solidFill>
                            <a:srgbClr val="FFFFFF"/>
                          </a:solidFill>
                          <a:latin typeface="Aptos"/>
                        </a:defRPr>
                      </a:pPr>
                      <a:r>
                        <a:t>Candidate</a:t>
                      </a:r>
                    </a:p>
                  </a:txBody>
                  <a:tcPr anchor="ctr">
                    <a:solidFill>
                      <a:srgbClr val="0D1B2A"/>
                    </a:solidFill>
                  </a:tcPr>
                </a:tc>
                <a:tc>
                  <a:txBody>
                    <a:bodyPr/>
                    <a:lstStyle/>
                    <a:p>
                      <a:pPr algn="ctr">
                        <a:defRPr sz="1000" b="1">
                          <a:solidFill>
                            <a:srgbClr val="FFFFFF"/>
                          </a:solidFill>
                          <a:latin typeface="Aptos"/>
                        </a:defRPr>
                      </a:pPr>
                      <a:r>
                        <a:t>Role</a:t>
                      </a:r>
                    </a:p>
                  </a:txBody>
                  <a:tcPr anchor="ctr">
                    <a:solidFill>
                      <a:srgbClr val="0D1B2A"/>
                    </a:solidFill>
                  </a:tcPr>
                </a:tc>
                <a:tc>
                  <a:txBody>
                    <a:bodyPr/>
                    <a:lstStyle/>
                    <a:p>
                      <a:pPr algn="ctr">
                        <a:defRPr sz="1000" b="1">
                          <a:solidFill>
                            <a:srgbClr val="FFFFFF"/>
                          </a:solidFill>
                          <a:latin typeface="Aptos"/>
                        </a:defRPr>
                      </a:pPr>
                      <a:r>
                        <a:t>Source</a:t>
                      </a:r>
                    </a:p>
                  </a:txBody>
                  <a:tcPr anchor="ctr">
                    <a:solidFill>
                      <a:srgbClr val="0D1B2A"/>
                    </a:solidFill>
                  </a:tcPr>
                </a:tc>
                <a:tc>
                  <a:txBody>
                    <a:bodyPr/>
                    <a:lstStyle/>
                    <a:p>
                      <a:pPr algn="ctr">
                        <a:defRPr sz="1000" b="1">
                          <a:solidFill>
                            <a:srgbClr val="FFFFFF"/>
                          </a:solidFill>
                          <a:latin typeface="Aptos"/>
                        </a:defRPr>
                      </a:pPr>
                      <a:r>
                        <a:t>Score</a:t>
                      </a:r>
                    </a:p>
                  </a:txBody>
                  <a:tcPr anchor="ctr">
                    <a:solidFill>
                      <a:srgbClr val="0D1B2A"/>
                    </a:solidFill>
                  </a:tcPr>
                </a:tc>
                <a:extLst>
                  <a:ext uri="{0D108BD9-81ED-4DB2-BD59-A6C34878D82A}">
                    <a16:rowId xmlns:a16="http://schemas.microsoft.com/office/drawing/2014/main" val="10000"/>
                  </a:ext>
                </a:extLst>
              </a:tr>
              <a:tr h="617220">
                <a:tc>
                  <a:txBody>
                    <a:bodyPr/>
                    <a:lstStyle/>
                    <a:p>
                      <a:pPr algn="l">
                        <a:defRPr sz="1000" b="0">
                          <a:solidFill>
                            <a:srgbClr val="222831"/>
                          </a:solidFill>
                          <a:latin typeface="Aptos"/>
                        </a:defRPr>
                      </a:pPr>
                      <a:r>
                        <a:t>the intern</a:t>
                      </a:r>
                    </a:p>
                  </a:txBody>
                  <a:tcPr anchor="ctr">
                    <a:solidFill>
                      <a:srgbClr val="FFFFFF"/>
                    </a:solidFill>
                  </a:tcPr>
                </a:tc>
                <a:tc>
                  <a:txBody>
                    <a:bodyPr/>
                    <a:lstStyle/>
                    <a:p>
                      <a:pPr algn="l">
                        <a:defRPr sz="1000" b="0">
                          <a:solidFill>
                            <a:srgbClr val="222831"/>
                          </a:solidFill>
                          <a:latin typeface="Aptos"/>
                        </a:defRPr>
                      </a:pPr>
                      <a:r>
                        <a:t>ARG2</a:t>
                      </a:r>
                    </a:p>
                  </a:txBody>
                  <a:tcPr anchor="ctr">
                    <a:solidFill>
                      <a:srgbClr val="FFFFFF"/>
                    </a:solidFill>
                  </a:tcPr>
                </a:tc>
                <a:tc>
                  <a:txBody>
                    <a:bodyPr/>
                    <a:lstStyle/>
                    <a:p>
                      <a:pPr algn="l">
                        <a:defRPr sz="1000" b="0">
                          <a:solidFill>
                            <a:srgbClr val="222831"/>
                          </a:solidFill>
                          <a:latin typeface="Aptos"/>
                        </a:defRPr>
                      </a:pPr>
                      <a:r>
                        <a:t>heuristic_recipient</a:t>
                      </a:r>
                    </a:p>
                  </a:txBody>
                  <a:tcPr anchor="ctr">
                    <a:solidFill>
                      <a:srgbClr val="FFFFFF"/>
                    </a:solidFill>
                  </a:tcPr>
                </a:tc>
                <a:tc>
                  <a:txBody>
                    <a:bodyPr/>
                    <a:lstStyle/>
                    <a:p>
                      <a:pPr algn="l">
                        <a:defRPr sz="1000" b="0">
                          <a:solidFill>
                            <a:srgbClr val="222831"/>
                          </a:solidFill>
                          <a:latin typeface="Aptos"/>
                        </a:defRPr>
                      </a:pPr>
                      <a:r>
                        <a:t>0.534</a:t>
                      </a:r>
                    </a:p>
                  </a:txBody>
                  <a:tcPr anchor="ctr">
                    <a:solidFill>
                      <a:srgbClr val="FFFFFF"/>
                    </a:solidFill>
                  </a:tcPr>
                </a:tc>
                <a:extLst>
                  <a:ext uri="{0D108BD9-81ED-4DB2-BD59-A6C34878D82A}">
                    <a16:rowId xmlns:a16="http://schemas.microsoft.com/office/drawing/2014/main" val="10001"/>
                  </a:ext>
                </a:extLst>
              </a:tr>
              <a:tr h="617220">
                <a:tc>
                  <a:txBody>
                    <a:bodyPr/>
                    <a:lstStyle/>
                    <a:p>
                      <a:pPr algn="l">
                        <a:defRPr sz="1000" b="0">
                          <a:solidFill>
                            <a:srgbClr val="222831"/>
                          </a:solidFill>
                          <a:latin typeface="Aptos"/>
                        </a:defRPr>
                      </a:pPr>
                      <a:r>
                        <a:t>notebook for the workshop</a:t>
                      </a:r>
                    </a:p>
                  </a:txBody>
                  <a:tcPr anchor="ctr">
                    <a:solidFill>
                      <a:srgbClr val="FFFFFF"/>
                    </a:solidFill>
                  </a:tcPr>
                </a:tc>
                <a:tc>
                  <a:txBody>
                    <a:bodyPr/>
                    <a:lstStyle/>
                    <a:p>
                      <a:pPr algn="l">
                        <a:defRPr sz="1000" b="0">
                          <a:solidFill>
                            <a:srgbClr val="222831"/>
                          </a:solidFill>
                          <a:latin typeface="Aptos"/>
                        </a:defRPr>
                      </a:pPr>
                      <a:r>
                        <a:t>ARG1</a:t>
                      </a:r>
                    </a:p>
                  </a:txBody>
                  <a:tcPr anchor="ctr">
                    <a:solidFill>
                      <a:srgbClr val="FFFFFF"/>
                    </a:solidFill>
                  </a:tcPr>
                </a:tc>
                <a:tc>
                  <a:txBody>
                    <a:bodyPr/>
                    <a:lstStyle/>
                    <a:p>
                      <a:pPr algn="l">
                        <a:defRPr sz="1000" b="0">
                          <a:solidFill>
                            <a:srgbClr val="222831"/>
                          </a:solidFill>
                          <a:latin typeface="Aptos"/>
                        </a:defRPr>
                      </a:pPr>
                      <a:r>
                        <a:t>baseline</a:t>
                      </a:r>
                    </a:p>
                  </a:txBody>
                  <a:tcPr anchor="ctr">
                    <a:solidFill>
                      <a:srgbClr val="FFFFFF"/>
                    </a:solidFill>
                  </a:tcPr>
                </a:tc>
                <a:tc>
                  <a:txBody>
                    <a:bodyPr/>
                    <a:lstStyle/>
                    <a:p>
                      <a:pPr algn="l">
                        <a:defRPr sz="1000" b="0">
                          <a:solidFill>
                            <a:srgbClr val="222831"/>
                          </a:solidFill>
                          <a:latin typeface="Aptos"/>
                        </a:defRPr>
                      </a:pPr>
                      <a:r>
                        <a:t>0.512</a:t>
                      </a:r>
                    </a:p>
                  </a:txBody>
                  <a:tcPr anchor="ctr">
                    <a:solidFill>
                      <a:srgbClr val="FFFFFF"/>
                    </a:solidFill>
                  </a:tcPr>
                </a:tc>
                <a:extLst>
                  <a:ext uri="{0D108BD9-81ED-4DB2-BD59-A6C34878D82A}">
                    <a16:rowId xmlns:a16="http://schemas.microsoft.com/office/drawing/2014/main" val="10002"/>
                  </a:ext>
                </a:extLst>
              </a:tr>
              <a:tr h="617220">
                <a:tc>
                  <a:txBody>
                    <a:bodyPr/>
                    <a:lstStyle/>
                    <a:p>
                      <a:pPr algn="l">
                        <a:defRPr sz="1000" b="0">
                          <a:solidFill>
                            <a:srgbClr val="222831"/>
                          </a:solidFill>
                          <a:latin typeface="Aptos"/>
                        </a:defRPr>
                      </a:pPr>
                      <a:r>
                        <a:t>the intern a notebook</a:t>
                      </a:r>
                    </a:p>
                  </a:txBody>
                  <a:tcPr anchor="ctr">
                    <a:solidFill>
                      <a:srgbClr val="FFFFFF"/>
                    </a:solidFill>
                  </a:tcPr>
                </a:tc>
                <a:tc>
                  <a:txBody>
                    <a:bodyPr/>
                    <a:lstStyle/>
                    <a:p>
                      <a:pPr algn="l">
                        <a:defRPr sz="1000" b="0">
                          <a:solidFill>
                            <a:srgbClr val="222831"/>
                          </a:solidFill>
                          <a:latin typeface="Aptos"/>
                        </a:defRPr>
                      </a:pPr>
                      <a:r>
                        <a:t>ARG1</a:t>
                      </a:r>
                    </a:p>
                  </a:txBody>
                  <a:tcPr anchor="ctr">
                    <a:solidFill>
                      <a:srgbClr val="FFFFFF"/>
                    </a:solidFill>
                  </a:tcPr>
                </a:tc>
                <a:tc>
                  <a:txBody>
                    <a:bodyPr/>
                    <a:lstStyle/>
                    <a:p>
                      <a:pPr algn="l">
                        <a:defRPr sz="1000" b="0">
                          <a:solidFill>
                            <a:srgbClr val="222831"/>
                          </a:solidFill>
                          <a:latin typeface="Aptos"/>
                        </a:defRPr>
                      </a:pPr>
                      <a:r>
                        <a:t>heuristic_theme</a:t>
                      </a:r>
                    </a:p>
                  </a:txBody>
                  <a:tcPr anchor="ctr">
                    <a:solidFill>
                      <a:srgbClr val="FFFFFF"/>
                    </a:solidFill>
                  </a:tcPr>
                </a:tc>
                <a:tc>
                  <a:txBody>
                    <a:bodyPr/>
                    <a:lstStyle/>
                    <a:p>
                      <a:pPr algn="l">
                        <a:defRPr sz="1000" b="0">
                          <a:solidFill>
                            <a:srgbClr val="222831"/>
                          </a:solidFill>
                          <a:latin typeface="Aptos"/>
                        </a:defRPr>
                      </a:pPr>
                      <a:r>
                        <a:t>0.476</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7" name="TextBox 16"/>
          <p:cNvSpPr txBox="1"/>
          <p:nvPr/>
        </p:nvSpPr>
        <p:spPr>
          <a:xfrm>
            <a:off x="731520" y="5212080"/>
            <a:ext cx="10058400" cy="640080"/>
          </a:xfrm>
          <a:prstGeom prst="rect">
            <a:avLst/>
          </a:prstGeom>
          <a:noFill/>
        </p:spPr>
        <p:txBody>
          <a:bodyPr wrap="square" lIns="0" tIns="0" rIns="0" bIns="0">
            <a:spAutoFit/>
          </a:bodyPr>
          <a:lstStyle/>
          <a:p>
            <a:pPr algn="l">
              <a:defRPr sz="1400" b="0">
                <a:solidFill>
                  <a:srgbClr val="222831"/>
                </a:solidFill>
                <a:latin typeface="Aptos"/>
              </a:defRPr>
            </a:pPr>
            <a:r>
              <a:t>Both examples show the same pattern: question intent narrows the expected role, heuristics create role-aligned candidates, and weighted reranking chooses the best semantic match.</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Why the Heuristic Reranker Matters</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INNOVATION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25</a:t>
            </a:r>
          </a:p>
        </p:txBody>
      </p:sp>
      <p:sp>
        <p:nvSpPr>
          <p:cNvPr id="9" name="Rectangle 8"/>
          <p:cNvSpPr/>
          <p:nvPr/>
        </p:nvSpPr>
        <p:spPr>
          <a:xfrm>
            <a:off x="5623560" y="914400"/>
            <a:ext cx="5577840" cy="420624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ablation_summary.png"/>
          <p:cNvPicPr>
            <a:picLocks noChangeAspect="1"/>
          </p:cNvPicPr>
          <p:nvPr/>
        </p:nvPicPr>
        <p:blipFill>
          <a:blip r:embed="rId3"/>
          <a:stretch>
            <a:fillRect/>
          </a:stretch>
        </p:blipFill>
        <p:spPr>
          <a:xfrm>
            <a:off x="5623560" y="1623060"/>
            <a:ext cx="5577840" cy="2788920"/>
          </a:xfrm>
          <a:prstGeom prst="rect">
            <a:avLst/>
          </a:prstGeom>
        </p:spPr>
      </p:pic>
      <p:sp>
        <p:nvSpPr>
          <p:cNvPr id="11" name="TextBox 10"/>
          <p:cNvSpPr txBox="1"/>
          <p:nvPr/>
        </p:nvSpPr>
        <p:spPr>
          <a:xfrm>
            <a:off x="731520" y="960120"/>
            <a:ext cx="4572000" cy="2194560"/>
          </a:xfrm>
          <a:prstGeom prst="rect">
            <a:avLst/>
          </a:prstGeom>
          <a:noFill/>
        </p:spPr>
        <p:txBody>
          <a:bodyPr wrap="square">
            <a:spAutoFit/>
          </a:bodyPr>
          <a:lstStyle/>
          <a:p>
            <a:pPr>
              <a:spcAft>
                <a:spcPts val="700"/>
              </a:spcAft>
              <a:defRPr sz="1800">
                <a:solidFill>
                  <a:srgbClr val="222831"/>
                </a:solidFill>
                <a:latin typeface="Aptos"/>
              </a:defRPr>
            </a:pPr>
            <a:r>
              <a:t>The heuristic reranker captures nearly all measurable gains observed on the challenge and sampled test benchmarks</a:t>
            </a:r>
          </a:p>
          <a:p>
            <a:pPr>
              <a:spcAft>
                <a:spcPts val="700"/>
              </a:spcAft>
              <a:defRPr sz="1800">
                <a:solidFill>
                  <a:srgbClr val="222831"/>
                </a:solidFill>
                <a:latin typeface="Aptos"/>
              </a:defRPr>
            </a:pPr>
            <a:r>
              <a:t>It stays fast enough for interactive local use, unlike heavier transformer-assisted modes</a:t>
            </a:r>
          </a:p>
          <a:p>
            <a:pPr>
              <a:spcAft>
                <a:spcPts val="700"/>
              </a:spcAft>
              <a:defRPr sz="1800">
                <a:solidFill>
                  <a:srgbClr val="222831"/>
                </a:solidFill>
                <a:latin typeface="Aptos"/>
              </a:defRPr>
            </a:pPr>
            <a:r>
              <a:t>The result is a strong argument for semantic feature design rather than only adding bigger models</a:t>
            </a:r>
          </a:p>
        </p:txBody>
      </p:sp>
      <p:sp>
        <p:nvSpPr>
          <p:cNvPr id="12" name="Rounded Rectangle 11"/>
          <p:cNvSpPr/>
          <p:nvPr/>
        </p:nvSpPr>
        <p:spPr>
          <a:xfrm>
            <a:off x="822960" y="3657600"/>
            <a:ext cx="196596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22960" y="365760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78992" y="3822191"/>
            <a:ext cx="1554480" cy="256032"/>
          </a:xfrm>
          <a:prstGeom prst="rect">
            <a:avLst/>
          </a:prstGeom>
          <a:noFill/>
        </p:spPr>
        <p:txBody>
          <a:bodyPr wrap="square" lIns="0" tIns="0" rIns="0" bIns="0">
            <a:spAutoFit/>
          </a:bodyPr>
          <a:lstStyle/>
          <a:p>
            <a:pPr algn="l">
              <a:defRPr sz="1100" b="1">
                <a:solidFill>
                  <a:srgbClr val="5E6C84"/>
                </a:solidFill>
                <a:latin typeface="Aptos"/>
              </a:defRPr>
            </a:pPr>
            <a:r>
              <a:t>Challenge F1</a:t>
            </a:r>
          </a:p>
        </p:txBody>
      </p:sp>
      <p:sp>
        <p:nvSpPr>
          <p:cNvPr id="15" name="TextBox 14"/>
          <p:cNvSpPr txBox="1"/>
          <p:nvPr/>
        </p:nvSpPr>
        <p:spPr>
          <a:xfrm>
            <a:off x="1078992" y="4069080"/>
            <a:ext cx="1554480" cy="402336"/>
          </a:xfrm>
          <a:prstGeom prst="rect">
            <a:avLst/>
          </a:prstGeom>
          <a:noFill/>
        </p:spPr>
        <p:txBody>
          <a:bodyPr wrap="square" lIns="0" tIns="0" rIns="0" bIns="0">
            <a:spAutoFit/>
          </a:bodyPr>
          <a:lstStyle/>
          <a:p>
            <a:pPr algn="l">
              <a:defRPr sz="2100" b="1">
                <a:solidFill>
                  <a:srgbClr val="0D1B2A"/>
                </a:solidFill>
                <a:latin typeface="Aptos"/>
              </a:defRPr>
            </a:pPr>
            <a:r>
              <a:t>78.0%</a:t>
            </a:r>
          </a:p>
        </p:txBody>
      </p:sp>
      <p:sp>
        <p:nvSpPr>
          <p:cNvPr id="16" name="Rounded Rectangle 15"/>
          <p:cNvSpPr/>
          <p:nvPr/>
        </p:nvSpPr>
        <p:spPr>
          <a:xfrm>
            <a:off x="2971800" y="3657600"/>
            <a:ext cx="196596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971800" y="365760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27832" y="3822191"/>
            <a:ext cx="1554480" cy="256032"/>
          </a:xfrm>
          <a:prstGeom prst="rect">
            <a:avLst/>
          </a:prstGeom>
          <a:noFill/>
        </p:spPr>
        <p:txBody>
          <a:bodyPr wrap="square" lIns="0" tIns="0" rIns="0" bIns="0">
            <a:spAutoFit/>
          </a:bodyPr>
          <a:lstStyle/>
          <a:p>
            <a:pPr algn="l">
              <a:defRPr sz="1100" b="1">
                <a:solidFill>
                  <a:srgbClr val="5E6C84"/>
                </a:solidFill>
                <a:latin typeface="Aptos"/>
              </a:defRPr>
            </a:pPr>
            <a:r>
              <a:t>Challenge Role Acc.</a:t>
            </a:r>
          </a:p>
        </p:txBody>
      </p:sp>
      <p:sp>
        <p:nvSpPr>
          <p:cNvPr id="19" name="TextBox 18"/>
          <p:cNvSpPr txBox="1"/>
          <p:nvPr/>
        </p:nvSpPr>
        <p:spPr>
          <a:xfrm>
            <a:off x="3227832" y="4069080"/>
            <a:ext cx="1554480" cy="402336"/>
          </a:xfrm>
          <a:prstGeom prst="rect">
            <a:avLst/>
          </a:prstGeom>
          <a:noFill/>
        </p:spPr>
        <p:txBody>
          <a:bodyPr wrap="square" lIns="0" tIns="0" rIns="0" bIns="0">
            <a:spAutoFit/>
          </a:bodyPr>
          <a:lstStyle/>
          <a:p>
            <a:pPr algn="l">
              <a:defRPr sz="2100" b="1">
                <a:solidFill>
                  <a:srgbClr val="0D1B2A"/>
                </a:solidFill>
                <a:latin typeface="Aptos"/>
              </a:defRPr>
            </a:pPr>
            <a:r>
              <a:t>100.0%</a:t>
            </a:r>
          </a:p>
        </p:txBody>
      </p:sp>
      <p:sp>
        <p:nvSpPr>
          <p:cNvPr id="20" name="Rounded Rectangle 19"/>
          <p:cNvSpPr/>
          <p:nvPr/>
        </p:nvSpPr>
        <p:spPr>
          <a:xfrm>
            <a:off x="822960" y="4754880"/>
            <a:ext cx="196596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2960" y="475488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78992" y="4919472"/>
            <a:ext cx="1554480" cy="256032"/>
          </a:xfrm>
          <a:prstGeom prst="rect">
            <a:avLst/>
          </a:prstGeom>
          <a:noFill/>
        </p:spPr>
        <p:txBody>
          <a:bodyPr wrap="square" lIns="0" tIns="0" rIns="0" bIns="0">
            <a:spAutoFit/>
          </a:bodyPr>
          <a:lstStyle/>
          <a:p>
            <a:pPr algn="l">
              <a:defRPr sz="1100" b="1">
                <a:solidFill>
                  <a:srgbClr val="5E6C84"/>
                </a:solidFill>
                <a:latin typeface="Aptos"/>
              </a:defRPr>
            </a:pPr>
            <a:r>
              <a:t>Subset F1</a:t>
            </a:r>
          </a:p>
        </p:txBody>
      </p:sp>
      <p:sp>
        <p:nvSpPr>
          <p:cNvPr id="23" name="TextBox 22"/>
          <p:cNvSpPr txBox="1"/>
          <p:nvPr/>
        </p:nvSpPr>
        <p:spPr>
          <a:xfrm>
            <a:off x="1078992" y="5166360"/>
            <a:ext cx="1554480" cy="402336"/>
          </a:xfrm>
          <a:prstGeom prst="rect">
            <a:avLst/>
          </a:prstGeom>
          <a:noFill/>
        </p:spPr>
        <p:txBody>
          <a:bodyPr wrap="square" lIns="0" tIns="0" rIns="0" bIns="0">
            <a:spAutoFit/>
          </a:bodyPr>
          <a:lstStyle/>
          <a:p>
            <a:pPr algn="l">
              <a:defRPr sz="2100" b="1">
                <a:solidFill>
                  <a:srgbClr val="0D1B2A"/>
                </a:solidFill>
                <a:latin typeface="Aptos"/>
              </a:defRPr>
            </a:pPr>
            <a:r>
              <a:t>41.8%</a:t>
            </a:r>
          </a:p>
        </p:txBody>
      </p:sp>
      <p:sp>
        <p:nvSpPr>
          <p:cNvPr id="24" name="Rounded Rectangle 23"/>
          <p:cNvSpPr/>
          <p:nvPr/>
        </p:nvSpPr>
        <p:spPr>
          <a:xfrm>
            <a:off x="2971800" y="4754880"/>
            <a:ext cx="196596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971800" y="4754880"/>
            <a:ext cx="109728" cy="914400"/>
          </a:xfrm>
          <a:prstGeom prst="rect">
            <a:avLst/>
          </a:prstGeom>
          <a:solidFill>
            <a:srgbClr val="218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27832" y="4919472"/>
            <a:ext cx="1554480" cy="256032"/>
          </a:xfrm>
          <a:prstGeom prst="rect">
            <a:avLst/>
          </a:prstGeom>
          <a:noFill/>
        </p:spPr>
        <p:txBody>
          <a:bodyPr wrap="square" lIns="0" tIns="0" rIns="0" bIns="0">
            <a:spAutoFit/>
          </a:bodyPr>
          <a:lstStyle/>
          <a:p>
            <a:pPr algn="l">
              <a:defRPr sz="1100" b="1">
                <a:solidFill>
                  <a:srgbClr val="5E6C84"/>
                </a:solidFill>
                <a:latin typeface="Aptos"/>
              </a:defRPr>
            </a:pPr>
            <a:r>
              <a:t>Latency</a:t>
            </a:r>
          </a:p>
        </p:txBody>
      </p:sp>
      <p:sp>
        <p:nvSpPr>
          <p:cNvPr id="27" name="TextBox 26"/>
          <p:cNvSpPr txBox="1"/>
          <p:nvPr/>
        </p:nvSpPr>
        <p:spPr>
          <a:xfrm>
            <a:off x="3227832" y="5166360"/>
            <a:ext cx="1554480" cy="402336"/>
          </a:xfrm>
          <a:prstGeom prst="rect">
            <a:avLst/>
          </a:prstGeom>
          <a:noFill/>
        </p:spPr>
        <p:txBody>
          <a:bodyPr wrap="square" lIns="0" tIns="0" rIns="0" bIns="0">
            <a:spAutoFit/>
          </a:bodyPr>
          <a:lstStyle/>
          <a:p>
            <a:pPr algn="l">
              <a:defRPr sz="2100" b="1">
                <a:solidFill>
                  <a:srgbClr val="0D1B2A"/>
                </a:solidFill>
                <a:latin typeface="Aptos"/>
              </a:defRPr>
            </a:pPr>
            <a:r>
              <a:t>5.84 ms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Innovation Summary</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INNOVATION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26</a:t>
            </a:r>
          </a:p>
        </p:txBody>
      </p:sp>
      <p:sp>
        <p:nvSpPr>
          <p:cNvPr id="9" name="Rounded Rectangle 8"/>
          <p:cNvSpPr/>
          <p:nvPr/>
        </p:nvSpPr>
        <p:spPr>
          <a:xfrm>
            <a:off x="777240" y="1005840"/>
            <a:ext cx="2514600" cy="118872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005840"/>
            <a:ext cx="109728" cy="118872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1170432"/>
            <a:ext cx="2103120" cy="256032"/>
          </a:xfrm>
          <a:prstGeom prst="rect">
            <a:avLst/>
          </a:prstGeom>
          <a:noFill/>
        </p:spPr>
        <p:txBody>
          <a:bodyPr wrap="square" lIns="0" tIns="0" rIns="0" bIns="0">
            <a:spAutoFit/>
          </a:bodyPr>
          <a:lstStyle/>
          <a:p>
            <a:pPr algn="l">
              <a:defRPr sz="1100" b="1">
                <a:solidFill>
                  <a:srgbClr val="5E6C84"/>
                </a:solidFill>
                <a:latin typeface="Aptos"/>
              </a:defRPr>
            </a:pPr>
            <a:r>
              <a:t>Innovation 1</a:t>
            </a:r>
          </a:p>
        </p:txBody>
      </p:sp>
      <p:sp>
        <p:nvSpPr>
          <p:cNvPr id="12" name="TextBox 11"/>
          <p:cNvSpPr txBox="1"/>
          <p:nvPr/>
        </p:nvSpPr>
        <p:spPr>
          <a:xfrm>
            <a:off x="1033271" y="1417320"/>
            <a:ext cx="2103120" cy="402336"/>
          </a:xfrm>
          <a:prstGeom prst="rect">
            <a:avLst/>
          </a:prstGeom>
          <a:noFill/>
        </p:spPr>
        <p:txBody>
          <a:bodyPr wrap="square" lIns="0" tIns="0" rIns="0" bIns="0">
            <a:spAutoFit/>
          </a:bodyPr>
          <a:lstStyle/>
          <a:p>
            <a:pPr algn="l">
              <a:defRPr sz="2100" b="1">
                <a:solidFill>
                  <a:srgbClr val="0D1B2A"/>
                </a:solidFill>
                <a:latin typeface="Aptos"/>
              </a:defRPr>
            </a:pPr>
            <a:r>
              <a:t>SRL-anchored extractive QA with joint learning</a:t>
            </a:r>
          </a:p>
        </p:txBody>
      </p:sp>
      <p:sp>
        <p:nvSpPr>
          <p:cNvPr id="13" name="Rounded Rectangle 12"/>
          <p:cNvSpPr/>
          <p:nvPr/>
        </p:nvSpPr>
        <p:spPr>
          <a:xfrm>
            <a:off x="3611880" y="1005840"/>
            <a:ext cx="2514600" cy="118872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11880" y="1005840"/>
            <a:ext cx="109728" cy="11887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67912" y="1170432"/>
            <a:ext cx="2103120" cy="256032"/>
          </a:xfrm>
          <a:prstGeom prst="rect">
            <a:avLst/>
          </a:prstGeom>
          <a:noFill/>
        </p:spPr>
        <p:txBody>
          <a:bodyPr wrap="square" lIns="0" tIns="0" rIns="0" bIns="0">
            <a:spAutoFit/>
          </a:bodyPr>
          <a:lstStyle/>
          <a:p>
            <a:pPr algn="l">
              <a:defRPr sz="1100" b="1">
                <a:solidFill>
                  <a:srgbClr val="5E6C84"/>
                </a:solidFill>
                <a:latin typeface="Aptos"/>
              </a:defRPr>
            </a:pPr>
            <a:r>
              <a:t>Innovation 2</a:t>
            </a:r>
          </a:p>
        </p:txBody>
      </p:sp>
      <p:sp>
        <p:nvSpPr>
          <p:cNvPr id="16" name="TextBox 15"/>
          <p:cNvSpPr txBox="1"/>
          <p:nvPr/>
        </p:nvSpPr>
        <p:spPr>
          <a:xfrm>
            <a:off x="3867912" y="1417320"/>
            <a:ext cx="2103120" cy="402336"/>
          </a:xfrm>
          <a:prstGeom prst="rect">
            <a:avLst/>
          </a:prstGeom>
          <a:noFill/>
        </p:spPr>
        <p:txBody>
          <a:bodyPr wrap="square" lIns="0" tIns="0" rIns="0" bIns="0">
            <a:spAutoFit/>
          </a:bodyPr>
          <a:lstStyle/>
          <a:p>
            <a:pPr algn="l">
              <a:defRPr sz="2100" b="1">
                <a:solidFill>
                  <a:srgbClr val="0D1B2A"/>
                </a:solidFill>
                <a:latin typeface="Aptos"/>
              </a:defRPr>
            </a:pPr>
            <a:r>
              <a:t>Role-aware question parsing and intent mapping</a:t>
            </a:r>
          </a:p>
        </p:txBody>
      </p:sp>
      <p:sp>
        <p:nvSpPr>
          <p:cNvPr id="17" name="Rounded Rectangle 16"/>
          <p:cNvSpPr/>
          <p:nvPr/>
        </p:nvSpPr>
        <p:spPr>
          <a:xfrm>
            <a:off x="6446520" y="1005840"/>
            <a:ext cx="2514600" cy="118872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46520" y="1005840"/>
            <a:ext cx="109728" cy="118872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02552" y="1170432"/>
            <a:ext cx="2103120" cy="256032"/>
          </a:xfrm>
          <a:prstGeom prst="rect">
            <a:avLst/>
          </a:prstGeom>
          <a:noFill/>
        </p:spPr>
        <p:txBody>
          <a:bodyPr wrap="square" lIns="0" tIns="0" rIns="0" bIns="0">
            <a:spAutoFit/>
          </a:bodyPr>
          <a:lstStyle/>
          <a:p>
            <a:pPr algn="l">
              <a:defRPr sz="1100" b="1">
                <a:solidFill>
                  <a:srgbClr val="5E6C84"/>
                </a:solidFill>
                <a:latin typeface="Aptos"/>
              </a:defRPr>
            </a:pPr>
            <a:r>
              <a:t>Innovation 3</a:t>
            </a:r>
          </a:p>
        </p:txBody>
      </p:sp>
      <p:sp>
        <p:nvSpPr>
          <p:cNvPr id="20" name="TextBox 19"/>
          <p:cNvSpPr txBox="1"/>
          <p:nvPr/>
        </p:nvSpPr>
        <p:spPr>
          <a:xfrm>
            <a:off x="6702552" y="1417320"/>
            <a:ext cx="2103120" cy="402336"/>
          </a:xfrm>
          <a:prstGeom prst="rect">
            <a:avLst/>
          </a:prstGeom>
          <a:noFill/>
        </p:spPr>
        <p:txBody>
          <a:bodyPr wrap="square" lIns="0" tIns="0" rIns="0" bIns="0">
            <a:spAutoFit/>
          </a:bodyPr>
          <a:lstStyle/>
          <a:p>
            <a:pPr algn="l">
              <a:defRPr sz="2100" b="1">
                <a:solidFill>
                  <a:srgbClr val="0D1B2A"/>
                </a:solidFill>
                <a:latin typeface="Aptos"/>
              </a:defRPr>
            </a:pPr>
            <a:r>
              <a:t>Multi-channel candidates: baseline + heuristics + transformer</a:t>
            </a:r>
          </a:p>
        </p:txBody>
      </p:sp>
      <p:sp>
        <p:nvSpPr>
          <p:cNvPr id="21" name="Rounded Rectangle 20"/>
          <p:cNvSpPr/>
          <p:nvPr/>
        </p:nvSpPr>
        <p:spPr>
          <a:xfrm>
            <a:off x="9281160" y="1005840"/>
            <a:ext cx="2103120" cy="118872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281160" y="1005840"/>
            <a:ext cx="109728" cy="1188720"/>
          </a:xfrm>
          <a:prstGeom prst="rect">
            <a:avLst/>
          </a:prstGeom>
          <a:solidFill>
            <a:srgbClr val="218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37192" y="1170432"/>
            <a:ext cx="1691639" cy="256032"/>
          </a:xfrm>
          <a:prstGeom prst="rect">
            <a:avLst/>
          </a:prstGeom>
          <a:noFill/>
        </p:spPr>
        <p:txBody>
          <a:bodyPr wrap="square" lIns="0" tIns="0" rIns="0" bIns="0">
            <a:spAutoFit/>
          </a:bodyPr>
          <a:lstStyle/>
          <a:p>
            <a:pPr algn="l">
              <a:defRPr sz="1100" b="1">
                <a:solidFill>
                  <a:srgbClr val="5E6C84"/>
                </a:solidFill>
                <a:latin typeface="Aptos"/>
              </a:defRPr>
            </a:pPr>
            <a:r>
              <a:t>Innovation 4</a:t>
            </a:r>
          </a:p>
        </p:txBody>
      </p:sp>
      <p:sp>
        <p:nvSpPr>
          <p:cNvPr id="24" name="TextBox 23"/>
          <p:cNvSpPr txBox="1"/>
          <p:nvPr/>
        </p:nvSpPr>
        <p:spPr>
          <a:xfrm>
            <a:off x="9537192" y="1417320"/>
            <a:ext cx="1691639" cy="402336"/>
          </a:xfrm>
          <a:prstGeom prst="rect">
            <a:avLst/>
          </a:prstGeom>
          <a:noFill/>
        </p:spPr>
        <p:txBody>
          <a:bodyPr wrap="square" lIns="0" tIns="0" rIns="0" bIns="0">
            <a:spAutoFit/>
          </a:bodyPr>
          <a:lstStyle/>
          <a:p>
            <a:pPr algn="l">
              <a:defRPr sz="2100" b="1">
                <a:solidFill>
                  <a:srgbClr val="0D1B2A"/>
                </a:solidFill>
                <a:latin typeface="Aptos"/>
              </a:defRPr>
            </a:pPr>
            <a:r>
              <a:t>Transparent weighted semantic reranking</a:t>
            </a:r>
          </a:p>
        </p:txBody>
      </p:sp>
      <p:sp>
        <p:nvSpPr>
          <p:cNvPr id="25" name="TextBox 24"/>
          <p:cNvSpPr txBox="1"/>
          <p:nvPr/>
        </p:nvSpPr>
        <p:spPr>
          <a:xfrm>
            <a:off x="822960" y="2743200"/>
            <a:ext cx="4754880" cy="2011680"/>
          </a:xfrm>
          <a:prstGeom prst="rect">
            <a:avLst/>
          </a:prstGeom>
          <a:noFill/>
        </p:spPr>
        <p:txBody>
          <a:bodyPr wrap="square">
            <a:spAutoFit/>
          </a:bodyPr>
          <a:lstStyle/>
          <a:p>
            <a:pPr>
              <a:spcAft>
                <a:spcPts val="700"/>
              </a:spcAft>
              <a:defRPr sz="1700">
                <a:solidFill>
                  <a:srgbClr val="222831"/>
                </a:solidFill>
                <a:latin typeface="Aptos"/>
              </a:defRPr>
            </a:pPr>
            <a:r>
              <a:t>The project innovates most strongly through integration, transparency, and research packaging rather than through a single giant model claim</a:t>
            </a:r>
          </a:p>
          <a:p>
            <a:pPr>
              <a:spcAft>
                <a:spcPts val="700"/>
              </a:spcAft>
              <a:defRPr sz="1700">
                <a:solidFill>
                  <a:srgbClr val="222831"/>
                </a:solidFill>
                <a:latin typeface="Aptos"/>
              </a:defRPr>
            </a:pPr>
            <a:r>
              <a:t>Each innovation is visible in code, measurable in artifacts, and presentable in the app and PDFs</a:t>
            </a:r>
          </a:p>
          <a:p>
            <a:pPr>
              <a:spcAft>
                <a:spcPts val="700"/>
              </a:spcAft>
              <a:defRPr sz="1700">
                <a:solidFill>
                  <a:srgbClr val="222831"/>
                </a:solidFill>
                <a:latin typeface="Aptos"/>
              </a:defRPr>
            </a:pPr>
            <a:r>
              <a:t>This makes the system defensible in both technical and academic evaluation settings</a:t>
            </a:r>
          </a:p>
        </p:txBody>
      </p:sp>
      <p:sp>
        <p:nvSpPr>
          <p:cNvPr id="26" name="Rectangle 25"/>
          <p:cNvSpPr/>
          <p:nvPr/>
        </p:nvSpPr>
        <p:spPr>
          <a:xfrm>
            <a:off x="5669280" y="2331720"/>
            <a:ext cx="5532120" cy="365760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research_architecture.png"/>
          <p:cNvPicPr>
            <a:picLocks noChangeAspect="1"/>
          </p:cNvPicPr>
          <p:nvPr/>
        </p:nvPicPr>
        <p:blipFill>
          <a:blip r:embed="rId3"/>
          <a:stretch>
            <a:fillRect/>
          </a:stretch>
        </p:blipFill>
        <p:spPr>
          <a:xfrm>
            <a:off x="5669280" y="2975065"/>
            <a:ext cx="5532120" cy="237090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Innovation Deep Dive: Role-Aware Parsing</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INNOVATION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27</a:t>
            </a:r>
          </a:p>
        </p:txBody>
      </p:sp>
      <p:graphicFrame>
        <p:nvGraphicFramePr>
          <p:cNvPr id="9" name="Table 8"/>
          <p:cNvGraphicFramePr>
            <a:graphicFrameLocks noGrp="1"/>
          </p:cNvGraphicFramePr>
          <p:nvPr/>
        </p:nvGraphicFramePr>
        <p:xfrm>
          <a:off x="685800" y="960120"/>
          <a:ext cx="4800600" cy="429768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537210">
                <a:tc>
                  <a:txBody>
                    <a:bodyPr/>
                    <a:lstStyle/>
                    <a:p>
                      <a:pPr algn="ctr">
                        <a:defRPr sz="1100" b="1">
                          <a:solidFill>
                            <a:srgbClr val="FFFFFF"/>
                          </a:solidFill>
                          <a:latin typeface="Aptos"/>
                        </a:defRPr>
                      </a:pPr>
                      <a:r>
                        <a:t>Question Pattern</a:t>
                      </a:r>
                    </a:p>
                  </a:txBody>
                  <a:tcPr anchor="ctr">
                    <a:solidFill>
                      <a:srgbClr val="0D1B2A"/>
                    </a:solidFill>
                  </a:tcPr>
                </a:tc>
                <a:tc>
                  <a:txBody>
                    <a:bodyPr/>
                    <a:lstStyle/>
                    <a:p>
                      <a:pPr algn="ctr">
                        <a:defRPr sz="1100" b="1">
                          <a:solidFill>
                            <a:srgbClr val="FFFFFF"/>
                          </a:solidFill>
                          <a:latin typeface="Aptos"/>
                        </a:defRPr>
                      </a:pPr>
                      <a:r>
                        <a:t>Mapped Type</a:t>
                      </a:r>
                    </a:p>
                  </a:txBody>
                  <a:tcPr anchor="ctr">
                    <a:solidFill>
                      <a:srgbClr val="0D1B2A"/>
                    </a:solidFill>
                  </a:tcPr>
                </a:tc>
                <a:tc>
                  <a:txBody>
                    <a:bodyPr/>
                    <a:lstStyle/>
                    <a:p>
                      <a:pPr algn="ctr">
                        <a:defRPr sz="1100" b="1">
                          <a:solidFill>
                            <a:srgbClr val="FFFFFF"/>
                          </a:solidFill>
                          <a:latin typeface="Aptos"/>
                        </a:defRPr>
                      </a:pPr>
                      <a:r>
                        <a:t>Expected Role</a:t>
                      </a:r>
                    </a:p>
                  </a:txBody>
                  <a:tcPr anchor="ctr">
                    <a:solidFill>
                      <a:srgbClr val="0D1B2A"/>
                    </a:solidFill>
                  </a:tcPr>
                </a:tc>
                <a:extLst>
                  <a:ext uri="{0D108BD9-81ED-4DB2-BD59-A6C34878D82A}">
                    <a16:rowId xmlns:a16="http://schemas.microsoft.com/office/drawing/2014/main" val="10000"/>
                  </a:ext>
                </a:extLst>
              </a:tr>
              <a:tr h="537210">
                <a:tc>
                  <a:txBody>
                    <a:bodyPr/>
                    <a:lstStyle/>
                    <a:p>
                      <a:pPr algn="l">
                        <a:defRPr sz="1100" b="0">
                          <a:solidFill>
                            <a:srgbClr val="222831"/>
                          </a:solidFill>
                          <a:latin typeface="Aptos"/>
                        </a:defRPr>
                      </a:pPr>
                      <a:r>
                        <a:t>Who ...</a:t>
                      </a:r>
                    </a:p>
                  </a:txBody>
                  <a:tcPr anchor="ctr">
                    <a:solidFill>
                      <a:srgbClr val="FFFFFF"/>
                    </a:solidFill>
                  </a:tcPr>
                </a:tc>
                <a:tc>
                  <a:txBody>
                    <a:bodyPr/>
                    <a:lstStyle/>
                    <a:p>
                      <a:pPr algn="l">
                        <a:defRPr sz="1100" b="0">
                          <a:solidFill>
                            <a:srgbClr val="222831"/>
                          </a:solidFill>
                          <a:latin typeface="Aptos"/>
                        </a:defRPr>
                      </a:pPr>
                      <a:r>
                        <a:t>WHO</a:t>
                      </a:r>
                    </a:p>
                  </a:txBody>
                  <a:tcPr anchor="ctr">
                    <a:solidFill>
                      <a:srgbClr val="FFFFFF"/>
                    </a:solidFill>
                  </a:tcPr>
                </a:tc>
                <a:tc>
                  <a:txBody>
                    <a:bodyPr/>
                    <a:lstStyle/>
                    <a:p>
                      <a:pPr algn="l">
                        <a:defRPr sz="1100" b="0">
                          <a:solidFill>
                            <a:srgbClr val="222831"/>
                          </a:solidFill>
                          <a:latin typeface="Aptos"/>
                        </a:defRPr>
                      </a:pPr>
                      <a:r>
                        <a:t>ARG0</a:t>
                      </a:r>
                    </a:p>
                  </a:txBody>
                  <a:tcPr anchor="ctr">
                    <a:solidFill>
                      <a:srgbClr val="FFFFFF"/>
                    </a:solidFill>
                  </a:tcPr>
                </a:tc>
                <a:extLst>
                  <a:ext uri="{0D108BD9-81ED-4DB2-BD59-A6C34878D82A}">
                    <a16:rowId xmlns:a16="http://schemas.microsoft.com/office/drawing/2014/main" val="10001"/>
                  </a:ext>
                </a:extLst>
              </a:tr>
              <a:tr h="537210">
                <a:tc>
                  <a:txBody>
                    <a:bodyPr/>
                    <a:lstStyle/>
                    <a:p>
                      <a:pPr algn="l">
                        <a:defRPr sz="1100" b="0">
                          <a:solidFill>
                            <a:srgbClr val="222831"/>
                          </a:solidFill>
                          <a:latin typeface="Aptos"/>
                        </a:defRPr>
                      </a:pPr>
                      <a:r>
                        <a:t>What ...</a:t>
                      </a:r>
                    </a:p>
                  </a:txBody>
                  <a:tcPr anchor="ctr">
                    <a:solidFill>
                      <a:srgbClr val="FFFFFF"/>
                    </a:solidFill>
                  </a:tcPr>
                </a:tc>
                <a:tc>
                  <a:txBody>
                    <a:bodyPr/>
                    <a:lstStyle/>
                    <a:p>
                      <a:pPr algn="l">
                        <a:defRPr sz="1100" b="0">
                          <a:solidFill>
                            <a:srgbClr val="222831"/>
                          </a:solidFill>
                          <a:latin typeface="Aptos"/>
                        </a:defRPr>
                      </a:pPr>
                      <a:r>
                        <a:t>WHAT</a:t>
                      </a:r>
                    </a:p>
                  </a:txBody>
                  <a:tcPr anchor="ctr">
                    <a:solidFill>
                      <a:srgbClr val="FFFFFF"/>
                    </a:solidFill>
                  </a:tcPr>
                </a:tc>
                <a:tc>
                  <a:txBody>
                    <a:bodyPr/>
                    <a:lstStyle/>
                    <a:p>
                      <a:pPr algn="l">
                        <a:defRPr sz="1100" b="0">
                          <a:solidFill>
                            <a:srgbClr val="222831"/>
                          </a:solidFill>
                          <a:latin typeface="Aptos"/>
                        </a:defRPr>
                      </a:pPr>
                      <a:r>
                        <a:t>ARG1</a:t>
                      </a:r>
                    </a:p>
                  </a:txBody>
                  <a:tcPr anchor="ctr">
                    <a:solidFill>
                      <a:srgbClr val="FFFFFF"/>
                    </a:solidFill>
                  </a:tcPr>
                </a:tc>
                <a:extLst>
                  <a:ext uri="{0D108BD9-81ED-4DB2-BD59-A6C34878D82A}">
                    <a16:rowId xmlns:a16="http://schemas.microsoft.com/office/drawing/2014/main" val="10002"/>
                  </a:ext>
                </a:extLst>
              </a:tr>
              <a:tr h="537210">
                <a:tc>
                  <a:txBody>
                    <a:bodyPr/>
                    <a:lstStyle/>
                    <a:p>
                      <a:pPr algn="l">
                        <a:defRPr sz="1100" b="0">
                          <a:solidFill>
                            <a:srgbClr val="222831"/>
                          </a:solidFill>
                          <a:latin typeface="Aptos"/>
                        </a:defRPr>
                      </a:pPr>
                      <a:r>
                        <a:t>When ...</a:t>
                      </a:r>
                    </a:p>
                  </a:txBody>
                  <a:tcPr anchor="ctr">
                    <a:solidFill>
                      <a:srgbClr val="FFFFFF"/>
                    </a:solidFill>
                  </a:tcPr>
                </a:tc>
                <a:tc>
                  <a:txBody>
                    <a:bodyPr/>
                    <a:lstStyle/>
                    <a:p>
                      <a:pPr algn="l">
                        <a:defRPr sz="1100" b="0">
                          <a:solidFill>
                            <a:srgbClr val="222831"/>
                          </a:solidFill>
                          <a:latin typeface="Aptos"/>
                        </a:defRPr>
                      </a:pPr>
                      <a:r>
                        <a:t>WHEN</a:t>
                      </a:r>
                    </a:p>
                  </a:txBody>
                  <a:tcPr anchor="ctr">
                    <a:solidFill>
                      <a:srgbClr val="FFFFFF"/>
                    </a:solidFill>
                  </a:tcPr>
                </a:tc>
                <a:tc>
                  <a:txBody>
                    <a:bodyPr/>
                    <a:lstStyle/>
                    <a:p>
                      <a:pPr algn="l">
                        <a:defRPr sz="1100" b="0">
                          <a:solidFill>
                            <a:srgbClr val="222831"/>
                          </a:solidFill>
                          <a:latin typeface="Aptos"/>
                        </a:defRPr>
                      </a:pPr>
                      <a:r>
                        <a:t>ARGM-TMP</a:t>
                      </a:r>
                    </a:p>
                  </a:txBody>
                  <a:tcPr anchor="ctr">
                    <a:solidFill>
                      <a:srgbClr val="FFFFFF"/>
                    </a:solidFill>
                  </a:tcPr>
                </a:tc>
                <a:extLst>
                  <a:ext uri="{0D108BD9-81ED-4DB2-BD59-A6C34878D82A}">
                    <a16:rowId xmlns:a16="http://schemas.microsoft.com/office/drawing/2014/main" val="10003"/>
                  </a:ext>
                </a:extLst>
              </a:tr>
              <a:tr h="537210">
                <a:tc>
                  <a:txBody>
                    <a:bodyPr/>
                    <a:lstStyle/>
                    <a:p>
                      <a:pPr algn="l">
                        <a:defRPr sz="1100" b="0">
                          <a:solidFill>
                            <a:srgbClr val="222831"/>
                          </a:solidFill>
                          <a:latin typeface="Aptos"/>
                        </a:defRPr>
                      </a:pPr>
                      <a:r>
                        <a:t>Where ...</a:t>
                      </a:r>
                    </a:p>
                  </a:txBody>
                  <a:tcPr anchor="ctr">
                    <a:solidFill>
                      <a:srgbClr val="FFFFFF"/>
                    </a:solidFill>
                  </a:tcPr>
                </a:tc>
                <a:tc>
                  <a:txBody>
                    <a:bodyPr/>
                    <a:lstStyle/>
                    <a:p>
                      <a:pPr algn="l">
                        <a:defRPr sz="1100" b="0">
                          <a:solidFill>
                            <a:srgbClr val="222831"/>
                          </a:solidFill>
                          <a:latin typeface="Aptos"/>
                        </a:defRPr>
                      </a:pPr>
                      <a:r>
                        <a:t>WHERE</a:t>
                      </a:r>
                    </a:p>
                  </a:txBody>
                  <a:tcPr anchor="ctr">
                    <a:solidFill>
                      <a:srgbClr val="FFFFFF"/>
                    </a:solidFill>
                  </a:tcPr>
                </a:tc>
                <a:tc>
                  <a:txBody>
                    <a:bodyPr/>
                    <a:lstStyle/>
                    <a:p>
                      <a:pPr algn="l">
                        <a:defRPr sz="1100" b="0">
                          <a:solidFill>
                            <a:srgbClr val="222831"/>
                          </a:solidFill>
                          <a:latin typeface="Aptos"/>
                        </a:defRPr>
                      </a:pPr>
                      <a:r>
                        <a:t>ARGM-LOC</a:t>
                      </a:r>
                    </a:p>
                  </a:txBody>
                  <a:tcPr anchor="ctr">
                    <a:solidFill>
                      <a:srgbClr val="FFFFFF"/>
                    </a:solidFill>
                  </a:tcPr>
                </a:tc>
                <a:extLst>
                  <a:ext uri="{0D108BD9-81ED-4DB2-BD59-A6C34878D82A}">
                    <a16:rowId xmlns:a16="http://schemas.microsoft.com/office/drawing/2014/main" val="10004"/>
                  </a:ext>
                </a:extLst>
              </a:tr>
              <a:tr h="537210">
                <a:tc>
                  <a:txBody>
                    <a:bodyPr/>
                    <a:lstStyle/>
                    <a:p>
                      <a:pPr algn="l">
                        <a:defRPr sz="1100" b="0">
                          <a:solidFill>
                            <a:srgbClr val="222831"/>
                          </a:solidFill>
                          <a:latin typeface="Aptos"/>
                        </a:defRPr>
                      </a:pPr>
                      <a:r>
                        <a:t>How ...</a:t>
                      </a:r>
                    </a:p>
                  </a:txBody>
                  <a:tcPr anchor="ctr">
                    <a:solidFill>
                      <a:srgbClr val="FFFFFF"/>
                    </a:solidFill>
                  </a:tcPr>
                </a:tc>
                <a:tc>
                  <a:txBody>
                    <a:bodyPr/>
                    <a:lstStyle/>
                    <a:p>
                      <a:pPr algn="l">
                        <a:defRPr sz="1100" b="0">
                          <a:solidFill>
                            <a:srgbClr val="222831"/>
                          </a:solidFill>
                          <a:latin typeface="Aptos"/>
                        </a:defRPr>
                      </a:pPr>
                      <a:r>
                        <a:t>HOW</a:t>
                      </a:r>
                    </a:p>
                  </a:txBody>
                  <a:tcPr anchor="ctr">
                    <a:solidFill>
                      <a:srgbClr val="FFFFFF"/>
                    </a:solidFill>
                  </a:tcPr>
                </a:tc>
                <a:tc>
                  <a:txBody>
                    <a:bodyPr/>
                    <a:lstStyle/>
                    <a:p>
                      <a:pPr algn="l">
                        <a:defRPr sz="1100" b="0">
                          <a:solidFill>
                            <a:srgbClr val="222831"/>
                          </a:solidFill>
                          <a:latin typeface="Aptos"/>
                        </a:defRPr>
                      </a:pPr>
                      <a:r>
                        <a:t>ARGM-MNR</a:t>
                      </a:r>
                    </a:p>
                  </a:txBody>
                  <a:tcPr anchor="ctr">
                    <a:solidFill>
                      <a:srgbClr val="FFFFFF"/>
                    </a:solidFill>
                  </a:tcPr>
                </a:tc>
                <a:extLst>
                  <a:ext uri="{0D108BD9-81ED-4DB2-BD59-A6C34878D82A}">
                    <a16:rowId xmlns:a16="http://schemas.microsoft.com/office/drawing/2014/main" val="10005"/>
                  </a:ext>
                </a:extLst>
              </a:tr>
              <a:tr h="537210">
                <a:tc>
                  <a:txBody>
                    <a:bodyPr/>
                    <a:lstStyle/>
                    <a:p>
                      <a:pPr algn="l">
                        <a:defRPr sz="1100" b="0">
                          <a:solidFill>
                            <a:srgbClr val="222831"/>
                          </a:solidFill>
                          <a:latin typeface="Aptos"/>
                        </a:defRPr>
                      </a:pPr>
                      <a:r>
                        <a:t>Why ...</a:t>
                      </a:r>
                    </a:p>
                  </a:txBody>
                  <a:tcPr anchor="ctr">
                    <a:solidFill>
                      <a:srgbClr val="FFFFFF"/>
                    </a:solidFill>
                  </a:tcPr>
                </a:tc>
                <a:tc>
                  <a:txBody>
                    <a:bodyPr/>
                    <a:lstStyle/>
                    <a:p>
                      <a:pPr algn="l">
                        <a:defRPr sz="1100" b="0">
                          <a:solidFill>
                            <a:srgbClr val="222831"/>
                          </a:solidFill>
                          <a:latin typeface="Aptos"/>
                        </a:defRPr>
                      </a:pPr>
                      <a:r>
                        <a:t>WHY</a:t>
                      </a:r>
                    </a:p>
                  </a:txBody>
                  <a:tcPr anchor="ctr">
                    <a:solidFill>
                      <a:srgbClr val="FFFFFF"/>
                    </a:solidFill>
                  </a:tcPr>
                </a:tc>
                <a:tc>
                  <a:txBody>
                    <a:bodyPr/>
                    <a:lstStyle/>
                    <a:p>
                      <a:pPr algn="l">
                        <a:defRPr sz="1100" b="0">
                          <a:solidFill>
                            <a:srgbClr val="222831"/>
                          </a:solidFill>
                          <a:latin typeface="Aptos"/>
                        </a:defRPr>
                      </a:pPr>
                      <a:r>
                        <a:t>ARGM-CAU</a:t>
                      </a:r>
                    </a:p>
                  </a:txBody>
                  <a:tcPr anchor="ctr">
                    <a:solidFill>
                      <a:srgbClr val="FFFFFF"/>
                    </a:solidFill>
                  </a:tcPr>
                </a:tc>
                <a:extLst>
                  <a:ext uri="{0D108BD9-81ED-4DB2-BD59-A6C34878D82A}">
                    <a16:rowId xmlns:a16="http://schemas.microsoft.com/office/drawing/2014/main" val="10006"/>
                  </a:ext>
                </a:extLst>
              </a:tr>
              <a:tr h="537210">
                <a:tc>
                  <a:txBody>
                    <a:bodyPr/>
                    <a:lstStyle/>
                    <a:p>
                      <a:pPr algn="l">
                        <a:defRPr sz="1100" b="0">
                          <a:solidFill>
                            <a:srgbClr val="222831"/>
                          </a:solidFill>
                          <a:latin typeface="Aptos"/>
                        </a:defRPr>
                      </a:pPr>
                      <a:r>
                        <a:t>Whom / Who received ...</a:t>
                      </a:r>
                    </a:p>
                  </a:txBody>
                  <a:tcPr anchor="ctr">
                    <a:solidFill>
                      <a:srgbClr val="FFFFFF"/>
                    </a:solidFill>
                  </a:tcPr>
                </a:tc>
                <a:tc>
                  <a:txBody>
                    <a:bodyPr/>
                    <a:lstStyle/>
                    <a:p>
                      <a:pPr algn="l">
                        <a:defRPr sz="1100" b="0">
                          <a:solidFill>
                            <a:srgbClr val="222831"/>
                          </a:solidFill>
                          <a:latin typeface="Aptos"/>
                        </a:defRPr>
                      </a:pPr>
                      <a:r>
                        <a:t>TO-WHOM</a:t>
                      </a:r>
                    </a:p>
                  </a:txBody>
                  <a:tcPr anchor="ctr">
                    <a:solidFill>
                      <a:srgbClr val="FFFFFF"/>
                    </a:solidFill>
                  </a:tcPr>
                </a:tc>
                <a:tc>
                  <a:txBody>
                    <a:bodyPr/>
                    <a:lstStyle/>
                    <a:p>
                      <a:pPr algn="l">
                        <a:defRPr sz="1100" b="0">
                          <a:solidFill>
                            <a:srgbClr val="222831"/>
                          </a:solidFill>
                          <a:latin typeface="Aptos"/>
                        </a:defRPr>
                      </a:pPr>
                      <a:r>
                        <a:t>ARG2</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10" name="TextBox 9"/>
          <p:cNvSpPr txBox="1"/>
          <p:nvPr/>
        </p:nvSpPr>
        <p:spPr>
          <a:xfrm>
            <a:off x="777240" y="5440680"/>
            <a:ext cx="4709160" cy="640080"/>
          </a:xfrm>
          <a:prstGeom prst="rect">
            <a:avLst/>
          </a:prstGeom>
          <a:noFill/>
        </p:spPr>
        <p:txBody>
          <a:bodyPr wrap="square">
            <a:spAutoFit/>
          </a:bodyPr>
          <a:lstStyle/>
          <a:p>
            <a:pPr>
              <a:spcAft>
                <a:spcPts val="700"/>
              </a:spcAft>
              <a:defRPr sz="1500">
                <a:solidFill>
                  <a:srgbClr val="222831"/>
                </a:solidFill>
                <a:latin typeface="Aptos"/>
              </a:defRPr>
            </a:pPr>
            <a:r>
              <a:t>Question intent is parsed before final answer selection</a:t>
            </a:r>
          </a:p>
          <a:p>
            <a:pPr>
              <a:spcAft>
                <a:spcPts val="700"/>
              </a:spcAft>
              <a:defRPr sz="1500">
                <a:solidFill>
                  <a:srgbClr val="222831"/>
                </a:solidFill>
                <a:latin typeface="Aptos"/>
              </a:defRPr>
            </a:pPr>
            <a:r>
              <a:t>Expected roles become a reusable signal for filtering and ranking candidates</a:t>
            </a:r>
          </a:p>
          <a:p>
            <a:pPr>
              <a:spcAft>
                <a:spcPts val="700"/>
              </a:spcAft>
              <a:defRPr sz="1500">
                <a:solidFill>
                  <a:srgbClr val="222831"/>
                </a:solidFill>
                <a:latin typeface="Aptos"/>
              </a:defRPr>
            </a:pPr>
            <a:r>
              <a:t>This bridges the surface form of the question with the semantic structure of the answer</a:t>
            </a:r>
          </a:p>
        </p:txBody>
      </p:sp>
      <p:sp>
        <p:nvSpPr>
          <p:cNvPr id="11" name="Rectangle 10"/>
          <p:cNvSpPr/>
          <p:nvPr/>
        </p:nvSpPr>
        <p:spPr>
          <a:xfrm>
            <a:off x="5669280" y="960120"/>
            <a:ext cx="5532120" cy="521208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hybridpropqa.png"/>
          <p:cNvPicPr>
            <a:picLocks noChangeAspect="1"/>
          </p:cNvPicPr>
          <p:nvPr/>
        </p:nvPicPr>
        <p:blipFill>
          <a:blip r:embed="rId3"/>
          <a:stretch>
            <a:fillRect/>
          </a:stretch>
        </p:blipFill>
        <p:spPr>
          <a:xfrm>
            <a:off x="5669280" y="2874645"/>
            <a:ext cx="5532120" cy="138303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Innovation Deep Dive: Transparent Reranking</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INNOVATION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28</a:t>
            </a:r>
          </a:p>
        </p:txBody>
      </p:sp>
      <p:graphicFrame>
        <p:nvGraphicFramePr>
          <p:cNvPr id="9" name="Table 8"/>
          <p:cNvGraphicFramePr>
            <a:graphicFrameLocks noGrp="1"/>
          </p:cNvGraphicFramePr>
          <p:nvPr/>
        </p:nvGraphicFramePr>
        <p:xfrm>
          <a:off x="685800" y="960120"/>
          <a:ext cx="5074917" cy="4023360"/>
        </p:xfrm>
        <a:graphic>
          <a:graphicData uri="http://schemas.openxmlformats.org/drawingml/2006/table">
            <a:tbl>
              <a:tblPr firstRow="1" bandRow="1">
                <a:tableStyleId>{5C22544A-7EE6-4342-B048-85BDC9FD1C3A}</a:tableStyleId>
              </a:tblPr>
              <a:tblGrid>
                <a:gridCol w="1691639">
                  <a:extLst>
                    <a:ext uri="{9D8B030D-6E8A-4147-A177-3AD203B41FA5}">
                      <a16:colId xmlns:a16="http://schemas.microsoft.com/office/drawing/2014/main" val="20000"/>
                    </a:ext>
                  </a:extLst>
                </a:gridCol>
                <a:gridCol w="1691639">
                  <a:extLst>
                    <a:ext uri="{9D8B030D-6E8A-4147-A177-3AD203B41FA5}">
                      <a16:colId xmlns:a16="http://schemas.microsoft.com/office/drawing/2014/main" val="20001"/>
                    </a:ext>
                  </a:extLst>
                </a:gridCol>
                <a:gridCol w="1691639">
                  <a:extLst>
                    <a:ext uri="{9D8B030D-6E8A-4147-A177-3AD203B41FA5}">
                      <a16:colId xmlns:a16="http://schemas.microsoft.com/office/drawing/2014/main" val="20002"/>
                    </a:ext>
                  </a:extLst>
                </a:gridCol>
              </a:tblGrid>
              <a:tr h="574765">
                <a:tc>
                  <a:txBody>
                    <a:bodyPr/>
                    <a:lstStyle/>
                    <a:p>
                      <a:pPr algn="ctr">
                        <a:defRPr sz="1100" b="1">
                          <a:solidFill>
                            <a:srgbClr val="FFFFFF"/>
                          </a:solidFill>
                          <a:latin typeface="Aptos"/>
                        </a:defRPr>
                      </a:pPr>
                      <a:r>
                        <a:t>Feature</a:t>
                      </a:r>
                    </a:p>
                  </a:txBody>
                  <a:tcPr anchor="ctr">
                    <a:solidFill>
                      <a:srgbClr val="0D1B2A"/>
                    </a:solidFill>
                  </a:tcPr>
                </a:tc>
                <a:tc>
                  <a:txBody>
                    <a:bodyPr/>
                    <a:lstStyle/>
                    <a:p>
                      <a:pPr algn="ctr">
                        <a:defRPr sz="1100" b="1">
                          <a:solidFill>
                            <a:srgbClr val="FFFFFF"/>
                          </a:solidFill>
                          <a:latin typeface="Aptos"/>
                        </a:defRPr>
                      </a:pPr>
                      <a:r>
                        <a:t>Weight</a:t>
                      </a:r>
                    </a:p>
                  </a:txBody>
                  <a:tcPr anchor="ctr">
                    <a:solidFill>
                      <a:srgbClr val="0D1B2A"/>
                    </a:solidFill>
                  </a:tcPr>
                </a:tc>
                <a:tc>
                  <a:txBody>
                    <a:bodyPr/>
                    <a:lstStyle/>
                    <a:p>
                      <a:pPr algn="ctr">
                        <a:defRPr sz="1100" b="1">
                          <a:solidFill>
                            <a:srgbClr val="FFFFFF"/>
                          </a:solidFill>
                          <a:latin typeface="Aptos"/>
                        </a:defRPr>
                      </a:pPr>
                      <a:r>
                        <a:t>Purpose</a:t>
                      </a:r>
                    </a:p>
                  </a:txBody>
                  <a:tcPr anchor="ctr">
                    <a:solidFill>
                      <a:srgbClr val="0D1B2A"/>
                    </a:solidFill>
                  </a:tcPr>
                </a:tc>
                <a:extLst>
                  <a:ext uri="{0D108BD9-81ED-4DB2-BD59-A6C34878D82A}">
                    <a16:rowId xmlns:a16="http://schemas.microsoft.com/office/drawing/2014/main" val="10000"/>
                  </a:ext>
                </a:extLst>
              </a:tr>
              <a:tr h="574765">
                <a:tc>
                  <a:txBody>
                    <a:bodyPr/>
                    <a:lstStyle/>
                    <a:p>
                      <a:pPr algn="l">
                        <a:defRPr sz="1100" b="0">
                          <a:solidFill>
                            <a:srgbClr val="222831"/>
                          </a:solidFill>
                          <a:latin typeface="Aptos"/>
                        </a:defRPr>
                      </a:pPr>
                      <a:r>
                        <a:t>Base score</a:t>
                      </a:r>
                    </a:p>
                  </a:txBody>
                  <a:tcPr anchor="ctr">
                    <a:solidFill>
                      <a:srgbClr val="FFFFFF"/>
                    </a:solidFill>
                  </a:tcPr>
                </a:tc>
                <a:tc>
                  <a:txBody>
                    <a:bodyPr/>
                    <a:lstStyle/>
                    <a:p>
                      <a:pPr algn="l">
                        <a:defRPr sz="1100" b="0">
                          <a:solidFill>
                            <a:srgbClr val="222831"/>
                          </a:solidFill>
                          <a:latin typeface="Aptos"/>
                        </a:defRPr>
                      </a:pPr>
                      <a:r>
                        <a:t>0.30</a:t>
                      </a:r>
                    </a:p>
                  </a:txBody>
                  <a:tcPr anchor="ctr">
                    <a:solidFill>
                      <a:srgbClr val="FFFFFF"/>
                    </a:solidFill>
                  </a:tcPr>
                </a:tc>
                <a:tc>
                  <a:txBody>
                    <a:bodyPr/>
                    <a:lstStyle/>
                    <a:p>
                      <a:pPr algn="l">
                        <a:defRPr sz="1100" b="0">
                          <a:solidFill>
                            <a:srgbClr val="222831"/>
                          </a:solidFill>
                          <a:latin typeface="Aptos"/>
                        </a:defRPr>
                      </a:pPr>
                      <a:r>
                        <a:t>Respect source confidence</a:t>
                      </a:r>
                    </a:p>
                  </a:txBody>
                  <a:tcPr anchor="ctr">
                    <a:solidFill>
                      <a:srgbClr val="FFFFFF"/>
                    </a:solidFill>
                  </a:tcPr>
                </a:tc>
                <a:extLst>
                  <a:ext uri="{0D108BD9-81ED-4DB2-BD59-A6C34878D82A}">
                    <a16:rowId xmlns:a16="http://schemas.microsoft.com/office/drawing/2014/main" val="10001"/>
                  </a:ext>
                </a:extLst>
              </a:tr>
              <a:tr h="574765">
                <a:tc>
                  <a:txBody>
                    <a:bodyPr/>
                    <a:lstStyle/>
                    <a:p>
                      <a:pPr algn="l">
                        <a:defRPr sz="1100" b="0">
                          <a:solidFill>
                            <a:srgbClr val="222831"/>
                          </a:solidFill>
                          <a:latin typeface="Aptos"/>
                        </a:defRPr>
                      </a:pPr>
                      <a:r>
                        <a:t>Role match</a:t>
                      </a:r>
                    </a:p>
                  </a:txBody>
                  <a:tcPr anchor="ctr">
                    <a:solidFill>
                      <a:srgbClr val="FFFFFF"/>
                    </a:solidFill>
                  </a:tcPr>
                </a:tc>
                <a:tc>
                  <a:txBody>
                    <a:bodyPr/>
                    <a:lstStyle/>
                    <a:p>
                      <a:pPr algn="l">
                        <a:defRPr sz="1100" b="0">
                          <a:solidFill>
                            <a:srgbClr val="222831"/>
                          </a:solidFill>
                          <a:latin typeface="Aptos"/>
                        </a:defRPr>
                      </a:pPr>
                      <a:r>
                        <a:t>0.32</a:t>
                      </a:r>
                    </a:p>
                  </a:txBody>
                  <a:tcPr anchor="ctr">
                    <a:solidFill>
                      <a:srgbClr val="FFFFFF"/>
                    </a:solidFill>
                  </a:tcPr>
                </a:tc>
                <a:tc>
                  <a:txBody>
                    <a:bodyPr/>
                    <a:lstStyle/>
                    <a:p>
                      <a:pPr algn="l">
                        <a:defRPr sz="1100" b="0">
                          <a:solidFill>
                            <a:srgbClr val="222831"/>
                          </a:solidFill>
                          <a:latin typeface="Aptos"/>
                        </a:defRPr>
                      </a:pPr>
                      <a:r>
                        <a:t>Prioritize semantic fit to the question</a:t>
                      </a:r>
                    </a:p>
                  </a:txBody>
                  <a:tcPr anchor="ctr">
                    <a:solidFill>
                      <a:srgbClr val="FFFFFF"/>
                    </a:solidFill>
                  </a:tcPr>
                </a:tc>
                <a:extLst>
                  <a:ext uri="{0D108BD9-81ED-4DB2-BD59-A6C34878D82A}">
                    <a16:rowId xmlns:a16="http://schemas.microsoft.com/office/drawing/2014/main" val="10002"/>
                  </a:ext>
                </a:extLst>
              </a:tr>
              <a:tr h="574765">
                <a:tc>
                  <a:txBody>
                    <a:bodyPr/>
                    <a:lstStyle/>
                    <a:p>
                      <a:pPr algn="l">
                        <a:defRPr sz="1100" b="0">
                          <a:solidFill>
                            <a:srgbClr val="222831"/>
                          </a:solidFill>
                          <a:latin typeface="Aptos"/>
                        </a:defRPr>
                      </a:pPr>
                      <a:r>
                        <a:t>Semantic alignment</a:t>
                      </a:r>
                    </a:p>
                  </a:txBody>
                  <a:tcPr anchor="ctr">
                    <a:solidFill>
                      <a:srgbClr val="FFFFFF"/>
                    </a:solidFill>
                  </a:tcPr>
                </a:tc>
                <a:tc>
                  <a:txBody>
                    <a:bodyPr/>
                    <a:lstStyle/>
                    <a:p>
                      <a:pPr algn="l">
                        <a:defRPr sz="1100" b="0">
                          <a:solidFill>
                            <a:srgbClr val="222831"/>
                          </a:solidFill>
                          <a:latin typeface="Aptos"/>
                        </a:defRPr>
                      </a:pPr>
                      <a:r>
                        <a:t>0.22</a:t>
                      </a:r>
                    </a:p>
                  </a:txBody>
                  <a:tcPr anchor="ctr">
                    <a:solidFill>
                      <a:srgbClr val="FFFFFF"/>
                    </a:solidFill>
                  </a:tcPr>
                </a:tc>
                <a:tc>
                  <a:txBody>
                    <a:bodyPr/>
                    <a:lstStyle/>
                    <a:p>
                      <a:pPr algn="l">
                        <a:defRPr sz="1100" b="0">
                          <a:solidFill>
                            <a:srgbClr val="222831"/>
                          </a:solidFill>
                          <a:latin typeface="Aptos"/>
                        </a:defRPr>
                      </a:pPr>
                      <a:r>
                        <a:t>Use sentence-level compatibility</a:t>
                      </a:r>
                    </a:p>
                  </a:txBody>
                  <a:tcPr anchor="ctr">
                    <a:solidFill>
                      <a:srgbClr val="FFFFFF"/>
                    </a:solidFill>
                  </a:tcPr>
                </a:tc>
                <a:extLst>
                  <a:ext uri="{0D108BD9-81ED-4DB2-BD59-A6C34878D82A}">
                    <a16:rowId xmlns:a16="http://schemas.microsoft.com/office/drawing/2014/main" val="10003"/>
                  </a:ext>
                </a:extLst>
              </a:tr>
              <a:tr h="574765">
                <a:tc>
                  <a:txBody>
                    <a:bodyPr/>
                    <a:lstStyle/>
                    <a:p>
                      <a:pPr algn="l">
                        <a:defRPr sz="1100" b="0">
                          <a:solidFill>
                            <a:srgbClr val="222831"/>
                          </a:solidFill>
                          <a:latin typeface="Aptos"/>
                        </a:defRPr>
                      </a:pPr>
                      <a:r>
                        <a:t>Lexical overlap</a:t>
                      </a:r>
                    </a:p>
                  </a:txBody>
                  <a:tcPr anchor="ctr">
                    <a:solidFill>
                      <a:srgbClr val="FFFFFF"/>
                    </a:solidFill>
                  </a:tcPr>
                </a:tc>
                <a:tc>
                  <a:txBody>
                    <a:bodyPr/>
                    <a:lstStyle/>
                    <a:p>
                      <a:pPr algn="l">
                        <a:defRPr sz="1100" b="0">
                          <a:solidFill>
                            <a:srgbClr val="222831"/>
                          </a:solidFill>
                          <a:latin typeface="Aptos"/>
                        </a:defRPr>
                      </a:pPr>
                      <a:r>
                        <a:t>0.06</a:t>
                      </a:r>
                    </a:p>
                  </a:txBody>
                  <a:tcPr anchor="ctr">
                    <a:solidFill>
                      <a:srgbClr val="FFFFFF"/>
                    </a:solidFill>
                  </a:tcPr>
                </a:tc>
                <a:tc>
                  <a:txBody>
                    <a:bodyPr/>
                    <a:lstStyle/>
                    <a:p>
                      <a:pPr algn="l">
                        <a:defRPr sz="1100" b="0">
                          <a:solidFill>
                            <a:srgbClr val="222831"/>
                          </a:solidFill>
                          <a:latin typeface="Aptos"/>
                        </a:defRPr>
                      </a:pPr>
                      <a:r>
                        <a:t>Reward useful content overlap</a:t>
                      </a:r>
                    </a:p>
                  </a:txBody>
                  <a:tcPr anchor="ctr">
                    <a:solidFill>
                      <a:srgbClr val="FFFFFF"/>
                    </a:solidFill>
                  </a:tcPr>
                </a:tc>
                <a:extLst>
                  <a:ext uri="{0D108BD9-81ED-4DB2-BD59-A6C34878D82A}">
                    <a16:rowId xmlns:a16="http://schemas.microsoft.com/office/drawing/2014/main" val="10004"/>
                  </a:ext>
                </a:extLst>
              </a:tr>
              <a:tr h="574765">
                <a:tc>
                  <a:txBody>
                    <a:bodyPr/>
                    <a:lstStyle/>
                    <a:p>
                      <a:pPr algn="l">
                        <a:defRPr sz="1100" b="0">
                          <a:solidFill>
                            <a:srgbClr val="222831"/>
                          </a:solidFill>
                          <a:latin typeface="Aptos"/>
                        </a:defRPr>
                      </a:pPr>
                      <a:r>
                        <a:t>Shape bonus</a:t>
                      </a:r>
                    </a:p>
                  </a:txBody>
                  <a:tcPr anchor="ctr">
                    <a:solidFill>
                      <a:srgbClr val="FFFFFF"/>
                    </a:solidFill>
                  </a:tcPr>
                </a:tc>
                <a:tc>
                  <a:txBody>
                    <a:bodyPr/>
                    <a:lstStyle/>
                    <a:p>
                      <a:pPr algn="l">
                        <a:defRPr sz="1100" b="0">
                          <a:solidFill>
                            <a:srgbClr val="222831"/>
                          </a:solidFill>
                          <a:latin typeface="Aptos"/>
                        </a:defRPr>
                      </a:pPr>
                      <a:r>
                        <a:t>0.10</a:t>
                      </a:r>
                    </a:p>
                  </a:txBody>
                  <a:tcPr anchor="ctr">
                    <a:solidFill>
                      <a:srgbClr val="FFFFFF"/>
                    </a:solidFill>
                  </a:tcPr>
                </a:tc>
                <a:tc>
                  <a:txBody>
                    <a:bodyPr/>
                    <a:lstStyle/>
                    <a:p>
                      <a:pPr algn="l">
                        <a:defRPr sz="1100" b="0">
                          <a:solidFill>
                            <a:srgbClr val="222831"/>
                          </a:solidFill>
                          <a:latin typeface="Aptos"/>
                        </a:defRPr>
                      </a:pPr>
                      <a:r>
                        <a:t>Prefer role-appropriate span forms</a:t>
                      </a:r>
                    </a:p>
                  </a:txBody>
                  <a:tcPr anchor="ctr">
                    <a:solidFill>
                      <a:srgbClr val="FFFFFF"/>
                    </a:solidFill>
                  </a:tcPr>
                </a:tc>
                <a:extLst>
                  <a:ext uri="{0D108BD9-81ED-4DB2-BD59-A6C34878D82A}">
                    <a16:rowId xmlns:a16="http://schemas.microsoft.com/office/drawing/2014/main" val="10005"/>
                  </a:ext>
                </a:extLst>
              </a:tr>
              <a:tr h="574770">
                <a:tc>
                  <a:txBody>
                    <a:bodyPr/>
                    <a:lstStyle/>
                    <a:p>
                      <a:pPr algn="l">
                        <a:defRPr sz="1100" b="0">
                          <a:solidFill>
                            <a:srgbClr val="222831"/>
                          </a:solidFill>
                          <a:latin typeface="Aptos"/>
                        </a:defRPr>
                      </a:pPr>
                      <a:r>
                        <a:t>Baseline bonus</a:t>
                      </a:r>
                    </a:p>
                  </a:txBody>
                  <a:tcPr anchor="ctr">
                    <a:solidFill>
                      <a:srgbClr val="FFFFFF"/>
                    </a:solidFill>
                  </a:tcPr>
                </a:tc>
                <a:tc>
                  <a:txBody>
                    <a:bodyPr/>
                    <a:lstStyle/>
                    <a:p>
                      <a:pPr algn="l">
                        <a:defRPr sz="1100" b="0">
                          <a:solidFill>
                            <a:srgbClr val="222831"/>
                          </a:solidFill>
                          <a:latin typeface="Aptos"/>
                        </a:defRPr>
                      </a:pPr>
                      <a:r>
                        <a:t>dynamic</a:t>
                      </a:r>
                    </a:p>
                  </a:txBody>
                  <a:tcPr anchor="ctr">
                    <a:solidFill>
                      <a:srgbClr val="FFFFFF"/>
                    </a:solidFill>
                  </a:tcPr>
                </a:tc>
                <a:tc>
                  <a:txBody>
                    <a:bodyPr/>
                    <a:lstStyle/>
                    <a:p>
                      <a:pPr algn="l">
                        <a:defRPr sz="1100" b="0">
                          <a:solidFill>
                            <a:srgbClr val="222831"/>
                          </a:solidFill>
                          <a:latin typeface="Aptos"/>
                        </a:defRPr>
                      </a:pPr>
                      <a:r>
                        <a:t>Preserve useful model agreement</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777240" y="5212080"/>
            <a:ext cx="4846320" cy="822960"/>
          </a:xfrm>
          <a:prstGeom prst="rect">
            <a:avLst/>
          </a:prstGeom>
          <a:noFill/>
        </p:spPr>
        <p:txBody>
          <a:bodyPr wrap="square">
            <a:spAutoFit/>
          </a:bodyPr>
          <a:lstStyle/>
          <a:p>
            <a:pPr>
              <a:spcAft>
                <a:spcPts val="700"/>
              </a:spcAft>
              <a:defRPr sz="1500">
                <a:solidFill>
                  <a:srgbClr val="222831"/>
                </a:solidFill>
                <a:latin typeface="Aptos"/>
              </a:defRPr>
            </a:pPr>
            <a:r>
              <a:t>The weights are visible in code, easy to explain, and easy to tune</a:t>
            </a:r>
          </a:p>
          <a:p>
            <a:pPr>
              <a:spcAft>
                <a:spcPts val="700"/>
              </a:spcAft>
              <a:defRPr sz="1500">
                <a:solidFill>
                  <a:srgbClr val="222831"/>
                </a:solidFill>
                <a:latin typeface="Aptos"/>
              </a:defRPr>
            </a:pPr>
            <a:r>
              <a:t>The reranker is interpretable enough to support deterministic reasoning traces</a:t>
            </a:r>
          </a:p>
          <a:p>
            <a:pPr>
              <a:spcAft>
                <a:spcPts val="700"/>
              </a:spcAft>
              <a:defRPr sz="1500">
                <a:solidFill>
                  <a:srgbClr val="222831"/>
                </a:solidFill>
                <a:latin typeface="Aptos"/>
              </a:defRPr>
            </a:pPr>
            <a:r>
              <a:t>This is more presentation-friendly and research-friendly than a hidden black-box reranker</a:t>
            </a:r>
          </a:p>
        </p:txBody>
      </p:sp>
      <p:sp>
        <p:nvSpPr>
          <p:cNvPr id="11" name="Rectangle 10"/>
          <p:cNvSpPr/>
          <p:nvPr/>
        </p:nvSpPr>
        <p:spPr>
          <a:xfrm>
            <a:off x="5989320" y="1051560"/>
            <a:ext cx="5257800" cy="498348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latency_accuracy_tradeoff.png"/>
          <p:cNvPicPr>
            <a:picLocks noChangeAspect="1"/>
          </p:cNvPicPr>
          <p:nvPr/>
        </p:nvPicPr>
        <p:blipFill>
          <a:blip r:embed="rId3"/>
          <a:stretch>
            <a:fillRect/>
          </a:stretch>
        </p:blipFill>
        <p:spPr>
          <a:xfrm>
            <a:off x="5989320" y="1900237"/>
            <a:ext cx="5257800" cy="328612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Existing Systems vs Our System</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COMPARISON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33</a:t>
            </a:r>
          </a:p>
        </p:txBody>
      </p:sp>
      <p:graphicFrame>
        <p:nvGraphicFramePr>
          <p:cNvPr id="9" name="Table 8"/>
          <p:cNvGraphicFramePr>
            <a:graphicFrameLocks noGrp="1"/>
          </p:cNvGraphicFramePr>
          <p:nvPr/>
        </p:nvGraphicFramePr>
        <p:xfrm>
          <a:off x="594360" y="960120"/>
          <a:ext cx="10972800" cy="42062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600891">
                <a:tc>
                  <a:txBody>
                    <a:bodyPr/>
                    <a:lstStyle/>
                    <a:p>
                      <a:pPr algn="ctr">
                        <a:defRPr sz="1100" b="1">
                          <a:solidFill>
                            <a:srgbClr val="FFFFFF"/>
                          </a:solidFill>
                          <a:latin typeface="Aptos"/>
                        </a:defRPr>
                      </a:pPr>
                      <a:r>
                        <a:t>System Family</a:t>
                      </a:r>
                    </a:p>
                  </a:txBody>
                  <a:tcPr anchor="ctr">
                    <a:solidFill>
                      <a:srgbClr val="0D1B2A"/>
                    </a:solidFill>
                  </a:tcPr>
                </a:tc>
                <a:tc>
                  <a:txBody>
                    <a:bodyPr/>
                    <a:lstStyle/>
                    <a:p>
                      <a:pPr algn="ctr">
                        <a:defRPr sz="1100" b="1">
                          <a:solidFill>
                            <a:srgbClr val="FFFFFF"/>
                          </a:solidFill>
                          <a:latin typeface="Aptos"/>
                        </a:defRPr>
                      </a:pPr>
                      <a:r>
                        <a:t>Strength</a:t>
                      </a:r>
                    </a:p>
                  </a:txBody>
                  <a:tcPr anchor="ctr">
                    <a:solidFill>
                      <a:srgbClr val="0D1B2A"/>
                    </a:solidFill>
                  </a:tcPr>
                </a:tc>
                <a:tc>
                  <a:txBody>
                    <a:bodyPr/>
                    <a:lstStyle/>
                    <a:p>
                      <a:pPr algn="ctr">
                        <a:defRPr sz="1100" b="1">
                          <a:solidFill>
                            <a:srgbClr val="FFFFFF"/>
                          </a:solidFill>
                          <a:latin typeface="Aptos"/>
                        </a:defRPr>
                      </a:pPr>
                      <a:r>
                        <a:t>Limitation</a:t>
                      </a:r>
                    </a:p>
                  </a:txBody>
                  <a:tcPr anchor="ctr">
                    <a:solidFill>
                      <a:srgbClr val="0D1B2A"/>
                    </a:solidFill>
                  </a:tcPr>
                </a:tc>
                <a:tc>
                  <a:txBody>
                    <a:bodyPr/>
                    <a:lstStyle/>
                    <a:p>
                      <a:pPr algn="ctr">
                        <a:defRPr sz="1100" b="1">
                          <a:solidFill>
                            <a:srgbClr val="FFFFFF"/>
                          </a:solidFill>
                          <a:latin typeface="Aptos"/>
                        </a:defRPr>
                      </a:pPr>
                      <a:r>
                        <a:t>Our Position</a:t>
                      </a:r>
                    </a:p>
                  </a:txBody>
                  <a:tcPr anchor="ctr">
                    <a:solidFill>
                      <a:srgbClr val="0D1B2A"/>
                    </a:solidFill>
                  </a:tcPr>
                </a:tc>
                <a:extLst>
                  <a:ext uri="{0D108BD9-81ED-4DB2-BD59-A6C34878D82A}">
                    <a16:rowId xmlns:a16="http://schemas.microsoft.com/office/drawing/2014/main" val="10000"/>
                  </a:ext>
                </a:extLst>
              </a:tr>
              <a:tr h="600891">
                <a:tc>
                  <a:txBody>
                    <a:bodyPr/>
                    <a:lstStyle/>
                    <a:p>
                      <a:pPr algn="l">
                        <a:defRPr sz="1100" b="0">
                          <a:solidFill>
                            <a:srgbClr val="222831"/>
                          </a:solidFill>
                          <a:latin typeface="Aptos"/>
                        </a:defRPr>
                      </a:pPr>
                      <a:r>
                        <a:t>Classical SRL</a:t>
                      </a:r>
                    </a:p>
                  </a:txBody>
                  <a:tcPr anchor="ctr">
                    <a:solidFill>
                      <a:srgbClr val="FFFFFF"/>
                    </a:solidFill>
                  </a:tcPr>
                </a:tc>
                <a:tc>
                  <a:txBody>
                    <a:bodyPr/>
                    <a:lstStyle/>
                    <a:p>
                      <a:pPr algn="l">
                        <a:defRPr sz="1100" b="0">
                          <a:solidFill>
                            <a:srgbClr val="222831"/>
                          </a:solidFill>
                          <a:latin typeface="Aptos"/>
                        </a:defRPr>
                      </a:pPr>
                      <a:r>
                        <a:t>Interpretability, syntax awareness</a:t>
                      </a:r>
                    </a:p>
                  </a:txBody>
                  <a:tcPr anchor="ctr">
                    <a:solidFill>
                      <a:srgbClr val="FFFFFF"/>
                    </a:solidFill>
                  </a:tcPr>
                </a:tc>
                <a:tc>
                  <a:txBody>
                    <a:bodyPr/>
                    <a:lstStyle/>
                    <a:p>
                      <a:pPr algn="l">
                        <a:defRPr sz="1100" b="0">
                          <a:solidFill>
                            <a:srgbClr val="222831"/>
                          </a:solidFill>
                          <a:latin typeface="Aptos"/>
                        </a:defRPr>
                      </a:pPr>
                      <a:r>
                        <a:t>Feature engineering and pipeline brittleness</a:t>
                      </a:r>
                    </a:p>
                  </a:txBody>
                  <a:tcPr anchor="ctr">
                    <a:solidFill>
                      <a:srgbClr val="FFFFFF"/>
                    </a:solidFill>
                  </a:tcPr>
                </a:tc>
                <a:tc>
                  <a:txBody>
                    <a:bodyPr/>
                    <a:lstStyle/>
                    <a:p>
                      <a:pPr algn="l">
                        <a:defRPr sz="1100" b="0">
                          <a:solidFill>
                            <a:srgbClr val="222831"/>
                          </a:solidFill>
                          <a:latin typeface="Aptos"/>
                        </a:defRPr>
                      </a:pPr>
                      <a:r>
                        <a:rPr dirty="0"/>
                        <a:t>Keep semantic transparency, learn more jointly</a:t>
                      </a:r>
                    </a:p>
                  </a:txBody>
                  <a:tcPr anchor="ctr">
                    <a:solidFill>
                      <a:srgbClr val="FFFFFF"/>
                    </a:solidFill>
                  </a:tcPr>
                </a:tc>
                <a:extLst>
                  <a:ext uri="{0D108BD9-81ED-4DB2-BD59-A6C34878D82A}">
                    <a16:rowId xmlns:a16="http://schemas.microsoft.com/office/drawing/2014/main" val="10001"/>
                  </a:ext>
                </a:extLst>
              </a:tr>
              <a:tr h="600891">
                <a:tc>
                  <a:txBody>
                    <a:bodyPr/>
                    <a:lstStyle/>
                    <a:p>
                      <a:pPr algn="l">
                        <a:defRPr sz="1100" b="0">
                          <a:solidFill>
                            <a:srgbClr val="222831"/>
                          </a:solidFill>
                          <a:latin typeface="Aptos"/>
                        </a:defRPr>
                      </a:pPr>
                      <a:r>
                        <a:t>Neural SRL</a:t>
                      </a:r>
                    </a:p>
                  </a:txBody>
                  <a:tcPr anchor="ctr">
                    <a:solidFill>
                      <a:srgbClr val="FFFFFF"/>
                    </a:solidFill>
                  </a:tcPr>
                </a:tc>
                <a:tc>
                  <a:txBody>
                    <a:bodyPr/>
                    <a:lstStyle/>
                    <a:p>
                      <a:pPr algn="l">
                        <a:defRPr sz="1100" b="0">
                          <a:solidFill>
                            <a:srgbClr val="222831"/>
                          </a:solidFill>
                          <a:latin typeface="Aptos"/>
                        </a:defRPr>
                      </a:pPr>
                      <a:r>
                        <a:t>Better learned context representations</a:t>
                      </a:r>
                    </a:p>
                  </a:txBody>
                  <a:tcPr anchor="ctr">
                    <a:solidFill>
                      <a:srgbClr val="FFFFFF"/>
                    </a:solidFill>
                  </a:tcPr>
                </a:tc>
                <a:tc>
                  <a:txBody>
                    <a:bodyPr/>
                    <a:lstStyle/>
                    <a:p>
                      <a:pPr algn="l">
                        <a:defRPr sz="1100" b="0">
                          <a:solidFill>
                            <a:srgbClr val="222831"/>
                          </a:solidFill>
                          <a:latin typeface="Aptos"/>
                        </a:defRPr>
                      </a:pPr>
                      <a:r>
                        <a:t>Still role-focused rather than QA-facing</a:t>
                      </a:r>
                    </a:p>
                  </a:txBody>
                  <a:tcPr anchor="ctr">
                    <a:solidFill>
                      <a:srgbClr val="FFFFFF"/>
                    </a:solidFill>
                  </a:tcPr>
                </a:tc>
                <a:tc>
                  <a:txBody>
                    <a:bodyPr/>
                    <a:lstStyle/>
                    <a:p>
                      <a:pPr algn="l">
                        <a:defRPr sz="1100" b="0">
                          <a:solidFill>
                            <a:srgbClr val="222831"/>
                          </a:solidFill>
                          <a:latin typeface="Aptos"/>
                        </a:defRPr>
                      </a:pPr>
                      <a:r>
                        <a:t>Use multi-task learning with answer extraction</a:t>
                      </a:r>
                    </a:p>
                  </a:txBody>
                  <a:tcPr anchor="ctr">
                    <a:solidFill>
                      <a:srgbClr val="FFFFFF"/>
                    </a:solidFill>
                  </a:tcPr>
                </a:tc>
                <a:extLst>
                  <a:ext uri="{0D108BD9-81ED-4DB2-BD59-A6C34878D82A}">
                    <a16:rowId xmlns:a16="http://schemas.microsoft.com/office/drawing/2014/main" val="10002"/>
                  </a:ext>
                </a:extLst>
              </a:tr>
              <a:tr h="600891">
                <a:tc>
                  <a:txBody>
                    <a:bodyPr/>
                    <a:lstStyle/>
                    <a:p>
                      <a:pPr algn="l">
                        <a:defRPr sz="1100" b="0">
                          <a:solidFill>
                            <a:srgbClr val="222831"/>
                          </a:solidFill>
                          <a:latin typeface="Aptos"/>
                        </a:defRPr>
                      </a:pPr>
                      <a:r>
                        <a:t>Extractive QA</a:t>
                      </a:r>
                    </a:p>
                  </a:txBody>
                  <a:tcPr anchor="ctr">
                    <a:solidFill>
                      <a:srgbClr val="FFFFFF"/>
                    </a:solidFill>
                  </a:tcPr>
                </a:tc>
                <a:tc>
                  <a:txBody>
                    <a:bodyPr/>
                    <a:lstStyle/>
                    <a:p>
                      <a:pPr algn="l">
                        <a:defRPr sz="1100" b="0">
                          <a:solidFill>
                            <a:srgbClr val="222831"/>
                          </a:solidFill>
                          <a:latin typeface="Aptos"/>
                        </a:defRPr>
                      </a:pPr>
                      <a:r>
                        <a:t>Strong span prediction and mature metrics</a:t>
                      </a:r>
                    </a:p>
                  </a:txBody>
                  <a:tcPr anchor="ctr">
                    <a:solidFill>
                      <a:srgbClr val="FFFFFF"/>
                    </a:solidFill>
                  </a:tcPr>
                </a:tc>
                <a:tc>
                  <a:txBody>
                    <a:bodyPr/>
                    <a:lstStyle/>
                    <a:p>
                      <a:pPr algn="l">
                        <a:defRPr sz="1100" b="0">
                          <a:solidFill>
                            <a:srgbClr val="222831"/>
                          </a:solidFill>
                          <a:latin typeface="Aptos"/>
                        </a:defRPr>
                      </a:pPr>
                      <a:r>
                        <a:t>No explicit answer-role interpretation</a:t>
                      </a:r>
                    </a:p>
                  </a:txBody>
                  <a:tcPr anchor="ctr">
                    <a:solidFill>
                      <a:srgbClr val="FFFFFF"/>
                    </a:solidFill>
                  </a:tcPr>
                </a:tc>
                <a:tc>
                  <a:txBody>
                    <a:bodyPr/>
                    <a:lstStyle/>
                    <a:p>
                      <a:pPr algn="l">
                        <a:defRPr sz="1100" b="0">
                          <a:solidFill>
                            <a:srgbClr val="222831"/>
                          </a:solidFill>
                          <a:latin typeface="Aptos"/>
                        </a:defRPr>
                      </a:pPr>
                      <a:r>
                        <a:t>Keep span decoding, add role grounding</a:t>
                      </a:r>
                    </a:p>
                  </a:txBody>
                  <a:tcPr anchor="ctr">
                    <a:solidFill>
                      <a:srgbClr val="FFFFFF"/>
                    </a:solidFill>
                  </a:tcPr>
                </a:tc>
                <a:extLst>
                  <a:ext uri="{0D108BD9-81ED-4DB2-BD59-A6C34878D82A}">
                    <a16:rowId xmlns:a16="http://schemas.microsoft.com/office/drawing/2014/main" val="10003"/>
                  </a:ext>
                </a:extLst>
              </a:tr>
              <a:tr h="600891">
                <a:tc>
                  <a:txBody>
                    <a:bodyPr/>
                    <a:lstStyle/>
                    <a:p>
                      <a:pPr algn="l">
                        <a:defRPr sz="1100" b="0">
                          <a:solidFill>
                            <a:srgbClr val="222831"/>
                          </a:solidFill>
                          <a:latin typeface="Aptos"/>
                        </a:defRPr>
                      </a:pPr>
                      <a:r>
                        <a:t>QA-SRL</a:t>
                      </a:r>
                    </a:p>
                  </a:txBody>
                  <a:tcPr anchor="ctr">
                    <a:solidFill>
                      <a:srgbClr val="FFFFFF"/>
                    </a:solidFill>
                  </a:tcPr>
                </a:tc>
                <a:tc>
                  <a:txBody>
                    <a:bodyPr/>
                    <a:lstStyle/>
                    <a:p>
                      <a:pPr algn="l">
                        <a:defRPr sz="1100" b="0">
                          <a:solidFill>
                            <a:srgbClr val="222831"/>
                          </a:solidFill>
                          <a:latin typeface="Aptos"/>
                        </a:defRPr>
                      </a:pPr>
                      <a:r>
                        <a:t>Natural question-answer view of semantics</a:t>
                      </a:r>
                    </a:p>
                  </a:txBody>
                  <a:tcPr anchor="ctr">
                    <a:solidFill>
                      <a:srgbClr val="FFFFFF"/>
                    </a:solidFill>
                  </a:tcPr>
                </a:tc>
                <a:tc>
                  <a:txBody>
                    <a:bodyPr/>
                    <a:lstStyle/>
                    <a:p>
                      <a:pPr algn="l">
                        <a:defRPr sz="1100" b="0">
                          <a:solidFill>
                            <a:srgbClr val="222831"/>
                          </a:solidFill>
                          <a:latin typeface="Aptos"/>
                        </a:defRPr>
                      </a:pPr>
                      <a:r>
                        <a:t>Not this exact integrated local pipeline</a:t>
                      </a:r>
                    </a:p>
                  </a:txBody>
                  <a:tcPr anchor="ctr">
                    <a:solidFill>
                      <a:srgbClr val="FFFFFF"/>
                    </a:solidFill>
                  </a:tcPr>
                </a:tc>
                <a:tc>
                  <a:txBody>
                    <a:bodyPr/>
                    <a:lstStyle/>
                    <a:p>
                      <a:pPr algn="l">
                        <a:defRPr sz="1100" b="0">
                          <a:solidFill>
                            <a:srgbClr val="222831"/>
                          </a:solidFill>
                          <a:latin typeface="Aptos"/>
                        </a:defRPr>
                      </a:pPr>
                      <a:r>
                        <a:t>Operationalize the bridge with PropBank-derived supervision</a:t>
                      </a:r>
                    </a:p>
                  </a:txBody>
                  <a:tcPr anchor="ctr">
                    <a:solidFill>
                      <a:srgbClr val="FFFFFF"/>
                    </a:solidFill>
                  </a:tcPr>
                </a:tc>
                <a:extLst>
                  <a:ext uri="{0D108BD9-81ED-4DB2-BD59-A6C34878D82A}">
                    <a16:rowId xmlns:a16="http://schemas.microsoft.com/office/drawing/2014/main" val="10004"/>
                  </a:ext>
                </a:extLst>
              </a:tr>
              <a:tr h="600891">
                <a:tc>
                  <a:txBody>
                    <a:bodyPr/>
                    <a:lstStyle/>
                    <a:p>
                      <a:pPr algn="l">
                        <a:defRPr sz="1100" b="0">
                          <a:solidFill>
                            <a:srgbClr val="222831"/>
                          </a:solidFill>
                          <a:latin typeface="Aptos"/>
                        </a:defRPr>
                      </a:pPr>
                      <a:r>
                        <a:t>Transformer QA</a:t>
                      </a:r>
                    </a:p>
                  </a:txBody>
                  <a:tcPr anchor="ctr">
                    <a:solidFill>
                      <a:srgbClr val="FFFFFF"/>
                    </a:solidFill>
                  </a:tcPr>
                </a:tc>
                <a:tc>
                  <a:txBody>
                    <a:bodyPr/>
                    <a:lstStyle/>
                    <a:p>
                      <a:pPr algn="l">
                        <a:defRPr sz="1100" b="0">
                          <a:solidFill>
                            <a:srgbClr val="222831"/>
                          </a:solidFill>
                          <a:latin typeface="Aptos"/>
                        </a:defRPr>
                      </a:pPr>
                      <a:r>
                        <a:t>Strong contextual answer proposals</a:t>
                      </a:r>
                    </a:p>
                  </a:txBody>
                  <a:tcPr anchor="ctr">
                    <a:solidFill>
                      <a:srgbClr val="FFFFFF"/>
                    </a:solidFill>
                  </a:tcPr>
                </a:tc>
                <a:tc>
                  <a:txBody>
                    <a:bodyPr/>
                    <a:lstStyle/>
                    <a:p>
                      <a:pPr algn="l">
                        <a:defRPr sz="1100" b="0">
                          <a:solidFill>
                            <a:srgbClr val="222831"/>
                          </a:solidFill>
                          <a:latin typeface="Aptos"/>
                        </a:defRPr>
                      </a:pPr>
                      <a:r>
                        <a:t>Higher runtime and weaker transparency</a:t>
                      </a:r>
                    </a:p>
                  </a:txBody>
                  <a:tcPr anchor="ctr">
                    <a:solidFill>
                      <a:srgbClr val="FFFFFF"/>
                    </a:solidFill>
                  </a:tcPr>
                </a:tc>
                <a:tc>
                  <a:txBody>
                    <a:bodyPr/>
                    <a:lstStyle/>
                    <a:p>
                      <a:pPr algn="l">
                        <a:defRPr sz="1100" b="0">
                          <a:solidFill>
                            <a:srgbClr val="222831"/>
                          </a:solidFill>
                          <a:latin typeface="Aptos"/>
                        </a:defRPr>
                      </a:pPr>
                      <a:r>
                        <a:t>Use as optional support in a hybrid layer</a:t>
                      </a:r>
                    </a:p>
                  </a:txBody>
                  <a:tcPr anchor="ctr">
                    <a:solidFill>
                      <a:srgbClr val="FFFFFF"/>
                    </a:solidFill>
                  </a:tcPr>
                </a:tc>
                <a:extLst>
                  <a:ext uri="{0D108BD9-81ED-4DB2-BD59-A6C34878D82A}">
                    <a16:rowId xmlns:a16="http://schemas.microsoft.com/office/drawing/2014/main" val="10005"/>
                  </a:ext>
                </a:extLst>
              </a:tr>
              <a:tr h="600894">
                <a:tc>
                  <a:txBody>
                    <a:bodyPr/>
                    <a:lstStyle/>
                    <a:p>
                      <a:pPr algn="l">
                        <a:defRPr sz="1100" b="0">
                          <a:solidFill>
                            <a:srgbClr val="222831"/>
                          </a:solidFill>
                          <a:latin typeface="Aptos"/>
                        </a:defRPr>
                      </a:pPr>
                      <a:r>
                        <a:t>LLM-based SRL</a:t>
                      </a:r>
                    </a:p>
                  </a:txBody>
                  <a:tcPr anchor="ctr">
                    <a:solidFill>
                      <a:srgbClr val="FFFFFF"/>
                    </a:solidFill>
                  </a:tcPr>
                </a:tc>
                <a:tc>
                  <a:txBody>
                    <a:bodyPr/>
                    <a:lstStyle/>
                    <a:p>
                      <a:pPr algn="l">
                        <a:defRPr sz="1100" b="0">
                          <a:solidFill>
                            <a:srgbClr val="222831"/>
                          </a:solidFill>
                          <a:latin typeface="Aptos"/>
                        </a:defRPr>
                      </a:pPr>
                      <a:r>
                        <a:t>Strong general language competence</a:t>
                      </a:r>
                    </a:p>
                  </a:txBody>
                  <a:tcPr anchor="ctr">
                    <a:solidFill>
                      <a:srgbClr val="FFFFFF"/>
                    </a:solidFill>
                  </a:tcPr>
                </a:tc>
                <a:tc>
                  <a:txBody>
                    <a:bodyPr/>
                    <a:lstStyle/>
                    <a:p>
                      <a:pPr algn="l">
                        <a:defRPr sz="1100" b="0">
                          <a:solidFill>
                            <a:srgbClr val="222831"/>
                          </a:solidFill>
                          <a:latin typeface="Aptos"/>
                        </a:defRPr>
                      </a:pPr>
                      <a:r>
                        <a:t>Needs adaptation and can remain structurally inconsistent</a:t>
                      </a:r>
                    </a:p>
                  </a:txBody>
                  <a:tcPr anchor="ctr">
                    <a:solidFill>
                      <a:srgbClr val="FFFFFF"/>
                    </a:solidFill>
                  </a:tcPr>
                </a:tc>
                <a:tc>
                  <a:txBody>
                    <a:bodyPr/>
                    <a:lstStyle/>
                    <a:p>
                      <a:pPr algn="l">
                        <a:defRPr sz="1100" b="0">
                          <a:solidFill>
                            <a:srgbClr val="222831"/>
                          </a:solidFill>
                          <a:latin typeface="Aptos"/>
                        </a:defRPr>
                      </a:pPr>
                      <a:r>
                        <a:rPr dirty="0"/>
                        <a:t>Acknowledge trend, keep deterministic structured core</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731520" y="5394960"/>
            <a:ext cx="10698480" cy="640080"/>
          </a:xfrm>
          <a:prstGeom prst="rect">
            <a:avLst/>
          </a:prstGeom>
          <a:noFill/>
        </p:spPr>
        <p:txBody>
          <a:bodyPr wrap="square">
            <a:spAutoFit/>
          </a:bodyPr>
          <a:lstStyle/>
          <a:p>
            <a:pPr>
              <a:spcAft>
                <a:spcPts val="700"/>
              </a:spcAft>
              <a:defRPr sz="1600">
                <a:solidFill>
                  <a:srgbClr val="222831"/>
                </a:solidFill>
                <a:latin typeface="Aptos"/>
              </a:defRPr>
            </a:pPr>
            <a:r>
              <a:t>The project is best understood as an integrated SRL-QA research package rather than as a single-task model</a:t>
            </a:r>
          </a:p>
          <a:p>
            <a:pPr>
              <a:spcAft>
                <a:spcPts val="700"/>
              </a:spcAft>
              <a:defRPr sz="1600">
                <a:solidFill>
                  <a:srgbClr val="222831"/>
                </a:solidFill>
                <a:latin typeface="Aptos"/>
              </a:defRPr>
            </a:pPr>
            <a:r>
              <a:t>It borrows strengths from prior systems but centers semantic explainability and reproducibility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8B0000"/>
                </a:solidFill>
                <a:latin typeface="Sorts Mill Goudy" pitchFamily="34" charset="0"/>
                <a:ea typeface="Sorts Mill Goudy" pitchFamily="34" charset="-122"/>
                <a:cs typeface="Sorts Mill Goudy" pitchFamily="34" charset="-120"/>
              </a:rPr>
              <a:t>3.1 SOLUTION OVERVIEW</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PropQA-Net: Core Concept</a:t>
            </a:r>
            <a:endParaRPr lang="en-US" sz="1600" dirty="0"/>
          </a:p>
        </p:txBody>
      </p:sp>
      <p:sp>
        <p:nvSpPr>
          <p:cNvPr id="4" name="Shape 2"/>
          <p:cNvSpPr/>
          <p:nvPr/>
        </p:nvSpPr>
        <p:spPr>
          <a:xfrm>
            <a:off x="400050" y="1257300"/>
            <a:ext cx="5543550" cy="1981200"/>
          </a:xfrm>
          <a:custGeom>
            <a:avLst/>
            <a:gdLst/>
            <a:ahLst/>
            <a:cxnLst/>
            <a:rect l="l" t="t" r="r" b="b"/>
            <a:pathLst>
              <a:path w="5543550" h="1981200">
                <a:moveTo>
                  <a:pt x="0" y="0"/>
                </a:moveTo>
                <a:lnTo>
                  <a:pt x="5543550" y="0"/>
                </a:lnTo>
                <a:lnTo>
                  <a:pt x="5543550" y="1981200"/>
                </a:lnTo>
                <a:lnTo>
                  <a:pt x="0" y="1981200"/>
                </a:lnTo>
                <a:lnTo>
                  <a:pt x="0" y="0"/>
                </a:lnTo>
                <a:close/>
              </a:path>
            </a:pathLst>
          </a:custGeom>
          <a:solidFill>
            <a:srgbClr val="F9FAFB"/>
          </a:solidFill>
          <a:ln/>
        </p:spPr>
      </p:sp>
      <p:sp>
        <p:nvSpPr>
          <p:cNvPr id="5" name="Shape 3"/>
          <p:cNvSpPr/>
          <p:nvPr/>
        </p:nvSpPr>
        <p:spPr>
          <a:xfrm>
            <a:off x="400050" y="1257300"/>
            <a:ext cx="38100" cy="1981200"/>
          </a:xfrm>
          <a:custGeom>
            <a:avLst/>
            <a:gdLst/>
            <a:ahLst/>
            <a:cxnLst/>
            <a:rect l="l" t="t" r="r" b="b"/>
            <a:pathLst>
              <a:path w="38100" h="1981200">
                <a:moveTo>
                  <a:pt x="0" y="0"/>
                </a:moveTo>
                <a:lnTo>
                  <a:pt x="38100" y="0"/>
                </a:lnTo>
                <a:lnTo>
                  <a:pt x="38100" y="1981200"/>
                </a:lnTo>
                <a:lnTo>
                  <a:pt x="0" y="1981200"/>
                </a:lnTo>
                <a:lnTo>
                  <a:pt x="0" y="0"/>
                </a:lnTo>
                <a:close/>
              </a:path>
            </a:pathLst>
          </a:custGeom>
          <a:solidFill>
            <a:srgbClr val="8B0000"/>
          </a:solidFill>
          <a:ln/>
        </p:spPr>
      </p:sp>
      <p:sp>
        <p:nvSpPr>
          <p:cNvPr id="6" name="Text 4"/>
          <p:cNvSpPr/>
          <p:nvPr/>
        </p:nvSpPr>
        <p:spPr>
          <a:xfrm>
            <a:off x="647700" y="1485900"/>
            <a:ext cx="51625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System Definition</a:t>
            </a:r>
            <a:endParaRPr lang="en-US" sz="1600" dirty="0"/>
          </a:p>
        </p:txBody>
      </p:sp>
      <p:sp>
        <p:nvSpPr>
          <p:cNvPr id="7" name="Text 5"/>
          <p:cNvSpPr/>
          <p:nvPr/>
        </p:nvSpPr>
        <p:spPr>
          <a:xfrm>
            <a:off x="647700" y="1866900"/>
            <a:ext cx="5143500" cy="74295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PropQA-Net is a </a:t>
            </a:r>
            <a:r>
              <a:rPr lang="en-US" sz="1200" b="1" dirty="0">
                <a:solidFill>
                  <a:srgbClr val="1F2937"/>
                </a:solidFill>
                <a:latin typeface="Sorts Mill Goudy" pitchFamily="34" charset="0"/>
                <a:ea typeface="Sorts Mill Goudy" pitchFamily="34" charset="-122"/>
                <a:cs typeface="Sorts Mill Goudy" pitchFamily="34" charset="-120"/>
              </a:rPr>
              <a:t>semantic role-anchored extractive question answering system</a:t>
            </a:r>
            <a:r>
              <a:rPr lang="en-US" sz="1200" dirty="0">
                <a:solidFill>
                  <a:srgbClr val="1F2937"/>
                </a:solidFill>
                <a:latin typeface="Sorts Mill Goudy" pitchFamily="34" charset="0"/>
                <a:ea typeface="Sorts Mill Goudy" pitchFamily="34" charset="-122"/>
                <a:cs typeface="Sorts Mill Goudy" pitchFamily="34" charset="-120"/>
              </a:rPr>
              <a:t> trained on QA pairs generated from the local NLTK PropBank distribution.</a:t>
            </a:r>
            <a:endParaRPr lang="en-US" sz="1600" dirty="0"/>
          </a:p>
        </p:txBody>
      </p:sp>
      <p:sp>
        <p:nvSpPr>
          <p:cNvPr id="8" name="Text 6"/>
          <p:cNvSpPr/>
          <p:nvPr/>
        </p:nvSpPr>
        <p:spPr>
          <a:xfrm>
            <a:off x="647700" y="2762250"/>
            <a:ext cx="5143500" cy="24765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The system combines three key components:</a:t>
            </a:r>
            <a:endParaRPr lang="en-US" sz="1600" dirty="0"/>
          </a:p>
        </p:txBody>
      </p:sp>
      <p:sp>
        <p:nvSpPr>
          <p:cNvPr id="9" name="Shape 7"/>
          <p:cNvSpPr/>
          <p:nvPr/>
        </p:nvSpPr>
        <p:spPr>
          <a:xfrm>
            <a:off x="385763" y="3471863"/>
            <a:ext cx="5553075" cy="1038225"/>
          </a:xfrm>
          <a:custGeom>
            <a:avLst/>
            <a:gdLst/>
            <a:ahLst/>
            <a:cxnLst/>
            <a:rect l="l" t="t" r="r" b="b"/>
            <a:pathLst>
              <a:path w="5553075" h="1038225">
                <a:moveTo>
                  <a:pt x="0" y="0"/>
                </a:moveTo>
                <a:lnTo>
                  <a:pt x="5553075" y="0"/>
                </a:lnTo>
                <a:lnTo>
                  <a:pt x="5553075" y="1038225"/>
                </a:lnTo>
                <a:lnTo>
                  <a:pt x="0" y="1038225"/>
                </a:lnTo>
                <a:lnTo>
                  <a:pt x="0" y="0"/>
                </a:lnTo>
                <a:close/>
              </a:path>
            </a:pathLst>
          </a:custGeom>
          <a:solidFill>
            <a:srgbClr val="FFFFFF"/>
          </a:solidFill>
          <a:ln w="12700">
            <a:solidFill>
              <a:srgbClr val="E5E7EB"/>
            </a:solidFill>
            <a:prstDash val="solid"/>
          </a:ln>
        </p:spPr>
      </p:sp>
      <p:sp>
        <p:nvSpPr>
          <p:cNvPr id="10" name="Shape 8"/>
          <p:cNvSpPr/>
          <p:nvPr/>
        </p:nvSpPr>
        <p:spPr>
          <a:xfrm>
            <a:off x="542925" y="3629025"/>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8B0000"/>
          </a:solidFill>
          <a:ln/>
        </p:spPr>
      </p:sp>
      <p:sp>
        <p:nvSpPr>
          <p:cNvPr id="11" name="Text 9"/>
          <p:cNvSpPr/>
          <p:nvPr/>
        </p:nvSpPr>
        <p:spPr>
          <a:xfrm>
            <a:off x="495300" y="362902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Sorts Mill Goudy" pitchFamily="34" charset="0"/>
                <a:ea typeface="Sorts Mill Goudy" pitchFamily="34" charset="-122"/>
                <a:cs typeface="Sorts Mill Goudy" pitchFamily="34" charset="-120"/>
              </a:rPr>
              <a:t>1</a:t>
            </a:r>
            <a:endParaRPr lang="en-US" sz="1600" dirty="0"/>
          </a:p>
        </p:txBody>
      </p:sp>
      <p:sp>
        <p:nvSpPr>
          <p:cNvPr id="12" name="Text 10"/>
          <p:cNvSpPr/>
          <p:nvPr/>
        </p:nvSpPr>
        <p:spPr>
          <a:xfrm>
            <a:off x="1152525" y="3629025"/>
            <a:ext cx="47053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Contextual Sequence Labeling</a:t>
            </a:r>
            <a:endParaRPr lang="en-US" sz="1600" dirty="0"/>
          </a:p>
        </p:txBody>
      </p:sp>
      <p:sp>
        <p:nvSpPr>
          <p:cNvPr id="13" name="Text 11"/>
          <p:cNvSpPr/>
          <p:nvPr/>
        </p:nvSpPr>
        <p:spPr>
          <a:xfrm>
            <a:off x="1152525" y="3895725"/>
            <a:ext cx="4705350" cy="4572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BiLSTM encoder with word, POS, and predicate-indicator embeddings for BIO role tagging</a:t>
            </a:r>
            <a:endParaRPr lang="en-US" sz="1600" dirty="0"/>
          </a:p>
        </p:txBody>
      </p:sp>
      <p:sp>
        <p:nvSpPr>
          <p:cNvPr id="14" name="Shape 12"/>
          <p:cNvSpPr/>
          <p:nvPr/>
        </p:nvSpPr>
        <p:spPr>
          <a:xfrm>
            <a:off x="385763" y="4672013"/>
            <a:ext cx="5553075" cy="809625"/>
          </a:xfrm>
          <a:custGeom>
            <a:avLst/>
            <a:gdLst/>
            <a:ahLst/>
            <a:cxnLst/>
            <a:rect l="l" t="t" r="r" b="b"/>
            <a:pathLst>
              <a:path w="5553075" h="809625">
                <a:moveTo>
                  <a:pt x="0" y="0"/>
                </a:moveTo>
                <a:lnTo>
                  <a:pt x="5553075" y="0"/>
                </a:lnTo>
                <a:lnTo>
                  <a:pt x="5553075" y="809625"/>
                </a:lnTo>
                <a:lnTo>
                  <a:pt x="0" y="809625"/>
                </a:lnTo>
                <a:lnTo>
                  <a:pt x="0" y="0"/>
                </a:lnTo>
                <a:close/>
              </a:path>
            </a:pathLst>
          </a:custGeom>
          <a:solidFill>
            <a:srgbClr val="FFFFFF"/>
          </a:solidFill>
          <a:ln w="12700">
            <a:solidFill>
              <a:srgbClr val="E5E7EB"/>
            </a:solidFill>
            <a:prstDash val="solid"/>
          </a:ln>
        </p:spPr>
      </p:sp>
      <p:sp>
        <p:nvSpPr>
          <p:cNvPr id="15" name="Shape 13"/>
          <p:cNvSpPr/>
          <p:nvPr/>
        </p:nvSpPr>
        <p:spPr>
          <a:xfrm>
            <a:off x="542925" y="4829175"/>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8B0000"/>
          </a:solidFill>
          <a:ln/>
        </p:spPr>
      </p:sp>
      <p:sp>
        <p:nvSpPr>
          <p:cNvPr id="16" name="Text 14"/>
          <p:cNvSpPr/>
          <p:nvPr/>
        </p:nvSpPr>
        <p:spPr>
          <a:xfrm>
            <a:off x="495300" y="482917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Sorts Mill Goudy" pitchFamily="34" charset="0"/>
                <a:ea typeface="Sorts Mill Goudy" pitchFamily="34" charset="-122"/>
                <a:cs typeface="Sorts Mill Goudy" pitchFamily="34" charset="-120"/>
              </a:rPr>
              <a:t>2</a:t>
            </a:r>
            <a:endParaRPr lang="en-US" sz="1600" dirty="0"/>
          </a:p>
        </p:txBody>
      </p:sp>
      <p:sp>
        <p:nvSpPr>
          <p:cNvPr id="17" name="Text 15"/>
          <p:cNvSpPr/>
          <p:nvPr/>
        </p:nvSpPr>
        <p:spPr>
          <a:xfrm>
            <a:off x="1152525" y="4829175"/>
            <a:ext cx="46482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Question-Conditioned Span Scoring</a:t>
            </a:r>
            <a:endParaRPr lang="en-US" sz="1600" dirty="0"/>
          </a:p>
        </p:txBody>
      </p:sp>
      <p:sp>
        <p:nvSpPr>
          <p:cNvPr id="18" name="Text 16"/>
          <p:cNvSpPr/>
          <p:nvPr/>
        </p:nvSpPr>
        <p:spPr>
          <a:xfrm>
            <a:off x="1152525" y="5095875"/>
            <a:ext cx="464820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Separate BiLSTM encodes questions to predict start and end positions</a:t>
            </a:r>
            <a:endParaRPr lang="en-US" sz="1600" dirty="0"/>
          </a:p>
        </p:txBody>
      </p:sp>
      <p:sp>
        <p:nvSpPr>
          <p:cNvPr id="19" name="Shape 17"/>
          <p:cNvSpPr/>
          <p:nvPr/>
        </p:nvSpPr>
        <p:spPr>
          <a:xfrm>
            <a:off x="385763" y="5643563"/>
            <a:ext cx="5553075" cy="1038225"/>
          </a:xfrm>
          <a:custGeom>
            <a:avLst/>
            <a:gdLst/>
            <a:ahLst/>
            <a:cxnLst/>
            <a:rect l="l" t="t" r="r" b="b"/>
            <a:pathLst>
              <a:path w="5553075" h="1038225">
                <a:moveTo>
                  <a:pt x="0" y="0"/>
                </a:moveTo>
                <a:lnTo>
                  <a:pt x="5553075" y="0"/>
                </a:lnTo>
                <a:lnTo>
                  <a:pt x="5553075" y="1038225"/>
                </a:lnTo>
                <a:lnTo>
                  <a:pt x="0" y="1038225"/>
                </a:lnTo>
                <a:lnTo>
                  <a:pt x="0" y="0"/>
                </a:lnTo>
                <a:close/>
              </a:path>
            </a:pathLst>
          </a:custGeom>
          <a:solidFill>
            <a:srgbClr val="FFFFFF"/>
          </a:solidFill>
          <a:ln w="12700">
            <a:solidFill>
              <a:srgbClr val="E5E7EB"/>
            </a:solidFill>
            <a:prstDash val="solid"/>
          </a:ln>
        </p:spPr>
      </p:sp>
      <p:sp>
        <p:nvSpPr>
          <p:cNvPr id="20" name="Shape 18"/>
          <p:cNvSpPr/>
          <p:nvPr/>
        </p:nvSpPr>
        <p:spPr>
          <a:xfrm>
            <a:off x="542925" y="5800725"/>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8B0000"/>
          </a:solidFill>
          <a:ln/>
        </p:spPr>
      </p:sp>
      <p:sp>
        <p:nvSpPr>
          <p:cNvPr id="21" name="Text 19"/>
          <p:cNvSpPr/>
          <p:nvPr/>
        </p:nvSpPr>
        <p:spPr>
          <a:xfrm>
            <a:off x="495300" y="580072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Sorts Mill Goudy" pitchFamily="34" charset="0"/>
                <a:ea typeface="Sorts Mill Goudy" pitchFamily="34" charset="-122"/>
                <a:cs typeface="Sorts Mill Goudy" pitchFamily="34" charset="-120"/>
              </a:rPr>
              <a:t>3</a:t>
            </a:r>
            <a:endParaRPr lang="en-US" sz="1600" dirty="0"/>
          </a:p>
        </p:txBody>
      </p:sp>
      <p:sp>
        <p:nvSpPr>
          <p:cNvPr id="22" name="Text 20"/>
          <p:cNvSpPr/>
          <p:nvPr/>
        </p:nvSpPr>
        <p:spPr>
          <a:xfrm>
            <a:off x="1152525" y="5800725"/>
            <a:ext cx="47053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Argument-Question Matching</a:t>
            </a:r>
            <a:endParaRPr lang="en-US" sz="1600" dirty="0"/>
          </a:p>
        </p:txBody>
      </p:sp>
      <p:sp>
        <p:nvSpPr>
          <p:cNvPr id="23" name="Text 21"/>
          <p:cNvSpPr/>
          <p:nvPr/>
        </p:nvSpPr>
        <p:spPr>
          <a:xfrm>
            <a:off x="1152525" y="6067425"/>
            <a:ext cx="4705350" cy="4572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Candidate-span matcher selects answer whose representation best matches question vector</a:t>
            </a:r>
            <a:endParaRPr lang="en-US" sz="1600" dirty="0"/>
          </a:p>
        </p:txBody>
      </p:sp>
      <p:sp>
        <p:nvSpPr>
          <p:cNvPr id="24" name="Shape 22"/>
          <p:cNvSpPr/>
          <p:nvPr/>
        </p:nvSpPr>
        <p:spPr>
          <a:xfrm>
            <a:off x="6248400" y="1257300"/>
            <a:ext cx="5562600" cy="5429250"/>
          </a:xfrm>
          <a:custGeom>
            <a:avLst/>
            <a:gdLst/>
            <a:ahLst/>
            <a:cxnLst/>
            <a:rect l="l" t="t" r="r" b="b"/>
            <a:pathLst>
              <a:path w="5562600" h="5429250">
                <a:moveTo>
                  <a:pt x="0" y="0"/>
                </a:moveTo>
                <a:lnTo>
                  <a:pt x="5562600" y="0"/>
                </a:lnTo>
                <a:lnTo>
                  <a:pt x="5562600" y="5429250"/>
                </a:lnTo>
                <a:lnTo>
                  <a:pt x="0" y="5429250"/>
                </a:lnTo>
                <a:lnTo>
                  <a:pt x="0" y="0"/>
                </a:lnTo>
                <a:close/>
              </a:path>
            </a:pathLst>
          </a:custGeom>
          <a:solidFill>
            <a:srgbClr val="F9FAFB"/>
          </a:solidFill>
          <a:ln/>
        </p:spPr>
      </p:sp>
      <p:sp>
        <p:nvSpPr>
          <p:cNvPr id="25" name="Text 23"/>
          <p:cNvSpPr/>
          <p:nvPr/>
        </p:nvSpPr>
        <p:spPr>
          <a:xfrm>
            <a:off x="6477000" y="1485900"/>
            <a:ext cx="52006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Key Hypothesis</a:t>
            </a:r>
            <a:endParaRPr lang="en-US" sz="1600" dirty="0"/>
          </a:p>
        </p:txBody>
      </p:sp>
      <p:sp>
        <p:nvSpPr>
          <p:cNvPr id="26" name="Shape 24"/>
          <p:cNvSpPr/>
          <p:nvPr/>
        </p:nvSpPr>
        <p:spPr>
          <a:xfrm>
            <a:off x="6481763" y="1909762"/>
            <a:ext cx="5095875" cy="1028700"/>
          </a:xfrm>
          <a:custGeom>
            <a:avLst/>
            <a:gdLst/>
            <a:ahLst/>
            <a:cxnLst/>
            <a:rect l="l" t="t" r="r" b="b"/>
            <a:pathLst>
              <a:path w="5095875" h="1028700">
                <a:moveTo>
                  <a:pt x="0" y="0"/>
                </a:moveTo>
                <a:lnTo>
                  <a:pt x="5095875" y="0"/>
                </a:lnTo>
                <a:lnTo>
                  <a:pt x="5095875" y="1028700"/>
                </a:lnTo>
                <a:lnTo>
                  <a:pt x="0" y="1028700"/>
                </a:lnTo>
                <a:lnTo>
                  <a:pt x="0" y="0"/>
                </a:lnTo>
                <a:close/>
              </a:path>
            </a:pathLst>
          </a:custGeom>
          <a:solidFill>
            <a:srgbClr val="FFFFFF"/>
          </a:solidFill>
          <a:ln w="12700">
            <a:solidFill>
              <a:srgbClr val="E5E7EB"/>
            </a:solidFill>
            <a:prstDash val="solid"/>
          </a:ln>
        </p:spPr>
      </p:sp>
      <p:sp>
        <p:nvSpPr>
          <p:cNvPr id="27" name="Text 25"/>
          <p:cNvSpPr/>
          <p:nvPr/>
        </p:nvSpPr>
        <p:spPr>
          <a:xfrm>
            <a:off x="6715125" y="2143125"/>
            <a:ext cx="4714875" cy="561975"/>
          </a:xfrm>
          <a:prstGeom prst="rect">
            <a:avLst/>
          </a:prstGeom>
          <a:noFill/>
          <a:ln/>
        </p:spPr>
        <p:txBody>
          <a:bodyPr wrap="square" lIns="0" tIns="0" rIns="0" bIns="0" rtlCol="0" anchor="ctr"/>
          <a:lstStyle/>
          <a:p>
            <a:pPr>
              <a:lnSpc>
                <a:spcPct val="140000"/>
              </a:lnSpc>
            </a:pPr>
            <a:r>
              <a:rPr lang="en-US" sz="1350" dirty="0">
                <a:solidFill>
                  <a:srgbClr val="1F2937"/>
                </a:solidFill>
                <a:latin typeface="Sorts Mill Goudy" pitchFamily="34" charset="0"/>
                <a:ea typeface="Sorts Mill Goudy" pitchFamily="34" charset="-122"/>
                <a:cs typeface="Sorts Mill Goudy" pitchFamily="34" charset="-120"/>
              </a:rPr>
              <a:t>"Explicit predicate-argument structure supports interpretable answer extraction and finer-grained error analysis."</a:t>
            </a:r>
            <a:endParaRPr lang="en-US" sz="1600" dirty="0"/>
          </a:p>
        </p:txBody>
      </p:sp>
      <p:sp>
        <p:nvSpPr>
          <p:cNvPr id="28" name="Text 26"/>
          <p:cNvSpPr/>
          <p:nvPr/>
        </p:nvSpPr>
        <p:spPr>
          <a:xfrm>
            <a:off x="6477000" y="3167063"/>
            <a:ext cx="52006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Design Philosophy</a:t>
            </a:r>
            <a:endParaRPr lang="en-US" sz="1600" dirty="0"/>
          </a:p>
        </p:txBody>
      </p:sp>
      <p:sp>
        <p:nvSpPr>
          <p:cNvPr id="29" name="Shape 27"/>
          <p:cNvSpPr/>
          <p:nvPr/>
        </p:nvSpPr>
        <p:spPr>
          <a:xfrm>
            <a:off x="6481763" y="3590925"/>
            <a:ext cx="5095875" cy="466725"/>
          </a:xfrm>
          <a:custGeom>
            <a:avLst/>
            <a:gdLst/>
            <a:ahLst/>
            <a:cxnLst/>
            <a:rect l="l" t="t" r="r" b="b"/>
            <a:pathLst>
              <a:path w="5095875" h="466725">
                <a:moveTo>
                  <a:pt x="0" y="0"/>
                </a:moveTo>
                <a:lnTo>
                  <a:pt x="5095875" y="0"/>
                </a:lnTo>
                <a:lnTo>
                  <a:pt x="5095875" y="466725"/>
                </a:lnTo>
                <a:lnTo>
                  <a:pt x="0" y="466725"/>
                </a:lnTo>
                <a:lnTo>
                  <a:pt x="0" y="0"/>
                </a:lnTo>
                <a:close/>
              </a:path>
            </a:pathLst>
          </a:custGeom>
          <a:solidFill>
            <a:srgbClr val="FFFFFF"/>
          </a:solidFill>
          <a:ln w="12700">
            <a:solidFill>
              <a:srgbClr val="E5E7EB"/>
            </a:solidFill>
            <a:prstDash val="solid"/>
          </a:ln>
        </p:spPr>
      </p:sp>
      <p:sp>
        <p:nvSpPr>
          <p:cNvPr id="30" name="Shape 28"/>
          <p:cNvSpPr/>
          <p:nvPr/>
        </p:nvSpPr>
        <p:spPr>
          <a:xfrm>
            <a:off x="6610350" y="3748087"/>
            <a:ext cx="171450" cy="152400"/>
          </a:xfrm>
          <a:custGeom>
            <a:avLst/>
            <a:gdLst/>
            <a:ahLst/>
            <a:cxnLst/>
            <a:rect l="l" t="t" r="r" b="b"/>
            <a:pathLst>
              <a:path w="171450" h="152400">
                <a:moveTo>
                  <a:pt x="85725" y="9525"/>
                </a:moveTo>
                <a:cubicBezTo>
                  <a:pt x="61674" y="9525"/>
                  <a:pt x="42416" y="20479"/>
                  <a:pt x="28396" y="33516"/>
                </a:cubicBezTo>
                <a:cubicBezTo>
                  <a:pt x="14466" y="46464"/>
                  <a:pt x="5149" y="61912"/>
                  <a:pt x="714" y="72539"/>
                </a:cubicBezTo>
                <a:cubicBezTo>
                  <a:pt x="-268" y="74890"/>
                  <a:pt x="-268" y="77510"/>
                  <a:pt x="714" y="79861"/>
                </a:cubicBezTo>
                <a:cubicBezTo>
                  <a:pt x="5149" y="90488"/>
                  <a:pt x="14466" y="105966"/>
                  <a:pt x="28396" y="118884"/>
                </a:cubicBezTo>
                <a:cubicBezTo>
                  <a:pt x="42416" y="131891"/>
                  <a:pt x="61674" y="142875"/>
                  <a:pt x="85725" y="142875"/>
                </a:cubicBezTo>
                <a:cubicBezTo>
                  <a:pt x="109776" y="142875"/>
                  <a:pt x="129034" y="131921"/>
                  <a:pt x="143054" y="118884"/>
                </a:cubicBezTo>
                <a:cubicBezTo>
                  <a:pt x="156984" y="105936"/>
                  <a:pt x="166301" y="90488"/>
                  <a:pt x="170736" y="79861"/>
                </a:cubicBezTo>
                <a:cubicBezTo>
                  <a:pt x="171718" y="77510"/>
                  <a:pt x="171718" y="74890"/>
                  <a:pt x="170736" y="72539"/>
                </a:cubicBezTo>
                <a:cubicBezTo>
                  <a:pt x="166301" y="61912"/>
                  <a:pt x="156984" y="46434"/>
                  <a:pt x="143054" y="33516"/>
                </a:cubicBezTo>
                <a:cubicBezTo>
                  <a:pt x="129034" y="20509"/>
                  <a:pt x="109776" y="9525"/>
                  <a:pt x="85725" y="9525"/>
                </a:cubicBezTo>
                <a:close/>
                <a:moveTo>
                  <a:pt x="42863" y="76200"/>
                </a:moveTo>
                <a:cubicBezTo>
                  <a:pt x="42863" y="52544"/>
                  <a:pt x="62069" y="33338"/>
                  <a:pt x="85725" y="33338"/>
                </a:cubicBezTo>
                <a:cubicBezTo>
                  <a:pt x="109381" y="33338"/>
                  <a:pt x="128588" y="52544"/>
                  <a:pt x="128588" y="76200"/>
                </a:cubicBezTo>
                <a:cubicBezTo>
                  <a:pt x="128588" y="99856"/>
                  <a:pt x="109381" y="119062"/>
                  <a:pt x="85725" y="119062"/>
                </a:cubicBezTo>
                <a:cubicBezTo>
                  <a:pt x="62069" y="119062"/>
                  <a:pt x="42863" y="99856"/>
                  <a:pt x="42863" y="76200"/>
                </a:cubicBezTo>
                <a:close/>
                <a:moveTo>
                  <a:pt x="85725" y="57150"/>
                </a:moveTo>
                <a:cubicBezTo>
                  <a:pt x="85725" y="67657"/>
                  <a:pt x="77182" y="76200"/>
                  <a:pt x="66675" y="76200"/>
                </a:cubicBezTo>
                <a:cubicBezTo>
                  <a:pt x="63252" y="76200"/>
                  <a:pt x="60037" y="75307"/>
                  <a:pt x="57239" y="73700"/>
                </a:cubicBezTo>
                <a:cubicBezTo>
                  <a:pt x="56942" y="76944"/>
                  <a:pt x="57210" y="80278"/>
                  <a:pt x="58103" y="83582"/>
                </a:cubicBezTo>
                <a:cubicBezTo>
                  <a:pt x="62180" y="98822"/>
                  <a:pt x="77867" y="107871"/>
                  <a:pt x="93107" y="103793"/>
                </a:cubicBezTo>
                <a:cubicBezTo>
                  <a:pt x="108347" y="99715"/>
                  <a:pt x="117396" y="84028"/>
                  <a:pt x="113318" y="68788"/>
                </a:cubicBezTo>
                <a:cubicBezTo>
                  <a:pt x="109686" y="55185"/>
                  <a:pt x="96798" y="46524"/>
                  <a:pt x="83225" y="47714"/>
                </a:cubicBezTo>
                <a:cubicBezTo>
                  <a:pt x="84802" y="50483"/>
                  <a:pt x="85725" y="53697"/>
                  <a:pt x="85725" y="57150"/>
                </a:cubicBezTo>
                <a:close/>
              </a:path>
            </a:pathLst>
          </a:custGeom>
          <a:solidFill>
            <a:srgbClr val="8B0000"/>
          </a:solidFill>
          <a:ln/>
        </p:spPr>
      </p:sp>
      <p:sp>
        <p:nvSpPr>
          <p:cNvPr id="31" name="Text 29"/>
          <p:cNvSpPr/>
          <p:nvPr/>
        </p:nvSpPr>
        <p:spPr>
          <a:xfrm>
            <a:off x="6905625" y="3709988"/>
            <a:ext cx="28194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Transparent:</a:t>
            </a:r>
            <a:r>
              <a:rPr lang="en-US" sz="1200" dirty="0">
                <a:solidFill>
                  <a:srgbClr val="1F2937"/>
                </a:solidFill>
                <a:latin typeface="Sorts Mill Goudy" pitchFamily="34" charset="0"/>
                <a:ea typeface="Sorts Mill Goudy" pitchFamily="34" charset="-122"/>
                <a:cs typeface="Sorts Mill Goudy" pitchFamily="34" charset="-120"/>
              </a:rPr>
              <a:t> Every decision is inspectable</a:t>
            </a:r>
            <a:endParaRPr lang="en-US" sz="1600" dirty="0"/>
          </a:p>
        </p:txBody>
      </p:sp>
      <p:sp>
        <p:nvSpPr>
          <p:cNvPr id="32" name="Shape 30"/>
          <p:cNvSpPr/>
          <p:nvPr/>
        </p:nvSpPr>
        <p:spPr>
          <a:xfrm>
            <a:off x="6481763" y="4181475"/>
            <a:ext cx="5095875" cy="466725"/>
          </a:xfrm>
          <a:custGeom>
            <a:avLst/>
            <a:gdLst/>
            <a:ahLst/>
            <a:cxnLst/>
            <a:rect l="l" t="t" r="r" b="b"/>
            <a:pathLst>
              <a:path w="5095875" h="466725">
                <a:moveTo>
                  <a:pt x="0" y="0"/>
                </a:moveTo>
                <a:lnTo>
                  <a:pt x="5095875" y="0"/>
                </a:lnTo>
                <a:lnTo>
                  <a:pt x="5095875" y="466725"/>
                </a:lnTo>
                <a:lnTo>
                  <a:pt x="0" y="466725"/>
                </a:lnTo>
                <a:lnTo>
                  <a:pt x="0" y="0"/>
                </a:lnTo>
                <a:close/>
              </a:path>
            </a:pathLst>
          </a:custGeom>
          <a:solidFill>
            <a:srgbClr val="FFFFFF"/>
          </a:solidFill>
          <a:ln w="12700">
            <a:solidFill>
              <a:srgbClr val="E5E7EB"/>
            </a:solidFill>
            <a:prstDash val="solid"/>
          </a:ln>
        </p:spPr>
      </p:sp>
      <p:sp>
        <p:nvSpPr>
          <p:cNvPr id="33" name="Shape 31"/>
          <p:cNvSpPr/>
          <p:nvPr/>
        </p:nvSpPr>
        <p:spPr>
          <a:xfrm>
            <a:off x="6619875" y="4338638"/>
            <a:ext cx="152400" cy="152400"/>
          </a:xfrm>
          <a:custGeom>
            <a:avLst/>
            <a:gdLst/>
            <a:ahLst/>
            <a:cxnLst/>
            <a:rect l="l" t="t" r="r" b="b"/>
            <a:pathLst>
              <a:path w="152400" h="152400">
                <a:moveTo>
                  <a:pt x="129986" y="22235"/>
                </a:moveTo>
                <a:lnTo>
                  <a:pt x="133350" y="25420"/>
                </a:lnTo>
                <a:lnTo>
                  <a:pt x="133350" y="9525"/>
                </a:lnTo>
                <a:cubicBezTo>
                  <a:pt x="133350" y="4256"/>
                  <a:pt x="137606" y="0"/>
                  <a:pt x="142875" y="0"/>
                </a:cubicBezTo>
                <a:cubicBezTo>
                  <a:pt x="148144" y="0"/>
                  <a:pt x="152400" y="4256"/>
                  <a:pt x="152400" y="9525"/>
                </a:cubicBezTo>
                <a:lnTo>
                  <a:pt x="152400" y="47625"/>
                </a:lnTo>
                <a:cubicBezTo>
                  <a:pt x="152400" y="52894"/>
                  <a:pt x="148144" y="57150"/>
                  <a:pt x="142875" y="57150"/>
                </a:cubicBezTo>
                <a:lnTo>
                  <a:pt x="104775" y="57150"/>
                </a:lnTo>
                <a:cubicBezTo>
                  <a:pt x="99506" y="57150"/>
                  <a:pt x="95250" y="52894"/>
                  <a:pt x="95250" y="47625"/>
                </a:cubicBezTo>
                <a:cubicBezTo>
                  <a:pt x="95250" y="42356"/>
                  <a:pt x="99506" y="38100"/>
                  <a:pt x="104775" y="38100"/>
                </a:cubicBezTo>
                <a:lnTo>
                  <a:pt x="119033" y="38100"/>
                </a:lnTo>
                <a:lnTo>
                  <a:pt x="116771" y="35957"/>
                </a:lnTo>
                <a:cubicBezTo>
                  <a:pt x="116711" y="35897"/>
                  <a:pt x="116651" y="35838"/>
                  <a:pt x="116592" y="35778"/>
                </a:cubicBezTo>
                <a:cubicBezTo>
                  <a:pt x="94268" y="13454"/>
                  <a:pt x="58102" y="13454"/>
                  <a:pt x="35778" y="35778"/>
                </a:cubicBezTo>
                <a:cubicBezTo>
                  <a:pt x="13454" y="58103"/>
                  <a:pt x="13454" y="94268"/>
                  <a:pt x="35778" y="116592"/>
                </a:cubicBezTo>
                <a:cubicBezTo>
                  <a:pt x="58102" y="138916"/>
                  <a:pt x="94268" y="138916"/>
                  <a:pt x="116592" y="116592"/>
                </a:cubicBezTo>
                <a:cubicBezTo>
                  <a:pt x="119033" y="114151"/>
                  <a:pt x="121206" y="111562"/>
                  <a:pt x="123111" y="108823"/>
                </a:cubicBezTo>
                <a:cubicBezTo>
                  <a:pt x="126117" y="104507"/>
                  <a:pt x="132070" y="103465"/>
                  <a:pt x="136386" y="106472"/>
                </a:cubicBezTo>
                <a:cubicBezTo>
                  <a:pt x="140702" y="109478"/>
                  <a:pt x="141744" y="115431"/>
                  <a:pt x="138738" y="119747"/>
                </a:cubicBezTo>
                <a:cubicBezTo>
                  <a:pt x="136207" y="123379"/>
                  <a:pt x="133320" y="126831"/>
                  <a:pt x="130076" y="130076"/>
                </a:cubicBezTo>
                <a:cubicBezTo>
                  <a:pt x="100310" y="159841"/>
                  <a:pt x="52060" y="159841"/>
                  <a:pt x="22324" y="130076"/>
                </a:cubicBezTo>
                <a:cubicBezTo>
                  <a:pt x="-7412" y="100310"/>
                  <a:pt x="-7441" y="52090"/>
                  <a:pt x="22324" y="22324"/>
                </a:cubicBezTo>
                <a:cubicBezTo>
                  <a:pt x="52060" y="-7412"/>
                  <a:pt x="100221" y="-7441"/>
                  <a:pt x="129986" y="22235"/>
                </a:cubicBezTo>
                <a:close/>
              </a:path>
            </a:pathLst>
          </a:custGeom>
          <a:solidFill>
            <a:srgbClr val="8B0000"/>
          </a:solidFill>
          <a:ln/>
        </p:spPr>
      </p:sp>
      <p:sp>
        <p:nvSpPr>
          <p:cNvPr id="34" name="Text 32"/>
          <p:cNvSpPr/>
          <p:nvPr/>
        </p:nvSpPr>
        <p:spPr>
          <a:xfrm>
            <a:off x="6905625" y="4300538"/>
            <a:ext cx="277177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Reproducible:</a:t>
            </a:r>
            <a:r>
              <a:rPr lang="en-US" sz="1200" dirty="0">
                <a:solidFill>
                  <a:srgbClr val="1F2937"/>
                </a:solidFill>
                <a:latin typeface="Sorts Mill Goudy" pitchFamily="34" charset="0"/>
                <a:ea typeface="Sorts Mill Goudy" pitchFamily="34" charset="-122"/>
                <a:cs typeface="Sorts Mill Goudy" pitchFamily="34" charset="-120"/>
              </a:rPr>
              <a:t> Deterministic with seed 42</a:t>
            </a:r>
            <a:endParaRPr lang="en-US" sz="1600" dirty="0"/>
          </a:p>
        </p:txBody>
      </p:sp>
      <p:sp>
        <p:nvSpPr>
          <p:cNvPr id="35" name="Shape 33"/>
          <p:cNvSpPr/>
          <p:nvPr/>
        </p:nvSpPr>
        <p:spPr>
          <a:xfrm>
            <a:off x="6481763" y="4772025"/>
            <a:ext cx="5095875" cy="466725"/>
          </a:xfrm>
          <a:custGeom>
            <a:avLst/>
            <a:gdLst/>
            <a:ahLst/>
            <a:cxnLst/>
            <a:rect l="l" t="t" r="r" b="b"/>
            <a:pathLst>
              <a:path w="5095875" h="466725">
                <a:moveTo>
                  <a:pt x="0" y="0"/>
                </a:moveTo>
                <a:lnTo>
                  <a:pt x="5095875" y="0"/>
                </a:lnTo>
                <a:lnTo>
                  <a:pt x="5095875" y="466725"/>
                </a:lnTo>
                <a:lnTo>
                  <a:pt x="0" y="466725"/>
                </a:lnTo>
                <a:lnTo>
                  <a:pt x="0" y="0"/>
                </a:lnTo>
                <a:close/>
              </a:path>
            </a:pathLst>
          </a:custGeom>
          <a:solidFill>
            <a:srgbClr val="FFFFFF"/>
          </a:solidFill>
          <a:ln w="12700">
            <a:solidFill>
              <a:srgbClr val="E5E7EB"/>
            </a:solidFill>
            <a:prstDash val="solid"/>
          </a:ln>
        </p:spPr>
      </p:sp>
      <p:sp>
        <p:nvSpPr>
          <p:cNvPr id="36" name="Shape 34"/>
          <p:cNvSpPr/>
          <p:nvPr/>
        </p:nvSpPr>
        <p:spPr>
          <a:xfrm>
            <a:off x="6619875" y="4929188"/>
            <a:ext cx="152400" cy="152400"/>
          </a:xfrm>
          <a:custGeom>
            <a:avLst/>
            <a:gdLst/>
            <a:ahLst/>
            <a:cxnLst/>
            <a:rect l="l" t="t" r="r" b="b"/>
            <a:pathLst>
              <a:path w="152400" h="152400">
                <a:moveTo>
                  <a:pt x="66675" y="0"/>
                </a:moveTo>
                <a:cubicBezTo>
                  <a:pt x="77182" y="0"/>
                  <a:pt x="85725" y="6400"/>
                  <a:pt x="85725" y="14288"/>
                </a:cubicBezTo>
                <a:cubicBezTo>
                  <a:pt x="85725" y="17383"/>
                  <a:pt x="84415" y="20241"/>
                  <a:pt x="82153" y="22592"/>
                </a:cubicBezTo>
                <a:cubicBezTo>
                  <a:pt x="80189" y="24646"/>
                  <a:pt x="78581" y="27146"/>
                  <a:pt x="78581" y="30004"/>
                </a:cubicBezTo>
                <a:cubicBezTo>
                  <a:pt x="78581" y="34469"/>
                  <a:pt x="82213" y="38100"/>
                  <a:pt x="86678" y="38100"/>
                </a:cubicBezTo>
                <a:lnTo>
                  <a:pt x="100013" y="38100"/>
                </a:lnTo>
                <a:cubicBezTo>
                  <a:pt x="107900" y="38100"/>
                  <a:pt x="114300" y="44500"/>
                  <a:pt x="114300" y="52388"/>
                </a:cubicBezTo>
                <a:lnTo>
                  <a:pt x="114300" y="65723"/>
                </a:lnTo>
                <a:cubicBezTo>
                  <a:pt x="114300" y="70187"/>
                  <a:pt x="117931" y="73819"/>
                  <a:pt x="122396" y="73819"/>
                </a:cubicBezTo>
                <a:cubicBezTo>
                  <a:pt x="125224" y="73819"/>
                  <a:pt x="127754" y="72211"/>
                  <a:pt x="129808" y="70247"/>
                </a:cubicBezTo>
                <a:cubicBezTo>
                  <a:pt x="132159" y="68014"/>
                  <a:pt x="135017" y="66675"/>
                  <a:pt x="138113" y="66675"/>
                </a:cubicBezTo>
                <a:cubicBezTo>
                  <a:pt x="146000" y="66675"/>
                  <a:pt x="152400" y="75218"/>
                  <a:pt x="152400" y="85725"/>
                </a:cubicBezTo>
                <a:cubicBezTo>
                  <a:pt x="152400" y="96232"/>
                  <a:pt x="146000" y="104775"/>
                  <a:pt x="138113" y="104775"/>
                </a:cubicBezTo>
                <a:cubicBezTo>
                  <a:pt x="135017" y="104775"/>
                  <a:pt x="132130" y="103465"/>
                  <a:pt x="129808" y="101203"/>
                </a:cubicBezTo>
                <a:cubicBezTo>
                  <a:pt x="127754" y="99239"/>
                  <a:pt x="125254" y="97631"/>
                  <a:pt x="122396" y="97631"/>
                </a:cubicBezTo>
                <a:cubicBezTo>
                  <a:pt x="117931" y="97631"/>
                  <a:pt x="114300" y="101263"/>
                  <a:pt x="114300" y="105728"/>
                </a:cubicBezTo>
                <a:lnTo>
                  <a:pt x="114300" y="138113"/>
                </a:lnTo>
                <a:cubicBezTo>
                  <a:pt x="114300" y="146000"/>
                  <a:pt x="107900" y="152400"/>
                  <a:pt x="100013" y="152400"/>
                </a:cubicBezTo>
                <a:lnTo>
                  <a:pt x="83106" y="152400"/>
                </a:lnTo>
                <a:cubicBezTo>
                  <a:pt x="79296" y="152400"/>
                  <a:pt x="76200" y="149304"/>
                  <a:pt x="76200" y="145494"/>
                </a:cubicBezTo>
                <a:cubicBezTo>
                  <a:pt x="76200" y="142756"/>
                  <a:pt x="77926" y="140345"/>
                  <a:pt x="80129" y="138708"/>
                </a:cubicBezTo>
                <a:cubicBezTo>
                  <a:pt x="83582" y="136118"/>
                  <a:pt x="85725" y="132546"/>
                  <a:pt x="85725" y="128588"/>
                </a:cubicBezTo>
                <a:cubicBezTo>
                  <a:pt x="85725" y="120700"/>
                  <a:pt x="77182" y="114300"/>
                  <a:pt x="66675" y="114300"/>
                </a:cubicBezTo>
                <a:cubicBezTo>
                  <a:pt x="56168" y="114300"/>
                  <a:pt x="47625" y="120700"/>
                  <a:pt x="47625" y="128588"/>
                </a:cubicBezTo>
                <a:cubicBezTo>
                  <a:pt x="47625" y="132546"/>
                  <a:pt x="49768" y="136118"/>
                  <a:pt x="53221" y="138708"/>
                </a:cubicBezTo>
                <a:cubicBezTo>
                  <a:pt x="55424" y="140345"/>
                  <a:pt x="57150" y="142726"/>
                  <a:pt x="57150" y="145494"/>
                </a:cubicBezTo>
                <a:cubicBezTo>
                  <a:pt x="57150" y="149304"/>
                  <a:pt x="54054" y="152400"/>
                  <a:pt x="50244" y="152400"/>
                </a:cubicBezTo>
                <a:lnTo>
                  <a:pt x="14288" y="152400"/>
                </a:lnTo>
                <a:cubicBezTo>
                  <a:pt x="6400" y="152400"/>
                  <a:pt x="0" y="146000"/>
                  <a:pt x="0" y="138113"/>
                </a:cubicBezTo>
                <a:lnTo>
                  <a:pt x="0" y="102156"/>
                </a:lnTo>
                <a:cubicBezTo>
                  <a:pt x="0" y="98346"/>
                  <a:pt x="3096" y="95250"/>
                  <a:pt x="6906" y="95250"/>
                </a:cubicBezTo>
                <a:cubicBezTo>
                  <a:pt x="9644" y="95250"/>
                  <a:pt x="12055" y="96976"/>
                  <a:pt x="13692" y="99179"/>
                </a:cubicBezTo>
                <a:cubicBezTo>
                  <a:pt x="16282" y="102632"/>
                  <a:pt x="19854" y="104775"/>
                  <a:pt x="23813" y="104775"/>
                </a:cubicBezTo>
                <a:cubicBezTo>
                  <a:pt x="31700" y="104775"/>
                  <a:pt x="38100" y="96232"/>
                  <a:pt x="38100" y="85725"/>
                </a:cubicBezTo>
                <a:cubicBezTo>
                  <a:pt x="38100" y="75218"/>
                  <a:pt x="31700" y="66675"/>
                  <a:pt x="23813" y="66675"/>
                </a:cubicBezTo>
                <a:cubicBezTo>
                  <a:pt x="19854" y="66675"/>
                  <a:pt x="16282" y="68818"/>
                  <a:pt x="13692" y="72271"/>
                </a:cubicBezTo>
                <a:cubicBezTo>
                  <a:pt x="12055" y="74474"/>
                  <a:pt x="9674" y="76200"/>
                  <a:pt x="6906" y="76200"/>
                </a:cubicBezTo>
                <a:cubicBezTo>
                  <a:pt x="3096" y="76200"/>
                  <a:pt x="0" y="73104"/>
                  <a:pt x="0" y="69294"/>
                </a:cubicBezTo>
                <a:lnTo>
                  <a:pt x="0" y="52388"/>
                </a:lnTo>
                <a:cubicBezTo>
                  <a:pt x="0" y="44500"/>
                  <a:pt x="6400" y="38100"/>
                  <a:pt x="14288" y="38100"/>
                </a:cubicBezTo>
                <a:lnTo>
                  <a:pt x="46673" y="38100"/>
                </a:lnTo>
                <a:cubicBezTo>
                  <a:pt x="51137" y="38100"/>
                  <a:pt x="54769" y="34469"/>
                  <a:pt x="54769" y="30004"/>
                </a:cubicBezTo>
                <a:cubicBezTo>
                  <a:pt x="54769" y="27176"/>
                  <a:pt x="53161" y="24646"/>
                  <a:pt x="51197" y="22592"/>
                </a:cubicBezTo>
                <a:cubicBezTo>
                  <a:pt x="48964" y="20241"/>
                  <a:pt x="47625" y="17383"/>
                  <a:pt x="47625" y="14288"/>
                </a:cubicBezTo>
                <a:cubicBezTo>
                  <a:pt x="47625" y="6400"/>
                  <a:pt x="56168" y="0"/>
                  <a:pt x="66675" y="0"/>
                </a:cubicBezTo>
                <a:close/>
              </a:path>
            </a:pathLst>
          </a:custGeom>
          <a:solidFill>
            <a:srgbClr val="8B0000"/>
          </a:solidFill>
          <a:ln/>
        </p:spPr>
      </p:sp>
      <p:sp>
        <p:nvSpPr>
          <p:cNvPr id="37" name="Text 35"/>
          <p:cNvSpPr/>
          <p:nvPr/>
        </p:nvSpPr>
        <p:spPr>
          <a:xfrm>
            <a:off x="6905625" y="4891088"/>
            <a:ext cx="271462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Extensible:</a:t>
            </a:r>
            <a:r>
              <a:rPr lang="en-US" sz="1200" dirty="0">
                <a:solidFill>
                  <a:srgbClr val="1F2937"/>
                </a:solidFill>
                <a:latin typeface="Sorts Mill Goudy" pitchFamily="34" charset="0"/>
                <a:ea typeface="Sorts Mill Goudy" pitchFamily="34" charset="-122"/>
                <a:cs typeface="Sorts Mill Goudy" pitchFamily="34" charset="-120"/>
              </a:rPr>
              <a:t> Clear interfaces for upgrades</a:t>
            </a:r>
            <a:endParaRPr lang="en-US" sz="1600" dirty="0"/>
          </a:p>
        </p:txBody>
      </p:sp>
      <p:sp>
        <p:nvSpPr>
          <p:cNvPr id="38" name="Shape 36"/>
          <p:cNvSpPr/>
          <p:nvPr/>
        </p:nvSpPr>
        <p:spPr>
          <a:xfrm>
            <a:off x="6481763" y="5362575"/>
            <a:ext cx="5095875" cy="466725"/>
          </a:xfrm>
          <a:custGeom>
            <a:avLst/>
            <a:gdLst/>
            <a:ahLst/>
            <a:cxnLst/>
            <a:rect l="l" t="t" r="r" b="b"/>
            <a:pathLst>
              <a:path w="5095875" h="466725">
                <a:moveTo>
                  <a:pt x="0" y="0"/>
                </a:moveTo>
                <a:lnTo>
                  <a:pt x="5095875" y="0"/>
                </a:lnTo>
                <a:lnTo>
                  <a:pt x="5095875" y="466725"/>
                </a:lnTo>
                <a:lnTo>
                  <a:pt x="0" y="466725"/>
                </a:lnTo>
                <a:lnTo>
                  <a:pt x="0" y="0"/>
                </a:lnTo>
                <a:close/>
              </a:path>
            </a:pathLst>
          </a:custGeom>
          <a:solidFill>
            <a:srgbClr val="FFFFFF"/>
          </a:solidFill>
          <a:ln w="12700">
            <a:solidFill>
              <a:srgbClr val="E5E7EB"/>
            </a:solidFill>
            <a:prstDash val="solid"/>
          </a:ln>
        </p:spPr>
      </p:sp>
      <p:sp>
        <p:nvSpPr>
          <p:cNvPr id="39" name="Shape 37"/>
          <p:cNvSpPr/>
          <p:nvPr/>
        </p:nvSpPr>
        <p:spPr>
          <a:xfrm>
            <a:off x="6600825" y="5519738"/>
            <a:ext cx="190500" cy="152400"/>
          </a:xfrm>
          <a:custGeom>
            <a:avLst/>
            <a:gdLst/>
            <a:ahLst/>
            <a:cxnLst/>
            <a:rect l="l" t="t" r="r" b="b"/>
            <a:pathLst>
              <a:path w="190500" h="152400">
                <a:moveTo>
                  <a:pt x="114300" y="9525"/>
                </a:moveTo>
                <a:lnTo>
                  <a:pt x="152400" y="9525"/>
                </a:lnTo>
                <a:cubicBezTo>
                  <a:pt x="157669" y="9525"/>
                  <a:pt x="161925" y="13781"/>
                  <a:pt x="161925" y="19050"/>
                </a:cubicBezTo>
                <a:cubicBezTo>
                  <a:pt x="161925" y="24319"/>
                  <a:pt x="157669" y="28575"/>
                  <a:pt x="152400" y="28575"/>
                </a:cubicBezTo>
                <a:lnTo>
                  <a:pt x="118586" y="28575"/>
                </a:lnTo>
                <a:cubicBezTo>
                  <a:pt x="117038" y="36255"/>
                  <a:pt x="111770" y="42595"/>
                  <a:pt x="104775" y="45631"/>
                </a:cubicBezTo>
                <a:lnTo>
                  <a:pt x="104775" y="133350"/>
                </a:lnTo>
                <a:lnTo>
                  <a:pt x="152400" y="133350"/>
                </a:lnTo>
                <a:cubicBezTo>
                  <a:pt x="157669" y="133350"/>
                  <a:pt x="161925" y="137606"/>
                  <a:pt x="161925" y="142875"/>
                </a:cubicBezTo>
                <a:cubicBezTo>
                  <a:pt x="161925" y="148144"/>
                  <a:pt x="157669" y="152400"/>
                  <a:pt x="152400" y="152400"/>
                </a:cubicBezTo>
                <a:lnTo>
                  <a:pt x="38100" y="152400"/>
                </a:lnTo>
                <a:cubicBezTo>
                  <a:pt x="32831" y="152400"/>
                  <a:pt x="28575" y="148144"/>
                  <a:pt x="28575" y="142875"/>
                </a:cubicBezTo>
                <a:cubicBezTo>
                  <a:pt x="28575" y="137606"/>
                  <a:pt x="32831" y="133350"/>
                  <a:pt x="38100" y="133350"/>
                </a:cubicBezTo>
                <a:lnTo>
                  <a:pt x="85725" y="133350"/>
                </a:lnTo>
                <a:lnTo>
                  <a:pt x="85725" y="45631"/>
                </a:lnTo>
                <a:cubicBezTo>
                  <a:pt x="78730" y="42565"/>
                  <a:pt x="73462" y="36225"/>
                  <a:pt x="71914" y="28575"/>
                </a:cubicBezTo>
                <a:lnTo>
                  <a:pt x="38100" y="28575"/>
                </a:lnTo>
                <a:cubicBezTo>
                  <a:pt x="32831" y="28575"/>
                  <a:pt x="28575" y="24319"/>
                  <a:pt x="28575" y="19050"/>
                </a:cubicBezTo>
                <a:cubicBezTo>
                  <a:pt x="28575" y="13781"/>
                  <a:pt x="32831" y="9525"/>
                  <a:pt x="38100" y="9525"/>
                </a:cubicBezTo>
                <a:lnTo>
                  <a:pt x="76200" y="9525"/>
                </a:lnTo>
                <a:cubicBezTo>
                  <a:pt x="80546" y="3750"/>
                  <a:pt x="87451" y="0"/>
                  <a:pt x="95250" y="0"/>
                </a:cubicBezTo>
                <a:cubicBezTo>
                  <a:pt x="103049" y="0"/>
                  <a:pt x="109954" y="3750"/>
                  <a:pt x="114300" y="9525"/>
                </a:cubicBezTo>
                <a:close/>
                <a:moveTo>
                  <a:pt x="130850" y="95250"/>
                </a:moveTo>
                <a:lnTo>
                  <a:pt x="173950" y="95250"/>
                </a:lnTo>
                <a:lnTo>
                  <a:pt x="152400" y="58281"/>
                </a:lnTo>
                <a:lnTo>
                  <a:pt x="130850" y="95250"/>
                </a:lnTo>
                <a:close/>
                <a:moveTo>
                  <a:pt x="152400" y="123825"/>
                </a:moveTo>
                <a:cubicBezTo>
                  <a:pt x="133677" y="123825"/>
                  <a:pt x="118110" y="113705"/>
                  <a:pt x="114895" y="100340"/>
                </a:cubicBezTo>
                <a:cubicBezTo>
                  <a:pt x="114121" y="97066"/>
                  <a:pt x="115193" y="93702"/>
                  <a:pt x="116890" y="90785"/>
                </a:cubicBezTo>
                <a:lnTo>
                  <a:pt x="145226" y="42208"/>
                </a:lnTo>
                <a:cubicBezTo>
                  <a:pt x="146715" y="39648"/>
                  <a:pt x="149453" y="38100"/>
                  <a:pt x="152400" y="38100"/>
                </a:cubicBezTo>
                <a:cubicBezTo>
                  <a:pt x="155347" y="38100"/>
                  <a:pt x="158085" y="39678"/>
                  <a:pt x="159574" y="42208"/>
                </a:cubicBezTo>
                <a:lnTo>
                  <a:pt x="187910" y="90785"/>
                </a:lnTo>
                <a:cubicBezTo>
                  <a:pt x="189607" y="93702"/>
                  <a:pt x="190679" y="97066"/>
                  <a:pt x="189905" y="100340"/>
                </a:cubicBezTo>
                <a:cubicBezTo>
                  <a:pt x="186690" y="113675"/>
                  <a:pt x="171123" y="123825"/>
                  <a:pt x="152400" y="123825"/>
                </a:cubicBezTo>
                <a:close/>
                <a:moveTo>
                  <a:pt x="37743" y="58281"/>
                </a:moveTo>
                <a:lnTo>
                  <a:pt x="16193" y="95250"/>
                </a:lnTo>
                <a:lnTo>
                  <a:pt x="59323" y="95250"/>
                </a:lnTo>
                <a:lnTo>
                  <a:pt x="37743" y="58281"/>
                </a:lnTo>
                <a:close/>
                <a:moveTo>
                  <a:pt x="268" y="100340"/>
                </a:moveTo>
                <a:cubicBezTo>
                  <a:pt x="-506" y="97066"/>
                  <a:pt x="566" y="93702"/>
                  <a:pt x="2262" y="90785"/>
                </a:cubicBezTo>
                <a:lnTo>
                  <a:pt x="30599" y="42208"/>
                </a:lnTo>
                <a:cubicBezTo>
                  <a:pt x="32087" y="39648"/>
                  <a:pt x="34826" y="38100"/>
                  <a:pt x="37773" y="38100"/>
                </a:cubicBezTo>
                <a:cubicBezTo>
                  <a:pt x="40719" y="38100"/>
                  <a:pt x="43458" y="39678"/>
                  <a:pt x="44946" y="42208"/>
                </a:cubicBezTo>
                <a:lnTo>
                  <a:pt x="73283" y="90785"/>
                </a:lnTo>
                <a:cubicBezTo>
                  <a:pt x="74980" y="93702"/>
                  <a:pt x="76051" y="97066"/>
                  <a:pt x="75277" y="100340"/>
                </a:cubicBezTo>
                <a:cubicBezTo>
                  <a:pt x="72063" y="113675"/>
                  <a:pt x="56495" y="123825"/>
                  <a:pt x="37773" y="123825"/>
                </a:cubicBezTo>
                <a:cubicBezTo>
                  <a:pt x="19050" y="123825"/>
                  <a:pt x="3483" y="113705"/>
                  <a:pt x="268" y="100340"/>
                </a:cubicBezTo>
                <a:close/>
              </a:path>
            </a:pathLst>
          </a:custGeom>
          <a:solidFill>
            <a:srgbClr val="8B0000"/>
          </a:solidFill>
          <a:ln/>
        </p:spPr>
      </p:sp>
      <p:sp>
        <p:nvSpPr>
          <p:cNvPr id="40" name="Text 38"/>
          <p:cNvSpPr/>
          <p:nvPr/>
        </p:nvSpPr>
        <p:spPr>
          <a:xfrm>
            <a:off x="6905625" y="5481638"/>
            <a:ext cx="324802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Compact:</a:t>
            </a:r>
            <a:r>
              <a:rPr lang="en-US" sz="1200" dirty="0">
                <a:solidFill>
                  <a:srgbClr val="1F2937"/>
                </a:solidFill>
                <a:latin typeface="Sorts Mill Goudy" pitchFamily="34" charset="0"/>
                <a:ea typeface="Sorts Mill Goudy" pitchFamily="34" charset="-122"/>
                <a:cs typeface="Sorts Mill Goudy" pitchFamily="34" charset="-120"/>
              </a:rPr>
              <a:t> 1.78M parameters isolate design effects</a:t>
            </a:r>
            <a:endParaRPr lang="en-US" sz="1600" dirty="0"/>
          </a:p>
        </p:txBody>
      </p:sp>
    </p:spTree>
    <p:extLst>
      <p:ext uri="{BB962C8B-B14F-4D97-AF65-F5344CB8AC3E}">
        <p14:creationId xmlns:p14="http://schemas.microsoft.com/office/powerpoint/2010/main" val="2649178317"/>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3395" y="323395"/>
            <a:ext cx="11601804" cy="161698"/>
          </a:xfrm>
          <a:prstGeom prst="rect">
            <a:avLst/>
          </a:prstGeom>
          <a:noFill/>
          <a:ln/>
        </p:spPr>
        <p:txBody>
          <a:bodyPr wrap="square" lIns="0" tIns="0" rIns="0" bIns="0" rtlCol="0" anchor="ctr"/>
          <a:lstStyle/>
          <a:p>
            <a:pPr>
              <a:lnSpc>
                <a:spcPct val="120000"/>
              </a:lnSpc>
            </a:pPr>
            <a:r>
              <a:rPr lang="en-US" sz="891" b="1" kern="0" spc="45" dirty="0">
                <a:solidFill>
                  <a:srgbClr val="8B0000"/>
                </a:solidFill>
                <a:latin typeface="Sorts Mill Goudy" pitchFamily="34" charset="0"/>
                <a:ea typeface="Sorts Mill Goudy" pitchFamily="34" charset="-122"/>
                <a:cs typeface="Sorts Mill Goudy" pitchFamily="34" charset="-120"/>
              </a:rPr>
              <a:t>4.1 SYSTEM ARCHITECTURE</a:t>
            </a:r>
            <a:endParaRPr lang="en-US" sz="1600" dirty="0"/>
          </a:p>
        </p:txBody>
      </p:sp>
      <p:sp>
        <p:nvSpPr>
          <p:cNvPr id="3" name="Text 1"/>
          <p:cNvSpPr/>
          <p:nvPr/>
        </p:nvSpPr>
        <p:spPr>
          <a:xfrm>
            <a:off x="323395" y="549772"/>
            <a:ext cx="11690737" cy="323395"/>
          </a:xfrm>
          <a:prstGeom prst="rect">
            <a:avLst/>
          </a:prstGeom>
          <a:noFill/>
          <a:ln/>
        </p:spPr>
        <p:txBody>
          <a:bodyPr wrap="square" lIns="0" tIns="0" rIns="0" bIns="0" rtlCol="0" anchor="ctr"/>
          <a:lstStyle/>
          <a:p>
            <a:pPr>
              <a:lnSpc>
                <a:spcPct val="90000"/>
              </a:lnSpc>
            </a:pPr>
            <a:r>
              <a:rPr lang="en-US" sz="2292" b="1" dirty="0">
                <a:solidFill>
                  <a:srgbClr val="1F2937"/>
                </a:solidFill>
                <a:latin typeface="Sorts Mill Goudy" pitchFamily="34" charset="0"/>
                <a:ea typeface="Sorts Mill Goudy" pitchFamily="34" charset="-122"/>
                <a:cs typeface="Sorts Mill Goudy" pitchFamily="34" charset="-120"/>
              </a:rPr>
              <a:t>PropQA-Net Architecture Overview</a:t>
            </a:r>
            <a:endParaRPr lang="en-US" sz="1600" dirty="0"/>
          </a:p>
        </p:txBody>
      </p:sp>
      <p:sp>
        <p:nvSpPr>
          <p:cNvPr id="4" name="Shape 2"/>
          <p:cNvSpPr/>
          <p:nvPr/>
        </p:nvSpPr>
        <p:spPr>
          <a:xfrm>
            <a:off x="323395" y="1067204"/>
            <a:ext cx="6767045" cy="5788775"/>
          </a:xfrm>
          <a:custGeom>
            <a:avLst/>
            <a:gdLst/>
            <a:ahLst/>
            <a:cxnLst/>
            <a:rect l="l" t="t" r="r" b="b"/>
            <a:pathLst>
              <a:path w="6767045" h="5788775">
                <a:moveTo>
                  <a:pt x="0" y="0"/>
                </a:moveTo>
                <a:lnTo>
                  <a:pt x="6767045" y="0"/>
                </a:lnTo>
                <a:lnTo>
                  <a:pt x="6767045" y="5788775"/>
                </a:lnTo>
                <a:lnTo>
                  <a:pt x="0" y="5788775"/>
                </a:lnTo>
                <a:lnTo>
                  <a:pt x="0" y="0"/>
                </a:lnTo>
                <a:close/>
              </a:path>
            </a:pathLst>
          </a:custGeom>
          <a:solidFill>
            <a:srgbClr val="F9FAFB"/>
          </a:solidFill>
          <a:ln/>
        </p:spPr>
      </p:sp>
      <p:sp>
        <p:nvSpPr>
          <p:cNvPr id="5" name="Text 3"/>
          <p:cNvSpPr/>
          <p:nvPr/>
        </p:nvSpPr>
        <p:spPr>
          <a:xfrm>
            <a:off x="517432" y="1261241"/>
            <a:ext cx="6459820" cy="226377"/>
          </a:xfrm>
          <a:prstGeom prst="rect">
            <a:avLst/>
          </a:prstGeom>
          <a:noFill/>
          <a:ln/>
        </p:spPr>
        <p:txBody>
          <a:bodyPr wrap="square" lIns="0" tIns="0" rIns="0" bIns="0" rtlCol="0" anchor="ctr"/>
          <a:lstStyle/>
          <a:p>
            <a:pPr>
              <a:lnSpc>
                <a:spcPct val="120000"/>
              </a:lnSpc>
            </a:pPr>
            <a:r>
              <a:rPr lang="en-US" sz="1273" b="1" dirty="0">
                <a:solidFill>
                  <a:srgbClr val="1F2937"/>
                </a:solidFill>
                <a:latin typeface="Sorts Mill Goudy" pitchFamily="34" charset="0"/>
                <a:ea typeface="Sorts Mill Goudy" pitchFamily="34" charset="-122"/>
                <a:cs typeface="Sorts Mill Goudy" pitchFamily="34" charset="-120"/>
              </a:rPr>
              <a:t>Architecture Flow</a:t>
            </a:r>
            <a:endParaRPr lang="en-US" sz="1600" dirty="0"/>
          </a:p>
        </p:txBody>
      </p:sp>
      <p:sp>
        <p:nvSpPr>
          <p:cNvPr id="6" name="Shape 4"/>
          <p:cNvSpPr/>
          <p:nvPr/>
        </p:nvSpPr>
        <p:spPr>
          <a:xfrm>
            <a:off x="517432" y="1625061"/>
            <a:ext cx="1034865" cy="388074"/>
          </a:xfrm>
          <a:custGeom>
            <a:avLst/>
            <a:gdLst/>
            <a:ahLst/>
            <a:cxnLst/>
            <a:rect l="l" t="t" r="r" b="b"/>
            <a:pathLst>
              <a:path w="1034865" h="388074">
                <a:moveTo>
                  <a:pt x="0" y="0"/>
                </a:moveTo>
                <a:lnTo>
                  <a:pt x="1034865" y="0"/>
                </a:lnTo>
                <a:lnTo>
                  <a:pt x="1034865" y="388074"/>
                </a:lnTo>
                <a:lnTo>
                  <a:pt x="0" y="388074"/>
                </a:lnTo>
                <a:lnTo>
                  <a:pt x="0" y="0"/>
                </a:lnTo>
                <a:close/>
              </a:path>
            </a:pathLst>
          </a:custGeom>
          <a:solidFill>
            <a:srgbClr val="8B0000"/>
          </a:solidFill>
          <a:ln/>
        </p:spPr>
      </p:sp>
      <p:sp>
        <p:nvSpPr>
          <p:cNvPr id="7" name="Text 5"/>
          <p:cNvSpPr/>
          <p:nvPr/>
        </p:nvSpPr>
        <p:spPr>
          <a:xfrm>
            <a:off x="485093" y="1625061"/>
            <a:ext cx="1099544" cy="388074"/>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Input Layer</a:t>
            </a:r>
            <a:endParaRPr lang="en-US" sz="1600" dirty="0"/>
          </a:p>
        </p:txBody>
      </p:sp>
      <p:sp>
        <p:nvSpPr>
          <p:cNvPr id="8" name="Shape 6"/>
          <p:cNvSpPr/>
          <p:nvPr/>
        </p:nvSpPr>
        <p:spPr>
          <a:xfrm>
            <a:off x="1685698" y="1621019"/>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9" name="Text 7"/>
          <p:cNvSpPr/>
          <p:nvPr/>
        </p:nvSpPr>
        <p:spPr>
          <a:xfrm>
            <a:off x="1681655" y="1616976"/>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Word + POS + Predicate-indicator embeddings</a:t>
            </a:r>
            <a:endParaRPr lang="en-US" sz="1600" dirty="0"/>
          </a:p>
        </p:txBody>
      </p:sp>
      <p:sp>
        <p:nvSpPr>
          <p:cNvPr id="10" name="Shape 8"/>
          <p:cNvSpPr/>
          <p:nvPr/>
        </p:nvSpPr>
        <p:spPr>
          <a:xfrm>
            <a:off x="3635417" y="2150578"/>
            <a:ext cx="145528" cy="194037"/>
          </a:xfrm>
          <a:custGeom>
            <a:avLst/>
            <a:gdLst/>
            <a:ahLst/>
            <a:cxnLst/>
            <a:rect l="l" t="t" r="r" b="b"/>
            <a:pathLst>
              <a:path w="145528" h="194037">
                <a:moveTo>
                  <a:pt x="64199" y="190475"/>
                </a:moveTo>
                <a:cubicBezTo>
                  <a:pt x="68936" y="195212"/>
                  <a:pt x="76630" y="195212"/>
                  <a:pt x="81367" y="190475"/>
                </a:cubicBezTo>
                <a:lnTo>
                  <a:pt x="142003" y="129838"/>
                </a:lnTo>
                <a:cubicBezTo>
                  <a:pt x="146741" y="125101"/>
                  <a:pt x="146741" y="117408"/>
                  <a:pt x="142003" y="112670"/>
                </a:cubicBezTo>
                <a:cubicBezTo>
                  <a:pt x="137266" y="107933"/>
                  <a:pt x="129573" y="107933"/>
                  <a:pt x="124836" y="112670"/>
                </a:cubicBezTo>
                <a:lnTo>
                  <a:pt x="84891" y="152615"/>
                </a:lnTo>
                <a:lnTo>
                  <a:pt x="84891" y="12127"/>
                </a:lnTo>
                <a:cubicBezTo>
                  <a:pt x="84891" y="5419"/>
                  <a:pt x="79472" y="0"/>
                  <a:pt x="72764" y="0"/>
                </a:cubicBezTo>
                <a:cubicBezTo>
                  <a:pt x="66056" y="0"/>
                  <a:pt x="60637" y="5419"/>
                  <a:pt x="60637" y="12127"/>
                </a:cubicBezTo>
                <a:lnTo>
                  <a:pt x="60637" y="152615"/>
                </a:lnTo>
                <a:lnTo>
                  <a:pt x="20692" y="112670"/>
                </a:lnTo>
                <a:cubicBezTo>
                  <a:pt x="15955" y="107933"/>
                  <a:pt x="8262" y="107933"/>
                  <a:pt x="3525" y="112670"/>
                </a:cubicBezTo>
                <a:cubicBezTo>
                  <a:pt x="-1213" y="117408"/>
                  <a:pt x="-1213" y="125101"/>
                  <a:pt x="3525" y="129838"/>
                </a:cubicBezTo>
                <a:lnTo>
                  <a:pt x="64161" y="190475"/>
                </a:lnTo>
                <a:close/>
              </a:path>
            </a:pathLst>
          </a:custGeom>
          <a:solidFill>
            <a:srgbClr val="8B0000"/>
          </a:solidFill>
          <a:ln/>
        </p:spPr>
      </p:sp>
      <p:sp>
        <p:nvSpPr>
          <p:cNvPr id="11" name="Shape 9"/>
          <p:cNvSpPr/>
          <p:nvPr/>
        </p:nvSpPr>
        <p:spPr>
          <a:xfrm>
            <a:off x="517432" y="2473973"/>
            <a:ext cx="1034865" cy="582111"/>
          </a:xfrm>
          <a:custGeom>
            <a:avLst/>
            <a:gdLst/>
            <a:ahLst/>
            <a:cxnLst/>
            <a:rect l="l" t="t" r="r" b="b"/>
            <a:pathLst>
              <a:path w="1034865" h="582111">
                <a:moveTo>
                  <a:pt x="0" y="0"/>
                </a:moveTo>
                <a:lnTo>
                  <a:pt x="1034865" y="0"/>
                </a:lnTo>
                <a:lnTo>
                  <a:pt x="1034865" y="582111"/>
                </a:lnTo>
                <a:lnTo>
                  <a:pt x="0" y="582111"/>
                </a:lnTo>
                <a:lnTo>
                  <a:pt x="0" y="0"/>
                </a:lnTo>
                <a:close/>
              </a:path>
            </a:pathLst>
          </a:custGeom>
          <a:solidFill>
            <a:srgbClr val="8B0000"/>
          </a:solidFill>
          <a:ln/>
        </p:spPr>
      </p:sp>
      <p:sp>
        <p:nvSpPr>
          <p:cNvPr id="12" name="Text 10"/>
          <p:cNvSpPr/>
          <p:nvPr/>
        </p:nvSpPr>
        <p:spPr>
          <a:xfrm>
            <a:off x="485093" y="2473973"/>
            <a:ext cx="1099544" cy="582111"/>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BiLSTM Encoder</a:t>
            </a:r>
            <a:endParaRPr lang="en-US" sz="1600" dirty="0"/>
          </a:p>
        </p:txBody>
      </p:sp>
      <p:sp>
        <p:nvSpPr>
          <p:cNvPr id="13" name="Shape 11"/>
          <p:cNvSpPr/>
          <p:nvPr/>
        </p:nvSpPr>
        <p:spPr>
          <a:xfrm>
            <a:off x="1685698" y="2566950"/>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14" name="Text 12"/>
          <p:cNvSpPr/>
          <p:nvPr/>
        </p:nvSpPr>
        <p:spPr>
          <a:xfrm>
            <a:off x="1681655" y="2562907"/>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Contextual sequence encoding (128 hidden × 2 directions)</a:t>
            </a:r>
            <a:endParaRPr lang="en-US" sz="1600" dirty="0"/>
          </a:p>
        </p:txBody>
      </p:sp>
      <p:sp>
        <p:nvSpPr>
          <p:cNvPr id="15" name="Shape 13"/>
          <p:cNvSpPr/>
          <p:nvPr/>
        </p:nvSpPr>
        <p:spPr>
          <a:xfrm>
            <a:off x="3635417" y="3185443"/>
            <a:ext cx="145528" cy="194037"/>
          </a:xfrm>
          <a:custGeom>
            <a:avLst/>
            <a:gdLst/>
            <a:ahLst/>
            <a:cxnLst/>
            <a:rect l="l" t="t" r="r" b="b"/>
            <a:pathLst>
              <a:path w="145528" h="194037">
                <a:moveTo>
                  <a:pt x="64199" y="190475"/>
                </a:moveTo>
                <a:cubicBezTo>
                  <a:pt x="68936" y="195212"/>
                  <a:pt x="76630" y="195212"/>
                  <a:pt x="81367" y="190475"/>
                </a:cubicBezTo>
                <a:lnTo>
                  <a:pt x="142003" y="129838"/>
                </a:lnTo>
                <a:cubicBezTo>
                  <a:pt x="146741" y="125101"/>
                  <a:pt x="146741" y="117408"/>
                  <a:pt x="142003" y="112670"/>
                </a:cubicBezTo>
                <a:cubicBezTo>
                  <a:pt x="137266" y="107933"/>
                  <a:pt x="129573" y="107933"/>
                  <a:pt x="124836" y="112670"/>
                </a:cubicBezTo>
                <a:lnTo>
                  <a:pt x="84891" y="152615"/>
                </a:lnTo>
                <a:lnTo>
                  <a:pt x="84891" y="12127"/>
                </a:lnTo>
                <a:cubicBezTo>
                  <a:pt x="84891" y="5419"/>
                  <a:pt x="79472" y="0"/>
                  <a:pt x="72764" y="0"/>
                </a:cubicBezTo>
                <a:cubicBezTo>
                  <a:pt x="66056" y="0"/>
                  <a:pt x="60637" y="5419"/>
                  <a:pt x="60637" y="12127"/>
                </a:cubicBezTo>
                <a:lnTo>
                  <a:pt x="60637" y="152615"/>
                </a:lnTo>
                <a:lnTo>
                  <a:pt x="20692" y="112670"/>
                </a:lnTo>
                <a:cubicBezTo>
                  <a:pt x="15955" y="107933"/>
                  <a:pt x="8262" y="107933"/>
                  <a:pt x="3525" y="112670"/>
                </a:cubicBezTo>
                <a:cubicBezTo>
                  <a:pt x="-1213" y="117408"/>
                  <a:pt x="-1213" y="125101"/>
                  <a:pt x="3525" y="129838"/>
                </a:cubicBezTo>
                <a:lnTo>
                  <a:pt x="64161" y="190475"/>
                </a:lnTo>
                <a:close/>
              </a:path>
            </a:pathLst>
          </a:custGeom>
          <a:solidFill>
            <a:srgbClr val="8B0000"/>
          </a:solidFill>
          <a:ln/>
        </p:spPr>
      </p:sp>
      <p:sp>
        <p:nvSpPr>
          <p:cNvPr id="16" name="Shape 14"/>
          <p:cNvSpPr/>
          <p:nvPr/>
        </p:nvSpPr>
        <p:spPr>
          <a:xfrm>
            <a:off x="517432" y="3516923"/>
            <a:ext cx="1034865" cy="388074"/>
          </a:xfrm>
          <a:custGeom>
            <a:avLst/>
            <a:gdLst/>
            <a:ahLst/>
            <a:cxnLst/>
            <a:rect l="l" t="t" r="r" b="b"/>
            <a:pathLst>
              <a:path w="1034865" h="388074">
                <a:moveTo>
                  <a:pt x="0" y="0"/>
                </a:moveTo>
                <a:lnTo>
                  <a:pt x="1034865" y="0"/>
                </a:lnTo>
                <a:lnTo>
                  <a:pt x="1034865" y="388074"/>
                </a:lnTo>
                <a:lnTo>
                  <a:pt x="0" y="388074"/>
                </a:lnTo>
                <a:lnTo>
                  <a:pt x="0" y="0"/>
                </a:lnTo>
                <a:close/>
              </a:path>
            </a:pathLst>
          </a:custGeom>
          <a:solidFill>
            <a:srgbClr val="6B7280"/>
          </a:solidFill>
          <a:ln/>
        </p:spPr>
      </p:sp>
      <p:sp>
        <p:nvSpPr>
          <p:cNvPr id="17" name="Text 15"/>
          <p:cNvSpPr/>
          <p:nvPr/>
        </p:nvSpPr>
        <p:spPr>
          <a:xfrm>
            <a:off x="485093" y="3516923"/>
            <a:ext cx="1099544" cy="388074"/>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SRL Head</a:t>
            </a:r>
            <a:endParaRPr lang="en-US" sz="1600" dirty="0"/>
          </a:p>
        </p:txBody>
      </p:sp>
      <p:sp>
        <p:nvSpPr>
          <p:cNvPr id="18" name="Shape 16"/>
          <p:cNvSpPr/>
          <p:nvPr/>
        </p:nvSpPr>
        <p:spPr>
          <a:xfrm>
            <a:off x="1685698" y="3512881"/>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19" name="Text 17"/>
          <p:cNvSpPr/>
          <p:nvPr/>
        </p:nvSpPr>
        <p:spPr>
          <a:xfrm>
            <a:off x="1681655" y="3508838"/>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BIO role tag prediction for argument spans</a:t>
            </a:r>
            <a:endParaRPr lang="en-US" sz="1600" dirty="0"/>
          </a:p>
        </p:txBody>
      </p:sp>
      <p:sp>
        <p:nvSpPr>
          <p:cNvPr id="20" name="Shape 18"/>
          <p:cNvSpPr/>
          <p:nvPr/>
        </p:nvSpPr>
        <p:spPr>
          <a:xfrm>
            <a:off x="3635417" y="4042440"/>
            <a:ext cx="145528" cy="194037"/>
          </a:xfrm>
          <a:custGeom>
            <a:avLst/>
            <a:gdLst/>
            <a:ahLst/>
            <a:cxnLst/>
            <a:rect l="l" t="t" r="r" b="b"/>
            <a:pathLst>
              <a:path w="145528" h="194037">
                <a:moveTo>
                  <a:pt x="64199" y="190475"/>
                </a:moveTo>
                <a:cubicBezTo>
                  <a:pt x="68936" y="195212"/>
                  <a:pt x="76630" y="195212"/>
                  <a:pt x="81367" y="190475"/>
                </a:cubicBezTo>
                <a:lnTo>
                  <a:pt x="142003" y="129838"/>
                </a:lnTo>
                <a:cubicBezTo>
                  <a:pt x="146741" y="125101"/>
                  <a:pt x="146741" y="117408"/>
                  <a:pt x="142003" y="112670"/>
                </a:cubicBezTo>
                <a:cubicBezTo>
                  <a:pt x="137266" y="107933"/>
                  <a:pt x="129573" y="107933"/>
                  <a:pt x="124836" y="112670"/>
                </a:cubicBezTo>
                <a:lnTo>
                  <a:pt x="84891" y="152615"/>
                </a:lnTo>
                <a:lnTo>
                  <a:pt x="84891" y="12127"/>
                </a:lnTo>
                <a:cubicBezTo>
                  <a:pt x="84891" y="5419"/>
                  <a:pt x="79472" y="0"/>
                  <a:pt x="72764" y="0"/>
                </a:cubicBezTo>
                <a:cubicBezTo>
                  <a:pt x="66056" y="0"/>
                  <a:pt x="60637" y="5419"/>
                  <a:pt x="60637" y="12127"/>
                </a:cubicBezTo>
                <a:lnTo>
                  <a:pt x="60637" y="152615"/>
                </a:lnTo>
                <a:lnTo>
                  <a:pt x="20692" y="112670"/>
                </a:lnTo>
                <a:cubicBezTo>
                  <a:pt x="15955" y="107933"/>
                  <a:pt x="8262" y="107933"/>
                  <a:pt x="3525" y="112670"/>
                </a:cubicBezTo>
                <a:cubicBezTo>
                  <a:pt x="-1213" y="117408"/>
                  <a:pt x="-1213" y="125101"/>
                  <a:pt x="3525" y="129838"/>
                </a:cubicBezTo>
                <a:lnTo>
                  <a:pt x="64161" y="190475"/>
                </a:lnTo>
                <a:close/>
              </a:path>
            </a:pathLst>
          </a:custGeom>
          <a:solidFill>
            <a:srgbClr val="8B0000"/>
          </a:solidFill>
          <a:ln/>
        </p:spPr>
      </p:sp>
      <p:sp>
        <p:nvSpPr>
          <p:cNvPr id="21" name="Shape 19"/>
          <p:cNvSpPr/>
          <p:nvPr/>
        </p:nvSpPr>
        <p:spPr>
          <a:xfrm>
            <a:off x="517432" y="4365836"/>
            <a:ext cx="1034865" cy="582111"/>
          </a:xfrm>
          <a:custGeom>
            <a:avLst/>
            <a:gdLst/>
            <a:ahLst/>
            <a:cxnLst/>
            <a:rect l="l" t="t" r="r" b="b"/>
            <a:pathLst>
              <a:path w="1034865" h="582111">
                <a:moveTo>
                  <a:pt x="0" y="0"/>
                </a:moveTo>
                <a:lnTo>
                  <a:pt x="1034865" y="0"/>
                </a:lnTo>
                <a:lnTo>
                  <a:pt x="1034865" y="582111"/>
                </a:lnTo>
                <a:lnTo>
                  <a:pt x="0" y="582111"/>
                </a:lnTo>
                <a:lnTo>
                  <a:pt x="0" y="0"/>
                </a:lnTo>
                <a:close/>
              </a:path>
            </a:pathLst>
          </a:custGeom>
          <a:solidFill>
            <a:srgbClr val="6B7280"/>
          </a:solidFill>
          <a:ln/>
        </p:spPr>
      </p:sp>
      <p:sp>
        <p:nvSpPr>
          <p:cNvPr id="22" name="Text 20"/>
          <p:cNvSpPr/>
          <p:nvPr/>
        </p:nvSpPr>
        <p:spPr>
          <a:xfrm>
            <a:off x="485093" y="4365836"/>
            <a:ext cx="1099544" cy="582111"/>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Question Encoder</a:t>
            </a:r>
            <a:endParaRPr lang="en-US" sz="1600" dirty="0"/>
          </a:p>
        </p:txBody>
      </p:sp>
      <p:sp>
        <p:nvSpPr>
          <p:cNvPr id="23" name="Shape 21"/>
          <p:cNvSpPr/>
          <p:nvPr/>
        </p:nvSpPr>
        <p:spPr>
          <a:xfrm>
            <a:off x="1685698" y="4458812"/>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24" name="Text 22"/>
          <p:cNvSpPr/>
          <p:nvPr/>
        </p:nvSpPr>
        <p:spPr>
          <a:xfrm>
            <a:off x="1681655" y="4454769"/>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Separate BiLSTM for question representation</a:t>
            </a:r>
            <a:endParaRPr lang="en-US" sz="1600" dirty="0"/>
          </a:p>
        </p:txBody>
      </p:sp>
      <p:sp>
        <p:nvSpPr>
          <p:cNvPr id="25" name="Shape 23"/>
          <p:cNvSpPr/>
          <p:nvPr/>
        </p:nvSpPr>
        <p:spPr>
          <a:xfrm>
            <a:off x="3635417" y="5077305"/>
            <a:ext cx="145528" cy="194037"/>
          </a:xfrm>
          <a:custGeom>
            <a:avLst/>
            <a:gdLst/>
            <a:ahLst/>
            <a:cxnLst/>
            <a:rect l="l" t="t" r="r" b="b"/>
            <a:pathLst>
              <a:path w="145528" h="194037">
                <a:moveTo>
                  <a:pt x="64199" y="190475"/>
                </a:moveTo>
                <a:cubicBezTo>
                  <a:pt x="68936" y="195212"/>
                  <a:pt x="76630" y="195212"/>
                  <a:pt x="81367" y="190475"/>
                </a:cubicBezTo>
                <a:lnTo>
                  <a:pt x="142003" y="129838"/>
                </a:lnTo>
                <a:cubicBezTo>
                  <a:pt x="146741" y="125101"/>
                  <a:pt x="146741" y="117408"/>
                  <a:pt x="142003" y="112670"/>
                </a:cubicBezTo>
                <a:cubicBezTo>
                  <a:pt x="137266" y="107933"/>
                  <a:pt x="129573" y="107933"/>
                  <a:pt x="124836" y="112670"/>
                </a:cubicBezTo>
                <a:lnTo>
                  <a:pt x="84891" y="152615"/>
                </a:lnTo>
                <a:lnTo>
                  <a:pt x="84891" y="12127"/>
                </a:lnTo>
                <a:cubicBezTo>
                  <a:pt x="84891" y="5419"/>
                  <a:pt x="79472" y="0"/>
                  <a:pt x="72764" y="0"/>
                </a:cubicBezTo>
                <a:cubicBezTo>
                  <a:pt x="66056" y="0"/>
                  <a:pt x="60637" y="5419"/>
                  <a:pt x="60637" y="12127"/>
                </a:cubicBezTo>
                <a:lnTo>
                  <a:pt x="60637" y="152615"/>
                </a:lnTo>
                <a:lnTo>
                  <a:pt x="20692" y="112670"/>
                </a:lnTo>
                <a:cubicBezTo>
                  <a:pt x="15955" y="107933"/>
                  <a:pt x="8262" y="107933"/>
                  <a:pt x="3525" y="112670"/>
                </a:cubicBezTo>
                <a:cubicBezTo>
                  <a:pt x="-1213" y="117408"/>
                  <a:pt x="-1213" y="125101"/>
                  <a:pt x="3525" y="129838"/>
                </a:cubicBezTo>
                <a:lnTo>
                  <a:pt x="64161" y="190475"/>
                </a:lnTo>
                <a:close/>
              </a:path>
            </a:pathLst>
          </a:custGeom>
          <a:solidFill>
            <a:srgbClr val="8B0000"/>
          </a:solidFill>
          <a:ln/>
        </p:spPr>
      </p:sp>
      <p:sp>
        <p:nvSpPr>
          <p:cNvPr id="26" name="Shape 24"/>
          <p:cNvSpPr/>
          <p:nvPr/>
        </p:nvSpPr>
        <p:spPr>
          <a:xfrm>
            <a:off x="517432" y="5408785"/>
            <a:ext cx="1034865" cy="388074"/>
          </a:xfrm>
          <a:custGeom>
            <a:avLst/>
            <a:gdLst/>
            <a:ahLst/>
            <a:cxnLst/>
            <a:rect l="l" t="t" r="r" b="b"/>
            <a:pathLst>
              <a:path w="1034865" h="388074">
                <a:moveTo>
                  <a:pt x="0" y="0"/>
                </a:moveTo>
                <a:lnTo>
                  <a:pt x="1034865" y="0"/>
                </a:lnTo>
                <a:lnTo>
                  <a:pt x="1034865" y="388074"/>
                </a:lnTo>
                <a:lnTo>
                  <a:pt x="0" y="388074"/>
                </a:lnTo>
                <a:lnTo>
                  <a:pt x="0" y="0"/>
                </a:lnTo>
                <a:close/>
              </a:path>
            </a:pathLst>
          </a:custGeom>
          <a:solidFill>
            <a:srgbClr val="8B0000"/>
          </a:solidFill>
          <a:ln/>
        </p:spPr>
      </p:sp>
      <p:sp>
        <p:nvSpPr>
          <p:cNvPr id="27" name="Text 25"/>
          <p:cNvSpPr/>
          <p:nvPr/>
        </p:nvSpPr>
        <p:spPr>
          <a:xfrm>
            <a:off x="485093" y="5408785"/>
            <a:ext cx="1099544" cy="388074"/>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Span Scorer</a:t>
            </a:r>
            <a:endParaRPr lang="en-US" sz="1600" dirty="0"/>
          </a:p>
        </p:txBody>
      </p:sp>
      <p:sp>
        <p:nvSpPr>
          <p:cNvPr id="28" name="Shape 26"/>
          <p:cNvSpPr/>
          <p:nvPr/>
        </p:nvSpPr>
        <p:spPr>
          <a:xfrm>
            <a:off x="1685698" y="5404743"/>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29" name="Text 27"/>
          <p:cNvSpPr/>
          <p:nvPr/>
        </p:nvSpPr>
        <p:spPr>
          <a:xfrm>
            <a:off x="1681655" y="5400700"/>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Question-conditioned start/end position prediction</a:t>
            </a:r>
            <a:endParaRPr lang="en-US" sz="1600" dirty="0"/>
          </a:p>
        </p:txBody>
      </p:sp>
      <p:sp>
        <p:nvSpPr>
          <p:cNvPr id="30" name="Shape 28"/>
          <p:cNvSpPr/>
          <p:nvPr/>
        </p:nvSpPr>
        <p:spPr>
          <a:xfrm>
            <a:off x="3635417" y="5934302"/>
            <a:ext cx="145528" cy="194037"/>
          </a:xfrm>
          <a:custGeom>
            <a:avLst/>
            <a:gdLst/>
            <a:ahLst/>
            <a:cxnLst/>
            <a:rect l="l" t="t" r="r" b="b"/>
            <a:pathLst>
              <a:path w="145528" h="194037">
                <a:moveTo>
                  <a:pt x="64199" y="190475"/>
                </a:moveTo>
                <a:cubicBezTo>
                  <a:pt x="68936" y="195212"/>
                  <a:pt x="76630" y="195212"/>
                  <a:pt x="81367" y="190475"/>
                </a:cubicBezTo>
                <a:lnTo>
                  <a:pt x="142003" y="129838"/>
                </a:lnTo>
                <a:cubicBezTo>
                  <a:pt x="146741" y="125101"/>
                  <a:pt x="146741" y="117408"/>
                  <a:pt x="142003" y="112670"/>
                </a:cubicBezTo>
                <a:cubicBezTo>
                  <a:pt x="137266" y="107933"/>
                  <a:pt x="129573" y="107933"/>
                  <a:pt x="124836" y="112670"/>
                </a:cubicBezTo>
                <a:lnTo>
                  <a:pt x="84891" y="152615"/>
                </a:lnTo>
                <a:lnTo>
                  <a:pt x="84891" y="12127"/>
                </a:lnTo>
                <a:cubicBezTo>
                  <a:pt x="84891" y="5419"/>
                  <a:pt x="79472" y="0"/>
                  <a:pt x="72764" y="0"/>
                </a:cubicBezTo>
                <a:cubicBezTo>
                  <a:pt x="66056" y="0"/>
                  <a:pt x="60637" y="5419"/>
                  <a:pt x="60637" y="12127"/>
                </a:cubicBezTo>
                <a:lnTo>
                  <a:pt x="60637" y="152615"/>
                </a:lnTo>
                <a:lnTo>
                  <a:pt x="20692" y="112670"/>
                </a:lnTo>
                <a:cubicBezTo>
                  <a:pt x="15955" y="107933"/>
                  <a:pt x="8262" y="107933"/>
                  <a:pt x="3525" y="112670"/>
                </a:cubicBezTo>
                <a:cubicBezTo>
                  <a:pt x="-1213" y="117408"/>
                  <a:pt x="-1213" y="125101"/>
                  <a:pt x="3525" y="129838"/>
                </a:cubicBezTo>
                <a:lnTo>
                  <a:pt x="64161" y="190475"/>
                </a:lnTo>
                <a:close/>
              </a:path>
            </a:pathLst>
          </a:custGeom>
          <a:solidFill>
            <a:srgbClr val="8B0000"/>
          </a:solidFill>
          <a:ln/>
        </p:spPr>
      </p:sp>
      <p:sp>
        <p:nvSpPr>
          <p:cNvPr id="31" name="Shape 29"/>
          <p:cNvSpPr/>
          <p:nvPr/>
        </p:nvSpPr>
        <p:spPr>
          <a:xfrm>
            <a:off x="517432" y="6265782"/>
            <a:ext cx="1034865" cy="388074"/>
          </a:xfrm>
          <a:custGeom>
            <a:avLst/>
            <a:gdLst/>
            <a:ahLst/>
            <a:cxnLst/>
            <a:rect l="l" t="t" r="r" b="b"/>
            <a:pathLst>
              <a:path w="1034865" h="388074">
                <a:moveTo>
                  <a:pt x="0" y="0"/>
                </a:moveTo>
                <a:lnTo>
                  <a:pt x="1034865" y="0"/>
                </a:lnTo>
                <a:lnTo>
                  <a:pt x="1034865" y="388074"/>
                </a:lnTo>
                <a:lnTo>
                  <a:pt x="0" y="388074"/>
                </a:lnTo>
                <a:lnTo>
                  <a:pt x="0" y="0"/>
                </a:lnTo>
                <a:close/>
              </a:path>
            </a:pathLst>
          </a:custGeom>
          <a:solidFill>
            <a:srgbClr val="8B0000"/>
          </a:solidFill>
          <a:ln/>
        </p:spPr>
      </p:sp>
      <p:sp>
        <p:nvSpPr>
          <p:cNvPr id="32" name="Text 30"/>
          <p:cNvSpPr/>
          <p:nvPr/>
        </p:nvSpPr>
        <p:spPr>
          <a:xfrm>
            <a:off x="485093" y="6265782"/>
            <a:ext cx="1099544" cy="388074"/>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Matcher</a:t>
            </a:r>
            <a:endParaRPr lang="en-US" sz="1600" dirty="0"/>
          </a:p>
        </p:txBody>
      </p:sp>
      <p:sp>
        <p:nvSpPr>
          <p:cNvPr id="33" name="Shape 31"/>
          <p:cNvSpPr/>
          <p:nvPr/>
        </p:nvSpPr>
        <p:spPr>
          <a:xfrm>
            <a:off x="1685698" y="6261740"/>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34" name="Text 32"/>
          <p:cNvSpPr/>
          <p:nvPr/>
        </p:nvSpPr>
        <p:spPr>
          <a:xfrm>
            <a:off x="1681655" y="6257698"/>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Cosine similarity + boundary probabilities → final answer</a:t>
            </a:r>
            <a:endParaRPr lang="en-US" sz="1600" dirty="0"/>
          </a:p>
        </p:txBody>
      </p:sp>
      <p:sp>
        <p:nvSpPr>
          <p:cNvPr id="35" name="Shape 33"/>
          <p:cNvSpPr/>
          <p:nvPr/>
        </p:nvSpPr>
        <p:spPr>
          <a:xfrm>
            <a:off x="7351809" y="1067204"/>
            <a:ext cx="4511363" cy="3557347"/>
          </a:xfrm>
          <a:custGeom>
            <a:avLst/>
            <a:gdLst/>
            <a:ahLst/>
            <a:cxnLst/>
            <a:rect l="l" t="t" r="r" b="b"/>
            <a:pathLst>
              <a:path w="4511363" h="3557347">
                <a:moveTo>
                  <a:pt x="0" y="0"/>
                </a:moveTo>
                <a:lnTo>
                  <a:pt x="4511363" y="0"/>
                </a:lnTo>
                <a:lnTo>
                  <a:pt x="4511363" y="3557347"/>
                </a:lnTo>
                <a:lnTo>
                  <a:pt x="0" y="3557347"/>
                </a:lnTo>
                <a:lnTo>
                  <a:pt x="0" y="0"/>
                </a:lnTo>
                <a:close/>
              </a:path>
            </a:pathLst>
          </a:custGeom>
          <a:solidFill>
            <a:srgbClr val="F9FAFB"/>
          </a:solidFill>
          <a:ln/>
        </p:spPr>
      </p:sp>
      <p:sp>
        <p:nvSpPr>
          <p:cNvPr id="36" name="Text 34"/>
          <p:cNvSpPr/>
          <p:nvPr/>
        </p:nvSpPr>
        <p:spPr>
          <a:xfrm>
            <a:off x="7545846" y="1261241"/>
            <a:ext cx="4204138" cy="226377"/>
          </a:xfrm>
          <a:prstGeom prst="rect">
            <a:avLst/>
          </a:prstGeom>
          <a:noFill/>
          <a:ln/>
        </p:spPr>
        <p:txBody>
          <a:bodyPr wrap="square" lIns="0" tIns="0" rIns="0" bIns="0" rtlCol="0" anchor="ctr"/>
          <a:lstStyle/>
          <a:p>
            <a:pPr>
              <a:lnSpc>
                <a:spcPct val="120000"/>
              </a:lnSpc>
            </a:pPr>
            <a:r>
              <a:rPr lang="en-US" sz="1273" b="1" dirty="0">
                <a:solidFill>
                  <a:srgbClr val="1F2937"/>
                </a:solidFill>
                <a:latin typeface="Sorts Mill Goudy" pitchFamily="34" charset="0"/>
                <a:ea typeface="Sorts Mill Goudy" pitchFamily="34" charset="-122"/>
                <a:cs typeface="Sorts Mill Goudy" pitchFamily="34" charset="-120"/>
              </a:rPr>
              <a:t>Key Design Decisions</a:t>
            </a:r>
            <a:endParaRPr lang="en-US" sz="1600" dirty="0"/>
          </a:p>
        </p:txBody>
      </p:sp>
      <p:sp>
        <p:nvSpPr>
          <p:cNvPr id="37" name="Shape 35"/>
          <p:cNvSpPr/>
          <p:nvPr/>
        </p:nvSpPr>
        <p:spPr>
          <a:xfrm>
            <a:off x="7549889" y="1621019"/>
            <a:ext cx="4115204" cy="622536"/>
          </a:xfrm>
          <a:custGeom>
            <a:avLst/>
            <a:gdLst/>
            <a:ahLst/>
            <a:cxnLst/>
            <a:rect l="l" t="t" r="r" b="b"/>
            <a:pathLst>
              <a:path w="4115204" h="622536">
                <a:moveTo>
                  <a:pt x="0" y="0"/>
                </a:moveTo>
                <a:lnTo>
                  <a:pt x="4115204" y="0"/>
                </a:lnTo>
                <a:lnTo>
                  <a:pt x="4115204" y="622536"/>
                </a:lnTo>
                <a:lnTo>
                  <a:pt x="0" y="622536"/>
                </a:lnTo>
                <a:lnTo>
                  <a:pt x="0" y="0"/>
                </a:lnTo>
                <a:close/>
              </a:path>
            </a:pathLst>
          </a:custGeom>
          <a:solidFill>
            <a:srgbClr val="FFFFFF"/>
          </a:solidFill>
          <a:ln w="12700">
            <a:solidFill>
              <a:srgbClr val="E5E7EB"/>
            </a:solidFill>
            <a:prstDash val="solid"/>
          </a:ln>
        </p:spPr>
      </p:sp>
      <p:sp>
        <p:nvSpPr>
          <p:cNvPr id="38" name="Text 36"/>
          <p:cNvSpPr/>
          <p:nvPr/>
        </p:nvSpPr>
        <p:spPr>
          <a:xfrm>
            <a:off x="7650950" y="1722080"/>
            <a:ext cx="3977761" cy="194037"/>
          </a:xfrm>
          <a:prstGeom prst="rect">
            <a:avLst/>
          </a:prstGeom>
          <a:noFill/>
          <a:ln/>
        </p:spPr>
        <p:txBody>
          <a:bodyPr wrap="square" lIns="0" tIns="0" rIns="0" bIns="0" rtlCol="0" anchor="ctr"/>
          <a:lstStyle/>
          <a:p>
            <a:pPr>
              <a:lnSpc>
                <a:spcPct val="130000"/>
              </a:lnSpc>
            </a:pPr>
            <a:r>
              <a:rPr lang="en-US" sz="1019" b="1" dirty="0">
                <a:solidFill>
                  <a:srgbClr val="1F2937"/>
                </a:solidFill>
                <a:latin typeface="Sorts Mill Goudy" pitchFamily="34" charset="0"/>
                <a:ea typeface="Sorts Mill Goudy" pitchFamily="34" charset="-122"/>
                <a:cs typeface="Sorts Mill Goudy" pitchFamily="34" charset="-120"/>
              </a:rPr>
              <a:t>Dual BiLSTM Encoders</a:t>
            </a:r>
            <a:endParaRPr lang="en-US" sz="1600" dirty="0"/>
          </a:p>
        </p:txBody>
      </p:sp>
      <p:sp>
        <p:nvSpPr>
          <p:cNvPr id="39" name="Text 37"/>
          <p:cNvSpPr/>
          <p:nvPr/>
        </p:nvSpPr>
        <p:spPr>
          <a:xfrm>
            <a:off x="7650950" y="1948456"/>
            <a:ext cx="3977761" cy="194037"/>
          </a:xfrm>
          <a:prstGeom prst="rect">
            <a:avLst/>
          </a:prstGeom>
          <a:noFill/>
          <a:ln/>
        </p:spPr>
        <p:txBody>
          <a:bodyPr wrap="square" lIns="0" tIns="0" rIns="0" bIns="0" rtlCol="0" anchor="ctr"/>
          <a:lstStyle/>
          <a:p>
            <a:pPr>
              <a:lnSpc>
                <a:spcPct val="130000"/>
              </a:lnSpc>
            </a:pPr>
            <a:r>
              <a:rPr lang="en-US" sz="1019" dirty="0">
                <a:solidFill>
                  <a:srgbClr val="6B7280"/>
                </a:solidFill>
                <a:latin typeface="Sorts Mill Goudy" pitchFamily="34" charset="0"/>
                <a:ea typeface="Sorts Mill Goudy" pitchFamily="34" charset="-122"/>
                <a:cs typeface="Sorts Mill Goudy" pitchFamily="34" charset="-120"/>
              </a:rPr>
              <a:t>Separate encoding for context and question enables cross-attention</a:t>
            </a:r>
            <a:endParaRPr lang="en-US" sz="1600" dirty="0"/>
          </a:p>
        </p:txBody>
      </p:sp>
      <p:sp>
        <p:nvSpPr>
          <p:cNvPr id="40" name="Shape 38"/>
          <p:cNvSpPr/>
          <p:nvPr/>
        </p:nvSpPr>
        <p:spPr>
          <a:xfrm>
            <a:off x="7549889" y="2348658"/>
            <a:ext cx="4115204" cy="622536"/>
          </a:xfrm>
          <a:custGeom>
            <a:avLst/>
            <a:gdLst/>
            <a:ahLst/>
            <a:cxnLst/>
            <a:rect l="l" t="t" r="r" b="b"/>
            <a:pathLst>
              <a:path w="4115204" h="622536">
                <a:moveTo>
                  <a:pt x="0" y="0"/>
                </a:moveTo>
                <a:lnTo>
                  <a:pt x="4115204" y="0"/>
                </a:lnTo>
                <a:lnTo>
                  <a:pt x="4115204" y="622536"/>
                </a:lnTo>
                <a:lnTo>
                  <a:pt x="0" y="622536"/>
                </a:lnTo>
                <a:lnTo>
                  <a:pt x="0" y="0"/>
                </a:lnTo>
                <a:close/>
              </a:path>
            </a:pathLst>
          </a:custGeom>
          <a:solidFill>
            <a:srgbClr val="FFFFFF"/>
          </a:solidFill>
          <a:ln w="12700">
            <a:solidFill>
              <a:srgbClr val="E5E7EB"/>
            </a:solidFill>
            <a:prstDash val="solid"/>
          </a:ln>
        </p:spPr>
      </p:sp>
      <p:sp>
        <p:nvSpPr>
          <p:cNvPr id="41" name="Text 39"/>
          <p:cNvSpPr/>
          <p:nvPr/>
        </p:nvSpPr>
        <p:spPr>
          <a:xfrm>
            <a:off x="7650950" y="2449719"/>
            <a:ext cx="3977761" cy="194037"/>
          </a:xfrm>
          <a:prstGeom prst="rect">
            <a:avLst/>
          </a:prstGeom>
          <a:noFill/>
          <a:ln/>
        </p:spPr>
        <p:txBody>
          <a:bodyPr wrap="square" lIns="0" tIns="0" rIns="0" bIns="0" rtlCol="0" anchor="ctr"/>
          <a:lstStyle/>
          <a:p>
            <a:pPr>
              <a:lnSpc>
                <a:spcPct val="130000"/>
              </a:lnSpc>
            </a:pPr>
            <a:r>
              <a:rPr lang="en-US" sz="1019" b="1" dirty="0">
                <a:solidFill>
                  <a:srgbClr val="1F2937"/>
                </a:solidFill>
                <a:latin typeface="Sorts Mill Goudy" pitchFamily="34" charset="0"/>
                <a:ea typeface="Sorts Mill Goudy" pitchFamily="34" charset="-122"/>
                <a:cs typeface="Sorts Mill Goudy" pitchFamily="34" charset="-120"/>
              </a:rPr>
              <a:t>Joint SRL-QA Training</a:t>
            </a:r>
            <a:endParaRPr lang="en-US" sz="1600" dirty="0"/>
          </a:p>
        </p:txBody>
      </p:sp>
      <p:sp>
        <p:nvSpPr>
          <p:cNvPr id="42" name="Text 40"/>
          <p:cNvSpPr/>
          <p:nvPr/>
        </p:nvSpPr>
        <p:spPr>
          <a:xfrm>
            <a:off x="7650950" y="2676095"/>
            <a:ext cx="3977761" cy="194037"/>
          </a:xfrm>
          <a:prstGeom prst="rect">
            <a:avLst/>
          </a:prstGeom>
          <a:noFill/>
          <a:ln/>
        </p:spPr>
        <p:txBody>
          <a:bodyPr wrap="square" lIns="0" tIns="0" rIns="0" bIns="0" rtlCol="0" anchor="ctr"/>
          <a:lstStyle/>
          <a:p>
            <a:pPr>
              <a:lnSpc>
                <a:spcPct val="130000"/>
              </a:lnSpc>
            </a:pPr>
            <a:r>
              <a:rPr lang="en-US" sz="1019" dirty="0">
                <a:solidFill>
                  <a:srgbClr val="6B7280"/>
                </a:solidFill>
                <a:latin typeface="Sorts Mill Goudy" pitchFamily="34" charset="0"/>
                <a:ea typeface="Sorts Mill Goudy" pitchFamily="34" charset="-122"/>
                <a:cs typeface="Sorts Mill Goudy" pitchFamily="34" charset="-120"/>
              </a:rPr>
              <a:t>Multi-task learning with shared encoder</a:t>
            </a:r>
            <a:endParaRPr lang="en-US" sz="1600" dirty="0"/>
          </a:p>
        </p:txBody>
      </p:sp>
      <p:sp>
        <p:nvSpPr>
          <p:cNvPr id="43" name="Shape 41"/>
          <p:cNvSpPr/>
          <p:nvPr/>
        </p:nvSpPr>
        <p:spPr>
          <a:xfrm>
            <a:off x="7549889" y="3076297"/>
            <a:ext cx="4115204" cy="622536"/>
          </a:xfrm>
          <a:custGeom>
            <a:avLst/>
            <a:gdLst/>
            <a:ahLst/>
            <a:cxnLst/>
            <a:rect l="l" t="t" r="r" b="b"/>
            <a:pathLst>
              <a:path w="4115204" h="622536">
                <a:moveTo>
                  <a:pt x="0" y="0"/>
                </a:moveTo>
                <a:lnTo>
                  <a:pt x="4115204" y="0"/>
                </a:lnTo>
                <a:lnTo>
                  <a:pt x="4115204" y="622536"/>
                </a:lnTo>
                <a:lnTo>
                  <a:pt x="0" y="622536"/>
                </a:lnTo>
                <a:lnTo>
                  <a:pt x="0" y="0"/>
                </a:lnTo>
                <a:close/>
              </a:path>
            </a:pathLst>
          </a:custGeom>
          <a:solidFill>
            <a:srgbClr val="FFFFFF"/>
          </a:solidFill>
          <a:ln w="12700">
            <a:solidFill>
              <a:srgbClr val="E5E7EB"/>
            </a:solidFill>
            <a:prstDash val="solid"/>
          </a:ln>
        </p:spPr>
      </p:sp>
      <p:sp>
        <p:nvSpPr>
          <p:cNvPr id="44" name="Text 42"/>
          <p:cNvSpPr/>
          <p:nvPr/>
        </p:nvSpPr>
        <p:spPr>
          <a:xfrm>
            <a:off x="7650950" y="3177358"/>
            <a:ext cx="3977761" cy="194037"/>
          </a:xfrm>
          <a:prstGeom prst="rect">
            <a:avLst/>
          </a:prstGeom>
          <a:noFill/>
          <a:ln/>
        </p:spPr>
        <p:txBody>
          <a:bodyPr wrap="square" lIns="0" tIns="0" rIns="0" bIns="0" rtlCol="0" anchor="ctr"/>
          <a:lstStyle/>
          <a:p>
            <a:pPr>
              <a:lnSpc>
                <a:spcPct val="130000"/>
              </a:lnSpc>
            </a:pPr>
            <a:r>
              <a:rPr lang="en-US" sz="1019" b="1" dirty="0">
                <a:solidFill>
                  <a:srgbClr val="1F2937"/>
                </a:solidFill>
                <a:latin typeface="Sorts Mill Goudy" pitchFamily="34" charset="0"/>
                <a:ea typeface="Sorts Mill Goudy" pitchFamily="34" charset="-122"/>
                <a:cs typeface="Sorts Mill Goudy" pitchFamily="34" charset="-120"/>
              </a:rPr>
              <a:t>Explicit Role Decoding</a:t>
            </a:r>
            <a:endParaRPr lang="en-US" sz="1600" dirty="0"/>
          </a:p>
        </p:txBody>
      </p:sp>
      <p:sp>
        <p:nvSpPr>
          <p:cNvPr id="45" name="Text 43"/>
          <p:cNvSpPr/>
          <p:nvPr/>
        </p:nvSpPr>
        <p:spPr>
          <a:xfrm>
            <a:off x="7650950" y="3403735"/>
            <a:ext cx="3977761" cy="194037"/>
          </a:xfrm>
          <a:prstGeom prst="rect">
            <a:avLst/>
          </a:prstGeom>
          <a:noFill/>
          <a:ln/>
        </p:spPr>
        <p:txBody>
          <a:bodyPr wrap="square" lIns="0" tIns="0" rIns="0" bIns="0" rtlCol="0" anchor="ctr"/>
          <a:lstStyle/>
          <a:p>
            <a:pPr>
              <a:lnSpc>
                <a:spcPct val="130000"/>
              </a:lnSpc>
            </a:pPr>
            <a:r>
              <a:rPr lang="en-US" sz="1019" dirty="0">
                <a:solidFill>
                  <a:srgbClr val="6B7280"/>
                </a:solidFill>
                <a:latin typeface="Sorts Mill Goudy" pitchFamily="34" charset="0"/>
                <a:ea typeface="Sorts Mill Goudy" pitchFamily="34" charset="-122"/>
                <a:cs typeface="Sorts Mill Goudy" pitchFamily="34" charset="-120"/>
              </a:rPr>
              <a:t>BIO tags provide interpretable intermediate representation</a:t>
            </a:r>
            <a:endParaRPr lang="en-US" sz="1600" dirty="0"/>
          </a:p>
        </p:txBody>
      </p:sp>
      <p:sp>
        <p:nvSpPr>
          <p:cNvPr id="46" name="Shape 44"/>
          <p:cNvSpPr/>
          <p:nvPr/>
        </p:nvSpPr>
        <p:spPr>
          <a:xfrm>
            <a:off x="7549889" y="3803936"/>
            <a:ext cx="4115204" cy="622536"/>
          </a:xfrm>
          <a:custGeom>
            <a:avLst/>
            <a:gdLst/>
            <a:ahLst/>
            <a:cxnLst/>
            <a:rect l="l" t="t" r="r" b="b"/>
            <a:pathLst>
              <a:path w="4115204" h="622536">
                <a:moveTo>
                  <a:pt x="0" y="0"/>
                </a:moveTo>
                <a:lnTo>
                  <a:pt x="4115204" y="0"/>
                </a:lnTo>
                <a:lnTo>
                  <a:pt x="4115204" y="622536"/>
                </a:lnTo>
                <a:lnTo>
                  <a:pt x="0" y="622536"/>
                </a:lnTo>
                <a:lnTo>
                  <a:pt x="0" y="0"/>
                </a:lnTo>
                <a:close/>
              </a:path>
            </a:pathLst>
          </a:custGeom>
          <a:solidFill>
            <a:srgbClr val="FFFFFF"/>
          </a:solidFill>
          <a:ln w="12700">
            <a:solidFill>
              <a:srgbClr val="E5E7EB"/>
            </a:solidFill>
            <a:prstDash val="solid"/>
          </a:ln>
        </p:spPr>
      </p:sp>
      <p:sp>
        <p:nvSpPr>
          <p:cNvPr id="47" name="Text 45"/>
          <p:cNvSpPr/>
          <p:nvPr/>
        </p:nvSpPr>
        <p:spPr>
          <a:xfrm>
            <a:off x="7650950" y="3904997"/>
            <a:ext cx="3977761" cy="194037"/>
          </a:xfrm>
          <a:prstGeom prst="rect">
            <a:avLst/>
          </a:prstGeom>
          <a:noFill/>
          <a:ln/>
        </p:spPr>
        <p:txBody>
          <a:bodyPr wrap="square" lIns="0" tIns="0" rIns="0" bIns="0" rtlCol="0" anchor="ctr"/>
          <a:lstStyle/>
          <a:p>
            <a:pPr>
              <a:lnSpc>
                <a:spcPct val="130000"/>
              </a:lnSpc>
            </a:pPr>
            <a:r>
              <a:rPr lang="en-US" sz="1019" b="1" dirty="0">
                <a:solidFill>
                  <a:srgbClr val="1F2937"/>
                </a:solidFill>
                <a:latin typeface="Sorts Mill Goudy" pitchFamily="34" charset="0"/>
                <a:ea typeface="Sorts Mill Goudy" pitchFamily="34" charset="-122"/>
                <a:cs typeface="Sorts Mill Goudy" pitchFamily="34" charset="-120"/>
              </a:rPr>
              <a:t>Compact by Design</a:t>
            </a:r>
            <a:endParaRPr lang="en-US" sz="1600" dirty="0"/>
          </a:p>
        </p:txBody>
      </p:sp>
      <p:sp>
        <p:nvSpPr>
          <p:cNvPr id="48" name="Text 46"/>
          <p:cNvSpPr/>
          <p:nvPr/>
        </p:nvSpPr>
        <p:spPr>
          <a:xfrm>
            <a:off x="7650950" y="4131374"/>
            <a:ext cx="3977761" cy="194037"/>
          </a:xfrm>
          <a:prstGeom prst="rect">
            <a:avLst/>
          </a:prstGeom>
          <a:noFill/>
          <a:ln/>
        </p:spPr>
        <p:txBody>
          <a:bodyPr wrap="square" lIns="0" tIns="0" rIns="0" bIns="0" rtlCol="0" anchor="ctr"/>
          <a:lstStyle/>
          <a:p>
            <a:pPr>
              <a:lnSpc>
                <a:spcPct val="130000"/>
              </a:lnSpc>
            </a:pPr>
            <a:r>
              <a:rPr lang="en-US" sz="1019" dirty="0">
                <a:solidFill>
                  <a:srgbClr val="6B7280"/>
                </a:solidFill>
                <a:latin typeface="Sorts Mill Goudy" pitchFamily="34" charset="0"/>
                <a:ea typeface="Sorts Mill Goudy" pitchFamily="34" charset="-122"/>
                <a:cs typeface="Sorts Mill Goudy" pitchFamily="34" charset="-120"/>
              </a:rPr>
              <a:t>1.78M parameters isolate architectural effects</a:t>
            </a:r>
            <a:endParaRPr lang="en-US" sz="1600" dirty="0"/>
          </a:p>
        </p:txBody>
      </p:sp>
      <p:sp>
        <p:nvSpPr>
          <p:cNvPr id="49" name="Shape 47"/>
          <p:cNvSpPr/>
          <p:nvPr/>
        </p:nvSpPr>
        <p:spPr>
          <a:xfrm>
            <a:off x="7355852" y="4822631"/>
            <a:ext cx="4503279" cy="848912"/>
          </a:xfrm>
          <a:custGeom>
            <a:avLst/>
            <a:gdLst/>
            <a:ahLst/>
            <a:cxnLst/>
            <a:rect l="l" t="t" r="r" b="b"/>
            <a:pathLst>
              <a:path w="4503279" h="848912">
                <a:moveTo>
                  <a:pt x="0" y="0"/>
                </a:moveTo>
                <a:lnTo>
                  <a:pt x="4503279" y="0"/>
                </a:lnTo>
                <a:lnTo>
                  <a:pt x="4503279" y="848912"/>
                </a:lnTo>
                <a:lnTo>
                  <a:pt x="0" y="848912"/>
                </a:lnTo>
                <a:lnTo>
                  <a:pt x="0" y="0"/>
                </a:lnTo>
                <a:close/>
              </a:path>
            </a:pathLst>
          </a:custGeom>
          <a:solidFill>
            <a:srgbClr val="8B0000">
              <a:alpha val="5098"/>
            </a:srgbClr>
          </a:solidFill>
          <a:ln w="12700">
            <a:solidFill>
              <a:srgbClr val="8B0000">
                <a:alpha val="20000"/>
              </a:srgbClr>
            </a:solidFill>
            <a:prstDash val="solid"/>
          </a:ln>
        </p:spPr>
      </p:sp>
      <p:sp>
        <p:nvSpPr>
          <p:cNvPr id="50" name="Text 48"/>
          <p:cNvSpPr/>
          <p:nvPr/>
        </p:nvSpPr>
        <p:spPr>
          <a:xfrm>
            <a:off x="7489252" y="4956032"/>
            <a:ext cx="4301156" cy="582111"/>
          </a:xfrm>
          <a:prstGeom prst="rect">
            <a:avLst/>
          </a:prstGeom>
          <a:noFill/>
          <a:ln/>
        </p:spPr>
        <p:txBody>
          <a:bodyPr wrap="square" lIns="0" tIns="0" rIns="0" bIns="0" rtlCol="0" anchor="ctr"/>
          <a:lstStyle/>
          <a:p>
            <a:pPr>
              <a:lnSpc>
                <a:spcPct val="130000"/>
              </a:lnSpc>
            </a:pPr>
            <a:r>
              <a:rPr lang="en-US" sz="1019" b="1" dirty="0">
                <a:solidFill>
                  <a:srgbClr val="1F2937"/>
                </a:solidFill>
                <a:latin typeface="Sorts Mill Goudy" pitchFamily="34" charset="0"/>
                <a:ea typeface="Sorts Mill Goudy" pitchFamily="34" charset="-122"/>
                <a:cs typeface="Sorts Mill Goudy" pitchFamily="34" charset="-120"/>
              </a:rPr>
              <a:t>Critical Feature:</a:t>
            </a:r>
            <a:r>
              <a:rPr lang="en-US" sz="1019" dirty="0">
                <a:solidFill>
                  <a:srgbClr val="1F2937"/>
                </a:solidFill>
                <a:latin typeface="Sorts Mill Goudy" pitchFamily="34" charset="0"/>
                <a:ea typeface="Sorts Mill Goudy" pitchFamily="34" charset="-122"/>
                <a:cs typeface="Sorts Mill Goudy" pitchFamily="34" charset="-120"/>
              </a:rPr>
              <a:t> The architecture preserves a clear connection between role structure and answer extraction—answers remain tied to explicit semantic slots.</a:t>
            </a:r>
            <a:endParaRPr lang="en-US" sz="1600" dirty="0"/>
          </a:p>
        </p:txBody>
      </p:sp>
    </p:spTree>
    <p:extLst>
      <p:ext uri="{BB962C8B-B14F-4D97-AF65-F5344CB8AC3E}">
        <p14:creationId xmlns:p14="http://schemas.microsoft.com/office/powerpoint/2010/main" val="2327192434"/>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7783" y="367783"/>
            <a:ext cx="11520796" cy="183891"/>
          </a:xfrm>
          <a:prstGeom prst="rect">
            <a:avLst/>
          </a:prstGeom>
          <a:noFill/>
          <a:ln/>
        </p:spPr>
        <p:txBody>
          <a:bodyPr wrap="square" lIns="0" tIns="0" rIns="0" bIns="0" rtlCol="0" anchor="ctr"/>
          <a:lstStyle/>
          <a:p>
            <a:pPr>
              <a:lnSpc>
                <a:spcPct val="120000"/>
              </a:lnSpc>
            </a:pPr>
            <a:r>
              <a:rPr lang="en-US" sz="1014" b="1" kern="0" spc="51" dirty="0">
                <a:solidFill>
                  <a:srgbClr val="8B0000"/>
                </a:solidFill>
                <a:latin typeface="Sorts Mill Goudy" pitchFamily="34" charset="0"/>
                <a:ea typeface="Sorts Mill Goudy" pitchFamily="34" charset="-122"/>
                <a:cs typeface="Sorts Mill Goudy" pitchFamily="34" charset="-120"/>
              </a:rPr>
              <a:t>4.2 SYSTEM ARCHITECTURE</a:t>
            </a:r>
            <a:endParaRPr lang="en-US" sz="1600" dirty="0"/>
          </a:p>
        </p:txBody>
      </p:sp>
      <p:sp>
        <p:nvSpPr>
          <p:cNvPr id="3" name="Text 1"/>
          <p:cNvSpPr/>
          <p:nvPr/>
        </p:nvSpPr>
        <p:spPr>
          <a:xfrm>
            <a:off x="367783" y="625231"/>
            <a:ext cx="11621937" cy="367783"/>
          </a:xfrm>
          <a:prstGeom prst="rect">
            <a:avLst/>
          </a:prstGeom>
          <a:noFill/>
          <a:ln/>
        </p:spPr>
        <p:txBody>
          <a:bodyPr wrap="square" lIns="0" tIns="0" rIns="0" bIns="0" rtlCol="0" anchor="ctr"/>
          <a:lstStyle/>
          <a:p>
            <a:pPr>
              <a:lnSpc>
                <a:spcPct val="90000"/>
              </a:lnSpc>
            </a:pPr>
            <a:r>
              <a:rPr lang="en-US" sz="2606" b="1" dirty="0">
                <a:solidFill>
                  <a:srgbClr val="1F2937"/>
                </a:solidFill>
                <a:latin typeface="Sorts Mill Goudy" pitchFamily="34" charset="0"/>
                <a:ea typeface="Sorts Mill Goudy" pitchFamily="34" charset="-122"/>
                <a:cs typeface="Sorts Mill Goudy" pitchFamily="34" charset="-120"/>
              </a:rPr>
              <a:t>Training and Inference Pipeline</a:t>
            </a:r>
            <a:endParaRPr lang="en-US" sz="1600" dirty="0"/>
          </a:p>
        </p:txBody>
      </p:sp>
      <p:sp>
        <p:nvSpPr>
          <p:cNvPr id="4" name="Shape 2"/>
          <p:cNvSpPr/>
          <p:nvPr/>
        </p:nvSpPr>
        <p:spPr>
          <a:xfrm>
            <a:off x="386172" y="1213683"/>
            <a:ext cx="5562715" cy="2758371"/>
          </a:xfrm>
          <a:custGeom>
            <a:avLst/>
            <a:gdLst/>
            <a:ahLst/>
            <a:cxnLst/>
            <a:rect l="l" t="t" r="r" b="b"/>
            <a:pathLst>
              <a:path w="5562715" h="2758371">
                <a:moveTo>
                  <a:pt x="0" y="0"/>
                </a:moveTo>
                <a:lnTo>
                  <a:pt x="5562715" y="0"/>
                </a:lnTo>
                <a:lnTo>
                  <a:pt x="5562715" y="2758371"/>
                </a:lnTo>
                <a:lnTo>
                  <a:pt x="0" y="2758371"/>
                </a:lnTo>
                <a:lnTo>
                  <a:pt x="0" y="0"/>
                </a:lnTo>
                <a:close/>
              </a:path>
            </a:pathLst>
          </a:custGeom>
          <a:solidFill>
            <a:srgbClr val="F9FAFB"/>
          </a:solidFill>
          <a:ln/>
        </p:spPr>
      </p:sp>
      <p:sp>
        <p:nvSpPr>
          <p:cNvPr id="5" name="Shape 3"/>
          <p:cNvSpPr/>
          <p:nvPr/>
        </p:nvSpPr>
        <p:spPr>
          <a:xfrm>
            <a:off x="386172" y="1213683"/>
            <a:ext cx="36778" cy="2758371"/>
          </a:xfrm>
          <a:custGeom>
            <a:avLst/>
            <a:gdLst/>
            <a:ahLst/>
            <a:cxnLst/>
            <a:rect l="l" t="t" r="r" b="b"/>
            <a:pathLst>
              <a:path w="36778" h="2758371">
                <a:moveTo>
                  <a:pt x="0" y="0"/>
                </a:moveTo>
                <a:lnTo>
                  <a:pt x="36778" y="0"/>
                </a:lnTo>
                <a:lnTo>
                  <a:pt x="36778" y="2758371"/>
                </a:lnTo>
                <a:lnTo>
                  <a:pt x="0" y="2758371"/>
                </a:lnTo>
                <a:lnTo>
                  <a:pt x="0" y="0"/>
                </a:lnTo>
                <a:close/>
              </a:path>
            </a:pathLst>
          </a:custGeom>
          <a:solidFill>
            <a:srgbClr val="8B0000"/>
          </a:solidFill>
          <a:ln/>
        </p:spPr>
      </p:sp>
      <p:sp>
        <p:nvSpPr>
          <p:cNvPr id="6" name="Text 4"/>
          <p:cNvSpPr/>
          <p:nvPr/>
        </p:nvSpPr>
        <p:spPr>
          <a:xfrm>
            <a:off x="625231" y="1434353"/>
            <a:ext cx="5194932" cy="257448"/>
          </a:xfrm>
          <a:prstGeom prst="rect">
            <a:avLst/>
          </a:prstGeom>
          <a:noFill/>
          <a:ln/>
        </p:spPr>
        <p:txBody>
          <a:bodyPr wrap="square" lIns="0" tIns="0" rIns="0" bIns="0" rtlCol="0" anchor="ctr"/>
          <a:lstStyle/>
          <a:p>
            <a:pPr>
              <a:lnSpc>
                <a:spcPct val="120000"/>
              </a:lnSpc>
            </a:pPr>
            <a:r>
              <a:rPr lang="en-US" sz="1448" b="1" dirty="0">
                <a:solidFill>
                  <a:srgbClr val="1F2937"/>
                </a:solidFill>
                <a:latin typeface="Sorts Mill Goudy" pitchFamily="34" charset="0"/>
                <a:ea typeface="Sorts Mill Goudy" pitchFamily="34" charset="-122"/>
                <a:cs typeface="Sorts Mill Goudy" pitchFamily="34" charset="-120"/>
              </a:rPr>
              <a:t>Training Objective</a:t>
            </a:r>
            <a:endParaRPr lang="en-US" sz="1600" dirty="0"/>
          </a:p>
        </p:txBody>
      </p:sp>
      <p:sp>
        <p:nvSpPr>
          <p:cNvPr id="7" name="Text 5"/>
          <p:cNvSpPr/>
          <p:nvPr/>
        </p:nvSpPr>
        <p:spPr>
          <a:xfrm>
            <a:off x="625231" y="1838914"/>
            <a:ext cx="5176543" cy="239059"/>
          </a:xfrm>
          <a:prstGeom prst="rect">
            <a:avLst/>
          </a:prstGeom>
          <a:noFill/>
          <a:ln/>
        </p:spPr>
        <p:txBody>
          <a:bodyPr wrap="square" lIns="0" tIns="0" rIns="0" bIns="0" rtlCol="0" anchor="ctr"/>
          <a:lstStyle/>
          <a:p>
            <a:pPr>
              <a:lnSpc>
                <a:spcPct val="140000"/>
              </a:lnSpc>
            </a:pPr>
            <a:r>
              <a:rPr lang="en-US" sz="1158" dirty="0">
                <a:solidFill>
                  <a:srgbClr val="1F2937"/>
                </a:solidFill>
                <a:latin typeface="Sorts Mill Goudy" pitchFamily="34" charset="0"/>
                <a:ea typeface="Sorts Mill Goudy" pitchFamily="34" charset="-122"/>
                <a:cs typeface="Sorts Mill Goudy" pitchFamily="34" charset="-120"/>
              </a:rPr>
              <a:t>Training minimizes a </a:t>
            </a:r>
            <a:r>
              <a:rPr lang="en-US" sz="1158" b="1" dirty="0">
                <a:solidFill>
                  <a:srgbClr val="1F2937"/>
                </a:solidFill>
                <a:latin typeface="Sorts Mill Goudy" pitchFamily="34" charset="0"/>
                <a:ea typeface="Sorts Mill Goudy" pitchFamily="34" charset="-122"/>
                <a:cs typeface="Sorts Mill Goudy" pitchFamily="34" charset="-120"/>
              </a:rPr>
              <a:t>convex combination</a:t>
            </a:r>
            <a:r>
              <a:rPr lang="en-US" sz="1158" dirty="0">
                <a:solidFill>
                  <a:srgbClr val="1F2937"/>
                </a:solidFill>
                <a:latin typeface="Sorts Mill Goudy" pitchFamily="34" charset="0"/>
                <a:ea typeface="Sorts Mill Goudy" pitchFamily="34" charset="-122"/>
                <a:cs typeface="Sorts Mill Goudy" pitchFamily="34" charset="-120"/>
              </a:rPr>
              <a:t> of SRL loss and QA span loss:</a:t>
            </a:r>
            <a:endParaRPr lang="en-US" sz="1600" dirty="0"/>
          </a:p>
        </p:txBody>
      </p:sp>
      <p:sp>
        <p:nvSpPr>
          <p:cNvPr id="8" name="Shape 6"/>
          <p:cNvSpPr/>
          <p:nvPr/>
        </p:nvSpPr>
        <p:spPr>
          <a:xfrm>
            <a:off x="629828" y="2229683"/>
            <a:ext cx="5093792" cy="560869"/>
          </a:xfrm>
          <a:custGeom>
            <a:avLst/>
            <a:gdLst/>
            <a:ahLst/>
            <a:cxnLst/>
            <a:rect l="l" t="t" r="r" b="b"/>
            <a:pathLst>
              <a:path w="5093792" h="560869">
                <a:moveTo>
                  <a:pt x="0" y="0"/>
                </a:moveTo>
                <a:lnTo>
                  <a:pt x="5093792" y="0"/>
                </a:lnTo>
                <a:lnTo>
                  <a:pt x="5093792" y="560869"/>
                </a:lnTo>
                <a:lnTo>
                  <a:pt x="0" y="560869"/>
                </a:lnTo>
                <a:lnTo>
                  <a:pt x="0" y="0"/>
                </a:lnTo>
                <a:close/>
              </a:path>
            </a:pathLst>
          </a:custGeom>
          <a:solidFill>
            <a:srgbClr val="FFFFFF"/>
          </a:solidFill>
          <a:ln w="12700">
            <a:solidFill>
              <a:srgbClr val="E5E7EB"/>
            </a:solidFill>
            <a:prstDash val="solid"/>
          </a:ln>
        </p:spPr>
      </p:sp>
      <p:sp>
        <p:nvSpPr>
          <p:cNvPr id="9" name="Text 7"/>
          <p:cNvSpPr/>
          <p:nvPr/>
        </p:nvSpPr>
        <p:spPr>
          <a:xfrm>
            <a:off x="735566" y="2381394"/>
            <a:ext cx="4882317" cy="257448"/>
          </a:xfrm>
          <a:prstGeom prst="rect">
            <a:avLst/>
          </a:prstGeom>
          <a:noFill/>
          <a:ln/>
        </p:spPr>
        <p:txBody>
          <a:bodyPr wrap="square" lIns="0" tIns="0" rIns="0" bIns="0" rtlCol="0" anchor="ctr"/>
          <a:lstStyle/>
          <a:p>
            <a:pPr algn="ctr">
              <a:lnSpc>
                <a:spcPct val="120000"/>
              </a:lnSpc>
            </a:pPr>
            <a:r>
              <a:rPr lang="en-US" sz="1448" b="1" dirty="0">
                <a:solidFill>
                  <a:srgbClr val="1F2937"/>
                </a:solidFill>
                <a:latin typeface="Sorts Mill Goudy" pitchFamily="34" charset="0"/>
                <a:ea typeface="Sorts Mill Goudy" pitchFamily="34" charset="-122"/>
                <a:cs typeface="Sorts Mill Goudy" pitchFamily="34" charset="-120"/>
              </a:rPr>
              <a:t>L = α · L</a:t>
            </a:r>
            <a:r>
              <a:rPr lang="en-US" sz="1086" b="1" dirty="0">
                <a:solidFill>
                  <a:srgbClr val="1F2937"/>
                </a:solidFill>
                <a:latin typeface="Sorts Mill Goudy" pitchFamily="34" charset="0"/>
                <a:ea typeface="Sorts Mill Goudy" pitchFamily="34" charset="-122"/>
                <a:cs typeface="Sorts Mill Goudy" pitchFamily="34" charset="-120"/>
              </a:rPr>
              <a:t>SRL</a:t>
            </a:r>
            <a:r>
              <a:rPr lang="en-US" sz="1448" b="1" dirty="0">
                <a:solidFill>
                  <a:srgbClr val="1F2937"/>
                </a:solidFill>
                <a:latin typeface="Sorts Mill Goudy" pitchFamily="34" charset="0"/>
                <a:ea typeface="Sorts Mill Goudy" pitchFamily="34" charset="-122"/>
                <a:cs typeface="Sorts Mill Goudy" pitchFamily="34" charset="-120"/>
              </a:rPr>
              <a:t> + (1-α) · L</a:t>
            </a:r>
            <a:r>
              <a:rPr lang="en-US" sz="1086" b="1" dirty="0">
                <a:solidFill>
                  <a:srgbClr val="1F2937"/>
                </a:solidFill>
                <a:latin typeface="Sorts Mill Goudy" pitchFamily="34" charset="0"/>
                <a:ea typeface="Sorts Mill Goudy" pitchFamily="34" charset="-122"/>
                <a:cs typeface="Sorts Mill Goudy" pitchFamily="34" charset="-120"/>
              </a:rPr>
              <a:t>QA</a:t>
            </a:r>
            <a:endParaRPr lang="en-US" sz="1600" dirty="0"/>
          </a:p>
        </p:txBody>
      </p:sp>
      <p:sp>
        <p:nvSpPr>
          <p:cNvPr id="10" name="Text 8"/>
          <p:cNvSpPr/>
          <p:nvPr/>
        </p:nvSpPr>
        <p:spPr>
          <a:xfrm>
            <a:off x="625231" y="2942262"/>
            <a:ext cx="5176543"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LSRL:</a:t>
            </a:r>
            <a:r>
              <a:rPr lang="en-US" sz="1158" dirty="0">
                <a:solidFill>
                  <a:srgbClr val="1F2937"/>
                </a:solidFill>
                <a:latin typeface="Sorts Mill Goudy" pitchFamily="34" charset="0"/>
                <a:ea typeface="Sorts Mill Goudy" pitchFamily="34" charset="-122"/>
                <a:cs typeface="Sorts Mill Goudy" pitchFamily="34" charset="-120"/>
              </a:rPr>
              <a:t> Cross-entropy loss for BIO tag prediction</a:t>
            </a:r>
            <a:endParaRPr lang="en-US" sz="1600" dirty="0"/>
          </a:p>
        </p:txBody>
      </p:sp>
      <p:sp>
        <p:nvSpPr>
          <p:cNvPr id="11" name="Text 9"/>
          <p:cNvSpPr/>
          <p:nvPr/>
        </p:nvSpPr>
        <p:spPr>
          <a:xfrm>
            <a:off x="625231" y="3236489"/>
            <a:ext cx="5176543"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LQA:</a:t>
            </a:r>
            <a:r>
              <a:rPr lang="en-US" sz="1158" dirty="0">
                <a:solidFill>
                  <a:srgbClr val="1F2937"/>
                </a:solidFill>
                <a:latin typeface="Sorts Mill Goudy" pitchFamily="34" charset="0"/>
                <a:ea typeface="Sorts Mill Goudy" pitchFamily="34" charset="-122"/>
                <a:cs typeface="Sorts Mill Goudy" pitchFamily="34" charset="-120"/>
              </a:rPr>
              <a:t> Span loss for start/end position prediction</a:t>
            </a:r>
            <a:endParaRPr lang="en-US" sz="1600" dirty="0"/>
          </a:p>
        </p:txBody>
      </p:sp>
      <p:sp>
        <p:nvSpPr>
          <p:cNvPr id="12" name="Text 10"/>
          <p:cNvSpPr/>
          <p:nvPr/>
        </p:nvSpPr>
        <p:spPr>
          <a:xfrm>
            <a:off x="625231" y="3530715"/>
            <a:ext cx="5176543"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α = 0.50:</a:t>
            </a:r>
            <a:r>
              <a:rPr lang="en-US" sz="1158" dirty="0">
                <a:solidFill>
                  <a:srgbClr val="1F2937"/>
                </a:solidFill>
                <a:latin typeface="Sorts Mill Goudy" pitchFamily="34" charset="0"/>
                <a:ea typeface="Sorts Mill Goudy" pitchFamily="34" charset="-122"/>
                <a:cs typeface="Sorts Mill Goudy" pitchFamily="34" charset="-120"/>
              </a:rPr>
              <a:t> Equal weighting of both objectives</a:t>
            </a:r>
            <a:endParaRPr lang="en-US" sz="1600" dirty="0"/>
          </a:p>
        </p:txBody>
      </p:sp>
      <p:sp>
        <p:nvSpPr>
          <p:cNvPr id="13" name="Shape 11"/>
          <p:cNvSpPr/>
          <p:nvPr/>
        </p:nvSpPr>
        <p:spPr>
          <a:xfrm>
            <a:off x="386172" y="4192724"/>
            <a:ext cx="5562715" cy="2317032"/>
          </a:xfrm>
          <a:custGeom>
            <a:avLst/>
            <a:gdLst/>
            <a:ahLst/>
            <a:cxnLst/>
            <a:rect l="l" t="t" r="r" b="b"/>
            <a:pathLst>
              <a:path w="5562715" h="2317032">
                <a:moveTo>
                  <a:pt x="0" y="0"/>
                </a:moveTo>
                <a:lnTo>
                  <a:pt x="5562715" y="0"/>
                </a:lnTo>
                <a:lnTo>
                  <a:pt x="5562715" y="2317032"/>
                </a:lnTo>
                <a:lnTo>
                  <a:pt x="0" y="2317032"/>
                </a:lnTo>
                <a:lnTo>
                  <a:pt x="0" y="0"/>
                </a:lnTo>
                <a:close/>
              </a:path>
            </a:pathLst>
          </a:custGeom>
          <a:solidFill>
            <a:srgbClr val="F9FAFB"/>
          </a:solidFill>
          <a:ln/>
        </p:spPr>
      </p:sp>
      <p:sp>
        <p:nvSpPr>
          <p:cNvPr id="14" name="Shape 12"/>
          <p:cNvSpPr/>
          <p:nvPr/>
        </p:nvSpPr>
        <p:spPr>
          <a:xfrm>
            <a:off x="386172" y="4192724"/>
            <a:ext cx="36778" cy="2317032"/>
          </a:xfrm>
          <a:custGeom>
            <a:avLst/>
            <a:gdLst/>
            <a:ahLst/>
            <a:cxnLst/>
            <a:rect l="l" t="t" r="r" b="b"/>
            <a:pathLst>
              <a:path w="36778" h="2317032">
                <a:moveTo>
                  <a:pt x="0" y="0"/>
                </a:moveTo>
                <a:lnTo>
                  <a:pt x="36778" y="0"/>
                </a:lnTo>
                <a:lnTo>
                  <a:pt x="36778" y="2317032"/>
                </a:lnTo>
                <a:lnTo>
                  <a:pt x="0" y="2317032"/>
                </a:lnTo>
                <a:lnTo>
                  <a:pt x="0" y="0"/>
                </a:lnTo>
                <a:close/>
              </a:path>
            </a:pathLst>
          </a:custGeom>
          <a:solidFill>
            <a:srgbClr val="8B0000"/>
          </a:solidFill>
          <a:ln/>
        </p:spPr>
      </p:sp>
      <p:sp>
        <p:nvSpPr>
          <p:cNvPr id="15" name="Text 13"/>
          <p:cNvSpPr/>
          <p:nvPr/>
        </p:nvSpPr>
        <p:spPr>
          <a:xfrm>
            <a:off x="625231" y="4413394"/>
            <a:ext cx="5194932" cy="257448"/>
          </a:xfrm>
          <a:prstGeom prst="rect">
            <a:avLst/>
          </a:prstGeom>
          <a:noFill/>
          <a:ln/>
        </p:spPr>
        <p:txBody>
          <a:bodyPr wrap="square" lIns="0" tIns="0" rIns="0" bIns="0" rtlCol="0" anchor="ctr"/>
          <a:lstStyle/>
          <a:p>
            <a:pPr>
              <a:lnSpc>
                <a:spcPct val="120000"/>
              </a:lnSpc>
            </a:pPr>
            <a:r>
              <a:rPr lang="en-US" sz="1448" b="1" dirty="0">
                <a:solidFill>
                  <a:srgbClr val="1F2937"/>
                </a:solidFill>
                <a:latin typeface="Sorts Mill Goudy" pitchFamily="34" charset="0"/>
                <a:ea typeface="Sorts Mill Goudy" pitchFamily="34" charset="-122"/>
                <a:cs typeface="Sorts Mill Goudy" pitchFamily="34" charset="-120"/>
              </a:rPr>
              <a:t>Training Configuration</a:t>
            </a:r>
            <a:endParaRPr lang="en-US" sz="1600" dirty="0"/>
          </a:p>
        </p:txBody>
      </p:sp>
      <p:sp>
        <p:nvSpPr>
          <p:cNvPr id="16" name="Shape 14"/>
          <p:cNvSpPr/>
          <p:nvPr/>
        </p:nvSpPr>
        <p:spPr>
          <a:xfrm>
            <a:off x="629828" y="4822552"/>
            <a:ext cx="2491729" cy="671204"/>
          </a:xfrm>
          <a:custGeom>
            <a:avLst/>
            <a:gdLst/>
            <a:ahLst/>
            <a:cxnLst/>
            <a:rect l="l" t="t" r="r" b="b"/>
            <a:pathLst>
              <a:path w="2491729" h="671204">
                <a:moveTo>
                  <a:pt x="0" y="0"/>
                </a:moveTo>
                <a:lnTo>
                  <a:pt x="2491729" y="0"/>
                </a:lnTo>
                <a:lnTo>
                  <a:pt x="2491729" y="671204"/>
                </a:lnTo>
                <a:lnTo>
                  <a:pt x="0" y="671204"/>
                </a:lnTo>
                <a:lnTo>
                  <a:pt x="0" y="0"/>
                </a:lnTo>
                <a:close/>
              </a:path>
            </a:pathLst>
          </a:custGeom>
          <a:solidFill>
            <a:srgbClr val="FFFFFF"/>
          </a:solidFill>
          <a:ln w="12700">
            <a:solidFill>
              <a:srgbClr val="E5E7EB"/>
            </a:solidFill>
            <a:prstDash val="solid"/>
          </a:ln>
        </p:spPr>
      </p:sp>
      <p:sp>
        <p:nvSpPr>
          <p:cNvPr id="17" name="Text 15"/>
          <p:cNvSpPr/>
          <p:nvPr/>
        </p:nvSpPr>
        <p:spPr>
          <a:xfrm>
            <a:off x="744760" y="4937484"/>
            <a:ext cx="2326226" cy="183891"/>
          </a:xfrm>
          <a:prstGeom prst="rect">
            <a:avLst/>
          </a:prstGeom>
          <a:noFill/>
          <a:ln/>
        </p:spPr>
        <p:txBody>
          <a:bodyPr wrap="square" lIns="0" tIns="0" rIns="0" bIns="0" rtlCol="0" anchor="ctr"/>
          <a:lstStyle/>
          <a:p>
            <a:pPr>
              <a:lnSpc>
                <a:spcPct val="120000"/>
              </a:lnSpc>
            </a:pPr>
            <a:r>
              <a:rPr lang="en-US" sz="1014" dirty="0">
                <a:solidFill>
                  <a:srgbClr val="6B7280"/>
                </a:solidFill>
                <a:latin typeface="Sorts Mill Goudy" pitchFamily="34" charset="0"/>
                <a:ea typeface="Sorts Mill Goudy" pitchFamily="34" charset="-122"/>
                <a:cs typeface="Sorts Mill Goudy" pitchFamily="34" charset="-120"/>
              </a:rPr>
              <a:t>Learning Rate</a:t>
            </a:r>
            <a:endParaRPr lang="en-US" sz="1600" dirty="0"/>
          </a:p>
        </p:txBody>
      </p:sp>
      <p:sp>
        <p:nvSpPr>
          <p:cNvPr id="18" name="Text 16"/>
          <p:cNvSpPr/>
          <p:nvPr/>
        </p:nvSpPr>
        <p:spPr>
          <a:xfrm>
            <a:off x="744760" y="5121376"/>
            <a:ext cx="2344615" cy="257448"/>
          </a:xfrm>
          <a:prstGeom prst="rect">
            <a:avLst/>
          </a:prstGeom>
          <a:noFill/>
          <a:ln/>
        </p:spPr>
        <p:txBody>
          <a:bodyPr wrap="square" lIns="0" tIns="0" rIns="0" bIns="0" rtlCol="0" anchor="ctr"/>
          <a:lstStyle/>
          <a:p>
            <a:pPr>
              <a:lnSpc>
                <a:spcPct val="130000"/>
              </a:lnSpc>
            </a:pPr>
            <a:r>
              <a:rPr lang="en-US" sz="1303" b="1" dirty="0">
                <a:solidFill>
                  <a:srgbClr val="8B0000"/>
                </a:solidFill>
                <a:latin typeface="Sorts Mill Goudy" pitchFamily="34" charset="0"/>
                <a:ea typeface="Sorts Mill Goudy" pitchFamily="34" charset="-122"/>
                <a:cs typeface="Sorts Mill Goudy" pitchFamily="34" charset="-120"/>
              </a:rPr>
              <a:t>0.001</a:t>
            </a:r>
            <a:endParaRPr lang="en-US" sz="1600" dirty="0"/>
          </a:p>
        </p:txBody>
      </p:sp>
      <p:sp>
        <p:nvSpPr>
          <p:cNvPr id="19" name="Shape 17"/>
          <p:cNvSpPr/>
          <p:nvPr/>
        </p:nvSpPr>
        <p:spPr>
          <a:xfrm>
            <a:off x="3236920" y="4822552"/>
            <a:ext cx="2491729" cy="671204"/>
          </a:xfrm>
          <a:custGeom>
            <a:avLst/>
            <a:gdLst/>
            <a:ahLst/>
            <a:cxnLst/>
            <a:rect l="l" t="t" r="r" b="b"/>
            <a:pathLst>
              <a:path w="2491729" h="671204">
                <a:moveTo>
                  <a:pt x="0" y="0"/>
                </a:moveTo>
                <a:lnTo>
                  <a:pt x="2491729" y="0"/>
                </a:lnTo>
                <a:lnTo>
                  <a:pt x="2491729" y="671204"/>
                </a:lnTo>
                <a:lnTo>
                  <a:pt x="0" y="671204"/>
                </a:lnTo>
                <a:lnTo>
                  <a:pt x="0" y="0"/>
                </a:lnTo>
                <a:close/>
              </a:path>
            </a:pathLst>
          </a:custGeom>
          <a:solidFill>
            <a:srgbClr val="FFFFFF"/>
          </a:solidFill>
          <a:ln w="12700">
            <a:solidFill>
              <a:srgbClr val="E5E7EB"/>
            </a:solidFill>
            <a:prstDash val="solid"/>
          </a:ln>
        </p:spPr>
      </p:sp>
      <p:sp>
        <p:nvSpPr>
          <p:cNvPr id="20" name="Text 18"/>
          <p:cNvSpPr/>
          <p:nvPr/>
        </p:nvSpPr>
        <p:spPr>
          <a:xfrm>
            <a:off x="3351852" y="4937484"/>
            <a:ext cx="2326226" cy="183891"/>
          </a:xfrm>
          <a:prstGeom prst="rect">
            <a:avLst/>
          </a:prstGeom>
          <a:noFill/>
          <a:ln/>
        </p:spPr>
        <p:txBody>
          <a:bodyPr wrap="square" lIns="0" tIns="0" rIns="0" bIns="0" rtlCol="0" anchor="ctr"/>
          <a:lstStyle/>
          <a:p>
            <a:pPr>
              <a:lnSpc>
                <a:spcPct val="120000"/>
              </a:lnSpc>
            </a:pPr>
            <a:r>
              <a:rPr lang="en-US" sz="1014" dirty="0">
                <a:solidFill>
                  <a:srgbClr val="6B7280"/>
                </a:solidFill>
                <a:latin typeface="Sorts Mill Goudy" pitchFamily="34" charset="0"/>
                <a:ea typeface="Sorts Mill Goudy" pitchFamily="34" charset="-122"/>
                <a:cs typeface="Sorts Mill Goudy" pitchFamily="34" charset="-120"/>
              </a:rPr>
              <a:t>Batch Size</a:t>
            </a:r>
            <a:endParaRPr lang="en-US" sz="1600" dirty="0"/>
          </a:p>
        </p:txBody>
      </p:sp>
      <p:sp>
        <p:nvSpPr>
          <p:cNvPr id="21" name="Text 19"/>
          <p:cNvSpPr/>
          <p:nvPr/>
        </p:nvSpPr>
        <p:spPr>
          <a:xfrm>
            <a:off x="3351852" y="5121376"/>
            <a:ext cx="2344615" cy="257448"/>
          </a:xfrm>
          <a:prstGeom prst="rect">
            <a:avLst/>
          </a:prstGeom>
          <a:noFill/>
          <a:ln/>
        </p:spPr>
        <p:txBody>
          <a:bodyPr wrap="square" lIns="0" tIns="0" rIns="0" bIns="0" rtlCol="0" anchor="ctr"/>
          <a:lstStyle/>
          <a:p>
            <a:pPr>
              <a:lnSpc>
                <a:spcPct val="130000"/>
              </a:lnSpc>
            </a:pPr>
            <a:r>
              <a:rPr lang="en-US" sz="1303" b="1" dirty="0">
                <a:solidFill>
                  <a:srgbClr val="8B0000"/>
                </a:solidFill>
                <a:latin typeface="Sorts Mill Goudy" pitchFamily="34" charset="0"/>
                <a:ea typeface="Sorts Mill Goudy" pitchFamily="34" charset="-122"/>
                <a:cs typeface="Sorts Mill Goudy" pitchFamily="34" charset="-120"/>
              </a:rPr>
              <a:t>64</a:t>
            </a:r>
            <a:endParaRPr lang="en-US" sz="1600" dirty="0"/>
          </a:p>
        </p:txBody>
      </p:sp>
      <p:sp>
        <p:nvSpPr>
          <p:cNvPr id="22" name="Shape 20"/>
          <p:cNvSpPr/>
          <p:nvPr/>
        </p:nvSpPr>
        <p:spPr>
          <a:xfrm>
            <a:off x="629828" y="5613285"/>
            <a:ext cx="2491729" cy="671204"/>
          </a:xfrm>
          <a:custGeom>
            <a:avLst/>
            <a:gdLst/>
            <a:ahLst/>
            <a:cxnLst/>
            <a:rect l="l" t="t" r="r" b="b"/>
            <a:pathLst>
              <a:path w="2491729" h="671204">
                <a:moveTo>
                  <a:pt x="0" y="0"/>
                </a:moveTo>
                <a:lnTo>
                  <a:pt x="2491729" y="0"/>
                </a:lnTo>
                <a:lnTo>
                  <a:pt x="2491729" y="671204"/>
                </a:lnTo>
                <a:lnTo>
                  <a:pt x="0" y="671204"/>
                </a:lnTo>
                <a:lnTo>
                  <a:pt x="0" y="0"/>
                </a:lnTo>
                <a:close/>
              </a:path>
            </a:pathLst>
          </a:custGeom>
          <a:solidFill>
            <a:srgbClr val="FFFFFF"/>
          </a:solidFill>
          <a:ln w="12700">
            <a:solidFill>
              <a:srgbClr val="E5E7EB"/>
            </a:solidFill>
            <a:prstDash val="solid"/>
          </a:ln>
        </p:spPr>
      </p:sp>
      <p:sp>
        <p:nvSpPr>
          <p:cNvPr id="23" name="Text 21"/>
          <p:cNvSpPr/>
          <p:nvPr/>
        </p:nvSpPr>
        <p:spPr>
          <a:xfrm>
            <a:off x="744760" y="5728217"/>
            <a:ext cx="2326226" cy="183891"/>
          </a:xfrm>
          <a:prstGeom prst="rect">
            <a:avLst/>
          </a:prstGeom>
          <a:noFill/>
          <a:ln/>
        </p:spPr>
        <p:txBody>
          <a:bodyPr wrap="square" lIns="0" tIns="0" rIns="0" bIns="0" rtlCol="0" anchor="ctr"/>
          <a:lstStyle/>
          <a:p>
            <a:pPr>
              <a:lnSpc>
                <a:spcPct val="120000"/>
              </a:lnSpc>
            </a:pPr>
            <a:r>
              <a:rPr lang="en-US" sz="1014" dirty="0">
                <a:solidFill>
                  <a:srgbClr val="6B7280"/>
                </a:solidFill>
                <a:latin typeface="Sorts Mill Goudy" pitchFamily="34" charset="0"/>
                <a:ea typeface="Sorts Mill Goudy" pitchFamily="34" charset="-122"/>
                <a:cs typeface="Sorts Mill Goudy" pitchFamily="34" charset="-120"/>
              </a:rPr>
              <a:t>Dropout</a:t>
            </a:r>
            <a:endParaRPr lang="en-US" sz="1600" dirty="0"/>
          </a:p>
        </p:txBody>
      </p:sp>
      <p:sp>
        <p:nvSpPr>
          <p:cNvPr id="24" name="Text 22"/>
          <p:cNvSpPr/>
          <p:nvPr/>
        </p:nvSpPr>
        <p:spPr>
          <a:xfrm>
            <a:off x="744760" y="5912109"/>
            <a:ext cx="2344615" cy="257448"/>
          </a:xfrm>
          <a:prstGeom prst="rect">
            <a:avLst/>
          </a:prstGeom>
          <a:noFill/>
          <a:ln/>
        </p:spPr>
        <p:txBody>
          <a:bodyPr wrap="square" lIns="0" tIns="0" rIns="0" bIns="0" rtlCol="0" anchor="ctr"/>
          <a:lstStyle/>
          <a:p>
            <a:pPr>
              <a:lnSpc>
                <a:spcPct val="130000"/>
              </a:lnSpc>
            </a:pPr>
            <a:r>
              <a:rPr lang="en-US" sz="1303" b="1" dirty="0">
                <a:solidFill>
                  <a:srgbClr val="8B0000"/>
                </a:solidFill>
                <a:latin typeface="Sorts Mill Goudy" pitchFamily="34" charset="0"/>
                <a:ea typeface="Sorts Mill Goudy" pitchFamily="34" charset="-122"/>
                <a:cs typeface="Sorts Mill Goudy" pitchFamily="34" charset="-120"/>
              </a:rPr>
              <a:t>0.30</a:t>
            </a:r>
            <a:endParaRPr lang="en-US" sz="1600" dirty="0"/>
          </a:p>
        </p:txBody>
      </p:sp>
      <p:sp>
        <p:nvSpPr>
          <p:cNvPr id="25" name="Shape 23"/>
          <p:cNvSpPr/>
          <p:nvPr/>
        </p:nvSpPr>
        <p:spPr>
          <a:xfrm>
            <a:off x="3236920" y="5613285"/>
            <a:ext cx="2491729" cy="671204"/>
          </a:xfrm>
          <a:custGeom>
            <a:avLst/>
            <a:gdLst/>
            <a:ahLst/>
            <a:cxnLst/>
            <a:rect l="l" t="t" r="r" b="b"/>
            <a:pathLst>
              <a:path w="2491729" h="671204">
                <a:moveTo>
                  <a:pt x="0" y="0"/>
                </a:moveTo>
                <a:lnTo>
                  <a:pt x="2491729" y="0"/>
                </a:lnTo>
                <a:lnTo>
                  <a:pt x="2491729" y="671204"/>
                </a:lnTo>
                <a:lnTo>
                  <a:pt x="0" y="671204"/>
                </a:lnTo>
                <a:lnTo>
                  <a:pt x="0" y="0"/>
                </a:lnTo>
                <a:close/>
              </a:path>
            </a:pathLst>
          </a:custGeom>
          <a:solidFill>
            <a:srgbClr val="FFFFFF"/>
          </a:solidFill>
          <a:ln w="12700">
            <a:solidFill>
              <a:srgbClr val="E5E7EB"/>
            </a:solidFill>
            <a:prstDash val="solid"/>
          </a:ln>
        </p:spPr>
      </p:sp>
      <p:sp>
        <p:nvSpPr>
          <p:cNvPr id="26" name="Text 24"/>
          <p:cNvSpPr/>
          <p:nvPr/>
        </p:nvSpPr>
        <p:spPr>
          <a:xfrm>
            <a:off x="3351852" y="5728217"/>
            <a:ext cx="2326226" cy="183891"/>
          </a:xfrm>
          <a:prstGeom prst="rect">
            <a:avLst/>
          </a:prstGeom>
          <a:noFill/>
          <a:ln/>
        </p:spPr>
        <p:txBody>
          <a:bodyPr wrap="square" lIns="0" tIns="0" rIns="0" bIns="0" rtlCol="0" anchor="ctr"/>
          <a:lstStyle/>
          <a:p>
            <a:pPr>
              <a:lnSpc>
                <a:spcPct val="120000"/>
              </a:lnSpc>
            </a:pPr>
            <a:r>
              <a:rPr lang="en-US" sz="1014" dirty="0">
                <a:solidFill>
                  <a:srgbClr val="6B7280"/>
                </a:solidFill>
                <a:latin typeface="Sorts Mill Goudy" pitchFamily="34" charset="0"/>
                <a:ea typeface="Sorts Mill Goudy" pitchFamily="34" charset="-122"/>
                <a:cs typeface="Sorts Mill Goudy" pitchFamily="34" charset="-120"/>
              </a:rPr>
              <a:t>Best Epoch</a:t>
            </a:r>
            <a:endParaRPr lang="en-US" sz="1600" dirty="0"/>
          </a:p>
        </p:txBody>
      </p:sp>
      <p:sp>
        <p:nvSpPr>
          <p:cNvPr id="27" name="Text 25"/>
          <p:cNvSpPr/>
          <p:nvPr/>
        </p:nvSpPr>
        <p:spPr>
          <a:xfrm>
            <a:off x="3351852" y="5912109"/>
            <a:ext cx="2344615" cy="257448"/>
          </a:xfrm>
          <a:prstGeom prst="rect">
            <a:avLst/>
          </a:prstGeom>
          <a:noFill/>
          <a:ln/>
        </p:spPr>
        <p:txBody>
          <a:bodyPr wrap="square" lIns="0" tIns="0" rIns="0" bIns="0" rtlCol="0" anchor="ctr"/>
          <a:lstStyle/>
          <a:p>
            <a:pPr>
              <a:lnSpc>
                <a:spcPct val="130000"/>
              </a:lnSpc>
            </a:pPr>
            <a:r>
              <a:rPr lang="en-US" sz="1303" b="1" dirty="0">
                <a:solidFill>
                  <a:srgbClr val="8B0000"/>
                </a:solidFill>
                <a:latin typeface="Sorts Mill Goudy" pitchFamily="34" charset="0"/>
                <a:ea typeface="Sorts Mill Goudy" pitchFamily="34" charset="-122"/>
                <a:cs typeface="Sorts Mill Goudy" pitchFamily="34" charset="-120"/>
              </a:rPr>
              <a:t>6</a:t>
            </a:r>
            <a:endParaRPr lang="en-US" sz="1600" dirty="0"/>
          </a:p>
        </p:txBody>
      </p:sp>
      <p:sp>
        <p:nvSpPr>
          <p:cNvPr id="28" name="Shape 26"/>
          <p:cNvSpPr/>
          <p:nvPr/>
        </p:nvSpPr>
        <p:spPr>
          <a:xfrm>
            <a:off x="6244119" y="1213683"/>
            <a:ext cx="5581104" cy="4670842"/>
          </a:xfrm>
          <a:custGeom>
            <a:avLst/>
            <a:gdLst/>
            <a:ahLst/>
            <a:cxnLst/>
            <a:rect l="l" t="t" r="r" b="b"/>
            <a:pathLst>
              <a:path w="5581104" h="4670842">
                <a:moveTo>
                  <a:pt x="0" y="0"/>
                </a:moveTo>
                <a:lnTo>
                  <a:pt x="5581104" y="0"/>
                </a:lnTo>
                <a:lnTo>
                  <a:pt x="5581104" y="4670842"/>
                </a:lnTo>
                <a:lnTo>
                  <a:pt x="0" y="4670842"/>
                </a:lnTo>
                <a:lnTo>
                  <a:pt x="0" y="0"/>
                </a:lnTo>
                <a:close/>
              </a:path>
            </a:pathLst>
          </a:custGeom>
          <a:solidFill>
            <a:srgbClr val="F9FAFB"/>
          </a:solidFill>
          <a:ln/>
        </p:spPr>
      </p:sp>
      <p:sp>
        <p:nvSpPr>
          <p:cNvPr id="29" name="Text 27"/>
          <p:cNvSpPr/>
          <p:nvPr/>
        </p:nvSpPr>
        <p:spPr>
          <a:xfrm>
            <a:off x="6464788" y="1434353"/>
            <a:ext cx="5231710" cy="257448"/>
          </a:xfrm>
          <a:prstGeom prst="rect">
            <a:avLst/>
          </a:prstGeom>
          <a:noFill/>
          <a:ln/>
        </p:spPr>
        <p:txBody>
          <a:bodyPr wrap="square" lIns="0" tIns="0" rIns="0" bIns="0" rtlCol="0" anchor="ctr"/>
          <a:lstStyle/>
          <a:p>
            <a:pPr>
              <a:lnSpc>
                <a:spcPct val="120000"/>
              </a:lnSpc>
            </a:pPr>
            <a:r>
              <a:rPr lang="en-US" sz="1448" b="1" dirty="0">
                <a:solidFill>
                  <a:srgbClr val="1F2937"/>
                </a:solidFill>
                <a:latin typeface="Sorts Mill Goudy" pitchFamily="34" charset="0"/>
                <a:ea typeface="Sorts Mill Goudy" pitchFamily="34" charset="-122"/>
                <a:cs typeface="Sorts Mill Goudy" pitchFamily="34" charset="-120"/>
              </a:rPr>
              <a:t>Inference Process</a:t>
            </a:r>
            <a:endParaRPr lang="en-US" sz="1600" dirty="0"/>
          </a:p>
        </p:txBody>
      </p:sp>
      <p:sp>
        <p:nvSpPr>
          <p:cNvPr id="30" name="Shape 28"/>
          <p:cNvSpPr/>
          <p:nvPr/>
        </p:nvSpPr>
        <p:spPr>
          <a:xfrm>
            <a:off x="6464788" y="1838914"/>
            <a:ext cx="367783" cy="367783"/>
          </a:xfrm>
          <a:custGeom>
            <a:avLst/>
            <a:gdLst/>
            <a:ahLst/>
            <a:cxnLst/>
            <a:rect l="l" t="t" r="r" b="b"/>
            <a:pathLst>
              <a:path w="367783" h="367783">
                <a:moveTo>
                  <a:pt x="0" y="0"/>
                </a:moveTo>
                <a:lnTo>
                  <a:pt x="367783" y="0"/>
                </a:lnTo>
                <a:lnTo>
                  <a:pt x="367783" y="367783"/>
                </a:lnTo>
                <a:lnTo>
                  <a:pt x="0" y="367783"/>
                </a:lnTo>
                <a:lnTo>
                  <a:pt x="0" y="0"/>
                </a:lnTo>
                <a:close/>
              </a:path>
            </a:pathLst>
          </a:custGeom>
          <a:solidFill>
            <a:srgbClr val="8B0000"/>
          </a:solidFill>
          <a:ln/>
        </p:spPr>
      </p:sp>
      <p:sp>
        <p:nvSpPr>
          <p:cNvPr id="31" name="Text 29"/>
          <p:cNvSpPr/>
          <p:nvPr/>
        </p:nvSpPr>
        <p:spPr>
          <a:xfrm>
            <a:off x="6428010" y="1838914"/>
            <a:ext cx="441339" cy="367783"/>
          </a:xfrm>
          <a:prstGeom prst="rect">
            <a:avLst/>
          </a:prstGeom>
          <a:noFill/>
          <a:ln/>
        </p:spPr>
        <p:txBody>
          <a:bodyPr wrap="square" lIns="0" tIns="0" rIns="0" bIns="0" rtlCol="0" anchor="ctr"/>
          <a:lstStyle/>
          <a:p>
            <a:pPr algn="ctr">
              <a:lnSpc>
                <a:spcPct val="120000"/>
              </a:lnSpc>
            </a:pPr>
            <a:r>
              <a:rPr lang="en-US" sz="1158" b="1" dirty="0">
                <a:solidFill>
                  <a:srgbClr val="FFFFFF"/>
                </a:solidFill>
                <a:latin typeface="Sorts Mill Goudy" pitchFamily="34" charset="0"/>
                <a:ea typeface="Sorts Mill Goudy" pitchFamily="34" charset="-122"/>
                <a:cs typeface="Sorts Mill Goudy" pitchFamily="34" charset="-120"/>
              </a:rPr>
              <a:t>1</a:t>
            </a:r>
            <a:endParaRPr lang="en-US" sz="1600" dirty="0"/>
          </a:p>
        </p:txBody>
      </p:sp>
      <p:sp>
        <p:nvSpPr>
          <p:cNvPr id="32" name="Shape 30"/>
          <p:cNvSpPr/>
          <p:nvPr/>
        </p:nvSpPr>
        <p:spPr>
          <a:xfrm>
            <a:off x="6984282" y="1843511"/>
            <a:ext cx="4615674" cy="781538"/>
          </a:xfrm>
          <a:custGeom>
            <a:avLst/>
            <a:gdLst/>
            <a:ahLst/>
            <a:cxnLst/>
            <a:rect l="l" t="t" r="r" b="b"/>
            <a:pathLst>
              <a:path w="4615674" h="781538">
                <a:moveTo>
                  <a:pt x="0" y="0"/>
                </a:moveTo>
                <a:lnTo>
                  <a:pt x="4615674" y="0"/>
                </a:lnTo>
                <a:lnTo>
                  <a:pt x="4615674" y="781538"/>
                </a:lnTo>
                <a:lnTo>
                  <a:pt x="0" y="781538"/>
                </a:lnTo>
                <a:lnTo>
                  <a:pt x="0" y="0"/>
                </a:lnTo>
                <a:close/>
              </a:path>
            </a:pathLst>
          </a:custGeom>
          <a:solidFill>
            <a:srgbClr val="FFFFFF"/>
          </a:solidFill>
          <a:ln w="12700">
            <a:solidFill>
              <a:srgbClr val="E5E7EB"/>
            </a:solidFill>
            <a:prstDash val="solid"/>
          </a:ln>
        </p:spPr>
      </p:sp>
      <p:sp>
        <p:nvSpPr>
          <p:cNvPr id="33" name="Text 31"/>
          <p:cNvSpPr/>
          <p:nvPr/>
        </p:nvSpPr>
        <p:spPr>
          <a:xfrm>
            <a:off x="7135992" y="1995222"/>
            <a:ext cx="4385810"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Decode Role Spans</a:t>
            </a:r>
            <a:endParaRPr lang="en-US" sz="1600" dirty="0"/>
          </a:p>
        </p:txBody>
      </p:sp>
      <p:sp>
        <p:nvSpPr>
          <p:cNvPr id="34" name="Text 32"/>
          <p:cNvSpPr/>
          <p:nvPr/>
        </p:nvSpPr>
        <p:spPr>
          <a:xfrm>
            <a:off x="7135992" y="2252670"/>
            <a:ext cx="4385810" cy="220670"/>
          </a:xfrm>
          <a:prstGeom prst="rect">
            <a:avLst/>
          </a:prstGeom>
          <a:noFill/>
          <a:ln/>
        </p:spPr>
        <p:txBody>
          <a:bodyPr wrap="square" lIns="0" tIns="0" rIns="0" bIns="0" rtlCol="0" anchor="ctr"/>
          <a:lstStyle/>
          <a:p>
            <a:pPr>
              <a:lnSpc>
                <a:spcPct val="120000"/>
              </a:lnSpc>
            </a:pPr>
            <a:r>
              <a:rPr lang="en-US" sz="1158" dirty="0">
                <a:solidFill>
                  <a:srgbClr val="6B7280"/>
                </a:solidFill>
                <a:latin typeface="Sorts Mill Goudy" pitchFamily="34" charset="0"/>
                <a:ea typeface="Sorts Mill Goudy" pitchFamily="34" charset="-122"/>
                <a:cs typeface="Sorts Mill Goudy" pitchFamily="34" charset="-120"/>
              </a:rPr>
              <a:t>Extract candidate argument spans from BIO predictions</a:t>
            </a:r>
            <a:endParaRPr lang="en-US" sz="1600" dirty="0"/>
          </a:p>
        </p:txBody>
      </p:sp>
      <p:sp>
        <p:nvSpPr>
          <p:cNvPr id="35" name="Shape 33"/>
          <p:cNvSpPr/>
          <p:nvPr/>
        </p:nvSpPr>
        <p:spPr>
          <a:xfrm>
            <a:off x="6464788" y="2776760"/>
            <a:ext cx="367783" cy="367783"/>
          </a:xfrm>
          <a:custGeom>
            <a:avLst/>
            <a:gdLst/>
            <a:ahLst/>
            <a:cxnLst/>
            <a:rect l="l" t="t" r="r" b="b"/>
            <a:pathLst>
              <a:path w="367783" h="367783">
                <a:moveTo>
                  <a:pt x="0" y="0"/>
                </a:moveTo>
                <a:lnTo>
                  <a:pt x="367783" y="0"/>
                </a:lnTo>
                <a:lnTo>
                  <a:pt x="367783" y="367783"/>
                </a:lnTo>
                <a:lnTo>
                  <a:pt x="0" y="367783"/>
                </a:lnTo>
                <a:lnTo>
                  <a:pt x="0" y="0"/>
                </a:lnTo>
                <a:close/>
              </a:path>
            </a:pathLst>
          </a:custGeom>
          <a:solidFill>
            <a:srgbClr val="8B0000"/>
          </a:solidFill>
          <a:ln/>
        </p:spPr>
      </p:sp>
      <p:sp>
        <p:nvSpPr>
          <p:cNvPr id="36" name="Text 34"/>
          <p:cNvSpPr/>
          <p:nvPr/>
        </p:nvSpPr>
        <p:spPr>
          <a:xfrm>
            <a:off x="6428010" y="2776760"/>
            <a:ext cx="441339" cy="367783"/>
          </a:xfrm>
          <a:prstGeom prst="rect">
            <a:avLst/>
          </a:prstGeom>
          <a:noFill/>
          <a:ln/>
        </p:spPr>
        <p:txBody>
          <a:bodyPr wrap="square" lIns="0" tIns="0" rIns="0" bIns="0" rtlCol="0" anchor="ctr"/>
          <a:lstStyle/>
          <a:p>
            <a:pPr algn="ctr">
              <a:lnSpc>
                <a:spcPct val="120000"/>
              </a:lnSpc>
            </a:pPr>
            <a:r>
              <a:rPr lang="en-US" sz="1158" b="1" dirty="0">
                <a:solidFill>
                  <a:srgbClr val="FFFFFF"/>
                </a:solidFill>
                <a:latin typeface="Sorts Mill Goudy" pitchFamily="34" charset="0"/>
                <a:ea typeface="Sorts Mill Goudy" pitchFamily="34" charset="-122"/>
                <a:cs typeface="Sorts Mill Goudy" pitchFamily="34" charset="-120"/>
              </a:rPr>
              <a:t>2</a:t>
            </a:r>
            <a:endParaRPr lang="en-US" sz="1600" dirty="0"/>
          </a:p>
        </p:txBody>
      </p:sp>
      <p:sp>
        <p:nvSpPr>
          <p:cNvPr id="37" name="Shape 35"/>
          <p:cNvSpPr/>
          <p:nvPr/>
        </p:nvSpPr>
        <p:spPr>
          <a:xfrm>
            <a:off x="6984282" y="2781357"/>
            <a:ext cx="4615674" cy="1002208"/>
          </a:xfrm>
          <a:custGeom>
            <a:avLst/>
            <a:gdLst/>
            <a:ahLst/>
            <a:cxnLst/>
            <a:rect l="l" t="t" r="r" b="b"/>
            <a:pathLst>
              <a:path w="4615674" h="1002208">
                <a:moveTo>
                  <a:pt x="0" y="0"/>
                </a:moveTo>
                <a:lnTo>
                  <a:pt x="4615674" y="0"/>
                </a:lnTo>
                <a:lnTo>
                  <a:pt x="4615674" y="1002208"/>
                </a:lnTo>
                <a:lnTo>
                  <a:pt x="0" y="1002208"/>
                </a:lnTo>
                <a:lnTo>
                  <a:pt x="0" y="0"/>
                </a:lnTo>
                <a:close/>
              </a:path>
            </a:pathLst>
          </a:custGeom>
          <a:solidFill>
            <a:srgbClr val="FFFFFF"/>
          </a:solidFill>
          <a:ln w="12700">
            <a:solidFill>
              <a:srgbClr val="E5E7EB"/>
            </a:solidFill>
            <a:prstDash val="solid"/>
          </a:ln>
        </p:spPr>
      </p:sp>
      <p:sp>
        <p:nvSpPr>
          <p:cNvPr id="38" name="Text 36"/>
          <p:cNvSpPr/>
          <p:nvPr/>
        </p:nvSpPr>
        <p:spPr>
          <a:xfrm>
            <a:off x="7135992" y="2933068"/>
            <a:ext cx="4385810"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Compute Similarity</a:t>
            </a:r>
            <a:endParaRPr lang="en-US" sz="1600" dirty="0"/>
          </a:p>
        </p:txBody>
      </p:sp>
      <p:sp>
        <p:nvSpPr>
          <p:cNvPr id="39" name="Text 37"/>
          <p:cNvSpPr/>
          <p:nvPr/>
        </p:nvSpPr>
        <p:spPr>
          <a:xfrm>
            <a:off x="7135992" y="3190516"/>
            <a:ext cx="4385810" cy="441339"/>
          </a:xfrm>
          <a:prstGeom prst="rect">
            <a:avLst/>
          </a:prstGeom>
          <a:noFill/>
          <a:ln/>
        </p:spPr>
        <p:txBody>
          <a:bodyPr wrap="square" lIns="0" tIns="0" rIns="0" bIns="0" rtlCol="0" anchor="ctr"/>
          <a:lstStyle/>
          <a:p>
            <a:pPr>
              <a:lnSpc>
                <a:spcPct val="120000"/>
              </a:lnSpc>
            </a:pPr>
            <a:r>
              <a:rPr lang="en-US" sz="1158" dirty="0">
                <a:solidFill>
                  <a:srgbClr val="6B7280"/>
                </a:solidFill>
                <a:latin typeface="Sorts Mill Goudy" pitchFamily="34" charset="0"/>
                <a:ea typeface="Sorts Mill Goudy" pitchFamily="34" charset="-122"/>
                <a:cs typeface="Sorts Mill Goudy" pitchFamily="34" charset="-120"/>
              </a:rPr>
              <a:t>Calculate cosine similarity between question vector and each candidate span</a:t>
            </a:r>
            <a:endParaRPr lang="en-US" sz="1600" dirty="0"/>
          </a:p>
        </p:txBody>
      </p:sp>
      <p:sp>
        <p:nvSpPr>
          <p:cNvPr id="40" name="Shape 38"/>
          <p:cNvSpPr/>
          <p:nvPr/>
        </p:nvSpPr>
        <p:spPr>
          <a:xfrm>
            <a:off x="6464788" y="3935276"/>
            <a:ext cx="367783" cy="367783"/>
          </a:xfrm>
          <a:custGeom>
            <a:avLst/>
            <a:gdLst/>
            <a:ahLst/>
            <a:cxnLst/>
            <a:rect l="l" t="t" r="r" b="b"/>
            <a:pathLst>
              <a:path w="367783" h="367783">
                <a:moveTo>
                  <a:pt x="0" y="0"/>
                </a:moveTo>
                <a:lnTo>
                  <a:pt x="367783" y="0"/>
                </a:lnTo>
                <a:lnTo>
                  <a:pt x="367783" y="367783"/>
                </a:lnTo>
                <a:lnTo>
                  <a:pt x="0" y="367783"/>
                </a:lnTo>
                <a:lnTo>
                  <a:pt x="0" y="0"/>
                </a:lnTo>
                <a:close/>
              </a:path>
            </a:pathLst>
          </a:custGeom>
          <a:solidFill>
            <a:srgbClr val="8B0000"/>
          </a:solidFill>
          <a:ln/>
        </p:spPr>
      </p:sp>
      <p:sp>
        <p:nvSpPr>
          <p:cNvPr id="41" name="Text 39"/>
          <p:cNvSpPr/>
          <p:nvPr/>
        </p:nvSpPr>
        <p:spPr>
          <a:xfrm>
            <a:off x="6428010" y="3935276"/>
            <a:ext cx="441339" cy="367783"/>
          </a:xfrm>
          <a:prstGeom prst="rect">
            <a:avLst/>
          </a:prstGeom>
          <a:noFill/>
          <a:ln/>
        </p:spPr>
        <p:txBody>
          <a:bodyPr wrap="square" lIns="0" tIns="0" rIns="0" bIns="0" rtlCol="0" anchor="ctr"/>
          <a:lstStyle/>
          <a:p>
            <a:pPr algn="ctr">
              <a:lnSpc>
                <a:spcPct val="120000"/>
              </a:lnSpc>
            </a:pPr>
            <a:r>
              <a:rPr lang="en-US" sz="1158" b="1" dirty="0">
                <a:solidFill>
                  <a:srgbClr val="FFFFFF"/>
                </a:solidFill>
                <a:latin typeface="Sorts Mill Goudy" pitchFamily="34" charset="0"/>
                <a:ea typeface="Sorts Mill Goudy" pitchFamily="34" charset="-122"/>
                <a:cs typeface="Sorts Mill Goudy" pitchFamily="34" charset="-120"/>
              </a:rPr>
              <a:t>3</a:t>
            </a:r>
            <a:endParaRPr lang="en-US" sz="1600" dirty="0"/>
          </a:p>
        </p:txBody>
      </p:sp>
      <p:sp>
        <p:nvSpPr>
          <p:cNvPr id="42" name="Shape 40"/>
          <p:cNvSpPr/>
          <p:nvPr/>
        </p:nvSpPr>
        <p:spPr>
          <a:xfrm>
            <a:off x="6984282" y="3939873"/>
            <a:ext cx="4615674" cy="781538"/>
          </a:xfrm>
          <a:custGeom>
            <a:avLst/>
            <a:gdLst/>
            <a:ahLst/>
            <a:cxnLst/>
            <a:rect l="l" t="t" r="r" b="b"/>
            <a:pathLst>
              <a:path w="4615674" h="781538">
                <a:moveTo>
                  <a:pt x="0" y="0"/>
                </a:moveTo>
                <a:lnTo>
                  <a:pt x="4615674" y="0"/>
                </a:lnTo>
                <a:lnTo>
                  <a:pt x="4615674" y="781538"/>
                </a:lnTo>
                <a:lnTo>
                  <a:pt x="0" y="781538"/>
                </a:lnTo>
                <a:lnTo>
                  <a:pt x="0" y="0"/>
                </a:lnTo>
                <a:close/>
              </a:path>
            </a:pathLst>
          </a:custGeom>
          <a:solidFill>
            <a:srgbClr val="FFFFFF"/>
          </a:solidFill>
          <a:ln w="12700">
            <a:solidFill>
              <a:srgbClr val="E5E7EB"/>
            </a:solidFill>
            <a:prstDash val="solid"/>
          </a:ln>
        </p:spPr>
      </p:sp>
      <p:sp>
        <p:nvSpPr>
          <p:cNvPr id="43" name="Text 41"/>
          <p:cNvSpPr/>
          <p:nvPr/>
        </p:nvSpPr>
        <p:spPr>
          <a:xfrm>
            <a:off x="7135992" y="4091584"/>
            <a:ext cx="4385810"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Combine Scores</a:t>
            </a:r>
            <a:endParaRPr lang="en-US" sz="1600" dirty="0"/>
          </a:p>
        </p:txBody>
      </p:sp>
      <p:sp>
        <p:nvSpPr>
          <p:cNvPr id="44" name="Text 42"/>
          <p:cNvSpPr/>
          <p:nvPr/>
        </p:nvSpPr>
        <p:spPr>
          <a:xfrm>
            <a:off x="7135992" y="4349032"/>
            <a:ext cx="4385810" cy="220670"/>
          </a:xfrm>
          <a:prstGeom prst="rect">
            <a:avLst/>
          </a:prstGeom>
          <a:noFill/>
          <a:ln/>
        </p:spPr>
        <p:txBody>
          <a:bodyPr wrap="square" lIns="0" tIns="0" rIns="0" bIns="0" rtlCol="0" anchor="ctr"/>
          <a:lstStyle/>
          <a:p>
            <a:pPr>
              <a:lnSpc>
                <a:spcPct val="120000"/>
              </a:lnSpc>
            </a:pPr>
            <a:r>
              <a:rPr lang="en-US" sz="1158" dirty="0">
                <a:solidFill>
                  <a:srgbClr val="6B7280"/>
                </a:solidFill>
                <a:latin typeface="Sorts Mill Goudy" pitchFamily="34" charset="0"/>
                <a:ea typeface="Sorts Mill Goudy" pitchFamily="34" charset="-122"/>
                <a:cs typeface="Sorts Mill Goudy" pitchFamily="34" charset="-120"/>
              </a:rPr>
              <a:t>Merge similarity with boundary probabilities from span scorer</a:t>
            </a:r>
            <a:endParaRPr lang="en-US" sz="1600" dirty="0"/>
          </a:p>
        </p:txBody>
      </p:sp>
      <p:sp>
        <p:nvSpPr>
          <p:cNvPr id="45" name="Shape 43"/>
          <p:cNvSpPr/>
          <p:nvPr/>
        </p:nvSpPr>
        <p:spPr>
          <a:xfrm>
            <a:off x="6464788" y="4873122"/>
            <a:ext cx="367783" cy="367783"/>
          </a:xfrm>
          <a:custGeom>
            <a:avLst/>
            <a:gdLst/>
            <a:ahLst/>
            <a:cxnLst/>
            <a:rect l="l" t="t" r="r" b="b"/>
            <a:pathLst>
              <a:path w="367783" h="367783">
                <a:moveTo>
                  <a:pt x="0" y="0"/>
                </a:moveTo>
                <a:lnTo>
                  <a:pt x="367783" y="0"/>
                </a:lnTo>
                <a:lnTo>
                  <a:pt x="367783" y="367783"/>
                </a:lnTo>
                <a:lnTo>
                  <a:pt x="0" y="367783"/>
                </a:lnTo>
                <a:lnTo>
                  <a:pt x="0" y="0"/>
                </a:lnTo>
                <a:close/>
              </a:path>
            </a:pathLst>
          </a:custGeom>
          <a:solidFill>
            <a:srgbClr val="8B0000"/>
          </a:solidFill>
          <a:ln/>
        </p:spPr>
      </p:sp>
      <p:sp>
        <p:nvSpPr>
          <p:cNvPr id="46" name="Text 44"/>
          <p:cNvSpPr/>
          <p:nvPr/>
        </p:nvSpPr>
        <p:spPr>
          <a:xfrm>
            <a:off x="6428010" y="4873122"/>
            <a:ext cx="441339" cy="367783"/>
          </a:xfrm>
          <a:prstGeom prst="rect">
            <a:avLst/>
          </a:prstGeom>
          <a:noFill/>
          <a:ln/>
        </p:spPr>
        <p:txBody>
          <a:bodyPr wrap="square" lIns="0" tIns="0" rIns="0" bIns="0" rtlCol="0" anchor="ctr"/>
          <a:lstStyle/>
          <a:p>
            <a:pPr algn="ctr">
              <a:lnSpc>
                <a:spcPct val="120000"/>
              </a:lnSpc>
            </a:pPr>
            <a:r>
              <a:rPr lang="en-US" sz="1158" b="1" dirty="0">
                <a:solidFill>
                  <a:srgbClr val="FFFFFF"/>
                </a:solidFill>
                <a:latin typeface="Sorts Mill Goudy" pitchFamily="34" charset="0"/>
                <a:ea typeface="Sorts Mill Goudy" pitchFamily="34" charset="-122"/>
                <a:cs typeface="Sorts Mill Goudy" pitchFamily="34" charset="-120"/>
              </a:rPr>
              <a:t>4</a:t>
            </a:r>
            <a:endParaRPr lang="en-US" sz="1600" dirty="0"/>
          </a:p>
        </p:txBody>
      </p:sp>
      <p:sp>
        <p:nvSpPr>
          <p:cNvPr id="47" name="Shape 45"/>
          <p:cNvSpPr/>
          <p:nvPr/>
        </p:nvSpPr>
        <p:spPr>
          <a:xfrm>
            <a:off x="6984282" y="4877719"/>
            <a:ext cx="4615674" cy="781538"/>
          </a:xfrm>
          <a:custGeom>
            <a:avLst/>
            <a:gdLst/>
            <a:ahLst/>
            <a:cxnLst/>
            <a:rect l="l" t="t" r="r" b="b"/>
            <a:pathLst>
              <a:path w="4615674" h="781538">
                <a:moveTo>
                  <a:pt x="0" y="0"/>
                </a:moveTo>
                <a:lnTo>
                  <a:pt x="4615674" y="0"/>
                </a:lnTo>
                <a:lnTo>
                  <a:pt x="4615674" y="781538"/>
                </a:lnTo>
                <a:lnTo>
                  <a:pt x="0" y="781538"/>
                </a:lnTo>
                <a:lnTo>
                  <a:pt x="0" y="0"/>
                </a:lnTo>
                <a:close/>
              </a:path>
            </a:pathLst>
          </a:custGeom>
          <a:solidFill>
            <a:srgbClr val="FFFFFF"/>
          </a:solidFill>
          <a:ln w="12700">
            <a:solidFill>
              <a:srgbClr val="E5E7EB"/>
            </a:solidFill>
            <a:prstDash val="solid"/>
          </a:ln>
        </p:spPr>
      </p:sp>
      <p:sp>
        <p:nvSpPr>
          <p:cNvPr id="48" name="Text 46"/>
          <p:cNvSpPr/>
          <p:nvPr/>
        </p:nvSpPr>
        <p:spPr>
          <a:xfrm>
            <a:off x="7135992" y="5029430"/>
            <a:ext cx="4385810"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Select Final Answer</a:t>
            </a:r>
            <a:endParaRPr lang="en-US" sz="1600" dirty="0"/>
          </a:p>
        </p:txBody>
      </p:sp>
      <p:sp>
        <p:nvSpPr>
          <p:cNvPr id="49" name="Text 47"/>
          <p:cNvSpPr/>
          <p:nvPr/>
        </p:nvSpPr>
        <p:spPr>
          <a:xfrm>
            <a:off x="7135992" y="5286878"/>
            <a:ext cx="4385810" cy="220670"/>
          </a:xfrm>
          <a:prstGeom prst="rect">
            <a:avLst/>
          </a:prstGeom>
          <a:noFill/>
          <a:ln/>
        </p:spPr>
        <p:txBody>
          <a:bodyPr wrap="square" lIns="0" tIns="0" rIns="0" bIns="0" rtlCol="0" anchor="ctr"/>
          <a:lstStyle/>
          <a:p>
            <a:pPr>
              <a:lnSpc>
                <a:spcPct val="120000"/>
              </a:lnSpc>
            </a:pPr>
            <a:r>
              <a:rPr lang="en-US" sz="1158" dirty="0">
                <a:solidFill>
                  <a:srgbClr val="6B7280"/>
                </a:solidFill>
                <a:latin typeface="Sorts Mill Goudy" pitchFamily="34" charset="0"/>
                <a:ea typeface="Sorts Mill Goudy" pitchFamily="34" charset="-122"/>
                <a:cs typeface="Sorts Mill Goudy" pitchFamily="34" charset="-120"/>
              </a:rPr>
              <a:t>Argmax over combined scores to select best answer span</a:t>
            </a:r>
            <a:endParaRPr lang="en-US" sz="1600" dirty="0"/>
          </a:p>
        </p:txBody>
      </p:sp>
      <p:sp>
        <p:nvSpPr>
          <p:cNvPr id="50" name="Shape 48"/>
          <p:cNvSpPr/>
          <p:nvPr/>
        </p:nvSpPr>
        <p:spPr>
          <a:xfrm>
            <a:off x="6248716" y="6109792"/>
            <a:ext cx="5571910" cy="744760"/>
          </a:xfrm>
          <a:custGeom>
            <a:avLst/>
            <a:gdLst/>
            <a:ahLst/>
            <a:cxnLst/>
            <a:rect l="l" t="t" r="r" b="b"/>
            <a:pathLst>
              <a:path w="5571910" h="744760">
                <a:moveTo>
                  <a:pt x="0" y="0"/>
                </a:moveTo>
                <a:lnTo>
                  <a:pt x="5571910" y="0"/>
                </a:lnTo>
                <a:lnTo>
                  <a:pt x="5571910" y="744760"/>
                </a:lnTo>
                <a:lnTo>
                  <a:pt x="0" y="744760"/>
                </a:lnTo>
                <a:lnTo>
                  <a:pt x="0" y="0"/>
                </a:lnTo>
                <a:close/>
              </a:path>
            </a:pathLst>
          </a:custGeom>
          <a:solidFill>
            <a:srgbClr val="8B0000">
              <a:alpha val="5098"/>
            </a:srgbClr>
          </a:solidFill>
          <a:ln w="12700">
            <a:solidFill>
              <a:srgbClr val="8B0000">
                <a:alpha val="20000"/>
              </a:srgbClr>
            </a:solidFill>
            <a:prstDash val="solid"/>
          </a:ln>
        </p:spPr>
      </p:sp>
      <p:sp>
        <p:nvSpPr>
          <p:cNvPr id="51" name="Text 49"/>
          <p:cNvSpPr/>
          <p:nvPr/>
        </p:nvSpPr>
        <p:spPr>
          <a:xfrm>
            <a:off x="6400426" y="6261502"/>
            <a:ext cx="5342045" cy="441339"/>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Key Property:</a:t>
            </a:r>
            <a:r>
              <a:rPr lang="en-US" sz="1158" dirty="0">
                <a:solidFill>
                  <a:srgbClr val="1F2937"/>
                </a:solidFill>
                <a:latin typeface="Sorts Mill Goudy" pitchFamily="34" charset="0"/>
                <a:ea typeface="Sorts Mill Goudy" pitchFamily="34" charset="-122"/>
                <a:cs typeface="Sorts Mill Goudy" pitchFamily="34" charset="-120"/>
              </a:rPr>
              <a:t> The two-stage process (role decoding → answer selection) keeps the semantic structure explicit and inspectable at every step.</a:t>
            </a:r>
            <a:endParaRPr lang="en-US" sz="1600" dirty="0"/>
          </a:p>
        </p:txBody>
      </p:sp>
    </p:spTree>
    <p:extLst>
      <p:ext uri="{BB962C8B-B14F-4D97-AF65-F5344CB8AC3E}">
        <p14:creationId xmlns:p14="http://schemas.microsoft.com/office/powerpoint/2010/main" val="3207971342"/>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8625" y="328625"/>
            <a:ext cx="11592259" cy="164313"/>
          </a:xfrm>
          <a:prstGeom prst="rect">
            <a:avLst/>
          </a:prstGeom>
          <a:noFill/>
          <a:ln/>
        </p:spPr>
        <p:txBody>
          <a:bodyPr wrap="square" lIns="0" tIns="0" rIns="0" bIns="0" rtlCol="0" anchor="ctr"/>
          <a:lstStyle/>
          <a:p>
            <a:pPr>
              <a:lnSpc>
                <a:spcPct val="120000"/>
              </a:lnSpc>
            </a:pPr>
            <a:r>
              <a:rPr lang="en-US" sz="906" b="1" kern="0" spc="45" dirty="0">
                <a:solidFill>
                  <a:srgbClr val="8B0000"/>
                </a:solidFill>
                <a:latin typeface="Sorts Mill Goudy" pitchFamily="34" charset="0"/>
                <a:ea typeface="Sorts Mill Goudy" pitchFamily="34" charset="-122"/>
                <a:cs typeface="Sorts Mill Goudy" pitchFamily="34" charset="-120"/>
              </a:rPr>
              <a:t>4.3 SYSTEM ARCHITECTURE</a:t>
            </a:r>
            <a:endParaRPr lang="en-US" sz="1600" dirty="0"/>
          </a:p>
        </p:txBody>
      </p:sp>
      <p:sp>
        <p:nvSpPr>
          <p:cNvPr id="3" name="Text 1"/>
          <p:cNvSpPr/>
          <p:nvPr/>
        </p:nvSpPr>
        <p:spPr>
          <a:xfrm>
            <a:off x="328625" y="558663"/>
            <a:ext cx="11682631" cy="328625"/>
          </a:xfrm>
          <a:prstGeom prst="rect">
            <a:avLst/>
          </a:prstGeom>
          <a:noFill/>
          <a:ln/>
        </p:spPr>
        <p:txBody>
          <a:bodyPr wrap="square" lIns="0" tIns="0" rIns="0" bIns="0" rtlCol="0" anchor="ctr"/>
          <a:lstStyle/>
          <a:p>
            <a:pPr>
              <a:lnSpc>
                <a:spcPct val="90000"/>
              </a:lnSpc>
            </a:pPr>
            <a:r>
              <a:rPr lang="en-US" sz="2329" b="1" dirty="0">
                <a:solidFill>
                  <a:srgbClr val="1F2937"/>
                </a:solidFill>
                <a:latin typeface="Sorts Mill Goudy" pitchFamily="34" charset="0"/>
                <a:ea typeface="Sorts Mill Goudy" pitchFamily="34" charset="-122"/>
                <a:cs typeface="Sorts Mill Goudy" pitchFamily="34" charset="-120"/>
              </a:rPr>
              <a:t>Model Configuration</a:t>
            </a:r>
            <a:endParaRPr lang="en-US" sz="1600" dirty="0"/>
          </a:p>
        </p:txBody>
      </p:sp>
      <p:sp>
        <p:nvSpPr>
          <p:cNvPr id="4" name="Shape 2"/>
          <p:cNvSpPr/>
          <p:nvPr/>
        </p:nvSpPr>
        <p:spPr>
          <a:xfrm>
            <a:off x="328625" y="1084464"/>
            <a:ext cx="5635925" cy="2283946"/>
          </a:xfrm>
          <a:custGeom>
            <a:avLst/>
            <a:gdLst/>
            <a:ahLst/>
            <a:cxnLst/>
            <a:rect l="l" t="t" r="r" b="b"/>
            <a:pathLst>
              <a:path w="5635925" h="2283946">
                <a:moveTo>
                  <a:pt x="0" y="0"/>
                </a:moveTo>
                <a:lnTo>
                  <a:pt x="5635925" y="0"/>
                </a:lnTo>
                <a:lnTo>
                  <a:pt x="5635925" y="2283946"/>
                </a:lnTo>
                <a:lnTo>
                  <a:pt x="0" y="2283946"/>
                </a:lnTo>
                <a:lnTo>
                  <a:pt x="0" y="0"/>
                </a:lnTo>
                <a:close/>
              </a:path>
            </a:pathLst>
          </a:custGeom>
          <a:solidFill>
            <a:srgbClr val="F9FAFB"/>
          </a:solidFill>
          <a:ln/>
        </p:spPr>
      </p:sp>
      <p:sp>
        <p:nvSpPr>
          <p:cNvPr id="5" name="Text 3"/>
          <p:cNvSpPr/>
          <p:nvPr/>
        </p:nvSpPr>
        <p:spPr>
          <a:xfrm>
            <a:off x="525801" y="1281639"/>
            <a:ext cx="5323730" cy="230038"/>
          </a:xfrm>
          <a:prstGeom prst="rect">
            <a:avLst/>
          </a:prstGeom>
          <a:noFill/>
          <a:ln/>
        </p:spPr>
        <p:txBody>
          <a:bodyPr wrap="square" lIns="0" tIns="0" rIns="0" bIns="0" rtlCol="0" anchor="ctr"/>
          <a:lstStyle/>
          <a:p>
            <a:pPr>
              <a:lnSpc>
                <a:spcPct val="120000"/>
              </a:lnSpc>
            </a:pPr>
            <a:r>
              <a:rPr lang="en-US" sz="1294" b="1" dirty="0">
                <a:solidFill>
                  <a:srgbClr val="1F2937"/>
                </a:solidFill>
                <a:latin typeface="Sorts Mill Goudy" pitchFamily="34" charset="0"/>
                <a:ea typeface="Sorts Mill Goudy" pitchFamily="34" charset="-122"/>
                <a:cs typeface="Sorts Mill Goudy" pitchFamily="34" charset="-120"/>
              </a:rPr>
              <a:t>Embedding Dimensions</a:t>
            </a:r>
            <a:endParaRPr lang="en-US" sz="1600" dirty="0"/>
          </a:p>
        </p:txBody>
      </p:sp>
      <p:sp>
        <p:nvSpPr>
          <p:cNvPr id="6" name="Shape 4"/>
          <p:cNvSpPr/>
          <p:nvPr/>
        </p:nvSpPr>
        <p:spPr>
          <a:xfrm>
            <a:off x="529908" y="1647235"/>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7" name="Text 5"/>
          <p:cNvSpPr/>
          <p:nvPr/>
        </p:nvSpPr>
        <p:spPr>
          <a:xfrm>
            <a:off x="632604" y="1766361"/>
            <a:ext cx="1133757"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Word Embeddings</a:t>
            </a:r>
            <a:endParaRPr lang="en-US" sz="1600" dirty="0"/>
          </a:p>
        </p:txBody>
      </p:sp>
      <p:sp>
        <p:nvSpPr>
          <p:cNvPr id="8" name="Text 6"/>
          <p:cNvSpPr/>
          <p:nvPr/>
        </p:nvSpPr>
        <p:spPr>
          <a:xfrm>
            <a:off x="5157492" y="1749930"/>
            <a:ext cx="575094"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100-dim</a:t>
            </a:r>
            <a:endParaRPr lang="en-US" sz="1600" dirty="0"/>
          </a:p>
        </p:txBody>
      </p:sp>
      <p:sp>
        <p:nvSpPr>
          <p:cNvPr id="9" name="Shape 7"/>
          <p:cNvSpPr/>
          <p:nvPr/>
        </p:nvSpPr>
        <p:spPr>
          <a:xfrm>
            <a:off x="529908" y="2189466"/>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10" name="Text 8"/>
          <p:cNvSpPr/>
          <p:nvPr/>
        </p:nvSpPr>
        <p:spPr>
          <a:xfrm>
            <a:off x="632604" y="2308593"/>
            <a:ext cx="1059817"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POS Embeddings</a:t>
            </a:r>
            <a:endParaRPr lang="en-US" sz="1600" dirty="0"/>
          </a:p>
        </p:txBody>
      </p:sp>
      <p:sp>
        <p:nvSpPr>
          <p:cNvPr id="11" name="Text 9"/>
          <p:cNvSpPr/>
          <p:nvPr/>
        </p:nvSpPr>
        <p:spPr>
          <a:xfrm>
            <a:off x="5235284" y="2292162"/>
            <a:ext cx="501154"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32-dim</a:t>
            </a:r>
            <a:endParaRPr lang="en-US" sz="1600" dirty="0"/>
          </a:p>
        </p:txBody>
      </p:sp>
      <p:sp>
        <p:nvSpPr>
          <p:cNvPr id="12" name="Shape 10"/>
          <p:cNvSpPr/>
          <p:nvPr/>
        </p:nvSpPr>
        <p:spPr>
          <a:xfrm>
            <a:off x="529908" y="2731698"/>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13" name="Text 11"/>
          <p:cNvSpPr/>
          <p:nvPr/>
        </p:nvSpPr>
        <p:spPr>
          <a:xfrm>
            <a:off x="632604" y="2850825"/>
            <a:ext cx="1133757"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Predicate Indicator</a:t>
            </a:r>
            <a:endParaRPr lang="en-US" sz="1600" dirty="0"/>
          </a:p>
        </p:txBody>
      </p:sp>
      <p:sp>
        <p:nvSpPr>
          <p:cNvPr id="14" name="Text 12"/>
          <p:cNvSpPr/>
          <p:nvPr/>
        </p:nvSpPr>
        <p:spPr>
          <a:xfrm>
            <a:off x="5290226" y="2834394"/>
            <a:ext cx="443644"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8-dim</a:t>
            </a:r>
            <a:endParaRPr lang="en-US" sz="1600" dirty="0"/>
          </a:p>
        </p:txBody>
      </p:sp>
      <p:sp>
        <p:nvSpPr>
          <p:cNvPr id="15" name="Shape 13"/>
          <p:cNvSpPr/>
          <p:nvPr/>
        </p:nvSpPr>
        <p:spPr>
          <a:xfrm>
            <a:off x="328625" y="3565585"/>
            <a:ext cx="5635925" cy="2283946"/>
          </a:xfrm>
          <a:custGeom>
            <a:avLst/>
            <a:gdLst/>
            <a:ahLst/>
            <a:cxnLst/>
            <a:rect l="l" t="t" r="r" b="b"/>
            <a:pathLst>
              <a:path w="5635925" h="2283946">
                <a:moveTo>
                  <a:pt x="0" y="0"/>
                </a:moveTo>
                <a:lnTo>
                  <a:pt x="5635925" y="0"/>
                </a:lnTo>
                <a:lnTo>
                  <a:pt x="5635925" y="2283946"/>
                </a:lnTo>
                <a:lnTo>
                  <a:pt x="0" y="2283946"/>
                </a:lnTo>
                <a:lnTo>
                  <a:pt x="0" y="0"/>
                </a:lnTo>
                <a:close/>
              </a:path>
            </a:pathLst>
          </a:custGeom>
          <a:solidFill>
            <a:srgbClr val="F9FAFB"/>
          </a:solidFill>
          <a:ln/>
        </p:spPr>
      </p:sp>
      <p:sp>
        <p:nvSpPr>
          <p:cNvPr id="16" name="Text 14"/>
          <p:cNvSpPr/>
          <p:nvPr/>
        </p:nvSpPr>
        <p:spPr>
          <a:xfrm>
            <a:off x="525801" y="3762760"/>
            <a:ext cx="5323730" cy="230038"/>
          </a:xfrm>
          <a:prstGeom prst="rect">
            <a:avLst/>
          </a:prstGeom>
          <a:noFill/>
          <a:ln/>
        </p:spPr>
        <p:txBody>
          <a:bodyPr wrap="square" lIns="0" tIns="0" rIns="0" bIns="0" rtlCol="0" anchor="ctr"/>
          <a:lstStyle/>
          <a:p>
            <a:pPr>
              <a:lnSpc>
                <a:spcPct val="120000"/>
              </a:lnSpc>
            </a:pPr>
            <a:r>
              <a:rPr lang="en-US" sz="1294" b="1" dirty="0">
                <a:solidFill>
                  <a:srgbClr val="1F2937"/>
                </a:solidFill>
                <a:latin typeface="Sorts Mill Goudy" pitchFamily="34" charset="0"/>
                <a:ea typeface="Sorts Mill Goudy" pitchFamily="34" charset="-122"/>
                <a:cs typeface="Sorts Mill Goudy" pitchFamily="34" charset="-120"/>
              </a:rPr>
              <a:t>BiLSTM Configuration</a:t>
            </a:r>
            <a:endParaRPr lang="en-US" sz="1600" dirty="0"/>
          </a:p>
        </p:txBody>
      </p:sp>
      <p:sp>
        <p:nvSpPr>
          <p:cNvPr id="17" name="Shape 15"/>
          <p:cNvSpPr/>
          <p:nvPr/>
        </p:nvSpPr>
        <p:spPr>
          <a:xfrm>
            <a:off x="529908" y="4128356"/>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18" name="Text 16"/>
          <p:cNvSpPr/>
          <p:nvPr/>
        </p:nvSpPr>
        <p:spPr>
          <a:xfrm>
            <a:off x="632604" y="4247482"/>
            <a:ext cx="1585617"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Hidden Size (per direction)</a:t>
            </a:r>
            <a:endParaRPr lang="en-US" sz="1600" dirty="0"/>
          </a:p>
        </p:txBody>
      </p:sp>
      <p:sp>
        <p:nvSpPr>
          <p:cNvPr id="19" name="Text 17"/>
          <p:cNvSpPr/>
          <p:nvPr/>
        </p:nvSpPr>
        <p:spPr>
          <a:xfrm>
            <a:off x="5468916" y="4231051"/>
            <a:ext cx="271116"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128</a:t>
            </a:r>
            <a:endParaRPr lang="en-US" sz="1600" dirty="0"/>
          </a:p>
        </p:txBody>
      </p:sp>
      <p:sp>
        <p:nvSpPr>
          <p:cNvPr id="20" name="Shape 18"/>
          <p:cNvSpPr/>
          <p:nvPr/>
        </p:nvSpPr>
        <p:spPr>
          <a:xfrm>
            <a:off x="529908" y="4670588"/>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21" name="Text 19"/>
          <p:cNvSpPr/>
          <p:nvPr/>
        </p:nvSpPr>
        <p:spPr>
          <a:xfrm>
            <a:off x="632604" y="4789714"/>
            <a:ext cx="1084464"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Total Hidden Size</a:t>
            </a:r>
            <a:endParaRPr lang="en-US" sz="1600" dirty="0"/>
          </a:p>
        </p:txBody>
      </p:sp>
      <p:sp>
        <p:nvSpPr>
          <p:cNvPr id="22" name="Text 20"/>
          <p:cNvSpPr/>
          <p:nvPr/>
        </p:nvSpPr>
        <p:spPr>
          <a:xfrm>
            <a:off x="5469044" y="4773283"/>
            <a:ext cx="271116"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256</a:t>
            </a:r>
            <a:endParaRPr lang="en-US" sz="1600" dirty="0"/>
          </a:p>
        </p:txBody>
      </p:sp>
      <p:sp>
        <p:nvSpPr>
          <p:cNvPr id="23" name="Shape 21"/>
          <p:cNvSpPr/>
          <p:nvPr/>
        </p:nvSpPr>
        <p:spPr>
          <a:xfrm>
            <a:off x="529908" y="5212819"/>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24" name="Text 22"/>
          <p:cNvSpPr/>
          <p:nvPr/>
        </p:nvSpPr>
        <p:spPr>
          <a:xfrm>
            <a:off x="632604" y="5331946"/>
            <a:ext cx="435429"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Layers</a:t>
            </a:r>
            <a:endParaRPr lang="en-US" sz="1600" dirty="0"/>
          </a:p>
        </p:txBody>
      </p:sp>
      <p:sp>
        <p:nvSpPr>
          <p:cNvPr id="25" name="Text 23"/>
          <p:cNvSpPr/>
          <p:nvPr/>
        </p:nvSpPr>
        <p:spPr>
          <a:xfrm>
            <a:off x="5612048" y="5315515"/>
            <a:ext cx="123235"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1</a:t>
            </a:r>
            <a:endParaRPr lang="en-US" sz="1600" dirty="0"/>
          </a:p>
        </p:txBody>
      </p:sp>
      <p:sp>
        <p:nvSpPr>
          <p:cNvPr id="26" name="Shape 24"/>
          <p:cNvSpPr/>
          <p:nvPr/>
        </p:nvSpPr>
        <p:spPr>
          <a:xfrm>
            <a:off x="6229247" y="1084464"/>
            <a:ext cx="5635925" cy="3368410"/>
          </a:xfrm>
          <a:custGeom>
            <a:avLst/>
            <a:gdLst/>
            <a:ahLst/>
            <a:cxnLst/>
            <a:rect l="l" t="t" r="r" b="b"/>
            <a:pathLst>
              <a:path w="5635925" h="3368410">
                <a:moveTo>
                  <a:pt x="0" y="0"/>
                </a:moveTo>
                <a:lnTo>
                  <a:pt x="5635925" y="0"/>
                </a:lnTo>
                <a:lnTo>
                  <a:pt x="5635925" y="3368410"/>
                </a:lnTo>
                <a:lnTo>
                  <a:pt x="0" y="3368410"/>
                </a:lnTo>
                <a:lnTo>
                  <a:pt x="0" y="0"/>
                </a:lnTo>
                <a:close/>
              </a:path>
            </a:pathLst>
          </a:custGeom>
          <a:solidFill>
            <a:srgbClr val="F9FAFB"/>
          </a:solidFill>
          <a:ln/>
        </p:spPr>
      </p:sp>
      <p:sp>
        <p:nvSpPr>
          <p:cNvPr id="27" name="Text 25"/>
          <p:cNvSpPr/>
          <p:nvPr/>
        </p:nvSpPr>
        <p:spPr>
          <a:xfrm>
            <a:off x="6426423" y="1281639"/>
            <a:ext cx="5323730" cy="230038"/>
          </a:xfrm>
          <a:prstGeom prst="rect">
            <a:avLst/>
          </a:prstGeom>
          <a:noFill/>
          <a:ln/>
        </p:spPr>
        <p:txBody>
          <a:bodyPr wrap="square" lIns="0" tIns="0" rIns="0" bIns="0" rtlCol="0" anchor="ctr"/>
          <a:lstStyle/>
          <a:p>
            <a:pPr>
              <a:lnSpc>
                <a:spcPct val="120000"/>
              </a:lnSpc>
            </a:pPr>
            <a:r>
              <a:rPr lang="en-US" sz="1294" b="1" dirty="0">
                <a:solidFill>
                  <a:srgbClr val="1F2937"/>
                </a:solidFill>
                <a:latin typeface="Sorts Mill Goudy" pitchFamily="34" charset="0"/>
                <a:ea typeface="Sorts Mill Goudy" pitchFamily="34" charset="-122"/>
                <a:cs typeface="Sorts Mill Goudy" pitchFamily="34" charset="-120"/>
              </a:rPr>
              <a:t>Training Hyperparameters</a:t>
            </a:r>
            <a:endParaRPr lang="en-US" sz="1600" dirty="0"/>
          </a:p>
        </p:txBody>
      </p:sp>
      <p:sp>
        <p:nvSpPr>
          <p:cNvPr id="28" name="Shape 26"/>
          <p:cNvSpPr/>
          <p:nvPr/>
        </p:nvSpPr>
        <p:spPr>
          <a:xfrm>
            <a:off x="6430530" y="1647235"/>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29" name="Text 27"/>
          <p:cNvSpPr/>
          <p:nvPr/>
        </p:nvSpPr>
        <p:spPr>
          <a:xfrm>
            <a:off x="6533226" y="1766361"/>
            <a:ext cx="862642"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Learning Rate</a:t>
            </a:r>
            <a:endParaRPr lang="en-US" sz="1600" dirty="0"/>
          </a:p>
        </p:txBody>
      </p:sp>
      <p:sp>
        <p:nvSpPr>
          <p:cNvPr id="30" name="Text 28"/>
          <p:cNvSpPr/>
          <p:nvPr/>
        </p:nvSpPr>
        <p:spPr>
          <a:xfrm>
            <a:off x="11240655" y="1749930"/>
            <a:ext cx="394350"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0.001</a:t>
            </a:r>
            <a:endParaRPr lang="en-US" sz="1600" dirty="0"/>
          </a:p>
        </p:txBody>
      </p:sp>
      <p:sp>
        <p:nvSpPr>
          <p:cNvPr id="31" name="Shape 29"/>
          <p:cNvSpPr/>
          <p:nvPr/>
        </p:nvSpPr>
        <p:spPr>
          <a:xfrm>
            <a:off x="6430530" y="2189466"/>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32" name="Text 30"/>
          <p:cNvSpPr/>
          <p:nvPr/>
        </p:nvSpPr>
        <p:spPr>
          <a:xfrm>
            <a:off x="6533226" y="2308593"/>
            <a:ext cx="649035"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Batch Size</a:t>
            </a:r>
            <a:endParaRPr lang="en-US" sz="1600" dirty="0"/>
          </a:p>
        </p:txBody>
      </p:sp>
      <p:sp>
        <p:nvSpPr>
          <p:cNvPr id="33" name="Text 31"/>
          <p:cNvSpPr/>
          <p:nvPr/>
        </p:nvSpPr>
        <p:spPr>
          <a:xfrm>
            <a:off x="11414852" y="2292162"/>
            <a:ext cx="221822"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64</a:t>
            </a:r>
            <a:endParaRPr lang="en-US" sz="1600" dirty="0"/>
          </a:p>
        </p:txBody>
      </p:sp>
      <p:sp>
        <p:nvSpPr>
          <p:cNvPr id="34" name="Shape 32"/>
          <p:cNvSpPr/>
          <p:nvPr/>
        </p:nvSpPr>
        <p:spPr>
          <a:xfrm>
            <a:off x="6430530" y="2731698"/>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35" name="Text 33"/>
          <p:cNvSpPr/>
          <p:nvPr/>
        </p:nvSpPr>
        <p:spPr>
          <a:xfrm>
            <a:off x="6533226" y="2850825"/>
            <a:ext cx="846210"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Dropout Rate</a:t>
            </a:r>
            <a:endParaRPr lang="en-US" sz="1600" dirty="0"/>
          </a:p>
        </p:txBody>
      </p:sp>
      <p:sp>
        <p:nvSpPr>
          <p:cNvPr id="36" name="Text 34"/>
          <p:cNvSpPr/>
          <p:nvPr/>
        </p:nvSpPr>
        <p:spPr>
          <a:xfrm>
            <a:off x="11309461" y="2834394"/>
            <a:ext cx="328625"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0.30</a:t>
            </a:r>
            <a:endParaRPr lang="en-US" sz="1600" dirty="0"/>
          </a:p>
        </p:txBody>
      </p:sp>
      <p:sp>
        <p:nvSpPr>
          <p:cNvPr id="37" name="Shape 35"/>
          <p:cNvSpPr/>
          <p:nvPr/>
        </p:nvSpPr>
        <p:spPr>
          <a:xfrm>
            <a:off x="6430530" y="3273930"/>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38" name="Text 36"/>
          <p:cNvSpPr/>
          <p:nvPr/>
        </p:nvSpPr>
        <p:spPr>
          <a:xfrm>
            <a:off x="6533226" y="3393057"/>
            <a:ext cx="977660"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Loss Weight (α)</a:t>
            </a:r>
            <a:endParaRPr lang="en-US" sz="1600" dirty="0"/>
          </a:p>
        </p:txBody>
      </p:sp>
      <p:sp>
        <p:nvSpPr>
          <p:cNvPr id="39" name="Text 37"/>
          <p:cNvSpPr/>
          <p:nvPr/>
        </p:nvSpPr>
        <p:spPr>
          <a:xfrm>
            <a:off x="11318575" y="3376625"/>
            <a:ext cx="320410"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0.50</a:t>
            </a:r>
            <a:endParaRPr lang="en-US" sz="1600" dirty="0"/>
          </a:p>
        </p:txBody>
      </p:sp>
      <p:sp>
        <p:nvSpPr>
          <p:cNvPr id="40" name="Shape 38"/>
          <p:cNvSpPr/>
          <p:nvPr/>
        </p:nvSpPr>
        <p:spPr>
          <a:xfrm>
            <a:off x="6430530" y="3816162"/>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41" name="Text 39"/>
          <p:cNvSpPr/>
          <p:nvPr/>
        </p:nvSpPr>
        <p:spPr>
          <a:xfrm>
            <a:off x="6533226" y="3935288"/>
            <a:ext cx="854426"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Random Seed</a:t>
            </a:r>
            <a:endParaRPr lang="en-US" sz="1600" dirty="0"/>
          </a:p>
        </p:txBody>
      </p:sp>
      <p:sp>
        <p:nvSpPr>
          <p:cNvPr id="42" name="Text 40"/>
          <p:cNvSpPr/>
          <p:nvPr/>
        </p:nvSpPr>
        <p:spPr>
          <a:xfrm>
            <a:off x="11419217" y="3918857"/>
            <a:ext cx="221822"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42</a:t>
            </a:r>
            <a:endParaRPr lang="en-US" sz="1600" dirty="0"/>
          </a:p>
        </p:txBody>
      </p:sp>
      <p:sp>
        <p:nvSpPr>
          <p:cNvPr id="43" name="Shape 41"/>
          <p:cNvSpPr/>
          <p:nvPr/>
        </p:nvSpPr>
        <p:spPr>
          <a:xfrm>
            <a:off x="6229247" y="4650049"/>
            <a:ext cx="5635925" cy="2210005"/>
          </a:xfrm>
          <a:custGeom>
            <a:avLst/>
            <a:gdLst/>
            <a:ahLst/>
            <a:cxnLst/>
            <a:rect l="l" t="t" r="r" b="b"/>
            <a:pathLst>
              <a:path w="5635925" h="2210005">
                <a:moveTo>
                  <a:pt x="0" y="0"/>
                </a:moveTo>
                <a:lnTo>
                  <a:pt x="5635925" y="0"/>
                </a:lnTo>
                <a:lnTo>
                  <a:pt x="5635925" y="2210005"/>
                </a:lnTo>
                <a:lnTo>
                  <a:pt x="0" y="2210005"/>
                </a:lnTo>
                <a:lnTo>
                  <a:pt x="0" y="0"/>
                </a:lnTo>
                <a:close/>
              </a:path>
            </a:pathLst>
          </a:custGeom>
          <a:solidFill>
            <a:srgbClr val="8B0000"/>
          </a:solidFill>
          <a:ln/>
        </p:spPr>
      </p:sp>
      <p:sp>
        <p:nvSpPr>
          <p:cNvPr id="44" name="Text 42"/>
          <p:cNvSpPr/>
          <p:nvPr/>
        </p:nvSpPr>
        <p:spPr>
          <a:xfrm>
            <a:off x="6426423" y="4847224"/>
            <a:ext cx="5323730" cy="230038"/>
          </a:xfrm>
          <a:prstGeom prst="rect">
            <a:avLst/>
          </a:prstGeom>
          <a:noFill/>
          <a:ln/>
        </p:spPr>
        <p:txBody>
          <a:bodyPr wrap="square" lIns="0" tIns="0" rIns="0" bIns="0" rtlCol="0" anchor="ctr"/>
          <a:lstStyle/>
          <a:p>
            <a:pPr>
              <a:lnSpc>
                <a:spcPct val="120000"/>
              </a:lnSpc>
            </a:pPr>
            <a:r>
              <a:rPr lang="en-US" sz="1294" b="1" dirty="0">
                <a:solidFill>
                  <a:srgbClr val="FFFFFF"/>
                </a:solidFill>
                <a:latin typeface="Sorts Mill Goudy" pitchFamily="34" charset="0"/>
                <a:ea typeface="Sorts Mill Goudy" pitchFamily="34" charset="-122"/>
                <a:cs typeface="Sorts Mill Goudy" pitchFamily="34" charset="-120"/>
              </a:rPr>
              <a:t>Model Scale</a:t>
            </a:r>
            <a:endParaRPr lang="en-US" sz="1600" dirty="0"/>
          </a:p>
        </p:txBody>
      </p:sp>
      <p:sp>
        <p:nvSpPr>
          <p:cNvPr id="45" name="Text 43"/>
          <p:cNvSpPr/>
          <p:nvPr/>
        </p:nvSpPr>
        <p:spPr>
          <a:xfrm>
            <a:off x="6303188" y="5208712"/>
            <a:ext cx="5488043" cy="492938"/>
          </a:xfrm>
          <a:prstGeom prst="rect">
            <a:avLst/>
          </a:prstGeom>
          <a:noFill/>
          <a:ln/>
        </p:spPr>
        <p:txBody>
          <a:bodyPr wrap="square" lIns="0" tIns="0" rIns="0" bIns="0" rtlCol="0" anchor="ctr"/>
          <a:lstStyle/>
          <a:p>
            <a:pPr algn="ctr">
              <a:lnSpc>
                <a:spcPct val="80000"/>
              </a:lnSpc>
            </a:pPr>
            <a:r>
              <a:rPr lang="en-US" sz="3881" b="1" dirty="0">
                <a:solidFill>
                  <a:srgbClr val="FFFFFF"/>
                </a:solidFill>
                <a:latin typeface="Sorts Mill Goudy" pitchFamily="34" charset="0"/>
                <a:ea typeface="Sorts Mill Goudy" pitchFamily="34" charset="-122"/>
                <a:cs typeface="Sorts Mill Goudy" pitchFamily="34" charset="-120"/>
              </a:rPr>
              <a:t>1,784,352</a:t>
            </a:r>
            <a:endParaRPr lang="en-US" sz="1600" dirty="0"/>
          </a:p>
        </p:txBody>
      </p:sp>
      <p:sp>
        <p:nvSpPr>
          <p:cNvPr id="46" name="Text 44"/>
          <p:cNvSpPr/>
          <p:nvPr/>
        </p:nvSpPr>
        <p:spPr>
          <a:xfrm>
            <a:off x="6385344" y="5767375"/>
            <a:ext cx="5323730" cy="230038"/>
          </a:xfrm>
          <a:prstGeom prst="rect">
            <a:avLst/>
          </a:prstGeom>
          <a:noFill/>
          <a:ln/>
        </p:spPr>
        <p:txBody>
          <a:bodyPr wrap="square" lIns="0" tIns="0" rIns="0" bIns="0" rtlCol="0" anchor="ctr"/>
          <a:lstStyle/>
          <a:p>
            <a:pPr algn="ctr">
              <a:lnSpc>
                <a:spcPct val="120000"/>
              </a:lnSpc>
            </a:pPr>
            <a:r>
              <a:rPr lang="en-US" sz="1294" dirty="0">
                <a:solidFill>
                  <a:srgbClr val="FFFFFF"/>
                </a:solidFill>
                <a:latin typeface="Sorts Mill Goudy" pitchFamily="34" charset="0"/>
                <a:ea typeface="Sorts Mill Goudy" pitchFamily="34" charset="-122"/>
                <a:cs typeface="Sorts Mill Goudy" pitchFamily="34" charset="-120"/>
              </a:rPr>
              <a:t>Trainable Parameters</a:t>
            </a:r>
            <a:endParaRPr lang="en-US" sz="1600" dirty="0"/>
          </a:p>
        </p:txBody>
      </p:sp>
      <p:sp>
        <p:nvSpPr>
          <p:cNvPr id="47" name="Shape 45"/>
          <p:cNvSpPr/>
          <p:nvPr/>
        </p:nvSpPr>
        <p:spPr>
          <a:xfrm>
            <a:off x="6426423" y="6132970"/>
            <a:ext cx="5241574" cy="8216"/>
          </a:xfrm>
          <a:custGeom>
            <a:avLst/>
            <a:gdLst/>
            <a:ahLst/>
            <a:cxnLst/>
            <a:rect l="l" t="t" r="r" b="b"/>
            <a:pathLst>
              <a:path w="5241574" h="8216">
                <a:moveTo>
                  <a:pt x="0" y="0"/>
                </a:moveTo>
                <a:lnTo>
                  <a:pt x="5241574" y="0"/>
                </a:lnTo>
                <a:lnTo>
                  <a:pt x="5241574" y="8216"/>
                </a:lnTo>
                <a:lnTo>
                  <a:pt x="0" y="8216"/>
                </a:lnTo>
                <a:lnTo>
                  <a:pt x="0" y="0"/>
                </a:lnTo>
                <a:close/>
              </a:path>
            </a:pathLst>
          </a:custGeom>
          <a:solidFill>
            <a:srgbClr val="FFFFFF">
              <a:alpha val="30196"/>
            </a:srgbClr>
          </a:solidFill>
          <a:ln/>
        </p:spPr>
      </p:sp>
      <p:sp>
        <p:nvSpPr>
          <p:cNvPr id="48" name="Text 46"/>
          <p:cNvSpPr/>
          <p:nvPr/>
        </p:nvSpPr>
        <p:spPr>
          <a:xfrm>
            <a:off x="6426423" y="6268528"/>
            <a:ext cx="5307299" cy="394350"/>
          </a:xfrm>
          <a:prstGeom prst="rect">
            <a:avLst/>
          </a:prstGeom>
          <a:noFill/>
          <a:ln/>
        </p:spPr>
        <p:txBody>
          <a:bodyPr wrap="square" lIns="0" tIns="0" rIns="0" bIns="0" rtlCol="0" anchor="ctr"/>
          <a:lstStyle/>
          <a:p>
            <a:pPr>
              <a:lnSpc>
                <a:spcPct val="130000"/>
              </a:lnSpc>
            </a:pPr>
            <a:r>
              <a:rPr lang="en-US" sz="1035" dirty="0">
                <a:solidFill>
                  <a:srgbClr val="FFFFFF"/>
                </a:solidFill>
                <a:latin typeface="Sorts Mill Goudy" pitchFamily="34" charset="0"/>
                <a:ea typeface="Sorts Mill Goudy" pitchFamily="34" charset="-122"/>
                <a:cs typeface="Sorts Mill Goudy" pitchFamily="34" charset="-120"/>
              </a:rPr>
              <a:t>Intentionally modest compared to contemporary generative QA systems—reinforces role as interpretable baseline</a:t>
            </a:r>
            <a:endParaRPr lang="en-US" sz="1600" dirty="0"/>
          </a:p>
        </p:txBody>
      </p:sp>
    </p:spTree>
    <p:extLst>
      <p:ext uri="{BB962C8B-B14F-4D97-AF65-F5344CB8AC3E}">
        <p14:creationId xmlns:p14="http://schemas.microsoft.com/office/powerpoint/2010/main" val="4060597884"/>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7275" y="357275"/>
            <a:ext cx="11539974" cy="178637"/>
          </a:xfrm>
          <a:prstGeom prst="rect">
            <a:avLst/>
          </a:prstGeom>
          <a:noFill/>
          <a:ln/>
        </p:spPr>
        <p:txBody>
          <a:bodyPr wrap="square" lIns="0" tIns="0" rIns="0" bIns="0" rtlCol="0" anchor="ctr"/>
          <a:lstStyle/>
          <a:p>
            <a:pPr>
              <a:lnSpc>
                <a:spcPct val="120000"/>
              </a:lnSpc>
            </a:pPr>
            <a:r>
              <a:rPr lang="en-US" sz="985" b="1" kern="0" spc="49" dirty="0">
                <a:solidFill>
                  <a:srgbClr val="8B0000"/>
                </a:solidFill>
                <a:latin typeface="Sorts Mill Goudy" pitchFamily="34" charset="0"/>
                <a:ea typeface="Sorts Mill Goudy" pitchFamily="34" charset="-122"/>
                <a:cs typeface="Sorts Mill Goudy" pitchFamily="34" charset="-120"/>
              </a:rPr>
              <a:t>5.1 INNOVATION HIGHLIGHTS</a:t>
            </a:r>
            <a:endParaRPr lang="en-US" sz="1600" dirty="0"/>
          </a:p>
        </p:txBody>
      </p:sp>
      <p:sp>
        <p:nvSpPr>
          <p:cNvPr id="3" name="Text 1"/>
          <p:cNvSpPr/>
          <p:nvPr/>
        </p:nvSpPr>
        <p:spPr>
          <a:xfrm>
            <a:off x="357275" y="607367"/>
            <a:ext cx="11638224" cy="357275"/>
          </a:xfrm>
          <a:prstGeom prst="rect">
            <a:avLst/>
          </a:prstGeom>
          <a:noFill/>
          <a:ln/>
        </p:spPr>
        <p:txBody>
          <a:bodyPr wrap="square" lIns="0" tIns="0" rIns="0" bIns="0" rtlCol="0" anchor="ctr"/>
          <a:lstStyle/>
          <a:p>
            <a:pPr>
              <a:lnSpc>
                <a:spcPct val="90000"/>
              </a:lnSpc>
            </a:pPr>
            <a:r>
              <a:rPr lang="en-US" sz="2532" b="1" dirty="0">
                <a:solidFill>
                  <a:srgbClr val="1F2937"/>
                </a:solidFill>
                <a:latin typeface="Sorts Mill Goudy" pitchFamily="34" charset="0"/>
                <a:ea typeface="Sorts Mill Goudy" pitchFamily="34" charset="-122"/>
                <a:cs typeface="Sorts Mill Goudy" pitchFamily="34" charset="-120"/>
              </a:rPr>
              <a:t>Innovation 1: Frame-Aware Predicate Disambiguation</a:t>
            </a:r>
            <a:endParaRPr lang="en-US" sz="1600" dirty="0"/>
          </a:p>
        </p:txBody>
      </p:sp>
      <p:sp>
        <p:nvSpPr>
          <p:cNvPr id="4" name="Shape 2"/>
          <p:cNvSpPr/>
          <p:nvPr/>
        </p:nvSpPr>
        <p:spPr>
          <a:xfrm>
            <a:off x="375138" y="1179007"/>
            <a:ext cx="5582418" cy="3018971"/>
          </a:xfrm>
          <a:custGeom>
            <a:avLst/>
            <a:gdLst/>
            <a:ahLst/>
            <a:cxnLst/>
            <a:rect l="l" t="t" r="r" b="b"/>
            <a:pathLst>
              <a:path w="5582418" h="3018971">
                <a:moveTo>
                  <a:pt x="0" y="0"/>
                </a:moveTo>
                <a:lnTo>
                  <a:pt x="5582418" y="0"/>
                </a:lnTo>
                <a:lnTo>
                  <a:pt x="5582418" y="3018971"/>
                </a:lnTo>
                <a:lnTo>
                  <a:pt x="0" y="3018971"/>
                </a:lnTo>
                <a:lnTo>
                  <a:pt x="0" y="0"/>
                </a:lnTo>
                <a:close/>
              </a:path>
            </a:pathLst>
          </a:custGeom>
          <a:solidFill>
            <a:srgbClr val="F9FAFB"/>
          </a:solidFill>
          <a:ln/>
        </p:spPr>
      </p:sp>
      <p:sp>
        <p:nvSpPr>
          <p:cNvPr id="5" name="Shape 3"/>
          <p:cNvSpPr/>
          <p:nvPr/>
        </p:nvSpPr>
        <p:spPr>
          <a:xfrm>
            <a:off x="375138" y="1179007"/>
            <a:ext cx="35727" cy="3018971"/>
          </a:xfrm>
          <a:custGeom>
            <a:avLst/>
            <a:gdLst/>
            <a:ahLst/>
            <a:cxnLst/>
            <a:rect l="l" t="t" r="r" b="b"/>
            <a:pathLst>
              <a:path w="35727" h="3018971">
                <a:moveTo>
                  <a:pt x="0" y="0"/>
                </a:moveTo>
                <a:lnTo>
                  <a:pt x="35727" y="0"/>
                </a:lnTo>
                <a:lnTo>
                  <a:pt x="35727" y="3018971"/>
                </a:lnTo>
                <a:lnTo>
                  <a:pt x="0" y="3018971"/>
                </a:lnTo>
                <a:lnTo>
                  <a:pt x="0" y="0"/>
                </a:lnTo>
                <a:close/>
              </a:path>
            </a:pathLst>
          </a:custGeom>
          <a:solidFill>
            <a:srgbClr val="8B0000"/>
          </a:solidFill>
          <a:ln/>
        </p:spPr>
      </p:sp>
      <p:sp>
        <p:nvSpPr>
          <p:cNvPr id="6" name="Text 4"/>
          <p:cNvSpPr/>
          <p:nvPr/>
        </p:nvSpPr>
        <p:spPr>
          <a:xfrm>
            <a:off x="607367" y="1393371"/>
            <a:ext cx="5225143" cy="250092"/>
          </a:xfrm>
          <a:prstGeom prst="rect">
            <a:avLst/>
          </a:prstGeom>
          <a:noFill/>
          <a:ln/>
        </p:spPr>
        <p:txBody>
          <a:bodyPr wrap="square" lIns="0" tIns="0" rIns="0" bIns="0" rtlCol="0" anchor="ctr"/>
          <a:lstStyle/>
          <a:p>
            <a:pPr>
              <a:lnSpc>
                <a:spcPct val="120000"/>
              </a:lnSpc>
            </a:pPr>
            <a:r>
              <a:rPr lang="en-US" sz="1407" b="1" dirty="0">
                <a:solidFill>
                  <a:srgbClr val="1F2937"/>
                </a:solidFill>
                <a:latin typeface="Sorts Mill Goudy" pitchFamily="34" charset="0"/>
                <a:ea typeface="Sorts Mill Goudy" pitchFamily="34" charset="-122"/>
                <a:cs typeface="Sorts Mill Goudy" pitchFamily="34" charset="-120"/>
              </a:rPr>
              <a:t>The Problem: Predicate Ambiguity</a:t>
            </a:r>
            <a:endParaRPr lang="en-US" sz="1600" dirty="0"/>
          </a:p>
        </p:txBody>
      </p:sp>
      <p:sp>
        <p:nvSpPr>
          <p:cNvPr id="7" name="Text 5"/>
          <p:cNvSpPr/>
          <p:nvPr/>
        </p:nvSpPr>
        <p:spPr>
          <a:xfrm>
            <a:off x="607367" y="1750646"/>
            <a:ext cx="5207279" cy="232229"/>
          </a:xfrm>
          <a:prstGeom prst="rect">
            <a:avLst/>
          </a:prstGeom>
          <a:noFill/>
          <a:ln/>
        </p:spPr>
        <p:txBody>
          <a:bodyPr wrap="square" lIns="0" tIns="0" rIns="0" bIns="0" rtlCol="0" anchor="ctr"/>
          <a:lstStyle/>
          <a:p>
            <a:pPr>
              <a:lnSpc>
                <a:spcPct val="140000"/>
              </a:lnSpc>
            </a:pPr>
            <a:r>
              <a:rPr lang="en-US" sz="1125" dirty="0">
                <a:solidFill>
                  <a:srgbClr val="1F2937"/>
                </a:solidFill>
                <a:latin typeface="Sorts Mill Goudy" pitchFamily="34" charset="0"/>
                <a:ea typeface="Sorts Mill Goudy" pitchFamily="34" charset="-122"/>
                <a:cs typeface="Sorts Mill Goudy" pitchFamily="34" charset="-120"/>
              </a:rPr>
              <a:t>Many predicates are highly ambiguous without context. Consider:</a:t>
            </a:r>
            <a:endParaRPr lang="en-US" sz="1600" dirty="0"/>
          </a:p>
        </p:txBody>
      </p:sp>
      <p:sp>
        <p:nvSpPr>
          <p:cNvPr id="8" name="Shape 6"/>
          <p:cNvSpPr/>
          <p:nvPr/>
        </p:nvSpPr>
        <p:spPr>
          <a:xfrm>
            <a:off x="611833" y="2130251"/>
            <a:ext cx="5126892" cy="437662"/>
          </a:xfrm>
          <a:custGeom>
            <a:avLst/>
            <a:gdLst/>
            <a:ahLst/>
            <a:cxnLst/>
            <a:rect l="l" t="t" r="r" b="b"/>
            <a:pathLst>
              <a:path w="5126892" h="437662">
                <a:moveTo>
                  <a:pt x="0" y="0"/>
                </a:moveTo>
                <a:lnTo>
                  <a:pt x="5126892" y="0"/>
                </a:lnTo>
                <a:lnTo>
                  <a:pt x="5126892" y="437662"/>
                </a:lnTo>
                <a:lnTo>
                  <a:pt x="0" y="437662"/>
                </a:lnTo>
                <a:lnTo>
                  <a:pt x="0" y="0"/>
                </a:lnTo>
                <a:close/>
              </a:path>
            </a:pathLst>
          </a:custGeom>
          <a:solidFill>
            <a:srgbClr val="FFFFFF"/>
          </a:solidFill>
          <a:ln w="12700">
            <a:solidFill>
              <a:srgbClr val="E5E7EB"/>
            </a:solidFill>
            <a:prstDash val="solid"/>
          </a:ln>
        </p:spPr>
      </p:sp>
      <p:sp>
        <p:nvSpPr>
          <p:cNvPr id="9" name="Text 7"/>
          <p:cNvSpPr/>
          <p:nvPr/>
        </p:nvSpPr>
        <p:spPr>
          <a:xfrm>
            <a:off x="723481" y="2241899"/>
            <a:ext cx="475762" cy="205433"/>
          </a:xfrm>
          <a:prstGeom prst="rect">
            <a:avLst/>
          </a:prstGeom>
          <a:noFill/>
          <a:ln/>
        </p:spPr>
        <p:txBody>
          <a:bodyPr wrap="square" lIns="0" tIns="0" rIns="0" bIns="0" rtlCol="0" anchor="ctr"/>
          <a:lstStyle/>
          <a:p>
            <a:pPr>
              <a:lnSpc>
                <a:spcPct val="120000"/>
              </a:lnSpc>
            </a:pPr>
            <a:r>
              <a:rPr lang="en-US" sz="1125" b="1" dirty="0">
                <a:solidFill>
                  <a:srgbClr val="8B0000"/>
                </a:solidFill>
                <a:latin typeface="Sorts Mill Goudy" pitchFamily="34" charset="0"/>
                <a:ea typeface="Sorts Mill Goudy" pitchFamily="34" charset="-122"/>
                <a:cs typeface="Sorts Mill Goudy" pitchFamily="34" charset="-120"/>
              </a:rPr>
              <a:t>charge</a:t>
            </a:r>
            <a:endParaRPr lang="en-US" sz="1600" dirty="0"/>
          </a:p>
        </p:txBody>
      </p:sp>
      <p:sp>
        <p:nvSpPr>
          <p:cNvPr id="10" name="Text 8"/>
          <p:cNvSpPr/>
          <p:nvPr/>
        </p:nvSpPr>
        <p:spPr>
          <a:xfrm>
            <a:off x="1127788" y="2241899"/>
            <a:ext cx="4232589" cy="205433"/>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 financial cost, legal accusation, electrical property, military attack</a:t>
            </a:r>
            <a:endParaRPr lang="en-US" sz="1600" dirty="0"/>
          </a:p>
        </p:txBody>
      </p:sp>
      <p:sp>
        <p:nvSpPr>
          <p:cNvPr id="11" name="Shape 9"/>
          <p:cNvSpPr/>
          <p:nvPr/>
        </p:nvSpPr>
        <p:spPr>
          <a:xfrm>
            <a:off x="611833" y="2648299"/>
            <a:ext cx="5126892" cy="437662"/>
          </a:xfrm>
          <a:custGeom>
            <a:avLst/>
            <a:gdLst/>
            <a:ahLst/>
            <a:cxnLst/>
            <a:rect l="l" t="t" r="r" b="b"/>
            <a:pathLst>
              <a:path w="5126892" h="437662">
                <a:moveTo>
                  <a:pt x="0" y="0"/>
                </a:moveTo>
                <a:lnTo>
                  <a:pt x="5126892" y="0"/>
                </a:lnTo>
                <a:lnTo>
                  <a:pt x="5126892" y="437662"/>
                </a:lnTo>
                <a:lnTo>
                  <a:pt x="0" y="437662"/>
                </a:lnTo>
                <a:lnTo>
                  <a:pt x="0" y="0"/>
                </a:lnTo>
                <a:close/>
              </a:path>
            </a:pathLst>
          </a:custGeom>
          <a:solidFill>
            <a:srgbClr val="FFFFFF"/>
          </a:solidFill>
          <a:ln w="12700">
            <a:solidFill>
              <a:srgbClr val="E5E7EB"/>
            </a:solidFill>
            <a:prstDash val="solid"/>
          </a:ln>
        </p:spPr>
      </p:sp>
      <p:sp>
        <p:nvSpPr>
          <p:cNvPr id="12" name="Text 10"/>
          <p:cNvSpPr/>
          <p:nvPr/>
        </p:nvSpPr>
        <p:spPr>
          <a:xfrm>
            <a:off x="723481" y="2759947"/>
            <a:ext cx="385187" cy="205433"/>
          </a:xfrm>
          <a:prstGeom prst="rect">
            <a:avLst/>
          </a:prstGeom>
          <a:noFill/>
          <a:ln/>
        </p:spPr>
        <p:txBody>
          <a:bodyPr wrap="square" lIns="0" tIns="0" rIns="0" bIns="0" rtlCol="0" anchor="ctr"/>
          <a:lstStyle/>
          <a:p>
            <a:pPr>
              <a:lnSpc>
                <a:spcPct val="120000"/>
              </a:lnSpc>
            </a:pPr>
            <a:r>
              <a:rPr lang="en-US" sz="1125" b="1" dirty="0">
                <a:solidFill>
                  <a:srgbClr val="8B0000"/>
                </a:solidFill>
                <a:latin typeface="Sorts Mill Goudy" pitchFamily="34" charset="0"/>
                <a:ea typeface="Sorts Mill Goudy" pitchFamily="34" charset="-122"/>
                <a:cs typeface="Sorts Mill Goudy" pitchFamily="34" charset="-120"/>
              </a:rPr>
              <a:t>leave</a:t>
            </a:r>
            <a:endParaRPr lang="en-US" sz="1600" dirty="0"/>
          </a:p>
        </p:txBody>
      </p:sp>
      <p:sp>
        <p:nvSpPr>
          <p:cNvPr id="13" name="Text 11"/>
          <p:cNvSpPr/>
          <p:nvPr/>
        </p:nvSpPr>
        <p:spPr>
          <a:xfrm>
            <a:off x="1037213" y="2759947"/>
            <a:ext cx="2652625" cy="205433"/>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 depart, abandon, bequeath, permission</a:t>
            </a:r>
            <a:endParaRPr lang="en-US" sz="1600" dirty="0"/>
          </a:p>
        </p:txBody>
      </p:sp>
      <p:sp>
        <p:nvSpPr>
          <p:cNvPr id="14" name="Shape 12"/>
          <p:cNvSpPr/>
          <p:nvPr/>
        </p:nvSpPr>
        <p:spPr>
          <a:xfrm>
            <a:off x="611833" y="3166347"/>
            <a:ext cx="5126892" cy="437662"/>
          </a:xfrm>
          <a:custGeom>
            <a:avLst/>
            <a:gdLst/>
            <a:ahLst/>
            <a:cxnLst/>
            <a:rect l="l" t="t" r="r" b="b"/>
            <a:pathLst>
              <a:path w="5126892" h="437662">
                <a:moveTo>
                  <a:pt x="0" y="0"/>
                </a:moveTo>
                <a:lnTo>
                  <a:pt x="5126892" y="0"/>
                </a:lnTo>
                <a:lnTo>
                  <a:pt x="5126892" y="437662"/>
                </a:lnTo>
                <a:lnTo>
                  <a:pt x="0" y="437662"/>
                </a:lnTo>
                <a:lnTo>
                  <a:pt x="0" y="0"/>
                </a:lnTo>
                <a:close/>
              </a:path>
            </a:pathLst>
          </a:custGeom>
          <a:solidFill>
            <a:srgbClr val="FFFFFF"/>
          </a:solidFill>
          <a:ln w="12700">
            <a:solidFill>
              <a:srgbClr val="E5E7EB"/>
            </a:solidFill>
            <a:prstDash val="solid"/>
          </a:ln>
        </p:spPr>
      </p:sp>
      <p:sp>
        <p:nvSpPr>
          <p:cNvPr id="15" name="Text 13"/>
          <p:cNvSpPr/>
          <p:nvPr/>
        </p:nvSpPr>
        <p:spPr>
          <a:xfrm>
            <a:off x="723481" y="3277996"/>
            <a:ext cx="354204" cy="205433"/>
          </a:xfrm>
          <a:prstGeom prst="rect">
            <a:avLst/>
          </a:prstGeom>
          <a:noFill/>
          <a:ln/>
        </p:spPr>
        <p:txBody>
          <a:bodyPr wrap="square" lIns="0" tIns="0" rIns="0" bIns="0" rtlCol="0" anchor="ctr"/>
          <a:lstStyle/>
          <a:p>
            <a:pPr>
              <a:lnSpc>
                <a:spcPct val="120000"/>
              </a:lnSpc>
            </a:pPr>
            <a:r>
              <a:rPr lang="en-US" sz="1125" b="1" dirty="0">
                <a:solidFill>
                  <a:srgbClr val="8B0000"/>
                </a:solidFill>
                <a:latin typeface="Sorts Mill Goudy" pitchFamily="34" charset="0"/>
                <a:ea typeface="Sorts Mill Goudy" pitchFamily="34" charset="-122"/>
                <a:cs typeface="Sorts Mill Goudy" pitchFamily="34" charset="-120"/>
              </a:rPr>
              <a:t>hold</a:t>
            </a:r>
            <a:endParaRPr lang="en-US" sz="1600" dirty="0"/>
          </a:p>
        </p:txBody>
      </p:sp>
      <p:sp>
        <p:nvSpPr>
          <p:cNvPr id="16" name="Text 14"/>
          <p:cNvSpPr/>
          <p:nvPr/>
        </p:nvSpPr>
        <p:spPr>
          <a:xfrm>
            <a:off x="1006231" y="3277996"/>
            <a:ext cx="2667279" cy="205433"/>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 grasp, contain, conduct (event), believe</a:t>
            </a:r>
            <a:endParaRPr lang="en-US" sz="1600" dirty="0"/>
          </a:p>
        </p:txBody>
      </p:sp>
      <p:sp>
        <p:nvSpPr>
          <p:cNvPr id="17" name="Text 15"/>
          <p:cNvSpPr/>
          <p:nvPr/>
        </p:nvSpPr>
        <p:spPr>
          <a:xfrm>
            <a:off x="607367" y="3751385"/>
            <a:ext cx="5207279" cy="232229"/>
          </a:xfrm>
          <a:prstGeom prst="rect">
            <a:avLst/>
          </a:prstGeom>
          <a:noFill/>
          <a:ln/>
        </p:spPr>
        <p:txBody>
          <a:bodyPr wrap="square" lIns="0" tIns="0" rIns="0" bIns="0" rtlCol="0" anchor="ctr"/>
          <a:lstStyle/>
          <a:p>
            <a:pPr>
              <a:lnSpc>
                <a:spcPct val="140000"/>
              </a:lnSpc>
            </a:pPr>
            <a:r>
              <a:rPr lang="en-US" sz="1125" dirty="0">
                <a:solidFill>
                  <a:srgbClr val="1F2937"/>
                </a:solidFill>
                <a:latin typeface="Sorts Mill Goudy" pitchFamily="34" charset="0"/>
                <a:ea typeface="Sorts Mill Goudy" pitchFamily="34" charset="-122"/>
                <a:cs typeface="Sorts Mill Goudy" pitchFamily="34" charset="-120"/>
              </a:rPr>
              <a:t>Surface context alone is insufficient for correct role assignment.</a:t>
            </a:r>
            <a:endParaRPr lang="en-US" sz="1600" dirty="0"/>
          </a:p>
        </p:txBody>
      </p:sp>
      <p:sp>
        <p:nvSpPr>
          <p:cNvPr id="18" name="Shape 16"/>
          <p:cNvSpPr/>
          <p:nvPr/>
        </p:nvSpPr>
        <p:spPr>
          <a:xfrm>
            <a:off x="375138" y="4412343"/>
            <a:ext cx="5582418" cy="2054330"/>
          </a:xfrm>
          <a:custGeom>
            <a:avLst/>
            <a:gdLst/>
            <a:ahLst/>
            <a:cxnLst/>
            <a:rect l="l" t="t" r="r" b="b"/>
            <a:pathLst>
              <a:path w="5582418" h="2054330">
                <a:moveTo>
                  <a:pt x="0" y="0"/>
                </a:moveTo>
                <a:lnTo>
                  <a:pt x="5582418" y="0"/>
                </a:lnTo>
                <a:lnTo>
                  <a:pt x="5582418" y="2054330"/>
                </a:lnTo>
                <a:lnTo>
                  <a:pt x="0" y="2054330"/>
                </a:lnTo>
                <a:lnTo>
                  <a:pt x="0" y="0"/>
                </a:lnTo>
                <a:close/>
              </a:path>
            </a:pathLst>
          </a:custGeom>
          <a:solidFill>
            <a:srgbClr val="F9FAFB"/>
          </a:solidFill>
          <a:ln/>
        </p:spPr>
      </p:sp>
      <p:sp>
        <p:nvSpPr>
          <p:cNvPr id="19" name="Shape 17"/>
          <p:cNvSpPr/>
          <p:nvPr/>
        </p:nvSpPr>
        <p:spPr>
          <a:xfrm>
            <a:off x="375138" y="4412343"/>
            <a:ext cx="35727" cy="2054330"/>
          </a:xfrm>
          <a:custGeom>
            <a:avLst/>
            <a:gdLst/>
            <a:ahLst/>
            <a:cxnLst/>
            <a:rect l="l" t="t" r="r" b="b"/>
            <a:pathLst>
              <a:path w="35727" h="2054330">
                <a:moveTo>
                  <a:pt x="0" y="0"/>
                </a:moveTo>
                <a:lnTo>
                  <a:pt x="35727" y="0"/>
                </a:lnTo>
                <a:lnTo>
                  <a:pt x="35727" y="2054330"/>
                </a:lnTo>
                <a:lnTo>
                  <a:pt x="0" y="2054330"/>
                </a:lnTo>
                <a:lnTo>
                  <a:pt x="0" y="0"/>
                </a:lnTo>
                <a:close/>
              </a:path>
            </a:pathLst>
          </a:custGeom>
          <a:solidFill>
            <a:srgbClr val="8B0000"/>
          </a:solidFill>
          <a:ln/>
        </p:spPr>
      </p:sp>
      <p:sp>
        <p:nvSpPr>
          <p:cNvPr id="20" name="Text 18"/>
          <p:cNvSpPr/>
          <p:nvPr/>
        </p:nvSpPr>
        <p:spPr>
          <a:xfrm>
            <a:off x="607367" y="4626708"/>
            <a:ext cx="5225143" cy="250092"/>
          </a:xfrm>
          <a:prstGeom prst="rect">
            <a:avLst/>
          </a:prstGeom>
          <a:noFill/>
          <a:ln/>
        </p:spPr>
        <p:txBody>
          <a:bodyPr wrap="square" lIns="0" tIns="0" rIns="0" bIns="0" rtlCol="0" anchor="ctr"/>
          <a:lstStyle/>
          <a:p>
            <a:pPr>
              <a:lnSpc>
                <a:spcPct val="120000"/>
              </a:lnSpc>
            </a:pPr>
            <a:r>
              <a:rPr lang="en-US" sz="1407" b="1" dirty="0">
                <a:solidFill>
                  <a:srgbClr val="1F2937"/>
                </a:solidFill>
                <a:latin typeface="Sorts Mill Goudy" pitchFamily="34" charset="0"/>
                <a:ea typeface="Sorts Mill Goudy" pitchFamily="34" charset="-122"/>
                <a:cs typeface="Sorts Mill Goudy" pitchFamily="34" charset="-120"/>
              </a:rPr>
              <a:t>The Solution: Roleset Memory</a:t>
            </a:r>
            <a:endParaRPr lang="en-US" sz="1600" dirty="0"/>
          </a:p>
        </p:txBody>
      </p:sp>
      <p:sp>
        <p:nvSpPr>
          <p:cNvPr id="21" name="Text 19"/>
          <p:cNvSpPr/>
          <p:nvPr/>
        </p:nvSpPr>
        <p:spPr>
          <a:xfrm>
            <a:off x="607367" y="4983982"/>
            <a:ext cx="5207279" cy="232229"/>
          </a:xfrm>
          <a:prstGeom prst="rect">
            <a:avLst/>
          </a:prstGeom>
          <a:noFill/>
          <a:ln/>
        </p:spPr>
        <p:txBody>
          <a:bodyPr wrap="square" lIns="0" tIns="0" rIns="0" bIns="0" rtlCol="0" anchor="ctr"/>
          <a:lstStyle/>
          <a:p>
            <a:pPr>
              <a:lnSpc>
                <a:spcPct val="140000"/>
              </a:lnSpc>
            </a:pPr>
            <a:r>
              <a:rPr lang="en-US" sz="1125" dirty="0">
                <a:solidFill>
                  <a:srgbClr val="1F2937"/>
                </a:solidFill>
                <a:latin typeface="Sorts Mill Goudy" pitchFamily="34" charset="0"/>
                <a:ea typeface="Sorts Mill Goudy" pitchFamily="34" charset="-122"/>
                <a:cs typeface="Sorts Mill Goudy" pitchFamily="34" charset="-120"/>
              </a:rPr>
              <a:t>Replace isolated predicate embeddings with a </a:t>
            </a:r>
            <a:r>
              <a:rPr lang="en-US" sz="1125" b="1" dirty="0">
                <a:solidFill>
                  <a:srgbClr val="1F2937"/>
                </a:solidFill>
                <a:latin typeface="Sorts Mill Goudy" pitchFamily="34" charset="0"/>
                <a:ea typeface="Sorts Mill Goudy" pitchFamily="34" charset="-122"/>
                <a:cs typeface="Sorts Mill Goudy" pitchFamily="34" charset="-120"/>
              </a:rPr>
              <a:t>roleset memory</a:t>
            </a:r>
            <a:r>
              <a:rPr lang="en-US" sz="1125" dirty="0">
                <a:solidFill>
                  <a:srgbClr val="1F2937"/>
                </a:solidFill>
                <a:latin typeface="Sorts Mill Goudy" pitchFamily="34" charset="0"/>
                <a:ea typeface="Sorts Mill Goudy" pitchFamily="34" charset="-122"/>
                <a:cs typeface="Sorts Mill Goudy" pitchFamily="34" charset="-120"/>
              </a:rPr>
              <a:t> module:</a:t>
            </a:r>
            <a:endParaRPr lang="en-US" sz="1600" dirty="0"/>
          </a:p>
        </p:txBody>
      </p:sp>
      <p:sp>
        <p:nvSpPr>
          <p:cNvPr id="22" name="Text 20"/>
          <p:cNvSpPr/>
          <p:nvPr/>
        </p:nvSpPr>
        <p:spPr>
          <a:xfrm>
            <a:off x="607367" y="5394848"/>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3" name="Text 21"/>
          <p:cNvSpPr/>
          <p:nvPr/>
        </p:nvSpPr>
        <p:spPr>
          <a:xfrm>
            <a:off x="794936" y="5359121"/>
            <a:ext cx="3126154"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Each candidate roleset contributes key-value pairs</a:t>
            </a:r>
            <a:endParaRPr lang="en-US" sz="1600" dirty="0"/>
          </a:p>
        </p:txBody>
      </p:sp>
      <p:sp>
        <p:nvSpPr>
          <p:cNvPr id="24" name="Text 22"/>
          <p:cNvSpPr/>
          <p:nvPr/>
        </p:nvSpPr>
        <p:spPr>
          <a:xfrm>
            <a:off x="607367" y="5716396"/>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5" name="Text 23"/>
          <p:cNvSpPr/>
          <p:nvPr/>
        </p:nvSpPr>
        <p:spPr>
          <a:xfrm>
            <a:off x="794936" y="5680668"/>
            <a:ext cx="3894295"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Encodes role descriptions, example glosses, lexical paraphrases</a:t>
            </a:r>
            <a:endParaRPr lang="en-US" sz="1600" dirty="0"/>
          </a:p>
        </p:txBody>
      </p:sp>
      <p:sp>
        <p:nvSpPr>
          <p:cNvPr id="26" name="Text 24"/>
          <p:cNvSpPr/>
          <p:nvPr/>
        </p:nvSpPr>
        <p:spPr>
          <a:xfrm>
            <a:off x="607367" y="6037943"/>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7" name="Text 25"/>
          <p:cNvSpPr/>
          <p:nvPr/>
        </p:nvSpPr>
        <p:spPr>
          <a:xfrm>
            <a:off x="794936" y="6002215"/>
            <a:ext cx="2831402"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Model attends over memory during decoding</a:t>
            </a:r>
            <a:endParaRPr lang="en-US" sz="1600" dirty="0"/>
          </a:p>
        </p:txBody>
      </p:sp>
      <p:sp>
        <p:nvSpPr>
          <p:cNvPr id="28" name="Shape 26"/>
          <p:cNvSpPr/>
          <p:nvPr/>
        </p:nvSpPr>
        <p:spPr>
          <a:xfrm>
            <a:off x="6240305" y="1179007"/>
            <a:ext cx="5600281" cy="3447701"/>
          </a:xfrm>
          <a:custGeom>
            <a:avLst/>
            <a:gdLst/>
            <a:ahLst/>
            <a:cxnLst/>
            <a:rect l="l" t="t" r="r" b="b"/>
            <a:pathLst>
              <a:path w="5600281" h="3447701">
                <a:moveTo>
                  <a:pt x="0" y="0"/>
                </a:moveTo>
                <a:lnTo>
                  <a:pt x="5600281" y="0"/>
                </a:lnTo>
                <a:lnTo>
                  <a:pt x="5600281" y="3447701"/>
                </a:lnTo>
                <a:lnTo>
                  <a:pt x="0" y="3447701"/>
                </a:lnTo>
                <a:lnTo>
                  <a:pt x="0" y="0"/>
                </a:lnTo>
                <a:close/>
              </a:path>
            </a:pathLst>
          </a:custGeom>
          <a:solidFill>
            <a:srgbClr val="F9FAFB"/>
          </a:solidFill>
          <a:ln/>
        </p:spPr>
      </p:sp>
      <p:sp>
        <p:nvSpPr>
          <p:cNvPr id="29" name="Text 27"/>
          <p:cNvSpPr/>
          <p:nvPr/>
        </p:nvSpPr>
        <p:spPr>
          <a:xfrm>
            <a:off x="6454670" y="1393371"/>
            <a:ext cx="5260870" cy="250092"/>
          </a:xfrm>
          <a:prstGeom prst="rect">
            <a:avLst/>
          </a:prstGeom>
          <a:noFill/>
          <a:ln/>
        </p:spPr>
        <p:txBody>
          <a:bodyPr wrap="square" lIns="0" tIns="0" rIns="0" bIns="0" rtlCol="0" anchor="ctr"/>
          <a:lstStyle/>
          <a:p>
            <a:pPr>
              <a:lnSpc>
                <a:spcPct val="120000"/>
              </a:lnSpc>
            </a:pPr>
            <a:r>
              <a:rPr lang="en-US" sz="1407" b="1" dirty="0">
                <a:solidFill>
                  <a:srgbClr val="1F2937"/>
                </a:solidFill>
                <a:latin typeface="Sorts Mill Goudy" pitchFamily="34" charset="0"/>
                <a:ea typeface="Sorts Mill Goudy" pitchFamily="34" charset="-122"/>
                <a:cs typeface="Sorts Mill Goudy" pitchFamily="34" charset="-120"/>
              </a:rPr>
              <a:t>Memory Structure</a:t>
            </a:r>
            <a:endParaRPr lang="en-US" sz="1600" dirty="0"/>
          </a:p>
        </p:txBody>
      </p:sp>
      <p:sp>
        <p:nvSpPr>
          <p:cNvPr id="30" name="Shape 28"/>
          <p:cNvSpPr/>
          <p:nvPr/>
        </p:nvSpPr>
        <p:spPr>
          <a:xfrm>
            <a:off x="6459136" y="1790840"/>
            <a:ext cx="5162620" cy="794936"/>
          </a:xfrm>
          <a:custGeom>
            <a:avLst/>
            <a:gdLst/>
            <a:ahLst/>
            <a:cxnLst/>
            <a:rect l="l" t="t" r="r" b="b"/>
            <a:pathLst>
              <a:path w="5162620" h="794936">
                <a:moveTo>
                  <a:pt x="0" y="0"/>
                </a:moveTo>
                <a:lnTo>
                  <a:pt x="5162620" y="0"/>
                </a:lnTo>
                <a:lnTo>
                  <a:pt x="5162620" y="794936"/>
                </a:lnTo>
                <a:lnTo>
                  <a:pt x="0" y="794936"/>
                </a:lnTo>
                <a:lnTo>
                  <a:pt x="0" y="0"/>
                </a:lnTo>
                <a:close/>
              </a:path>
            </a:pathLst>
          </a:custGeom>
          <a:solidFill>
            <a:srgbClr val="FFFFFF"/>
          </a:solidFill>
          <a:ln w="12700">
            <a:solidFill>
              <a:srgbClr val="E5E7EB"/>
            </a:solidFill>
            <a:prstDash val="solid"/>
          </a:ln>
        </p:spPr>
      </p:sp>
      <p:sp>
        <p:nvSpPr>
          <p:cNvPr id="31" name="Shape 29"/>
          <p:cNvSpPr/>
          <p:nvPr/>
        </p:nvSpPr>
        <p:spPr>
          <a:xfrm>
            <a:off x="6624376" y="1973943"/>
            <a:ext cx="142910" cy="142910"/>
          </a:xfrm>
          <a:custGeom>
            <a:avLst/>
            <a:gdLst/>
            <a:ahLst/>
            <a:cxnLst/>
            <a:rect l="l" t="t" r="r" b="b"/>
            <a:pathLst>
              <a:path w="142910" h="142910">
                <a:moveTo>
                  <a:pt x="93785" y="98251"/>
                </a:moveTo>
                <a:cubicBezTo>
                  <a:pt x="120915" y="98251"/>
                  <a:pt x="142910" y="76256"/>
                  <a:pt x="142910" y="49125"/>
                </a:cubicBezTo>
                <a:cubicBezTo>
                  <a:pt x="142910" y="21995"/>
                  <a:pt x="120915" y="0"/>
                  <a:pt x="93785" y="0"/>
                </a:cubicBezTo>
                <a:cubicBezTo>
                  <a:pt x="66654" y="0"/>
                  <a:pt x="44659" y="21995"/>
                  <a:pt x="44659" y="49125"/>
                </a:cubicBezTo>
                <a:cubicBezTo>
                  <a:pt x="44659" y="54345"/>
                  <a:pt x="45469" y="59397"/>
                  <a:pt x="46976" y="64114"/>
                </a:cubicBezTo>
                <a:lnTo>
                  <a:pt x="1954" y="109136"/>
                </a:lnTo>
                <a:cubicBezTo>
                  <a:pt x="698" y="110392"/>
                  <a:pt x="0" y="112095"/>
                  <a:pt x="0" y="113881"/>
                </a:cubicBezTo>
                <a:lnTo>
                  <a:pt x="0" y="136211"/>
                </a:lnTo>
                <a:cubicBezTo>
                  <a:pt x="0" y="139923"/>
                  <a:pt x="2987" y="142910"/>
                  <a:pt x="6699" y="142910"/>
                </a:cubicBezTo>
                <a:lnTo>
                  <a:pt x="29029" y="142910"/>
                </a:lnTo>
                <a:cubicBezTo>
                  <a:pt x="32741" y="142910"/>
                  <a:pt x="35727" y="139923"/>
                  <a:pt x="35727" y="136211"/>
                </a:cubicBezTo>
                <a:lnTo>
                  <a:pt x="35727" y="125046"/>
                </a:lnTo>
                <a:lnTo>
                  <a:pt x="46892" y="125046"/>
                </a:lnTo>
                <a:cubicBezTo>
                  <a:pt x="50605" y="125046"/>
                  <a:pt x="53591" y="122060"/>
                  <a:pt x="53591" y="118347"/>
                </a:cubicBezTo>
                <a:lnTo>
                  <a:pt x="53591" y="107182"/>
                </a:lnTo>
                <a:lnTo>
                  <a:pt x="64756" y="107182"/>
                </a:lnTo>
                <a:cubicBezTo>
                  <a:pt x="66542" y="107182"/>
                  <a:pt x="68245" y="106485"/>
                  <a:pt x="69501" y="105229"/>
                </a:cubicBezTo>
                <a:lnTo>
                  <a:pt x="78796" y="95934"/>
                </a:lnTo>
                <a:cubicBezTo>
                  <a:pt x="83513" y="97441"/>
                  <a:pt x="88565" y="98251"/>
                  <a:pt x="93785" y="98251"/>
                </a:cubicBezTo>
                <a:close/>
                <a:moveTo>
                  <a:pt x="104949" y="26796"/>
                </a:moveTo>
                <a:cubicBezTo>
                  <a:pt x="111111" y="26796"/>
                  <a:pt x="116114" y="31798"/>
                  <a:pt x="116114" y="37960"/>
                </a:cubicBezTo>
                <a:cubicBezTo>
                  <a:pt x="116114" y="44122"/>
                  <a:pt x="111111" y="49125"/>
                  <a:pt x="104949" y="49125"/>
                </a:cubicBezTo>
                <a:cubicBezTo>
                  <a:pt x="98787" y="49125"/>
                  <a:pt x="93785" y="44122"/>
                  <a:pt x="93785" y="37960"/>
                </a:cubicBezTo>
                <a:cubicBezTo>
                  <a:pt x="93785" y="31798"/>
                  <a:pt x="98787" y="26796"/>
                  <a:pt x="104949" y="26796"/>
                </a:cubicBezTo>
                <a:close/>
              </a:path>
            </a:pathLst>
          </a:custGeom>
          <a:solidFill>
            <a:srgbClr val="8B0000"/>
          </a:solidFill>
          <a:ln/>
        </p:spPr>
      </p:sp>
      <p:sp>
        <p:nvSpPr>
          <p:cNvPr id="32" name="Text 30"/>
          <p:cNvSpPr/>
          <p:nvPr/>
        </p:nvSpPr>
        <p:spPr>
          <a:xfrm>
            <a:off x="6892332" y="1938215"/>
            <a:ext cx="366207" cy="214365"/>
          </a:xfrm>
          <a:prstGeom prst="rect">
            <a:avLst/>
          </a:prstGeom>
          <a:noFill/>
          <a:ln/>
        </p:spPr>
        <p:txBody>
          <a:bodyPr wrap="square" lIns="0" tIns="0" rIns="0" bIns="0" rtlCol="0" anchor="ctr"/>
          <a:lstStyle/>
          <a:p>
            <a:pPr>
              <a:lnSpc>
                <a:spcPct val="120000"/>
              </a:lnSpc>
            </a:pPr>
            <a:r>
              <a:rPr lang="en-US" sz="1125" b="1" dirty="0">
                <a:solidFill>
                  <a:srgbClr val="1F2937"/>
                </a:solidFill>
                <a:latin typeface="Sorts Mill Goudy" pitchFamily="34" charset="0"/>
                <a:ea typeface="Sorts Mill Goudy" pitchFamily="34" charset="-122"/>
                <a:cs typeface="Sorts Mill Goudy" pitchFamily="34" charset="-120"/>
              </a:rPr>
              <a:t>Keys</a:t>
            </a:r>
            <a:endParaRPr lang="en-US" sz="1600" dirty="0"/>
          </a:p>
        </p:txBody>
      </p:sp>
      <p:sp>
        <p:nvSpPr>
          <p:cNvPr id="33" name="Text 31"/>
          <p:cNvSpPr/>
          <p:nvPr/>
        </p:nvSpPr>
        <p:spPr>
          <a:xfrm>
            <a:off x="6606512" y="2224035"/>
            <a:ext cx="4939323" cy="214365"/>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Predicate sense identifiers, semantic type indicators</a:t>
            </a:r>
            <a:endParaRPr lang="en-US" sz="1600" dirty="0"/>
          </a:p>
        </p:txBody>
      </p:sp>
      <p:sp>
        <p:nvSpPr>
          <p:cNvPr id="34" name="Shape 32"/>
          <p:cNvSpPr/>
          <p:nvPr/>
        </p:nvSpPr>
        <p:spPr>
          <a:xfrm>
            <a:off x="6459136" y="2701890"/>
            <a:ext cx="5162620" cy="794936"/>
          </a:xfrm>
          <a:custGeom>
            <a:avLst/>
            <a:gdLst/>
            <a:ahLst/>
            <a:cxnLst/>
            <a:rect l="l" t="t" r="r" b="b"/>
            <a:pathLst>
              <a:path w="5162620" h="794936">
                <a:moveTo>
                  <a:pt x="0" y="0"/>
                </a:moveTo>
                <a:lnTo>
                  <a:pt x="5162620" y="0"/>
                </a:lnTo>
                <a:lnTo>
                  <a:pt x="5162620" y="794936"/>
                </a:lnTo>
                <a:lnTo>
                  <a:pt x="0" y="794936"/>
                </a:lnTo>
                <a:lnTo>
                  <a:pt x="0" y="0"/>
                </a:lnTo>
                <a:close/>
              </a:path>
            </a:pathLst>
          </a:custGeom>
          <a:solidFill>
            <a:srgbClr val="FFFFFF"/>
          </a:solidFill>
          <a:ln w="12700">
            <a:solidFill>
              <a:srgbClr val="E5E7EB"/>
            </a:solidFill>
            <a:prstDash val="solid"/>
          </a:ln>
        </p:spPr>
      </p:sp>
      <p:sp>
        <p:nvSpPr>
          <p:cNvPr id="35" name="Shape 33"/>
          <p:cNvSpPr/>
          <p:nvPr/>
        </p:nvSpPr>
        <p:spPr>
          <a:xfrm>
            <a:off x="6633308" y="2884993"/>
            <a:ext cx="125046" cy="142910"/>
          </a:xfrm>
          <a:custGeom>
            <a:avLst/>
            <a:gdLst/>
            <a:ahLst/>
            <a:cxnLst/>
            <a:rect l="l" t="t" r="r" b="b"/>
            <a:pathLst>
              <a:path w="125046" h="142910">
                <a:moveTo>
                  <a:pt x="125046" y="57443"/>
                </a:moveTo>
                <a:cubicBezTo>
                  <a:pt x="120915" y="60178"/>
                  <a:pt x="116170" y="62384"/>
                  <a:pt x="111230" y="64142"/>
                </a:cubicBezTo>
                <a:cubicBezTo>
                  <a:pt x="98111" y="68831"/>
                  <a:pt x="80889" y="71455"/>
                  <a:pt x="62523" y="71455"/>
                </a:cubicBezTo>
                <a:cubicBezTo>
                  <a:pt x="44157" y="71455"/>
                  <a:pt x="26907" y="68803"/>
                  <a:pt x="13816" y="64142"/>
                </a:cubicBezTo>
                <a:cubicBezTo>
                  <a:pt x="8904" y="62384"/>
                  <a:pt x="4131" y="60178"/>
                  <a:pt x="0" y="57443"/>
                </a:cubicBezTo>
                <a:lnTo>
                  <a:pt x="0" y="80387"/>
                </a:lnTo>
                <a:cubicBezTo>
                  <a:pt x="0" y="92724"/>
                  <a:pt x="27996" y="102716"/>
                  <a:pt x="62523" y="102716"/>
                </a:cubicBezTo>
                <a:cubicBezTo>
                  <a:pt x="97050" y="102716"/>
                  <a:pt x="125046" y="92724"/>
                  <a:pt x="125046" y="80387"/>
                </a:cubicBezTo>
                <a:lnTo>
                  <a:pt x="125046" y="57443"/>
                </a:lnTo>
                <a:close/>
                <a:moveTo>
                  <a:pt x="125046" y="35727"/>
                </a:moveTo>
                <a:lnTo>
                  <a:pt x="125046" y="22330"/>
                </a:lnTo>
                <a:cubicBezTo>
                  <a:pt x="125046" y="9993"/>
                  <a:pt x="97050" y="0"/>
                  <a:pt x="62523" y="0"/>
                </a:cubicBezTo>
                <a:cubicBezTo>
                  <a:pt x="27996" y="0"/>
                  <a:pt x="0" y="9993"/>
                  <a:pt x="0" y="22330"/>
                </a:cubicBezTo>
                <a:lnTo>
                  <a:pt x="0" y="35727"/>
                </a:lnTo>
                <a:cubicBezTo>
                  <a:pt x="0" y="48065"/>
                  <a:pt x="27996" y="58057"/>
                  <a:pt x="62523" y="58057"/>
                </a:cubicBezTo>
                <a:cubicBezTo>
                  <a:pt x="97050" y="58057"/>
                  <a:pt x="125046" y="48065"/>
                  <a:pt x="125046" y="35727"/>
                </a:cubicBezTo>
                <a:close/>
                <a:moveTo>
                  <a:pt x="111230" y="108801"/>
                </a:moveTo>
                <a:cubicBezTo>
                  <a:pt x="98139" y="113463"/>
                  <a:pt x="80917" y="116114"/>
                  <a:pt x="62523" y="116114"/>
                </a:cubicBezTo>
                <a:cubicBezTo>
                  <a:pt x="44129" y="116114"/>
                  <a:pt x="26907" y="113463"/>
                  <a:pt x="13816" y="108801"/>
                </a:cubicBezTo>
                <a:cubicBezTo>
                  <a:pt x="8904" y="107043"/>
                  <a:pt x="4131" y="104838"/>
                  <a:pt x="0" y="102102"/>
                </a:cubicBezTo>
                <a:lnTo>
                  <a:pt x="0" y="120580"/>
                </a:lnTo>
                <a:cubicBezTo>
                  <a:pt x="0" y="132917"/>
                  <a:pt x="27996" y="142910"/>
                  <a:pt x="62523" y="142910"/>
                </a:cubicBezTo>
                <a:cubicBezTo>
                  <a:pt x="97050" y="142910"/>
                  <a:pt x="125046" y="132917"/>
                  <a:pt x="125046" y="120580"/>
                </a:cubicBezTo>
                <a:lnTo>
                  <a:pt x="125046" y="102102"/>
                </a:lnTo>
                <a:cubicBezTo>
                  <a:pt x="120915" y="104838"/>
                  <a:pt x="116170" y="107043"/>
                  <a:pt x="111230" y="108801"/>
                </a:cubicBezTo>
                <a:close/>
              </a:path>
            </a:pathLst>
          </a:custGeom>
          <a:solidFill>
            <a:srgbClr val="8B0000"/>
          </a:solidFill>
          <a:ln/>
        </p:spPr>
      </p:sp>
      <p:sp>
        <p:nvSpPr>
          <p:cNvPr id="36" name="Text 34"/>
          <p:cNvSpPr/>
          <p:nvPr/>
        </p:nvSpPr>
        <p:spPr>
          <a:xfrm>
            <a:off x="6892332" y="2849266"/>
            <a:ext cx="500185" cy="214365"/>
          </a:xfrm>
          <a:prstGeom prst="rect">
            <a:avLst/>
          </a:prstGeom>
          <a:noFill/>
          <a:ln/>
        </p:spPr>
        <p:txBody>
          <a:bodyPr wrap="square" lIns="0" tIns="0" rIns="0" bIns="0" rtlCol="0" anchor="ctr"/>
          <a:lstStyle/>
          <a:p>
            <a:pPr>
              <a:lnSpc>
                <a:spcPct val="120000"/>
              </a:lnSpc>
            </a:pPr>
            <a:r>
              <a:rPr lang="en-US" sz="1125" b="1" dirty="0">
                <a:solidFill>
                  <a:srgbClr val="1F2937"/>
                </a:solidFill>
                <a:latin typeface="Sorts Mill Goudy" pitchFamily="34" charset="0"/>
                <a:ea typeface="Sorts Mill Goudy" pitchFamily="34" charset="-122"/>
                <a:cs typeface="Sorts Mill Goudy" pitchFamily="34" charset="-120"/>
              </a:rPr>
              <a:t>Values</a:t>
            </a:r>
            <a:endParaRPr lang="en-US" sz="1600" dirty="0"/>
          </a:p>
        </p:txBody>
      </p:sp>
      <p:sp>
        <p:nvSpPr>
          <p:cNvPr id="37" name="Text 35"/>
          <p:cNvSpPr/>
          <p:nvPr/>
        </p:nvSpPr>
        <p:spPr>
          <a:xfrm>
            <a:off x="6606512" y="3135086"/>
            <a:ext cx="4939323" cy="214365"/>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Role descriptions, example sentences, frame constraints</a:t>
            </a:r>
            <a:endParaRPr lang="en-US" sz="1600" dirty="0"/>
          </a:p>
        </p:txBody>
      </p:sp>
      <p:sp>
        <p:nvSpPr>
          <p:cNvPr id="38" name="Shape 36"/>
          <p:cNvSpPr/>
          <p:nvPr/>
        </p:nvSpPr>
        <p:spPr>
          <a:xfrm>
            <a:off x="6459136" y="3612941"/>
            <a:ext cx="5162620" cy="794936"/>
          </a:xfrm>
          <a:custGeom>
            <a:avLst/>
            <a:gdLst/>
            <a:ahLst/>
            <a:cxnLst/>
            <a:rect l="l" t="t" r="r" b="b"/>
            <a:pathLst>
              <a:path w="5162620" h="794936">
                <a:moveTo>
                  <a:pt x="0" y="0"/>
                </a:moveTo>
                <a:lnTo>
                  <a:pt x="5162620" y="0"/>
                </a:lnTo>
                <a:lnTo>
                  <a:pt x="5162620" y="794936"/>
                </a:lnTo>
                <a:lnTo>
                  <a:pt x="0" y="794936"/>
                </a:lnTo>
                <a:lnTo>
                  <a:pt x="0" y="0"/>
                </a:lnTo>
                <a:close/>
              </a:path>
            </a:pathLst>
          </a:custGeom>
          <a:solidFill>
            <a:srgbClr val="FFFFFF"/>
          </a:solidFill>
          <a:ln w="12700">
            <a:solidFill>
              <a:srgbClr val="E5E7EB"/>
            </a:solidFill>
            <a:prstDash val="solid"/>
          </a:ln>
        </p:spPr>
      </p:sp>
      <p:sp>
        <p:nvSpPr>
          <p:cNvPr id="39" name="Shape 37"/>
          <p:cNvSpPr/>
          <p:nvPr/>
        </p:nvSpPr>
        <p:spPr>
          <a:xfrm>
            <a:off x="6615444" y="3796044"/>
            <a:ext cx="160774" cy="142910"/>
          </a:xfrm>
          <a:custGeom>
            <a:avLst/>
            <a:gdLst/>
            <a:ahLst/>
            <a:cxnLst/>
            <a:rect l="l" t="t" r="r" b="b"/>
            <a:pathLst>
              <a:path w="160774" h="142910">
                <a:moveTo>
                  <a:pt x="80387" y="8932"/>
                </a:moveTo>
                <a:cubicBezTo>
                  <a:pt x="57834" y="8932"/>
                  <a:pt x="39775" y="19204"/>
                  <a:pt x="26628" y="31429"/>
                </a:cubicBezTo>
                <a:cubicBezTo>
                  <a:pt x="13565" y="43571"/>
                  <a:pt x="4829" y="58057"/>
                  <a:pt x="670" y="68022"/>
                </a:cubicBezTo>
                <a:cubicBezTo>
                  <a:pt x="-251" y="70227"/>
                  <a:pt x="-251" y="72683"/>
                  <a:pt x="670" y="74888"/>
                </a:cubicBezTo>
                <a:cubicBezTo>
                  <a:pt x="4829" y="84853"/>
                  <a:pt x="13565" y="99367"/>
                  <a:pt x="26628" y="111481"/>
                </a:cubicBezTo>
                <a:cubicBezTo>
                  <a:pt x="39775" y="123678"/>
                  <a:pt x="57834" y="133978"/>
                  <a:pt x="80387" y="133978"/>
                </a:cubicBezTo>
                <a:cubicBezTo>
                  <a:pt x="102940" y="133978"/>
                  <a:pt x="120999" y="123706"/>
                  <a:pt x="134145" y="111481"/>
                </a:cubicBezTo>
                <a:cubicBezTo>
                  <a:pt x="147208" y="99339"/>
                  <a:pt x="155945" y="84853"/>
                  <a:pt x="160104" y="74888"/>
                </a:cubicBezTo>
                <a:cubicBezTo>
                  <a:pt x="161025" y="72683"/>
                  <a:pt x="161025" y="70227"/>
                  <a:pt x="160104" y="68022"/>
                </a:cubicBezTo>
                <a:cubicBezTo>
                  <a:pt x="155945" y="58057"/>
                  <a:pt x="147208" y="43543"/>
                  <a:pt x="134145" y="31429"/>
                </a:cubicBezTo>
                <a:cubicBezTo>
                  <a:pt x="120999" y="19231"/>
                  <a:pt x="102940" y="8932"/>
                  <a:pt x="80387" y="8932"/>
                </a:cubicBezTo>
                <a:close/>
                <a:moveTo>
                  <a:pt x="40193" y="71455"/>
                </a:moveTo>
                <a:cubicBezTo>
                  <a:pt x="40193" y="49272"/>
                  <a:pt x="58203" y="31262"/>
                  <a:pt x="80387" y="31262"/>
                </a:cubicBezTo>
                <a:cubicBezTo>
                  <a:pt x="102570" y="31262"/>
                  <a:pt x="120580" y="49272"/>
                  <a:pt x="120580" y="71455"/>
                </a:cubicBezTo>
                <a:cubicBezTo>
                  <a:pt x="120580" y="93638"/>
                  <a:pt x="102570" y="111648"/>
                  <a:pt x="80387" y="111648"/>
                </a:cubicBezTo>
                <a:cubicBezTo>
                  <a:pt x="58203" y="111648"/>
                  <a:pt x="40193" y="93638"/>
                  <a:pt x="40193" y="71455"/>
                </a:cubicBezTo>
                <a:close/>
                <a:moveTo>
                  <a:pt x="80387" y="53591"/>
                </a:moveTo>
                <a:cubicBezTo>
                  <a:pt x="80387" y="63444"/>
                  <a:pt x="72376" y="71455"/>
                  <a:pt x="62523" y="71455"/>
                </a:cubicBezTo>
                <a:cubicBezTo>
                  <a:pt x="59313" y="71455"/>
                  <a:pt x="56299" y="70618"/>
                  <a:pt x="53675" y="69110"/>
                </a:cubicBezTo>
                <a:cubicBezTo>
                  <a:pt x="53396" y="72153"/>
                  <a:pt x="53647" y="75279"/>
                  <a:pt x="54484" y="78377"/>
                </a:cubicBezTo>
                <a:cubicBezTo>
                  <a:pt x="58308" y="92668"/>
                  <a:pt x="73018" y="101153"/>
                  <a:pt x="87309" y="97329"/>
                </a:cubicBezTo>
                <a:cubicBezTo>
                  <a:pt x="101600" y="93505"/>
                  <a:pt x="110085" y="78796"/>
                  <a:pt x="106261" y="64505"/>
                </a:cubicBezTo>
                <a:cubicBezTo>
                  <a:pt x="102856" y="51749"/>
                  <a:pt x="90770" y="43627"/>
                  <a:pt x="78042" y="44743"/>
                </a:cubicBezTo>
                <a:cubicBezTo>
                  <a:pt x="79522" y="47339"/>
                  <a:pt x="80387" y="50353"/>
                  <a:pt x="80387" y="53591"/>
                </a:cubicBezTo>
                <a:close/>
              </a:path>
            </a:pathLst>
          </a:custGeom>
          <a:solidFill>
            <a:srgbClr val="8B0000"/>
          </a:solidFill>
          <a:ln/>
        </p:spPr>
      </p:sp>
      <p:sp>
        <p:nvSpPr>
          <p:cNvPr id="40" name="Text 38"/>
          <p:cNvSpPr/>
          <p:nvPr/>
        </p:nvSpPr>
        <p:spPr>
          <a:xfrm>
            <a:off x="6892332" y="3760316"/>
            <a:ext cx="687754" cy="214365"/>
          </a:xfrm>
          <a:prstGeom prst="rect">
            <a:avLst/>
          </a:prstGeom>
          <a:noFill/>
          <a:ln/>
        </p:spPr>
        <p:txBody>
          <a:bodyPr wrap="square" lIns="0" tIns="0" rIns="0" bIns="0" rtlCol="0" anchor="ctr"/>
          <a:lstStyle/>
          <a:p>
            <a:pPr>
              <a:lnSpc>
                <a:spcPct val="120000"/>
              </a:lnSpc>
            </a:pPr>
            <a:r>
              <a:rPr lang="en-US" sz="1125" b="1" dirty="0">
                <a:solidFill>
                  <a:srgbClr val="1F2937"/>
                </a:solidFill>
                <a:latin typeface="Sorts Mill Goudy" pitchFamily="34" charset="0"/>
                <a:ea typeface="Sorts Mill Goudy" pitchFamily="34" charset="-122"/>
                <a:cs typeface="Sorts Mill Goudy" pitchFamily="34" charset="-120"/>
              </a:rPr>
              <a:t>Attention</a:t>
            </a:r>
            <a:endParaRPr lang="en-US" sz="1600" dirty="0"/>
          </a:p>
        </p:txBody>
      </p:sp>
      <p:sp>
        <p:nvSpPr>
          <p:cNvPr id="41" name="Text 39"/>
          <p:cNvSpPr/>
          <p:nvPr/>
        </p:nvSpPr>
        <p:spPr>
          <a:xfrm>
            <a:off x="6606512" y="4046136"/>
            <a:ext cx="4939323" cy="214365"/>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Contextual predicate representation queries memory</a:t>
            </a:r>
            <a:endParaRPr lang="en-US" sz="1600" dirty="0"/>
          </a:p>
        </p:txBody>
      </p:sp>
      <p:sp>
        <p:nvSpPr>
          <p:cNvPr id="42" name="Shape 40"/>
          <p:cNvSpPr/>
          <p:nvPr/>
        </p:nvSpPr>
        <p:spPr>
          <a:xfrm>
            <a:off x="6244771" y="4845538"/>
            <a:ext cx="5591349" cy="2009670"/>
          </a:xfrm>
          <a:custGeom>
            <a:avLst/>
            <a:gdLst/>
            <a:ahLst/>
            <a:cxnLst/>
            <a:rect l="l" t="t" r="r" b="b"/>
            <a:pathLst>
              <a:path w="5591349" h="2009670">
                <a:moveTo>
                  <a:pt x="0" y="0"/>
                </a:moveTo>
                <a:lnTo>
                  <a:pt x="5591349" y="0"/>
                </a:lnTo>
                <a:lnTo>
                  <a:pt x="5591349" y="2009670"/>
                </a:lnTo>
                <a:lnTo>
                  <a:pt x="0" y="2009670"/>
                </a:lnTo>
                <a:lnTo>
                  <a:pt x="0" y="0"/>
                </a:lnTo>
                <a:close/>
              </a:path>
            </a:pathLst>
          </a:custGeom>
          <a:solidFill>
            <a:srgbClr val="8B0000">
              <a:alpha val="5098"/>
            </a:srgbClr>
          </a:solidFill>
          <a:ln w="12700">
            <a:solidFill>
              <a:srgbClr val="8B0000">
                <a:alpha val="20000"/>
              </a:srgbClr>
            </a:solidFill>
            <a:prstDash val="solid"/>
          </a:ln>
        </p:spPr>
      </p:sp>
      <p:sp>
        <p:nvSpPr>
          <p:cNvPr id="43" name="Text 41"/>
          <p:cNvSpPr/>
          <p:nvPr/>
        </p:nvSpPr>
        <p:spPr>
          <a:xfrm>
            <a:off x="6463602" y="5064369"/>
            <a:ext cx="5234075" cy="250092"/>
          </a:xfrm>
          <a:prstGeom prst="rect">
            <a:avLst/>
          </a:prstGeom>
          <a:noFill/>
          <a:ln/>
        </p:spPr>
        <p:txBody>
          <a:bodyPr wrap="square" lIns="0" tIns="0" rIns="0" bIns="0" rtlCol="0" anchor="ctr"/>
          <a:lstStyle/>
          <a:p>
            <a:pPr>
              <a:lnSpc>
                <a:spcPct val="130000"/>
              </a:lnSpc>
            </a:pPr>
            <a:r>
              <a:rPr lang="en-US" sz="1266" b="1" dirty="0">
                <a:solidFill>
                  <a:srgbClr val="1F2937"/>
                </a:solidFill>
                <a:latin typeface="Sorts Mill Goudy" pitchFamily="34" charset="0"/>
                <a:ea typeface="Sorts Mill Goudy" pitchFamily="34" charset="-122"/>
                <a:cs typeface="Sorts Mill Goudy" pitchFamily="34" charset="-120"/>
              </a:rPr>
              <a:t>Expected Benefits</a:t>
            </a:r>
            <a:endParaRPr lang="en-US" sz="1600" dirty="0"/>
          </a:p>
        </p:txBody>
      </p:sp>
      <p:sp>
        <p:nvSpPr>
          <p:cNvPr id="44" name="Text 42"/>
          <p:cNvSpPr/>
          <p:nvPr/>
        </p:nvSpPr>
        <p:spPr>
          <a:xfrm>
            <a:off x="6463602" y="5457371"/>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5" name="Text 43"/>
          <p:cNvSpPr/>
          <p:nvPr/>
        </p:nvSpPr>
        <p:spPr>
          <a:xfrm>
            <a:off x="6651171" y="5421644"/>
            <a:ext cx="3921090"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Resolves ambiguous predicates under soft semantic constraints</a:t>
            </a:r>
            <a:endParaRPr lang="en-US" sz="1600" dirty="0"/>
          </a:p>
        </p:txBody>
      </p:sp>
      <p:sp>
        <p:nvSpPr>
          <p:cNvPr id="46" name="Text 44"/>
          <p:cNvSpPr/>
          <p:nvPr/>
        </p:nvSpPr>
        <p:spPr>
          <a:xfrm>
            <a:off x="6463602" y="5778919"/>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7" name="Text 45"/>
          <p:cNvSpPr/>
          <p:nvPr/>
        </p:nvSpPr>
        <p:spPr>
          <a:xfrm>
            <a:off x="6651171" y="5743191"/>
            <a:ext cx="2965380"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Improves role assignment for polysemous verbs</a:t>
            </a:r>
            <a:endParaRPr lang="en-US" sz="1600" dirty="0"/>
          </a:p>
        </p:txBody>
      </p:sp>
      <p:sp>
        <p:nvSpPr>
          <p:cNvPr id="48" name="Text 46"/>
          <p:cNvSpPr/>
          <p:nvPr/>
        </p:nvSpPr>
        <p:spPr>
          <a:xfrm>
            <a:off x="6463602" y="6100466"/>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9" name="Text 47"/>
          <p:cNvSpPr/>
          <p:nvPr/>
        </p:nvSpPr>
        <p:spPr>
          <a:xfrm>
            <a:off x="6651171" y="6064738"/>
            <a:ext cx="2491991"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Leverages existing PropBank frame files</a:t>
            </a:r>
            <a:endParaRPr lang="en-US" sz="1600" dirty="0"/>
          </a:p>
        </p:txBody>
      </p:sp>
      <p:sp>
        <p:nvSpPr>
          <p:cNvPr id="50" name="Text 48"/>
          <p:cNvSpPr/>
          <p:nvPr/>
        </p:nvSpPr>
        <p:spPr>
          <a:xfrm>
            <a:off x="6463602" y="6422013"/>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51" name="Text 49"/>
          <p:cNvSpPr/>
          <p:nvPr/>
        </p:nvSpPr>
        <p:spPr>
          <a:xfrm>
            <a:off x="6651171" y="6386286"/>
            <a:ext cx="3152949"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Lightweight upgrade path—no retraining required</a:t>
            </a:r>
            <a:endParaRPr lang="en-US" sz="1600" dirty="0"/>
          </a:p>
        </p:txBody>
      </p:sp>
    </p:spTree>
    <p:extLst>
      <p:ext uri="{BB962C8B-B14F-4D97-AF65-F5344CB8AC3E}">
        <p14:creationId xmlns:p14="http://schemas.microsoft.com/office/powerpoint/2010/main" val="1731723502"/>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8B0000"/>
                </a:solidFill>
                <a:latin typeface="Sorts Mill Goudy" pitchFamily="34" charset="0"/>
                <a:ea typeface="Sorts Mill Goudy" pitchFamily="34" charset="-122"/>
                <a:cs typeface="Sorts Mill Goudy" pitchFamily="34" charset="-120"/>
              </a:rPr>
              <a:t>5.2 INNOVATION HIGHLIGHTS</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F2937"/>
                </a:solidFill>
                <a:latin typeface="Sorts Mill Goudy" pitchFamily="34" charset="0"/>
                <a:ea typeface="Sorts Mill Goudy" pitchFamily="34" charset="-122"/>
                <a:cs typeface="Sorts Mill Goudy" pitchFamily="34" charset="-120"/>
              </a:rPr>
              <a:t>Innovation 2: Semantic Frame Chaining</a:t>
            </a:r>
            <a:endParaRPr lang="en-US" sz="1600" dirty="0"/>
          </a:p>
        </p:txBody>
      </p:sp>
      <p:sp>
        <p:nvSpPr>
          <p:cNvPr id="4" name="Shape 2"/>
          <p:cNvSpPr/>
          <p:nvPr/>
        </p:nvSpPr>
        <p:spPr>
          <a:xfrm>
            <a:off x="333375" y="1047750"/>
            <a:ext cx="5635625" cy="2079625"/>
          </a:xfrm>
          <a:custGeom>
            <a:avLst/>
            <a:gdLst/>
            <a:ahLst/>
            <a:cxnLst/>
            <a:rect l="l" t="t" r="r" b="b"/>
            <a:pathLst>
              <a:path w="5635625" h="2079625">
                <a:moveTo>
                  <a:pt x="0" y="0"/>
                </a:moveTo>
                <a:lnTo>
                  <a:pt x="5635625" y="0"/>
                </a:lnTo>
                <a:lnTo>
                  <a:pt x="5635625" y="2079625"/>
                </a:lnTo>
                <a:lnTo>
                  <a:pt x="0" y="2079625"/>
                </a:lnTo>
                <a:lnTo>
                  <a:pt x="0" y="0"/>
                </a:lnTo>
                <a:close/>
              </a:path>
            </a:pathLst>
          </a:custGeom>
          <a:solidFill>
            <a:srgbClr val="F9FAFB"/>
          </a:solidFill>
          <a:ln/>
        </p:spPr>
      </p:sp>
      <p:sp>
        <p:nvSpPr>
          <p:cNvPr id="5" name="Shape 3"/>
          <p:cNvSpPr/>
          <p:nvPr/>
        </p:nvSpPr>
        <p:spPr>
          <a:xfrm>
            <a:off x="333375" y="1047750"/>
            <a:ext cx="31750" cy="2079625"/>
          </a:xfrm>
          <a:custGeom>
            <a:avLst/>
            <a:gdLst/>
            <a:ahLst/>
            <a:cxnLst/>
            <a:rect l="l" t="t" r="r" b="b"/>
            <a:pathLst>
              <a:path w="31750" h="2079625">
                <a:moveTo>
                  <a:pt x="0" y="0"/>
                </a:moveTo>
                <a:lnTo>
                  <a:pt x="31750" y="0"/>
                </a:lnTo>
                <a:lnTo>
                  <a:pt x="31750" y="2079625"/>
                </a:lnTo>
                <a:lnTo>
                  <a:pt x="0" y="2079625"/>
                </a:lnTo>
                <a:lnTo>
                  <a:pt x="0" y="0"/>
                </a:lnTo>
                <a:close/>
              </a:path>
            </a:pathLst>
          </a:custGeom>
          <a:solidFill>
            <a:srgbClr val="8B0000"/>
          </a:solidFill>
          <a:ln/>
        </p:spPr>
      </p:sp>
      <p:sp>
        <p:nvSpPr>
          <p:cNvPr id="6" name="Text 4"/>
          <p:cNvSpPr/>
          <p:nvPr/>
        </p:nvSpPr>
        <p:spPr>
          <a:xfrm>
            <a:off x="539750" y="1238250"/>
            <a:ext cx="531812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The Problem: Cross-Sentence QA</a:t>
            </a:r>
            <a:endParaRPr lang="en-US" sz="1600" dirty="0"/>
          </a:p>
        </p:txBody>
      </p:sp>
      <p:sp>
        <p:nvSpPr>
          <p:cNvPr id="7" name="Text 5"/>
          <p:cNvSpPr/>
          <p:nvPr/>
        </p:nvSpPr>
        <p:spPr>
          <a:xfrm>
            <a:off x="539750" y="1555750"/>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Current system is sentence-local. Many questions require evidence from multiple sentences:</a:t>
            </a:r>
            <a:endParaRPr lang="en-US" sz="1600" dirty="0"/>
          </a:p>
        </p:txBody>
      </p:sp>
      <p:sp>
        <p:nvSpPr>
          <p:cNvPr id="8" name="Shape 6"/>
          <p:cNvSpPr/>
          <p:nvPr/>
        </p:nvSpPr>
        <p:spPr>
          <a:xfrm>
            <a:off x="543719" y="1893094"/>
            <a:ext cx="5230813" cy="706438"/>
          </a:xfrm>
          <a:custGeom>
            <a:avLst/>
            <a:gdLst/>
            <a:ahLst/>
            <a:cxnLst/>
            <a:rect l="l" t="t" r="r" b="b"/>
            <a:pathLst>
              <a:path w="5230813" h="706438">
                <a:moveTo>
                  <a:pt x="0" y="0"/>
                </a:moveTo>
                <a:lnTo>
                  <a:pt x="5230813" y="0"/>
                </a:lnTo>
                <a:lnTo>
                  <a:pt x="5230813" y="706438"/>
                </a:lnTo>
                <a:lnTo>
                  <a:pt x="0" y="706438"/>
                </a:lnTo>
                <a:lnTo>
                  <a:pt x="0" y="0"/>
                </a:lnTo>
                <a:close/>
              </a:path>
            </a:pathLst>
          </a:custGeom>
          <a:solidFill>
            <a:srgbClr val="FFFFFF"/>
          </a:solidFill>
          <a:ln w="12700">
            <a:solidFill>
              <a:srgbClr val="E5E7EB"/>
            </a:solidFill>
            <a:prstDash val="solid"/>
          </a:ln>
        </p:spPr>
      </p:sp>
      <p:sp>
        <p:nvSpPr>
          <p:cNvPr id="9" name="Text 7"/>
          <p:cNvSpPr/>
          <p:nvPr/>
        </p:nvSpPr>
        <p:spPr>
          <a:xfrm>
            <a:off x="674688" y="2024062"/>
            <a:ext cx="5032375"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Sorts Mill Goudy" pitchFamily="34" charset="0"/>
                <a:ea typeface="Sorts Mill Goudy" pitchFamily="34" charset="-122"/>
                <a:cs typeface="Sorts Mill Goudy" pitchFamily="34" charset="-120"/>
              </a:rPr>
              <a:t>"The company announced layoffs. The decision affected 500 workers."</a:t>
            </a:r>
            <a:endParaRPr lang="en-US" sz="1600" dirty="0"/>
          </a:p>
        </p:txBody>
      </p:sp>
      <p:sp>
        <p:nvSpPr>
          <p:cNvPr id="10" name="Text 8"/>
          <p:cNvSpPr/>
          <p:nvPr/>
        </p:nvSpPr>
        <p:spPr>
          <a:xfrm>
            <a:off x="674688" y="2278063"/>
            <a:ext cx="503237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Question: "What affected 500 workers?" → requires linking "decision" to "layoffs"</a:t>
            </a:r>
            <a:endParaRPr lang="en-US" sz="1600" dirty="0"/>
          </a:p>
        </p:txBody>
      </p:sp>
      <p:sp>
        <p:nvSpPr>
          <p:cNvPr id="11" name="Text 9"/>
          <p:cNvSpPr/>
          <p:nvPr/>
        </p:nvSpPr>
        <p:spPr>
          <a:xfrm>
            <a:off x="539750" y="2730500"/>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Answers often depend on event causes, consequences, or follow-up actions.</a:t>
            </a:r>
            <a:endParaRPr lang="en-US" sz="1600" dirty="0"/>
          </a:p>
        </p:txBody>
      </p:sp>
      <p:sp>
        <p:nvSpPr>
          <p:cNvPr id="12" name="Shape 10"/>
          <p:cNvSpPr/>
          <p:nvPr/>
        </p:nvSpPr>
        <p:spPr>
          <a:xfrm>
            <a:off x="333375" y="3317875"/>
            <a:ext cx="5635625" cy="1825625"/>
          </a:xfrm>
          <a:custGeom>
            <a:avLst/>
            <a:gdLst/>
            <a:ahLst/>
            <a:cxnLst/>
            <a:rect l="l" t="t" r="r" b="b"/>
            <a:pathLst>
              <a:path w="5635625" h="1825625">
                <a:moveTo>
                  <a:pt x="0" y="0"/>
                </a:moveTo>
                <a:lnTo>
                  <a:pt x="5635625" y="0"/>
                </a:lnTo>
                <a:lnTo>
                  <a:pt x="5635625" y="1825625"/>
                </a:lnTo>
                <a:lnTo>
                  <a:pt x="0" y="1825625"/>
                </a:lnTo>
                <a:lnTo>
                  <a:pt x="0" y="0"/>
                </a:lnTo>
                <a:close/>
              </a:path>
            </a:pathLst>
          </a:custGeom>
          <a:solidFill>
            <a:srgbClr val="F9FAFB"/>
          </a:solidFill>
          <a:ln/>
        </p:spPr>
      </p:sp>
      <p:sp>
        <p:nvSpPr>
          <p:cNvPr id="13" name="Shape 11"/>
          <p:cNvSpPr/>
          <p:nvPr/>
        </p:nvSpPr>
        <p:spPr>
          <a:xfrm>
            <a:off x="333375" y="3317875"/>
            <a:ext cx="31750" cy="1825625"/>
          </a:xfrm>
          <a:custGeom>
            <a:avLst/>
            <a:gdLst/>
            <a:ahLst/>
            <a:cxnLst/>
            <a:rect l="l" t="t" r="r" b="b"/>
            <a:pathLst>
              <a:path w="31750" h="1825625">
                <a:moveTo>
                  <a:pt x="0" y="0"/>
                </a:moveTo>
                <a:lnTo>
                  <a:pt x="31750" y="0"/>
                </a:lnTo>
                <a:lnTo>
                  <a:pt x="31750" y="1825625"/>
                </a:lnTo>
                <a:lnTo>
                  <a:pt x="0" y="1825625"/>
                </a:lnTo>
                <a:lnTo>
                  <a:pt x="0" y="0"/>
                </a:lnTo>
                <a:close/>
              </a:path>
            </a:pathLst>
          </a:custGeom>
          <a:solidFill>
            <a:srgbClr val="8B0000"/>
          </a:solidFill>
          <a:ln/>
        </p:spPr>
      </p:sp>
      <p:sp>
        <p:nvSpPr>
          <p:cNvPr id="14" name="Text 12"/>
          <p:cNvSpPr/>
          <p:nvPr/>
        </p:nvSpPr>
        <p:spPr>
          <a:xfrm>
            <a:off x="539750" y="3508375"/>
            <a:ext cx="531812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The Solution: Document-Level Frame Graph</a:t>
            </a:r>
            <a:endParaRPr lang="en-US" sz="1600" dirty="0"/>
          </a:p>
        </p:txBody>
      </p:sp>
      <p:sp>
        <p:nvSpPr>
          <p:cNvPr id="15" name="Text 13"/>
          <p:cNvSpPr/>
          <p:nvPr/>
        </p:nvSpPr>
        <p:spPr>
          <a:xfrm>
            <a:off x="539750" y="3825875"/>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Represent predicates as nodes in a document-level semantic graph:</a:t>
            </a:r>
            <a:endParaRPr lang="en-US" sz="1600" dirty="0"/>
          </a:p>
        </p:txBody>
      </p:sp>
      <p:sp>
        <p:nvSpPr>
          <p:cNvPr id="16" name="Text 14"/>
          <p:cNvSpPr/>
          <p:nvPr/>
        </p:nvSpPr>
        <p:spPr>
          <a:xfrm>
            <a:off x="539750" y="4191000"/>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7" name="Text 15"/>
          <p:cNvSpPr/>
          <p:nvPr/>
        </p:nvSpPr>
        <p:spPr>
          <a:xfrm>
            <a:off x="706438" y="4159250"/>
            <a:ext cx="2079625"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Sorts Mill Goudy" pitchFamily="34" charset="0"/>
                <a:ea typeface="Sorts Mill Goudy" pitchFamily="34" charset="-122"/>
                <a:cs typeface="Sorts Mill Goudy" pitchFamily="34" charset="-120"/>
              </a:rPr>
              <a:t>Each predicate instance = graph node</a:t>
            </a:r>
            <a:endParaRPr lang="en-US" sz="1600" dirty="0"/>
          </a:p>
        </p:txBody>
      </p:sp>
      <p:sp>
        <p:nvSpPr>
          <p:cNvPr id="18" name="Text 16"/>
          <p:cNvSpPr/>
          <p:nvPr/>
        </p:nvSpPr>
        <p:spPr>
          <a:xfrm>
            <a:off x="539750" y="4476750"/>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9" name="Text 17"/>
          <p:cNvSpPr/>
          <p:nvPr/>
        </p:nvSpPr>
        <p:spPr>
          <a:xfrm>
            <a:off x="706438" y="4445000"/>
            <a:ext cx="3635375"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Sorts Mill Goudy" pitchFamily="34" charset="0"/>
                <a:ea typeface="Sorts Mill Goudy" pitchFamily="34" charset="-122"/>
                <a:cs typeface="Sorts Mill Goudy" pitchFamily="34" charset="-120"/>
              </a:rPr>
              <a:t>Links through shared arguments, coreference, temporal adjacency</a:t>
            </a:r>
            <a:endParaRPr lang="en-US" sz="1600" dirty="0"/>
          </a:p>
        </p:txBody>
      </p:sp>
      <p:sp>
        <p:nvSpPr>
          <p:cNvPr id="20" name="Text 18"/>
          <p:cNvSpPr/>
          <p:nvPr/>
        </p:nvSpPr>
        <p:spPr>
          <a:xfrm>
            <a:off x="539750" y="4762500"/>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1" name="Text 19"/>
          <p:cNvSpPr/>
          <p:nvPr/>
        </p:nvSpPr>
        <p:spPr>
          <a:xfrm>
            <a:off x="706438" y="4730750"/>
            <a:ext cx="3048000"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Sorts Mill Goudy" pitchFamily="34" charset="0"/>
                <a:ea typeface="Sorts Mill Goudy" pitchFamily="34" charset="-122"/>
                <a:cs typeface="Sorts Mill Goudy" pitchFamily="34" charset="-120"/>
              </a:rPr>
              <a:t>Discourse cues (causal, temporal, elaboration relations)</a:t>
            </a:r>
            <a:endParaRPr lang="en-US" sz="1600" dirty="0"/>
          </a:p>
        </p:txBody>
      </p:sp>
      <p:sp>
        <p:nvSpPr>
          <p:cNvPr id="22" name="Shape 20"/>
          <p:cNvSpPr/>
          <p:nvPr/>
        </p:nvSpPr>
        <p:spPr>
          <a:xfrm>
            <a:off x="6223000" y="1047750"/>
            <a:ext cx="5651500" cy="3841750"/>
          </a:xfrm>
          <a:custGeom>
            <a:avLst/>
            <a:gdLst/>
            <a:ahLst/>
            <a:cxnLst/>
            <a:rect l="l" t="t" r="r" b="b"/>
            <a:pathLst>
              <a:path w="5651500" h="3841750">
                <a:moveTo>
                  <a:pt x="0" y="0"/>
                </a:moveTo>
                <a:lnTo>
                  <a:pt x="5651500" y="0"/>
                </a:lnTo>
                <a:lnTo>
                  <a:pt x="5651500" y="3841750"/>
                </a:lnTo>
                <a:lnTo>
                  <a:pt x="0" y="3841750"/>
                </a:lnTo>
                <a:lnTo>
                  <a:pt x="0" y="0"/>
                </a:lnTo>
                <a:close/>
              </a:path>
            </a:pathLst>
          </a:custGeom>
          <a:solidFill>
            <a:srgbClr val="F9FAFB"/>
          </a:solidFill>
          <a:ln/>
        </p:spPr>
      </p:sp>
      <p:sp>
        <p:nvSpPr>
          <p:cNvPr id="23" name="Text 21"/>
          <p:cNvSpPr/>
          <p:nvPr/>
        </p:nvSpPr>
        <p:spPr>
          <a:xfrm>
            <a:off x="6413500" y="1238250"/>
            <a:ext cx="534987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Graph Traversal Mechanism</a:t>
            </a:r>
            <a:endParaRPr lang="en-US" sz="1600" dirty="0"/>
          </a:p>
        </p:txBody>
      </p:sp>
      <p:sp>
        <p:nvSpPr>
          <p:cNvPr id="24" name="Shape 22"/>
          <p:cNvSpPr/>
          <p:nvPr/>
        </p:nvSpPr>
        <p:spPr>
          <a:xfrm>
            <a:off x="6413500" y="158750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8B0000"/>
          </a:solidFill>
          <a:ln/>
        </p:spPr>
      </p:sp>
      <p:sp>
        <p:nvSpPr>
          <p:cNvPr id="25" name="Text 23"/>
          <p:cNvSpPr/>
          <p:nvPr/>
        </p:nvSpPr>
        <p:spPr>
          <a:xfrm>
            <a:off x="6381750" y="1587500"/>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Sorts Mill Goudy" pitchFamily="34" charset="0"/>
                <a:ea typeface="Sorts Mill Goudy" pitchFamily="34" charset="-122"/>
                <a:cs typeface="Sorts Mill Goudy" pitchFamily="34" charset="-120"/>
              </a:rPr>
              <a:t>1</a:t>
            </a:r>
            <a:endParaRPr lang="en-US" sz="1600" dirty="0"/>
          </a:p>
        </p:txBody>
      </p:sp>
      <p:sp>
        <p:nvSpPr>
          <p:cNvPr id="26" name="Shape 24"/>
          <p:cNvSpPr/>
          <p:nvPr/>
        </p:nvSpPr>
        <p:spPr>
          <a:xfrm>
            <a:off x="6861969" y="1591469"/>
            <a:ext cx="4818063" cy="674688"/>
          </a:xfrm>
          <a:custGeom>
            <a:avLst/>
            <a:gdLst/>
            <a:ahLst/>
            <a:cxnLst/>
            <a:rect l="l" t="t" r="r" b="b"/>
            <a:pathLst>
              <a:path w="4818063" h="674688">
                <a:moveTo>
                  <a:pt x="0" y="0"/>
                </a:moveTo>
                <a:lnTo>
                  <a:pt x="4818063" y="0"/>
                </a:lnTo>
                <a:lnTo>
                  <a:pt x="4818063" y="674688"/>
                </a:lnTo>
                <a:lnTo>
                  <a:pt x="0" y="674688"/>
                </a:lnTo>
                <a:lnTo>
                  <a:pt x="0" y="0"/>
                </a:lnTo>
                <a:close/>
              </a:path>
            </a:pathLst>
          </a:custGeom>
          <a:solidFill>
            <a:srgbClr val="FFFFFF"/>
          </a:solidFill>
          <a:ln w="12700">
            <a:solidFill>
              <a:srgbClr val="E5E7EB"/>
            </a:solidFill>
            <a:prstDash val="solid"/>
          </a:ln>
        </p:spPr>
      </p:sp>
      <p:sp>
        <p:nvSpPr>
          <p:cNvPr id="27" name="Text 25"/>
          <p:cNvSpPr/>
          <p:nvPr/>
        </p:nvSpPr>
        <p:spPr>
          <a:xfrm>
            <a:off x="6992938" y="1722438"/>
            <a:ext cx="461962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Identify Anchor Predicate</a:t>
            </a:r>
            <a:endParaRPr lang="en-US" sz="1600" dirty="0"/>
          </a:p>
        </p:txBody>
      </p:sp>
      <p:sp>
        <p:nvSpPr>
          <p:cNvPr id="28" name="Text 26"/>
          <p:cNvSpPr/>
          <p:nvPr/>
        </p:nvSpPr>
        <p:spPr>
          <a:xfrm>
            <a:off x="6992938" y="1944688"/>
            <a:ext cx="4619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Find predicate most directly evoked by the question</a:t>
            </a:r>
            <a:endParaRPr lang="en-US" sz="1600" dirty="0"/>
          </a:p>
        </p:txBody>
      </p:sp>
      <p:sp>
        <p:nvSpPr>
          <p:cNvPr id="29" name="Shape 27"/>
          <p:cNvSpPr/>
          <p:nvPr/>
        </p:nvSpPr>
        <p:spPr>
          <a:xfrm>
            <a:off x="6413500" y="2397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8B0000"/>
          </a:solidFill>
          <a:ln/>
        </p:spPr>
      </p:sp>
      <p:sp>
        <p:nvSpPr>
          <p:cNvPr id="30" name="Text 28"/>
          <p:cNvSpPr/>
          <p:nvPr/>
        </p:nvSpPr>
        <p:spPr>
          <a:xfrm>
            <a:off x="6381750" y="2397125"/>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Sorts Mill Goudy" pitchFamily="34" charset="0"/>
                <a:ea typeface="Sorts Mill Goudy" pitchFamily="34" charset="-122"/>
                <a:cs typeface="Sorts Mill Goudy" pitchFamily="34" charset="-120"/>
              </a:rPr>
              <a:t>2</a:t>
            </a:r>
            <a:endParaRPr lang="en-US" sz="1600" dirty="0"/>
          </a:p>
        </p:txBody>
      </p:sp>
      <p:sp>
        <p:nvSpPr>
          <p:cNvPr id="31" name="Shape 29"/>
          <p:cNvSpPr/>
          <p:nvPr/>
        </p:nvSpPr>
        <p:spPr>
          <a:xfrm>
            <a:off x="6861969" y="2401094"/>
            <a:ext cx="4818063" cy="674688"/>
          </a:xfrm>
          <a:custGeom>
            <a:avLst/>
            <a:gdLst/>
            <a:ahLst/>
            <a:cxnLst/>
            <a:rect l="l" t="t" r="r" b="b"/>
            <a:pathLst>
              <a:path w="4818063" h="674688">
                <a:moveTo>
                  <a:pt x="0" y="0"/>
                </a:moveTo>
                <a:lnTo>
                  <a:pt x="4818063" y="0"/>
                </a:lnTo>
                <a:lnTo>
                  <a:pt x="4818063" y="674688"/>
                </a:lnTo>
                <a:lnTo>
                  <a:pt x="0" y="674688"/>
                </a:lnTo>
                <a:lnTo>
                  <a:pt x="0" y="0"/>
                </a:lnTo>
                <a:close/>
              </a:path>
            </a:pathLst>
          </a:custGeom>
          <a:solidFill>
            <a:srgbClr val="FFFFFF"/>
          </a:solidFill>
          <a:ln w="12700">
            <a:solidFill>
              <a:srgbClr val="E5E7EB"/>
            </a:solidFill>
            <a:prstDash val="solid"/>
          </a:ln>
        </p:spPr>
      </p:sp>
      <p:sp>
        <p:nvSpPr>
          <p:cNvPr id="32" name="Text 30"/>
          <p:cNvSpPr/>
          <p:nvPr/>
        </p:nvSpPr>
        <p:spPr>
          <a:xfrm>
            <a:off x="6992938" y="2532063"/>
            <a:ext cx="461962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Traverse Graph</a:t>
            </a:r>
            <a:endParaRPr lang="en-US" sz="1600" dirty="0"/>
          </a:p>
        </p:txBody>
      </p:sp>
      <p:sp>
        <p:nvSpPr>
          <p:cNvPr id="33" name="Text 31"/>
          <p:cNvSpPr/>
          <p:nvPr/>
        </p:nvSpPr>
        <p:spPr>
          <a:xfrm>
            <a:off x="6992938" y="2754313"/>
            <a:ext cx="4619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Follow links to supporting frames (causes, consequences)</a:t>
            </a:r>
            <a:endParaRPr lang="en-US" sz="1600" dirty="0"/>
          </a:p>
        </p:txBody>
      </p:sp>
      <p:sp>
        <p:nvSpPr>
          <p:cNvPr id="34" name="Shape 32"/>
          <p:cNvSpPr/>
          <p:nvPr/>
        </p:nvSpPr>
        <p:spPr>
          <a:xfrm>
            <a:off x="6413500" y="3206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8B0000"/>
          </a:solidFill>
          <a:ln/>
        </p:spPr>
      </p:sp>
      <p:sp>
        <p:nvSpPr>
          <p:cNvPr id="35" name="Text 33"/>
          <p:cNvSpPr/>
          <p:nvPr/>
        </p:nvSpPr>
        <p:spPr>
          <a:xfrm>
            <a:off x="6381750" y="3206750"/>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Sorts Mill Goudy" pitchFamily="34" charset="0"/>
                <a:ea typeface="Sorts Mill Goudy" pitchFamily="34" charset="-122"/>
                <a:cs typeface="Sorts Mill Goudy" pitchFamily="34" charset="-120"/>
              </a:rPr>
              <a:t>3</a:t>
            </a:r>
            <a:endParaRPr lang="en-US" sz="1600" dirty="0"/>
          </a:p>
        </p:txBody>
      </p:sp>
      <p:sp>
        <p:nvSpPr>
          <p:cNvPr id="36" name="Shape 34"/>
          <p:cNvSpPr/>
          <p:nvPr/>
        </p:nvSpPr>
        <p:spPr>
          <a:xfrm>
            <a:off x="6861969" y="3210719"/>
            <a:ext cx="4818063" cy="674688"/>
          </a:xfrm>
          <a:custGeom>
            <a:avLst/>
            <a:gdLst/>
            <a:ahLst/>
            <a:cxnLst/>
            <a:rect l="l" t="t" r="r" b="b"/>
            <a:pathLst>
              <a:path w="4818063" h="674688">
                <a:moveTo>
                  <a:pt x="0" y="0"/>
                </a:moveTo>
                <a:lnTo>
                  <a:pt x="4818063" y="0"/>
                </a:lnTo>
                <a:lnTo>
                  <a:pt x="4818063" y="674688"/>
                </a:lnTo>
                <a:lnTo>
                  <a:pt x="0" y="674688"/>
                </a:lnTo>
                <a:lnTo>
                  <a:pt x="0" y="0"/>
                </a:lnTo>
                <a:close/>
              </a:path>
            </a:pathLst>
          </a:custGeom>
          <a:solidFill>
            <a:srgbClr val="FFFFFF"/>
          </a:solidFill>
          <a:ln w="12700">
            <a:solidFill>
              <a:srgbClr val="E5E7EB"/>
            </a:solidFill>
            <a:prstDash val="solid"/>
          </a:ln>
        </p:spPr>
      </p:sp>
      <p:sp>
        <p:nvSpPr>
          <p:cNvPr id="37" name="Text 35"/>
          <p:cNvSpPr/>
          <p:nvPr/>
        </p:nvSpPr>
        <p:spPr>
          <a:xfrm>
            <a:off x="6992938" y="3341688"/>
            <a:ext cx="461962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Aggregate Evidence</a:t>
            </a:r>
            <a:endParaRPr lang="en-US" sz="1600" dirty="0"/>
          </a:p>
        </p:txBody>
      </p:sp>
      <p:sp>
        <p:nvSpPr>
          <p:cNvPr id="38" name="Text 36"/>
          <p:cNvSpPr/>
          <p:nvPr/>
        </p:nvSpPr>
        <p:spPr>
          <a:xfrm>
            <a:off x="6992938" y="3563938"/>
            <a:ext cx="4619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Combine information from multiple predicate frames</a:t>
            </a:r>
            <a:endParaRPr lang="en-US" sz="1600" dirty="0"/>
          </a:p>
        </p:txBody>
      </p:sp>
      <p:sp>
        <p:nvSpPr>
          <p:cNvPr id="39" name="Shape 37"/>
          <p:cNvSpPr/>
          <p:nvPr/>
        </p:nvSpPr>
        <p:spPr>
          <a:xfrm>
            <a:off x="6413500" y="401637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8B0000"/>
          </a:solidFill>
          <a:ln/>
        </p:spPr>
      </p:sp>
      <p:sp>
        <p:nvSpPr>
          <p:cNvPr id="40" name="Text 38"/>
          <p:cNvSpPr/>
          <p:nvPr/>
        </p:nvSpPr>
        <p:spPr>
          <a:xfrm>
            <a:off x="6381750" y="4016375"/>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Sorts Mill Goudy" pitchFamily="34" charset="0"/>
                <a:ea typeface="Sorts Mill Goudy" pitchFamily="34" charset="-122"/>
                <a:cs typeface="Sorts Mill Goudy" pitchFamily="34" charset="-120"/>
              </a:rPr>
              <a:t>4</a:t>
            </a:r>
            <a:endParaRPr lang="en-US" sz="1600" dirty="0"/>
          </a:p>
        </p:txBody>
      </p:sp>
      <p:sp>
        <p:nvSpPr>
          <p:cNvPr id="41" name="Shape 39"/>
          <p:cNvSpPr/>
          <p:nvPr/>
        </p:nvSpPr>
        <p:spPr>
          <a:xfrm>
            <a:off x="6861969" y="4020344"/>
            <a:ext cx="4818063" cy="674688"/>
          </a:xfrm>
          <a:custGeom>
            <a:avLst/>
            <a:gdLst/>
            <a:ahLst/>
            <a:cxnLst/>
            <a:rect l="l" t="t" r="r" b="b"/>
            <a:pathLst>
              <a:path w="4818063" h="674688">
                <a:moveTo>
                  <a:pt x="0" y="0"/>
                </a:moveTo>
                <a:lnTo>
                  <a:pt x="4818063" y="0"/>
                </a:lnTo>
                <a:lnTo>
                  <a:pt x="4818063" y="674688"/>
                </a:lnTo>
                <a:lnTo>
                  <a:pt x="0" y="674688"/>
                </a:lnTo>
                <a:lnTo>
                  <a:pt x="0" y="0"/>
                </a:lnTo>
                <a:close/>
              </a:path>
            </a:pathLst>
          </a:custGeom>
          <a:solidFill>
            <a:srgbClr val="FFFFFF"/>
          </a:solidFill>
          <a:ln w="12700">
            <a:solidFill>
              <a:srgbClr val="E5E7EB"/>
            </a:solidFill>
            <a:prstDash val="solid"/>
          </a:ln>
        </p:spPr>
      </p:sp>
      <p:sp>
        <p:nvSpPr>
          <p:cNvPr id="42" name="Text 40"/>
          <p:cNvSpPr/>
          <p:nvPr/>
        </p:nvSpPr>
        <p:spPr>
          <a:xfrm>
            <a:off x="6992938" y="4151313"/>
            <a:ext cx="461962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Generate Answer</a:t>
            </a:r>
            <a:endParaRPr lang="en-US" sz="1600" dirty="0"/>
          </a:p>
        </p:txBody>
      </p:sp>
      <p:sp>
        <p:nvSpPr>
          <p:cNvPr id="43" name="Text 41"/>
          <p:cNvSpPr/>
          <p:nvPr/>
        </p:nvSpPr>
        <p:spPr>
          <a:xfrm>
            <a:off x="6992938" y="4373563"/>
            <a:ext cx="4619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Compose answer from traversed frame chain</a:t>
            </a:r>
            <a:endParaRPr lang="en-US" sz="1600" dirty="0"/>
          </a:p>
        </p:txBody>
      </p:sp>
      <p:sp>
        <p:nvSpPr>
          <p:cNvPr id="44" name="Shape 42"/>
          <p:cNvSpPr/>
          <p:nvPr/>
        </p:nvSpPr>
        <p:spPr>
          <a:xfrm>
            <a:off x="6226969" y="5083969"/>
            <a:ext cx="5643563" cy="1976438"/>
          </a:xfrm>
          <a:custGeom>
            <a:avLst/>
            <a:gdLst/>
            <a:ahLst/>
            <a:cxnLst/>
            <a:rect l="l" t="t" r="r" b="b"/>
            <a:pathLst>
              <a:path w="5643563" h="1976438">
                <a:moveTo>
                  <a:pt x="0" y="0"/>
                </a:moveTo>
                <a:lnTo>
                  <a:pt x="5643563" y="0"/>
                </a:lnTo>
                <a:lnTo>
                  <a:pt x="5643563" y="1976438"/>
                </a:lnTo>
                <a:lnTo>
                  <a:pt x="0" y="1976438"/>
                </a:lnTo>
                <a:lnTo>
                  <a:pt x="0" y="0"/>
                </a:lnTo>
                <a:close/>
              </a:path>
            </a:pathLst>
          </a:custGeom>
          <a:solidFill>
            <a:srgbClr val="8B0000">
              <a:alpha val="5098"/>
            </a:srgbClr>
          </a:solidFill>
          <a:ln w="12700">
            <a:solidFill>
              <a:srgbClr val="8B0000">
                <a:alpha val="20000"/>
              </a:srgbClr>
            </a:solidFill>
            <a:prstDash val="solid"/>
          </a:ln>
        </p:spPr>
      </p:sp>
      <p:sp>
        <p:nvSpPr>
          <p:cNvPr id="45" name="Text 43"/>
          <p:cNvSpPr/>
          <p:nvPr/>
        </p:nvSpPr>
        <p:spPr>
          <a:xfrm>
            <a:off x="6421438" y="5278438"/>
            <a:ext cx="5326063" cy="222250"/>
          </a:xfrm>
          <a:prstGeom prst="rect">
            <a:avLst/>
          </a:prstGeom>
          <a:noFill/>
          <a:ln/>
        </p:spPr>
        <p:txBody>
          <a:bodyPr wrap="square" lIns="0" tIns="0" rIns="0" bIns="0" rtlCol="0" anchor="ctr"/>
          <a:lstStyle/>
          <a:p>
            <a:pPr>
              <a:lnSpc>
                <a:spcPct val="130000"/>
              </a:lnSpc>
            </a:pPr>
            <a:r>
              <a:rPr lang="en-US" sz="1125" b="1" dirty="0">
                <a:solidFill>
                  <a:srgbClr val="1F2937"/>
                </a:solidFill>
                <a:latin typeface="Sorts Mill Goudy" pitchFamily="34" charset="0"/>
                <a:ea typeface="Sorts Mill Goudy" pitchFamily="34" charset="-122"/>
                <a:cs typeface="Sorts Mill Goudy" pitchFamily="34" charset="-120"/>
              </a:rPr>
              <a:t>Application Domains</a:t>
            </a:r>
            <a:endParaRPr lang="en-US" sz="1600" dirty="0"/>
          </a:p>
        </p:txBody>
      </p:sp>
      <p:sp>
        <p:nvSpPr>
          <p:cNvPr id="46" name="Shape 44"/>
          <p:cNvSpPr/>
          <p:nvPr/>
        </p:nvSpPr>
        <p:spPr>
          <a:xfrm>
            <a:off x="6425406" y="5599906"/>
            <a:ext cx="2571750" cy="579438"/>
          </a:xfrm>
          <a:custGeom>
            <a:avLst/>
            <a:gdLst/>
            <a:ahLst/>
            <a:cxnLst/>
            <a:rect l="l" t="t" r="r" b="b"/>
            <a:pathLst>
              <a:path w="2571750" h="579438">
                <a:moveTo>
                  <a:pt x="0" y="0"/>
                </a:moveTo>
                <a:lnTo>
                  <a:pt x="2571750" y="0"/>
                </a:lnTo>
                <a:lnTo>
                  <a:pt x="2571750" y="579438"/>
                </a:lnTo>
                <a:lnTo>
                  <a:pt x="0" y="579438"/>
                </a:lnTo>
                <a:lnTo>
                  <a:pt x="0" y="0"/>
                </a:lnTo>
                <a:close/>
              </a:path>
            </a:pathLst>
          </a:custGeom>
          <a:solidFill>
            <a:srgbClr val="FFFFFF"/>
          </a:solidFill>
          <a:ln w="12700">
            <a:solidFill>
              <a:srgbClr val="E5E7EB"/>
            </a:solidFill>
            <a:prstDash val="solid"/>
          </a:ln>
        </p:spPr>
      </p:sp>
      <p:sp>
        <p:nvSpPr>
          <p:cNvPr id="47" name="Shape 45"/>
          <p:cNvSpPr/>
          <p:nvPr/>
        </p:nvSpPr>
        <p:spPr>
          <a:xfrm>
            <a:off x="7621984" y="5699125"/>
            <a:ext cx="178594" cy="158750"/>
          </a:xfrm>
          <a:custGeom>
            <a:avLst/>
            <a:gdLst/>
            <a:ahLst/>
            <a:cxnLst/>
            <a:rect l="l" t="t" r="r" b="b"/>
            <a:pathLst>
              <a:path w="178594" h="158750">
                <a:moveTo>
                  <a:pt x="52586" y="47563"/>
                </a:moveTo>
                <a:lnTo>
                  <a:pt x="46788" y="41765"/>
                </a:lnTo>
                <a:cubicBezTo>
                  <a:pt x="42912" y="37889"/>
                  <a:pt x="42912" y="31595"/>
                  <a:pt x="46788" y="27719"/>
                </a:cubicBezTo>
                <a:lnTo>
                  <a:pt x="82352" y="-7875"/>
                </a:lnTo>
                <a:cubicBezTo>
                  <a:pt x="86227" y="-11751"/>
                  <a:pt x="92521" y="-11751"/>
                  <a:pt x="96397" y="-7875"/>
                </a:cubicBezTo>
                <a:lnTo>
                  <a:pt x="102195" y="-2046"/>
                </a:lnTo>
                <a:cubicBezTo>
                  <a:pt x="106071" y="1829"/>
                  <a:pt x="106071" y="8124"/>
                  <a:pt x="102195" y="11999"/>
                </a:cubicBezTo>
                <a:lnTo>
                  <a:pt x="66632" y="47563"/>
                </a:lnTo>
                <a:cubicBezTo>
                  <a:pt x="62756" y="51439"/>
                  <a:pt x="56462" y="51439"/>
                  <a:pt x="52586" y="47563"/>
                </a:cubicBezTo>
                <a:close/>
                <a:moveTo>
                  <a:pt x="85576" y="65639"/>
                </a:moveTo>
                <a:lnTo>
                  <a:pt x="75840" y="55904"/>
                </a:lnTo>
                <a:lnTo>
                  <a:pt x="110567" y="21177"/>
                </a:lnTo>
                <a:lnTo>
                  <a:pt x="147588" y="58198"/>
                </a:lnTo>
                <a:lnTo>
                  <a:pt x="112861" y="92925"/>
                </a:lnTo>
                <a:lnTo>
                  <a:pt x="103125" y="83189"/>
                </a:lnTo>
                <a:lnTo>
                  <a:pt x="31192" y="155122"/>
                </a:lnTo>
                <a:cubicBezTo>
                  <a:pt x="26355" y="159959"/>
                  <a:pt x="18510" y="159959"/>
                  <a:pt x="13643" y="155122"/>
                </a:cubicBezTo>
                <a:cubicBezTo>
                  <a:pt x="8775" y="150285"/>
                  <a:pt x="8806" y="142441"/>
                  <a:pt x="13643" y="137573"/>
                </a:cubicBezTo>
                <a:lnTo>
                  <a:pt x="85576" y="65639"/>
                </a:lnTo>
                <a:close/>
                <a:moveTo>
                  <a:pt x="121202" y="116148"/>
                </a:moveTo>
                <a:cubicBezTo>
                  <a:pt x="117326" y="112272"/>
                  <a:pt x="117326" y="105978"/>
                  <a:pt x="121202" y="102102"/>
                </a:cubicBezTo>
                <a:lnTo>
                  <a:pt x="156766" y="66539"/>
                </a:lnTo>
                <a:cubicBezTo>
                  <a:pt x="160641" y="62663"/>
                  <a:pt x="166936" y="62663"/>
                  <a:pt x="170811" y="66539"/>
                </a:cubicBezTo>
                <a:lnTo>
                  <a:pt x="176609" y="72337"/>
                </a:lnTo>
                <a:cubicBezTo>
                  <a:pt x="180485" y="76212"/>
                  <a:pt x="180485" y="82507"/>
                  <a:pt x="176609" y="86382"/>
                </a:cubicBezTo>
                <a:lnTo>
                  <a:pt x="141046" y="121977"/>
                </a:lnTo>
                <a:cubicBezTo>
                  <a:pt x="137170" y="125853"/>
                  <a:pt x="130876" y="125853"/>
                  <a:pt x="127000" y="121977"/>
                </a:cubicBezTo>
                <a:lnTo>
                  <a:pt x="121202" y="116179"/>
                </a:lnTo>
                <a:close/>
              </a:path>
            </a:pathLst>
          </a:custGeom>
          <a:solidFill>
            <a:srgbClr val="8B0000"/>
          </a:solidFill>
          <a:ln/>
        </p:spPr>
      </p:sp>
      <p:sp>
        <p:nvSpPr>
          <p:cNvPr id="48" name="Text 46"/>
          <p:cNvSpPr/>
          <p:nvPr/>
        </p:nvSpPr>
        <p:spPr>
          <a:xfrm>
            <a:off x="6496844" y="5921375"/>
            <a:ext cx="2428875"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Legal Contracts</a:t>
            </a:r>
            <a:endParaRPr lang="en-US" sz="1600" dirty="0"/>
          </a:p>
        </p:txBody>
      </p:sp>
      <p:sp>
        <p:nvSpPr>
          <p:cNvPr id="49" name="Shape 47"/>
          <p:cNvSpPr/>
          <p:nvPr/>
        </p:nvSpPr>
        <p:spPr>
          <a:xfrm>
            <a:off x="9100344" y="5599906"/>
            <a:ext cx="2571750" cy="579438"/>
          </a:xfrm>
          <a:custGeom>
            <a:avLst/>
            <a:gdLst/>
            <a:ahLst/>
            <a:cxnLst/>
            <a:rect l="l" t="t" r="r" b="b"/>
            <a:pathLst>
              <a:path w="2571750" h="579438">
                <a:moveTo>
                  <a:pt x="0" y="0"/>
                </a:moveTo>
                <a:lnTo>
                  <a:pt x="2571750" y="0"/>
                </a:lnTo>
                <a:lnTo>
                  <a:pt x="2571750" y="579438"/>
                </a:lnTo>
                <a:lnTo>
                  <a:pt x="0" y="579438"/>
                </a:lnTo>
                <a:lnTo>
                  <a:pt x="0" y="0"/>
                </a:lnTo>
                <a:close/>
              </a:path>
            </a:pathLst>
          </a:custGeom>
          <a:solidFill>
            <a:srgbClr val="FFFFFF"/>
          </a:solidFill>
          <a:ln w="12700">
            <a:solidFill>
              <a:srgbClr val="E5E7EB"/>
            </a:solidFill>
            <a:prstDash val="solid"/>
          </a:ln>
        </p:spPr>
      </p:sp>
      <p:sp>
        <p:nvSpPr>
          <p:cNvPr id="50" name="Shape 48"/>
          <p:cNvSpPr/>
          <p:nvPr/>
        </p:nvSpPr>
        <p:spPr>
          <a:xfrm>
            <a:off x="10326688" y="5699125"/>
            <a:ext cx="119063" cy="158750"/>
          </a:xfrm>
          <a:custGeom>
            <a:avLst/>
            <a:gdLst/>
            <a:ahLst/>
            <a:cxnLst/>
            <a:rect l="l" t="t" r="r" b="b"/>
            <a:pathLst>
              <a:path w="119063" h="158750">
                <a:moveTo>
                  <a:pt x="0" y="19844"/>
                </a:moveTo>
                <a:cubicBezTo>
                  <a:pt x="0" y="8899"/>
                  <a:pt x="8899" y="0"/>
                  <a:pt x="19844" y="0"/>
                </a:cubicBezTo>
                <a:lnTo>
                  <a:pt x="66198" y="0"/>
                </a:lnTo>
                <a:cubicBezTo>
                  <a:pt x="71469" y="0"/>
                  <a:pt x="76522" y="2077"/>
                  <a:pt x="80243" y="5798"/>
                </a:cubicBezTo>
                <a:lnTo>
                  <a:pt x="113264" y="38850"/>
                </a:lnTo>
                <a:cubicBezTo>
                  <a:pt x="116985" y="42571"/>
                  <a:pt x="119062" y="47625"/>
                  <a:pt x="119062" y="52896"/>
                </a:cubicBezTo>
                <a:lnTo>
                  <a:pt x="119062" y="138906"/>
                </a:lnTo>
                <a:cubicBezTo>
                  <a:pt x="119062" y="149851"/>
                  <a:pt x="110164" y="158750"/>
                  <a:pt x="99219" y="158750"/>
                </a:cubicBezTo>
                <a:lnTo>
                  <a:pt x="19844" y="158750"/>
                </a:lnTo>
                <a:cubicBezTo>
                  <a:pt x="8899" y="158750"/>
                  <a:pt x="0" y="149851"/>
                  <a:pt x="0" y="138906"/>
                </a:cubicBezTo>
                <a:lnTo>
                  <a:pt x="0" y="19844"/>
                </a:lnTo>
                <a:close/>
                <a:moveTo>
                  <a:pt x="64492" y="18138"/>
                </a:moveTo>
                <a:lnTo>
                  <a:pt x="64492" y="47129"/>
                </a:lnTo>
                <a:cubicBezTo>
                  <a:pt x="64492" y="51253"/>
                  <a:pt x="67810" y="54570"/>
                  <a:pt x="71934" y="54570"/>
                </a:cubicBezTo>
                <a:lnTo>
                  <a:pt x="100924" y="54570"/>
                </a:lnTo>
                <a:lnTo>
                  <a:pt x="64492" y="18138"/>
                </a:lnTo>
                <a:close/>
                <a:moveTo>
                  <a:pt x="49609" y="86816"/>
                </a:moveTo>
                <a:lnTo>
                  <a:pt x="49609" y="99219"/>
                </a:lnTo>
                <a:lnTo>
                  <a:pt x="37207" y="99219"/>
                </a:lnTo>
                <a:cubicBezTo>
                  <a:pt x="34479" y="99219"/>
                  <a:pt x="32246" y="101451"/>
                  <a:pt x="32246" y="104180"/>
                </a:cubicBezTo>
                <a:lnTo>
                  <a:pt x="32246" y="114102"/>
                </a:lnTo>
                <a:cubicBezTo>
                  <a:pt x="32246" y="116830"/>
                  <a:pt x="34479" y="119062"/>
                  <a:pt x="37207" y="119062"/>
                </a:cubicBezTo>
                <a:lnTo>
                  <a:pt x="49609" y="119062"/>
                </a:lnTo>
                <a:lnTo>
                  <a:pt x="49609" y="131465"/>
                </a:lnTo>
                <a:cubicBezTo>
                  <a:pt x="49609" y="134193"/>
                  <a:pt x="51842" y="136426"/>
                  <a:pt x="54570" y="136426"/>
                </a:cubicBezTo>
                <a:lnTo>
                  <a:pt x="64492" y="136426"/>
                </a:lnTo>
                <a:cubicBezTo>
                  <a:pt x="67221" y="136426"/>
                  <a:pt x="69453" y="134193"/>
                  <a:pt x="69453" y="131465"/>
                </a:cubicBezTo>
                <a:lnTo>
                  <a:pt x="69453" y="119062"/>
                </a:lnTo>
                <a:lnTo>
                  <a:pt x="81855" y="119062"/>
                </a:lnTo>
                <a:cubicBezTo>
                  <a:pt x="84584" y="119062"/>
                  <a:pt x="86816" y="116830"/>
                  <a:pt x="86816" y="114102"/>
                </a:cubicBezTo>
                <a:lnTo>
                  <a:pt x="86816" y="104180"/>
                </a:lnTo>
                <a:cubicBezTo>
                  <a:pt x="86816" y="101451"/>
                  <a:pt x="84584" y="99219"/>
                  <a:pt x="81855" y="99219"/>
                </a:cubicBezTo>
                <a:lnTo>
                  <a:pt x="69453" y="99219"/>
                </a:lnTo>
                <a:lnTo>
                  <a:pt x="69453" y="86816"/>
                </a:lnTo>
                <a:cubicBezTo>
                  <a:pt x="69453" y="84088"/>
                  <a:pt x="67221" y="81855"/>
                  <a:pt x="64492" y="81855"/>
                </a:cubicBezTo>
                <a:lnTo>
                  <a:pt x="54570" y="81855"/>
                </a:lnTo>
                <a:cubicBezTo>
                  <a:pt x="51842" y="81855"/>
                  <a:pt x="49609" y="84088"/>
                  <a:pt x="49609" y="86816"/>
                </a:cubicBezTo>
                <a:close/>
              </a:path>
            </a:pathLst>
          </a:custGeom>
          <a:solidFill>
            <a:srgbClr val="8B0000"/>
          </a:solidFill>
          <a:ln/>
        </p:spPr>
      </p:sp>
      <p:sp>
        <p:nvSpPr>
          <p:cNvPr id="51" name="Text 49"/>
          <p:cNvSpPr/>
          <p:nvPr/>
        </p:nvSpPr>
        <p:spPr>
          <a:xfrm>
            <a:off x="9171781" y="5921375"/>
            <a:ext cx="2428875"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Medical Records</a:t>
            </a:r>
            <a:endParaRPr lang="en-US" sz="1600" dirty="0"/>
          </a:p>
        </p:txBody>
      </p:sp>
      <p:sp>
        <p:nvSpPr>
          <p:cNvPr id="52" name="Shape 50"/>
          <p:cNvSpPr/>
          <p:nvPr/>
        </p:nvSpPr>
        <p:spPr>
          <a:xfrm>
            <a:off x="6425406" y="6282531"/>
            <a:ext cx="2571750" cy="579438"/>
          </a:xfrm>
          <a:custGeom>
            <a:avLst/>
            <a:gdLst/>
            <a:ahLst/>
            <a:cxnLst/>
            <a:rect l="l" t="t" r="r" b="b"/>
            <a:pathLst>
              <a:path w="2571750" h="579438">
                <a:moveTo>
                  <a:pt x="0" y="0"/>
                </a:moveTo>
                <a:lnTo>
                  <a:pt x="2571750" y="0"/>
                </a:lnTo>
                <a:lnTo>
                  <a:pt x="2571750" y="579438"/>
                </a:lnTo>
                <a:lnTo>
                  <a:pt x="0" y="579438"/>
                </a:lnTo>
                <a:lnTo>
                  <a:pt x="0" y="0"/>
                </a:lnTo>
                <a:close/>
              </a:path>
            </a:pathLst>
          </a:custGeom>
          <a:solidFill>
            <a:srgbClr val="FFFFFF"/>
          </a:solidFill>
          <a:ln w="12700">
            <a:solidFill>
              <a:srgbClr val="E5E7EB"/>
            </a:solidFill>
            <a:prstDash val="solid"/>
          </a:ln>
        </p:spPr>
      </p:sp>
      <p:sp>
        <p:nvSpPr>
          <p:cNvPr id="53" name="Shape 51"/>
          <p:cNvSpPr/>
          <p:nvPr/>
        </p:nvSpPr>
        <p:spPr>
          <a:xfrm>
            <a:off x="7631906" y="6381750"/>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79375" y="42168"/>
                </a:moveTo>
                <a:cubicBezTo>
                  <a:pt x="83499" y="42168"/>
                  <a:pt x="86816" y="45486"/>
                  <a:pt x="86816" y="49609"/>
                </a:cubicBezTo>
                <a:lnTo>
                  <a:pt x="86816" y="84336"/>
                </a:lnTo>
                <a:cubicBezTo>
                  <a:pt x="86816" y="88460"/>
                  <a:pt x="83499" y="91777"/>
                  <a:pt x="79375" y="91777"/>
                </a:cubicBezTo>
                <a:cubicBezTo>
                  <a:pt x="75251" y="91777"/>
                  <a:pt x="71934" y="88460"/>
                  <a:pt x="71934" y="84336"/>
                </a:cubicBezTo>
                <a:lnTo>
                  <a:pt x="71934" y="49609"/>
                </a:lnTo>
                <a:cubicBezTo>
                  <a:pt x="71934" y="45486"/>
                  <a:pt x="75251" y="42168"/>
                  <a:pt x="79375" y="42168"/>
                </a:cubicBezTo>
                <a:close/>
                <a:moveTo>
                  <a:pt x="71096" y="109141"/>
                </a:moveTo>
                <a:cubicBezTo>
                  <a:pt x="70908" y="106068"/>
                  <a:pt x="72441" y="103144"/>
                  <a:pt x="75075" y="101551"/>
                </a:cubicBezTo>
                <a:cubicBezTo>
                  <a:pt x="77709" y="99957"/>
                  <a:pt x="81010" y="99957"/>
                  <a:pt x="83644" y="101551"/>
                </a:cubicBezTo>
                <a:cubicBezTo>
                  <a:pt x="86278" y="103144"/>
                  <a:pt x="87811" y="106068"/>
                  <a:pt x="87623" y="109141"/>
                </a:cubicBezTo>
                <a:cubicBezTo>
                  <a:pt x="87811" y="112214"/>
                  <a:pt x="86278" y="115137"/>
                  <a:pt x="83644" y="116731"/>
                </a:cubicBezTo>
                <a:cubicBezTo>
                  <a:pt x="81010" y="118324"/>
                  <a:pt x="77709" y="118324"/>
                  <a:pt x="75075" y="116731"/>
                </a:cubicBezTo>
                <a:cubicBezTo>
                  <a:pt x="72441" y="115137"/>
                  <a:pt x="70908" y="112214"/>
                  <a:pt x="71096" y="109141"/>
                </a:cubicBezTo>
                <a:close/>
              </a:path>
            </a:pathLst>
          </a:custGeom>
          <a:solidFill>
            <a:srgbClr val="8B0000"/>
          </a:solidFill>
          <a:ln/>
        </p:spPr>
      </p:sp>
      <p:sp>
        <p:nvSpPr>
          <p:cNvPr id="54" name="Text 52"/>
          <p:cNvSpPr/>
          <p:nvPr/>
        </p:nvSpPr>
        <p:spPr>
          <a:xfrm>
            <a:off x="6496844" y="6604000"/>
            <a:ext cx="2428875"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Incident Reports</a:t>
            </a:r>
            <a:endParaRPr lang="en-US" sz="1600" dirty="0"/>
          </a:p>
        </p:txBody>
      </p:sp>
      <p:sp>
        <p:nvSpPr>
          <p:cNvPr id="55" name="Shape 53"/>
          <p:cNvSpPr/>
          <p:nvPr/>
        </p:nvSpPr>
        <p:spPr>
          <a:xfrm>
            <a:off x="9100344" y="6282531"/>
            <a:ext cx="2571750" cy="579438"/>
          </a:xfrm>
          <a:custGeom>
            <a:avLst/>
            <a:gdLst/>
            <a:ahLst/>
            <a:cxnLst/>
            <a:rect l="l" t="t" r="r" b="b"/>
            <a:pathLst>
              <a:path w="2571750" h="579438">
                <a:moveTo>
                  <a:pt x="0" y="0"/>
                </a:moveTo>
                <a:lnTo>
                  <a:pt x="2571750" y="0"/>
                </a:lnTo>
                <a:lnTo>
                  <a:pt x="2571750" y="579438"/>
                </a:lnTo>
                <a:lnTo>
                  <a:pt x="0" y="579438"/>
                </a:lnTo>
                <a:lnTo>
                  <a:pt x="0" y="0"/>
                </a:lnTo>
                <a:close/>
              </a:path>
            </a:pathLst>
          </a:custGeom>
          <a:solidFill>
            <a:srgbClr val="FFFFFF"/>
          </a:solidFill>
          <a:ln w="12700">
            <a:solidFill>
              <a:srgbClr val="E5E7EB"/>
            </a:solidFill>
            <a:prstDash val="solid"/>
          </a:ln>
        </p:spPr>
      </p:sp>
      <p:sp>
        <p:nvSpPr>
          <p:cNvPr id="56" name="Shape 54"/>
          <p:cNvSpPr/>
          <p:nvPr/>
        </p:nvSpPr>
        <p:spPr>
          <a:xfrm>
            <a:off x="10306844" y="6381750"/>
            <a:ext cx="158750" cy="158750"/>
          </a:xfrm>
          <a:custGeom>
            <a:avLst/>
            <a:gdLst/>
            <a:ahLst/>
            <a:cxnLst/>
            <a:rect l="l" t="t" r="r" b="b"/>
            <a:pathLst>
              <a:path w="158750" h="158750">
                <a:moveTo>
                  <a:pt x="0" y="128984"/>
                </a:moveTo>
                <a:lnTo>
                  <a:pt x="0" y="37207"/>
                </a:lnTo>
                <a:cubicBezTo>
                  <a:pt x="0" y="33083"/>
                  <a:pt x="3318" y="29766"/>
                  <a:pt x="7441" y="29766"/>
                </a:cubicBezTo>
                <a:cubicBezTo>
                  <a:pt x="11565" y="29766"/>
                  <a:pt x="14883" y="33083"/>
                  <a:pt x="14883" y="37207"/>
                </a:cubicBezTo>
                <a:lnTo>
                  <a:pt x="14883" y="126504"/>
                </a:lnTo>
                <a:cubicBezTo>
                  <a:pt x="14883" y="130628"/>
                  <a:pt x="18200" y="133945"/>
                  <a:pt x="22324" y="133945"/>
                </a:cubicBezTo>
                <a:cubicBezTo>
                  <a:pt x="26448" y="133945"/>
                  <a:pt x="29766" y="130628"/>
                  <a:pt x="29766" y="126504"/>
                </a:cubicBezTo>
                <a:lnTo>
                  <a:pt x="29766" y="29766"/>
                </a:lnTo>
                <a:cubicBezTo>
                  <a:pt x="29766" y="18821"/>
                  <a:pt x="38664" y="9922"/>
                  <a:pt x="49609" y="9922"/>
                </a:cubicBezTo>
                <a:lnTo>
                  <a:pt x="138906" y="9922"/>
                </a:lnTo>
                <a:cubicBezTo>
                  <a:pt x="149851" y="9922"/>
                  <a:pt x="158750" y="18821"/>
                  <a:pt x="158750" y="29766"/>
                </a:cubicBezTo>
                <a:lnTo>
                  <a:pt x="158750" y="128984"/>
                </a:lnTo>
                <a:cubicBezTo>
                  <a:pt x="158750" y="139929"/>
                  <a:pt x="149851" y="148828"/>
                  <a:pt x="138906" y="148828"/>
                </a:cubicBezTo>
                <a:lnTo>
                  <a:pt x="19844" y="148828"/>
                </a:lnTo>
                <a:cubicBezTo>
                  <a:pt x="8899" y="148828"/>
                  <a:pt x="0" y="139929"/>
                  <a:pt x="0" y="128984"/>
                </a:cubicBezTo>
                <a:close/>
                <a:moveTo>
                  <a:pt x="49609" y="39688"/>
                </a:moveTo>
                <a:lnTo>
                  <a:pt x="49609" y="59531"/>
                </a:lnTo>
                <a:cubicBezTo>
                  <a:pt x="49609" y="65019"/>
                  <a:pt x="54043" y="69453"/>
                  <a:pt x="59531" y="69453"/>
                </a:cubicBezTo>
                <a:lnTo>
                  <a:pt x="79375" y="69453"/>
                </a:lnTo>
                <a:cubicBezTo>
                  <a:pt x="84863" y="69453"/>
                  <a:pt x="89297" y="65019"/>
                  <a:pt x="89297" y="59531"/>
                </a:cubicBezTo>
                <a:lnTo>
                  <a:pt x="89297" y="39688"/>
                </a:lnTo>
                <a:cubicBezTo>
                  <a:pt x="89297" y="34199"/>
                  <a:pt x="84863" y="29766"/>
                  <a:pt x="79375" y="29766"/>
                </a:cubicBezTo>
                <a:lnTo>
                  <a:pt x="59531" y="29766"/>
                </a:lnTo>
                <a:cubicBezTo>
                  <a:pt x="54043" y="29766"/>
                  <a:pt x="49609" y="34199"/>
                  <a:pt x="49609" y="39688"/>
                </a:cubicBezTo>
                <a:close/>
                <a:moveTo>
                  <a:pt x="57051" y="114102"/>
                </a:moveTo>
                <a:cubicBezTo>
                  <a:pt x="52927" y="114102"/>
                  <a:pt x="49609" y="117419"/>
                  <a:pt x="49609" y="121543"/>
                </a:cubicBezTo>
                <a:cubicBezTo>
                  <a:pt x="49609" y="125667"/>
                  <a:pt x="52927" y="128984"/>
                  <a:pt x="57051" y="128984"/>
                </a:cubicBezTo>
                <a:lnTo>
                  <a:pt x="131465" y="128984"/>
                </a:lnTo>
                <a:cubicBezTo>
                  <a:pt x="135589" y="128984"/>
                  <a:pt x="138906" y="125667"/>
                  <a:pt x="138906" y="121543"/>
                </a:cubicBezTo>
                <a:cubicBezTo>
                  <a:pt x="138906" y="117419"/>
                  <a:pt x="135589" y="114102"/>
                  <a:pt x="131465" y="114102"/>
                </a:cubicBezTo>
                <a:lnTo>
                  <a:pt x="57051" y="114102"/>
                </a:lnTo>
                <a:close/>
                <a:moveTo>
                  <a:pt x="49609" y="91777"/>
                </a:moveTo>
                <a:cubicBezTo>
                  <a:pt x="49609" y="95901"/>
                  <a:pt x="52927" y="99219"/>
                  <a:pt x="57051" y="99219"/>
                </a:cubicBezTo>
                <a:lnTo>
                  <a:pt x="131465" y="99219"/>
                </a:lnTo>
                <a:cubicBezTo>
                  <a:pt x="135589" y="99219"/>
                  <a:pt x="138906" y="95901"/>
                  <a:pt x="138906" y="91777"/>
                </a:cubicBezTo>
                <a:cubicBezTo>
                  <a:pt x="138906" y="87654"/>
                  <a:pt x="135589" y="84336"/>
                  <a:pt x="131465" y="84336"/>
                </a:cubicBezTo>
                <a:lnTo>
                  <a:pt x="57051" y="84336"/>
                </a:lnTo>
                <a:cubicBezTo>
                  <a:pt x="52927" y="84336"/>
                  <a:pt x="49609" y="87654"/>
                  <a:pt x="49609" y="91777"/>
                </a:cubicBezTo>
                <a:close/>
                <a:moveTo>
                  <a:pt x="111621" y="54570"/>
                </a:moveTo>
                <a:cubicBezTo>
                  <a:pt x="107497" y="54570"/>
                  <a:pt x="104180" y="57888"/>
                  <a:pt x="104180" y="62012"/>
                </a:cubicBezTo>
                <a:cubicBezTo>
                  <a:pt x="104180" y="66135"/>
                  <a:pt x="107497" y="69453"/>
                  <a:pt x="111621" y="69453"/>
                </a:cubicBezTo>
                <a:lnTo>
                  <a:pt x="131465" y="69453"/>
                </a:lnTo>
                <a:cubicBezTo>
                  <a:pt x="135589" y="69453"/>
                  <a:pt x="138906" y="66135"/>
                  <a:pt x="138906" y="62012"/>
                </a:cubicBezTo>
                <a:cubicBezTo>
                  <a:pt x="138906" y="57888"/>
                  <a:pt x="135589" y="54570"/>
                  <a:pt x="131465" y="54570"/>
                </a:cubicBezTo>
                <a:lnTo>
                  <a:pt x="111621" y="54570"/>
                </a:lnTo>
                <a:close/>
              </a:path>
            </a:pathLst>
          </a:custGeom>
          <a:solidFill>
            <a:srgbClr val="8B0000"/>
          </a:solidFill>
          <a:ln/>
        </p:spPr>
      </p:sp>
      <p:sp>
        <p:nvSpPr>
          <p:cNvPr id="57" name="Text 55"/>
          <p:cNvSpPr/>
          <p:nvPr/>
        </p:nvSpPr>
        <p:spPr>
          <a:xfrm>
            <a:off x="9171781" y="6604000"/>
            <a:ext cx="2428875"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News Articles</a:t>
            </a:r>
            <a:endParaRPr lang="en-US" sz="1600" dirty="0"/>
          </a:p>
        </p:txBody>
      </p:sp>
    </p:spTree>
    <p:extLst>
      <p:ext uri="{BB962C8B-B14F-4D97-AF65-F5344CB8AC3E}">
        <p14:creationId xmlns:p14="http://schemas.microsoft.com/office/powerpoint/2010/main" val="1280166652"/>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6231" y="356231"/>
            <a:ext cx="11541879" cy="178115"/>
          </a:xfrm>
          <a:prstGeom prst="rect">
            <a:avLst/>
          </a:prstGeom>
          <a:noFill/>
          <a:ln/>
        </p:spPr>
        <p:txBody>
          <a:bodyPr wrap="square" lIns="0" tIns="0" rIns="0" bIns="0" rtlCol="0" anchor="ctr"/>
          <a:lstStyle/>
          <a:p>
            <a:pPr>
              <a:lnSpc>
                <a:spcPct val="120000"/>
              </a:lnSpc>
            </a:pPr>
            <a:r>
              <a:rPr lang="en-US" sz="982" b="1" kern="0" spc="49" dirty="0">
                <a:solidFill>
                  <a:srgbClr val="8B0000"/>
                </a:solidFill>
                <a:latin typeface="Sorts Mill Goudy" pitchFamily="34" charset="0"/>
                <a:ea typeface="Sorts Mill Goudy" pitchFamily="34" charset="-122"/>
                <a:cs typeface="Sorts Mill Goudy" pitchFamily="34" charset="-120"/>
              </a:rPr>
              <a:t>5.3 INNOVATION HIGHLIGHTS</a:t>
            </a:r>
            <a:endParaRPr lang="en-US" sz="1600" dirty="0"/>
          </a:p>
        </p:txBody>
      </p:sp>
      <p:sp>
        <p:nvSpPr>
          <p:cNvPr id="3" name="Text 1"/>
          <p:cNvSpPr/>
          <p:nvPr/>
        </p:nvSpPr>
        <p:spPr>
          <a:xfrm>
            <a:off x="356231" y="605592"/>
            <a:ext cx="11639842" cy="356231"/>
          </a:xfrm>
          <a:prstGeom prst="rect">
            <a:avLst/>
          </a:prstGeom>
          <a:noFill/>
          <a:ln/>
        </p:spPr>
        <p:txBody>
          <a:bodyPr wrap="square" lIns="0" tIns="0" rIns="0" bIns="0" rtlCol="0" anchor="ctr"/>
          <a:lstStyle/>
          <a:p>
            <a:pPr>
              <a:lnSpc>
                <a:spcPct val="90000"/>
              </a:lnSpc>
            </a:pPr>
            <a:r>
              <a:rPr lang="en-US" sz="2524" b="1" dirty="0">
                <a:solidFill>
                  <a:srgbClr val="1F2937"/>
                </a:solidFill>
                <a:latin typeface="Sorts Mill Goudy" pitchFamily="34" charset="0"/>
                <a:ea typeface="Sorts Mill Goudy" pitchFamily="34" charset="-122"/>
                <a:cs typeface="Sorts Mill Goudy" pitchFamily="34" charset="-120"/>
              </a:rPr>
              <a:t>Innovation 3: Multi-Predicate Answer Composition</a:t>
            </a:r>
            <a:endParaRPr lang="en-US" sz="1600" dirty="0"/>
          </a:p>
        </p:txBody>
      </p:sp>
      <p:sp>
        <p:nvSpPr>
          <p:cNvPr id="4" name="Shape 2"/>
          <p:cNvSpPr/>
          <p:nvPr/>
        </p:nvSpPr>
        <p:spPr>
          <a:xfrm>
            <a:off x="374042" y="1175562"/>
            <a:ext cx="5575012" cy="2725166"/>
          </a:xfrm>
          <a:custGeom>
            <a:avLst/>
            <a:gdLst/>
            <a:ahLst/>
            <a:cxnLst/>
            <a:rect l="l" t="t" r="r" b="b"/>
            <a:pathLst>
              <a:path w="5575012" h="2725166">
                <a:moveTo>
                  <a:pt x="0" y="0"/>
                </a:moveTo>
                <a:lnTo>
                  <a:pt x="5575012" y="0"/>
                </a:lnTo>
                <a:lnTo>
                  <a:pt x="5575012" y="2725166"/>
                </a:lnTo>
                <a:lnTo>
                  <a:pt x="0" y="2725166"/>
                </a:lnTo>
                <a:lnTo>
                  <a:pt x="0" y="0"/>
                </a:lnTo>
                <a:close/>
              </a:path>
            </a:pathLst>
          </a:custGeom>
          <a:solidFill>
            <a:srgbClr val="F9FAFB"/>
          </a:solidFill>
          <a:ln/>
        </p:spPr>
      </p:sp>
      <p:sp>
        <p:nvSpPr>
          <p:cNvPr id="5" name="Shape 3"/>
          <p:cNvSpPr/>
          <p:nvPr/>
        </p:nvSpPr>
        <p:spPr>
          <a:xfrm>
            <a:off x="374042" y="1175562"/>
            <a:ext cx="35623" cy="2725166"/>
          </a:xfrm>
          <a:custGeom>
            <a:avLst/>
            <a:gdLst/>
            <a:ahLst/>
            <a:cxnLst/>
            <a:rect l="l" t="t" r="r" b="b"/>
            <a:pathLst>
              <a:path w="35623" h="2725166">
                <a:moveTo>
                  <a:pt x="0" y="0"/>
                </a:moveTo>
                <a:lnTo>
                  <a:pt x="35623" y="0"/>
                </a:lnTo>
                <a:lnTo>
                  <a:pt x="35623" y="2725166"/>
                </a:lnTo>
                <a:lnTo>
                  <a:pt x="0" y="2725166"/>
                </a:lnTo>
                <a:lnTo>
                  <a:pt x="0" y="0"/>
                </a:lnTo>
                <a:close/>
              </a:path>
            </a:pathLst>
          </a:custGeom>
          <a:solidFill>
            <a:srgbClr val="8B0000"/>
          </a:solidFill>
          <a:ln/>
        </p:spPr>
      </p:sp>
      <p:sp>
        <p:nvSpPr>
          <p:cNvPr id="6" name="Text 4"/>
          <p:cNvSpPr/>
          <p:nvPr/>
        </p:nvSpPr>
        <p:spPr>
          <a:xfrm>
            <a:off x="605592" y="1389300"/>
            <a:ext cx="5218782" cy="249362"/>
          </a:xfrm>
          <a:prstGeom prst="rect">
            <a:avLst/>
          </a:prstGeom>
          <a:noFill/>
          <a:ln/>
        </p:spPr>
        <p:txBody>
          <a:bodyPr wrap="square" lIns="0" tIns="0" rIns="0" bIns="0" rtlCol="0" anchor="ctr"/>
          <a:lstStyle/>
          <a:p>
            <a:pPr>
              <a:lnSpc>
                <a:spcPct val="120000"/>
              </a:lnSpc>
            </a:pPr>
            <a:r>
              <a:rPr lang="en-US" sz="1402" b="1" dirty="0">
                <a:solidFill>
                  <a:srgbClr val="1F2937"/>
                </a:solidFill>
                <a:latin typeface="Sorts Mill Goudy" pitchFamily="34" charset="0"/>
                <a:ea typeface="Sorts Mill Goudy" pitchFamily="34" charset="-122"/>
                <a:cs typeface="Sorts Mill Goudy" pitchFamily="34" charset="-120"/>
              </a:rPr>
              <a:t>The Problem: Single-Predicate Limitation</a:t>
            </a:r>
            <a:endParaRPr lang="en-US" sz="1600" dirty="0"/>
          </a:p>
        </p:txBody>
      </p:sp>
      <p:sp>
        <p:nvSpPr>
          <p:cNvPr id="7" name="Text 5"/>
          <p:cNvSpPr/>
          <p:nvPr/>
        </p:nvSpPr>
        <p:spPr>
          <a:xfrm>
            <a:off x="605592" y="1745531"/>
            <a:ext cx="5200970" cy="463100"/>
          </a:xfrm>
          <a:prstGeom prst="rect">
            <a:avLst/>
          </a:prstGeom>
          <a:noFill/>
          <a:ln/>
        </p:spPr>
        <p:txBody>
          <a:bodyPr wrap="square" lIns="0" tIns="0" rIns="0" bIns="0" rtlCol="0" anchor="ctr"/>
          <a:lstStyle/>
          <a:p>
            <a:pPr>
              <a:lnSpc>
                <a:spcPct val="140000"/>
              </a:lnSpc>
            </a:pPr>
            <a:r>
              <a:rPr lang="en-US" sz="1122" dirty="0">
                <a:solidFill>
                  <a:srgbClr val="1F2937"/>
                </a:solidFill>
                <a:latin typeface="Sorts Mill Goudy" pitchFamily="34" charset="0"/>
                <a:ea typeface="Sorts Mill Goudy" pitchFamily="34" charset="-122"/>
                <a:cs typeface="Sorts Mill Goudy" pitchFamily="34" charset="-120"/>
              </a:rPr>
              <a:t>Current model selects answer from a single predicate. Real-world questions often require combining information from multiple events:</a:t>
            </a:r>
            <a:endParaRPr lang="en-US" sz="1600" dirty="0"/>
          </a:p>
        </p:txBody>
      </p:sp>
      <p:sp>
        <p:nvSpPr>
          <p:cNvPr id="8" name="Shape 6"/>
          <p:cNvSpPr/>
          <p:nvPr/>
        </p:nvSpPr>
        <p:spPr>
          <a:xfrm>
            <a:off x="610045" y="2355576"/>
            <a:ext cx="5120818" cy="1326960"/>
          </a:xfrm>
          <a:custGeom>
            <a:avLst/>
            <a:gdLst/>
            <a:ahLst/>
            <a:cxnLst/>
            <a:rect l="l" t="t" r="r" b="b"/>
            <a:pathLst>
              <a:path w="5120818" h="1326960">
                <a:moveTo>
                  <a:pt x="0" y="0"/>
                </a:moveTo>
                <a:lnTo>
                  <a:pt x="5120818" y="0"/>
                </a:lnTo>
                <a:lnTo>
                  <a:pt x="5120818" y="1326960"/>
                </a:lnTo>
                <a:lnTo>
                  <a:pt x="0" y="1326960"/>
                </a:lnTo>
                <a:lnTo>
                  <a:pt x="0" y="0"/>
                </a:lnTo>
                <a:close/>
              </a:path>
            </a:pathLst>
          </a:custGeom>
          <a:solidFill>
            <a:srgbClr val="FFFFFF"/>
          </a:solidFill>
          <a:ln w="12700">
            <a:solidFill>
              <a:srgbClr val="E5E7EB"/>
            </a:solidFill>
            <a:prstDash val="solid"/>
          </a:ln>
        </p:spPr>
      </p:sp>
      <p:sp>
        <p:nvSpPr>
          <p:cNvPr id="9" name="Text 7"/>
          <p:cNvSpPr/>
          <p:nvPr/>
        </p:nvSpPr>
        <p:spPr>
          <a:xfrm>
            <a:off x="756991" y="2502522"/>
            <a:ext cx="4898174"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"The CEO announced the merger. The board approved it the next day."</a:t>
            </a:r>
            <a:endParaRPr lang="en-US" sz="1600" dirty="0"/>
          </a:p>
        </p:txBody>
      </p:sp>
      <p:sp>
        <p:nvSpPr>
          <p:cNvPr id="10" name="Text 8"/>
          <p:cNvSpPr/>
          <p:nvPr/>
        </p:nvSpPr>
        <p:spPr>
          <a:xfrm>
            <a:off x="756991" y="2823129"/>
            <a:ext cx="4898174" cy="213738"/>
          </a:xfrm>
          <a:prstGeom prst="rect">
            <a:avLst/>
          </a:prstGeom>
          <a:noFill/>
          <a:ln/>
        </p:spPr>
        <p:txBody>
          <a:bodyPr wrap="square" lIns="0" tIns="0" rIns="0" bIns="0" rtlCol="0" anchor="ctr"/>
          <a:lstStyle/>
          <a:p>
            <a:pPr>
              <a:lnSpc>
                <a:spcPct val="130000"/>
              </a:lnSpc>
            </a:pPr>
            <a:r>
              <a:rPr lang="en-US" sz="1122" dirty="0">
                <a:solidFill>
                  <a:srgbClr val="6B7280"/>
                </a:solidFill>
                <a:latin typeface="Sorts Mill Goudy" pitchFamily="34" charset="0"/>
                <a:ea typeface="Sorts Mill Goudy" pitchFamily="34" charset="-122"/>
                <a:cs typeface="Sorts Mill Goudy" pitchFamily="34" charset="-120"/>
              </a:rPr>
              <a:t>Question: "What did the board approve?"</a:t>
            </a:r>
            <a:endParaRPr lang="en-US" sz="1600" dirty="0"/>
          </a:p>
        </p:txBody>
      </p:sp>
      <p:sp>
        <p:nvSpPr>
          <p:cNvPr id="11" name="Text 9"/>
          <p:cNvSpPr/>
          <p:nvPr/>
        </p:nvSpPr>
        <p:spPr>
          <a:xfrm>
            <a:off x="756991" y="3108114"/>
            <a:ext cx="4898174" cy="427477"/>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 Requires linking "approve" (predicate 2) to "merger" (argument of predicate 1)</a:t>
            </a:r>
            <a:endParaRPr lang="en-US" sz="1600" dirty="0"/>
          </a:p>
        </p:txBody>
      </p:sp>
      <p:sp>
        <p:nvSpPr>
          <p:cNvPr id="12" name="Shape 10"/>
          <p:cNvSpPr/>
          <p:nvPr/>
        </p:nvSpPr>
        <p:spPr>
          <a:xfrm>
            <a:off x="374042" y="4114466"/>
            <a:ext cx="5575012" cy="2279877"/>
          </a:xfrm>
          <a:custGeom>
            <a:avLst/>
            <a:gdLst/>
            <a:ahLst/>
            <a:cxnLst/>
            <a:rect l="l" t="t" r="r" b="b"/>
            <a:pathLst>
              <a:path w="5575012" h="2279877">
                <a:moveTo>
                  <a:pt x="0" y="0"/>
                </a:moveTo>
                <a:lnTo>
                  <a:pt x="5575012" y="0"/>
                </a:lnTo>
                <a:lnTo>
                  <a:pt x="5575012" y="2279877"/>
                </a:lnTo>
                <a:lnTo>
                  <a:pt x="0" y="2279877"/>
                </a:lnTo>
                <a:lnTo>
                  <a:pt x="0" y="0"/>
                </a:lnTo>
                <a:close/>
              </a:path>
            </a:pathLst>
          </a:custGeom>
          <a:solidFill>
            <a:srgbClr val="F9FAFB"/>
          </a:solidFill>
          <a:ln/>
        </p:spPr>
      </p:sp>
      <p:sp>
        <p:nvSpPr>
          <p:cNvPr id="13" name="Shape 11"/>
          <p:cNvSpPr/>
          <p:nvPr/>
        </p:nvSpPr>
        <p:spPr>
          <a:xfrm>
            <a:off x="374042" y="4114466"/>
            <a:ext cx="35623" cy="2279877"/>
          </a:xfrm>
          <a:custGeom>
            <a:avLst/>
            <a:gdLst/>
            <a:ahLst/>
            <a:cxnLst/>
            <a:rect l="l" t="t" r="r" b="b"/>
            <a:pathLst>
              <a:path w="35623" h="2279877">
                <a:moveTo>
                  <a:pt x="0" y="0"/>
                </a:moveTo>
                <a:lnTo>
                  <a:pt x="35623" y="0"/>
                </a:lnTo>
                <a:lnTo>
                  <a:pt x="35623" y="2279877"/>
                </a:lnTo>
                <a:lnTo>
                  <a:pt x="0" y="2279877"/>
                </a:lnTo>
                <a:lnTo>
                  <a:pt x="0" y="0"/>
                </a:lnTo>
                <a:close/>
              </a:path>
            </a:pathLst>
          </a:custGeom>
          <a:solidFill>
            <a:srgbClr val="8B0000"/>
          </a:solidFill>
          <a:ln/>
        </p:spPr>
      </p:sp>
      <p:sp>
        <p:nvSpPr>
          <p:cNvPr id="14" name="Text 12"/>
          <p:cNvSpPr/>
          <p:nvPr/>
        </p:nvSpPr>
        <p:spPr>
          <a:xfrm>
            <a:off x="605592" y="4328205"/>
            <a:ext cx="5218782" cy="249362"/>
          </a:xfrm>
          <a:prstGeom prst="rect">
            <a:avLst/>
          </a:prstGeom>
          <a:noFill/>
          <a:ln/>
        </p:spPr>
        <p:txBody>
          <a:bodyPr wrap="square" lIns="0" tIns="0" rIns="0" bIns="0" rtlCol="0" anchor="ctr"/>
          <a:lstStyle/>
          <a:p>
            <a:pPr>
              <a:lnSpc>
                <a:spcPct val="120000"/>
              </a:lnSpc>
            </a:pPr>
            <a:r>
              <a:rPr lang="en-US" sz="1402" b="1" dirty="0">
                <a:solidFill>
                  <a:srgbClr val="1F2937"/>
                </a:solidFill>
                <a:latin typeface="Sorts Mill Goudy" pitchFamily="34" charset="0"/>
                <a:ea typeface="Sorts Mill Goudy" pitchFamily="34" charset="-122"/>
                <a:cs typeface="Sorts Mill Goudy" pitchFamily="34" charset="-120"/>
              </a:rPr>
              <a:t>The Solution: Span Composition Layer</a:t>
            </a:r>
            <a:endParaRPr lang="en-US" sz="1600" dirty="0"/>
          </a:p>
        </p:txBody>
      </p:sp>
      <p:sp>
        <p:nvSpPr>
          <p:cNvPr id="15" name="Text 13"/>
          <p:cNvSpPr/>
          <p:nvPr/>
        </p:nvSpPr>
        <p:spPr>
          <a:xfrm>
            <a:off x="605592" y="4684435"/>
            <a:ext cx="5200970" cy="463100"/>
          </a:xfrm>
          <a:prstGeom prst="rect">
            <a:avLst/>
          </a:prstGeom>
          <a:noFill/>
          <a:ln/>
        </p:spPr>
        <p:txBody>
          <a:bodyPr wrap="square" lIns="0" tIns="0" rIns="0" bIns="0" rtlCol="0" anchor="ctr"/>
          <a:lstStyle/>
          <a:p>
            <a:pPr>
              <a:lnSpc>
                <a:spcPct val="140000"/>
              </a:lnSpc>
            </a:pPr>
            <a:r>
              <a:rPr lang="en-US" sz="1122" dirty="0">
                <a:solidFill>
                  <a:srgbClr val="1F2937"/>
                </a:solidFill>
                <a:latin typeface="Sorts Mill Goudy" pitchFamily="34" charset="0"/>
                <a:ea typeface="Sorts Mill Goudy" pitchFamily="34" charset="-122"/>
                <a:cs typeface="Sorts Mill Goudy" pitchFamily="34" charset="-120"/>
              </a:rPr>
              <a:t>Add a </a:t>
            </a:r>
            <a:r>
              <a:rPr lang="en-US" sz="1122" b="1" dirty="0">
                <a:solidFill>
                  <a:srgbClr val="1F2937"/>
                </a:solidFill>
                <a:latin typeface="Sorts Mill Goudy" pitchFamily="34" charset="0"/>
                <a:ea typeface="Sorts Mill Goudy" pitchFamily="34" charset="-122"/>
                <a:cs typeface="Sorts Mill Goudy" pitchFamily="34" charset="-120"/>
              </a:rPr>
              <a:t>second-stage span-composition layer</a:t>
            </a:r>
            <a:r>
              <a:rPr lang="en-US" sz="1122" dirty="0">
                <a:solidFill>
                  <a:srgbClr val="1F2937"/>
                </a:solidFill>
                <a:latin typeface="Sorts Mill Goudy" pitchFamily="34" charset="0"/>
                <a:ea typeface="Sorts Mill Goudy" pitchFamily="34" charset="-122"/>
                <a:cs typeface="Sorts Mill Goudy" pitchFamily="34" charset="-120"/>
              </a:rPr>
              <a:t> that aggregates compatible spans from multiple predicates:</a:t>
            </a:r>
            <a:endParaRPr lang="en-US" sz="1600" dirty="0"/>
          </a:p>
        </p:txBody>
      </p:sp>
      <p:sp>
        <p:nvSpPr>
          <p:cNvPr id="16" name="Text 14"/>
          <p:cNvSpPr/>
          <p:nvPr/>
        </p:nvSpPr>
        <p:spPr>
          <a:xfrm>
            <a:off x="605592" y="5325651"/>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7" name="Text 15"/>
          <p:cNvSpPr/>
          <p:nvPr/>
        </p:nvSpPr>
        <p:spPr>
          <a:xfrm>
            <a:off x="792614" y="5290028"/>
            <a:ext cx="3330758"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Collect candidate spans from all predicates in context</a:t>
            </a:r>
            <a:endParaRPr lang="en-US" sz="1600" dirty="0"/>
          </a:p>
        </p:txBody>
      </p:sp>
      <p:sp>
        <p:nvSpPr>
          <p:cNvPr id="18" name="Text 16"/>
          <p:cNvSpPr/>
          <p:nvPr/>
        </p:nvSpPr>
        <p:spPr>
          <a:xfrm>
            <a:off x="605592" y="5646259"/>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9" name="Text 17"/>
          <p:cNvSpPr/>
          <p:nvPr/>
        </p:nvSpPr>
        <p:spPr>
          <a:xfrm>
            <a:off x="792614" y="5610636"/>
            <a:ext cx="2671731"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Score compatibility with attention weights</a:t>
            </a:r>
            <a:endParaRPr lang="en-US" sz="1600" dirty="0"/>
          </a:p>
        </p:txBody>
      </p:sp>
      <p:sp>
        <p:nvSpPr>
          <p:cNvPr id="20" name="Text 18"/>
          <p:cNvSpPr/>
          <p:nvPr/>
        </p:nvSpPr>
        <p:spPr>
          <a:xfrm>
            <a:off x="605592" y="5966866"/>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1" name="Text 19"/>
          <p:cNvSpPr/>
          <p:nvPr/>
        </p:nvSpPr>
        <p:spPr>
          <a:xfrm>
            <a:off x="792614" y="5931243"/>
            <a:ext cx="4461791"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Normalize over question relevance, frame confidence, entity consistency</a:t>
            </a:r>
            <a:endParaRPr lang="en-US" sz="1600" dirty="0"/>
          </a:p>
        </p:txBody>
      </p:sp>
      <p:sp>
        <p:nvSpPr>
          <p:cNvPr id="22" name="Shape 20"/>
          <p:cNvSpPr/>
          <p:nvPr/>
        </p:nvSpPr>
        <p:spPr>
          <a:xfrm>
            <a:off x="6237936" y="1175562"/>
            <a:ext cx="5592824" cy="3437627"/>
          </a:xfrm>
          <a:custGeom>
            <a:avLst/>
            <a:gdLst/>
            <a:ahLst/>
            <a:cxnLst/>
            <a:rect l="l" t="t" r="r" b="b"/>
            <a:pathLst>
              <a:path w="5592824" h="3437627">
                <a:moveTo>
                  <a:pt x="0" y="0"/>
                </a:moveTo>
                <a:lnTo>
                  <a:pt x="5592824" y="0"/>
                </a:lnTo>
                <a:lnTo>
                  <a:pt x="5592824" y="3437627"/>
                </a:lnTo>
                <a:lnTo>
                  <a:pt x="0" y="3437627"/>
                </a:lnTo>
                <a:lnTo>
                  <a:pt x="0" y="0"/>
                </a:lnTo>
                <a:close/>
              </a:path>
            </a:pathLst>
          </a:custGeom>
          <a:solidFill>
            <a:srgbClr val="F9FAFB"/>
          </a:solidFill>
          <a:ln/>
        </p:spPr>
      </p:sp>
      <p:sp>
        <p:nvSpPr>
          <p:cNvPr id="23" name="Text 21"/>
          <p:cNvSpPr/>
          <p:nvPr/>
        </p:nvSpPr>
        <p:spPr>
          <a:xfrm>
            <a:off x="6451674" y="1389300"/>
            <a:ext cx="5254405" cy="249362"/>
          </a:xfrm>
          <a:prstGeom prst="rect">
            <a:avLst/>
          </a:prstGeom>
          <a:noFill/>
          <a:ln/>
        </p:spPr>
        <p:txBody>
          <a:bodyPr wrap="square" lIns="0" tIns="0" rIns="0" bIns="0" rtlCol="0" anchor="ctr"/>
          <a:lstStyle/>
          <a:p>
            <a:pPr>
              <a:lnSpc>
                <a:spcPct val="120000"/>
              </a:lnSpc>
            </a:pPr>
            <a:r>
              <a:rPr lang="en-US" sz="1402" b="1" dirty="0">
                <a:solidFill>
                  <a:srgbClr val="1F2937"/>
                </a:solidFill>
                <a:latin typeface="Sorts Mill Goudy" pitchFamily="34" charset="0"/>
                <a:ea typeface="Sorts Mill Goudy" pitchFamily="34" charset="-122"/>
                <a:cs typeface="Sorts Mill Goudy" pitchFamily="34" charset="-120"/>
              </a:rPr>
              <a:t>Attention Weighting Factors</a:t>
            </a:r>
            <a:endParaRPr lang="en-US" sz="1600" dirty="0"/>
          </a:p>
        </p:txBody>
      </p:sp>
      <p:sp>
        <p:nvSpPr>
          <p:cNvPr id="24" name="Shape 22"/>
          <p:cNvSpPr/>
          <p:nvPr/>
        </p:nvSpPr>
        <p:spPr>
          <a:xfrm>
            <a:off x="6456127" y="1785607"/>
            <a:ext cx="5156441" cy="792614"/>
          </a:xfrm>
          <a:custGeom>
            <a:avLst/>
            <a:gdLst/>
            <a:ahLst/>
            <a:cxnLst/>
            <a:rect l="l" t="t" r="r" b="b"/>
            <a:pathLst>
              <a:path w="5156441" h="792614">
                <a:moveTo>
                  <a:pt x="0" y="0"/>
                </a:moveTo>
                <a:lnTo>
                  <a:pt x="5156441" y="0"/>
                </a:lnTo>
                <a:lnTo>
                  <a:pt x="5156441" y="792614"/>
                </a:lnTo>
                <a:lnTo>
                  <a:pt x="0" y="792614"/>
                </a:lnTo>
                <a:lnTo>
                  <a:pt x="0" y="0"/>
                </a:lnTo>
                <a:close/>
              </a:path>
            </a:pathLst>
          </a:custGeom>
          <a:solidFill>
            <a:srgbClr val="FFFFFF"/>
          </a:solidFill>
          <a:ln w="12700">
            <a:solidFill>
              <a:srgbClr val="E5E7EB"/>
            </a:solidFill>
            <a:prstDash val="solid"/>
          </a:ln>
        </p:spPr>
      </p:sp>
      <p:sp>
        <p:nvSpPr>
          <p:cNvPr id="25" name="Shape 23"/>
          <p:cNvSpPr/>
          <p:nvPr/>
        </p:nvSpPr>
        <p:spPr>
          <a:xfrm>
            <a:off x="6620884" y="1968175"/>
            <a:ext cx="142492" cy="142492"/>
          </a:xfrm>
          <a:custGeom>
            <a:avLst/>
            <a:gdLst/>
            <a:ahLst/>
            <a:cxnLst/>
            <a:rect l="l" t="t" r="r" b="b"/>
            <a:pathLst>
              <a:path w="142492" h="142492">
                <a:moveTo>
                  <a:pt x="71246" y="142492"/>
                </a:moveTo>
                <a:cubicBezTo>
                  <a:pt x="110568" y="142492"/>
                  <a:pt x="142492" y="110568"/>
                  <a:pt x="142492" y="71246"/>
                </a:cubicBezTo>
                <a:cubicBezTo>
                  <a:pt x="142492" y="31924"/>
                  <a:pt x="110568" y="0"/>
                  <a:pt x="71246" y="0"/>
                </a:cubicBezTo>
                <a:cubicBezTo>
                  <a:pt x="31924" y="0"/>
                  <a:pt x="0" y="31924"/>
                  <a:pt x="0" y="71246"/>
                </a:cubicBezTo>
                <a:cubicBezTo>
                  <a:pt x="0" y="110568"/>
                  <a:pt x="31924" y="142492"/>
                  <a:pt x="71246" y="142492"/>
                </a:cubicBezTo>
                <a:close/>
                <a:moveTo>
                  <a:pt x="71246" y="48982"/>
                </a:moveTo>
                <a:cubicBezTo>
                  <a:pt x="66320" y="48982"/>
                  <a:pt x="62340" y="52962"/>
                  <a:pt x="62340" y="57888"/>
                </a:cubicBezTo>
                <a:cubicBezTo>
                  <a:pt x="62340" y="61589"/>
                  <a:pt x="59363" y="64567"/>
                  <a:pt x="55661" y="64567"/>
                </a:cubicBezTo>
                <a:cubicBezTo>
                  <a:pt x="51960" y="64567"/>
                  <a:pt x="48982" y="61589"/>
                  <a:pt x="48982" y="57888"/>
                </a:cubicBezTo>
                <a:cubicBezTo>
                  <a:pt x="48982" y="45586"/>
                  <a:pt x="58945" y="35623"/>
                  <a:pt x="71246" y="35623"/>
                </a:cubicBezTo>
                <a:cubicBezTo>
                  <a:pt x="83547" y="35623"/>
                  <a:pt x="93511" y="45586"/>
                  <a:pt x="93511" y="57888"/>
                </a:cubicBezTo>
                <a:cubicBezTo>
                  <a:pt x="93511" y="71024"/>
                  <a:pt x="83492" y="76590"/>
                  <a:pt x="77925" y="78621"/>
                </a:cubicBezTo>
                <a:lnTo>
                  <a:pt x="77925" y="79679"/>
                </a:lnTo>
                <a:cubicBezTo>
                  <a:pt x="77925" y="83380"/>
                  <a:pt x="74948" y="86358"/>
                  <a:pt x="71246" y="86358"/>
                </a:cubicBezTo>
                <a:cubicBezTo>
                  <a:pt x="67545" y="86358"/>
                  <a:pt x="64567" y="83380"/>
                  <a:pt x="64567" y="79679"/>
                </a:cubicBezTo>
                <a:lnTo>
                  <a:pt x="64567" y="77425"/>
                </a:lnTo>
                <a:cubicBezTo>
                  <a:pt x="64567" y="71719"/>
                  <a:pt x="68686" y="67628"/>
                  <a:pt x="72944" y="66237"/>
                </a:cubicBezTo>
                <a:cubicBezTo>
                  <a:pt x="74725" y="65652"/>
                  <a:pt x="76617" y="64706"/>
                  <a:pt x="78009" y="63370"/>
                </a:cubicBezTo>
                <a:cubicBezTo>
                  <a:pt x="79206" y="62201"/>
                  <a:pt x="80152" y="60587"/>
                  <a:pt x="80152" y="57915"/>
                </a:cubicBezTo>
                <a:cubicBezTo>
                  <a:pt x="80152" y="52989"/>
                  <a:pt x="76172" y="49010"/>
                  <a:pt x="71246" y="49010"/>
                </a:cubicBezTo>
                <a:close/>
                <a:moveTo>
                  <a:pt x="62340" y="102416"/>
                </a:moveTo>
                <a:cubicBezTo>
                  <a:pt x="62340" y="97501"/>
                  <a:pt x="66331" y="93511"/>
                  <a:pt x="71246" y="93511"/>
                </a:cubicBezTo>
                <a:cubicBezTo>
                  <a:pt x="76161" y="93511"/>
                  <a:pt x="80152" y="97501"/>
                  <a:pt x="80152" y="102416"/>
                </a:cubicBezTo>
                <a:cubicBezTo>
                  <a:pt x="80152" y="107332"/>
                  <a:pt x="76161" y="111322"/>
                  <a:pt x="71246" y="111322"/>
                </a:cubicBezTo>
                <a:cubicBezTo>
                  <a:pt x="66331" y="111322"/>
                  <a:pt x="62340" y="107332"/>
                  <a:pt x="62340" y="102416"/>
                </a:cubicBezTo>
                <a:close/>
              </a:path>
            </a:pathLst>
          </a:custGeom>
          <a:solidFill>
            <a:srgbClr val="8B0000"/>
          </a:solidFill>
          <a:ln/>
        </p:spPr>
      </p:sp>
      <p:sp>
        <p:nvSpPr>
          <p:cNvPr id="26" name="Text 24"/>
          <p:cNvSpPr/>
          <p:nvPr/>
        </p:nvSpPr>
        <p:spPr>
          <a:xfrm>
            <a:off x="6888057" y="1932552"/>
            <a:ext cx="1309148" cy="213738"/>
          </a:xfrm>
          <a:prstGeom prst="rect">
            <a:avLst/>
          </a:prstGeom>
          <a:noFill/>
          <a:ln/>
        </p:spPr>
        <p:txBody>
          <a:bodyPr wrap="square" lIns="0" tIns="0" rIns="0" bIns="0" rtlCol="0" anchor="ctr"/>
          <a:lstStyle/>
          <a:p>
            <a:pPr>
              <a:lnSpc>
                <a:spcPct val="130000"/>
              </a:lnSpc>
            </a:pPr>
            <a:r>
              <a:rPr lang="en-US" sz="1122" b="1" dirty="0">
                <a:solidFill>
                  <a:srgbClr val="1F2937"/>
                </a:solidFill>
                <a:latin typeface="Sorts Mill Goudy" pitchFamily="34" charset="0"/>
                <a:ea typeface="Sorts Mill Goudy" pitchFamily="34" charset="-122"/>
                <a:cs typeface="Sorts Mill Goudy" pitchFamily="34" charset="-120"/>
              </a:rPr>
              <a:t>Question Relevance</a:t>
            </a:r>
            <a:endParaRPr lang="en-US" sz="1600" dirty="0"/>
          </a:p>
        </p:txBody>
      </p:sp>
      <p:sp>
        <p:nvSpPr>
          <p:cNvPr id="27" name="Text 25"/>
          <p:cNvSpPr/>
          <p:nvPr/>
        </p:nvSpPr>
        <p:spPr>
          <a:xfrm>
            <a:off x="6603072" y="2217537"/>
            <a:ext cx="4933797" cy="213738"/>
          </a:xfrm>
          <a:prstGeom prst="rect">
            <a:avLst/>
          </a:prstGeom>
          <a:noFill/>
          <a:ln/>
        </p:spPr>
        <p:txBody>
          <a:bodyPr wrap="square" lIns="0" tIns="0" rIns="0" bIns="0" rtlCol="0" anchor="ctr"/>
          <a:lstStyle/>
          <a:p>
            <a:pPr>
              <a:lnSpc>
                <a:spcPct val="130000"/>
              </a:lnSpc>
            </a:pPr>
            <a:r>
              <a:rPr lang="en-US" sz="1122" dirty="0">
                <a:solidFill>
                  <a:srgbClr val="6B7280"/>
                </a:solidFill>
                <a:latin typeface="Sorts Mill Goudy" pitchFamily="34" charset="0"/>
                <a:ea typeface="Sorts Mill Goudy" pitchFamily="34" charset="-122"/>
                <a:cs typeface="Sorts Mill Goudy" pitchFamily="34" charset="-120"/>
              </a:rPr>
              <a:t>How well does the span address the wh-question type?</a:t>
            </a:r>
            <a:endParaRPr lang="en-US" sz="1600" dirty="0"/>
          </a:p>
        </p:txBody>
      </p:sp>
      <p:sp>
        <p:nvSpPr>
          <p:cNvPr id="28" name="Shape 26"/>
          <p:cNvSpPr/>
          <p:nvPr/>
        </p:nvSpPr>
        <p:spPr>
          <a:xfrm>
            <a:off x="6456127" y="2693996"/>
            <a:ext cx="5156441" cy="792614"/>
          </a:xfrm>
          <a:custGeom>
            <a:avLst/>
            <a:gdLst/>
            <a:ahLst/>
            <a:cxnLst/>
            <a:rect l="l" t="t" r="r" b="b"/>
            <a:pathLst>
              <a:path w="5156441" h="792614">
                <a:moveTo>
                  <a:pt x="0" y="0"/>
                </a:moveTo>
                <a:lnTo>
                  <a:pt x="5156441" y="0"/>
                </a:lnTo>
                <a:lnTo>
                  <a:pt x="5156441" y="792614"/>
                </a:lnTo>
                <a:lnTo>
                  <a:pt x="0" y="792614"/>
                </a:lnTo>
                <a:lnTo>
                  <a:pt x="0" y="0"/>
                </a:lnTo>
                <a:close/>
              </a:path>
            </a:pathLst>
          </a:custGeom>
          <a:solidFill>
            <a:srgbClr val="FFFFFF"/>
          </a:solidFill>
          <a:ln w="12700">
            <a:solidFill>
              <a:srgbClr val="E5E7EB"/>
            </a:solidFill>
            <a:prstDash val="solid"/>
          </a:ln>
        </p:spPr>
      </p:sp>
      <p:sp>
        <p:nvSpPr>
          <p:cNvPr id="29" name="Shape 27"/>
          <p:cNvSpPr/>
          <p:nvPr/>
        </p:nvSpPr>
        <p:spPr>
          <a:xfrm>
            <a:off x="6620884" y="2876564"/>
            <a:ext cx="142492" cy="142492"/>
          </a:xfrm>
          <a:custGeom>
            <a:avLst/>
            <a:gdLst/>
            <a:ahLst/>
            <a:cxnLst/>
            <a:rect l="l" t="t" r="r" b="b"/>
            <a:pathLst>
              <a:path w="142492" h="142492">
                <a:moveTo>
                  <a:pt x="124681" y="71246"/>
                </a:moveTo>
                <a:cubicBezTo>
                  <a:pt x="124681" y="41755"/>
                  <a:pt x="100738" y="17812"/>
                  <a:pt x="71246" y="17812"/>
                </a:cubicBezTo>
                <a:cubicBezTo>
                  <a:pt x="41755" y="17812"/>
                  <a:pt x="17812" y="41755"/>
                  <a:pt x="17812" y="71246"/>
                </a:cubicBezTo>
                <a:cubicBezTo>
                  <a:pt x="17812" y="100738"/>
                  <a:pt x="41755" y="124681"/>
                  <a:pt x="71246" y="124681"/>
                </a:cubicBezTo>
                <a:cubicBezTo>
                  <a:pt x="100738" y="124681"/>
                  <a:pt x="124681" y="100738"/>
                  <a:pt x="124681" y="71246"/>
                </a:cubicBezTo>
                <a:close/>
                <a:moveTo>
                  <a:pt x="0" y="71246"/>
                </a:moveTo>
                <a:cubicBezTo>
                  <a:pt x="0" y="31924"/>
                  <a:pt x="31924" y="0"/>
                  <a:pt x="71246" y="0"/>
                </a:cubicBezTo>
                <a:cubicBezTo>
                  <a:pt x="110568" y="0"/>
                  <a:pt x="142492" y="31924"/>
                  <a:pt x="142492" y="71246"/>
                </a:cubicBezTo>
                <a:cubicBezTo>
                  <a:pt x="142492" y="110568"/>
                  <a:pt x="110568" y="142492"/>
                  <a:pt x="71246" y="142492"/>
                </a:cubicBezTo>
                <a:cubicBezTo>
                  <a:pt x="31924" y="142492"/>
                  <a:pt x="0" y="110568"/>
                  <a:pt x="0" y="71246"/>
                </a:cubicBezTo>
                <a:close/>
                <a:moveTo>
                  <a:pt x="71246" y="93511"/>
                </a:moveTo>
                <a:cubicBezTo>
                  <a:pt x="83534" y="93511"/>
                  <a:pt x="93511" y="83534"/>
                  <a:pt x="93511" y="71246"/>
                </a:cubicBezTo>
                <a:cubicBezTo>
                  <a:pt x="93511" y="58958"/>
                  <a:pt x="83534" y="48982"/>
                  <a:pt x="71246" y="48982"/>
                </a:cubicBezTo>
                <a:cubicBezTo>
                  <a:pt x="58958" y="48982"/>
                  <a:pt x="48982" y="58958"/>
                  <a:pt x="48982" y="71246"/>
                </a:cubicBezTo>
                <a:cubicBezTo>
                  <a:pt x="48982" y="83534"/>
                  <a:pt x="58958" y="93511"/>
                  <a:pt x="71246" y="93511"/>
                </a:cubicBezTo>
                <a:close/>
                <a:moveTo>
                  <a:pt x="71246" y="31170"/>
                </a:moveTo>
                <a:cubicBezTo>
                  <a:pt x="93365" y="31170"/>
                  <a:pt x="111322" y="49128"/>
                  <a:pt x="111322" y="71246"/>
                </a:cubicBezTo>
                <a:cubicBezTo>
                  <a:pt x="111322" y="93365"/>
                  <a:pt x="93365" y="111322"/>
                  <a:pt x="71246" y="111322"/>
                </a:cubicBezTo>
                <a:cubicBezTo>
                  <a:pt x="49128" y="111322"/>
                  <a:pt x="31170" y="93365"/>
                  <a:pt x="31170" y="71246"/>
                </a:cubicBezTo>
                <a:cubicBezTo>
                  <a:pt x="31170" y="49128"/>
                  <a:pt x="49128" y="31170"/>
                  <a:pt x="71246" y="31170"/>
                </a:cubicBezTo>
                <a:close/>
                <a:moveTo>
                  <a:pt x="62340" y="71246"/>
                </a:moveTo>
                <a:cubicBezTo>
                  <a:pt x="62340" y="66331"/>
                  <a:pt x="66331" y="62340"/>
                  <a:pt x="71246" y="62340"/>
                </a:cubicBezTo>
                <a:cubicBezTo>
                  <a:pt x="76161" y="62340"/>
                  <a:pt x="80152" y="66331"/>
                  <a:pt x="80152" y="71246"/>
                </a:cubicBezTo>
                <a:cubicBezTo>
                  <a:pt x="80152" y="76161"/>
                  <a:pt x="76161" y="80152"/>
                  <a:pt x="71246" y="80152"/>
                </a:cubicBezTo>
                <a:cubicBezTo>
                  <a:pt x="66331" y="80152"/>
                  <a:pt x="62340" y="76161"/>
                  <a:pt x="62340" y="71246"/>
                </a:cubicBezTo>
                <a:close/>
              </a:path>
            </a:pathLst>
          </a:custGeom>
          <a:solidFill>
            <a:srgbClr val="8B0000"/>
          </a:solidFill>
          <a:ln/>
        </p:spPr>
      </p:sp>
      <p:sp>
        <p:nvSpPr>
          <p:cNvPr id="30" name="Text 28"/>
          <p:cNvSpPr/>
          <p:nvPr/>
        </p:nvSpPr>
        <p:spPr>
          <a:xfrm>
            <a:off x="6888057" y="2840941"/>
            <a:ext cx="1202279" cy="213738"/>
          </a:xfrm>
          <a:prstGeom prst="rect">
            <a:avLst/>
          </a:prstGeom>
          <a:noFill/>
          <a:ln/>
        </p:spPr>
        <p:txBody>
          <a:bodyPr wrap="square" lIns="0" tIns="0" rIns="0" bIns="0" rtlCol="0" anchor="ctr"/>
          <a:lstStyle/>
          <a:p>
            <a:pPr>
              <a:lnSpc>
                <a:spcPct val="130000"/>
              </a:lnSpc>
            </a:pPr>
            <a:r>
              <a:rPr lang="en-US" sz="1122" b="1" dirty="0">
                <a:solidFill>
                  <a:srgbClr val="1F2937"/>
                </a:solidFill>
                <a:latin typeface="Sorts Mill Goudy" pitchFamily="34" charset="0"/>
                <a:ea typeface="Sorts Mill Goudy" pitchFamily="34" charset="-122"/>
                <a:cs typeface="Sorts Mill Goudy" pitchFamily="34" charset="-120"/>
              </a:rPr>
              <a:t>Frame Confidence</a:t>
            </a:r>
            <a:endParaRPr lang="en-US" sz="1600" dirty="0"/>
          </a:p>
        </p:txBody>
      </p:sp>
      <p:sp>
        <p:nvSpPr>
          <p:cNvPr id="31" name="Text 29"/>
          <p:cNvSpPr/>
          <p:nvPr/>
        </p:nvSpPr>
        <p:spPr>
          <a:xfrm>
            <a:off x="6603072" y="3125925"/>
            <a:ext cx="4933797" cy="213738"/>
          </a:xfrm>
          <a:prstGeom prst="rect">
            <a:avLst/>
          </a:prstGeom>
          <a:noFill/>
          <a:ln/>
        </p:spPr>
        <p:txBody>
          <a:bodyPr wrap="square" lIns="0" tIns="0" rIns="0" bIns="0" rtlCol="0" anchor="ctr"/>
          <a:lstStyle/>
          <a:p>
            <a:pPr>
              <a:lnSpc>
                <a:spcPct val="130000"/>
              </a:lnSpc>
            </a:pPr>
            <a:r>
              <a:rPr lang="en-US" sz="1122" dirty="0">
                <a:solidFill>
                  <a:srgbClr val="6B7280"/>
                </a:solidFill>
                <a:latin typeface="Sorts Mill Goudy" pitchFamily="34" charset="0"/>
                <a:ea typeface="Sorts Mill Goudy" pitchFamily="34" charset="-122"/>
                <a:cs typeface="Sorts Mill Goudy" pitchFamily="34" charset="-120"/>
              </a:rPr>
              <a:t>SRL model's confidence in role assignment</a:t>
            </a:r>
            <a:endParaRPr lang="en-US" sz="1600" dirty="0"/>
          </a:p>
        </p:txBody>
      </p:sp>
      <p:sp>
        <p:nvSpPr>
          <p:cNvPr id="32" name="Shape 30"/>
          <p:cNvSpPr/>
          <p:nvPr/>
        </p:nvSpPr>
        <p:spPr>
          <a:xfrm>
            <a:off x="6456127" y="3602384"/>
            <a:ext cx="5156441" cy="792614"/>
          </a:xfrm>
          <a:custGeom>
            <a:avLst/>
            <a:gdLst/>
            <a:ahLst/>
            <a:cxnLst/>
            <a:rect l="l" t="t" r="r" b="b"/>
            <a:pathLst>
              <a:path w="5156441" h="792614">
                <a:moveTo>
                  <a:pt x="0" y="0"/>
                </a:moveTo>
                <a:lnTo>
                  <a:pt x="5156441" y="0"/>
                </a:lnTo>
                <a:lnTo>
                  <a:pt x="5156441" y="792614"/>
                </a:lnTo>
                <a:lnTo>
                  <a:pt x="0" y="792614"/>
                </a:lnTo>
                <a:lnTo>
                  <a:pt x="0" y="0"/>
                </a:lnTo>
                <a:close/>
              </a:path>
            </a:pathLst>
          </a:custGeom>
          <a:solidFill>
            <a:srgbClr val="FFFFFF"/>
          </a:solidFill>
          <a:ln w="12700">
            <a:solidFill>
              <a:srgbClr val="E5E7EB"/>
            </a:solidFill>
            <a:prstDash val="solid"/>
          </a:ln>
        </p:spPr>
      </p:sp>
      <p:sp>
        <p:nvSpPr>
          <p:cNvPr id="33" name="Shape 31"/>
          <p:cNvSpPr/>
          <p:nvPr/>
        </p:nvSpPr>
        <p:spPr>
          <a:xfrm>
            <a:off x="6611978" y="3784953"/>
            <a:ext cx="160304" cy="142492"/>
          </a:xfrm>
          <a:custGeom>
            <a:avLst/>
            <a:gdLst/>
            <a:ahLst/>
            <a:cxnLst/>
            <a:rect l="l" t="t" r="r" b="b"/>
            <a:pathLst>
              <a:path w="160304" h="142492">
                <a:moveTo>
                  <a:pt x="116749" y="26717"/>
                </a:moveTo>
                <a:cubicBezTo>
                  <a:pt x="112129" y="26717"/>
                  <a:pt x="107649" y="27970"/>
                  <a:pt x="103724" y="30252"/>
                </a:cubicBezTo>
                <a:cubicBezTo>
                  <a:pt x="99327" y="25799"/>
                  <a:pt x="94206" y="22070"/>
                  <a:pt x="88557" y="19259"/>
                </a:cubicBezTo>
                <a:cubicBezTo>
                  <a:pt x="96405" y="12579"/>
                  <a:pt x="106396" y="8906"/>
                  <a:pt x="116749" y="8906"/>
                </a:cubicBezTo>
                <a:cubicBezTo>
                  <a:pt x="140795" y="8906"/>
                  <a:pt x="160304" y="28387"/>
                  <a:pt x="160304" y="52461"/>
                </a:cubicBezTo>
                <a:cubicBezTo>
                  <a:pt x="160304" y="64010"/>
                  <a:pt x="155712" y="75087"/>
                  <a:pt x="147557" y="83241"/>
                </a:cubicBezTo>
                <a:lnTo>
                  <a:pt x="127770" y="103029"/>
                </a:lnTo>
                <a:cubicBezTo>
                  <a:pt x="119616" y="111183"/>
                  <a:pt x="108539" y="115775"/>
                  <a:pt x="96989" y="115775"/>
                </a:cubicBezTo>
                <a:cubicBezTo>
                  <a:pt x="72944" y="115775"/>
                  <a:pt x="53435" y="96294"/>
                  <a:pt x="53435" y="72220"/>
                </a:cubicBezTo>
                <a:cubicBezTo>
                  <a:pt x="53435" y="71803"/>
                  <a:pt x="53435" y="71385"/>
                  <a:pt x="53462" y="70968"/>
                </a:cubicBezTo>
                <a:cubicBezTo>
                  <a:pt x="53602" y="66042"/>
                  <a:pt x="57693" y="62173"/>
                  <a:pt x="62619" y="62313"/>
                </a:cubicBezTo>
                <a:cubicBezTo>
                  <a:pt x="67545" y="62452"/>
                  <a:pt x="71413" y="66543"/>
                  <a:pt x="71274" y="71469"/>
                </a:cubicBezTo>
                <a:cubicBezTo>
                  <a:pt x="71274" y="71719"/>
                  <a:pt x="71274" y="71970"/>
                  <a:pt x="71274" y="72192"/>
                </a:cubicBezTo>
                <a:cubicBezTo>
                  <a:pt x="71274" y="86414"/>
                  <a:pt x="82796" y="97936"/>
                  <a:pt x="97017" y="97936"/>
                </a:cubicBezTo>
                <a:cubicBezTo>
                  <a:pt x="103836" y="97936"/>
                  <a:pt x="110376" y="95236"/>
                  <a:pt x="115218" y="90394"/>
                </a:cubicBezTo>
                <a:lnTo>
                  <a:pt x="135006" y="70606"/>
                </a:lnTo>
                <a:cubicBezTo>
                  <a:pt x="139821" y="65791"/>
                  <a:pt x="142548" y="59223"/>
                  <a:pt x="142548" y="52405"/>
                </a:cubicBezTo>
                <a:cubicBezTo>
                  <a:pt x="142548" y="38183"/>
                  <a:pt x="131026" y="26662"/>
                  <a:pt x="116805" y="26662"/>
                </a:cubicBezTo>
                <a:close/>
                <a:moveTo>
                  <a:pt x="76590" y="48230"/>
                </a:moveTo>
                <a:cubicBezTo>
                  <a:pt x="76061" y="48008"/>
                  <a:pt x="75532" y="47702"/>
                  <a:pt x="75059" y="47368"/>
                </a:cubicBezTo>
                <a:cubicBezTo>
                  <a:pt x="71552" y="45559"/>
                  <a:pt x="67545" y="44529"/>
                  <a:pt x="63342" y="44529"/>
                </a:cubicBezTo>
                <a:cubicBezTo>
                  <a:pt x="56524" y="44529"/>
                  <a:pt x="49984" y="47228"/>
                  <a:pt x="45141" y="52071"/>
                </a:cubicBezTo>
                <a:lnTo>
                  <a:pt x="25354" y="71858"/>
                </a:lnTo>
                <a:cubicBezTo>
                  <a:pt x="20539" y="76673"/>
                  <a:pt x="17812" y="83241"/>
                  <a:pt x="17812" y="90060"/>
                </a:cubicBezTo>
                <a:cubicBezTo>
                  <a:pt x="17812" y="104281"/>
                  <a:pt x="29333" y="115803"/>
                  <a:pt x="43555" y="115803"/>
                </a:cubicBezTo>
                <a:cubicBezTo>
                  <a:pt x="48147" y="115803"/>
                  <a:pt x="52628" y="114578"/>
                  <a:pt x="56552" y="112296"/>
                </a:cubicBezTo>
                <a:cubicBezTo>
                  <a:pt x="60949" y="116749"/>
                  <a:pt x="66070" y="120478"/>
                  <a:pt x="71747" y="123289"/>
                </a:cubicBezTo>
                <a:cubicBezTo>
                  <a:pt x="63899" y="129941"/>
                  <a:pt x="53936" y="133642"/>
                  <a:pt x="43555" y="133642"/>
                </a:cubicBezTo>
                <a:cubicBezTo>
                  <a:pt x="19509" y="133642"/>
                  <a:pt x="0" y="114161"/>
                  <a:pt x="0" y="90087"/>
                </a:cubicBezTo>
                <a:cubicBezTo>
                  <a:pt x="0" y="78538"/>
                  <a:pt x="4592" y="67461"/>
                  <a:pt x="12746" y="59307"/>
                </a:cubicBezTo>
                <a:lnTo>
                  <a:pt x="32534" y="39519"/>
                </a:lnTo>
                <a:cubicBezTo>
                  <a:pt x="40688" y="31365"/>
                  <a:pt x="51765" y="26773"/>
                  <a:pt x="63314" y="26773"/>
                </a:cubicBezTo>
                <a:cubicBezTo>
                  <a:pt x="87416" y="26773"/>
                  <a:pt x="106869" y="46421"/>
                  <a:pt x="106869" y="70439"/>
                </a:cubicBezTo>
                <a:cubicBezTo>
                  <a:pt x="106869" y="70801"/>
                  <a:pt x="106869" y="71163"/>
                  <a:pt x="106869" y="71524"/>
                </a:cubicBezTo>
                <a:cubicBezTo>
                  <a:pt x="106758" y="76450"/>
                  <a:pt x="102667" y="80319"/>
                  <a:pt x="97741" y="80208"/>
                </a:cubicBezTo>
                <a:cubicBezTo>
                  <a:pt x="92815" y="80096"/>
                  <a:pt x="88946" y="76005"/>
                  <a:pt x="89058" y="71079"/>
                </a:cubicBezTo>
                <a:cubicBezTo>
                  <a:pt x="89058" y="70857"/>
                  <a:pt x="89058" y="70662"/>
                  <a:pt x="89058" y="70439"/>
                </a:cubicBezTo>
                <a:cubicBezTo>
                  <a:pt x="89058" y="61060"/>
                  <a:pt x="84048" y="52822"/>
                  <a:pt x="76590" y="48286"/>
                </a:cubicBezTo>
                <a:close/>
              </a:path>
            </a:pathLst>
          </a:custGeom>
          <a:solidFill>
            <a:srgbClr val="8B0000"/>
          </a:solidFill>
          <a:ln/>
        </p:spPr>
      </p:sp>
      <p:sp>
        <p:nvSpPr>
          <p:cNvPr id="34" name="Text 32"/>
          <p:cNvSpPr/>
          <p:nvPr/>
        </p:nvSpPr>
        <p:spPr>
          <a:xfrm>
            <a:off x="6888057" y="3749329"/>
            <a:ext cx="1246808" cy="213738"/>
          </a:xfrm>
          <a:prstGeom prst="rect">
            <a:avLst/>
          </a:prstGeom>
          <a:noFill/>
          <a:ln/>
        </p:spPr>
        <p:txBody>
          <a:bodyPr wrap="square" lIns="0" tIns="0" rIns="0" bIns="0" rtlCol="0" anchor="ctr"/>
          <a:lstStyle/>
          <a:p>
            <a:pPr>
              <a:lnSpc>
                <a:spcPct val="130000"/>
              </a:lnSpc>
            </a:pPr>
            <a:r>
              <a:rPr lang="en-US" sz="1122" b="1" dirty="0">
                <a:solidFill>
                  <a:srgbClr val="1F2937"/>
                </a:solidFill>
                <a:latin typeface="Sorts Mill Goudy" pitchFamily="34" charset="0"/>
                <a:ea typeface="Sorts Mill Goudy" pitchFamily="34" charset="-122"/>
                <a:cs typeface="Sorts Mill Goudy" pitchFamily="34" charset="-120"/>
              </a:rPr>
              <a:t>Entity Consistency</a:t>
            </a:r>
            <a:endParaRPr lang="en-US" sz="1600" dirty="0"/>
          </a:p>
        </p:txBody>
      </p:sp>
      <p:sp>
        <p:nvSpPr>
          <p:cNvPr id="35" name="Text 33"/>
          <p:cNvSpPr/>
          <p:nvPr/>
        </p:nvSpPr>
        <p:spPr>
          <a:xfrm>
            <a:off x="6603072" y="4034314"/>
            <a:ext cx="4933797" cy="213738"/>
          </a:xfrm>
          <a:prstGeom prst="rect">
            <a:avLst/>
          </a:prstGeom>
          <a:noFill/>
          <a:ln/>
        </p:spPr>
        <p:txBody>
          <a:bodyPr wrap="square" lIns="0" tIns="0" rIns="0" bIns="0" rtlCol="0" anchor="ctr"/>
          <a:lstStyle/>
          <a:p>
            <a:pPr>
              <a:lnSpc>
                <a:spcPct val="130000"/>
              </a:lnSpc>
            </a:pPr>
            <a:r>
              <a:rPr lang="en-US" sz="1122" dirty="0">
                <a:solidFill>
                  <a:srgbClr val="6B7280"/>
                </a:solidFill>
                <a:latin typeface="Sorts Mill Goudy" pitchFamily="34" charset="0"/>
                <a:ea typeface="Sorts Mill Goudy" pitchFamily="34" charset="-122"/>
                <a:cs typeface="Sorts Mill Goudy" pitchFamily="34" charset="-120"/>
              </a:rPr>
              <a:t>Coreference and entity linking compatibility</a:t>
            </a:r>
            <a:endParaRPr lang="en-US" sz="1600" dirty="0"/>
          </a:p>
        </p:txBody>
      </p:sp>
      <p:sp>
        <p:nvSpPr>
          <p:cNvPr id="36" name="Shape 34"/>
          <p:cNvSpPr/>
          <p:nvPr/>
        </p:nvSpPr>
        <p:spPr>
          <a:xfrm>
            <a:off x="6242389" y="4831381"/>
            <a:ext cx="5583918" cy="2021610"/>
          </a:xfrm>
          <a:custGeom>
            <a:avLst/>
            <a:gdLst/>
            <a:ahLst/>
            <a:cxnLst/>
            <a:rect l="l" t="t" r="r" b="b"/>
            <a:pathLst>
              <a:path w="5583918" h="2021610">
                <a:moveTo>
                  <a:pt x="0" y="0"/>
                </a:moveTo>
                <a:lnTo>
                  <a:pt x="5583918" y="0"/>
                </a:lnTo>
                <a:lnTo>
                  <a:pt x="5583918" y="2021610"/>
                </a:lnTo>
                <a:lnTo>
                  <a:pt x="0" y="2021610"/>
                </a:lnTo>
                <a:lnTo>
                  <a:pt x="0" y="0"/>
                </a:lnTo>
                <a:close/>
              </a:path>
            </a:pathLst>
          </a:custGeom>
          <a:solidFill>
            <a:srgbClr val="8B0000">
              <a:alpha val="5098"/>
            </a:srgbClr>
          </a:solidFill>
          <a:ln w="12700">
            <a:solidFill>
              <a:srgbClr val="8B0000">
                <a:alpha val="20000"/>
              </a:srgbClr>
            </a:solidFill>
            <a:prstDash val="solid"/>
          </a:ln>
        </p:spPr>
      </p:sp>
      <p:sp>
        <p:nvSpPr>
          <p:cNvPr id="37" name="Text 35"/>
          <p:cNvSpPr/>
          <p:nvPr/>
        </p:nvSpPr>
        <p:spPr>
          <a:xfrm>
            <a:off x="6460580" y="5049572"/>
            <a:ext cx="5227687" cy="249362"/>
          </a:xfrm>
          <a:prstGeom prst="rect">
            <a:avLst/>
          </a:prstGeom>
          <a:noFill/>
          <a:ln/>
        </p:spPr>
        <p:txBody>
          <a:bodyPr wrap="square" lIns="0" tIns="0" rIns="0" bIns="0" rtlCol="0" anchor="ctr"/>
          <a:lstStyle/>
          <a:p>
            <a:pPr>
              <a:lnSpc>
                <a:spcPct val="130000"/>
              </a:lnSpc>
            </a:pPr>
            <a:r>
              <a:rPr lang="en-US" sz="1262" b="1" dirty="0">
                <a:solidFill>
                  <a:srgbClr val="1F2937"/>
                </a:solidFill>
                <a:latin typeface="Sorts Mill Goudy" pitchFamily="34" charset="0"/>
                <a:ea typeface="Sorts Mill Goudy" pitchFamily="34" charset="-122"/>
                <a:cs typeface="Sorts Mill Goudy" pitchFamily="34" charset="-120"/>
              </a:rPr>
              <a:t>Confidence-Calibrated Selection</a:t>
            </a:r>
            <a:endParaRPr lang="en-US" sz="1600" dirty="0"/>
          </a:p>
        </p:txBody>
      </p:sp>
      <p:sp>
        <p:nvSpPr>
          <p:cNvPr id="38" name="Text 36"/>
          <p:cNvSpPr/>
          <p:nvPr/>
        </p:nvSpPr>
        <p:spPr>
          <a:xfrm>
            <a:off x="6460580" y="5405803"/>
            <a:ext cx="5218782" cy="231550"/>
          </a:xfrm>
          <a:prstGeom prst="rect">
            <a:avLst/>
          </a:prstGeom>
          <a:noFill/>
          <a:ln/>
        </p:spPr>
        <p:txBody>
          <a:bodyPr wrap="square" lIns="0" tIns="0" rIns="0" bIns="0" rtlCol="0" anchor="ctr"/>
          <a:lstStyle/>
          <a:p>
            <a:pPr>
              <a:lnSpc>
                <a:spcPct val="140000"/>
              </a:lnSpc>
            </a:pPr>
            <a:r>
              <a:rPr lang="en-US" sz="1122" dirty="0">
                <a:solidFill>
                  <a:srgbClr val="1F2937"/>
                </a:solidFill>
                <a:latin typeface="Sorts Mill Goudy" pitchFamily="34" charset="0"/>
                <a:ea typeface="Sorts Mill Goudy" pitchFamily="34" charset="-122"/>
                <a:cs typeface="Sorts Mill Goudy" pitchFamily="34" charset="-120"/>
              </a:rPr>
              <a:t>Replace hard argmax with distribution over candidates:</a:t>
            </a:r>
            <a:endParaRPr lang="en-US" sz="1600" dirty="0"/>
          </a:p>
        </p:txBody>
      </p:sp>
      <p:sp>
        <p:nvSpPr>
          <p:cNvPr id="39" name="Text 37"/>
          <p:cNvSpPr/>
          <p:nvPr/>
        </p:nvSpPr>
        <p:spPr>
          <a:xfrm>
            <a:off x="6460580" y="5779845"/>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0" name="Text 38"/>
          <p:cNvSpPr/>
          <p:nvPr/>
        </p:nvSpPr>
        <p:spPr>
          <a:xfrm>
            <a:off x="6647601" y="5744222"/>
            <a:ext cx="3464345"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Explicit abstain option when no span exceeds threshold</a:t>
            </a:r>
            <a:endParaRPr lang="en-US" sz="1600" dirty="0"/>
          </a:p>
        </p:txBody>
      </p:sp>
      <p:sp>
        <p:nvSpPr>
          <p:cNvPr id="41" name="Text 39"/>
          <p:cNvSpPr/>
          <p:nvPr/>
        </p:nvSpPr>
        <p:spPr>
          <a:xfrm>
            <a:off x="6460580" y="6100453"/>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2" name="Text 40"/>
          <p:cNvSpPr/>
          <p:nvPr/>
        </p:nvSpPr>
        <p:spPr>
          <a:xfrm>
            <a:off x="6647601" y="6064830"/>
            <a:ext cx="3562308"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Calibrated confidence scores for trustworthy deployment</a:t>
            </a:r>
            <a:endParaRPr lang="en-US" sz="1600" dirty="0"/>
          </a:p>
        </p:txBody>
      </p:sp>
      <p:sp>
        <p:nvSpPr>
          <p:cNvPr id="43" name="Text 41"/>
          <p:cNvSpPr/>
          <p:nvPr/>
        </p:nvSpPr>
        <p:spPr>
          <a:xfrm>
            <a:off x="6460580" y="6421061"/>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4" name="Text 42"/>
          <p:cNvSpPr/>
          <p:nvPr/>
        </p:nvSpPr>
        <p:spPr>
          <a:xfrm>
            <a:off x="6647601" y="6385438"/>
            <a:ext cx="3437627"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Uncertainty is itself meaningful in high-stakes domains</a:t>
            </a:r>
            <a:endParaRPr lang="en-US" sz="1600" dirty="0"/>
          </a:p>
        </p:txBody>
      </p:sp>
    </p:spTree>
    <p:extLst>
      <p:ext uri="{BB962C8B-B14F-4D97-AF65-F5344CB8AC3E}">
        <p14:creationId xmlns:p14="http://schemas.microsoft.com/office/powerpoint/2010/main" val="3148187843"/>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7302" y="327302"/>
            <a:ext cx="11594674" cy="163651"/>
          </a:xfrm>
          <a:prstGeom prst="rect">
            <a:avLst/>
          </a:prstGeom>
          <a:noFill/>
          <a:ln/>
        </p:spPr>
        <p:txBody>
          <a:bodyPr wrap="square" lIns="0" tIns="0" rIns="0" bIns="0" rtlCol="0" anchor="ctr"/>
          <a:lstStyle/>
          <a:p>
            <a:pPr>
              <a:lnSpc>
                <a:spcPct val="120000"/>
              </a:lnSpc>
            </a:pPr>
            <a:r>
              <a:rPr lang="en-US" sz="902" b="1" kern="0" spc="45" dirty="0">
                <a:solidFill>
                  <a:srgbClr val="8B0000"/>
                </a:solidFill>
                <a:latin typeface="Sorts Mill Goudy" pitchFamily="34" charset="0"/>
                <a:ea typeface="Sorts Mill Goudy" pitchFamily="34" charset="-122"/>
                <a:cs typeface="Sorts Mill Goudy" pitchFamily="34" charset="-120"/>
              </a:rPr>
              <a:t>5.4 INNOVATION HIGHLIGHTS</a:t>
            </a:r>
            <a:endParaRPr lang="en-US" sz="1600" dirty="0"/>
          </a:p>
        </p:txBody>
      </p:sp>
      <p:sp>
        <p:nvSpPr>
          <p:cNvPr id="3" name="Text 1"/>
          <p:cNvSpPr/>
          <p:nvPr/>
        </p:nvSpPr>
        <p:spPr>
          <a:xfrm>
            <a:off x="327302" y="556413"/>
            <a:ext cx="11684682" cy="327302"/>
          </a:xfrm>
          <a:prstGeom prst="rect">
            <a:avLst/>
          </a:prstGeom>
          <a:noFill/>
          <a:ln/>
        </p:spPr>
        <p:txBody>
          <a:bodyPr wrap="square" lIns="0" tIns="0" rIns="0" bIns="0" rtlCol="0" anchor="ctr"/>
          <a:lstStyle/>
          <a:p>
            <a:pPr>
              <a:lnSpc>
                <a:spcPct val="90000"/>
              </a:lnSpc>
            </a:pPr>
            <a:r>
              <a:rPr lang="en-US" sz="2319" b="1" dirty="0">
                <a:solidFill>
                  <a:srgbClr val="1F2937"/>
                </a:solidFill>
                <a:latin typeface="Sorts Mill Goudy" pitchFamily="34" charset="0"/>
                <a:ea typeface="Sorts Mill Goudy" pitchFamily="34" charset="-122"/>
                <a:cs typeface="Sorts Mill Goudy" pitchFamily="34" charset="-120"/>
              </a:rPr>
              <a:t>Innovation 4: SRL-QA + LLM Hybrid Architecture</a:t>
            </a:r>
            <a:endParaRPr lang="en-US" sz="1600" dirty="0"/>
          </a:p>
        </p:txBody>
      </p:sp>
      <p:sp>
        <p:nvSpPr>
          <p:cNvPr id="4" name="Shape 2"/>
          <p:cNvSpPr/>
          <p:nvPr/>
        </p:nvSpPr>
        <p:spPr>
          <a:xfrm>
            <a:off x="343667" y="1080097"/>
            <a:ext cx="5621412" cy="2667511"/>
          </a:xfrm>
          <a:custGeom>
            <a:avLst/>
            <a:gdLst/>
            <a:ahLst/>
            <a:cxnLst/>
            <a:rect l="l" t="t" r="r" b="b"/>
            <a:pathLst>
              <a:path w="5621412" h="2667511">
                <a:moveTo>
                  <a:pt x="0" y="0"/>
                </a:moveTo>
                <a:lnTo>
                  <a:pt x="5621412" y="0"/>
                </a:lnTo>
                <a:lnTo>
                  <a:pt x="5621412" y="2667511"/>
                </a:lnTo>
                <a:lnTo>
                  <a:pt x="0" y="2667511"/>
                </a:lnTo>
                <a:lnTo>
                  <a:pt x="0" y="0"/>
                </a:lnTo>
                <a:close/>
              </a:path>
            </a:pathLst>
          </a:custGeom>
          <a:solidFill>
            <a:srgbClr val="F9FAFB"/>
          </a:solidFill>
          <a:ln/>
        </p:spPr>
      </p:sp>
      <p:sp>
        <p:nvSpPr>
          <p:cNvPr id="5" name="Shape 3"/>
          <p:cNvSpPr/>
          <p:nvPr/>
        </p:nvSpPr>
        <p:spPr>
          <a:xfrm>
            <a:off x="343667" y="1080097"/>
            <a:ext cx="32730" cy="2667511"/>
          </a:xfrm>
          <a:custGeom>
            <a:avLst/>
            <a:gdLst/>
            <a:ahLst/>
            <a:cxnLst/>
            <a:rect l="l" t="t" r="r" b="b"/>
            <a:pathLst>
              <a:path w="32730" h="2667511">
                <a:moveTo>
                  <a:pt x="0" y="0"/>
                </a:moveTo>
                <a:lnTo>
                  <a:pt x="32730" y="0"/>
                </a:lnTo>
                <a:lnTo>
                  <a:pt x="32730" y="2667511"/>
                </a:lnTo>
                <a:lnTo>
                  <a:pt x="0" y="2667511"/>
                </a:lnTo>
                <a:lnTo>
                  <a:pt x="0" y="0"/>
                </a:lnTo>
                <a:close/>
              </a:path>
            </a:pathLst>
          </a:custGeom>
          <a:solidFill>
            <a:srgbClr val="8B0000"/>
          </a:solidFill>
          <a:ln/>
        </p:spPr>
      </p:sp>
      <p:sp>
        <p:nvSpPr>
          <p:cNvPr id="6" name="Text 4"/>
          <p:cNvSpPr/>
          <p:nvPr/>
        </p:nvSpPr>
        <p:spPr>
          <a:xfrm>
            <a:off x="556413" y="1276478"/>
            <a:ext cx="5294110" cy="229111"/>
          </a:xfrm>
          <a:prstGeom prst="rect">
            <a:avLst/>
          </a:prstGeom>
          <a:noFill/>
          <a:ln/>
        </p:spPr>
        <p:txBody>
          <a:bodyPr wrap="square" lIns="0" tIns="0" rIns="0" bIns="0" rtlCol="0" anchor="ctr"/>
          <a:lstStyle/>
          <a:p>
            <a:pPr>
              <a:lnSpc>
                <a:spcPct val="120000"/>
              </a:lnSpc>
            </a:pPr>
            <a:r>
              <a:rPr lang="en-US" sz="1289" b="1" dirty="0">
                <a:solidFill>
                  <a:srgbClr val="1F2937"/>
                </a:solidFill>
                <a:latin typeface="Sorts Mill Goudy" pitchFamily="34" charset="0"/>
                <a:ea typeface="Sorts Mill Goudy" pitchFamily="34" charset="-122"/>
                <a:cs typeface="Sorts Mill Goudy" pitchFamily="34" charset="-120"/>
              </a:rPr>
              <a:t>HybridPropQA Design</a:t>
            </a:r>
            <a:endParaRPr lang="en-US" sz="1600" dirty="0"/>
          </a:p>
        </p:txBody>
      </p:sp>
      <p:sp>
        <p:nvSpPr>
          <p:cNvPr id="7" name="Text 5"/>
          <p:cNvSpPr/>
          <p:nvPr/>
        </p:nvSpPr>
        <p:spPr>
          <a:xfrm>
            <a:off x="556413" y="1603780"/>
            <a:ext cx="5277745" cy="212746"/>
          </a:xfrm>
          <a:prstGeom prst="rect">
            <a:avLst/>
          </a:prstGeom>
          <a:noFill/>
          <a:ln/>
        </p:spPr>
        <p:txBody>
          <a:bodyPr wrap="square" lIns="0" tIns="0" rIns="0" bIns="0" rtlCol="0" anchor="ctr"/>
          <a:lstStyle/>
          <a:p>
            <a:pPr>
              <a:lnSpc>
                <a:spcPct val="140000"/>
              </a:lnSpc>
            </a:pPr>
            <a:r>
              <a:rPr lang="en-US" sz="1031" dirty="0">
                <a:solidFill>
                  <a:srgbClr val="1F2937"/>
                </a:solidFill>
                <a:latin typeface="Sorts Mill Goudy" pitchFamily="34" charset="0"/>
                <a:ea typeface="Sorts Mill Goudy" pitchFamily="34" charset="-122"/>
                <a:cs typeface="Sorts Mill Goudy" pitchFamily="34" charset="-120"/>
              </a:rPr>
              <a:t>A </a:t>
            </a:r>
            <a:r>
              <a:rPr lang="en-US" sz="1031" b="1" dirty="0">
                <a:solidFill>
                  <a:srgbClr val="1F2937"/>
                </a:solidFill>
                <a:latin typeface="Sorts Mill Goudy" pitchFamily="34" charset="0"/>
                <a:ea typeface="Sorts Mill Goudy" pitchFamily="34" charset="-122"/>
                <a:cs typeface="Sorts Mill Goudy" pitchFamily="34" charset="-120"/>
              </a:rPr>
              <a:t>practical research compromise</a:t>
            </a:r>
            <a:r>
              <a:rPr lang="en-US" sz="1031" dirty="0">
                <a:solidFill>
                  <a:srgbClr val="1F2937"/>
                </a:solidFill>
                <a:latin typeface="Sorts Mill Goudy" pitchFamily="34" charset="0"/>
                <a:ea typeface="Sorts Mill Goudy" pitchFamily="34" charset="-122"/>
                <a:cs typeface="Sorts Mill Goudy" pitchFamily="34" charset="-120"/>
              </a:rPr>
              <a:t> combining classical SRL with LLM reasoning:</a:t>
            </a:r>
            <a:endParaRPr lang="en-US" sz="1600" dirty="0"/>
          </a:p>
        </p:txBody>
      </p:sp>
      <p:sp>
        <p:nvSpPr>
          <p:cNvPr id="8" name="Shape 6"/>
          <p:cNvSpPr/>
          <p:nvPr/>
        </p:nvSpPr>
        <p:spPr>
          <a:xfrm>
            <a:off x="564596" y="1955630"/>
            <a:ext cx="2520226" cy="1587415"/>
          </a:xfrm>
          <a:custGeom>
            <a:avLst/>
            <a:gdLst/>
            <a:ahLst/>
            <a:cxnLst/>
            <a:rect l="l" t="t" r="r" b="b"/>
            <a:pathLst>
              <a:path w="2520226" h="1587415">
                <a:moveTo>
                  <a:pt x="0" y="0"/>
                </a:moveTo>
                <a:lnTo>
                  <a:pt x="2520226" y="0"/>
                </a:lnTo>
                <a:lnTo>
                  <a:pt x="2520226" y="1587415"/>
                </a:lnTo>
                <a:lnTo>
                  <a:pt x="0" y="1587415"/>
                </a:lnTo>
                <a:lnTo>
                  <a:pt x="0" y="0"/>
                </a:lnTo>
                <a:close/>
              </a:path>
            </a:pathLst>
          </a:custGeom>
          <a:solidFill>
            <a:srgbClr val="FFFFFF"/>
          </a:solidFill>
          <a:ln w="25400">
            <a:solidFill>
              <a:srgbClr val="8B0000"/>
            </a:solidFill>
            <a:prstDash val="solid"/>
          </a:ln>
        </p:spPr>
      </p:sp>
      <p:sp>
        <p:nvSpPr>
          <p:cNvPr id="9" name="Shape 7"/>
          <p:cNvSpPr/>
          <p:nvPr/>
        </p:nvSpPr>
        <p:spPr>
          <a:xfrm>
            <a:off x="703699" y="2111098"/>
            <a:ext cx="204564" cy="163651"/>
          </a:xfrm>
          <a:custGeom>
            <a:avLst/>
            <a:gdLst/>
            <a:ahLst/>
            <a:cxnLst/>
            <a:rect l="l" t="t" r="r" b="b"/>
            <a:pathLst>
              <a:path w="204564" h="163651">
                <a:moveTo>
                  <a:pt x="132934" y="67282"/>
                </a:moveTo>
                <a:cubicBezTo>
                  <a:pt x="136834" y="66228"/>
                  <a:pt x="140925" y="68081"/>
                  <a:pt x="142683" y="71693"/>
                </a:cubicBezTo>
                <a:lnTo>
                  <a:pt x="148628" y="83711"/>
                </a:lnTo>
                <a:cubicBezTo>
                  <a:pt x="151921" y="84159"/>
                  <a:pt x="155149" y="85054"/>
                  <a:pt x="158185" y="86300"/>
                </a:cubicBezTo>
                <a:lnTo>
                  <a:pt x="169372" y="78853"/>
                </a:lnTo>
                <a:cubicBezTo>
                  <a:pt x="172729" y="76616"/>
                  <a:pt x="177171" y="77063"/>
                  <a:pt x="180016" y="79908"/>
                </a:cubicBezTo>
                <a:lnTo>
                  <a:pt x="186153" y="86045"/>
                </a:lnTo>
                <a:cubicBezTo>
                  <a:pt x="188998" y="88889"/>
                  <a:pt x="189445" y="93364"/>
                  <a:pt x="187208" y="96688"/>
                </a:cubicBezTo>
                <a:lnTo>
                  <a:pt x="179760" y="107843"/>
                </a:lnTo>
                <a:cubicBezTo>
                  <a:pt x="180368" y="109346"/>
                  <a:pt x="180911" y="110912"/>
                  <a:pt x="181359" y="112542"/>
                </a:cubicBezTo>
                <a:cubicBezTo>
                  <a:pt x="181806" y="114172"/>
                  <a:pt x="182094" y="115770"/>
                  <a:pt x="182317" y="117400"/>
                </a:cubicBezTo>
                <a:lnTo>
                  <a:pt x="194368" y="123346"/>
                </a:lnTo>
                <a:cubicBezTo>
                  <a:pt x="197979" y="125135"/>
                  <a:pt x="199833" y="129227"/>
                  <a:pt x="198778" y="133094"/>
                </a:cubicBezTo>
                <a:lnTo>
                  <a:pt x="196541" y="141469"/>
                </a:lnTo>
                <a:cubicBezTo>
                  <a:pt x="195486" y="145336"/>
                  <a:pt x="191874" y="147957"/>
                  <a:pt x="187847" y="147701"/>
                </a:cubicBezTo>
                <a:lnTo>
                  <a:pt x="174423" y="146838"/>
                </a:lnTo>
                <a:cubicBezTo>
                  <a:pt x="172409" y="149427"/>
                  <a:pt x="170076" y="151825"/>
                  <a:pt x="167423" y="153870"/>
                </a:cubicBezTo>
                <a:lnTo>
                  <a:pt x="168286" y="167263"/>
                </a:lnTo>
                <a:cubicBezTo>
                  <a:pt x="168541" y="171290"/>
                  <a:pt x="165920" y="174934"/>
                  <a:pt x="162053" y="175957"/>
                </a:cubicBezTo>
                <a:lnTo>
                  <a:pt x="153679" y="178194"/>
                </a:lnTo>
                <a:cubicBezTo>
                  <a:pt x="149779" y="179249"/>
                  <a:pt x="145720" y="177395"/>
                  <a:pt x="143930" y="173783"/>
                </a:cubicBezTo>
                <a:lnTo>
                  <a:pt x="137985" y="161765"/>
                </a:lnTo>
                <a:cubicBezTo>
                  <a:pt x="134692" y="161318"/>
                  <a:pt x="131464" y="160423"/>
                  <a:pt x="128428" y="159176"/>
                </a:cubicBezTo>
                <a:lnTo>
                  <a:pt x="117241" y="166624"/>
                </a:lnTo>
                <a:cubicBezTo>
                  <a:pt x="113884" y="168861"/>
                  <a:pt x="109442" y="168414"/>
                  <a:pt x="106597" y="165569"/>
                </a:cubicBezTo>
                <a:lnTo>
                  <a:pt x="100460" y="159432"/>
                </a:lnTo>
                <a:cubicBezTo>
                  <a:pt x="97615" y="156587"/>
                  <a:pt x="97168" y="152144"/>
                  <a:pt x="99405" y="148788"/>
                </a:cubicBezTo>
                <a:lnTo>
                  <a:pt x="106853" y="137601"/>
                </a:lnTo>
                <a:cubicBezTo>
                  <a:pt x="106245" y="136099"/>
                  <a:pt x="105702" y="134533"/>
                  <a:pt x="105254" y="132903"/>
                </a:cubicBezTo>
                <a:cubicBezTo>
                  <a:pt x="104807" y="131272"/>
                  <a:pt x="104519" y="129642"/>
                  <a:pt x="104296" y="128044"/>
                </a:cubicBezTo>
                <a:lnTo>
                  <a:pt x="92245" y="122099"/>
                </a:lnTo>
                <a:cubicBezTo>
                  <a:pt x="88634" y="120309"/>
                  <a:pt x="86812" y="116218"/>
                  <a:pt x="87835" y="112350"/>
                </a:cubicBezTo>
                <a:lnTo>
                  <a:pt x="90072" y="103976"/>
                </a:lnTo>
                <a:cubicBezTo>
                  <a:pt x="91127" y="100108"/>
                  <a:pt x="94739" y="97487"/>
                  <a:pt x="98766" y="97743"/>
                </a:cubicBezTo>
                <a:lnTo>
                  <a:pt x="112158" y="98606"/>
                </a:lnTo>
                <a:cubicBezTo>
                  <a:pt x="114172" y="96017"/>
                  <a:pt x="116505" y="93620"/>
                  <a:pt x="119158" y="91574"/>
                </a:cubicBezTo>
                <a:lnTo>
                  <a:pt x="118295" y="78214"/>
                </a:lnTo>
                <a:cubicBezTo>
                  <a:pt x="118040" y="74186"/>
                  <a:pt x="120661" y="70543"/>
                  <a:pt x="124528" y="69520"/>
                </a:cubicBezTo>
                <a:lnTo>
                  <a:pt x="132903" y="67282"/>
                </a:lnTo>
                <a:close/>
                <a:moveTo>
                  <a:pt x="143322" y="108674"/>
                </a:moveTo>
                <a:cubicBezTo>
                  <a:pt x="135560" y="108683"/>
                  <a:pt x="129266" y="114992"/>
                  <a:pt x="129275" y="122754"/>
                </a:cubicBezTo>
                <a:cubicBezTo>
                  <a:pt x="129284" y="130516"/>
                  <a:pt x="135592" y="136811"/>
                  <a:pt x="143354" y="136802"/>
                </a:cubicBezTo>
                <a:cubicBezTo>
                  <a:pt x="151116" y="136793"/>
                  <a:pt x="157411" y="130484"/>
                  <a:pt x="157402" y="122722"/>
                </a:cubicBezTo>
                <a:cubicBezTo>
                  <a:pt x="157393" y="114960"/>
                  <a:pt x="151084" y="108666"/>
                  <a:pt x="143322" y="108674"/>
                </a:cubicBezTo>
                <a:close/>
                <a:moveTo>
                  <a:pt x="71885" y="-14543"/>
                </a:moveTo>
                <a:lnTo>
                  <a:pt x="80259" y="-12306"/>
                </a:lnTo>
                <a:cubicBezTo>
                  <a:pt x="84127" y="-11251"/>
                  <a:pt x="86748" y="-7607"/>
                  <a:pt x="86492" y="-3612"/>
                </a:cubicBezTo>
                <a:lnTo>
                  <a:pt x="85629" y="9749"/>
                </a:lnTo>
                <a:cubicBezTo>
                  <a:pt x="88282" y="11794"/>
                  <a:pt x="90615" y="14160"/>
                  <a:pt x="92629" y="16781"/>
                </a:cubicBezTo>
                <a:lnTo>
                  <a:pt x="106054" y="15918"/>
                </a:lnTo>
                <a:cubicBezTo>
                  <a:pt x="110049" y="15662"/>
                  <a:pt x="113693" y="18283"/>
                  <a:pt x="114747" y="22150"/>
                </a:cubicBezTo>
                <a:lnTo>
                  <a:pt x="116985" y="30525"/>
                </a:lnTo>
                <a:cubicBezTo>
                  <a:pt x="118008" y="34392"/>
                  <a:pt x="116186" y="38484"/>
                  <a:pt x="112574" y="40273"/>
                </a:cubicBezTo>
                <a:lnTo>
                  <a:pt x="100524" y="46219"/>
                </a:lnTo>
                <a:cubicBezTo>
                  <a:pt x="100300" y="47849"/>
                  <a:pt x="99981" y="49479"/>
                  <a:pt x="99565" y="51077"/>
                </a:cubicBezTo>
                <a:cubicBezTo>
                  <a:pt x="99149" y="52675"/>
                  <a:pt x="98574" y="54273"/>
                  <a:pt x="97967" y="55776"/>
                </a:cubicBezTo>
                <a:lnTo>
                  <a:pt x="105414" y="66963"/>
                </a:lnTo>
                <a:cubicBezTo>
                  <a:pt x="107652" y="70319"/>
                  <a:pt x="107204" y="74762"/>
                  <a:pt x="104359" y="77606"/>
                </a:cubicBezTo>
                <a:lnTo>
                  <a:pt x="98223" y="83743"/>
                </a:lnTo>
                <a:cubicBezTo>
                  <a:pt x="95378" y="86588"/>
                  <a:pt x="90935" y="87035"/>
                  <a:pt x="87579" y="84798"/>
                </a:cubicBezTo>
                <a:lnTo>
                  <a:pt x="76392" y="77351"/>
                </a:lnTo>
                <a:cubicBezTo>
                  <a:pt x="73355" y="78597"/>
                  <a:pt x="70127" y="79492"/>
                  <a:pt x="66835" y="79940"/>
                </a:cubicBezTo>
                <a:lnTo>
                  <a:pt x="60890" y="91958"/>
                </a:lnTo>
                <a:cubicBezTo>
                  <a:pt x="59100" y="95570"/>
                  <a:pt x="55008" y="97392"/>
                  <a:pt x="51141" y="96369"/>
                </a:cubicBezTo>
                <a:lnTo>
                  <a:pt x="42767" y="94131"/>
                </a:lnTo>
                <a:cubicBezTo>
                  <a:pt x="38867" y="93077"/>
                  <a:pt x="36278" y="89433"/>
                  <a:pt x="36534" y="85437"/>
                </a:cubicBezTo>
                <a:lnTo>
                  <a:pt x="37397" y="72045"/>
                </a:lnTo>
                <a:cubicBezTo>
                  <a:pt x="34744" y="69999"/>
                  <a:pt x="32411" y="67634"/>
                  <a:pt x="30397" y="65013"/>
                </a:cubicBezTo>
                <a:lnTo>
                  <a:pt x="16972" y="65876"/>
                </a:lnTo>
                <a:cubicBezTo>
                  <a:pt x="12977" y="66132"/>
                  <a:pt x="9333" y="63511"/>
                  <a:pt x="8278" y="59643"/>
                </a:cubicBezTo>
                <a:lnTo>
                  <a:pt x="6041" y="51269"/>
                </a:lnTo>
                <a:cubicBezTo>
                  <a:pt x="5018" y="47401"/>
                  <a:pt x="6840" y="43310"/>
                  <a:pt x="10452" y="41520"/>
                </a:cubicBezTo>
                <a:lnTo>
                  <a:pt x="22502" y="35575"/>
                </a:lnTo>
                <a:cubicBezTo>
                  <a:pt x="22726" y="33945"/>
                  <a:pt x="23045" y="32347"/>
                  <a:pt x="23461" y="30717"/>
                </a:cubicBezTo>
                <a:cubicBezTo>
                  <a:pt x="23908" y="29086"/>
                  <a:pt x="24420" y="27520"/>
                  <a:pt x="25059" y="26018"/>
                </a:cubicBezTo>
                <a:lnTo>
                  <a:pt x="17612" y="14863"/>
                </a:lnTo>
                <a:cubicBezTo>
                  <a:pt x="15374" y="11507"/>
                  <a:pt x="15822" y="7064"/>
                  <a:pt x="18666" y="4219"/>
                </a:cubicBezTo>
                <a:lnTo>
                  <a:pt x="24803" y="-1918"/>
                </a:lnTo>
                <a:cubicBezTo>
                  <a:pt x="27648" y="-4762"/>
                  <a:pt x="32091" y="-5210"/>
                  <a:pt x="35447" y="-2973"/>
                </a:cubicBezTo>
                <a:lnTo>
                  <a:pt x="46634" y="4475"/>
                </a:lnTo>
                <a:cubicBezTo>
                  <a:pt x="49671" y="3228"/>
                  <a:pt x="52899" y="2333"/>
                  <a:pt x="56191" y="1886"/>
                </a:cubicBezTo>
                <a:lnTo>
                  <a:pt x="62136" y="-10132"/>
                </a:lnTo>
                <a:cubicBezTo>
                  <a:pt x="63926" y="-13744"/>
                  <a:pt x="67985" y="-15566"/>
                  <a:pt x="71885" y="-14543"/>
                </a:cubicBezTo>
                <a:close/>
                <a:moveTo>
                  <a:pt x="61497" y="26849"/>
                </a:moveTo>
                <a:cubicBezTo>
                  <a:pt x="53735" y="26849"/>
                  <a:pt x="47433" y="33151"/>
                  <a:pt x="47433" y="40913"/>
                </a:cubicBezTo>
                <a:cubicBezTo>
                  <a:pt x="47433" y="48675"/>
                  <a:pt x="53735" y="54977"/>
                  <a:pt x="61497" y="54977"/>
                </a:cubicBezTo>
                <a:cubicBezTo>
                  <a:pt x="69259" y="54977"/>
                  <a:pt x="75561" y="48675"/>
                  <a:pt x="75561" y="40913"/>
                </a:cubicBezTo>
                <a:cubicBezTo>
                  <a:pt x="75561" y="33151"/>
                  <a:pt x="69259" y="26849"/>
                  <a:pt x="61497" y="26849"/>
                </a:cubicBezTo>
                <a:close/>
              </a:path>
            </a:pathLst>
          </a:custGeom>
          <a:solidFill>
            <a:srgbClr val="8B0000"/>
          </a:solidFill>
          <a:ln/>
        </p:spPr>
      </p:sp>
      <p:sp>
        <p:nvSpPr>
          <p:cNvPr id="10" name="Text 8"/>
          <p:cNvSpPr/>
          <p:nvPr/>
        </p:nvSpPr>
        <p:spPr>
          <a:xfrm>
            <a:off x="973723" y="2094733"/>
            <a:ext cx="1219200"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Classical SRL Parser</a:t>
            </a:r>
            <a:endParaRPr lang="en-US" sz="1600" dirty="0"/>
          </a:p>
        </p:txBody>
      </p:sp>
      <p:sp>
        <p:nvSpPr>
          <p:cNvPr id="11" name="Text 9"/>
          <p:cNvSpPr/>
          <p:nvPr/>
        </p:nvSpPr>
        <p:spPr>
          <a:xfrm>
            <a:off x="703699" y="2389305"/>
            <a:ext cx="2307479" cy="196381"/>
          </a:xfrm>
          <a:prstGeom prst="rect">
            <a:avLst/>
          </a:prstGeom>
          <a:noFill/>
          <a:ln/>
        </p:spPr>
        <p:txBody>
          <a:bodyPr wrap="square" lIns="0" tIns="0" rIns="0" bIns="0" rtlCol="0" anchor="ctr"/>
          <a:lstStyle/>
          <a:p>
            <a:pPr>
              <a:lnSpc>
                <a:spcPct val="130000"/>
              </a:lnSpc>
            </a:pPr>
            <a:r>
              <a:rPr lang="en-US" sz="1031" b="1" dirty="0">
                <a:solidFill>
                  <a:srgbClr val="6B7280"/>
                </a:solidFill>
                <a:latin typeface="Sorts Mill Goudy" pitchFamily="34" charset="0"/>
                <a:ea typeface="Sorts Mill Goudy" pitchFamily="34" charset="-122"/>
                <a:cs typeface="Sorts Mill Goudy" pitchFamily="34" charset="-120"/>
              </a:rPr>
              <a:t>Role:</a:t>
            </a:r>
            <a:r>
              <a:rPr lang="en-US" sz="1031" dirty="0">
                <a:solidFill>
                  <a:srgbClr val="6B7280"/>
                </a:solidFill>
                <a:latin typeface="Sorts Mill Goudy" pitchFamily="34" charset="0"/>
                <a:ea typeface="Sorts Mill Goudy" pitchFamily="34" charset="-122"/>
                <a:cs typeface="Sorts Mill Goudy" pitchFamily="34" charset="-120"/>
              </a:rPr>
              <a:t> Structural front end</a:t>
            </a:r>
            <a:endParaRPr lang="en-US" sz="1600" dirty="0"/>
          </a:p>
        </p:txBody>
      </p:sp>
      <p:sp>
        <p:nvSpPr>
          <p:cNvPr id="12" name="Text 10"/>
          <p:cNvSpPr/>
          <p:nvPr/>
        </p:nvSpPr>
        <p:spPr>
          <a:xfrm>
            <a:off x="703699" y="2651146"/>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Extracts predicate-argument candidates</a:t>
            </a:r>
            <a:endParaRPr lang="en-US" sz="1600" dirty="0"/>
          </a:p>
        </p:txBody>
      </p:sp>
      <p:sp>
        <p:nvSpPr>
          <p:cNvPr id="13" name="Text 11"/>
          <p:cNvSpPr/>
          <p:nvPr/>
        </p:nvSpPr>
        <p:spPr>
          <a:xfrm>
            <a:off x="703699" y="2847528"/>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Provides roleset constraints</a:t>
            </a:r>
            <a:endParaRPr lang="en-US" sz="1600" dirty="0"/>
          </a:p>
        </p:txBody>
      </p:sp>
      <p:sp>
        <p:nvSpPr>
          <p:cNvPr id="14" name="Text 12"/>
          <p:cNvSpPr/>
          <p:nvPr/>
        </p:nvSpPr>
        <p:spPr>
          <a:xfrm>
            <a:off x="703699" y="3043909"/>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Ensures span faithfulness</a:t>
            </a:r>
            <a:endParaRPr lang="en-US" sz="1600" dirty="0"/>
          </a:p>
        </p:txBody>
      </p:sp>
      <p:sp>
        <p:nvSpPr>
          <p:cNvPr id="15" name="Text 13"/>
          <p:cNvSpPr/>
          <p:nvPr/>
        </p:nvSpPr>
        <p:spPr>
          <a:xfrm>
            <a:off x="703699" y="3240290"/>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Contributes consistency</a:t>
            </a:r>
            <a:endParaRPr lang="en-US" sz="1600" dirty="0"/>
          </a:p>
        </p:txBody>
      </p:sp>
      <p:sp>
        <p:nvSpPr>
          <p:cNvPr id="16" name="Shape 14"/>
          <p:cNvSpPr/>
          <p:nvPr/>
        </p:nvSpPr>
        <p:spPr>
          <a:xfrm>
            <a:off x="3235687" y="1955630"/>
            <a:ext cx="2520226" cy="1587415"/>
          </a:xfrm>
          <a:custGeom>
            <a:avLst/>
            <a:gdLst/>
            <a:ahLst/>
            <a:cxnLst/>
            <a:rect l="l" t="t" r="r" b="b"/>
            <a:pathLst>
              <a:path w="2520226" h="1587415">
                <a:moveTo>
                  <a:pt x="0" y="0"/>
                </a:moveTo>
                <a:lnTo>
                  <a:pt x="2520226" y="0"/>
                </a:lnTo>
                <a:lnTo>
                  <a:pt x="2520226" y="1587415"/>
                </a:lnTo>
                <a:lnTo>
                  <a:pt x="0" y="1587415"/>
                </a:lnTo>
                <a:lnTo>
                  <a:pt x="0" y="0"/>
                </a:lnTo>
                <a:close/>
              </a:path>
            </a:pathLst>
          </a:custGeom>
          <a:solidFill>
            <a:srgbClr val="FFFFFF"/>
          </a:solidFill>
          <a:ln w="25400">
            <a:solidFill>
              <a:srgbClr val="6B7280"/>
            </a:solidFill>
            <a:prstDash val="solid"/>
          </a:ln>
        </p:spPr>
      </p:sp>
      <p:sp>
        <p:nvSpPr>
          <p:cNvPr id="17" name="Shape 15"/>
          <p:cNvSpPr/>
          <p:nvPr/>
        </p:nvSpPr>
        <p:spPr>
          <a:xfrm>
            <a:off x="3395247" y="2111098"/>
            <a:ext cx="163651" cy="163651"/>
          </a:xfrm>
          <a:custGeom>
            <a:avLst/>
            <a:gdLst/>
            <a:ahLst/>
            <a:cxnLst/>
            <a:rect l="l" t="t" r="r" b="b"/>
            <a:pathLst>
              <a:path w="163651" h="163651">
                <a:moveTo>
                  <a:pt x="38356" y="17899"/>
                </a:moveTo>
                <a:cubicBezTo>
                  <a:pt x="38356" y="8023"/>
                  <a:pt x="46378" y="0"/>
                  <a:pt x="56255" y="0"/>
                </a:cubicBezTo>
                <a:lnTo>
                  <a:pt x="63926" y="0"/>
                </a:lnTo>
                <a:cubicBezTo>
                  <a:pt x="69584" y="0"/>
                  <a:pt x="74154" y="4571"/>
                  <a:pt x="74154" y="10228"/>
                </a:cubicBezTo>
                <a:lnTo>
                  <a:pt x="74154" y="153423"/>
                </a:lnTo>
                <a:cubicBezTo>
                  <a:pt x="74154" y="159080"/>
                  <a:pt x="69584" y="163651"/>
                  <a:pt x="63926" y="163651"/>
                </a:cubicBezTo>
                <a:lnTo>
                  <a:pt x="53698" y="163651"/>
                </a:lnTo>
                <a:cubicBezTo>
                  <a:pt x="44173" y="163651"/>
                  <a:pt x="36150" y="157131"/>
                  <a:pt x="33881" y="148309"/>
                </a:cubicBezTo>
                <a:cubicBezTo>
                  <a:pt x="33657" y="148309"/>
                  <a:pt x="33465" y="148309"/>
                  <a:pt x="33242" y="148309"/>
                </a:cubicBezTo>
                <a:cubicBezTo>
                  <a:pt x="19114" y="148309"/>
                  <a:pt x="7671" y="136866"/>
                  <a:pt x="7671" y="122738"/>
                </a:cubicBezTo>
                <a:cubicBezTo>
                  <a:pt x="7671" y="116985"/>
                  <a:pt x="9589" y="111679"/>
                  <a:pt x="12785" y="107396"/>
                </a:cubicBezTo>
                <a:cubicBezTo>
                  <a:pt x="6584" y="102729"/>
                  <a:pt x="2557" y="95314"/>
                  <a:pt x="2557" y="86940"/>
                </a:cubicBezTo>
                <a:cubicBezTo>
                  <a:pt x="2557" y="77063"/>
                  <a:pt x="8183" y="68465"/>
                  <a:pt x="16365" y="64214"/>
                </a:cubicBezTo>
                <a:cubicBezTo>
                  <a:pt x="14096" y="60378"/>
                  <a:pt x="12785" y="55903"/>
                  <a:pt x="12785" y="51141"/>
                </a:cubicBezTo>
                <a:cubicBezTo>
                  <a:pt x="12785" y="37013"/>
                  <a:pt x="24228" y="25570"/>
                  <a:pt x="38356" y="25570"/>
                </a:cubicBezTo>
                <a:lnTo>
                  <a:pt x="38356" y="17899"/>
                </a:lnTo>
                <a:close/>
                <a:moveTo>
                  <a:pt x="125295" y="17899"/>
                </a:moveTo>
                <a:lnTo>
                  <a:pt x="125295" y="25570"/>
                </a:lnTo>
                <a:cubicBezTo>
                  <a:pt x="139423" y="25570"/>
                  <a:pt x="150866" y="37013"/>
                  <a:pt x="150866" y="51141"/>
                </a:cubicBezTo>
                <a:cubicBezTo>
                  <a:pt x="150866" y="55935"/>
                  <a:pt x="149555" y="60410"/>
                  <a:pt x="147286" y="64214"/>
                </a:cubicBezTo>
                <a:cubicBezTo>
                  <a:pt x="155500" y="68465"/>
                  <a:pt x="161094" y="77031"/>
                  <a:pt x="161094" y="86940"/>
                </a:cubicBezTo>
                <a:cubicBezTo>
                  <a:pt x="161094" y="95314"/>
                  <a:pt x="157067" y="102729"/>
                  <a:pt x="150866" y="107396"/>
                </a:cubicBezTo>
                <a:cubicBezTo>
                  <a:pt x="154062" y="111679"/>
                  <a:pt x="155980" y="116985"/>
                  <a:pt x="155980" y="122738"/>
                </a:cubicBezTo>
                <a:cubicBezTo>
                  <a:pt x="155980" y="136866"/>
                  <a:pt x="144537" y="148309"/>
                  <a:pt x="130409" y="148309"/>
                </a:cubicBezTo>
                <a:cubicBezTo>
                  <a:pt x="130186" y="148309"/>
                  <a:pt x="129994" y="148309"/>
                  <a:pt x="129770" y="148309"/>
                </a:cubicBezTo>
                <a:cubicBezTo>
                  <a:pt x="127501" y="157131"/>
                  <a:pt x="119478" y="163651"/>
                  <a:pt x="109953" y="163651"/>
                </a:cubicBezTo>
                <a:lnTo>
                  <a:pt x="99725" y="163651"/>
                </a:lnTo>
                <a:cubicBezTo>
                  <a:pt x="94067" y="163651"/>
                  <a:pt x="89497" y="159080"/>
                  <a:pt x="89497" y="153423"/>
                </a:cubicBezTo>
                <a:lnTo>
                  <a:pt x="89497" y="10228"/>
                </a:lnTo>
                <a:cubicBezTo>
                  <a:pt x="89497" y="4571"/>
                  <a:pt x="94067" y="0"/>
                  <a:pt x="99725" y="0"/>
                </a:cubicBezTo>
                <a:lnTo>
                  <a:pt x="107396" y="0"/>
                </a:lnTo>
                <a:cubicBezTo>
                  <a:pt x="117273" y="0"/>
                  <a:pt x="125295" y="8023"/>
                  <a:pt x="125295" y="17899"/>
                </a:cubicBezTo>
                <a:close/>
              </a:path>
            </a:pathLst>
          </a:custGeom>
          <a:solidFill>
            <a:srgbClr val="6B7280"/>
          </a:solidFill>
          <a:ln/>
        </p:spPr>
      </p:sp>
      <p:sp>
        <p:nvSpPr>
          <p:cNvPr id="18" name="Text 16"/>
          <p:cNvSpPr/>
          <p:nvPr/>
        </p:nvSpPr>
        <p:spPr>
          <a:xfrm>
            <a:off x="3644815" y="2094733"/>
            <a:ext cx="1341938"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Large Language Model</a:t>
            </a:r>
            <a:endParaRPr lang="en-US" sz="1600" dirty="0"/>
          </a:p>
        </p:txBody>
      </p:sp>
      <p:sp>
        <p:nvSpPr>
          <p:cNvPr id="19" name="Text 17"/>
          <p:cNvSpPr/>
          <p:nvPr/>
        </p:nvSpPr>
        <p:spPr>
          <a:xfrm>
            <a:off x="3374791" y="2389305"/>
            <a:ext cx="2307479" cy="196381"/>
          </a:xfrm>
          <a:prstGeom prst="rect">
            <a:avLst/>
          </a:prstGeom>
          <a:noFill/>
          <a:ln/>
        </p:spPr>
        <p:txBody>
          <a:bodyPr wrap="square" lIns="0" tIns="0" rIns="0" bIns="0" rtlCol="0" anchor="ctr"/>
          <a:lstStyle/>
          <a:p>
            <a:pPr>
              <a:lnSpc>
                <a:spcPct val="130000"/>
              </a:lnSpc>
            </a:pPr>
            <a:r>
              <a:rPr lang="en-US" sz="1031" b="1" dirty="0">
                <a:solidFill>
                  <a:srgbClr val="6B7280"/>
                </a:solidFill>
                <a:latin typeface="Sorts Mill Goudy" pitchFamily="34" charset="0"/>
                <a:ea typeface="Sorts Mill Goudy" pitchFamily="34" charset="-122"/>
                <a:cs typeface="Sorts Mill Goudy" pitchFamily="34" charset="-120"/>
              </a:rPr>
              <a:t>Role:</a:t>
            </a:r>
            <a:r>
              <a:rPr lang="en-US" sz="1031" dirty="0">
                <a:solidFill>
                  <a:srgbClr val="6B7280"/>
                </a:solidFill>
                <a:latin typeface="Sorts Mill Goudy" pitchFamily="34" charset="0"/>
                <a:ea typeface="Sorts Mill Goudy" pitchFamily="34" charset="-122"/>
                <a:cs typeface="Sorts Mill Goudy" pitchFamily="34" charset="-120"/>
              </a:rPr>
              <a:t> Soft reasoner &amp; verbalizer</a:t>
            </a:r>
            <a:endParaRPr lang="en-US" sz="1600" dirty="0"/>
          </a:p>
        </p:txBody>
      </p:sp>
      <p:sp>
        <p:nvSpPr>
          <p:cNvPr id="20" name="Text 18"/>
          <p:cNvSpPr/>
          <p:nvPr/>
        </p:nvSpPr>
        <p:spPr>
          <a:xfrm>
            <a:off x="3374791" y="2651146"/>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Reasons over structured candidates</a:t>
            </a:r>
            <a:endParaRPr lang="en-US" sz="1600" dirty="0"/>
          </a:p>
        </p:txBody>
      </p:sp>
      <p:sp>
        <p:nvSpPr>
          <p:cNvPr id="21" name="Text 19"/>
          <p:cNvSpPr/>
          <p:nvPr/>
        </p:nvSpPr>
        <p:spPr>
          <a:xfrm>
            <a:off x="3374791" y="2847528"/>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Handles paraphrase variations</a:t>
            </a:r>
            <a:endParaRPr lang="en-US" sz="1600" dirty="0"/>
          </a:p>
        </p:txBody>
      </p:sp>
      <p:sp>
        <p:nvSpPr>
          <p:cNvPr id="22" name="Text 20"/>
          <p:cNvSpPr/>
          <p:nvPr/>
        </p:nvSpPr>
        <p:spPr>
          <a:xfrm>
            <a:off x="3374791" y="3043909"/>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Provides natural explanations</a:t>
            </a:r>
            <a:endParaRPr lang="en-US" sz="1600" dirty="0"/>
          </a:p>
        </p:txBody>
      </p:sp>
      <p:sp>
        <p:nvSpPr>
          <p:cNvPr id="23" name="Text 21"/>
          <p:cNvSpPr/>
          <p:nvPr/>
        </p:nvSpPr>
        <p:spPr>
          <a:xfrm>
            <a:off x="3374791" y="3240290"/>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Contributes world knowledge</a:t>
            </a:r>
            <a:endParaRPr lang="en-US" sz="1600" dirty="0"/>
          </a:p>
        </p:txBody>
      </p:sp>
      <p:sp>
        <p:nvSpPr>
          <p:cNvPr id="24" name="Shape 22"/>
          <p:cNvSpPr/>
          <p:nvPr/>
        </p:nvSpPr>
        <p:spPr>
          <a:xfrm>
            <a:off x="343667" y="3943989"/>
            <a:ext cx="5621412" cy="1849256"/>
          </a:xfrm>
          <a:custGeom>
            <a:avLst/>
            <a:gdLst/>
            <a:ahLst/>
            <a:cxnLst/>
            <a:rect l="l" t="t" r="r" b="b"/>
            <a:pathLst>
              <a:path w="5621412" h="1849256">
                <a:moveTo>
                  <a:pt x="0" y="0"/>
                </a:moveTo>
                <a:lnTo>
                  <a:pt x="5621412" y="0"/>
                </a:lnTo>
                <a:lnTo>
                  <a:pt x="5621412" y="1849256"/>
                </a:lnTo>
                <a:lnTo>
                  <a:pt x="0" y="1849256"/>
                </a:lnTo>
                <a:lnTo>
                  <a:pt x="0" y="0"/>
                </a:lnTo>
                <a:close/>
              </a:path>
            </a:pathLst>
          </a:custGeom>
          <a:solidFill>
            <a:srgbClr val="F9FAFB"/>
          </a:solidFill>
          <a:ln/>
        </p:spPr>
      </p:sp>
      <p:sp>
        <p:nvSpPr>
          <p:cNvPr id="25" name="Shape 23"/>
          <p:cNvSpPr/>
          <p:nvPr/>
        </p:nvSpPr>
        <p:spPr>
          <a:xfrm>
            <a:off x="343667" y="3943989"/>
            <a:ext cx="32730" cy="1849256"/>
          </a:xfrm>
          <a:custGeom>
            <a:avLst/>
            <a:gdLst/>
            <a:ahLst/>
            <a:cxnLst/>
            <a:rect l="l" t="t" r="r" b="b"/>
            <a:pathLst>
              <a:path w="32730" h="1849256">
                <a:moveTo>
                  <a:pt x="0" y="0"/>
                </a:moveTo>
                <a:lnTo>
                  <a:pt x="32730" y="0"/>
                </a:lnTo>
                <a:lnTo>
                  <a:pt x="32730" y="1849256"/>
                </a:lnTo>
                <a:lnTo>
                  <a:pt x="0" y="1849256"/>
                </a:lnTo>
                <a:lnTo>
                  <a:pt x="0" y="0"/>
                </a:lnTo>
                <a:close/>
              </a:path>
            </a:pathLst>
          </a:custGeom>
          <a:solidFill>
            <a:srgbClr val="8B0000"/>
          </a:solidFill>
          <a:ln/>
        </p:spPr>
      </p:sp>
      <p:sp>
        <p:nvSpPr>
          <p:cNvPr id="26" name="Text 24"/>
          <p:cNvSpPr/>
          <p:nvPr/>
        </p:nvSpPr>
        <p:spPr>
          <a:xfrm>
            <a:off x="556413" y="4140370"/>
            <a:ext cx="5294110" cy="229111"/>
          </a:xfrm>
          <a:prstGeom prst="rect">
            <a:avLst/>
          </a:prstGeom>
          <a:noFill/>
          <a:ln/>
        </p:spPr>
        <p:txBody>
          <a:bodyPr wrap="square" lIns="0" tIns="0" rIns="0" bIns="0" rtlCol="0" anchor="ctr"/>
          <a:lstStyle/>
          <a:p>
            <a:pPr>
              <a:lnSpc>
                <a:spcPct val="120000"/>
              </a:lnSpc>
            </a:pPr>
            <a:r>
              <a:rPr lang="en-US" sz="1289" b="1" dirty="0">
                <a:solidFill>
                  <a:srgbClr val="1F2937"/>
                </a:solidFill>
                <a:latin typeface="Sorts Mill Goudy" pitchFamily="34" charset="0"/>
                <a:ea typeface="Sorts Mill Goudy" pitchFamily="34" charset="-122"/>
                <a:cs typeface="Sorts Mill Goudy" pitchFamily="34" charset="-120"/>
              </a:rPr>
              <a:t>Prompt Constraints</a:t>
            </a:r>
            <a:endParaRPr lang="en-US" sz="1600" dirty="0"/>
          </a:p>
        </p:txBody>
      </p:sp>
      <p:sp>
        <p:nvSpPr>
          <p:cNvPr id="27" name="Text 25"/>
          <p:cNvSpPr/>
          <p:nvPr/>
        </p:nvSpPr>
        <p:spPr>
          <a:xfrm>
            <a:off x="556413" y="4467672"/>
            <a:ext cx="5277745" cy="212746"/>
          </a:xfrm>
          <a:prstGeom prst="rect">
            <a:avLst/>
          </a:prstGeom>
          <a:noFill/>
          <a:ln/>
        </p:spPr>
        <p:txBody>
          <a:bodyPr wrap="square" lIns="0" tIns="0" rIns="0" bIns="0" rtlCol="0" anchor="ctr"/>
          <a:lstStyle/>
          <a:p>
            <a:pPr>
              <a:lnSpc>
                <a:spcPct val="140000"/>
              </a:lnSpc>
            </a:pPr>
            <a:r>
              <a:rPr lang="en-US" sz="1031" dirty="0">
                <a:solidFill>
                  <a:srgbClr val="1F2937"/>
                </a:solidFill>
                <a:latin typeface="Sorts Mill Goudy" pitchFamily="34" charset="0"/>
                <a:ea typeface="Sorts Mill Goudy" pitchFamily="34" charset="-122"/>
                <a:cs typeface="Sorts Mill Goudy" pitchFamily="34" charset="-120"/>
              </a:rPr>
              <a:t>LLM consumes structured candidates under constraints:</a:t>
            </a:r>
            <a:endParaRPr lang="en-US" sz="1600" dirty="0"/>
          </a:p>
        </p:txBody>
      </p:sp>
      <p:sp>
        <p:nvSpPr>
          <p:cNvPr id="28" name="Text 26"/>
          <p:cNvSpPr/>
          <p:nvPr/>
        </p:nvSpPr>
        <p:spPr>
          <a:xfrm>
            <a:off x="556413" y="4811340"/>
            <a:ext cx="171834" cy="196381"/>
          </a:xfrm>
          <a:prstGeom prst="rect">
            <a:avLst/>
          </a:prstGeom>
          <a:noFill/>
          <a:ln/>
        </p:spPr>
        <p:txBody>
          <a:bodyPr wrap="square" lIns="0" tIns="0" rIns="0" bIns="0" rtlCol="0" anchor="ctr"/>
          <a:lstStyle/>
          <a:p>
            <a:pPr>
              <a:lnSpc>
                <a:spcPct val="130000"/>
              </a:lnSpc>
            </a:pPr>
            <a:r>
              <a:rPr lang="en-US" sz="103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9" name="Text 27"/>
          <p:cNvSpPr/>
          <p:nvPr/>
        </p:nvSpPr>
        <p:spPr>
          <a:xfrm>
            <a:off x="728247" y="4778609"/>
            <a:ext cx="2413852" cy="196381"/>
          </a:xfrm>
          <a:prstGeom prst="rect">
            <a:avLst/>
          </a:prstGeom>
          <a:noFill/>
          <a:ln/>
        </p:spPr>
        <p:txBody>
          <a:bodyPr wrap="square" lIns="0" tIns="0" rIns="0" bIns="0" rtlCol="0" anchor="ctr"/>
          <a:lstStyle/>
          <a:p>
            <a:pPr>
              <a:lnSpc>
                <a:spcPct val="130000"/>
              </a:lnSpc>
            </a:pPr>
            <a:r>
              <a:rPr lang="en-US" sz="1031" dirty="0">
                <a:solidFill>
                  <a:srgbClr val="1F2937"/>
                </a:solidFill>
                <a:latin typeface="Sorts Mill Goudy" pitchFamily="34" charset="0"/>
                <a:ea typeface="Sorts Mill Goudy" pitchFamily="34" charset="-122"/>
                <a:cs typeface="Sorts Mill Goudy" pitchFamily="34" charset="-120"/>
              </a:rPr>
              <a:t>Allowable roles from PropBank inventory</a:t>
            </a:r>
            <a:endParaRPr lang="en-US" sz="1600" dirty="0"/>
          </a:p>
        </p:txBody>
      </p:sp>
      <p:sp>
        <p:nvSpPr>
          <p:cNvPr id="30" name="Text 28"/>
          <p:cNvSpPr/>
          <p:nvPr/>
        </p:nvSpPr>
        <p:spPr>
          <a:xfrm>
            <a:off x="556413" y="5105911"/>
            <a:ext cx="171834" cy="196381"/>
          </a:xfrm>
          <a:prstGeom prst="rect">
            <a:avLst/>
          </a:prstGeom>
          <a:noFill/>
          <a:ln/>
        </p:spPr>
        <p:txBody>
          <a:bodyPr wrap="square" lIns="0" tIns="0" rIns="0" bIns="0" rtlCol="0" anchor="ctr"/>
          <a:lstStyle/>
          <a:p>
            <a:pPr>
              <a:lnSpc>
                <a:spcPct val="130000"/>
              </a:lnSpc>
            </a:pPr>
            <a:r>
              <a:rPr lang="en-US" sz="103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31" name="Text 29"/>
          <p:cNvSpPr/>
          <p:nvPr/>
        </p:nvSpPr>
        <p:spPr>
          <a:xfrm>
            <a:off x="728247" y="5073181"/>
            <a:ext cx="1980177" cy="196381"/>
          </a:xfrm>
          <a:prstGeom prst="rect">
            <a:avLst/>
          </a:prstGeom>
          <a:noFill/>
          <a:ln/>
        </p:spPr>
        <p:txBody>
          <a:bodyPr wrap="square" lIns="0" tIns="0" rIns="0" bIns="0" rtlCol="0" anchor="ctr"/>
          <a:lstStyle/>
          <a:p>
            <a:pPr>
              <a:lnSpc>
                <a:spcPct val="130000"/>
              </a:lnSpc>
            </a:pPr>
            <a:r>
              <a:rPr lang="en-US" sz="1031" dirty="0">
                <a:solidFill>
                  <a:srgbClr val="1F2937"/>
                </a:solidFill>
                <a:latin typeface="Sorts Mill Goudy" pitchFamily="34" charset="0"/>
                <a:ea typeface="Sorts Mill Goudy" pitchFamily="34" charset="-122"/>
                <a:cs typeface="Sorts Mill Goudy" pitchFamily="34" charset="-120"/>
              </a:rPr>
              <a:t>Confidence scores from SRL layer</a:t>
            </a:r>
            <a:endParaRPr lang="en-US" sz="1600" dirty="0"/>
          </a:p>
        </p:txBody>
      </p:sp>
      <p:sp>
        <p:nvSpPr>
          <p:cNvPr id="32" name="Text 30"/>
          <p:cNvSpPr/>
          <p:nvPr/>
        </p:nvSpPr>
        <p:spPr>
          <a:xfrm>
            <a:off x="556413" y="5400483"/>
            <a:ext cx="171834" cy="196381"/>
          </a:xfrm>
          <a:prstGeom prst="rect">
            <a:avLst/>
          </a:prstGeom>
          <a:noFill/>
          <a:ln/>
        </p:spPr>
        <p:txBody>
          <a:bodyPr wrap="square" lIns="0" tIns="0" rIns="0" bIns="0" rtlCol="0" anchor="ctr"/>
          <a:lstStyle/>
          <a:p>
            <a:pPr>
              <a:lnSpc>
                <a:spcPct val="130000"/>
              </a:lnSpc>
            </a:pPr>
            <a:r>
              <a:rPr lang="en-US" sz="103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33" name="Text 31"/>
          <p:cNvSpPr/>
          <p:nvPr/>
        </p:nvSpPr>
        <p:spPr>
          <a:xfrm>
            <a:off x="728247" y="5367753"/>
            <a:ext cx="2471130" cy="196381"/>
          </a:xfrm>
          <a:prstGeom prst="rect">
            <a:avLst/>
          </a:prstGeom>
          <a:noFill/>
          <a:ln/>
        </p:spPr>
        <p:txBody>
          <a:bodyPr wrap="square" lIns="0" tIns="0" rIns="0" bIns="0" rtlCol="0" anchor="ctr"/>
          <a:lstStyle/>
          <a:p>
            <a:pPr>
              <a:lnSpc>
                <a:spcPct val="130000"/>
              </a:lnSpc>
            </a:pPr>
            <a:r>
              <a:rPr lang="en-US" sz="1031" dirty="0">
                <a:solidFill>
                  <a:srgbClr val="1F2937"/>
                </a:solidFill>
                <a:latin typeface="Sorts Mill Goudy" pitchFamily="34" charset="0"/>
                <a:ea typeface="Sorts Mill Goudy" pitchFamily="34" charset="-122"/>
                <a:cs typeface="Sorts Mill Goudy" pitchFamily="34" charset="-120"/>
              </a:rPr>
              <a:t>Abstention policy for low-confidence cases</a:t>
            </a:r>
            <a:endParaRPr lang="en-US" sz="1600" dirty="0"/>
          </a:p>
        </p:txBody>
      </p:sp>
      <p:sp>
        <p:nvSpPr>
          <p:cNvPr id="34" name="Shape 32"/>
          <p:cNvSpPr/>
          <p:nvPr/>
        </p:nvSpPr>
        <p:spPr>
          <a:xfrm>
            <a:off x="6225898" y="1080097"/>
            <a:ext cx="5637777" cy="3993085"/>
          </a:xfrm>
          <a:custGeom>
            <a:avLst/>
            <a:gdLst/>
            <a:ahLst/>
            <a:cxnLst/>
            <a:rect l="l" t="t" r="r" b="b"/>
            <a:pathLst>
              <a:path w="5637777" h="3993085">
                <a:moveTo>
                  <a:pt x="0" y="0"/>
                </a:moveTo>
                <a:lnTo>
                  <a:pt x="5637777" y="0"/>
                </a:lnTo>
                <a:lnTo>
                  <a:pt x="5637777" y="3993085"/>
                </a:lnTo>
                <a:lnTo>
                  <a:pt x="0" y="3993085"/>
                </a:lnTo>
                <a:lnTo>
                  <a:pt x="0" y="0"/>
                </a:lnTo>
                <a:close/>
              </a:path>
            </a:pathLst>
          </a:custGeom>
          <a:solidFill>
            <a:srgbClr val="F9FAFB"/>
          </a:solidFill>
          <a:ln/>
        </p:spPr>
      </p:sp>
      <p:sp>
        <p:nvSpPr>
          <p:cNvPr id="35" name="Text 33"/>
          <p:cNvSpPr/>
          <p:nvPr/>
        </p:nvSpPr>
        <p:spPr>
          <a:xfrm>
            <a:off x="6422279" y="1276478"/>
            <a:ext cx="5326840" cy="229111"/>
          </a:xfrm>
          <a:prstGeom prst="rect">
            <a:avLst/>
          </a:prstGeom>
          <a:noFill/>
          <a:ln/>
        </p:spPr>
        <p:txBody>
          <a:bodyPr wrap="square" lIns="0" tIns="0" rIns="0" bIns="0" rtlCol="0" anchor="ctr"/>
          <a:lstStyle/>
          <a:p>
            <a:pPr>
              <a:lnSpc>
                <a:spcPct val="120000"/>
              </a:lnSpc>
            </a:pPr>
            <a:r>
              <a:rPr lang="en-US" sz="1289" b="1" dirty="0">
                <a:solidFill>
                  <a:srgbClr val="1F2937"/>
                </a:solidFill>
                <a:latin typeface="Sorts Mill Goudy" pitchFamily="34" charset="0"/>
                <a:ea typeface="Sorts Mill Goudy" pitchFamily="34" charset="-122"/>
                <a:cs typeface="Sorts Mill Goudy" pitchFamily="34" charset="-120"/>
              </a:rPr>
              <a:t>Expected Benefits</a:t>
            </a:r>
            <a:endParaRPr lang="en-US" sz="1600" dirty="0"/>
          </a:p>
        </p:txBody>
      </p:sp>
      <p:sp>
        <p:nvSpPr>
          <p:cNvPr id="36" name="Shape 34"/>
          <p:cNvSpPr/>
          <p:nvPr/>
        </p:nvSpPr>
        <p:spPr>
          <a:xfrm>
            <a:off x="6426370" y="1640601"/>
            <a:ext cx="5236832" cy="728247"/>
          </a:xfrm>
          <a:custGeom>
            <a:avLst/>
            <a:gdLst/>
            <a:ahLst/>
            <a:cxnLst/>
            <a:rect l="l" t="t" r="r" b="b"/>
            <a:pathLst>
              <a:path w="5236832" h="728247">
                <a:moveTo>
                  <a:pt x="0" y="0"/>
                </a:moveTo>
                <a:lnTo>
                  <a:pt x="5236832" y="0"/>
                </a:lnTo>
                <a:lnTo>
                  <a:pt x="5236832" y="728247"/>
                </a:lnTo>
                <a:lnTo>
                  <a:pt x="0" y="728247"/>
                </a:lnTo>
                <a:lnTo>
                  <a:pt x="0" y="0"/>
                </a:lnTo>
                <a:close/>
              </a:path>
            </a:pathLst>
          </a:custGeom>
          <a:solidFill>
            <a:srgbClr val="FFFFFF"/>
          </a:solidFill>
          <a:ln w="12700">
            <a:solidFill>
              <a:srgbClr val="E5E7EB"/>
            </a:solidFill>
            <a:prstDash val="solid"/>
          </a:ln>
        </p:spPr>
      </p:sp>
      <p:sp>
        <p:nvSpPr>
          <p:cNvPr id="37" name="Shape 35"/>
          <p:cNvSpPr/>
          <p:nvPr/>
        </p:nvSpPr>
        <p:spPr>
          <a:xfrm>
            <a:off x="6561383" y="1808344"/>
            <a:ext cx="163651" cy="130921"/>
          </a:xfrm>
          <a:custGeom>
            <a:avLst/>
            <a:gdLst/>
            <a:ahLst/>
            <a:cxnLst/>
            <a:rect l="l" t="t" r="r" b="b"/>
            <a:pathLst>
              <a:path w="163651" h="130921">
                <a:moveTo>
                  <a:pt x="98191" y="8183"/>
                </a:moveTo>
                <a:lnTo>
                  <a:pt x="130921" y="8183"/>
                </a:lnTo>
                <a:cubicBezTo>
                  <a:pt x="135447" y="8183"/>
                  <a:pt x="139103" y="11839"/>
                  <a:pt x="139103" y="16365"/>
                </a:cubicBezTo>
                <a:cubicBezTo>
                  <a:pt x="139103" y="20891"/>
                  <a:pt x="135447" y="24548"/>
                  <a:pt x="130921" y="24548"/>
                </a:cubicBezTo>
                <a:lnTo>
                  <a:pt x="101873" y="24548"/>
                </a:lnTo>
                <a:cubicBezTo>
                  <a:pt x="100543" y="31145"/>
                  <a:pt x="96017" y="36591"/>
                  <a:pt x="90008" y="39200"/>
                </a:cubicBezTo>
                <a:lnTo>
                  <a:pt x="90008" y="114556"/>
                </a:lnTo>
                <a:lnTo>
                  <a:pt x="130921" y="114556"/>
                </a:lnTo>
                <a:cubicBezTo>
                  <a:pt x="135447" y="114556"/>
                  <a:pt x="139103" y="118212"/>
                  <a:pt x="139103" y="122738"/>
                </a:cubicBezTo>
                <a:cubicBezTo>
                  <a:pt x="139103" y="127264"/>
                  <a:pt x="135447" y="130921"/>
                  <a:pt x="130921" y="130921"/>
                </a:cubicBezTo>
                <a:lnTo>
                  <a:pt x="32730" y="130921"/>
                </a:lnTo>
                <a:cubicBezTo>
                  <a:pt x="28204" y="130921"/>
                  <a:pt x="24548" y="127264"/>
                  <a:pt x="24548" y="122738"/>
                </a:cubicBezTo>
                <a:cubicBezTo>
                  <a:pt x="24548" y="118212"/>
                  <a:pt x="28204" y="114556"/>
                  <a:pt x="32730" y="114556"/>
                </a:cubicBezTo>
                <a:lnTo>
                  <a:pt x="73643" y="114556"/>
                </a:lnTo>
                <a:lnTo>
                  <a:pt x="73643" y="39200"/>
                </a:lnTo>
                <a:cubicBezTo>
                  <a:pt x="67634" y="36566"/>
                  <a:pt x="63108" y="31119"/>
                  <a:pt x="61778" y="24548"/>
                </a:cubicBezTo>
                <a:lnTo>
                  <a:pt x="32730" y="24548"/>
                </a:lnTo>
                <a:cubicBezTo>
                  <a:pt x="28204" y="24548"/>
                  <a:pt x="24548" y="20891"/>
                  <a:pt x="24548" y="16365"/>
                </a:cubicBezTo>
                <a:cubicBezTo>
                  <a:pt x="24548" y="11839"/>
                  <a:pt x="28204" y="8183"/>
                  <a:pt x="32730" y="8183"/>
                </a:cubicBezTo>
                <a:lnTo>
                  <a:pt x="65460" y="8183"/>
                </a:lnTo>
                <a:cubicBezTo>
                  <a:pt x="69194" y="3222"/>
                  <a:pt x="75126" y="0"/>
                  <a:pt x="81826" y="0"/>
                </a:cubicBezTo>
                <a:cubicBezTo>
                  <a:pt x="88525" y="0"/>
                  <a:pt x="94457" y="3222"/>
                  <a:pt x="98191" y="8183"/>
                </a:cubicBezTo>
                <a:close/>
                <a:moveTo>
                  <a:pt x="112408" y="81826"/>
                </a:moveTo>
                <a:lnTo>
                  <a:pt x="149434" y="81826"/>
                </a:lnTo>
                <a:lnTo>
                  <a:pt x="130921" y="50067"/>
                </a:lnTo>
                <a:lnTo>
                  <a:pt x="112408" y="81826"/>
                </a:lnTo>
                <a:close/>
                <a:moveTo>
                  <a:pt x="130921" y="106373"/>
                </a:moveTo>
                <a:cubicBezTo>
                  <a:pt x="114837" y="106373"/>
                  <a:pt x="101464" y="97679"/>
                  <a:pt x="98702" y="86198"/>
                </a:cubicBezTo>
                <a:cubicBezTo>
                  <a:pt x="98037" y="83385"/>
                  <a:pt x="98958" y="80496"/>
                  <a:pt x="100415" y="77990"/>
                </a:cubicBezTo>
                <a:lnTo>
                  <a:pt x="124758" y="36259"/>
                </a:lnTo>
                <a:cubicBezTo>
                  <a:pt x="126037" y="34060"/>
                  <a:pt x="128389" y="32730"/>
                  <a:pt x="130921" y="32730"/>
                </a:cubicBezTo>
                <a:cubicBezTo>
                  <a:pt x="133452" y="32730"/>
                  <a:pt x="135805" y="34085"/>
                  <a:pt x="137083" y="36259"/>
                </a:cubicBezTo>
                <a:lnTo>
                  <a:pt x="161426" y="77990"/>
                </a:lnTo>
                <a:cubicBezTo>
                  <a:pt x="162884" y="80496"/>
                  <a:pt x="163804" y="83385"/>
                  <a:pt x="163140" y="86198"/>
                </a:cubicBezTo>
                <a:cubicBezTo>
                  <a:pt x="160378" y="97654"/>
                  <a:pt x="147005" y="106373"/>
                  <a:pt x="130921" y="106373"/>
                </a:cubicBezTo>
                <a:close/>
                <a:moveTo>
                  <a:pt x="32423" y="50067"/>
                </a:moveTo>
                <a:lnTo>
                  <a:pt x="13910" y="81826"/>
                </a:lnTo>
                <a:lnTo>
                  <a:pt x="50962" y="81826"/>
                </a:lnTo>
                <a:lnTo>
                  <a:pt x="32423" y="50067"/>
                </a:lnTo>
                <a:close/>
                <a:moveTo>
                  <a:pt x="230" y="86198"/>
                </a:moveTo>
                <a:cubicBezTo>
                  <a:pt x="-435" y="83385"/>
                  <a:pt x="486" y="80496"/>
                  <a:pt x="1943" y="77990"/>
                </a:cubicBezTo>
                <a:lnTo>
                  <a:pt x="26286" y="36259"/>
                </a:lnTo>
                <a:cubicBezTo>
                  <a:pt x="27565" y="34060"/>
                  <a:pt x="29917" y="32730"/>
                  <a:pt x="32449" y="32730"/>
                </a:cubicBezTo>
                <a:cubicBezTo>
                  <a:pt x="34980" y="32730"/>
                  <a:pt x="37333" y="34085"/>
                  <a:pt x="38611" y="36259"/>
                </a:cubicBezTo>
                <a:lnTo>
                  <a:pt x="62954" y="77990"/>
                </a:lnTo>
                <a:cubicBezTo>
                  <a:pt x="64412" y="80496"/>
                  <a:pt x="65333" y="83385"/>
                  <a:pt x="64668" y="86198"/>
                </a:cubicBezTo>
                <a:cubicBezTo>
                  <a:pt x="61906" y="97654"/>
                  <a:pt x="48533" y="106373"/>
                  <a:pt x="32449" y="106373"/>
                </a:cubicBezTo>
                <a:cubicBezTo>
                  <a:pt x="16365" y="106373"/>
                  <a:pt x="2992" y="97679"/>
                  <a:pt x="230" y="86198"/>
                </a:cubicBezTo>
                <a:close/>
              </a:path>
            </a:pathLst>
          </a:custGeom>
          <a:solidFill>
            <a:srgbClr val="8B0000"/>
          </a:solidFill>
          <a:ln/>
        </p:spPr>
      </p:sp>
      <p:sp>
        <p:nvSpPr>
          <p:cNvPr id="38" name="Text 36"/>
          <p:cNvSpPr/>
          <p:nvPr/>
        </p:nvSpPr>
        <p:spPr>
          <a:xfrm>
            <a:off x="6823224" y="1775613"/>
            <a:ext cx="1333756"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Asymmetric Strengths</a:t>
            </a:r>
            <a:endParaRPr lang="en-US" sz="1600" dirty="0"/>
          </a:p>
        </p:txBody>
      </p:sp>
      <p:sp>
        <p:nvSpPr>
          <p:cNvPr id="39" name="Text 37"/>
          <p:cNvSpPr/>
          <p:nvPr/>
        </p:nvSpPr>
        <p:spPr>
          <a:xfrm>
            <a:off x="6561383" y="2037455"/>
            <a:ext cx="5032268" cy="196381"/>
          </a:xfrm>
          <a:prstGeom prst="rect">
            <a:avLst/>
          </a:prstGeom>
          <a:noFill/>
          <a:ln/>
        </p:spPr>
        <p:txBody>
          <a:bodyPr wrap="square" lIns="0" tIns="0" rIns="0" bIns="0" rtlCol="0" anchor="ctr"/>
          <a:lstStyle/>
          <a:p>
            <a:pPr>
              <a:lnSpc>
                <a:spcPct val="130000"/>
              </a:lnSpc>
            </a:pPr>
            <a:r>
              <a:rPr lang="en-US" sz="1031" dirty="0">
                <a:solidFill>
                  <a:srgbClr val="6B7280"/>
                </a:solidFill>
                <a:latin typeface="Sorts Mill Goudy" pitchFamily="34" charset="0"/>
                <a:ea typeface="Sorts Mill Goudy" pitchFamily="34" charset="-122"/>
                <a:cs typeface="Sorts Mill Goudy" pitchFamily="34" charset="-120"/>
              </a:rPr>
              <a:t>Classical SRL for consistency + LLM for flexibility</a:t>
            </a:r>
            <a:endParaRPr lang="en-US" sz="1600" dirty="0"/>
          </a:p>
        </p:txBody>
      </p:sp>
      <p:sp>
        <p:nvSpPr>
          <p:cNvPr id="40" name="Shape 38"/>
          <p:cNvSpPr/>
          <p:nvPr/>
        </p:nvSpPr>
        <p:spPr>
          <a:xfrm>
            <a:off x="6426370" y="2475221"/>
            <a:ext cx="5236832" cy="728247"/>
          </a:xfrm>
          <a:custGeom>
            <a:avLst/>
            <a:gdLst/>
            <a:ahLst/>
            <a:cxnLst/>
            <a:rect l="l" t="t" r="r" b="b"/>
            <a:pathLst>
              <a:path w="5236832" h="728247">
                <a:moveTo>
                  <a:pt x="0" y="0"/>
                </a:moveTo>
                <a:lnTo>
                  <a:pt x="5236832" y="0"/>
                </a:lnTo>
                <a:lnTo>
                  <a:pt x="5236832" y="728247"/>
                </a:lnTo>
                <a:lnTo>
                  <a:pt x="0" y="728247"/>
                </a:lnTo>
                <a:lnTo>
                  <a:pt x="0" y="0"/>
                </a:lnTo>
                <a:close/>
              </a:path>
            </a:pathLst>
          </a:custGeom>
          <a:solidFill>
            <a:srgbClr val="FFFFFF"/>
          </a:solidFill>
          <a:ln w="12700">
            <a:solidFill>
              <a:srgbClr val="E5E7EB"/>
            </a:solidFill>
            <a:prstDash val="solid"/>
          </a:ln>
        </p:spPr>
      </p:sp>
      <p:sp>
        <p:nvSpPr>
          <p:cNvPr id="41" name="Shape 39"/>
          <p:cNvSpPr/>
          <p:nvPr/>
        </p:nvSpPr>
        <p:spPr>
          <a:xfrm>
            <a:off x="6569565" y="2642964"/>
            <a:ext cx="147286" cy="130921"/>
          </a:xfrm>
          <a:custGeom>
            <a:avLst/>
            <a:gdLst/>
            <a:ahLst/>
            <a:cxnLst/>
            <a:rect l="l" t="t" r="r" b="b"/>
            <a:pathLst>
              <a:path w="147286" h="130921">
                <a:moveTo>
                  <a:pt x="73643" y="16365"/>
                </a:moveTo>
                <a:cubicBezTo>
                  <a:pt x="69127" y="16365"/>
                  <a:pt x="65460" y="20032"/>
                  <a:pt x="65460" y="24548"/>
                </a:cubicBezTo>
                <a:cubicBezTo>
                  <a:pt x="65460" y="29064"/>
                  <a:pt x="69127" y="32730"/>
                  <a:pt x="73643" y="32730"/>
                </a:cubicBezTo>
                <a:cubicBezTo>
                  <a:pt x="78159" y="32730"/>
                  <a:pt x="81826" y="29064"/>
                  <a:pt x="81826" y="24548"/>
                </a:cubicBezTo>
                <a:cubicBezTo>
                  <a:pt x="81826" y="20032"/>
                  <a:pt x="78159" y="16365"/>
                  <a:pt x="73643" y="16365"/>
                </a:cubicBezTo>
                <a:close/>
                <a:moveTo>
                  <a:pt x="49095" y="24548"/>
                </a:moveTo>
                <a:cubicBezTo>
                  <a:pt x="49095" y="10995"/>
                  <a:pt x="60091" y="0"/>
                  <a:pt x="73643" y="0"/>
                </a:cubicBezTo>
                <a:cubicBezTo>
                  <a:pt x="87195" y="0"/>
                  <a:pt x="98191" y="10995"/>
                  <a:pt x="98191" y="24548"/>
                </a:cubicBezTo>
                <a:cubicBezTo>
                  <a:pt x="98191" y="35236"/>
                  <a:pt x="91363" y="44339"/>
                  <a:pt x="81826" y="47689"/>
                </a:cubicBezTo>
                <a:lnTo>
                  <a:pt x="81826" y="113635"/>
                </a:lnTo>
                <a:cubicBezTo>
                  <a:pt x="97909" y="109979"/>
                  <a:pt x="110004" y="95813"/>
                  <a:pt x="110439" y="78731"/>
                </a:cubicBezTo>
                <a:lnTo>
                  <a:pt x="106322" y="82337"/>
                </a:lnTo>
                <a:cubicBezTo>
                  <a:pt x="103765" y="84562"/>
                  <a:pt x="99904" y="84306"/>
                  <a:pt x="97654" y="81749"/>
                </a:cubicBezTo>
                <a:cubicBezTo>
                  <a:pt x="95403" y="79192"/>
                  <a:pt x="95685" y="75331"/>
                  <a:pt x="98242" y="73080"/>
                </a:cubicBezTo>
                <a:lnTo>
                  <a:pt x="114607" y="58761"/>
                </a:lnTo>
                <a:cubicBezTo>
                  <a:pt x="116908" y="56741"/>
                  <a:pt x="120386" y="56741"/>
                  <a:pt x="122687" y="58761"/>
                </a:cubicBezTo>
                <a:lnTo>
                  <a:pt x="139052" y="73080"/>
                </a:lnTo>
                <a:cubicBezTo>
                  <a:pt x="141609" y="75305"/>
                  <a:pt x="141865" y="79192"/>
                  <a:pt x="139640" y="81749"/>
                </a:cubicBezTo>
                <a:cubicBezTo>
                  <a:pt x="137416" y="84306"/>
                  <a:pt x="133529" y="84562"/>
                  <a:pt x="130972" y="82337"/>
                </a:cubicBezTo>
                <a:lnTo>
                  <a:pt x="126830" y="78731"/>
                </a:lnTo>
                <a:cubicBezTo>
                  <a:pt x="126293" y="107652"/>
                  <a:pt x="102691" y="130921"/>
                  <a:pt x="73643" y="130921"/>
                </a:cubicBezTo>
                <a:cubicBezTo>
                  <a:pt x="44595" y="130921"/>
                  <a:pt x="20993" y="107652"/>
                  <a:pt x="20456" y="78731"/>
                </a:cubicBezTo>
                <a:lnTo>
                  <a:pt x="16314" y="82362"/>
                </a:lnTo>
                <a:cubicBezTo>
                  <a:pt x="13757" y="84587"/>
                  <a:pt x="9896" y="84331"/>
                  <a:pt x="7646" y="81774"/>
                </a:cubicBezTo>
                <a:cubicBezTo>
                  <a:pt x="5395" y="79217"/>
                  <a:pt x="5677" y="75356"/>
                  <a:pt x="8234" y="73106"/>
                </a:cubicBezTo>
                <a:lnTo>
                  <a:pt x="24599" y="58787"/>
                </a:lnTo>
                <a:cubicBezTo>
                  <a:pt x="26900" y="56766"/>
                  <a:pt x="30378" y="56766"/>
                  <a:pt x="32679" y="58787"/>
                </a:cubicBezTo>
                <a:lnTo>
                  <a:pt x="49044" y="73106"/>
                </a:lnTo>
                <a:cubicBezTo>
                  <a:pt x="51601" y="75331"/>
                  <a:pt x="51857" y="79217"/>
                  <a:pt x="49632" y="81774"/>
                </a:cubicBezTo>
                <a:cubicBezTo>
                  <a:pt x="47408" y="84331"/>
                  <a:pt x="43521" y="84587"/>
                  <a:pt x="40964" y="82362"/>
                </a:cubicBezTo>
                <a:lnTo>
                  <a:pt x="36847" y="78757"/>
                </a:lnTo>
                <a:cubicBezTo>
                  <a:pt x="37307" y="95838"/>
                  <a:pt x="49402" y="110004"/>
                  <a:pt x="65460" y="113661"/>
                </a:cubicBezTo>
                <a:lnTo>
                  <a:pt x="65460" y="47714"/>
                </a:lnTo>
                <a:cubicBezTo>
                  <a:pt x="55923" y="44339"/>
                  <a:pt x="49095" y="35262"/>
                  <a:pt x="49095" y="24573"/>
                </a:cubicBezTo>
                <a:close/>
              </a:path>
            </a:pathLst>
          </a:custGeom>
          <a:solidFill>
            <a:srgbClr val="8B0000"/>
          </a:solidFill>
          <a:ln/>
        </p:spPr>
      </p:sp>
      <p:sp>
        <p:nvSpPr>
          <p:cNvPr id="42" name="Text 40"/>
          <p:cNvSpPr/>
          <p:nvPr/>
        </p:nvSpPr>
        <p:spPr>
          <a:xfrm>
            <a:off x="6823224" y="2610234"/>
            <a:ext cx="1145557"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Roleset Grounding</a:t>
            </a:r>
            <a:endParaRPr lang="en-US" sz="1600" dirty="0"/>
          </a:p>
        </p:txBody>
      </p:sp>
      <p:sp>
        <p:nvSpPr>
          <p:cNvPr id="43" name="Text 41"/>
          <p:cNvSpPr/>
          <p:nvPr/>
        </p:nvSpPr>
        <p:spPr>
          <a:xfrm>
            <a:off x="6561383" y="2872075"/>
            <a:ext cx="5032268" cy="196381"/>
          </a:xfrm>
          <a:prstGeom prst="rect">
            <a:avLst/>
          </a:prstGeom>
          <a:noFill/>
          <a:ln/>
        </p:spPr>
        <p:txBody>
          <a:bodyPr wrap="square" lIns="0" tIns="0" rIns="0" bIns="0" rtlCol="0" anchor="ctr"/>
          <a:lstStyle/>
          <a:p>
            <a:pPr>
              <a:lnSpc>
                <a:spcPct val="130000"/>
              </a:lnSpc>
            </a:pPr>
            <a:r>
              <a:rPr lang="en-US" sz="1031" dirty="0">
                <a:solidFill>
                  <a:srgbClr val="6B7280"/>
                </a:solidFill>
                <a:latin typeface="Sorts Mill Goudy" pitchFamily="34" charset="0"/>
                <a:ea typeface="Sorts Mill Goudy" pitchFamily="34" charset="-122"/>
                <a:cs typeface="Sorts Mill Goudy" pitchFamily="34" charset="-120"/>
              </a:rPr>
              <a:t>Explicit inventory limits degrees of freedom</a:t>
            </a:r>
            <a:endParaRPr lang="en-US" sz="1600" dirty="0"/>
          </a:p>
        </p:txBody>
      </p:sp>
      <p:sp>
        <p:nvSpPr>
          <p:cNvPr id="44" name="Shape 42"/>
          <p:cNvSpPr/>
          <p:nvPr/>
        </p:nvSpPr>
        <p:spPr>
          <a:xfrm>
            <a:off x="6426370" y="3309842"/>
            <a:ext cx="5236832" cy="728247"/>
          </a:xfrm>
          <a:custGeom>
            <a:avLst/>
            <a:gdLst/>
            <a:ahLst/>
            <a:cxnLst/>
            <a:rect l="l" t="t" r="r" b="b"/>
            <a:pathLst>
              <a:path w="5236832" h="728247">
                <a:moveTo>
                  <a:pt x="0" y="0"/>
                </a:moveTo>
                <a:lnTo>
                  <a:pt x="5236832" y="0"/>
                </a:lnTo>
                <a:lnTo>
                  <a:pt x="5236832" y="728247"/>
                </a:lnTo>
                <a:lnTo>
                  <a:pt x="0" y="728247"/>
                </a:lnTo>
                <a:lnTo>
                  <a:pt x="0" y="0"/>
                </a:lnTo>
                <a:close/>
              </a:path>
            </a:pathLst>
          </a:custGeom>
          <a:solidFill>
            <a:srgbClr val="FFFFFF"/>
          </a:solidFill>
          <a:ln w="12700">
            <a:solidFill>
              <a:srgbClr val="E5E7EB"/>
            </a:solidFill>
            <a:prstDash val="solid"/>
          </a:ln>
        </p:spPr>
      </p:sp>
      <p:sp>
        <p:nvSpPr>
          <p:cNvPr id="45" name="Shape 43"/>
          <p:cNvSpPr/>
          <p:nvPr/>
        </p:nvSpPr>
        <p:spPr>
          <a:xfrm>
            <a:off x="6585930" y="3477584"/>
            <a:ext cx="114556" cy="130921"/>
          </a:xfrm>
          <a:custGeom>
            <a:avLst/>
            <a:gdLst/>
            <a:ahLst/>
            <a:cxnLst/>
            <a:rect l="l" t="t" r="r" b="b"/>
            <a:pathLst>
              <a:path w="114556" h="130921">
                <a:moveTo>
                  <a:pt x="73643" y="0"/>
                </a:moveTo>
                <a:lnTo>
                  <a:pt x="32730" y="0"/>
                </a:lnTo>
                <a:cubicBezTo>
                  <a:pt x="28204" y="0"/>
                  <a:pt x="24548" y="3657"/>
                  <a:pt x="24548" y="8183"/>
                </a:cubicBezTo>
                <a:cubicBezTo>
                  <a:pt x="24548" y="12709"/>
                  <a:pt x="28204" y="16365"/>
                  <a:pt x="32730" y="16365"/>
                </a:cubicBezTo>
                <a:lnTo>
                  <a:pt x="32730" y="55104"/>
                </a:lnTo>
                <a:lnTo>
                  <a:pt x="1918" y="109007"/>
                </a:lnTo>
                <a:cubicBezTo>
                  <a:pt x="665" y="111232"/>
                  <a:pt x="0" y="113712"/>
                  <a:pt x="0" y="116269"/>
                </a:cubicBezTo>
                <a:cubicBezTo>
                  <a:pt x="0" y="124375"/>
                  <a:pt x="6546" y="130921"/>
                  <a:pt x="14652" y="130921"/>
                </a:cubicBezTo>
                <a:lnTo>
                  <a:pt x="99904" y="130921"/>
                </a:lnTo>
                <a:cubicBezTo>
                  <a:pt x="107984" y="130921"/>
                  <a:pt x="114556" y="124375"/>
                  <a:pt x="114556" y="116269"/>
                </a:cubicBezTo>
                <a:cubicBezTo>
                  <a:pt x="114556" y="113712"/>
                  <a:pt x="113891" y="111206"/>
                  <a:pt x="112638" y="109007"/>
                </a:cubicBezTo>
                <a:lnTo>
                  <a:pt x="81826" y="55104"/>
                </a:lnTo>
                <a:lnTo>
                  <a:pt x="81826" y="16365"/>
                </a:lnTo>
                <a:cubicBezTo>
                  <a:pt x="86351" y="16365"/>
                  <a:pt x="90008" y="12709"/>
                  <a:pt x="90008" y="8183"/>
                </a:cubicBezTo>
                <a:cubicBezTo>
                  <a:pt x="90008" y="3657"/>
                  <a:pt x="86351" y="0"/>
                  <a:pt x="81826" y="0"/>
                </a:cubicBezTo>
                <a:lnTo>
                  <a:pt x="73643" y="0"/>
                </a:lnTo>
                <a:close/>
                <a:moveTo>
                  <a:pt x="49095" y="55104"/>
                </a:moveTo>
                <a:lnTo>
                  <a:pt x="49095" y="16365"/>
                </a:lnTo>
                <a:lnTo>
                  <a:pt x="65460" y="16365"/>
                </a:lnTo>
                <a:lnTo>
                  <a:pt x="65460" y="55104"/>
                </a:lnTo>
                <a:cubicBezTo>
                  <a:pt x="65460" y="57943"/>
                  <a:pt x="66202" y="60755"/>
                  <a:pt x="67608" y="63236"/>
                </a:cubicBezTo>
                <a:lnTo>
                  <a:pt x="78246" y="81826"/>
                </a:lnTo>
                <a:lnTo>
                  <a:pt x="36310" y="81826"/>
                </a:lnTo>
                <a:lnTo>
                  <a:pt x="46947" y="63236"/>
                </a:lnTo>
                <a:cubicBezTo>
                  <a:pt x="48354" y="60755"/>
                  <a:pt x="49095" y="57968"/>
                  <a:pt x="49095" y="55104"/>
                </a:cubicBezTo>
                <a:close/>
              </a:path>
            </a:pathLst>
          </a:custGeom>
          <a:solidFill>
            <a:srgbClr val="8B0000"/>
          </a:solidFill>
          <a:ln/>
        </p:spPr>
      </p:sp>
      <p:sp>
        <p:nvSpPr>
          <p:cNvPr id="46" name="Text 44"/>
          <p:cNvSpPr/>
          <p:nvPr/>
        </p:nvSpPr>
        <p:spPr>
          <a:xfrm>
            <a:off x="6823224" y="3444854"/>
            <a:ext cx="1235565"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Research Practicality</a:t>
            </a:r>
            <a:endParaRPr lang="en-US" sz="1600" dirty="0"/>
          </a:p>
        </p:txBody>
      </p:sp>
      <p:sp>
        <p:nvSpPr>
          <p:cNvPr id="47" name="Text 45"/>
          <p:cNvSpPr/>
          <p:nvPr/>
        </p:nvSpPr>
        <p:spPr>
          <a:xfrm>
            <a:off x="6561383" y="3706695"/>
            <a:ext cx="5032268" cy="196381"/>
          </a:xfrm>
          <a:prstGeom prst="rect">
            <a:avLst/>
          </a:prstGeom>
          <a:noFill/>
          <a:ln/>
        </p:spPr>
        <p:txBody>
          <a:bodyPr wrap="square" lIns="0" tIns="0" rIns="0" bIns="0" rtlCol="0" anchor="ctr"/>
          <a:lstStyle/>
          <a:p>
            <a:pPr>
              <a:lnSpc>
                <a:spcPct val="130000"/>
              </a:lnSpc>
            </a:pPr>
            <a:r>
              <a:rPr lang="en-US" sz="1031" dirty="0">
                <a:solidFill>
                  <a:srgbClr val="6B7280"/>
                </a:solidFill>
                <a:latin typeface="Sorts Mill Goudy" pitchFamily="34" charset="0"/>
                <a:ea typeface="Sorts Mill Goudy" pitchFamily="34" charset="-122"/>
                <a:cs typeface="Sorts Mill Goudy" pitchFamily="34" charset="-120"/>
              </a:rPr>
              <a:t>No need to retrain giant models end-to-end</a:t>
            </a:r>
            <a:endParaRPr lang="en-US" sz="1600" dirty="0"/>
          </a:p>
        </p:txBody>
      </p:sp>
      <p:sp>
        <p:nvSpPr>
          <p:cNvPr id="48" name="Shape 46"/>
          <p:cNvSpPr/>
          <p:nvPr/>
        </p:nvSpPr>
        <p:spPr>
          <a:xfrm>
            <a:off x="6426370" y="4144462"/>
            <a:ext cx="5236832" cy="728247"/>
          </a:xfrm>
          <a:custGeom>
            <a:avLst/>
            <a:gdLst/>
            <a:ahLst/>
            <a:cxnLst/>
            <a:rect l="l" t="t" r="r" b="b"/>
            <a:pathLst>
              <a:path w="5236832" h="728247">
                <a:moveTo>
                  <a:pt x="0" y="0"/>
                </a:moveTo>
                <a:lnTo>
                  <a:pt x="5236832" y="0"/>
                </a:lnTo>
                <a:lnTo>
                  <a:pt x="5236832" y="728247"/>
                </a:lnTo>
                <a:lnTo>
                  <a:pt x="0" y="728247"/>
                </a:lnTo>
                <a:lnTo>
                  <a:pt x="0" y="0"/>
                </a:lnTo>
                <a:close/>
              </a:path>
            </a:pathLst>
          </a:custGeom>
          <a:solidFill>
            <a:srgbClr val="FFFFFF"/>
          </a:solidFill>
          <a:ln w="12700">
            <a:solidFill>
              <a:srgbClr val="E5E7EB"/>
            </a:solidFill>
            <a:prstDash val="solid"/>
          </a:ln>
        </p:spPr>
      </p:sp>
      <p:sp>
        <p:nvSpPr>
          <p:cNvPr id="49" name="Shape 47"/>
          <p:cNvSpPr/>
          <p:nvPr/>
        </p:nvSpPr>
        <p:spPr>
          <a:xfrm>
            <a:off x="6569565" y="4312204"/>
            <a:ext cx="147286" cy="130921"/>
          </a:xfrm>
          <a:custGeom>
            <a:avLst/>
            <a:gdLst/>
            <a:ahLst/>
            <a:cxnLst/>
            <a:rect l="l" t="t" r="r" b="b"/>
            <a:pathLst>
              <a:path w="147286" h="130921">
                <a:moveTo>
                  <a:pt x="98191" y="36821"/>
                </a:moveTo>
                <a:cubicBezTo>
                  <a:pt x="98191" y="61676"/>
                  <a:pt x="76200" y="81826"/>
                  <a:pt x="49095" y="81826"/>
                </a:cubicBezTo>
                <a:cubicBezTo>
                  <a:pt x="42268" y="81826"/>
                  <a:pt x="35773" y="80547"/>
                  <a:pt x="29866" y="78246"/>
                </a:cubicBezTo>
                <a:lnTo>
                  <a:pt x="9001" y="89292"/>
                </a:lnTo>
                <a:cubicBezTo>
                  <a:pt x="6623" y="90545"/>
                  <a:pt x="3708" y="90110"/>
                  <a:pt x="1790" y="88218"/>
                </a:cubicBezTo>
                <a:cubicBezTo>
                  <a:pt x="-128" y="86326"/>
                  <a:pt x="-563" y="83385"/>
                  <a:pt x="716" y="81007"/>
                </a:cubicBezTo>
                <a:lnTo>
                  <a:pt x="9819" y="63824"/>
                </a:lnTo>
                <a:cubicBezTo>
                  <a:pt x="3657" y="56306"/>
                  <a:pt x="0" y="46947"/>
                  <a:pt x="0" y="36821"/>
                </a:cubicBezTo>
                <a:cubicBezTo>
                  <a:pt x="0" y="11967"/>
                  <a:pt x="21991" y="-8183"/>
                  <a:pt x="49095" y="-8183"/>
                </a:cubicBezTo>
                <a:cubicBezTo>
                  <a:pt x="76200" y="-8183"/>
                  <a:pt x="98191" y="11967"/>
                  <a:pt x="98191" y="36821"/>
                </a:cubicBezTo>
                <a:close/>
                <a:moveTo>
                  <a:pt x="98191" y="130921"/>
                </a:moveTo>
                <a:cubicBezTo>
                  <a:pt x="74129" y="130921"/>
                  <a:pt x="54107" y="115042"/>
                  <a:pt x="49914" y="94099"/>
                </a:cubicBezTo>
                <a:cubicBezTo>
                  <a:pt x="80598" y="93716"/>
                  <a:pt x="107268" y="71879"/>
                  <a:pt x="110209" y="42268"/>
                </a:cubicBezTo>
                <a:cubicBezTo>
                  <a:pt x="131509" y="47178"/>
                  <a:pt x="147286" y="64847"/>
                  <a:pt x="147286" y="85917"/>
                </a:cubicBezTo>
                <a:cubicBezTo>
                  <a:pt x="147286" y="96043"/>
                  <a:pt x="143629" y="105401"/>
                  <a:pt x="137467" y="112919"/>
                </a:cubicBezTo>
                <a:lnTo>
                  <a:pt x="146570" y="130103"/>
                </a:lnTo>
                <a:cubicBezTo>
                  <a:pt x="147823" y="132481"/>
                  <a:pt x="147388" y="135396"/>
                  <a:pt x="145496" y="137313"/>
                </a:cubicBezTo>
                <a:cubicBezTo>
                  <a:pt x="143604" y="139231"/>
                  <a:pt x="140663" y="139666"/>
                  <a:pt x="138285" y="138387"/>
                </a:cubicBezTo>
                <a:lnTo>
                  <a:pt x="117420" y="127341"/>
                </a:lnTo>
                <a:cubicBezTo>
                  <a:pt x="111513" y="129642"/>
                  <a:pt x="105018" y="130921"/>
                  <a:pt x="98191" y="130921"/>
                </a:cubicBezTo>
                <a:close/>
              </a:path>
            </a:pathLst>
          </a:custGeom>
          <a:solidFill>
            <a:srgbClr val="8B0000"/>
          </a:solidFill>
          <a:ln/>
        </p:spPr>
      </p:sp>
      <p:sp>
        <p:nvSpPr>
          <p:cNvPr id="50" name="Text 48"/>
          <p:cNvSpPr/>
          <p:nvPr/>
        </p:nvSpPr>
        <p:spPr>
          <a:xfrm>
            <a:off x="6823224" y="4279474"/>
            <a:ext cx="1268295"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Natural Explanations</a:t>
            </a:r>
            <a:endParaRPr lang="en-US" sz="1600" dirty="0"/>
          </a:p>
        </p:txBody>
      </p:sp>
      <p:sp>
        <p:nvSpPr>
          <p:cNvPr id="51" name="Text 49"/>
          <p:cNvSpPr/>
          <p:nvPr/>
        </p:nvSpPr>
        <p:spPr>
          <a:xfrm>
            <a:off x="6561383" y="4541315"/>
            <a:ext cx="5032268" cy="196381"/>
          </a:xfrm>
          <a:prstGeom prst="rect">
            <a:avLst/>
          </a:prstGeom>
          <a:noFill/>
          <a:ln/>
        </p:spPr>
        <p:txBody>
          <a:bodyPr wrap="square" lIns="0" tIns="0" rIns="0" bIns="0" rtlCol="0" anchor="ctr"/>
          <a:lstStyle/>
          <a:p>
            <a:pPr>
              <a:lnSpc>
                <a:spcPct val="130000"/>
              </a:lnSpc>
            </a:pPr>
            <a:r>
              <a:rPr lang="en-US" sz="1031" dirty="0">
                <a:solidFill>
                  <a:srgbClr val="6B7280"/>
                </a:solidFill>
                <a:latin typeface="Sorts Mill Goudy" pitchFamily="34" charset="0"/>
                <a:ea typeface="Sorts Mill Goudy" pitchFamily="34" charset="-122"/>
                <a:cs typeface="Sorts Mill Goudy" pitchFamily="34" charset="-120"/>
              </a:rPr>
              <a:t>LLM verbalizes reasoning over explicit structure</a:t>
            </a:r>
            <a:endParaRPr lang="en-US" sz="1600" dirty="0"/>
          </a:p>
        </p:txBody>
      </p:sp>
      <p:sp>
        <p:nvSpPr>
          <p:cNvPr id="52" name="Shape 50"/>
          <p:cNvSpPr/>
          <p:nvPr/>
        </p:nvSpPr>
        <p:spPr>
          <a:xfrm>
            <a:off x="6229989" y="5273654"/>
            <a:ext cx="5629595" cy="1579232"/>
          </a:xfrm>
          <a:custGeom>
            <a:avLst/>
            <a:gdLst/>
            <a:ahLst/>
            <a:cxnLst/>
            <a:rect l="l" t="t" r="r" b="b"/>
            <a:pathLst>
              <a:path w="5629595" h="1579232">
                <a:moveTo>
                  <a:pt x="0" y="0"/>
                </a:moveTo>
                <a:lnTo>
                  <a:pt x="5629595" y="0"/>
                </a:lnTo>
                <a:lnTo>
                  <a:pt x="5629595" y="1579232"/>
                </a:lnTo>
                <a:lnTo>
                  <a:pt x="0" y="1579232"/>
                </a:lnTo>
                <a:lnTo>
                  <a:pt x="0" y="0"/>
                </a:lnTo>
                <a:close/>
              </a:path>
            </a:pathLst>
          </a:custGeom>
          <a:solidFill>
            <a:srgbClr val="8B0000">
              <a:alpha val="5098"/>
            </a:srgbClr>
          </a:solidFill>
          <a:ln w="12700">
            <a:solidFill>
              <a:srgbClr val="8B0000">
                <a:alpha val="20000"/>
              </a:srgbClr>
            </a:solidFill>
            <a:prstDash val="solid"/>
          </a:ln>
        </p:spPr>
      </p:sp>
      <p:sp>
        <p:nvSpPr>
          <p:cNvPr id="53" name="Text 51"/>
          <p:cNvSpPr/>
          <p:nvPr/>
        </p:nvSpPr>
        <p:spPr>
          <a:xfrm>
            <a:off x="6430462" y="5474126"/>
            <a:ext cx="5302293" cy="229111"/>
          </a:xfrm>
          <a:prstGeom prst="rect">
            <a:avLst/>
          </a:prstGeom>
          <a:noFill/>
          <a:ln/>
        </p:spPr>
        <p:txBody>
          <a:bodyPr wrap="square" lIns="0" tIns="0" rIns="0" bIns="0" rtlCol="0" anchor="ctr"/>
          <a:lstStyle/>
          <a:p>
            <a:pPr>
              <a:lnSpc>
                <a:spcPct val="130000"/>
              </a:lnSpc>
            </a:pPr>
            <a:r>
              <a:rPr lang="en-US" sz="1160" b="1" dirty="0">
                <a:solidFill>
                  <a:srgbClr val="1F2937"/>
                </a:solidFill>
                <a:latin typeface="Sorts Mill Goudy" pitchFamily="34" charset="0"/>
                <a:ea typeface="Sorts Mill Goudy" pitchFamily="34" charset="-122"/>
                <a:cs typeface="Sorts Mill Goudy" pitchFamily="34" charset="-120"/>
              </a:rPr>
              <a:t>Implementation Note</a:t>
            </a:r>
            <a:endParaRPr lang="en-US" sz="1600" dirty="0"/>
          </a:p>
        </p:txBody>
      </p:sp>
      <p:sp>
        <p:nvSpPr>
          <p:cNvPr id="54" name="Text 52"/>
          <p:cNvSpPr/>
          <p:nvPr/>
        </p:nvSpPr>
        <p:spPr>
          <a:xfrm>
            <a:off x="6430462" y="5801428"/>
            <a:ext cx="5294110" cy="850985"/>
          </a:xfrm>
          <a:prstGeom prst="rect">
            <a:avLst/>
          </a:prstGeom>
          <a:noFill/>
          <a:ln/>
        </p:spPr>
        <p:txBody>
          <a:bodyPr wrap="square" lIns="0" tIns="0" rIns="0" bIns="0" rtlCol="0" anchor="ctr"/>
          <a:lstStyle/>
          <a:p>
            <a:pPr>
              <a:lnSpc>
                <a:spcPct val="140000"/>
              </a:lnSpc>
            </a:pPr>
            <a:r>
              <a:rPr lang="en-US" sz="1031" dirty="0">
                <a:solidFill>
                  <a:srgbClr val="1F2937"/>
                </a:solidFill>
                <a:latin typeface="Sorts Mill Goudy" pitchFamily="34" charset="0"/>
                <a:ea typeface="Sorts Mill Goudy" pitchFamily="34" charset="-122"/>
                <a:cs typeface="Sorts Mill Goudy" pitchFamily="34" charset="-120"/>
              </a:rPr>
              <a:t>In the upgraded implementation, this is realized as a </a:t>
            </a:r>
            <a:r>
              <a:rPr lang="en-US" sz="1031" b="1" dirty="0">
                <a:solidFill>
                  <a:srgbClr val="1F2937"/>
                </a:solidFill>
                <a:latin typeface="Sorts Mill Goudy" pitchFamily="34" charset="0"/>
                <a:ea typeface="Sorts Mill Goudy" pitchFamily="34" charset="-122"/>
                <a:cs typeface="Sorts Mill Goudy" pitchFamily="34" charset="-120"/>
              </a:rPr>
              <a:t>deterministic hybrid inference layer</a:t>
            </a:r>
            <a:r>
              <a:rPr lang="en-US" sz="1031" dirty="0">
                <a:solidFill>
                  <a:srgbClr val="1F2937"/>
                </a:solidFill>
                <a:latin typeface="Sorts Mill Goudy" pitchFamily="34" charset="0"/>
                <a:ea typeface="Sorts Mill Goudy" pitchFamily="34" charset="-122"/>
                <a:cs typeface="Sorts Mill Goudy" pitchFamily="34" charset="-120"/>
              </a:rPr>
              <a:t> rather than generative replacement. PropQA-Net remains the backbone while role-aware heuristics, transformer QA spans, and semantic reranking are combined into a research-facing system.</a:t>
            </a:r>
            <a:endParaRPr lang="en-US" sz="1600" dirty="0"/>
          </a:p>
        </p:txBody>
      </p:sp>
    </p:spTree>
    <p:extLst>
      <p:ext uri="{BB962C8B-B14F-4D97-AF65-F5344CB8AC3E}">
        <p14:creationId xmlns:p14="http://schemas.microsoft.com/office/powerpoint/2010/main" val="27244207"/>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5382" y="345382"/>
            <a:ext cx="11561677" cy="172691"/>
          </a:xfrm>
          <a:prstGeom prst="rect">
            <a:avLst/>
          </a:prstGeom>
          <a:noFill/>
          <a:ln/>
        </p:spPr>
        <p:txBody>
          <a:bodyPr wrap="square" lIns="0" tIns="0" rIns="0" bIns="0" rtlCol="0" anchor="ctr"/>
          <a:lstStyle/>
          <a:p>
            <a:pPr>
              <a:lnSpc>
                <a:spcPct val="120000"/>
              </a:lnSpc>
            </a:pPr>
            <a:r>
              <a:rPr lang="en-US" sz="952" b="1" kern="0" spc="48" dirty="0">
                <a:solidFill>
                  <a:srgbClr val="8B0000"/>
                </a:solidFill>
                <a:latin typeface="Sorts Mill Goudy" pitchFamily="34" charset="0"/>
                <a:ea typeface="Sorts Mill Goudy" pitchFamily="34" charset="-122"/>
                <a:cs typeface="Sorts Mill Goudy" pitchFamily="34" charset="-120"/>
              </a:rPr>
              <a:t>6.1 EXPERIMENTAL RESULTS</a:t>
            </a:r>
            <a:endParaRPr lang="en-US" sz="1600" dirty="0"/>
          </a:p>
        </p:txBody>
      </p:sp>
      <p:sp>
        <p:nvSpPr>
          <p:cNvPr id="3" name="Text 1"/>
          <p:cNvSpPr/>
          <p:nvPr/>
        </p:nvSpPr>
        <p:spPr>
          <a:xfrm>
            <a:off x="345382" y="587150"/>
            <a:ext cx="11656657" cy="345382"/>
          </a:xfrm>
          <a:prstGeom prst="rect">
            <a:avLst/>
          </a:prstGeom>
          <a:noFill/>
          <a:ln/>
        </p:spPr>
        <p:txBody>
          <a:bodyPr wrap="square" lIns="0" tIns="0" rIns="0" bIns="0" rtlCol="0" anchor="ctr"/>
          <a:lstStyle/>
          <a:p>
            <a:pPr>
              <a:lnSpc>
                <a:spcPct val="90000"/>
              </a:lnSpc>
            </a:pPr>
            <a:r>
              <a:rPr lang="en-US" sz="2448" b="1" dirty="0">
                <a:solidFill>
                  <a:srgbClr val="1F2937"/>
                </a:solidFill>
                <a:latin typeface="Sorts Mill Goudy" pitchFamily="34" charset="0"/>
                <a:ea typeface="Sorts Mill Goudy" pitchFamily="34" charset="-122"/>
                <a:cs typeface="Sorts Mill Goudy" pitchFamily="34" charset="-120"/>
              </a:rPr>
              <a:t>Overall Performance Metrics</a:t>
            </a:r>
            <a:endParaRPr lang="en-US" sz="1600" dirty="0"/>
          </a:p>
        </p:txBody>
      </p:sp>
      <p:sp>
        <p:nvSpPr>
          <p:cNvPr id="4" name="Shape 2"/>
          <p:cNvSpPr/>
          <p:nvPr/>
        </p:nvSpPr>
        <p:spPr>
          <a:xfrm>
            <a:off x="345382" y="1139762"/>
            <a:ext cx="5612465" cy="3868283"/>
          </a:xfrm>
          <a:custGeom>
            <a:avLst/>
            <a:gdLst/>
            <a:ahLst/>
            <a:cxnLst/>
            <a:rect l="l" t="t" r="r" b="b"/>
            <a:pathLst>
              <a:path w="5612465" h="3868283">
                <a:moveTo>
                  <a:pt x="0" y="0"/>
                </a:moveTo>
                <a:lnTo>
                  <a:pt x="5612465" y="0"/>
                </a:lnTo>
                <a:lnTo>
                  <a:pt x="5612465" y="3868283"/>
                </a:lnTo>
                <a:lnTo>
                  <a:pt x="0" y="3868283"/>
                </a:lnTo>
                <a:lnTo>
                  <a:pt x="0" y="0"/>
                </a:lnTo>
                <a:close/>
              </a:path>
            </a:pathLst>
          </a:custGeom>
          <a:solidFill>
            <a:srgbClr val="F9FAFB"/>
          </a:solidFill>
          <a:ln/>
        </p:spPr>
      </p:sp>
      <p:sp>
        <p:nvSpPr>
          <p:cNvPr id="5" name="Text 3"/>
          <p:cNvSpPr/>
          <p:nvPr/>
        </p:nvSpPr>
        <p:spPr>
          <a:xfrm>
            <a:off x="552612" y="1346992"/>
            <a:ext cx="5284351" cy="241768"/>
          </a:xfrm>
          <a:prstGeom prst="rect">
            <a:avLst/>
          </a:prstGeom>
          <a:noFill/>
          <a:ln/>
        </p:spPr>
        <p:txBody>
          <a:bodyPr wrap="square" lIns="0" tIns="0" rIns="0" bIns="0" rtlCol="0" anchor="ctr"/>
          <a:lstStyle/>
          <a:p>
            <a:pPr>
              <a:lnSpc>
                <a:spcPct val="120000"/>
              </a:lnSpc>
            </a:pPr>
            <a:r>
              <a:rPr lang="en-US" sz="1360" b="1" dirty="0">
                <a:solidFill>
                  <a:srgbClr val="1F2937"/>
                </a:solidFill>
                <a:latin typeface="Sorts Mill Goudy" pitchFamily="34" charset="0"/>
                <a:ea typeface="Sorts Mill Goudy" pitchFamily="34" charset="-122"/>
                <a:cs typeface="Sorts Mill Goudy" pitchFamily="34" charset="-120"/>
              </a:rPr>
              <a:t>SRL Performance</a:t>
            </a:r>
            <a:endParaRPr lang="en-US" sz="1600" dirty="0"/>
          </a:p>
        </p:txBody>
      </p:sp>
      <p:sp>
        <p:nvSpPr>
          <p:cNvPr id="6" name="Shape 4"/>
          <p:cNvSpPr/>
          <p:nvPr/>
        </p:nvSpPr>
        <p:spPr>
          <a:xfrm>
            <a:off x="556929" y="1731229"/>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7" name="Text 5"/>
          <p:cNvSpPr/>
          <p:nvPr/>
        </p:nvSpPr>
        <p:spPr>
          <a:xfrm>
            <a:off x="699399" y="1873700"/>
            <a:ext cx="897994"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Macro F1</a:t>
            </a:r>
            <a:endParaRPr lang="en-US" sz="1600" dirty="0"/>
          </a:p>
        </p:txBody>
      </p:sp>
      <p:sp>
        <p:nvSpPr>
          <p:cNvPr id="8" name="Text 6"/>
          <p:cNvSpPr/>
          <p:nvPr/>
        </p:nvSpPr>
        <p:spPr>
          <a:xfrm>
            <a:off x="699399" y="2080929"/>
            <a:ext cx="889360"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Per-role average</a:t>
            </a:r>
            <a:endParaRPr lang="en-US" sz="1600" dirty="0"/>
          </a:p>
        </p:txBody>
      </p:sp>
      <p:sp>
        <p:nvSpPr>
          <p:cNvPr id="9" name="Text 7"/>
          <p:cNvSpPr/>
          <p:nvPr/>
        </p:nvSpPr>
        <p:spPr>
          <a:xfrm>
            <a:off x="5061337" y="1908238"/>
            <a:ext cx="673496"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0.162</a:t>
            </a:r>
            <a:endParaRPr lang="en-US" sz="1600" dirty="0"/>
          </a:p>
        </p:txBody>
      </p:sp>
      <p:sp>
        <p:nvSpPr>
          <p:cNvPr id="10" name="Shape 8"/>
          <p:cNvSpPr/>
          <p:nvPr/>
        </p:nvSpPr>
        <p:spPr>
          <a:xfrm>
            <a:off x="556929" y="2508340"/>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11" name="Text 9"/>
          <p:cNvSpPr/>
          <p:nvPr/>
        </p:nvSpPr>
        <p:spPr>
          <a:xfrm>
            <a:off x="699399" y="2650810"/>
            <a:ext cx="1174300"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Micro F1</a:t>
            </a:r>
            <a:endParaRPr lang="en-US" sz="1600" dirty="0"/>
          </a:p>
        </p:txBody>
      </p:sp>
      <p:sp>
        <p:nvSpPr>
          <p:cNvPr id="12" name="Text 10"/>
          <p:cNvSpPr/>
          <p:nvPr/>
        </p:nvSpPr>
        <p:spPr>
          <a:xfrm>
            <a:off x="699399" y="2858040"/>
            <a:ext cx="1165666"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Token-level accuracy</a:t>
            </a:r>
            <a:endParaRPr lang="en-US" sz="1600" dirty="0"/>
          </a:p>
        </p:txBody>
      </p:sp>
      <p:sp>
        <p:nvSpPr>
          <p:cNvPr id="13" name="Text 11"/>
          <p:cNvSpPr/>
          <p:nvPr/>
        </p:nvSpPr>
        <p:spPr>
          <a:xfrm>
            <a:off x="5076987" y="2685348"/>
            <a:ext cx="656227"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0.713</a:t>
            </a:r>
            <a:endParaRPr lang="en-US" sz="1600" dirty="0"/>
          </a:p>
        </p:txBody>
      </p:sp>
      <p:sp>
        <p:nvSpPr>
          <p:cNvPr id="14" name="Shape 12"/>
          <p:cNvSpPr/>
          <p:nvPr/>
        </p:nvSpPr>
        <p:spPr>
          <a:xfrm>
            <a:off x="556929" y="3285450"/>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15" name="Text 13"/>
          <p:cNvSpPr/>
          <p:nvPr/>
        </p:nvSpPr>
        <p:spPr>
          <a:xfrm>
            <a:off x="699399" y="3427921"/>
            <a:ext cx="1424703"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BIO Tagging Accuracy</a:t>
            </a:r>
            <a:endParaRPr lang="en-US" sz="1600" dirty="0"/>
          </a:p>
        </p:txBody>
      </p:sp>
      <p:sp>
        <p:nvSpPr>
          <p:cNvPr id="16" name="Text 14"/>
          <p:cNvSpPr/>
          <p:nvPr/>
        </p:nvSpPr>
        <p:spPr>
          <a:xfrm>
            <a:off x="699399" y="3635150"/>
            <a:ext cx="1416068"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Sequence labeling</a:t>
            </a:r>
            <a:endParaRPr lang="en-US" sz="1600" dirty="0"/>
          </a:p>
        </p:txBody>
      </p:sp>
      <p:sp>
        <p:nvSpPr>
          <p:cNvPr id="17" name="Text 15"/>
          <p:cNvSpPr/>
          <p:nvPr/>
        </p:nvSpPr>
        <p:spPr>
          <a:xfrm>
            <a:off x="5053107" y="3462459"/>
            <a:ext cx="682130"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0.816</a:t>
            </a:r>
            <a:endParaRPr lang="en-US" sz="1600" dirty="0"/>
          </a:p>
        </p:txBody>
      </p:sp>
      <p:sp>
        <p:nvSpPr>
          <p:cNvPr id="18" name="Shape 16"/>
          <p:cNvSpPr/>
          <p:nvPr/>
        </p:nvSpPr>
        <p:spPr>
          <a:xfrm>
            <a:off x="556929" y="4097099"/>
            <a:ext cx="5189371" cy="699399"/>
          </a:xfrm>
          <a:custGeom>
            <a:avLst/>
            <a:gdLst/>
            <a:ahLst/>
            <a:cxnLst/>
            <a:rect l="l" t="t" r="r" b="b"/>
            <a:pathLst>
              <a:path w="5189371" h="699399">
                <a:moveTo>
                  <a:pt x="0" y="0"/>
                </a:moveTo>
                <a:lnTo>
                  <a:pt x="5189371" y="0"/>
                </a:lnTo>
                <a:lnTo>
                  <a:pt x="5189371" y="699399"/>
                </a:lnTo>
                <a:lnTo>
                  <a:pt x="0" y="699399"/>
                </a:lnTo>
                <a:lnTo>
                  <a:pt x="0" y="0"/>
                </a:lnTo>
                <a:close/>
              </a:path>
            </a:pathLst>
          </a:custGeom>
          <a:solidFill>
            <a:srgbClr val="8B0000">
              <a:alpha val="5098"/>
            </a:srgbClr>
          </a:solidFill>
          <a:ln w="12700">
            <a:solidFill>
              <a:srgbClr val="8B0000">
                <a:alpha val="20000"/>
              </a:srgbClr>
            </a:solidFill>
            <a:prstDash val="solid"/>
          </a:ln>
        </p:spPr>
      </p:sp>
      <p:sp>
        <p:nvSpPr>
          <p:cNvPr id="19" name="Text 17"/>
          <p:cNvSpPr/>
          <p:nvPr/>
        </p:nvSpPr>
        <p:spPr>
          <a:xfrm>
            <a:off x="699399" y="4239569"/>
            <a:ext cx="4973507" cy="41445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Observation:</a:t>
            </a:r>
            <a:r>
              <a:rPr lang="en-US" sz="1088" dirty="0">
                <a:solidFill>
                  <a:srgbClr val="1F2937"/>
                </a:solidFill>
                <a:latin typeface="Sorts Mill Goudy" pitchFamily="34" charset="0"/>
                <a:ea typeface="Sorts Mill Goudy" pitchFamily="34" charset="-122"/>
                <a:cs typeface="Sorts Mill Goudy" pitchFamily="34" charset="-120"/>
              </a:rPr>
              <a:t> Large gap between macro and micro F1 indicates role frequency imbalance—frequent core arguments are easier than rare roles.</a:t>
            </a:r>
            <a:endParaRPr lang="en-US" sz="1600" dirty="0"/>
          </a:p>
        </p:txBody>
      </p:sp>
      <p:sp>
        <p:nvSpPr>
          <p:cNvPr id="20" name="Shape 18"/>
          <p:cNvSpPr/>
          <p:nvPr/>
        </p:nvSpPr>
        <p:spPr>
          <a:xfrm>
            <a:off x="6232129" y="1139762"/>
            <a:ext cx="5612465" cy="3868283"/>
          </a:xfrm>
          <a:custGeom>
            <a:avLst/>
            <a:gdLst/>
            <a:ahLst/>
            <a:cxnLst/>
            <a:rect l="l" t="t" r="r" b="b"/>
            <a:pathLst>
              <a:path w="5612465" h="3868283">
                <a:moveTo>
                  <a:pt x="0" y="0"/>
                </a:moveTo>
                <a:lnTo>
                  <a:pt x="5612465" y="0"/>
                </a:lnTo>
                <a:lnTo>
                  <a:pt x="5612465" y="3868283"/>
                </a:lnTo>
                <a:lnTo>
                  <a:pt x="0" y="3868283"/>
                </a:lnTo>
                <a:lnTo>
                  <a:pt x="0" y="0"/>
                </a:lnTo>
                <a:close/>
              </a:path>
            </a:pathLst>
          </a:custGeom>
          <a:solidFill>
            <a:srgbClr val="F9FAFB"/>
          </a:solidFill>
          <a:ln/>
        </p:spPr>
      </p:sp>
      <p:sp>
        <p:nvSpPr>
          <p:cNvPr id="21" name="Text 19"/>
          <p:cNvSpPr/>
          <p:nvPr/>
        </p:nvSpPr>
        <p:spPr>
          <a:xfrm>
            <a:off x="6439359" y="1346992"/>
            <a:ext cx="5284351" cy="241768"/>
          </a:xfrm>
          <a:prstGeom prst="rect">
            <a:avLst/>
          </a:prstGeom>
          <a:noFill/>
          <a:ln/>
        </p:spPr>
        <p:txBody>
          <a:bodyPr wrap="square" lIns="0" tIns="0" rIns="0" bIns="0" rtlCol="0" anchor="ctr"/>
          <a:lstStyle/>
          <a:p>
            <a:pPr>
              <a:lnSpc>
                <a:spcPct val="120000"/>
              </a:lnSpc>
            </a:pPr>
            <a:r>
              <a:rPr lang="en-US" sz="1360" b="1" dirty="0">
                <a:solidFill>
                  <a:srgbClr val="1F2937"/>
                </a:solidFill>
                <a:latin typeface="Sorts Mill Goudy" pitchFamily="34" charset="0"/>
                <a:ea typeface="Sorts Mill Goudy" pitchFamily="34" charset="-122"/>
                <a:cs typeface="Sorts Mill Goudy" pitchFamily="34" charset="-120"/>
              </a:rPr>
              <a:t>QA Performance</a:t>
            </a:r>
            <a:endParaRPr lang="en-US" sz="1600" dirty="0"/>
          </a:p>
        </p:txBody>
      </p:sp>
      <p:sp>
        <p:nvSpPr>
          <p:cNvPr id="22" name="Shape 20"/>
          <p:cNvSpPr/>
          <p:nvPr/>
        </p:nvSpPr>
        <p:spPr>
          <a:xfrm>
            <a:off x="6443676" y="1731229"/>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23" name="Text 21"/>
          <p:cNvSpPr/>
          <p:nvPr/>
        </p:nvSpPr>
        <p:spPr>
          <a:xfrm>
            <a:off x="6586146" y="1873700"/>
            <a:ext cx="1139762"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Exact Match (EM)</a:t>
            </a:r>
            <a:endParaRPr lang="en-US" sz="1600" dirty="0"/>
          </a:p>
        </p:txBody>
      </p:sp>
      <p:sp>
        <p:nvSpPr>
          <p:cNvPr id="24" name="Text 22"/>
          <p:cNvSpPr/>
          <p:nvPr/>
        </p:nvSpPr>
        <p:spPr>
          <a:xfrm>
            <a:off x="6586146" y="2080929"/>
            <a:ext cx="1131127"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Perfect span match</a:t>
            </a:r>
            <a:endParaRPr lang="en-US" sz="1600" dirty="0"/>
          </a:p>
        </p:txBody>
      </p:sp>
      <p:sp>
        <p:nvSpPr>
          <p:cNvPr id="25" name="Text 23"/>
          <p:cNvSpPr/>
          <p:nvPr/>
        </p:nvSpPr>
        <p:spPr>
          <a:xfrm>
            <a:off x="10980193" y="1908238"/>
            <a:ext cx="638958"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0.518</a:t>
            </a:r>
            <a:endParaRPr lang="en-US" sz="1600" dirty="0"/>
          </a:p>
        </p:txBody>
      </p:sp>
      <p:sp>
        <p:nvSpPr>
          <p:cNvPr id="26" name="Shape 24"/>
          <p:cNvSpPr/>
          <p:nvPr/>
        </p:nvSpPr>
        <p:spPr>
          <a:xfrm>
            <a:off x="6443676" y="2508340"/>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27" name="Text 25"/>
          <p:cNvSpPr/>
          <p:nvPr/>
        </p:nvSpPr>
        <p:spPr>
          <a:xfrm>
            <a:off x="6586146" y="2650810"/>
            <a:ext cx="820283"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Token F1</a:t>
            </a:r>
            <a:endParaRPr lang="en-US" sz="1600" dirty="0"/>
          </a:p>
        </p:txBody>
      </p:sp>
      <p:sp>
        <p:nvSpPr>
          <p:cNvPr id="28" name="Text 26"/>
          <p:cNvSpPr/>
          <p:nvPr/>
        </p:nvSpPr>
        <p:spPr>
          <a:xfrm>
            <a:off x="6586146" y="2858040"/>
            <a:ext cx="811649"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Partial overlap</a:t>
            </a:r>
            <a:endParaRPr lang="en-US" sz="1600" dirty="0"/>
          </a:p>
        </p:txBody>
      </p:sp>
      <p:sp>
        <p:nvSpPr>
          <p:cNvPr id="29" name="Text 27"/>
          <p:cNvSpPr/>
          <p:nvPr/>
        </p:nvSpPr>
        <p:spPr>
          <a:xfrm>
            <a:off x="10939719" y="2685348"/>
            <a:ext cx="682130"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0.761</a:t>
            </a:r>
            <a:endParaRPr lang="en-US" sz="1600" dirty="0"/>
          </a:p>
        </p:txBody>
      </p:sp>
      <p:sp>
        <p:nvSpPr>
          <p:cNvPr id="30" name="Shape 28"/>
          <p:cNvSpPr/>
          <p:nvPr/>
        </p:nvSpPr>
        <p:spPr>
          <a:xfrm>
            <a:off x="6443676" y="3285450"/>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31" name="Text 29"/>
          <p:cNvSpPr/>
          <p:nvPr/>
        </p:nvSpPr>
        <p:spPr>
          <a:xfrm>
            <a:off x="6586146" y="3427921"/>
            <a:ext cx="1182935"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Best Validation F1</a:t>
            </a:r>
            <a:endParaRPr lang="en-US" sz="1600" dirty="0"/>
          </a:p>
        </p:txBody>
      </p:sp>
      <p:sp>
        <p:nvSpPr>
          <p:cNvPr id="32" name="Text 30"/>
          <p:cNvSpPr/>
          <p:nvPr/>
        </p:nvSpPr>
        <p:spPr>
          <a:xfrm>
            <a:off x="6586146" y="3635150"/>
            <a:ext cx="1174300"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Checkpoint selection</a:t>
            </a:r>
            <a:endParaRPr lang="en-US" sz="1600" dirty="0"/>
          </a:p>
        </p:txBody>
      </p:sp>
      <p:sp>
        <p:nvSpPr>
          <p:cNvPr id="33" name="Text 31"/>
          <p:cNvSpPr/>
          <p:nvPr/>
        </p:nvSpPr>
        <p:spPr>
          <a:xfrm>
            <a:off x="10922045" y="3462459"/>
            <a:ext cx="699399"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0.773</a:t>
            </a:r>
            <a:endParaRPr lang="en-US" sz="1600" dirty="0"/>
          </a:p>
        </p:txBody>
      </p:sp>
      <p:sp>
        <p:nvSpPr>
          <p:cNvPr id="34" name="Shape 32"/>
          <p:cNvSpPr/>
          <p:nvPr/>
        </p:nvSpPr>
        <p:spPr>
          <a:xfrm>
            <a:off x="6443676" y="4097099"/>
            <a:ext cx="5189371" cy="699399"/>
          </a:xfrm>
          <a:custGeom>
            <a:avLst/>
            <a:gdLst/>
            <a:ahLst/>
            <a:cxnLst/>
            <a:rect l="l" t="t" r="r" b="b"/>
            <a:pathLst>
              <a:path w="5189371" h="699399">
                <a:moveTo>
                  <a:pt x="0" y="0"/>
                </a:moveTo>
                <a:lnTo>
                  <a:pt x="5189371" y="0"/>
                </a:lnTo>
                <a:lnTo>
                  <a:pt x="5189371" y="699399"/>
                </a:lnTo>
                <a:lnTo>
                  <a:pt x="0" y="699399"/>
                </a:lnTo>
                <a:lnTo>
                  <a:pt x="0" y="0"/>
                </a:lnTo>
                <a:close/>
              </a:path>
            </a:pathLst>
          </a:custGeom>
          <a:solidFill>
            <a:srgbClr val="8B0000">
              <a:alpha val="5098"/>
            </a:srgbClr>
          </a:solidFill>
          <a:ln w="12700">
            <a:solidFill>
              <a:srgbClr val="8B0000">
                <a:alpha val="20000"/>
              </a:srgbClr>
            </a:solidFill>
            <a:prstDash val="solid"/>
          </a:ln>
        </p:spPr>
      </p:sp>
      <p:sp>
        <p:nvSpPr>
          <p:cNvPr id="35" name="Text 33"/>
          <p:cNvSpPr/>
          <p:nvPr/>
        </p:nvSpPr>
        <p:spPr>
          <a:xfrm>
            <a:off x="6586146" y="4239569"/>
            <a:ext cx="4973507" cy="41445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Observation:</a:t>
            </a:r>
            <a:r>
              <a:rPr lang="en-US" sz="1088" dirty="0">
                <a:solidFill>
                  <a:srgbClr val="1F2937"/>
                </a:solidFill>
                <a:latin typeface="Sorts Mill Goudy" pitchFamily="34" charset="0"/>
                <a:ea typeface="Sorts Mill Goudy" pitchFamily="34" charset="-122"/>
                <a:cs typeface="Sorts Mill Goudy" pitchFamily="34" charset="-120"/>
              </a:rPr>
              <a:t> EM-F1 gap (0.243) indicates model often identifies correct content region but misses exact boundaries—boundary modeling is critical.</a:t>
            </a:r>
            <a:endParaRPr lang="en-US" sz="1600" dirty="0"/>
          </a:p>
        </p:txBody>
      </p:sp>
      <p:sp>
        <p:nvSpPr>
          <p:cNvPr id="36" name="Shape 34"/>
          <p:cNvSpPr/>
          <p:nvPr/>
        </p:nvSpPr>
        <p:spPr>
          <a:xfrm>
            <a:off x="6232129" y="5215275"/>
            <a:ext cx="5612465" cy="1433337"/>
          </a:xfrm>
          <a:custGeom>
            <a:avLst/>
            <a:gdLst/>
            <a:ahLst/>
            <a:cxnLst/>
            <a:rect l="l" t="t" r="r" b="b"/>
            <a:pathLst>
              <a:path w="5612465" h="1433337">
                <a:moveTo>
                  <a:pt x="0" y="0"/>
                </a:moveTo>
                <a:lnTo>
                  <a:pt x="5612465" y="0"/>
                </a:lnTo>
                <a:lnTo>
                  <a:pt x="5612465" y="1433337"/>
                </a:lnTo>
                <a:lnTo>
                  <a:pt x="0" y="1433337"/>
                </a:lnTo>
                <a:lnTo>
                  <a:pt x="0" y="0"/>
                </a:lnTo>
                <a:close/>
              </a:path>
            </a:pathLst>
          </a:custGeom>
          <a:solidFill>
            <a:srgbClr val="F9FAFB"/>
          </a:solidFill>
          <a:ln/>
        </p:spPr>
      </p:sp>
      <p:sp>
        <p:nvSpPr>
          <p:cNvPr id="37" name="Text 35"/>
          <p:cNvSpPr/>
          <p:nvPr/>
        </p:nvSpPr>
        <p:spPr>
          <a:xfrm>
            <a:off x="6439359" y="5422504"/>
            <a:ext cx="5284351" cy="241768"/>
          </a:xfrm>
          <a:prstGeom prst="rect">
            <a:avLst/>
          </a:prstGeom>
          <a:noFill/>
          <a:ln/>
        </p:spPr>
        <p:txBody>
          <a:bodyPr wrap="square" lIns="0" tIns="0" rIns="0" bIns="0" rtlCol="0" anchor="ctr"/>
          <a:lstStyle/>
          <a:p>
            <a:pPr>
              <a:lnSpc>
                <a:spcPct val="120000"/>
              </a:lnSpc>
            </a:pPr>
            <a:r>
              <a:rPr lang="en-US" sz="1360" b="1" dirty="0">
                <a:solidFill>
                  <a:srgbClr val="1F2937"/>
                </a:solidFill>
                <a:latin typeface="Sorts Mill Goudy" pitchFamily="34" charset="0"/>
                <a:ea typeface="Sorts Mill Goudy" pitchFamily="34" charset="-122"/>
                <a:cs typeface="Sorts Mill Goudy" pitchFamily="34" charset="-120"/>
              </a:rPr>
              <a:t>Training Summary</a:t>
            </a:r>
            <a:endParaRPr lang="en-US" sz="1600" dirty="0"/>
          </a:p>
        </p:txBody>
      </p:sp>
      <p:sp>
        <p:nvSpPr>
          <p:cNvPr id="38" name="Shape 36"/>
          <p:cNvSpPr/>
          <p:nvPr/>
        </p:nvSpPr>
        <p:spPr>
          <a:xfrm>
            <a:off x="6443676" y="5772204"/>
            <a:ext cx="2538561" cy="664861"/>
          </a:xfrm>
          <a:custGeom>
            <a:avLst/>
            <a:gdLst/>
            <a:ahLst/>
            <a:cxnLst/>
            <a:rect l="l" t="t" r="r" b="b"/>
            <a:pathLst>
              <a:path w="2538561" h="664861">
                <a:moveTo>
                  <a:pt x="0" y="0"/>
                </a:moveTo>
                <a:lnTo>
                  <a:pt x="2538561" y="0"/>
                </a:lnTo>
                <a:lnTo>
                  <a:pt x="2538561" y="664861"/>
                </a:lnTo>
                <a:lnTo>
                  <a:pt x="0" y="664861"/>
                </a:lnTo>
                <a:lnTo>
                  <a:pt x="0" y="0"/>
                </a:lnTo>
                <a:close/>
              </a:path>
            </a:pathLst>
          </a:custGeom>
          <a:solidFill>
            <a:srgbClr val="FFFFFF"/>
          </a:solidFill>
          <a:ln w="12700">
            <a:solidFill>
              <a:srgbClr val="E5E7EB"/>
            </a:solidFill>
            <a:prstDash val="solid"/>
          </a:ln>
        </p:spPr>
      </p:sp>
      <p:sp>
        <p:nvSpPr>
          <p:cNvPr id="39" name="Text 37"/>
          <p:cNvSpPr/>
          <p:nvPr/>
        </p:nvSpPr>
        <p:spPr>
          <a:xfrm>
            <a:off x="6521387" y="5880136"/>
            <a:ext cx="2383139" cy="172691"/>
          </a:xfrm>
          <a:prstGeom prst="rect">
            <a:avLst/>
          </a:prstGeom>
          <a:noFill/>
          <a:ln/>
        </p:spPr>
        <p:txBody>
          <a:bodyPr wrap="square" lIns="0" tIns="0" rIns="0" bIns="0" rtlCol="0" anchor="ctr"/>
          <a:lstStyle/>
          <a:p>
            <a:pPr algn="ct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Best Epoch</a:t>
            </a:r>
            <a:endParaRPr lang="en-US" sz="1600" dirty="0"/>
          </a:p>
        </p:txBody>
      </p:sp>
      <p:sp>
        <p:nvSpPr>
          <p:cNvPr id="40" name="Text 38"/>
          <p:cNvSpPr/>
          <p:nvPr/>
        </p:nvSpPr>
        <p:spPr>
          <a:xfrm>
            <a:off x="6499801" y="6052827"/>
            <a:ext cx="2426312" cy="276306"/>
          </a:xfrm>
          <a:prstGeom prst="rect">
            <a:avLst/>
          </a:prstGeom>
          <a:noFill/>
          <a:ln/>
        </p:spPr>
        <p:txBody>
          <a:bodyPr wrap="square" lIns="0" tIns="0" rIns="0" bIns="0" rtlCol="0" anchor="ctr"/>
          <a:lstStyle/>
          <a:p>
            <a:pPr algn="ctr">
              <a:lnSpc>
                <a:spcPct val="110000"/>
              </a:lnSpc>
            </a:pPr>
            <a:r>
              <a:rPr lang="en-US" sz="1632" b="1" dirty="0">
                <a:solidFill>
                  <a:srgbClr val="8B0000"/>
                </a:solidFill>
                <a:latin typeface="Sorts Mill Goudy" pitchFamily="34" charset="0"/>
                <a:ea typeface="Sorts Mill Goudy" pitchFamily="34" charset="-122"/>
                <a:cs typeface="Sorts Mill Goudy" pitchFamily="34" charset="-120"/>
              </a:rPr>
              <a:t>6</a:t>
            </a:r>
            <a:endParaRPr lang="en-US" sz="1600" dirty="0"/>
          </a:p>
        </p:txBody>
      </p:sp>
      <p:sp>
        <p:nvSpPr>
          <p:cNvPr id="41" name="Shape 39"/>
          <p:cNvSpPr/>
          <p:nvPr/>
        </p:nvSpPr>
        <p:spPr>
          <a:xfrm>
            <a:off x="9093542" y="5772204"/>
            <a:ext cx="2538561" cy="664861"/>
          </a:xfrm>
          <a:custGeom>
            <a:avLst/>
            <a:gdLst/>
            <a:ahLst/>
            <a:cxnLst/>
            <a:rect l="l" t="t" r="r" b="b"/>
            <a:pathLst>
              <a:path w="2538561" h="664861">
                <a:moveTo>
                  <a:pt x="0" y="0"/>
                </a:moveTo>
                <a:lnTo>
                  <a:pt x="2538561" y="0"/>
                </a:lnTo>
                <a:lnTo>
                  <a:pt x="2538561" y="664861"/>
                </a:lnTo>
                <a:lnTo>
                  <a:pt x="0" y="664861"/>
                </a:lnTo>
                <a:lnTo>
                  <a:pt x="0" y="0"/>
                </a:lnTo>
                <a:close/>
              </a:path>
            </a:pathLst>
          </a:custGeom>
          <a:solidFill>
            <a:srgbClr val="FFFFFF"/>
          </a:solidFill>
          <a:ln w="12700">
            <a:solidFill>
              <a:srgbClr val="E5E7EB"/>
            </a:solidFill>
            <a:prstDash val="solid"/>
          </a:ln>
        </p:spPr>
      </p:sp>
      <p:sp>
        <p:nvSpPr>
          <p:cNvPr id="42" name="Text 40"/>
          <p:cNvSpPr/>
          <p:nvPr/>
        </p:nvSpPr>
        <p:spPr>
          <a:xfrm>
            <a:off x="9171253" y="5880136"/>
            <a:ext cx="2383139" cy="172691"/>
          </a:xfrm>
          <a:prstGeom prst="rect">
            <a:avLst/>
          </a:prstGeom>
          <a:noFill/>
          <a:ln/>
        </p:spPr>
        <p:txBody>
          <a:bodyPr wrap="square" lIns="0" tIns="0" rIns="0" bIns="0" rtlCol="0" anchor="ctr"/>
          <a:lstStyle/>
          <a:p>
            <a:pPr algn="ct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Parameters</a:t>
            </a:r>
            <a:endParaRPr lang="en-US" sz="1600" dirty="0"/>
          </a:p>
        </p:txBody>
      </p:sp>
      <p:sp>
        <p:nvSpPr>
          <p:cNvPr id="43" name="Text 41"/>
          <p:cNvSpPr/>
          <p:nvPr/>
        </p:nvSpPr>
        <p:spPr>
          <a:xfrm>
            <a:off x="9149666" y="6052827"/>
            <a:ext cx="2426312" cy="276306"/>
          </a:xfrm>
          <a:prstGeom prst="rect">
            <a:avLst/>
          </a:prstGeom>
          <a:noFill/>
          <a:ln/>
        </p:spPr>
        <p:txBody>
          <a:bodyPr wrap="square" lIns="0" tIns="0" rIns="0" bIns="0" rtlCol="0" anchor="ctr"/>
          <a:lstStyle/>
          <a:p>
            <a:pPr algn="ctr">
              <a:lnSpc>
                <a:spcPct val="110000"/>
              </a:lnSpc>
            </a:pPr>
            <a:r>
              <a:rPr lang="en-US" sz="1632" b="1" dirty="0">
                <a:solidFill>
                  <a:srgbClr val="8B0000"/>
                </a:solidFill>
                <a:latin typeface="Sorts Mill Goudy" pitchFamily="34" charset="0"/>
                <a:ea typeface="Sorts Mill Goudy" pitchFamily="34" charset="-122"/>
                <a:cs typeface="Sorts Mill Goudy" pitchFamily="34" charset="-120"/>
              </a:rPr>
              <a:t>1.78M</a:t>
            </a:r>
            <a:endParaRPr lang="en-US" sz="1600" dirty="0"/>
          </a:p>
        </p:txBody>
      </p:sp>
    </p:spTree>
    <p:extLst>
      <p:ext uri="{BB962C8B-B14F-4D97-AF65-F5344CB8AC3E}">
        <p14:creationId xmlns:p14="http://schemas.microsoft.com/office/powerpoint/2010/main" val="2159060142"/>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79813" y="379813"/>
            <a:ext cx="11498841" cy="189907"/>
          </a:xfrm>
          <a:prstGeom prst="rect">
            <a:avLst/>
          </a:prstGeom>
          <a:noFill/>
          <a:ln/>
        </p:spPr>
        <p:txBody>
          <a:bodyPr wrap="square" lIns="0" tIns="0" rIns="0" bIns="0" rtlCol="0" anchor="ctr"/>
          <a:lstStyle/>
          <a:p>
            <a:pPr>
              <a:lnSpc>
                <a:spcPct val="120000"/>
              </a:lnSpc>
            </a:pPr>
            <a:r>
              <a:rPr lang="en-US" sz="1047" b="1" kern="0" spc="52" dirty="0">
                <a:solidFill>
                  <a:srgbClr val="8B0000"/>
                </a:solidFill>
                <a:latin typeface="Sorts Mill Goudy" pitchFamily="34" charset="0"/>
                <a:ea typeface="Sorts Mill Goudy" pitchFamily="34" charset="-122"/>
                <a:cs typeface="Sorts Mill Goudy" pitchFamily="34" charset="-120"/>
              </a:rPr>
              <a:t>6.2 EXPERIMENTAL RESULTS</a:t>
            </a:r>
            <a:endParaRPr lang="en-US" sz="1600" dirty="0"/>
          </a:p>
        </p:txBody>
      </p:sp>
      <p:sp>
        <p:nvSpPr>
          <p:cNvPr id="3" name="Text 1"/>
          <p:cNvSpPr/>
          <p:nvPr/>
        </p:nvSpPr>
        <p:spPr>
          <a:xfrm>
            <a:off x="379813" y="645682"/>
            <a:ext cx="11603290" cy="379813"/>
          </a:xfrm>
          <a:prstGeom prst="rect">
            <a:avLst/>
          </a:prstGeom>
          <a:noFill/>
          <a:ln/>
        </p:spPr>
        <p:txBody>
          <a:bodyPr wrap="square" lIns="0" tIns="0" rIns="0" bIns="0" rtlCol="0" anchor="ctr"/>
          <a:lstStyle/>
          <a:p>
            <a:pPr>
              <a:lnSpc>
                <a:spcPct val="90000"/>
              </a:lnSpc>
            </a:pPr>
            <a:r>
              <a:rPr lang="en-US" sz="2692" b="1" dirty="0">
                <a:solidFill>
                  <a:srgbClr val="1F2937"/>
                </a:solidFill>
                <a:latin typeface="Sorts Mill Goudy" pitchFamily="34" charset="0"/>
                <a:ea typeface="Sorts Mill Goudy" pitchFamily="34" charset="-122"/>
                <a:cs typeface="Sorts Mill Goudy" pitchFamily="34" charset="-120"/>
              </a:rPr>
              <a:t>Performance by Question Type</a:t>
            </a:r>
            <a:endParaRPr lang="en-US" sz="1600" dirty="0"/>
          </a:p>
        </p:txBody>
      </p:sp>
      <p:sp>
        <p:nvSpPr>
          <p:cNvPr id="4" name="Shape 2"/>
          <p:cNvSpPr/>
          <p:nvPr/>
        </p:nvSpPr>
        <p:spPr>
          <a:xfrm>
            <a:off x="379813" y="1253383"/>
            <a:ext cx="6675215" cy="5602243"/>
          </a:xfrm>
          <a:custGeom>
            <a:avLst/>
            <a:gdLst/>
            <a:ahLst/>
            <a:cxnLst/>
            <a:rect l="l" t="t" r="r" b="b"/>
            <a:pathLst>
              <a:path w="6675215" h="5602243">
                <a:moveTo>
                  <a:pt x="0" y="0"/>
                </a:moveTo>
                <a:lnTo>
                  <a:pt x="6675215" y="0"/>
                </a:lnTo>
                <a:lnTo>
                  <a:pt x="6675215" y="5602243"/>
                </a:lnTo>
                <a:lnTo>
                  <a:pt x="0" y="5602243"/>
                </a:lnTo>
                <a:lnTo>
                  <a:pt x="0" y="0"/>
                </a:lnTo>
                <a:close/>
              </a:path>
            </a:pathLst>
          </a:custGeom>
          <a:solidFill>
            <a:srgbClr val="F9FAFB"/>
          </a:solidFill>
          <a:ln/>
        </p:spPr>
      </p:sp>
      <p:sp>
        <p:nvSpPr>
          <p:cNvPr id="5" name="Text 3"/>
          <p:cNvSpPr/>
          <p:nvPr/>
        </p:nvSpPr>
        <p:spPr>
          <a:xfrm>
            <a:off x="607701" y="1481271"/>
            <a:ext cx="6314393" cy="265869"/>
          </a:xfrm>
          <a:prstGeom prst="rect">
            <a:avLst/>
          </a:prstGeom>
          <a:noFill/>
          <a:ln/>
        </p:spPr>
        <p:txBody>
          <a:bodyPr wrap="square" lIns="0" tIns="0" rIns="0" bIns="0" rtlCol="0" anchor="ctr"/>
          <a:lstStyle/>
          <a:p>
            <a:pPr>
              <a:lnSpc>
                <a:spcPct val="120000"/>
              </a:lnSpc>
            </a:pPr>
            <a:r>
              <a:rPr lang="en-US" sz="1495" b="1" dirty="0">
                <a:solidFill>
                  <a:srgbClr val="1F2937"/>
                </a:solidFill>
                <a:latin typeface="Sorts Mill Goudy" pitchFamily="34" charset="0"/>
                <a:ea typeface="Sorts Mill Goudy" pitchFamily="34" charset="-122"/>
                <a:cs typeface="Sorts Mill Goudy" pitchFamily="34" charset="-120"/>
              </a:rPr>
              <a:t>Results Breakdown</a:t>
            </a:r>
            <a:endParaRPr lang="en-US" sz="1600" dirty="0"/>
          </a:p>
        </p:txBody>
      </p:sp>
      <p:sp>
        <p:nvSpPr>
          <p:cNvPr id="6" name="Shape 4"/>
          <p:cNvSpPr/>
          <p:nvPr/>
        </p:nvSpPr>
        <p:spPr>
          <a:xfrm>
            <a:off x="612449" y="1903813"/>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7" name="Text 5"/>
          <p:cNvSpPr/>
          <p:nvPr/>
        </p:nvSpPr>
        <p:spPr>
          <a:xfrm>
            <a:off x="731140" y="2060486"/>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WHO</a:t>
            </a:r>
            <a:endParaRPr lang="en-US" sz="1600" dirty="0"/>
          </a:p>
        </p:txBody>
      </p:sp>
      <p:sp>
        <p:nvSpPr>
          <p:cNvPr id="8" name="Text 6"/>
          <p:cNvSpPr/>
          <p:nvPr/>
        </p:nvSpPr>
        <p:spPr>
          <a:xfrm>
            <a:off x="1642692" y="2022505"/>
            <a:ext cx="617196"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0.618</a:t>
            </a:r>
            <a:endParaRPr lang="en-US" sz="1600" dirty="0"/>
          </a:p>
        </p:txBody>
      </p:sp>
      <p:sp>
        <p:nvSpPr>
          <p:cNvPr id="9" name="Text 7"/>
          <p:cNvSpPr/>
          <p:nvPr/>
        </p:nvSpPr>
        <p:spPr>
          <a:xfrm>
            <a:off x="4030766" y="2022505"/>
            <a:ext cx="550729"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0.779</a:t>
            </a:r>
            <a:endParaRPr lang="en-US" sz="1600" dirty="0"/>
          </a:p>
        </p:txBody>
      </p:sp>
      <p:sp>
        <p:nvSpPr>
          <p:cNvPr id="10" name="Text 8"/>
          <p:cNvSpPr/>
          <p:nvPr/>
        </p:nvSpPr>
        <p:spPr>
          <a:xfrm>
            <a:off x="6355193" y="2022505"/>
            <a:ext cx="417794"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n=867</a:t>
            </a:r>
            <a:endParaRPr lang="en-US" sz="1600" dirty="0"/>
          </a:p>
        </p:txBody>
      </p:sp>
      <p:sp>
        <p:nvSpPr>
          <p:cNvPr id="11" name="Shape 9"/>
          <p:cNvSpPr/>
          <p:nvPr/>
        </p:nvSpPr>
        <p:spPr>
          <a:xfrm>
            <a:off x="1642692" y="2250393"/>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12" name="Shape 10"/>
          <p:cNvSpPr/>
          <p:nvPr/>
        </p:nvSpPr>
        <p:spPr>
          <a:xfrm>
            <a:off x="1642692" y="2250393"/>
            <a:ext cx="3940561" cy="75963"/>
          </a:xfrm>
          <a:custGeom>
            <a:avLst/>
            <a:gdLst/>
            <a:ahLst/>
            <a:cxnLst/>
            <a:rect l="l" t="t" r="r" b="b"/>
            <a:pathLst>
              <a:path w="3940561" h="75963">
                <a:moveTo>
                  <a:pt x="0" y="0"/>
                </a:moveTo>
                <a:lnTo>
                  <a:pt x="3940561" y="0"/>
                </a:lnTo>
                <a:lnTo>
                  <a:pt x="3940561" y="75963"/>
                </a:lnTo>
                <a:lnTo>
                  <a:pt x="0" y="75963"/>
                </a:lnTo>
                <a:lnTo>
                  <a:pt x="0" y="0"/>
                </a:lnTo>
                <a:close/>
              </a:path>
            </a:pathLst>
          </a:custGeom>
          <a:solidFill>
            <a:srgbClr val="8B0000"/>
          </a:solidFill>
          <a:ln/>
        </p:spPr>
      </p:sp>
      <p:sp>
        <p:nvSpPr>
          <p:cNvPr id="13" name="Shape 11"/>
          <p:cNvSpPr/>
          <p:nvPr/>
        </p:nvSpPr>
        <p:spPr>
          <a:xfrm>
            <a:off x="612449" y="2568486"/>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14" name="Text 12"/>
          <p:cNvSpPr/>
          <p:nvPr/>
        </p:nvSpPr>
        <p:spPr>
          <a:xfrm>
            <a:off x="731140" y="2725159"/>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WHAT</a:t>
            </a:r>
            <a:endParaRPr lang="en-US" sz="1600" dirty="0"/>
          </a:p>
        </p:txBody>
      </p:sp>
      <p:sp>
        <p:nvSpPr>
          <p:cNvPr id="15" name="Text 13"/>
          <p:cNvSpPr/>
          <p:nvPr/>
        </p:nvSpPr>
        <p:spPr>
          <a:xfrm>
            <a:off x="1642692" y="2687178"/>
            <a:ext cx="598206"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0.505</a:t>
            </a:r>
            <a:endParaRPr lang="en-US" sz="1600" dirty="0"/>
          </a:p>
        </p:txBody>
      </p:sp>
      <p:sp>
        <p:nvSpPr>
          <p:cNvPr id="16" name="Text 14"/>
          <p:cNvSpPr/>
          <p:nvPr/>
        </p:nvSpPr>
        <p:spPr>
          <a:xfrm>
            <a:off x="4006435" y="2687178"/>
            <a:ext cx="550729"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0.802</a:t>
            </a:r>
            <a:endParaRPr lang="en-US" sz="1600" dirty="0"/>
          </a:p>
        </p:txBody>
      </p:sp>
      <p:sp>
        <p:nvSpPr>
          <p:cNvPr id="17" name="Text 15"/>
          <p:cNvSpPr/>
          <p:nvPr/>
        </p:nvSpPr>
        <p:spPr>
          <a:xfrm>
            <a:off x="6324185" y="2687178"/>
            <a:ext cx="446280"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n=1937</a:t>
            </a:r>
            <a:endParaRPr lang="en-US" sz="1600" dirty="0"/>
          </a:p>
        </p:txBody>
      </p:sp>
      <p:sp>
        <p:nvSpPr>
          <p:cNvPr id="18" name="Shape 16"/>
          <p:cNvSpPr/>
          <p:nvPr/>
        </p:nvSpPr>
        <p:spPr>
          <a:xfrm>
            <a:off x="1642692" y="2915065"/>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19" name="Shape 17"/>
          <p:cNvSpPr/>
          <p:nvPr/>
        </p:nvSpPr>
        <p:spPr>
          <a:xfrm>
            <a:off x="1642692" y="2915065"/>
            <a:ext cx="4054505" cy="75963"/>
          </a:xfrm>
          <a:custGeom>
            <a:avLst/>
            <a:gdLst/>
            <a:ahLst/>
            <a:cxnLst/>
            <a:rect l="l" t="t" r="r" b="b"/>
            <a:pathLst>
              <a:path w="4054505" h="75963">
                <a:moveTo>
                  <a:pt x="0" y="0"/>
                </a:moveTo>
                <a:lnTo>
                  <a:pt x="4054505" y="0"/>
                </a:lnTo>
                <a:lnTo>
                  <a:pt x="4054505" y="75963"/>
                </a:lnTo>
                <a:lnTo>
                  <a:pt x="0" y="75963"/>
                </a:lnTo>
                <a:lnTo>
                  <a:pt x="0" y="0"/>
                </a:lnTo>
                <a:close/>
              </a:path>
            </a:pathLst>
          </a:custGeom>
          <a:solidFill>
            <a:srgbClr val="8B0000"/>
          </a:solidFill>
          <a:ln/>
        </p:spPr>
      </p:sp>
      <p:sp>
        <p:nvSpPr>
          <p:cNvPr id="20" name="Shape 18"/>
          <p:cNvSpPr/>
          <p:nvPr/>
        </p:nvSpPr>
        <p:spPr>
          <a:xfrm>
            <a:off x="612449" y="3233159"/>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21" name="Text 19"/>
          <p:cNvSpPr/>
          <p:nvPr/>
        </p:nvSpPr>
        <p:spPr>
          <a:xfrm>
            <a:off x="731140" y="3389832"/>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WHEN</a:t>
            </a:r>
            <a:endParaRPr lang="en-US" sz="1600" dirty="0"/>
          </a:p>
        </p:txBody>
      </p:sp>
      <p:sp>
        <p:nvSpPr>
          <p:cNvPr id="22" name="Text 20"/>
          <p:cNvSpPr/>
          <p:nvPr/>
        </p:nvSpPr>
        <p:spPr>
          <a:xfrm>
            <a:off x="1642692" y="3351850"/>
            <a:ext cx="588710"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0.565</a:t>
            </a:r>
            <a:endParaRPr lang="en-US" sz="1600" dirty="0"/>
          </a:p>
        </p:txBody>
      </p:sp>
      <p:sp>
        <p:nvSpPr>
          <p:cNvPr id="23" name="Text 21"/>
          <p:cNvSpPr/>
          <p:nvPr/>
        </p:nvSpPr>
        <p:spPr>
          <a:xfrm>
            <a:off x="4021716" y="3351850"/>
            <a:ext cx="550729"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0.687</a:t>
            </a:r>
            <a:endParaRPr lang="en-US" sz="1600" dirty="0"/>
          </a:p>
        </p:txBody>
      </p:sp>
      <p:sp>
        <p:nvSpPr>
          <p:cNvPr id="24" name="Text 22"/>
          <p:cNvSpPr/>
          <p:nvPr/>
        </p:nvSpPr>
        <p:spPr>
          <a:xfrm>
            <a:off x="6359050" y="3351850"/>
            <a:ext cx="408299"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n=246</a:t>
            </a:r>
            <a:endParaRPr lang="en-US" sz="1600" dirty="0"/>
          </a:p>
        </p:txBody>
      </p:sp>
      <p:sp>
        <p:nvSpPr>
          <p:cNvPr id="25" name="Shape 23"/>
          <p:cNvSpPr/>
          <p:nvPr/>
        </p:nvSpPr>
        <p:spPr>
          <a:xfrm>
            <a:off x="1642692" y="3579738"/>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26" name="Shape 24"/>
          <p:cNvSpPr/>
          <p:nvPr/>
        </p:nvSpPr>
        <p:spPr>
          <a:xfrm>
            <a:off x="1642692" y="3579738"/>
            <a:ext cx="3475290" cy="75963"/>
          </a:xfrm>
          <a:custGeom>
            <a:avLst/>
            <a:gdLst/>
            <a:ahLst/>
            <a:cxnLst/>
            <a:rect l="l" t="t" r="r" b="b"/>
            <a:pathLst>
              <a:path w="3475290" h="75963">
                <a:moveTo>
                  <a:pt x="0" y="0"/>
                </a:moveTo>
                <a:lnTo>
                  <a:pt x="3475290" y="0"/>
                </a:lnTo>
                <a:lnTo>
                  <a:pt x="3475290" y="75963"/>
                </a:lnTo>
                <a:lnTo>
                  <a:pt x="0" y="75963"/>
                </a:lnTo>
                <a:lnTo>
                  <a:pt x="0" y="0"/>
                </a:lnTo>
                <a:close/>
              </a:path>
            </a:pathLst>
          </a:custGeom>
          <a:solidFill>
            <a:srgbClr val="6B7280"/>
          </a:solidFill>
          <a:ln/>
        </p:spPr>
      </p:sp>
      <p:sp>
        <p:nvSpPr>
          <p:cNvPr id="27" name="Shape 25"/>
          <p:cNvSpPr/>
          <p:nvPr/>
        </p:nvSpPr>
        <p:spPr>
          <a:xfrm>
            <a:off x="612449" y="3897832"/>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28" name="Text 26"/>
          <p:cNvSpPr/>
          <p:nvPr/>
        </p:nvSpPr>
        <p:spPr>
          <a:xfrm>
            <a:off x="731140" y="4054505"/>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WHERE</a:t>
            </a:r>
            <a:endParaRPr lang="en-US" sz="1600" dirty="0"/>
          </a:p>
        </p:txBody>
      </p:sp>
      <p:sp>
        <p:nvSpPr>
          <p:cNvPr id="29" name="Text 27"/>
          <p:cNvSpPr/>
          <p:nvPr/>
        </p:nvSpPr>
        <p:spPr>
          <a:xfrm>
            <a:off x="1642692" y="4016523"/>
            <a:ext cx="617196"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0.382</a:t>
            </a:r>
            <a:endParaRPr lang="en-US" sz="1600" dirty="0"/>
          </a:p>
        </p:txBody>
      </p:sp>
      <p:sp>
        <p:nvSpPr>
          <p:cNvPr id="30" name="Text 28"/>
          <p:cNvSpPr/>
          <p:nvPr/>
        </p:nvSpPr>
        <p:spPr>
          <a:xfrm>
            <a:off x="4063258" y="4016523"/>
            <a:ext cx="531738"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0.619</a:t>
            </a:r>
            <a:endParaRPr lang="en-US" sz="1600" dirty="0"/>
          </a:p>
        </p:txBody>
      </p:sp>
      <p:sp>
        <p:nvSpPr>
          <p:cNvPr id="31" name="Text 29"/>
          <p:cNvSpPr/>
          <p:nvPr/>
        </p:nvSpPr>
        <p:spPr>
          <a:xfrm>
            <a:off x="6393619" y="4016523"/>
            <a:ext cx="379813"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n=110</a:t>
            </a:r>
            <a:endParaRPr lang="en-US" sz="1600" dirty="0"/>
          </a:p>
        </p:txBody>
      </p:sp>
      <p:sp>
        <p:nvSpPr>
          <p:cNvPr id="32" name="Shape 30"/>
          <p:cNvSpPr/>
          <p:nvPr/>
        </p:nvSpPr>
        <p:spPr>
          <a:xfrm>
            <a:off x="1642692" y="4244411"/>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33" name="Shape 31"/>
          <p:cNvSpPr/>
          <p:nvPr/>
        </p:nvSpPr>
        <p:spPr>
          <a:xfrm>
            <a:off x="1642692" y="4244411"/>
            <a:ext cx="3133458" cy="75963"/>
          </a:xfrm>
          <a:custGeom>
            <a:avLst/>
            <a:gdLst/>
            <a:ahLst/>
            <a:cxnLst/>
            <a:rect l="l" t="t" r="r" b="b"/>
            <a:pathLst>
              <a:path w="3133458" h="75963">
                <a:moveTo>
                  <a:pt x="0" y="0"/>
                </a:moveTo>
                <a:lnTo>
                  <a:pt x="3133458" y="0"/>
                </a:lnTo>
                <a:lnTo>
                  <a:pt x="3133458" y="75963"/>
                </a:lnTo>
                <a:lnTo>
                  <a:pt x="0" y="75963"/>
                </a:lnTo>
                <a:lnTo>
                  <a:pt x="0" y="0"/>
                </a:lnTo>
                <a:close/>
              </a:path>
            </a:pathLst>
          </a:custGeom>
          <a:solidFill>
            <a:srgbClr val="6B7280"/>
          </a:solidFill>
          <a:ln/>
        </p:spPr>
      </p:sp>
      <p:sp>
        <p:nvSpPr>
          <p:cNvPr id="34" name="Shape 32"/>
          <p:cNvSpPr/>
          <p:nvPr/>
        </p:nvSpPr>
        <p:spPr>
          <a:xfrm>
            <a:off x="612449" y="4562505"/>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35" name="Text 33"/>
          <p:cNvSpPr/>
          <p:nvPr/>
        </p:nvSpPr>
        <p:spPr>
          <a:xfrm>
            <a:off x="731140" y="4719178"/>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HOW</a:t>
            </a:r>
            <a:endParaRPr lang="en-US" sz="1600" dirty="0"/>
          </a:p>
        </p:txBody>
      </p:sp>
      <p:sp>
        <p:nvSpPr>
          <p:cNvPr id="36" name="Text 34"/>
          <p:cNvSpPr/>
          <p:nvPr/>
        </p:nvSpPr>
        <p:spPr>
          <a:xfrm>
            <a:off x="1642692" y="4681196"/>
            <a:ext cx="598206"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0.359</a:t>
            </a:r>
            <a:endParaRPr lang="en-US" sz="1600" dirty="0"/>
          </a:p>
        </p:txBody>
      </p:sp>
      <p:sp>
        <p:nvSpPr>
          <p:cNvPr id="37" name="Text 35"/>
          <p:cNvSpPr/>
          <p:nvPr/>
        </p:nvSpPr>
        <p:spPr>
          <a:xfrm>
            <a:off x="4046048" y="4681196"/>
            <a:ext cx="522243"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0.530</a:t>
            </a:r>
            <a:endParaRPr lang="en-US" sz="1600" dirty="0"/>
          </a:p>
        </p:txBody>
      </p:sp>
      <p:sp>
        <p:nvSpPr>
          <p:cNvPr id="38" name="Text 36"/>
          <p:cNvSpPr/>
          <p:nvPr/>
        </p:nvSpPr>
        <p:spPr>
          <a:xfrm>
            <a:off x="6371364" y="4681196"/>
            <a:ext cx="398804"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n=234</a:t>
            </a:r>
            <a:endParaRPr lang="en-US" sz="1600" dirty="0"/>
          </a:p>
        </p:txBody>
      </p:sp>
      <p:sp>
        <p:nvSpPr>
          <p:cNvPr id="39" name="Shape 37"/>
          <p:cNvSpPr/>
          <p:nvPr/>
        </p:nvSpPr>
        <p:spPr>
          <a:xfrm>
            <a:off x="1642692" y="4909084"/>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40" name="Shape 38"/>
          <p:cNvSpPr/>
          <p:nvPr/>
        </p:nvSpPr>
        <p:spPr>
          <a:xfrm>
            <a:off x="1642692" y="4909084"/>
            <a:ext cx="2677682" cy="75963"/>
          </a:xfrm>
          <a:custGeom>
            <a:avLst/>
            <a:gdLst/>
            <a:ahLst/>
            <a:cxnLst/>
            <a:rect l="l" t="t" r="r" b="b"/>
            <a:pathLst>
              <a:path w="2677682" h="75963">
                <a:moveTo>
                  <a:pt x="0" y="0"/>
                </a:moveTo>
                <a:lnTo>
                  <a:pt x="2677682" y="0"/>
                </a:lnTo>
                <a:lnTo>
                  <a:pt x="2677682" y="75963"/>
                </a:lnTo>
                <a:lnTo>
                  <a:pt x="0" y="75963"/>
                </a:lnTo>
                <a:lnTo>
                  <a:pt x="0" y="0"/>
                </a:lnTo>
                <a:close/>
              </a:path>
            </a:pathLst>
          </a:custGeom>
          <a:solidFill>
            <a:srgbClr val="6B7280"/>
          </a:solidFill>
          <a:ln/>
        </p:spPr>
      </p:sp>
      <p:sp>
        <p:nvSpPr>
          <p:cNvPr id="41" name="Shape 39"/>
          <p:cNvSpPr/>
          <p:nvPr/>
        </p:nvSpPr>
        <p:spPr>
          <a:xfrm>
            <a:off x="612449" y="5227178"/>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42" name="Text 40"/>
          <p:cNvSpPr/>
          <p:nvPr/>
        </p:nvSpPr>
        <p:spPr>
          <a:xfrm>
            <a:off x="731140" y="5383850"/>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WHY</a:t>
            </a:r>
            <a:endParaRPr lang="en-US" sz="1600" dirty="0"/>
          </a:p>
        </p:txBody>
      </p:sp>
      <p:sp>
        <p:nvSpPr>
          <p:cNvPr id="43" name="Text 41"/>
          <p:cNvSpPr/>
          <p:nvPr/>
        </p:nvSpPr>
        <p:spPr>
          <a:xfrm>
            <a:off x="1642692" y="5345869"/>
            <a:ext cx="588710"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0.175</a:t>
            </a:r>
            <a:endParaRPr lang="en-US" sz="1600" dirty="0"/>
          </a:p>
        </p:txBody>
      </p:sp>
      <p:sp>
        <p:nvSpPr>
          <p:cNvPr id="44" name="Text 42"/>
          <p:cNvSpPr/>
          <p:nvPr/>
        </p:nvSpPr>
        <p:spPr>
          <a:xfrm>
            <a:off x="4069489" y="5345869"/>
            <a:ext cx="541234"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0.634</a:t>
            </a:r>
            <a:endParaRPr lang="en-US" sz="1600" dirty="0"/>
          </a:p>
        </p:txBody>
      </p:sp>
      <p:sp>
        <p:nvSpPr>
          <p:cNvPr id="45" name="Text 43"/>
          <p:cNvSpPr/>
          <p:nvPr/>
        </p:nvSpPr>
        <p:spPr>
          <a:xfrm>
            <a:off x="6442134" y="5345869"/>
            <a:ext cx="322841"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n=57</a:t>
            </a:r>
            <a:endParaRPr lang="en-US" sz="1600" dirty="0"/>
          </a:p>
        </p:txBody>
      </p:sp>
      <p:sp>
        <p:nvSpPr>
          <p:cNvPr id="46" name="Shape 44"/>
          <p:cNvSpPr/>
          <p:nvPr/>
        </p:nvSpPr>
        <p:spPr>
          <a:xfrm>
            <a:off x="1642692" y="5573757"/>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47" name="Shape 45"/>
          <p:cNvSpPr/>
          <p:nvPr/>
        </p:nvSpPr>
        <p:spPr>
          <a:xfrm>
            <a:off x="1642692" y="5573757"/>
            <a:ext cx="3209421" cy="75963"/>
          </a:xfrm>
          <a:custGeom>
            <a:avLst/>
            <a:gdLst/>
            <a:ahLst/>
            <a:cxnLst/>
            <a:rect l="l" t="t" r="r" b="b"/>
            <a:pathLst>
              <a:path w="3209421" h="75963">
                <a:moveTo>
                  <a:pt x="0" y="0"/>
                </a:moveTo>
                <a:lnTo>
                  <a:pt x="3209421" y="0"/>
                </a:lnTo>
                <a:lnTo>
                  <a:pt x="3209421" y="75963"/>
                </a:lnTo>
                <a:lnTo>
                  <a:pt x="0" y="75963"/>
                </a:lnTo>
                <a:lnTo>
                  <a:pt x="0" y="0"/>
                </a:lnTo>
                <a:close/>
              </a:path>
            </a:pathLst>
          </a:custGeom>
          <a:solidFill>
            <a:srgbClr val="6B7280"/>
          </a:solidFill>
          <a:ln/>
        </p:spPr>
      </p:sp>
      <p:sp>
        <p:nvSpPr>
          <p:cNvPr id="48" name="Shape 46"/>
          <p:cNvSpPr/>
          <p:nvPr/>
        </p:nvSpPr>
        <p:spPr>
          <a:xfrm>
            <a:off x="7358137" y="1253383"/>
            <a:ext cx="4453308" cy="4367850"/>
          </a:xfrm>
          <a:custGeom>
            <a:avLst/>
            <a:gdLst/>
            <a:ahLst/>
            <a:cxnLst/>
            <a:rect l="l" t="t" r="r" b="b"/>
            <a:pathLst>
              <a:path w="4453308" h="4367850">
                <a:moveTo>
                  <a:pt x="0" y="0"/>
                </a:moveTo>
                <a:lnTo>
                  <a:pt x="4453308" y="0"/>
                </a:lnTo>
                <a:lnTo>
                  <a:pt x="4453308" y="4367850"/>
                </a:lnTo>
                <a:lnTo>
                  <a:pt x="0" y="4367850"/>
                </a:lnTo>
                <a:lnTo>
                  <a:pt x="0" y="0"/>
                </a:lnTo>
                <a:close/>
              </a:path>
            </a:pathLst>
          </a:custGeom>
          <a:solidFill>
            <a:srgbClr val="F9FAFB"/>
          </a:solidFill>
          <a:ln/>
        </p:spPr>
      </p:sp>
      <p:sp>
        <p:nvSpPr>
          <p:cNvPr id="49" name="Text 47"/>
          <p:cNvSpPr/>
          <p:nvPr/>
        </p:nvSpPr>
        <p:spPr>
          <a:xfrm>
            <a:off x="7586025" y="1481271"/>
            <a:ext cx="4092486" cy="265869"/>
          </a:xfrm>
          <a:prstGeom prst="rect">
            <a:avLst/>
          </a:prstGeom>
          <a:noFill/>
          <a:ln/>
        </p:spPr>
        <p:txBody>
          <a:bodyPr wrap="square" lIns="0" tIns="0" rIns="0" bIns="0" rtlCol="0" anchor="ctr"/>
          <a:lstStyle/>
          <a:p>
            <a:pPr>
              <a:lnSpc>
                <a:spcPct val="120000"/>
              </a:lnSpc>
            </a:pPr>
            <a:r>
              <a:rPr lang="en-US" sz="1495" b="1" dirty="0">
                <a:solidFill>
                  <a:srgbClr val="1F2937"/>
                </a:solidFill>
                <a:latin typeface="Sorts Mill Goudy" pitchFamily="34" charset="0"/>
                <a:ea typeface="Sorts Mill Goudy" pitchFamily="34" charset="-122"/>
                <a:cs typeface="Sorts Mill Goudy" pitchFamily="34" charset="-120"/>
              </a:rPr>
              <a:t>Key Insights</a:t>
            </a:r>
            <a:endParaRPr lang="en-US" sz="1600" dirty="0"/>
          </a:p>
        </p:txBody>
      </p:sp>
      <p:sp>
        <p:nvSpPr>
          <p:cNvPr id="50" name="Shape 48"/>
          <p:cNvSpPr/>
          <p:nvPr/>
        </p:nvSpPr>
        <p:spPr>
          <a:xfrm>
            <a:off x="7605015" y="1899065"/>
            <a:ext cx="3978542" cy="1063477"/>
          </a:xfrm>
          <a:custGeom>
            <a:avLst/>
            <a:gdLst/>
            <a:ahLst/>
            <a:cxnLst/>
            <a:rect l="l" t="t" r="r" b="b"/>
            <a:pathLst>
              <a:path w="3978542" h="1063477">
                <a:moveTo>
                  <a:pt x="0" y="0"/>
                </a:moveTo>
                <a:lnTo>
                  <a:pt x="3978542" y="0"/>
                </a:lnTo>
                <a:lnTo>
                  <a:pt x="3978542" y="1063477"/>
                </a:lnTo>
                <a:lnTo>
                  <a:pt x="0" y="1063477"/>
                </a:lnTo>
                <a:lnTo>
                  <a:pt x="0" y="0"/>
                </a:lnTo>
                <a:close/>
              </a:path>
            </a:pathLst>
          </a:custGeom>
          <a:solidFill>
            <a:srgbClr val="FFFFFF"/>
          </a:solidFill>
          <a:ln/>
        </p:spPr>
      </p:sp>
      <p:sp>
        <p:nvSpPr>
          <p:cNvPr id="51" name="Shape 49"/>
          <p:cNvSpPr/>
          <p:nvPr/>
        </p:nvSpPr>
        <p:spPr>
          <a:xfrm>
            <a:off x="7605015" y="1899065"/>
            <a:ext cx="37981" cy="1063477"/>
          </a:xfrm>
          <a:custGeom>
            <a:avLst/>
            <a:gdLst/>
            <a:ahLst/>
            <a:cxnLst/>
            <a:rect l="l" t="t" r="r" b="b"/>
            <a:pathLst>
              <a:path w="37981" h="1063477">
                <a:moveTo>
                  <a:pt x="0" y="0"/>
                </a:moveTo>
                <a:lnTo>
                  <a:pt x="37981" y="0"/>
                </a:lnTo>
                <a:lnTo>
                  <a:pt x="37981" y="1063477"/>
                </a:lnTo>
                <a:lnTo>
                  <a:pt x="0" y="1063477"/>
                </a:lnTo>
                <a:lnTo>
                  <a:pt x="0" y="0"/>
                </a:lnTo>
                <a:close/>
              </a:path>
            </a:pathLst>
          </a:custGeom>
          <a:solidFill>
            <a:srgbClr val="8B0000"/>
          </a:solidFill>
          <a:ln/>
        </p:spPr>
      </p:sp>
      <p:sp>
        <p:nvSpPr>
          <p:cNvPr id="52" name="Shape 50"/>
          <p:cNvSpPr/>
          <p:nvPr/>
        </p:nvSpPr>
        <p:spPr>
          <a:xfrm>
            <a:off x="7794922" y="2088972"/>
            <a:ext cx="151925" cy="151925"/>
          </a:xfrm>
          <a:custGeom>
            <a:avLst/>
            <a:gdLst/>
            <a:ahLst/>
            <a:cxnLst/>
            <a:rect l="l" t="t" r="r" b="b"/>
            <a:pathLst>
              <a:path w="151925" h="151925">
                <a:moveTo>
                  <a:pt x="42818" y="0"/>
                </a:moveTo>
                <a:lnTo>
                  <a:pt x="109285" y="0"/>
                </a:lnTo>
                <a:cubicBezTo>
                  <a:pt x="117149" y="0"/>
                  <a:pt x="123558" y="6469"/>
                  <a:pt x="123261" y="14302"/>
                </a:cubicBezTo>
                <a:cubicBezTo>
                  <a:pt x="123202" y="15875"/>
                  <a:pt x="123143" y="17448"/>
                  <a:pt x="123054" y="18991"/>
                </a:cubicBezTo>
                <a:lnTo>
                  <a:pt x="137771" y="18991"/>
                </a:lnTo>
                <a:cubicBezTo>
                  <a:pt x="145516" y="18991"/>
                  <a:pt x="152341" y="25400"/>
                  <a:pt x="151747" y="33768"/>
                </a:cubicBezTo>
                <a:cubicBezTo>
                  <a:pt x="149522" y="64539"/>
                  <a:pt x="133795" y="81452"/>
                  <a:pt x="116733" y="90295"/>
                </a:cubicBezTo>
                <a:cubicBezTo>
                  <a:pt x="112045" y="92728"/>
                  <a:pt x="107268" y="94538"/>
                  <a:pt x="102728" y="95873"/>
                </a:cubicBezTo>
                <a:cubicBezTo>
                  <a:pt x="96734" y="104360"/>
                  <a:pt x="90502" y="108840"/>
                  <a:pt x="85547" y="111244"/>
                </a:cubicBezTo>
                <a:lnTo>
                  <a:pt x="85547" y="132935"/>
                </a:lnTo>
                <a:lnTo>
                  <a:pt x="104538" y="132935"/>
                </a:lnTo>
                <a:cubicBezTo>
                  <a:pt x="109790" y="132935"/>
                  <a:pt x="114033" y="137178"/>
                  <a:pt x="114033" y="142430"/>
                </a:cubicBezTo>
                <a:cubicBezTo>
                  <a:pt x="114033" y="147682"/>
                  <a:pt x="109790" y="151925"/>
                  <a:pt x="104538" y="151925"/>
                </a:cubicBezTo>
                <a:lnTo>
                  <a:pt x="47566" y="151925"/>
                </a:lnTo>
                <a:cubicBezTo>
                  <a:pt x="42314" y="151925"/>
                  <a:pt x="38070" y="147682"/>
                  <a:pt x="38070" y="142430"/>
                </a:cubicBezTo>
                <a:cubicBezTo>
                  <a:pt x="38070" y="137178"/>
                  <a:pt x="42314" y="132935"/>
                  <a:pt x="47566" y="132935"/>
                </a:cubicBezTo>
                <a:lnTo>
                  <a:pt x="66556" y="132935"/>
                </a:lnTo>
                <a:lnTo>
                  <a:pt x="66556" y="111244"/>
                </a:lnTo>
                <a:cubicBezTo>
                  <a:pt x="61809" y="108959"/>
                  <a:pt x="55904" y="104716"/>
                  <a:pt x="50147" y="96912"/>
                </a:cubicBezTo>
                <a:cubicBezTo>
                  <a:pt x="44687" y="95487"/>
                  <a:pt x="38753" y="93321"/>
                  <a:pt x="32967" y="90057"/>
                </a:cubicBezTo>
                <a:cubicBezTo>
                  <a:pt x="16914" y="81066"/>
                  <a:pt x="2433" y="64123"/>
                  <a:pt x="356" y="33708"/>
                </a:cubicBezTo>
                <a:cubicBezTo>
                  <a:pt x="-208" y="25370"/>
                  <a:pt x="6587" y="18961"/>
                  <a:pt x="14332" y="18961"/>
                </a:cubicBezTo>
                <a:lnTo>
                  <a:pt x="29050" y="18961"/>
                </a:lnTo>
                <a:cubicBezTo>
                  <a:pt x="28961" y="17418"/>
                  <a:pt x="28901" y="15875"/>
                  <a:pt x="28842" y="14273"/>
                </a:cubicBezTo>
                <a:cubicBezTo>
                  <a:pt x="28545" y="6409"/>
                  <a:pt x="34955" y="-30"/>
                  <a:pt x="42818" y="-30"/>
                </a:cubicBezTo>
                <a:close/>
                <a:moveTo>
                  <a:pt x="30118" y="33234"/>
                </a:moveTo>
                <a:lnTo>
                  <a:pt x="14569" y="33234"/>
                </a:lnTo>
                <a:cubicBezTo>
                  <a:pt x="16409" y="58367"/>
                  <a:pt x="27952" y="70948"/>
                  <a:pt x="39851" y="77624"/>
                </a:cubicBezTo>
                <a:cubicBezTo>
                  <a:pt x="35578" y="66556"/>
                  <a:pt x="32047" y="52106"/>
                  <a:pt x="30118" y="33234"/>
                </a:cubicBezTo>
                <a:close/>
                <a:moveTo>
                  <a:pt x="112757" y="76200"/>
                </a:moveTo>
                <a:cubicBezTo>
                  <a:pt x="124775" y="69138"/>
                  <a:pt x="135635" y="56586"/>
                  <a:pt x="137475" y="33234"/>
                </a:cubicBezTo>
                <a:lnTo>
                  <a:pt x="121956" y="33234"/>
                </a:lnTo>
                <a:cubicBezTo>
                  <a:pt x="120116" y="51304"/>
                  <a:pt x="116793" y="65340"/>
                  <a:pt x="112757" y="76200"/>
                </a:cubicBezTo>
                <a:close/>
              </a:path>
            </a:pathLst>
          </a:custGeom>
          <a:solidFill>
            <a:srgbClr val="8B0000"/>
          </a:solidFill>
          <a:ln/>
        </p:spPr>
      </p:sp>
      <p:sp>
        <p:nvSpPr>
          <p:cNvPr id="53" name="Text 51"/>
          <p:cNvSpPr/>
          <p:nvPr/>
        </p:nvSpPr>
        <p:spPr>
          <a:xfrm>
            <a:off x="8041800" y="2050991"/>
            <a:ext cx="1215402" cy="227888"/>
          </a:xfrm>
          <a:prstGeom prst="rect">
            <a:avLst/>
          </a:prstGeom>
          <a:noFill/>
          <a:ln/>
        </p:spPr>
        <p:txBody>
          <a:bodyPr wrap="square" lIns="0" tIns="0" rIns="0" bIns="0" rtlCol="0" anchor="ctr"/>
          <a:lstStyle/>
          <a:p>
            <a:pPr>
              <a:lnSpc>
                <a:spcPct val="130000"/>
              </a:lnSpc>
            </a:pPr>
            <a:r>
              <a:rPr lang="en-US" sz="1196" b="1" dirty="0">
                <a:solidFill>
                  <a:srgbClr val="1F2937"/>
                </a:solidFill>
                <a:latin typeface="Sorts Mill Goudy" pitchFamily="34" charset="0"/>
                <a:ea typeface="Sorts Mill Goudy" pitchFamily="34" charset="-122"/>
                <a:cs typeface="Sorts Mill Goudy" pitchFamily="34" charset="-120"/>
              </a:rPr>
              <a:t>Best Performance</a:t>
            </a:r>
            <a:endParaRPr lang="en-US" sz="1600" dirty="0"/>
          </a:p>
        </p:txBody>
      </p:sp>
      <p:sp>
        <p:nvSpPr>
          <p:cNvPr id="54" name="Text 52"/>
          <p:cNvSpPr/>
          <p:nvPr/>
        </p:nvSpPr>
        <p:spPr>
          <a:xfrm>
            <a:off x="7775931" y="2354841"/>
            <a:ext cx="3731664" cy="455776"/>
          </a:xfrm>
          <a:prstGeom prst="rect">
            <a:avLst/>
          </a:prstGeom>
          <a:noFill/>
          <a:ln/>
        </p:spPr>
        <p:txBody>
          <a:bodyPr wrap="square" lIns="0" tIns="0" rIns="0" bIns="0" rtlCol="0" anchor="ctr"/>
          <a:lstStyle/>
          <a:p>
            <a:pPr>
              <a:lnSpc>
                <a:spcPct val="130000"/>
              </a:lnSpc>
            </a:pPr>
            <a:r>
              <a:rPr lang="en-US" sz="1196" b="1" dirty="0">
                <a:solidFill>
                  <a:srgbClr val="6B7280"/>
                </a:solidFill>
                <a:latin typeface="Sorts Mill Goudy" pitchFamily="34" charset="0"/>
                <a:ea typeface="Sorts Mill Goudy" pitchFamily="34" charset="-122"/>
                <a:cs typeface="Sorts Mill Goudy" pitchFamily="34" charset="-120"/>
              </a:rPr>
              <a:t>WHO</a:t>
            </a:r>
            <a:r>
              <a:rPr lang="en-US" sz="1196" dirty="0">
                <a:solidFill>
                  <a:srgbClr val="6B7280"/>
                </a:solidFill>
                <a:latin typeface="Sorts Mill Goudy" pitchFamily="34" charset="0"/>
                <a:ea typeface="Sorts Mill Goudy" pitchFamily="34" charset="-122"/>
                <a:cs typeface="Sorts Mill Goudy" pitchFamily="34" charset="-120"/>
              </a:rPr>
              <a:t> questions (F1: 0.779) — agent roles are most frequent and consistent</a:t>
            </a:r>
            <a:endParaRPr lang="en-US" sz="1600" dirty="0"/>
          </a:p>
        </p:txBody>
      </p:sp>
      <p:sp>
        <p:nvSpPr>
          <p:cNvPr id="55" name="Shape 53"/>
          <p:cNvSpPr/>
          <p:nvPr/>
        </p:nvSpPr>
        <p:spPr>
          <a:xfrm>
            <a:off x="7605015" y="3114467"/>
            <a:ext cx="3978542" cy="1063477"/>
          </a:xfrm>
          <a:custGeom>
            <a:avLst/>
            <a:gdLst/>
            <a:ahLst/>
            <a:cxnLst/>
            <a:rect l="l" t="t" r="r" b="b"/>
            <a:pathLst>
              <a:path w="3978542" h="1063477">
                <a:moveTo>
                  <a:pt x="0" y="0"/>
                </a:moveTo>
                <a:lnTo>
                  <a:pt x="3978542" y="0"/>
                </a:lnTo>
                <a:lnTo>
                  <a:pt x="3978542" y="1063477"/>
                </a:lnTo>
                <a:lnTo>
                  <a:pt x="0" y="1063477"/>
                </a:lnTo>
                <a:lnTo>
                  <a:pt x="0" y="0"/>
                </a:lnTo>
                <a:close/>
              </a:path>
            </a:pathLst>
          </a:custGeom>
          <a:solidFill>
            <a:srgbClr val="FFFFFF"/>
          </a:solidFill>
          <a:ln/>
        </p:spPr>
      </p:sp>
      <p:sp>
        <p:nvSpPr>
          <p:cNvPr id="56" name="Shape 54"/>
          <p:cNvSpPr/>
          <p:nvPr/>
        </p:nvSpPr>
        <p:spPr>
          <a:xfrm>
            <a:off x="7605015" y="3114467"/>
            <a:ext cx="37981" cy="1063477"/>
          </a:xfrm>
          <a:custGeom>
            <a:avLst/>
            <a:gdLst/>
            <a:ahLst/>
            <a:cxnLst/>
            <a:rect l="l" t="t" r="r" b="b"/>
            <a:pathLst>
              <a:path w="37981" h="1063477">
                <a:moveTo>
                  <a:pt x="0" y="0"/>
                </a:moveTo>
                <a:lnTo>
                  <a:pt x="37981" y="0"/>
                </a:lnTo>
                <a:lnTo>
                  <a:pt x="37981" y="1063477"/>
                </a:lnTo>
                <a:lnTo>
                  <a:pt x="0" y="1063477"/>
                </a:lnTo>
                <a:lnTo>
                  <a:pt x="0" y="0"/>
                </a:lnTo>
                <a:close/>
              </a:path>
            </a:pathLst>
          </a:custGeom>
          <a:solidFill>
            <a:srgbClr val="6B7280"/>
          </a:solidFill>
          <a:ln/>
        </p:spPr>
      </p:sp>
      <p:sp>
        <p:nvSpPr>
          <p:cNvPr id="57" name="Shape 55"/>
          <p:cNvSpPr/>
          <p:nvPr/>
        </p:nvSpPr>
        <p:spPr>
          <a:xfrm>
            <a:off x="7794922" y="3304374"/>
            <a:ext cx="151925" cy="151925"/>
          </a:xfrm>
          <a:custGeom>
            <a:avLst/>
            <a:gdLst/>
            <a:ahLst/>
            <a:cxnLst/>
            <a:rect l="l" t="t" r="r" b="b"/>
            <a:pathLst>
              <a:path w="151925" h="151925">
                <a:moveTo>
                  <a:pt x="75963" y="0"/>
                </a:moveTo>
                <a:cubicBezTo>
                  <a:pt x="80325" y="0"/>
                  <a:pt x="84330" y="2404"/>
                  <a:pt x="86407" y="6231"/>
                </a:cubicBezTo>
                <a:lnTo>
                  <a:pt x="150501" y="124923"/>
                </a:lnTo>
                <a:cubicBezTo>
                  <a:pt x="152489" y="128602"/>
                  <a:pt x="152400" y="133053"/>
                  <a:pt x="150264" y="136644"/>
                </a:cubicBezTo>
                <a:cubicBezTo>
                  <a:pt x="148127" y="140234"/>
                  <a:pt x="144240" y="142430"/>
                  <a:pt x="140056" y="142430"/>
                </a:cubicBezTo>
                <a:lnTo>
                  <a:pt x="11869" y="142430"/>
                </a:lnTo>
                <a:cubicBezTo>
                  <a:pt x="7685" y="142430"/>
                  <a:pt x="3828" y="140234"/>
                  <a:pt x="1662" y="136644"/>
                </a:cubicBezTo>
                <a:cubicBezTo>
                  <a:pt x="-504" y="133053"/>
                  <a:pt x="-564" y="128602"/>
                  <a:pt x="1424" y="124923"/>
                </a:cubicBezTo>
                <a:lnTo>
                  <a:pt x="65518" y="6231"/>
                </a:lnTo>
                <a:cubicBezTo>
                  <a:pt x="67595" y="2404"/>
                  <a:pt x="71601" y="0"/>
                  <a:pt x="75963" y="0"/>
                </a:cubicBezTo>
                <a:close/>
                <a:moveTo>
                  <a:pt x="75963" y="49850"/>
                </a:moveTo>
                <a:cubicBezTo>
                  <a:pt x="72016" y="49850"/>
                  <a:pt x="68841" y="53025"/>
                  <a:pt x="68841" y="56972"/>
                </a:cubicBezTo>
                <a:lnTo>
                  <a:pt x="68841" y="90206"/>
                </a:lnTo>
                <a:cubicBezTo>
                  <a:pt x="68841" y="94152"/>
                  <a:pt x="72016" y="97327"/>
                  <a:pt x="75963" y="97327"/>
                </a:cubicBezTo>
                <a:cubicBezTo>
                  <a:pt x="79909" y="97327"/>
                  <a:pt x="83084" y="94152"/>
                  <a:pt x="83084" y="90206"/>
                </a:cubicBezTo>
                <a:lnTo>
                  <a:pt x="83084" y="56972"/>
                </a:lnTo>
                <a:cubicBezTo>
                  <a:pt x="83084" y="53025"/>
                  <a:pt x="79909" y="49850"/>
                  <a:pt x="75963" y="49850"/>
                </a:cubicBezTo>
                <a:close/>
                <a:moveTo>
                  <a:pt x="83885" y="113944"/>
                </a:moveTo>
                <a:cubicBezTo>
                  <a:pt x="84066" y="111003"/>
                  <a:pt x="82599" y="108205"/>
                  <a:pt x="80078" y="106680"/>
                </a:cubicBezTo>
                <a:cubicBezTo>
                  <a:pt x="77557" y="105155"/>
                  <a:pt x="74398" y="105155"/>
                  <a:pt x="71877" y="106680"/>
                </a:cubicBezTo>
                <a:cubicBezTo>
                  <a:pt x="69356" y="108205"/>
                  <a:pt x="67889" y="111003"/>
                  <a:pt x="68070" y="113944"/>
                </a:cubicBezTo>
                <a:cubicBezTo>
                  <a:pt x="67889" y="116885"/>
                  <a:pt x="69356" y="119683"/>
                  <a:pt x="71877" y="121208"/>
                </a:cubicBezTo>
                <a:cubicBezTo>
                  <a:pt x="74398" y="122732"/>
                  <a:pt x="77557" y="122732"/>
                  <a:pt x="80078" y="121208"/>
                </a:cubicBezTo>
                <a:cubicBezTo>
                  <a:pt x="82599" y="119683"/>
                  <a:pt x="84066" y="116885"/>
                  <a:pt x="83885" y="113944"/>
                </a:cubicBezTo>
                <a:close/>
              </a:path>
            </a:pathLst>
          </a:custGeom>
          <a:solidFill>
            <a:srgbClr val="6B7280"/>
          </a:solidFill>
          <a:ln/>
        </p:spPr>
      </p:sp>
      <p:sp>
        <p:nvSpPr>
          <p:cNvPr id="58" name="Text 56"/>
          <p:cNvSpPr/>
          <p:nvPr/>
        </p:nvSpPr>
        <p:spPr>
          <a:xfrm>
            <a:off x="8041800" y="3266393"/>
            <a:ext cx="1253383" cy="227888"/>
          </a:xfrm>
          <a:prstGeom prst="rect">
            <a:avLst/>
          </a:prstGeom>
          <a:noFill/>
          <a:ln/>
        </p:spPr>
        <p:txBody>
          <a:bodyPr wrap="square" lIns="0" tIns="0" rIns="0" bIns="0" rtlCol="0" anchor="ctr"/>
          <a:lstStyle/>
          <a:p>
            <a:pPr>
              <a:lnSpc>
                <a:spcPct val="130000"/>
              </a:lnSpc>
            </a:pPr>
            <a:r>
              <a:rPr lang="en-US" sz="1196" b="1" dirty="0">
                <a:solidFill>
                  <a:srgbClr val="1F2937"/>
                </a:solidFill>
                <a:latin typeface="Sorts Mill Goudy" pitchFamily="34" charset="0"/>
                <a:ea typeface="Sorts Mill Goudy" pitchFamily="34" charset="-122"/>
                <a:cs typeface="Sorts Mill Goudy" pitchFamily="34" charset="-120"/>
              </a:rPr>
              <a:t>Most Challenging</a:t>
            </a:r>
            <a:endParaRPr lang="en-US" sz="1600" dirty="0"/>
          </a:p>
        </p:txBody>
      </p:sp>
      <p:sp>
        <p:nvSpPr>
          <p:cNvPr id="59" name="Text 57"/>
          <p:cNvSpPr/>
          <p:nvPr/>
        </p:nvSpPr>
        <p:spPr>
          <a:xfrm>
            <a:off x="7775931" y="3570243"/>
            <a:ext cx="3731664" cy="455776"/>
          </a:xfrm>
          <a:prstGeom prst="rect">
            <a:avLst/>
          </a:prstGeom>
          <a:noFill/>
          <a:ln/>
        </p:spPr>
        <p:txBody>
          <a:bodyPr wrap="square" lIns="0" tIns="0" rIns="0" bIns="0" rtlCol="0" anchor="ctr"/>
          <a:lstStyle/>
          <a:p>
            <a:pPr>
              <a:lnSpc>
                <a:spcPct val="130000"/>
              </a:lnSpc>
            </a:pPr>
            <a:r>
              <a:rPr lang="en-US" sz="1196" b="1" dirty="0">
                <a:solidFill>
                  <a:srgbClr val="6B7280"/>
                </a:solidFill>
                <a:latin typeface="Sorts Mill Goudy" pitchFamily="34" charset="0"/>
                <a:ea typeface="Sorts Mill Goudy" pitchFamily="34" charset="-122"/>
                <a:cs typeface="Sorts Mill Goudy" pitchFamily="34" charset="-120"/>
              </a:rPr>
              <a:t>WHY</a:t>
            </a:r>
            <a:r>
              <a:rPr lang="en-US" sz="1196" dirty="0">
                <a:solidFill>
                  <a:srgbClr val="6B7280"/>
                </a:solidFill>
                <a:latin typeface="Sorts Mill Goudy" pitchFamily="34" charset="0"/>
                <a:ea typeface="Sorts Mill Goudy" pitchFamily="34" charset="-122"/>
                <a:cs typeface="Sorts Mill Goudy" pitchFamily="34" charset="-120"/>
              </a:rPr>
              <a:t> questions (EM: 0.175) — causal reasoning requires complex inference</a:t>
            </a:r>
            <a:endParaRPr lang="en-US" sz="1600" dirty="0"/>
          </a:p>
        </p:txBody>
      </p:sp>
      <p:sp>
        <p:nvSpPr>
          <p:cNvPr id="60" name="Shape 58"/>
          <p:cNvSpPr/>
          <p:nvPr/>
        </p:nvSpPr>
        <p:spPr>
          <a:xfrm>
            <a:off x="7605015" y="4329869"/>
            <a:ext cx="3978542" cy="1063477"/>
          </a:xfrm>
          <a:custGeom>
            <a:avLst/>
            <a:gdLst/>
            <a:ahLst/>
            <a:cxnLst/>
            <a:rect l="l" t="t" r="r" b="b"/>
            <a:pathLst>
              <a:path w="3978542" h="1063477">
                <a:moveTo>
                  <a:pt x="0" y="0"/>
                </a:moveTo>
                <a:lnTo>
                  <a:pt x="3978542" y="0"/>
                </a:lnTo>
                <a:lnTo>
                  <a:pt x="3978542" y="1063477"/>
                </a:lnTo>
                <a:lnTo>
                  <a:pt x="0" y="1063477"/>
                </a:lnTo>
                <a:lnTo>
                  <a:pt x="0" y="0"/>
                </a:lnTo>
                <a:close/>
              </a:path>
            </a:pathLst>
          </a:custGeom>
          <a:solidFill>
            <a:srgbClr val="FFFFFF"/>
          </a:solidFill>
          <a:ln/>
        </p:spPr>
      </p:sp>
      <p:sp>
        <p:nvSpPr>
          <p:cNvPr id="61" name="Shape 59"/>
          <p:cNvSpPr/>
          <p:nvPr/>
        </p:nvSpPr>
        <p:spPr>
          <a:xfrm>
            <a:off x="7605015" y="4329869"/>
            <a:ext cx="37981" cy="1063477"/>
          </a:xfrm>
          <a:custGeom>
            <a:avLst/>
            <a:gdLst/>
            <a:ahLst/>
            <a:cxnLst/>
            <a:rect l="l" t="t" r="r" b="b"/>
            <a:pathLst>
              <a:path w="37981" h="1063477">
                <a:moveTo>
                  <a:pt x="0" y="0"/>
                </a:moveTo>
                <a:lnTo>
                  <a:pt x="37981" y="0"/>
                </a:lnTo>
                <a:lnTo>
                  <a:pt x="37981" y="1063477"/>
                </a:lnTo>
                <a:lnTo>
                  <a:pt x="0" y="1063477"/>
                </a:lnTo>
                <a:lnTo>
                  <a:pt x="0" y="0"/>
                </a:lnTo>
                <a:close/>
              </a:path>
            </a:pathLst>
          </a:custGeom>
          <a:solidFill>
            <a:srgbClr val="8B0000"/>
          </a:solidFill>
          <a:ln/>
        </p:spPr>
      </p:sp>
      <p:sp>
        <p:nvSpPr>
          <p:cNvPr id="62" name="Shape 60"/>
          <p:cNvSpPr/>
          <p:nvPr/>
        </p:nvSpPr>
        <p:spPr>
          <a:xfrm>
            <a:off x="7794922" y="4519776"/>
            <a:ext cx="151925" cy="151925"/>
          </a:xfrm>
          <a:custGeom>
            <a:avLst/>
            <a:gdLst/>
            <a:ahLst/>
            <a:cxnLst/>
            <a:rect l="l" t="t" r="r" b="b"/>
            <a:pathLst>
              <a:path w="151925" h="151925">
                <a:moveTo>
                  <a:pt x="9495" y="9495"/>
                </a:moveTo>
                <a:cubicBezTo>
                  <a:pt x="14747" y="9495"/>
                  <a:pt x="18991" y="13739"/>
                  <a:pt x="18991" y="18991"/>
                </a:cubicBezTo>
                <a:lnTo>
                  <a:pt x="18991" y="118692"/>
                </a:lnTo>
                <a:cubicBezTo>
                  <a:pt x="18991" y="121303"/>
                  <a:pt x="21127" y="123439"/>
                  <a:pt x="23738" y="123439"/>
                </a:cubicBezTo>
                <a:lnTo>
                  <a:pt x="142430" y="123439"/>
                </a:lnTo>
                <a:cubicBezTo>
                  <a:pt x="147682" y="123439"/>
                  <a:pt x="151925" y="127682"/>
                  <a:pt x="151925" y="132935"/>
                </a:cubicBezTo>
                <a:cubicBezTo>
                  <a:pt x="151925" y="138187"/>
                  <a:pt x="147682" y="142430"/>
                  <a:pt x="142430" y="142430"/>
                </a:cubicBezTo>
                <a:lnTo>
                  <a:pt x="23738" y="142430"/>
                </a:lnTo>
                <a:cubicBezTo>
                  <a:pt x="10623" y="142430"/>
                  <a:pt x="0" y="131807"/>
                  <a:pt x="0" y="118692"/>
                </a:cubicBezTo>
                <a:lnTo>
                  <a:pt x="0" y="18991"/>
                </a:lnTo>
                <a:cubicBezTo>
                  <a:pt x="0" y="13739"/>
                  <a:pt x="4243" y="9495"/>
                  <a:pt x="9495" y="9495"/>
                </a:cubicBezTo>
                <a:close/>
                <a:moveTo>
                  <a:pt x="37981" y="28486"/>
                </a:moveTo>
                <a:cubicBezTo>
                  <a:pt x="37981" y="23234"/>
                  <a:pt x="42225" y="18991"/>
                  <a:pt x="47477" y="18991"/>
                </a:cubicBezTo>
                <a:lnTo>
                  <a:pt x="104449" y="18991"/>
                </a:lnTo>
                <a:cubicBezTo>
                  <a:pt x="109701" y="18991"/>
                  <a:pt x="113944" y="23234"/>
                  <a:pt x="113944" y="28486"/>
                </a:cubicBezTo>
                <a:cubicBezTo>
                  <a:pt x="113944" y="33738"/>
                  <a:pt x="109701" y="37981"/>
                  <a:pt x="104449" y="37981"/>
                </a:cubicBezTo>
                <a:lnTo>
                  <a:pt x="47477" y="37981"/>
                </a:lnTo>
                <a:cubicBezTo>
                  <a:pt x="42225" y="37981"/>
                  <a:pt x="37981" y="33738"/>
                  <a:pt x="37981" y="28486"/>
                </a:cubicBezTo>
                <a:close/>
                <a:moveTo>
                  <a:pt x="47477" y="52224"/>
                </a:moveTo>
                <a:lnTo>
                  <a:pt x="85458" y="52224"/>
                </a:lnTo>
                <a:cubicBezTo>
                  <a:pt x="90710" y="52224"/>
                  <a:pt x="94953" y="56468"/>
                  <a:pt x="94953" y="61720"/>
                </a:cubicBezTo>
                <a:cubicBezTo>
                  <a:pt x="94953" y="66972"/>
                  <a:pt x="90710" y="71215"/>
                  <a:pt x="85458" y="71215"/>
                </a:cubicBezTo>
                <a:lnTo>
                  <a:pt x="47477" y="71215"/>
                </a:lnTo>
                <a:cubicBezTo>
                  <a:pt x="42225" y="71215"/>
                  <a:pt x="37981" y="66972"/>
                  <a:pt x="37981" y="61720"/>
                </a:cubicBezTo>
                <a:cubicBezTo>
                  <a:pt x="37981" y="56468"/>
                  <a:pt x="42225" y="52224"/>
                  <a:pt x="47477" y="52224"/>
                </a:cubicBezTo>
                <a:close/>
                <a:moveTo>
                  <a:pt x="47477" y="85458"/>
                </a:moveTo>
                <a:lnTo>
                  <a:pt x="123439" y="85458"/>
                </a:lnTo>
                <a:cubicBezTo>
                  <a:pt x="128691" y="85458"/>
                  <a:pt x="132935" y="89701"/>
                  <a:pt x="132935" y="94953"/>
                </a:cubicBezTo>
                <a:cubicBezTo>
                  <a:pt x="132935" y="100205"/>
                  <a:pt x="128691" y="104449"/>
                  <a:pt x="123439" y="104449"/>
                </a:cubicBezTo>
                <a:lnTo>
                  <a:pt x="47477" y="104449"/>
                </a:lnTo>
                <a:cubicBezTo>
                  <a:pt x="42225" y="104449"/>
                  <a:pt x="37981" y="100205"/>
                  <a:pt x="37981" y="94953"/>
                </a:cubicBezTo>
                <a:cubicBezTo>
                  <a:pt x="37981" y="89701"/>
                  <a:pt x="42225" y="85458"/>
                  <a:pt x="47477" y="85458"/>
                </a:cubicBezTo>
                <a:close/>
              </a:path>
            </a:pathLst>
          </a:custGeom>
          <a:solidFill>
            <a:srgbClr val="8B0000"/>
          </a:solidFill>
          <a:ln/>
        </p:spPr>
      </p:sp>
      <p:sp>
        <p:nvSpPr>
          <p:cNvPr id="63" name="Text 61"/>
          <p:cNvSpPr/>
          <p:nvPr/>
        </p:nvSpPr>
        <p:spPr>
          <a:xfrm>
            <a:off x="8041800" y="4481794"/>
            <a:ext cx="1148935" cy="227888"/>
          </a:xfrm>
          <a:prstGeom prst="rect">
            <a:avLst/>
          </a:prstGeom>
          <a:noFill/>
          <a:ln/>
        </p:spPr>
        <p:txBody>
          <a:bodyPr wrap="square" lIns="0" tIns="0" rIns="0" bIns="0" rtlCol="0" anchor="ctr"/>
          <a:lstStyle/>
          <a:p>
            <a:pPr>
              <a:lnSpc>
                <a:spcPct val="130000"/>
              </a:lnSpc>
            </a:pPr>
            <a:r>
              <a:rPr lang="en-US" sz="1196" b="1" dirty="0">
                <a:solidFill>
                  <a:srgbClr val="1F2937"/>
                </a:solidFill>
                <a:latin typeface="Sorts Mill Goudy" pitchFamily="34" charset="0"/>
                <a:ea typeface="Sorts Mill Goudy" pitchFamily="34" charset="-122"/>
                <a:cs typeface="Sorts Mill Goudy" pitchFamily="34" charset="-120"/>
              </a:rPr>
              <a:t>Highest Volume</a:t>
            </a:r>
            <a:endParaRPr lang="en-US" sz="1600" dirty="0"/>
          </a:p>
        </p:txBody>
      </p:sp>
      <p:sp>
        <p:nvSpPr>
          <p:cNvPr id="64" name="Text 62"/>
          <p:cNvSpPr/>
          <p:nvPr/>
        </p:nvSpPr>
        <p:spPr>
          <a:xfrm>
            <a:off x="7775931" y="4785645"/>
            <a:ext cx="3731664" cy="455776"/>
          </a:xfrm>
          <a:prstGeom prst="rect">
            <a:avLst/>
          </a:prstGeom>
          <a:noFill/>
          <a:ln/>
        </p:spPr>
        <p:txBody>
          <a:bodyPr wrap="square" lIns="0" tIns="0" rIns="0" bIns="0" rtlCol="0" anchor="ctr"/>
          <a:lstStyle/>
          <a:p>
            <a:pPr>
              <a:lnSpc>
                <a:spcPct val="130000"/>
              </a:lnSpc>
            </a:pPr>
            <a:r>
              <a:rPr lang="en-US" sz="1196" b="1" dirty="0">
                <a:solidFill>
                  <a:srgbClr val="6B7280"/>
                </a:solidFill>
                <a:latin typeface="Sorts Mill Goudy" pitchFamily="34" charset="0"/>
                <a:ea typeface="Sorts Mill Goudy" pitchFamily="34" charset="-122"/>
                <a:cs typeface="Sorts Mill Goudy" pitchFamily="34" charset="-120"/>
              </a:rPr>
              <a:t>WHAT</a:t>
            </a:r>
            <a:r>
              <a:rPr lang="en-US" sz="1196" dirty="0">
                <a:solidFill>
                  <a:srgbClr val="6B7280"/>
                </a:solidFill>
                <a:latin typeface="Sorts Mill Goudy" pitchFamily="34" charset="0"/>
                <a:ea typeface="Sorts Mill Goudy" pitchFamily="34" charset="-122"/>
                <a:cs typeface="Sorts Mill Goudy" pitchFamily="34" charset="-120"/>
              </a:rPr>
              <a:t> questions (n=1937, 56% of test set) — patient/theme roles dominate</a:t>
            </a:r>
            <a:endParaRPr lang="en-US" sz="1600" dirty="0"/>
          </a:p>
        </p:txBody>
      </p:sp>
      <p:sp>
        <p:nvSpPr>
          <p:cNvPr id="65" name="Shape 63"/>
          <p:cNvSpPr/>
          <p:nvPr/>
        </p:nvSpPr>
        <p:spPr>
          <a:xfrm>
            <a:off x="7362884" y="5853869"/>
            <a:ext cx="4443813" cy="997009"/>
          </a:xfrm>
          <a:custGeom>
            <a:avLst/>
            <a:gdLst/>
            <a:ahLst/>
            <a:cxnLst/>
            <a:rect l="l" t="t" r="r" b="b"/>
            <a:pathLst>
              <a:path w="4443813" h="997009">
                <a:moveTo>
                  <a:pt x="0" y="0"/>
                </a:moveTo>
                <a:lnTo>
                  <a:pt x="4443813" y="0"/>
                </a:lnTo>
                <a:lnTo>
                  <a:pt x="4443813" y="997009"/>
                </a:lnTo>
                <a:lnTo>
                  <a:pt x="0" y="997009"/>
                </a:lnTo>
                <a:lnTo>
                  <a:pt x="0" y="0"/>
                </a:lnTo>
                <a:close/>
              </a:path>
            </a:pathLst>
          </a:custGeom>
          <a:solidFill>
            <a:srgbClr val="8B0000">
              <a:alpha val="5098"/>
            </a:srgbClr>
          </a:solidFill>
          <a:ln w="12700">
            <a:solidFill>
              <a:srgbClr val="8B0000">
                <a:alpha val="20000"/>
              </a:srgbClr>
            </a:solidFill>
            <a:prstDash val="solid"/>
          </a:ln>
        </p:spPr>
      </p:sp>
      <p:sp>
        <p:nvSpPr>
          <p:cNvPr id="66" name="Text 64"/>
          <p:cNvSpPr/>
          <p:nvPr/>
        </p:nvSpPr>
        <p:spPr>
          <a:xfrm>
            <a:off x="7519557" y="6010542"/>
            <a:ext cx="4206430" cy="683664"/>
          </a:xfrm>
          <a:prstGeom prst="rect">
            <a:avLst/>
          </a:prstGeom>
          <a:noFill/>
          <a:ln/>
        </p:spPr>
        <p:txBody>
          <a:bodyPr wrap="square" lIns="0" tIns="0" rIns="0" bIns="0" rtlCol="0" anchor="ctr"/>
          <a:lstStyle/>
          <a:p>
            <a:pPr>
              <a:lnSpc>
                <a:spcPct val="130000"/>
              </a:lnSpc>
            </a:pPr>
            <a:r>
              <a:rPr lang="en-US" sz="1196" b="1" dirty="0">
                <a:solidFill>
                  <a:srgbClr val="1F2937"/>
                </a:solidFill>
                <a:latin typeface="Sorts Mill Goudy" pitchFamily="34" charset="0"/>
                <a:ea typeface="Sorts Mill Goudy" pitchFamily="34" charset="-122"/>
                <a:cs typeface="Sorts Mill Goudy" pitchFamily="34" charset="-120"/>
              </a:rPr>
              <a:t>Pattern:</a:t>
            </a:r>
            <a:r>
              <a:rPr lang="en-US" sz="1196" dirty="0">
                <a:solidFill>
                  <a:srgbClr val="1F2937"/>
                </a:solidFill>
                <a:latin typeface="Sorts Mill Goudy" pitchFamily="34" charset="0"/>
                <a:ea typeface="Sorts Mill Goudy" pitchFamily="34" charset="-122"/>
                <a:cs typeface="Sorts Mill Goudy" pitchFamily="34" charset="-120"/>
              </a:rPr>
              <a:t> Performance correlates with role frequency and semantic clarity. Rare and complex modifiers (CAU, PNC) are harder than core arguments.</a:t>
            </a:r>
            <a:endParaRPr lang="en-US" sz="1600" dirty="0"/>
          </a:p>
        </p:txBody>
      </p:sp>
    </p:spTree>
    <p:extLst>
      <p:ext uri="{BB962C8B-B14F-4D97-AF65-F5344CB8AC3E}">
        <p14:creationId xmlns:p14="http://schemas.microsoft.com/office/powerpoint/2010/main" val="320955449"/>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8B0000"/>
                </a:solidFill>
                <a:latin typeface="Sorts Mill Goudy" pitchFamily="34" charset="0"/>
                <a:ea typeface="Sorts Mill Goudy" pitchFamily="34" charset="-122"/>
                <a:cs typeface="Sorts Mill Goudy" pitchFamily="34" charset="-120"/>
              </a:rPr>
              <a:t>6.3 EXPERIMENTAL RESULTS</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Hybrid Upgrade Benchmark</a:t>
            </a:r>
            <a:endParaRPr lang="en-US" sz="1600" dirty="0"/>
          </a:p>
        </p:txBody>
      </p:sp>
      <p:sp>
        <p:nvSpPr>
          <p:cNvPr id="4" name="Shape 2"/>
          <p:cNvSpPr/>
          <p:nvPr/>
        </p:nvSpPr>
        <p:spPr>
          <a:xfrm>
            <a:off x="381000" y="1257300"/>
            <a:ext cx="5562600" cy="5314950"/>
          </a:xfrm>
          <a:custGeom>
            <a:avLst/>
            <a:gdLst/>
            <a:ahLst/>
            <a:cxnLst/>
            <a:rect l="l" t="t" r="r" b="b"/>
            <a:pathLst>
              <a:path w="5562600" h="5314950">
                <a:moveTo>
                  <a:pt x="0" y="0"/>
                </a:moveTo>
                <a:lnTo>
                  <a:pt x="5562600" y="0"/>
                </a:lnTo>
                <a:lnTo>
                  <a:pt x="5562600" y="5314950"/>
                </a:lnTo>
                <a:lnTo>
                  <a:pt x="0" y="5314950"/>
                </a:lnTo>
                <a:lnTo>
                  <a:pt x="0" y="0"/>
                </a:lnTo>
                <a:close/>
              </a:path>
            </a:pathLst>
          </a:custGeom>
          <a:solidFill>
            <a:srgbClr val="F9FAFB"/>
          </a:solidFill>
          <a:ln/>
        </p:spPr>
      </p:sp>
      <p:sp>
        <p:nvSpPr>
          <p:cNvPr id="5" name="Text 3"/>
          <p:cNvSpPr/>
          <p:nvPr/>
        </p:nvSpPr>
        <p:spPr>
          <a:xfrm>
            <a:off x="609600" y="1485900"/>
            <a:ext cx="52006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Four Inference Tracks</a:t>
            </a:r>
            <a:endParaRPr lang="en-US" sz="1600" dirty="0"/>
          </a:p>
        </p:txBody>
      </p:sp>
      <p:sp>
        <p:nvSpPr>
          <p:cNvPr id="6" name="Text 4"/>
          <p:cNvSpPr/>
          <p:nvPr/>
        </p:nvSpPr>
        <p:spPr>
          <a:xfrm>
            <a:off x="609600" y="1905000"/>
            <a:ext cx="5181600" cy="49530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Research-grade hybrid inference layer on top of original checkpoint—</a:t>
            </a:r>
            <a:r>
              <a:rPr lang="en-US" sz="1200" b="1" dirty="0">
                <a:solidFill>
                  <a:srgbClr val="1F2937"/>
                </a:solidFill>
                <a:latin typeface="Sorts Mill Goudy" pitchFamily="34" charset="0"/>
                <a:ea typeface="Sorts Mill Goudy" pitchFamily="34" charset="-122"/>
                <a:cs typeface="Sorts Mill Goudy" pitchFamily="34" charset="-120"/>
              </a:rPr>
              <a:t>local improvements</a:t>
            </a:r>
            <a:r>
              <a:rPr lang="en-US" sz="1200" dirty="0">
                <a:solidFill>
                  <a:srgbClr val="1F2937"/>
                </a:solidFill>
                <a:latin typeface="Sorts Mill Goudy" pitchFamily="34" charset="0"/>
                <a:ea typeface="Sorts Mill Goudy" pitchFamily="34" charset="-122"/>
                <a:cs typeface="Sorts Mill Goudy" pitchFamily="34" charset="-120"/>
              </a:rPr>
              <a:t> rather than retrained models:</a:t>
            </a:r>
            <a:endParaRPr lang="en-US" sz="1600" dirty="0"/>
          </a:p>
        </p:txBody>
      </p:sp>
      <p:sp>
        <p:nvSpPr>
          <p:cNvPr id="7" name="Shape 5"/>
          <p:cNvSpPr/>
          <p:nvPr/>
        </p:nvSpPr>
        <p:spPr>
          <a:xfrm>
            <a:off x="619125" y="2562225"/>
            <a:ext cx="5086350" cy="857250"/>
          </a:xfrm>
          <a:custGeom>
            <a:avLst/>
            <a:gdLst/>
            <a:ahLst/>
            <a:cxnLst/>
            <a:rect l="l" t="t" r="r" b="b"/>
            <a:pathLst>
              <a:path w="5086350" h="857250">
                <a:moveTo>
                  <a:pt x="0" y="0"/>
                </a:moveTo>
                <a:lnTo>
                  <a:pt x="5086350" y="0"/>
                </a:lnTo>
                <a:lnTo>
                  <a:pt x="5086350" y="857250"/>
                </a:lnTo>
                <a:lnTo>
                  <a:pt x="0" y="857250"/>
                </a:lnTo>
                <a:lnTo>
                  <a:pt x="0" y="0"/>
                </a:lnTo>
                <a:close/>
              </a:path>
            </a:pathLst>
          </a:custGeom>
          <a:solidFill>
            <a:srgbClr val="FFFFFF"/>
          </a:solidFill>
          <a:ln w="25400">
            <a:solidFill>
              <a:srgbClr val="8B0000"/>
            </a:solidFill>
            <a:prstDash val="solid"/>
          </a:ln>
        </p:spPr>
      </p:sp>
      <p:sp>
        <p:nvSpPr>
          <p:cNvPr id="8" name="Text 6"/>
          <p:cNvSpPr/>
          <p:nvPr/>
        </p:nvSpPr>
        <p:spPr>
          <a:xfrm>
            <a:off x="781050" y="2724150"/>
            <a:ext cx="13525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1. Classical Baseline</a:t>
            </a:r>
            <a:endParaRPr lang="en-US" sz="1600" dirty="0"/>
          </a:p>
        </p:txBody>
      </p:sp>
      <p:sp>
        <p:nvSpPr>
          <p:cNvPr id="9" name="Text 7"/>
          <p:cNvSpPr/>
          <p:nvPr/>
        </p:nvSpPr>
        <p:spPr>
          <a:xfrm>
            <a:off x="4999881" y="2724150"/>
            <a:ext cx="619125" cy="228600"/>
          </a:xfrm>
          <a:prstGeom prst="rect">
            <a:avLst/>
          </a:prstGeom>
          <a:noFill/>
          <a:ln/>
        </p:spPr>
        <p:txBody>
          <a:bodyPr wrap="square" lIns="0" tIns="0" rIns="0" bIns="0" rtlCol="0" anchor="ctr"/>
          <a:lstStyle/>
          <a:p>
            <a:pPr>
              <a:lnSpc>
                <a:spcPct val="130000"/>
              </a:lnSpc>
            </a:pPr>
            <a:r>
              <a:rPr lang="en-US" sz="1200" b="1" dirty="0">
                <a:solidFill>
                  <a:srgbClr val="8B0000"/>
                </a:solidFill>
                <a:latin typeface="Sorts Mill Goudy" pitchFamily="34" charset="0"/>
                <a:ea typeface="Sorts Mill Goudy" pitchFamily="34" charset="-122"/>
                <a:cs typeface="Sorts Mill Goudy" pitchFamily="34" charset="-120"/>
              </a:rPr>
              <a:t>F1: 0.309</a:t>
            </a:r>
            <a:endParaRPr lang="en-US" sz="1600" dirty="0"/>
          </a:p>
        </p:txBody>
      </p:sp>
      <p:sp>
        <p:nvSpPr>
          <p:cNvPr id="10" name="Text 8"/>
          <p:cNvSpPr/>
          <p:nvPr/>
        </p:nvSpPr>
        <p:spPr>
          <a:xfrm>
            <a:off x="781050" y="3028950"/>
            <a:ext cx="483870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Original PropQA-Net, 3.96ms latency</a:t>
            </a:r>
            <a:endParaRPr lang="en-US" sz="1600" dirty="0"/>
          </a:p>
        </p:txBody>
      </p:sp>
      <p:sp>
        <p:nvSpPr>
          <p:cNvPr id="11" name="Shape 9"/>
          <p:cNvSpPr/>
          <p:nvPr/>
        </p:nvSpPr>
        <p:spPr>
          <a:xfrm>
            <a:off x="614363" y="354806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12" name="Text 10"/>
          <p:cNvSpPr/>
          <p:nvPr/>
        </p:nvSpPr>
        <p:spPr>
          <a:xfrm>
            <a:off x="771525" y="3705225"/>
            <a:ext cx="14668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2. Heuristic Reranker</a:t>
            </a:r>
            <a:endParaRPr lang="en-US" sz="1600" dirty="0"/>
          </a:p>
        </p:txBody>
      </p:sp>
      <p:sp>
        <p:nvSpPr>
          <p:cNvPr id="13" name="Text 11"/>
          <p:cNvSpPr/>
          <p:nvPr/>
        </p:nvSpPr>
        <p:spPr>
          <a:xfrm>
            <a:off x="5020866" y="3705225"/>
            <a:ext cx="609600" cy="228600"/>
          </a:xfrm>
          <a:prstGeom prst="rect">
            <a:avLst/>
          </a:prstGeom>
          <a:noFill/>
          <a:ln/>
        </p:spPr>
        <p:txBody>
          <a:bodyPr wrap="square" lIns="0" tIns="0" rIns="0" bIns="0" rtlCol="0" anchor="ctr"/>
          <a:lstStyle/>
          <a:p>
            <a:pPr>
              <a:lnSpc>
                <a:spcPct val="130000"/>
              </a:lnSpc>
            </a:pPr>
            <a:r>
              <a:rPr lang="en-US" sz="1200" b="1" dirty="0">
                <a:solidFill>
                  <a:srgbClr val="8B0000"/>
                </a:solidFill>
                <a:latin typeface="Sorts Mill Goudy" pitchFamily="34" charset="0"/>
                <a:ea typeface="Sorts Mill Goudy" pitchFamily="34" charset="-122"/>
                <a:cs typeface="Sorts Mill Goudy" pitchFamily="34" charset="-120"/>
              </a:rPr>
              <a:t>F1: 0.418</a:t>
            </a:r>
            <a:endParaRPr lang="en-US" sz="1600" dirty="0"/>
          </a:p>
        </p:txBody>
      </p:sp>
      <p:sp>
        <p:nvSpPr>
          <p:cNvPr id="14" name="Text 12"/>
          <p:cNvSpPr/>
          <p:nvPr/>
        </p:nvSpPr>
        <p:spPr>
          <a:xfrm>
            <a:off x="771525" y="401002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Role-aware semantic reranking, 4.98ms latency</a:t>
            </a:r>
            <a:endParaRPr lang="en-US" sz="1600" dirty="0"/>
          </a:p>
        </p:txBody>
      </p:sp>
      <p:sp>
        <p:nvSpPr>
          <p:cNvPr id="15" name="Shape 13"/>
          <p:cNvSpPr/>
          <p:nvPr/>
        </p:nvSpPr>
        <p:spPr>
          <a:xfrm>
            <a:off x="614363" y="451961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16" name="Text 14"/>
          <p:cNvSpPr/>
          <p:nvPr/>
        </p:nvSpPr>
        <p:spPr>
          <a:xfrm>
            <a:off x="771525" y="4676775"/>
            <a:ext cx="17526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3. Transformer QA Assist</a:t>
            </a:r>
            <a:endParaRPr lang="en-US" sz="1600" dirty="0"/>
          </a:p>
        </p:txBody>
      </p:sp>
      <p:sp>
        <p:nvSpPr>
          <p:cNvPr id="17" name="Text 15"/>
          <p:cNvSpPr/>
          <p:nvPr/>
        </p:nvSpPr>
        <p:spPr>
          <a:xfrm>
            <a:off x="5020866" y="4676775"/>
            <a:ext cx="609600" cy="228600"/>
          </a:xfrm>
          <a:prstGeom prst="rect">
            <a:avLst/>
          </a:prstGeom>
          <a:noFill/>
          <a:ln/>
        </p:spPr>
        <p:txBody>
          <a:bodyPr wrap="square" lIns="0" tIns="0" rIns="0" bIns="0" rtlCol="0" anchor="ctr"/>
          <a:lstStyle/>
          <a:p>
            <a:pPr>
              <a:lnSpc>
                <a:spcPct val="130000"/>
              </a:lnSpc>
            </a:pPr>
            <a:r>
              <a:rPr lang="en-US" sz="1200" b="1" dirty="0">
                <a:solidFill>
                  <a:srgbClr val="8B0000"/>
                </a:solidFill>
                <a:latin typeface="Sorts Mill Goudy" pitchFamily="34" charset="0"/>
                <a:ea typeface="Sorts Mill Goudy" pitchFamily="34" charset="-122"/>
                <a:cs typeface="Sorts Mill Goudy" pitchFamily="34" charset="-120"/>
              </a:rPr>
              <a:t>F1: 0.418</a:t>
            </a:r>
            <a:endParaRPr lang="en-US" sz="1600" dirty="0"/>
          </a:p>
        </p:txBody>
      </p:sp>
      <p:sp>
        <p:nvSpPr>
          <p:cNvPr id="18" name="Text 16"/>
          <p:cNvSpPr/>
          <p:nvPr/>
        </p:nvSpPr>
        <p:spPr>
          <a:xfrm>
            <a:off x="771525" y="498157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External transformer QA spans, 289ms latency</a:t>
            </a:r>
            <a:endParaRPr lang="en-US" sz="1600" dirty="0"/>
          </a:p>
        </p:txBody>
      </p:sp>
      <p:sp>
        <p:nvSpPr>
          <p:cNvPr id="19" name="Shape 17"/>
          <p:cNvSpPr/>
          <p:nvPr/>
        </p:nvSpPr>
        <p:spPr>
          <a:xfrm>
            <a:off x="614363" y="549116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20" name="Text 18"/>
          <p:cNvSpPr/>
          <p:nvPr/>
        </p:nvSpPr>
        <p:spPr>
          <a:xfrm>
            <a:off x="771525" y="5648325"/>
            <a:ext cx="98107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4. Full Hybrid</a:t>
            </a:r>
            <a:endParaRPr lang="en-US" sz="1600" dirty="0"/>
          </a:p>
        </p:txBody>
      </p:sp>
      <p:sp>
        <p:nvSpPr>
          <p:cNvPr id="21" name="Text 19"/>
          <p:cNvSpPr/>
          <p:nvPr/>
        </p:nvSpPr>
        <p:spPr>
          <a:xfrm>
            <a:off x="5020866" y="5648325"/>
            <a:ext cx="609600" cy="228600"/>
          </a:xfrm>
          <a:prstGeom prst="rect">
            <a:avLst/>
          </a:prstGeom>
          <a:noFill/>
          <a:ln/>
        </p:spPr>
        <p:txBody>
          <a:bodyPr wrap="square" lIns="0" tIns="0" rIns="0" bIns="0" rtlCol="0" anchor="ctr"/>
          <a:lstStyle/>
          <a:p>
            <a:pPr>
              <a:lnSpc>
                <a:spcPct val="130000"/>
              </a:lnSpc>
            </a:pPr>
            <a:r>
              <a:rPr lang="en-US" sz="1200" b="1" dirty="0">
                <a:solidFill>
                  <a:srgbClr val="8B0000"/>
                </a:solidFill>
                <a:latin typeface="Sorts Mill Goudy" pitchFamily="34" charset="0"/>
                <a:ea typeface="Sorts Mill Goudy" pitchFamily="34" charset="-122"/>
                <a:cs typeface="Sorts Mill Goudy" pitchFamily="34" charset="-120"/>
              </a:rPr>
              <a:t>F1: 0.418</a:t>
            </a:r>
            <a:endParaRPr lang="en-US" sz="1600" dirty="0"/>
          </a:p>
        </p:txBody>
      </p:sp>
      <p:sp>
        <p:nvSpPr>
          <p:cNvPr id="22" name="Text 20"/>
          <p:cNvSpPr/>
          <p:nvPr/>
        </p:nvSpPr>
        <p:spPr>
          <a:xfrm>
            <a:off x="771525" y="595312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Combined semantic reranking, 377ms latency</a:t>
            </a:r>
            <a:endParaRPr lang="en-US" sz="1600" dirty="0"/>
          </a:p>
        </p:txBody>
      </p:sp>
      <p:sp>
        <p:nvSpPr>
          <p:cNvPr id="23" name="Shape 21"/>
          <p:cNvSpPr/>
          <p:nvPr/>
        </p:nvSpPr>
        <p:spPr>
          <a:xfrm>
            <a:off x="6248400" y="1257300"/>
            <a:ext cx="5562600" cy="3752850"/>
          </a:xfrm>
          <a:custGeom>
            <a:avLst/>
            <a:gdLst/>
            <a:ahLst/>
            <a:cxnLst/>
            <a:rect l="l" t="t" r="r" b="b"/>
            <a:pathLst>
              <a:path w="5562600" h="3752850">
                <a:moveTo>
                  <a:pt x="0" y="0"/>
                </a:moveTo>
                <a:lnTo>
                  <a:pt x="5562600" y="0"/>
                </a:lnTo>
                <a:lnTo>
                  <a:pt x="5562600" y="3752850"/>
                </a:lnTo>
                <a:lnTo>
                  <a:pt x="0" y="3752850"/>
                </a:lnTo>
                <a:lnTo>
                  <a:pt x="0" y="0"/>
                </a:lnTo>
                <a:close/>
              </a:path>
            </a:pathLst>
          </a:custGeom>
          <a:solidFill>
            <a:srgbClr val="F9FAFB"/>
          </a:solidFill>
          <a:ln/>
        </p:spPr>
      </p:sp>
      <p:sp>
        <p:nvSpPr>
          <p:cNvPr id="24" name="Text 22"/>
          <p:cNvSpPr/>
          <p:nvPr/>
        </p:nvSpPr>
        <p:spPr>
          <a:xfrm>
            <a:off x="6477000" y="1485900"/>
            <a:ext cx="52006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Latency-Accuracy Trade-off</a:t>
            </a:r>
            <a:endParaRPr lang="en-US" sz="1600" dirty="0"/>
          </a:p>
        </p:txBody>
      </p:sp>
      <p:sp>
        <p:nvSpPr>
          <p:cNvPr id="25" name="Shape 23"/>
          <p:cNvSpPr/>
          <p:nvPr/>
        </p:nvSpPr>
        <p:spPr>
          <a:xfrm>
            <a:off x="6481763" y="1909762"/>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26" name="Text 24"/>
          <p:cNvSpPr/>
          <p:nvPr/>
        </p:nvSpPr>
        <p:spPr>
          <a:xfrm>
            <a:off x="6638925" y="2066925"/>
            <a:ext cx="14859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Classical → Reranker</a:t>
            </a:r>
            <a:endParaRPr lang="en-US" sz="1600" dirty="0"/>
          </a:p>
        </p:txBody>
      </p:sp>
      <p:sp>
        <p:nvSpPr>
          <p:cNvPr id="27" name="Text 25"/>
          <p:cNvSpPr/>
          <p:nvPr/>
        </p:nvSpPr>
        <p:spPr>
          <a:xfrm>
            <a:off x="10021491" y="2066925"/>
            <a:ext cx="1476375" cy="228600"/>
          </a:xfrm>
          <a:prstGeom prst="rect">
            <a:avLst/>
          </a:prstGeom>
          <a:noFill/>
          <a:ln/>
        </p:spPr>
        <p:txBody>
          <a:bodyPr wrap="square" lIns="0" tIns="0" rIns="0" bIns="0" rtlCol="0" anchor="ctr"/>
          <a:lstStyle/>
          <a:p>
            <a:pPr>
              <a:lnSpc>
                <a:spcPct val="130000"/>
              </a:lnSpc>
            </a:pPr>
            <a:r>
              <a:rPr lang="en-US" sz="1200" b="1" dirty="0">
                <a:solidFill>
                  <a:srgbClr val="8B0000"/>
                </a:solidFill>
                <a:latin typeface="Sorts Mill Goudy" pitchFamily="34" charset="0"/>
                <a:ea typeface="Sorts Mill Goudy" pitchFamily="34" charset="-122"/>
                <a:cs typeface="Sorts Mill Goudy" pitchFamily="34" charset="-120"/>
              </a:rPr>
              <a:t>+35% F1, +26% latency</a:t>
            </a:r>
            <a:endParaRPr lang="en-US" sz="1600" dirty="0"/>
          </a:p>
        </p:txBody>
      </p:sp>
      <p:sp>
        <p:nvSpPr>
          <p:cNvPr id="28" name="Text 26"/>
          <p:cNvSpPr/>
          <p:nvPr/>
        </p:nvSpPr>
        <p:spPr>
          <a:xfrm>
            <a:off x="6638925" y="237172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Minimal overhead for significant gain</a:t>
            </a:r>
            <a:endParaRPr lang="en-US" sz="1600" dirty="0"/>
          </a:p>
        </p:txBody>
      </p:sp>
      <p:sp>
        <p:nvSpPr>
          <p:cNvPr id="29" name="Shape 27"/>
          <p:cNvSpPr/>
          <p:nvPr/>
        </p:nvSpPr>
        <p:spPr>
          <a:xfrm>
            <a:off x="6481763" y="291941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30" name="Text 28"/>
          <p:cNvSpPr/>
          <p:nvPr/>
        </p:nvSpPr>
        <p:spPr>
          <a:xfrm>
            <a:off x="6638925" y="3076575"/>
            <a:ext cx="17335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Reranker → Transformer</a:t>
            </a:r>
            <a:endParaRPr lang="en-US" sz="1600" dirty="0"/>
          </a:p>
        </p:txBody>
      </p:sp>
      <p:sp>
        <p:nvSpPr>
          <p:cNvPr id="31" name="Text 29"/>
          <p:cNvSpPr/>
          <p:nvPr/>
        </p:nvSpPr>
        <p:spPr>
          <a:xfrm>
            <a:off x="9832181" y="3076575"/>
            <a:ext cx="1666875" cy="228600"/>
          </a:xfrm>
          <a:prstGeom prst="rect">
            <a:avLst/>
          </a:prstGeom>
          <a:noFill/>
          <a:ln/>
        </p:spPr>
        <p:txBody>
          <a:bodyPr wrap="square" lIns="0" tIns="0" rIns="0" bIns="0" rtlCol="0" anchor="ctr"/>
          <a:lstStyle/>
          <a:p>
            <a:pPr>
              <a:lnSpc>
                <a:spcPct val="130000"/>
              </a:lnSpc>
            </a:pPr>
            <a:r>
              <a:rPr lang="en-US" sz="1200" b="1" dirty="0">
                <a:solidFill>
                  <a:srgbClr val="6B7280"/>
                </a:solidFill>
                <a:latin typeface="Sorts Mill Goudy" pitchFamily="34" charset="0"/>
                <a:ea typeface="Sorts Mill Goudy" pitchFamily="34" charset="-122"/>
                <a:cs typeface="Sorts Mill Goudy" pitchFamily="34" charset="-120"/>
              </a:rPr>
              <a:t>Same F1, +5700% latency</a:t>
            </a:r>
            <a:endParaRPr lang="en-US" sz="1600" dirty="0"/>
          </a:p>
        </p:txBody>
      </p:sp>
      <p:sp>
        <p:nvSpPr>
          <p:cNvPr id="32" name="Text 30"/>
          <p:cNvSpPr/>
          <p:nvPr/>
        </p:nvSpPr>
        <p:spPr>
          <a:xfrm>
            <a:off x="6638925" y="338137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Diminishing returns with large models</a:t>
            </a:r>
            <a:endParaRPr lang="en-US" sz="1600" dirty="0"/>
          </a:p>
        </p:txBody>
      </p:sp>
      <p:sp>
        <p:nvSpPr>
          <p:cNvPr id="33" name="Shape 31"/>
          <p:cNvSpPr/>
          <p:nvPr/>
        </p:nvSpPr>
        <p:spPr>
          <a:xfrm>
            <a:off x="6481763" y="392906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34" name="Text 32"/>
          <p:cNvSpPr/>
          <p:nvPr/>
        </p:nvSpPr>
        <p:spPr>
          <a:xfrm>
            <a:off x="6638925" y="4086225"/>
            <a:ext cx="18859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Transformer → Full Hybrid</a:t>
            </a:r>
            <a:endParaRPr lang="en-US" sz="1600" dirty="0"/>
          </a:p>
        </p:txBody>
      </p:sp>
      <p:sp>
        <p:nvSpPr>
          <p:cNvPr id="35" name="Text 33"/>
          <p:cNvSpPr/>
          <p:nvPr/>
        </p:nvSpPr>
        <p:spPr>
          <a:xfrm>
            <a:off x="9979819" y="4086225"/>
            <a:ext cx="1514475" cy="228600"/>
          </a:xfrm>
          <a:prstGeom prst="rect">
            <a:avLst/>
          </a:prstGeom>
          <a:noFill/>
          <a:ln/>
        </p:spPr>
        <p:txBody>
          <a:bodyPr wrap="square" lIns="0" tIns="0" rIns="0" bIns="0" rtlCol="0" anchor="ctr"/>
          <a:lstStyle/>
          <a:p>
            <a:pPr>
              <a:lnSpc>
                <a:spcPct val="130000"/>
              </a:lnSpc>
            </a:pPr>
            <a:r>
              <a:rPr lang="en-US" sz="1200" b="1" dirty="0">
                <a:solidFill>
                  <a:srgbClr val="6B7280"/>
                </a:solidFill>
                <a:latin typeface="Sorts Mill Goudy" pitchFamily="34" charset="0"/>
                <a:ea typeface="Sorts Mill Goudy" pitchFamily="34" charset="-122"/>
                <a:cs typeface="Sorts Mill Goudy" pitchFamily="34" charset="-120"/>
              </a:rPr>
              <a:t>Same F1, +30% latency</a:t>
            </a:r>
            <a:endParaRPr lang="en-US" sz="1600" dirty="0"/>
          </a:p>
        </p:txBody>
      </p:sp>
      <p:sp>
        <p:nvSpPr>
          <p:cNvPr id="36" name="Text 34"/>
          <p:cNvSpPr/>
          <p:nvPr/>
        </p:nvSpPr>
        <p:spPr>
          <a:xfrm>
            <a:off x="6638925" y="439102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Additional reranking adds overhead</a:t>
            </a:r>
            <a:endParaRPr lang="en-US" sz="1600" dirty="0"/>
          </a:p>
        </p:txBody>
      </p:sp>
      <p:sp>
        <p:nvSpPr>
          <p:cNvPr id="37" name="Shape 35"/>
          <p:cNvSpPr/>
          <p:nvPr/>
        </p:nvSpPr>
        <p:spPr>
          <a:xfrm>
            <a:off x="6253163" y="5243513"/>
            <a:ext cx="5553075" cy="1590675"/>
          </a:xfrm>
          <a:custGeom>
            <a:avLst/>
            <a:gdLst/>
            <a:ahLst/>
            <a:cxnLst/>
            <a:rect l="l" t="t" r="r" b="b"/>
            <a:pathLst>
              <a:path w="5553075" h="1590675">
                <a:moveTo>
                  <a:pt x="0" y="0"/>
                </a:moveTo>
                <a:lnTo>
                  <a:pt x="5553075" y="0"/>
                </a:lnTo>
                <a:lnTo>
                  <a:pt x="5553075" y="1590675"/>
                </a:lnTo>
                <a:lnTo>
                  <a:pt x="0" y="1590675"/>
                </a:lnTo>
                <a:lnTo>
                  <a:pt x="0" y="0"/>
                </a:lnTo>
                <a:close/>
              </a:path>
            </a:pathLst>
          </a:custGeom>
          <a:solidFill>
            <a:srgbClr val="8B0000">
              <a:alpha val="5098"/>
            </a:srgbClr>
          </a:solidFill>
          <a:ln w="12700">
            <a:solidFill>
              <a:srgbClr val="8B0000">
                <a:alpha val="20000"/>
              </a:srgbClr>
            </a:solidFill>
            <a:prstDash val="solid"/>
          </a:ln>
        </p:spPr>
      </p:sp>
      <p:sp>
        <p:nvSpPr>
          <p:cNvPr id="38" name="Text 36"/>
          <p:cNvSpPr/>
          <p:nvPr/>
        </p:nvSpPr>
        <p:spPr>
          <a:xfrm>
            <a:off x="6486525" y="5476875"/>
            <a:ext cx="5172075" cy="266700"/>
          </a:xfrm>
          <a:prstGeom prst="rect">
            <a:avLst/>
          </a:prstGeom>
          <a:noFill/>
          <a:ln/>
        </p:spPr>
        <p:txBody>
          <a:bodyPr wrap="square" lIns="0" tIns="0" rIns="0" bIns="0" rtlCol="0" anchor="ctr"/>
          <a:lstStyle/>
          <a:p>
            <a:pPr>
              <a:lnSpc>
                <a:spcPct val="130000"/>
              </a:lnSpc>
            </a:pPr>
            <a:r>
              <a:rPr lang="en-US" sz="1350" b="1" dirty="0">
                <a:solidFill>
                  <a:srgbClr val="1F2937"/>
                </a:solidFill>
                <a:latin typeface="Sorts Mill Goudy" pitchFamily="34" charset="0"/>
                <a:ea typeface="Sorts Mill Goudy" pitchFamily="34" charset="-122"/>
                <a:cs typeface="Sorts Mill Goudy" pitchFamily="34" charset="-120"/>
              </a:rPr>
              <a:t>Key Finding</a:t>
            </a:r>
            <a:endParaRPr lang="en-US" sz="1600" dirty="0"/>
          </a:p>
        </p:txBody>
      </p:sp>
      <p:sp>
        <p:nvSpPr>
          <p:cNvPr id="39" name="Text 37"/>
          <p:cNvSpPr/>
          <p:nvPr/>
        </p:nvSpPr>
        <p:spPr>
          <a:xfrm>
            <a:off x="6486525" y="5857875"/>
            <a:ext cx="5162550" cy="74295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The </a:t>
            </a:r>
            <a:r>
              <a:rPr lang="en-US" sz="1200" b="1" dirty="0">
                <a:solidFill>
                  <a:srgbClr val="1F2937"/>
                </a:solidFill>
                <a:latin typeface="Sorts Mill Goudy" pitchFamily="34" charset="0"/>
                <a:ea typeface="Sorts Mill Goudy" pitchFamily="34" charset="-122"/>
                <a:cs typeface="Sorts Mill Goudy" pitchFamily="34" charset="-120"/>
              </a:rPr>
              <a:t>heuristic reranker</a:t>
            </a:r>
            <a:r>
              <a:rPr lang="en-US" sz="1200" dirty="0">
                <a:solidFill>
                  <a:srgbClr val="1F2937"/>
                </a:solidFill>
                <a:latin typeface="Sorts Mill Goudy" pitchFamily="34" charset="0"/>
                <a:ea typeface="Sorts Mill Goudy" pitchFamily="34" charset="-122"/>
                <a:cs typeface="Sorts Mill Goudy" pitchFamily="34" charset="-120"/>
              </a:rPr>
              <a:t> provides the best latency-accuracy trade-off, achieving full hybrid performance with 95% lower latency. This validates the value of semantic structure even without large models.</a:t>
            </a:r>
            <a:endParaRPr lang="en-US" sz="1600" dirty="0"/>
          </a:p>
        </p:txBody>
      </p:sp>
    </p:spTree>
    <p:extLst>
      <p:ext uri="{BB962C8B-B14F-4D97-AF65-F5344CB8AC3E}">
        <p14:creationId xmlns:p14="http://schemas.microsoft.com/office/powerpoint/2010/main" val="2903197845"/>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8B0000"/>
                </a:solidFill>
                <a:latin typeface="Sorts Mill Goudy" pitchFamily="34" charset="0"/>
                <a:ea typeface="Sorts Mill Goudy" pitchFamily="34" charset="-122"/>
                <a:cs typeface="Sorts Mill Goudy" pitchFamily="34" charset="-120"/>
              </a:rPr>
              <a:t>8.1 LITERATURE SURVEY</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F2937"/>
                </a:solidFill>
                <a:latin typeface="Sorts Mill Goudy" pitchFamily="34" charset="0"/>
                <a:ea typeface="Sorts Mill Goudy" pitchFamily="34" charset="-122"/>
                <a:cs typeface="Sorts Mill Goudy" pitchFamily="34" charset="-120"/>
              </a:rPr>
              <a:t>Evolution of SRL-QA Research</a:t>
            </a:r>
            <a:endParaRPr lang="en-US" sz="1600" dirty="0"/>
          </a:p>
        </p:txBody>
      </p:sp>
      <p:sp>
        <p:nvSpPr>
          <p:cNvPr id="4" name="Shape 2"/>
          <p:cNvSpPr/>
          <p:nvPr/>
        </p:nvSpPr>
        <p:spPr>
          <a:xfrm>
            <a:off x="333375" y="1047750"/>
            <a:ext cx="5635625" cy="2349500"/>
          </a:xfrm>
          <a:custGeom>
            <a:avLst/>
            <a:gdLst/>
            <a:ahLst/>
            <a:cxnLst/>
            <a:rect l="l" t="t" r="r" b="b"/>
            <a:pathLst>
              <a:path w="5635625" h="2349500">
                <a:moveTo>
                  <a:pt x="0" y="0"/>
                </a:moveTo>
                <a:lnTo>
                  <a:pt x="5635625" y="0"/>
                </a:lnTo>
                <a:lnTo>
                  <a:pt x="5635625" y="2349500"/>
                </a:lnTo>
                <a:lnTo>
                  <a:pt x="0" y="2349500"/>
                </a:lnTo>
                <a:lnTo>
                  <a:pt x="0" y="0"/>
                </a:lnTo>
                <a:close/>
              </a:path>
            </a:pathLst>
          </a:custGeom>
          <a:solidFill>
            <a:srgbClr val="F9FAFB"/>
          </a:solidFill>
          <a:ln/>
        </p:spPr>
      </p:sp>
      <p:sp>
        <p:nvSpPr>
          <p:cNvPr id="5" name="Shape 3"/>
          <p:cNvSpPr/>
          <p:nvPr/>
        </p:nvSpPr>
        <p:spPr>
          <a:xfrm>
            <a:off x="333375" y="1047750"/>
            <a:ext cx="31750" cy="2349500"/>
          </a:xfrm>
          <a:custGeom>
            <a:avLst/>
            <a:gdLst/>
            <a:ahLst/>
            <a:cxnLst/>
            <a:rect l="l" t="t" r="r" b="b"/>
            <a:pathLst>
              <a:path w="31750" h="2349500">
                <a:moveTo>
                  <a:pt x="0" y="0"/>
                </a:moveTo>
                <a:lnTo>
                  <a:pt x="31750" y="0"/>
                </a:lnTo>
                <a:lnTo>
                  <a:pt x="31750" y="2349500"/>
                </a:lnTo>
                <a:lnTo>
                  <a:pt x="0" y="2349500"/>
                </a:lnTo>
                <a:lnTo>
                  <a:pt x="0" y="0"/>
                </a:lnTo>
                <a:close/>
              </a:path>
            </a:pathLst>
          </a:custGeom>
          <a:solidFill>
            <a:srgbClr val="8B0000"/>
          </a:solidFill>
          <a:ln/>
        </p:spPr>
      </p:sp>
      <p:sp>
        <p:nvSpPr>
          <p:cNvPr id="6" name="Shape 4"/>
          <p:cNvSpPr/>
          <p:nvPr/>
        </p:nvSpPr>
        <p:spPr>
          <a:xfrm>
            <a:off x="539750" y="12382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sp>
      <p:sp>
        <p:nvSpPr>
          <p:cNvPr id="7" name="Text 5"/>
          <p:cNvSpPr/>
          <p:nvPr/>
        </p:nvSpPr>
        <p:spPr>
          <a:xfrm>
            <a:off x="500063" y="1238250"/>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1</a:t>
            </a:r>
            <a:endParaRPr lang="en-US" sz="1600" dirty="0"/>
          </a:p>
        </p:txBody>
      </p:sp>
      <p:sp>
        <p:nvSpPr>
          <p:cNvPr id="8" name="Text 6"/>
          <p:cNvSpPr/>
          <p:nvPr/>
        </p:nvSpPr>
        <p:spPr>
          <a:xfrm>
            <a:off x="1016000" y="1317625"/>
            <a:ext cx="2547938"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Feature-Engineering Era (2002-2010)</a:t>
            </a:r>
            <a:endParaRPr lang="en-US" sz="1600" dirty="0"/>
          </a:p>
        </p:txBody>
      </p:sp>
      <p:sp>
        <p:nvSpPr>
          <p:cNvPr id="9" name="Text 7"/>
          <p:cNvSpPr/>
          <p:nvPr/>
        </p:nvSpPr>
        <p:spPr>
          <a:xfrm>
            <a:off x="539750" y="1746250"/>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Established the problem with syntax-dependent systems:</a:t>
            </a:r>
            <a:endParaRPr lang="en-US" sz="1600" dirty="0"/>
          </a:p>
        </p:txBody>
      </p:sp>
      <p:sp>
        <p:nvSpPr>
          <p:cNvPr id="10" name="Text 8"/>
          <p:cNvSpPr/>
          <p:nvPr/>
        </p:nvSpPr>
        <p:spPr>
          <a:xfrm>
            <a:off x="539750" y="207962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1" name="Text 9"/>
          <p:cNvSpPr/>
          <p:nvPr/>
        </p:nvSpPr>
        <p:spPr>
          <a:xfrm>
            <a:off x="706438" y="2047875"/>
            <a:ext cx="4008438"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Gildea &amp; Jurafsky (2002):</a:t>
            </a:r>
            <a:r>
              <a:rPr lang="en-US" sz="1000" dirty="0">
                <a:solidFill>
                  <a:srgbClr val="1F2937"/>
                </a:solidFill>
                <a:latin typeface="Sorts Mill Goudy" pitchFamily="34" charset="0"/>
                <a:ea typeface="Sorts Mill Goudy" pitchFamily="34" charset="-122"/>
                <a:cs typeface="Sorts Mill Goudy" pitchFamily="34" charset="-120"/>
              </a:rPr>
              <a:t> Statistical learning from parse-derived features</a:t>
            </a:r>
            <a:endParaRPr lang="en-US" sz="1600" dirty="0"/>
          </a:p>
        </p:txBody>
      </p:sp>
      <p:sp>
        <p:nvSpPr>
          <p:cNvPr id="12" name="Text 10"/>
          <p:cNvSpPr/>
          <p:nvPr/>
        </p:nvSpPr>
        <p:spPr>
          <a:xfrm>
            <a:off x="539750" y="236537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3" name="Text 11"/>
          <p:cNvSpPr/>
          <p:nvPr/>
        </p:nvSpPr>
        <p:spPr>
          <a:xfrm>
            <a:off x="706438" y="2333625"/>
            <a:ext cx="5135563" cy="3810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CoNLL Shared Tasks (2004-2009):</a:t>
            </a:r>
            <a:r>
              <a:rPr lang="en-US" sz="1000" dirty="0">
                <a:solidFill>
                  <a:srgbClr val="1F2937"/>
                </a:solidFill>
                <a:latin typeface="Sorts Mill Goudy" pitchFamily="34" charset="0"/>
                <a:ea typeface="Sorts Mill Goudy" pitchFamily="34" charset="-122"/>
                <a:cs typeface="Sorts Mill Goudy" pitchFamily="34" charset="-120"/>
              </a:rPr>
              <a:t> Standardized evaluation, pushed voice/path/phrase-type features</a:t>
            </a:r>
            <a:endParaRPr lang="en-US" sz="1600" dirty="0"/>
          </a:p>
        </p:txBody>
      </p:sp>
      <p:sp>
        <p:nvSpPr>
          <p:cNvPr id="14" name="Shape 12"/>
          <p:cNvSpPr/>
          <p:nvPr/>
        </p:nvSpPr>
        <p:spPr>
          <a:xfrm>
            <a:off x="543719" y="2813844"/>
            <a:ext cx="5230813" cy="388938"/>
          </a:xfrm>
          <a:custGeom>
            <a:avLst/>
            <a:gdLst/>
            <a:ahLst/>
            <a:cxnLst/>
            <a:rect l="l" t="t" r="r" b="b"/>
            <a:pathLst>
              <a:path w="5230813" h="388938">
                <a:moveTo>
                  <a:pt x="0" y="0"/>
                </a:moveTo>
                <a:lnTo>
                  <a:pt x="5230813" y="0"/>
                </a:lnTo>
                <a:lnTo>
                  <a:pt x="5230813" y="388938"/>
                </a:lnTo>
                <a:lnTo>
                  <a:pt x="0" y="388938"/>
                </a:lnTo>
                <a:lnTo>
                  <a:pt x="0" y="0"/>
                </a:lnTo>
                <a:close/>
              </a:path>
            </a:pathLst>
          </a:custGeom>
          <a:solidFill>
            <a:srgbClr val="FFFFFF"/>
          </a:solidFill>
          <a:ln w="12700">
            <a:solidFill>
              <a:srgbClr val="E5E7EB"/>
            </a:solidFill>
            <a:prstDash val="solid"/>
          </a:ln>
        </p:spPr>
      </p:sp>
      <p:sp>
        <p:nvSpPr>
          <p:cNvPr id="15" name="Text 13"/>
          <p:cNvSpPr/>
          <p:nvPr/>
        </p:nvSpPr>
        <p:spPr>
          <a:xfrm>
            <a:off x="642938" y="2913063"/>
            <a:ext cx="5095875" cy="190500"/>
          </a:xfrm>
          <a:prstGeom prst="rect">
            <a:avLst/>
          </a:prstGeom>
          <a:noFill/>
          <a:ln/>
        </p:spPr>
        <p:txBody>
          <a:bodyPr wrap="square" lIns="0" tIns="0" rIns="0" bIns="0" rtlCol="0" anchor="ctr"/>
          <a:lstStyle/>
          <a:p>
            <a:pPr>
              <a:lnSpc>
                <a:spcPct val="130000"/>
              </a:lnSpc>
            </a:pPr>
            <a:r>
              <a:rPr lang="en-US" sz="1000" b="1" dirty="0">
                <a:solidFill>
                  <a:srgbClr val="6B7280"/>
                </a:solidFill>
                <a:latin typeface="Sorts Mill Goudy" pitchFamily="34" charset="0"/>
                <a:ea typeface="Sorts Mill Goudy" pitchFamily="34" charset="-122"/>
                <a:cs typeface="Sorts Mill Goudy" pitchFamily="34" charset="-120"/>
              </a:rPr>
              <a:t>Challenge:</a:t>
            </a:r>
            <a:r>
              <a:rPr lang="en-US" sz="1000" dirty="0">
                <a:solidFill>
                  <a:srgbClr val="6B7280"/>
                </a:solidFill>
                <a:latin typeface="Sorts Mill Goudy" pitchFamily="34" charset="0"/>
                <a:ea typeface="Sorts Mill Goudy" pitchFamily="34" charset="-122"/>
                <a:cs typeface="Sorts Mill Goudy" pitchFamily="34" charset="-120"/>
              </a:rPr>
              <a:t> Designing informative abstractions over syntax</a:t>
            </a:r>
            <a:endParaRPr lang="en-US" sz="1600" dirty="0"/>
          </a:p>
        </p:txBody>
      </p:sp>
      <p:sp>
        <p:nvSpPr>
          <p:cNvPr id="16" name="Shape 14"/>
          <p:cNvSpPr/>
          <p:nvPr/>
        </p:nvSpPr>
        <p:spPr>
          <a:xfrm>
            <a:off x="333375" y="3587750"/>
            <a:ext cx="5635625" cy="2476500"/>
          </a:xfrm>
          <a:custGeom>
            <a:avLst/>
            <a:gdLst/>
            <a:ahLst/>
            <a:cxnLst/>
            <a:rect l="l" t="t" r="r" b="b"/>
            <a:pathLst>
              <a:path w="5635625" h="2476500">
                <a:moveTo>
                  <a:pt x="0" y="0"/>
                </a:moveTo>
                <a:lnTo>
                  <a:pt x="5635625" y="0"/>
                </a:lnTo>
                <a:lnTo>
                  <a:pt x="5635625" y="2476500"/>
                </a:lnTo>
                <a:lnTo>
                  <a:pt x="0" y="2476500"/>
                </a:lnTo>
                <a:lnTo>
                  <a:pt x="0" y="0"/>
                </a:lnTo>
                <a:close/>
              </a:path>
            </a:pathLst>
          </a:custGeom>
          <a:solidFill>
            <a:srgbClr val="F9FAFB"/>
          </a:solidFill>
          <a:ln/>
        </p:spPr>
      </p:sp>
      <p:sp>
        <p:nvSpPr>
          <p:cNvPr id="17" name="Shape 15"/>
          <p:cNvSpPr/>
          <p:nvPr/>
        </p:nvSpPr>
        <p:spPr>
          <a:xfrm>
            <a:off x="333375" y="3587750"/>
            <a:ext cx="31750" cy="2476500"/>
          </a:xfrm>
          <a:custGeom>
            <a:avLst/>
            <a:gdLst/>
            <a:ahLst/>
            <a:cxnLst/>
            <a:rect l="l" t="t" r="r" b="b"/>
            <a:pathLst>
              <a:path w="31750" h="2476500">
                <a:moveTo>
                  <a:pt x="0" y="0"/>
                </a:moveTo>
                <a:lnTo>
                  <a:pt x="31750" y="0"/>
                </a:lnTo>
                <a:lnTo>
                  <a:pt x="31750" y="2476500"/>
                </a:lnTo>
                <a:lnTo>
                  <a:pt x="0" y="2476500"/>
                </a:lnTo>
                <a:lnTo>
                  <a:pt x="0" y="0"/>
                </a:lnTo>
                <a:close/>
              </a:path>
            </a:pathLst>
          </a:custGeom>
          <a:solidFill>
            <a:srgbClr val="8B0000"/>
          </a:solidFill>
          <a:ln/>
        </p:spPr>
      </p:sp>
      <p:sp>
        <p:nvSpPr>
          <p:cNvPr id="18" name="Shape 16"/>
          <p:cNvSpPr/>
          <p:nvPr/>
        </p:nvSpPr>
        <p:spPr>
          <a:xfrm>
            <a:off x="539750" y="37782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sp>
      <p:sp>
        <p:nvSpPr>
          <p:cNvPr id="19" name="Text 17"/>
          <p:cNvSpPr/>
          <p:nvPr/>
        </p:nvSpPr>
        <p:spPr>
          <a:xfrm>
            <a:off x="500063" y="3778250"/>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2</a:t>
            </a:r>
            <a:endParaRPr lang="en-US" sz="1600" dirty="0"/>
          </a:p>
        </p:txBody>
      </p:sp>
      <p:sp>
        <p:nvSpPr>
          <p:cNvPr id="20" name="Text 18"/>
          <p:cNvSpPr/>
          <p:nvPr/>
        </p:nvSpPr>
        <p:spPr>
          <a:xfrm>
            <a:off x="1016000" y="3857625"/>
            <a:ext cx="1563688"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Neural Era (2015-2018)</a:t>
            </a:r>
            <a:endParaRPr lang="en-US" sz="1600" dirty="0"/>
          </a:p>
        </p:txBody>
      </p:sp>
      <p:sp>
        <p:nvSpPr>
          <p:cNvPr id="21" name="Text 19"/>
          <p:cNvSpPr/>
          <p:nvPr/>
        </p:nvSpPr>
        <p:spPr>
          <a:xfrm>
            <a:off x="539750" y="4286250"/>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Replaced manual features with contextual encoders:</a:t>
            </a:r>
            <a:endParaRPr lang="en-US" sz="1600" dirty="0"/>
          </a:p>
        </p:txBody>
      </p:sp>
      <p:sp>
        <p:nvSpPr>
          <p:cNvPr id="22" name="Text 20"/>
          <p:cNvSpPr/>
          <p:nvPr/>
        </p:nvSpPr>
        <p:spPr>
          <a:xfrm>
            <a:off x="539750" y="461962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3" name="Text 21"/>
          <p:cNvSpPr/>
          <p:nvPr/>
        </p:nvSpPr>
        <p:spPr>
          <a:xfrm>
            <a:off x="706438" y="4587875"/>
            <a:ext cx="266700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Zhou &amp; Xu (2015):</a:t>
            </a:r>
            <a:r>
              <a:rPr lang="en-US" sz="1000" dirty="0">
                <a:solidFill>
                  <a:srgbClr val="1F2937"/>
                </a:solidFill>
                <a:latin typeface="Sorts Mill Goudy" pitchFamily="34" charset="0"/>
                <a:ea typeface="Sorts Mill Goudy" pitchFamily="34" charset="-122"/>
                <a:cs typeface="Sorts Mill Goudy" pitchFamily="34" charset="-120"/>
              </a:rPr>
              <a:t> End-to-end BiLSTM for SRL</a:t>
            </a:r>
            <a:endParaRPr lang="en-US" sz="1600" dirty="0"/>
          </a:p>
        </p:txBody>
      </p:sp>
      <p:sp>
        <p:nvSpPr>
          <p:cNvPr id="24" name="Text 22"/>
          <p:cNvSpPr/>
          <p:nvPr/>
        </p:nvSpPr>
        <p:spPr>
          <a:xfrm>
            <a:off x="539750" y="490537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5" name="Text 23"/>
          <p:cNvSpPr/>
          <p:nvPr/>
        </p:nvSpPr>
        <p:spPr>
          <a:xfrm>
            <a:off x="706438" y="4873625"/>
            <a:ext cx="4056063"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He et al. (2017):</a:t>
            </a:r>
            <a:r>
              <a:rPr lang="en-US" sz="1000" dirty="0">
                <a:solidFill>
                  <a:srgbClr val="1F2937"/>
                </a:solidFill>
                <a:latin typeface="Sorts Mill Goudy" pitchFamily="34" charset="0"/>
                <a:ea typeface="Sorts Mill Goudy" pitchFamily="34" charset="-122"/>
                <a:cs typeface="Sorts Mill Goudy" pitchFamily="34" charset="-120"/>
              </a:rPr>
              <a:t> Deep semantic role labeling—what works and what's next</a:t>
            </a:r>
            <a:endParaRPr lang="en-US" sz="1600" dirty="0"/>
          </a:p>
        </p:txBody>
      </p:sp>
      <p:sp>
        <p:nvSpPr>
          <p:cNvPr id="26" name="Text 24"/>
          <p:cNvSpPr/>
          <p:nvPr/>
        </p:nvSpPr>
        <p:spPr>
          <a:xfrm>
            <a:off x="539750" y="519112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7" name="Text 25"/>
          <p:cNvSpPr/>
          <p:nvPr/>
        </p:nvSpPr>
        <p:spPr>
          <a:xfrm>
            <a:off x="706438" y="5159375"/>
            <a:ext cx="5119688"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Syntax-agnostic models:</a:t>
            </a:r>
            <a:r>
              <a:rPr lang="en-US" sz="1000" dirty="0">
                <a:solidFill>
                  <a:srgbClr val="1F2937"/>
                </a:solidFill>
                <a:latin typeface="Sorts Mill Goudy" pitchFamily="34" charset="0"/>
                <a:ea typeface="Sorts Mill Goudy" pitchFamily="34" charset="-122"/>
                <a:cs typeface="Sorts Mill Goudy" pitchFamily="34" charset="-120"/>
              </a:rPr>
              <a:t> Recurrent encoders recover context without hand-crafted templates</a:t>
            </a:r>
            <a:endParaRPr lang="en-US" sz="1600" dirty="0"/>
          </a:p>
        </p:txBody>
      </p:sp>
      <p:sp>
        <p:nvSpPr>
          <p:cNvPr id="28" name="Shape 26"/>
          <p:cNvSpPr/>
          <p:nvPr/>
        </p:nvSpPr>
        <p:spPr>
          <a:xfrm>
            <a:off x="543719" y="5480844"/>
            <a:ext cx="5230813" cy="388938"/>
          </a:xfrm>
          <a:custGeom>
            <a:avLst/>
            <a:gdLst/>
            <a:ahLst/>
            <a:cxnLst/>
            <a:rect l="l" t="t" r="r" b="b"/>
            <a:pathLst>
              <a:path w="5230813" h="388938">
                <a:moveTo>
                  <a:pt x="0" y="0"/>
                </a:moveTo>
                <a:lnTo>
                  <a:pt x="5230813" y="0"/>
                </a:lnTo>
                <a:lnTo>
                  <a:pt x="5230813" y="388938"/>
                </a:lnTo>
                <a:lnTo>
                  <a:pt x="0" y="388938"/>
                </a:lnTo>
                <a:lnTo>
                  <a:pt x="0" y="0"/>
                </a:lnTo>
                <a:close/>
              </a:path>
            </a:pathLst>
          </a:custGeom>
          <a:solidFill>
            <a:srgbClr val="FFFFFF"/>
          </a:solidFill>
          <a:ln w="12700">
            <a:solidFill>
              <a:srgbClr val="E5E7EB"/>
            </a:solidFill>
            <a:prstDash val="solid"/>
          </a:ln>
        </p:spPr>
      </p:sp>
      <p:sp>
        <p:nvSpPr>
          <p:cNvPr id="29" name="Text 27"/>
          <p:cNvSpPr/>
          <p:nvPr/>
        </p:nvSpPr>
        <p:spPr>
          <a:xfrm>
            <a:off x="642938" y="5580063"/>
            <a:ext cx="5095875" cy="190500"/>
          </a:xfrm>
          <a:prstGeom prst="rect">
            <a:avLst/>
          </a:prstGeom>
          <a:noFill/>
          <a:ln/>
        </p:spPr>
        <p:txBody>
          <a:bodyPr wrap="square" lIns="0" tIns="0" rIns="0" bIns="0" rtlCol="0" anchor="ctr"/>
          <a:lstStyle/>
          <a:p>
            <a:pPr>
              <a:lnSpc>
                <a:spcPct val="130000"/>
              </a:lnSpc>
            </a:pPr>
            <a:r>
              <a:rPr lang="en-US" sz="1000" b="1" dirty="0">
                <a:solidFill>
                  <a:srgbClr val="6B7280"/>
                </a:solidFill>
                <a:latin typeface="Sorts Mill Goudy" pitchFamily="34" charset="0"/>
                <a:ea typeface="Sorts Mill Goudy" pitchFamily="34" charset="-122"/>
                <a:cs typeface="Sorts Mill Goudy" pitchFamily="34" charset="-120"/>
              </a:rPr>
              <a:t>Challenge:</a:t>
            </a:r>
            <a:r>
              <a:rPr lang="en-US" sz="1000" dirty="0">
                <a:solidFill>
                  <a:srgbClr val="6B7280"/>
                </a:solidFill>
                <a:latin typeface="Sorts Mill Goudy" pitchFamily="34" charset="0"/>
                <a:ea typeface="Sorts Mill Goudy" pitchFamily="34" charset="-122"/>
                <a:cs typeface="Sorts Mill Goudy" pitchFamily="34" charset="-120"/>
              </a:rPr>
              <a:t> Contextual representation and decoding</a:t>
            </a:r>
            <a:endParaRPr lang="en-US" sz="1600" dirty="0"/>
          </a:p>
        </p:txBody>
      </p:sp>
      <p:sp>
        <p:nvSpPr>
          <p:cNvPr id="30" name="Shape 28"/>
          <p:cNvSpPr/>
          <p:nvPr/>
        </p:nvSpPr>
        <p:spPr>
          <a:xfrm>
            <a:off x="6238875" y="1047750"/>
            <a:ext cx="5635625" cy="2762250"/>
          </a:xfrm>
          <a:custGeom>
            <a:avLst/>
            <a:gdLst/>
            <a:ahLst/>
            <a:cxnLst/>
            <a:rect l="l" t="t" r="r" b="b"/>
            <a:pathLst>
              <a:path w="5635625" h="2762250">
                <a:moveTo>
                  <a:pt x="0" y="0"/>
                </a:moveTo>
                <a:lnTo>
                  <a:pt x="5635625" y="0"/>
                </a:lnTo>
                <a:lnTo>
                  <a:pt x="5635625" y="2762250"/>
                </a:lnTo>
                <a:lnTo>
                  <a:pt x="0" y="2762250"/>
                </a:lnTo>
                <a:lnTo>
                  <a:pt x="0" y="0"/>
                </a:lnTo>
                <a:close/>
              </a:path>
            </a:pathLst>
          </a:custGeom>
          <a:solidFill>
            <a:srgbClr val="F9FAFB"/>
          </a:solidFill>
          <a:ln/>
        </p:spPr>
      </p:sp>
      <p:sp>
        <p:nvSpPr>
          <p:cNvPr id="31" name="Shape 29"/>
          <p:cNvSpPr/>
          <p:nvPr/>
        </p:nvSpPr>
        <p:spPr>
          <a:xfrm>
            <a:off x="6238875" y="1047750"/>
            <a:ext cx="31750" cy="2762250"/>
          </a:xfrm>
          <a:custGeom>
            <a:avLst/>
            <a:gdLst/>
            <a:ahLst/>
            <a:cxnLst/>
            <a:rect l="l" t="t" r="r" b="b"/>
            <a:pathLst>
              <a:path w="31750" h="2762250">
                <a:moveTo>
                  <a:pt x="0" y="0"/>
                </a:moveTo>
                <a:lnTo>
                  <a:pt x="31750" y="0"/>
                </a:lnTo>
                <a:lnTo>
                  <a:pt x="31750" y="2762250"/>
                </a:lnTo>
                <a:lnTo>
                  <a:pt x="0" y="2762250"/>
                </a:lnTo>
                <a:lnTo>
                  <a:pt x="0" y="0"/>
                </a:lnTo>
                <a:close/>
              </a:path>
            </a:pathLst>
          </a:custGeom>
          <a:solidFill>
            <a:srgbClr val="8B0000"/>
          </a:solidFill>
          <a:ln/>
        </p:spPr>
      </p:sp>
      <p:sp>
        <p:nvSpPr>
          <p:cNvPr id="32" name="Shape 30"/>
          <p:cNvSpPr/>
          <p:nvPr/>
        </p:nvSpPr>
        <p:spPr>
          <a:xfrm>
            <a:off x="6445250" y="12382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sp>
      <p:sp>
        <p:nvSpPr>
          <p:cNvPr id="33" name="Text 31"/>
          <p:cNvSpPr/>
          <p:nvPr/>
        </p:nvSpPr>
        <p:spPr>
          <a:xfrm>
            <a:off x="6405563" y="1238250"/>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3</a:t>
            </a:r>
            <a:endParaRPr lang="en-US" sz="1600" dirty="0"/>
          </a:p>
        </p:txBody>
      </p:sp>
      <p:sp>
        <p:nvSpPr>
          <p:cNvPr id="34" name="Text 32"/>
          <p:cNvSpPr/>
          <p:nvPr/>
        </p:nvSpPr>
        <p:spPr>
          <a:xfrm>
            <a:off x="6921500" y="1317625"/>
            <a:ext cx="2754313"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Transformer &amp; LLM Era (2019-Present)</a:t>
            </a:r>
            <a:endParaRPr lang="en-US" sz="1600" dirty="0"/>
          </a:p>
        </p:txBody>
      </p:sp>
      <p:sp>
        <p:nvSpPr>
          <p:cNvPr id="35" name="Text 33"/>
          <p:cNvSpPr/>
          <p:nvPr/>
        </p:nvSpPr>
        <p:spPr>
          <a:xfrm>
            <a:off x="6445250" y="1746250"/>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Pretrained encoders and LLM integration:</a:t>
            </a:r>
            <a:endParaRPr lang="en-US" sz="1600" dirty="0"/>
          </a:p>
        </p:txBody>
      </p:sp>
      <p:sp>
        <p:nvSpPr>
          <p:cNvPr id="36" name="Text 34"/>
          <p:cNvSpPr/>
          <p:nvPr/>
        </p:nvSpPr>
        <p:spPr>
          <a:xfrm>
            <a:off x="6445250" y="207962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37" name="Text 35"/>
          <p:cNvSpPr/>
          <p:nvPr/>
        </p:nvSpPr>
        <p:spPr>
          <a:xfrm>
            <a:off x="6611938" y="2047875"/>
            <a:ext cx="350837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BERT-based SRL:</a:t>
            </a:r>
            <a:r>
              <a:rPr lang="en-US" sz="1000" dirty="0">
                <a:solidFill>
                  <a:srgbClr val="1F2937"/>
                </a:solidFill>
                <a:latin typeface="Sorts Mill Goudy" pitchFamily="34" charset="0"/>
                <a:ea typeface="Sorts Mill Goudy" pitchFamily="34" charset="-122"/>
                <a:cs typeface="Sorts Mill Goudy" pitchFamily="34" charset="-120"/>
              </a:rPr>
              <a:t> Pretrained encoders improve supervised task</a:t>
            </a:r>
            <a:endParaRPr lang="en-US" sz="1600" dirty="0"/>
          </a:p>
        </p:txBody>
      </p:sp>
      <p:sp>
        <p:nvSpPr>
          <p:cNvPr id="38" name="Text 36"/>
          <p:cNvSpPr/>
          <p:nvPr/>
        </p:nvSpPr>
        <p:spPr>
          <a:xfrm>
            <a:off x="6445250" y="236537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39" name="Text 37"/>
          <p:cNvSpPr/>
          <p:nvPr/>
        </p:nvSpPr>
        <p:spPr>
          <a:xfrm>
            <a:off x="6611938" y="2333625"/>
            <a:ext cx="279400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Bonn et al. (2024):</a:t>
            </a:r>
            <a:r>
              <a:rPr lang="en-US" sz="1000" dirty="0">
                <a:solidFill>
                  <a:srgbClr val="1F2937"/>
                </a:solidFill>
                <a:latin typeface="Sorts Mill Goudy" pitchFamily="34" charset="0"/>
                <a:ea typeface="Sorts Mill Goudy" pitchFamily="34" charset="-122"/>
                <a:cs typeface="Sorts Mill Goudy" pitchFamily="34" charset="-120"/>
              </a:rPr>
              <a:t> LLMs as PropBank adjudicators</a:t>
            </a:r>
            <a:endParaRPr lang="en-US" sz="1600" dirty="0"/>
          </a:p>
        </p:txBody>
      </p:sp>
      <p:sp>
        <p:nvSpPr>
          <p:cNvPr id="40" name="Text 38"/>
          <p:cNvSpPr/>
          <p:nvPr/>
        </p:nvSpPr>
        <p:spPr>
          <a:xfrm>
            <a:off x="6445250" y="265112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1" name="Text 39"/>
          <p:cNvSpPr/>
          <p:nvPr/>
        </p:nvSpPr>
        <p:spPr>
          <a:xfrm>
            <a:off x="6611938" y="2619375"/>
            <a:ext cx="3421063"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Chen et al. (2025):</a:t>
            </a:r>
            <a:r>
              <a:rPr lang="en-US" sz="1000" dirty="0">
                <a:solidFill>
                  <a:srgbClr val="1F2937"/>
                </a:solidFill>
                <a:latin typeface="Sorts Mill Goudy" pitchFamily="34" charset="0"/>
                <a:ea typeface="Sorts Mill Goudy" pitchFamily="34" charset="-122"/>
                <a:cs typeface="Sorts Mill Goudy" pitchFamily="34" charset="-120"/>
              </a:rPr>
              <a:t> LLMs can do SRL when guided structurally</a:t>
            </a:r>
            <a:endParaRPr lang="en-US" sz="1600" dirty="0"/>
          </a:p>
        </p:txBody>
      </p:sp>
      <p:sp>
        <p:nvSpPr>
          <p:cNvPr id="42" name="Text 40"/>
          <p:cNvSpPr/>
          <p:nvPr/>
        </p:nvSpPr>
        <p:spPr>
          <a:xfrm>
            <a:off x="6445250" y="293687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3" name="Text 41"/>
          <p:cNvSpPr/>
          <p:nvPr/>
        </p:nvSpPr>
        <p:spPr>
          <a:xfrm>
            <a:off x="6611938" y="2905125"/>
            <a:ext cx="315912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Rai et al. (2025):</a:t>
            </a:r>
            <a:r>
              <a:rPr lang="en-US" sz="1000" dirty="0">
                <a:solidFill>
                  <a:srgbClr val="1F2937"/>
                </a:solidFill>
                <a:latin typeface="Sorts Mill Goudy" pitchFamily="34" charset="0"/>
                <a:ea typeface="Sorts Mill Goudy" pitchFamily="34" charset="-122"/>
                <a:cs typeface="Sorts Mill Goudy" pitchFamily="34" charset="-120"/>
              </a:rPr>
              <a:t> Frame-semantic LoRA for zero-shot SRL</a:t>
            </a:r>
            <a:endParaRPr lang="en-US" sz="1600" dirty="0"/>
          </a:p>
        </p:txBody>
      </p:sp>
      <p:sp>
        <p:nvSpPr>
          <p:cNvPr id="44" name="Shape 42"/>
          <p:cNvSpPr/>
          <p:nvPr/>
        </p:nvSpPr>
        <p:spPr>
          <a:xfrm>
            <a:off x="6449219" y="3226594"/>
            <a:ext cx="5230813" cy="388938"/>
          </a:xfrm>
          <a:custGeom>
            <a:avLst/>
            <a:gdLst/>
            <a:ahLst/>
            <a:cxnLst/>
            <a:rect l="l" t="t" r="r" b="b"/>
            <a:pathLst>
              <a:path w="5230813" h="388938">
                <a:moveTo>
                  <a:pt x="0" y="0"/>
                </a:moveTo>
                <a:lnTo>
                  <a:pt x="5230813" y="0"/>
                </a:lnTo>
                <a:lnTo>
                  <a:pt x="5230813" y="388938"/>
                </a:lnTo>
                <a:lnTo>
                  <a:pt x="0" y="388938"/>
                </a:lnTo>
                <a:lnTo>
                  <a:pt x="0" y="0"/>
                </a:lnTo>
                <a:close/>
              </a:path>
            </a:pathLst>
          </a:custGeom>
          <a:solidFill>
            <a:srgbClr val="FFFFFF"/>
          </a:solidFill>
          <a:ln w="12700">
            <a:solidFill>
              <a:srgbClr val="E5E7EB"/>
            </a:solidFill>
            <a:prstDash val="solid"/>
          </a:ln>
        </p:spPr>
      </p:sp>
      <p:sp>
        <p:nvSpPr>
          <p:cNvPr id="45" name="Text 43"/>
          <p:cNvSpPr/>
          <p:nvPr/>
        </p:nvSpPr>
        <p:spPr>
          <a:xfrm>
            <a:off x="6548438" y="3325813"/>
            <a:ext cx="5095875" cy="190500"/>
          </a:xfrm>
          <a:prstGeom prst="rect">
            <a:avLst/>
          </a:prstGeom>
          <a:noFill/>
          <a:ln/>
        </p:spPr>
        <p:txBody>
          <a:bodyPr wrap="square" lIns="0" tIns="0" rIns="0" bIns="0" rtlCol="0" anchor="ctr"/>
          <a:lstStyle/>
          <a:p>
            <a:pPr>
              <a:lnSpc>
                <a:spcPct val="130000"/>
              </a:lnSpc>
            </a:pPr>
            <a:r>
              <a:rPr lang="en-US" sz="1000" b="1" dirty="0">
                <a:solidFill>
                  <a:srgbClr val="6B7280"/>
                </a:solidFill>
                <a:latin typeface="Sorts Mill Goudy" pitchFamily="34" charset="0"/>
                <a:ea typeface="Sorts Mill Goudy" pitchFamily="34" charset="-122"/>
                <a:cs typeface="Sorts Mill Goudy" pitchFamily="34" charset="-120"/>
              </a:rPr>
              <a:t>Challenge:</a:t>
            </a:r>
            <a:r>
              <a:rPr lang="en-US" sz="1000" dirty="0">
                <a:solidFill>
                  <a:srgbClr val="6B7280"/>
                </a:solidFill>
                <a:latin typeface="Sorts Mill Goudy" pitchFamily="34" charset="0"/>
                <a:ea typeface="Sorts Mill Goudy" pitchFamily="34" charset="-122"/>
                <a:cs typeface="Sorts Mill Goudy" pitchFamily="34" charset="-120"/>
              </a:rPr>
              <a:t> Grounding, calibration, preserving semantic faithfulness</a:t>
            </a:r>
            <a:endParaRPr lang="en-US" sz="1600" dirty="0"/>
          </a:p>
        </p:txBody>
      </p:sp>
      <p:sp>
        <p:nvSpPr>
          <p:cNvPr id="46" name="Shape 44"/>
          <p:cNvSpPr/>
          <p:nvPr/>
        </p:nvSpPr>
        <p:spPr>
          <a:xfrm>
            <a:off x="6223000" y="4000500"/>
            <a:ext cx="5651500" cy="3238500"/>
          </a:xfrm>
          <a:custGeom>
            <a:avLst/>
            <a:gdLst/>
            <a:ahLst/>
            <a:cxnLst/>
            <a:rect l="l" t="t" r="r" b="b"/>
            <a:pathLst>
              <a:path w="5651500" h="3238500">
                <a:moveTo>
                  <a:pt x="0" y="0"/>
                </a:moveTo>
                <a:lnTo>
                  <a:pt x="5651500" y="0"/>
                </a:lnTo>
                <a:lnTo>
                  <a:pt x="5651500" y="3238500"/>
                </a:lnTo>
                <a:lnTo>
                  <a:pt x="0" y="3238500"/>
                </a:lnTo>
                <a:lnTo>
                  <a:pt x="0" y="0"/>
                </a:lnTo>
                <a:close/>
              </a:path>
            </a:pathLst>
          </a:custGeom>
          <a:solidFill>
            <a:srgbClr val="F9FAFB"/>
          </a:solidFill>
          <a:ln/>
        </p:spPr>
      </p:sp>
      <p:sp>
        <p:nvSpPr>
          <p:cNvPr id="47" name="Text 45"/>
          <p:cNvSpPr/>
          <p:nvPr/>
        </p:nvSpPr>
        <p:spPr>
          <a:xfrm>
            <a:off x="6413500" y="4191000"/>
            <a:ext cx="534987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QA-Based Semantics Lineage</a:t>
            </a:r>
            <a:endParaRPr lang="en-US" sz="1600" dirty="0"/>
          </a:p>
        </p:txBody>
      </p:sp>
      <p:sp>
        <p:nvSpPr>
          <p:cNvPr id="48" name="Shape 46"/>
          <p:cNvSpPr/>
          <p:nvPr/>
        </p:nvSpPr>
        <p:spPr>
          <a:xfrm>
            <a:off x="6417469" y="4544219"/>
            <a:ext cx="5262563" cy="547688"/>
          </a:xfrm>
          <a:custGeom>
            <a:avLst/>
            <a:gdLst/>
            <a:ahLst/>
            <a:cxnLst/>
            <a:rect l="l" t="t" r="r" b="b"/>
            <a:pathLst>
              <a:path w="5262563" h="547688">
                <a:moveTo>
                  <a:pt x="0" y="0"/>
                </a:moveTo>
                <a:lnTo>
                  <a:pt x="5262563" y="0"/>
                </a:lnTo>
                <a:lnTo>
                  <a:pt x="5262563" y="547688"/>
                </a:lnTo>
                <a:lnTo>
                  <a:pt x="0" y="547688"/>
                </a:lnTo>
                <a:lnTo>
                  <a:pt x="0" y="0"/>
                </a:lnTo>
                <a:close/>
              </a:path>
            </a:pathLst>
          </a:custGeom>
          <a:solidFill>
            <a:srgbClr val="FFFFFF"/>
          </a:solidFill>
          <a:ln w="12700">
            <a:solidFill>
              <a:srgbClr val="E5E7EB"/>
            </a:solidFill>
            <a:prstDash val="solid"/>
          </a:ln>
        </p:spPr>
      </p:sp>
      <p:sp>
        <p:nvSpPr>
          <p:cNvPr id="49" name="Text 47"/>
          <p:cNvSpPr/>
          <p:nvPr/>
        </p:nvSpPr>
        <p:spPr>
          <a:xfrm>
            <a:off x="6516688" y="4643438"/>
            <a:ext cx="5119688"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He et al. (2015)</a:t>
            </a:r>
            <a:endParaRPr lang="en-US" sz="1600" dirty="0"/>
          </a:p>
        </p:txBody>
      </p:sp>
      <p:sp>
        <p:nvSpPr>
          <p:cNvPr id="50" name="Text 48"/>
          <p:cNvSpPr/>
          <p:nvPr/>
        </p:nvSpPr>
        <p:spPr>
          <a:xfrm>
            <a:off x="6516688" y="4802188"/>
            <a:ext cx="5127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QA-SRL: Natural-language questions as role labels</a:t>
            </a:r>
            <a:endParaRPr lang="en-US" sz="1600" dirty="0"/>
          </a:p>
        </p:txBody>
      </p:sp>
      <p:sp>
        <p:nvSpPr>
          <p:cNvPr id="51" name="Shape 49"/>
          <p:cNvSpPr/>
          <p:nvPr/>
        </p:nvSpPr>
        <p:spPr>
          <a:xfrm>
            <a:off x="6417469" y="5195094"/>
            <a:ext cx="5262563" cy="547688"/>
          </a:xfrm>
          <a:custGeom>
            <a:avLst/>
            <a:gdLst/>
            <a:ahLst/>
            <a:cxnLst/>
            <a:rect l="l" t="t" r="r" b="b"/>
            <a:pathLst>
              <a:path w="5262563" h="547688">
                <a:moveTo>
                  <a:pt x="0" y="0"/>
                </a:moveTo>
                <a:lnTo>
                  <a:pt x="5262563" y="0"/>
                </a:lnTo>
                <a:lnTo>
                  <a:pt x="5262563" y="547688"/>
                </a:lnTo>
                <a:lnTo>
                  <a:pt x="0" y="547688"/>
                </a:lnTo>
                <a:lnTo>
                  <a:pt x="0" y="0"/>
                </a:lnTo>
                <a:close/>
              </a:path>
            </a:pathLst>
          </a:custGeom>
          <a:solidFill>
            <a:srgbClr val="FFFFFF"/>
          </a:solidFill>
          <a:ln w="12700">
            <a:solidFill>
              <a:srgbClr val="E5E7EB"/>
            </a:solidFill>
            <a:prstDash val="solid"/>
          </a:ln>
        </p:spPr>
      </p:sp>
      <p:sp>
        <p:nvSpPr>
          <p:cNvPr id="52" name="Text 50"/>
          <p:cNvSpPr/>
          <p:nvPr/>
        </p:nvSpPr>
        <p:spPr>
          <a:xfrm>
            <a:off x="6516688" y="5294313"/>
            <a:ext cx="5119688"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FitzGerald et al. (2018)</a:t>
            </a:r>
            <a:endParaRPr lang="en-US" sz="1600" dirty="0"/>
          </a:p>
        </p:txBody>
      </p:sp>
      <p:sp>
        <p:nvSpPr>
          <p:cNvPr id="53" name="Text 51"/>
          <p:cNvSpPr/>
          <p:nvPr/>
        </p:nvSpPr>
        <p:spPr>
          <a:xfrm>
            <a:off x="6516688" y="5453063"/>
            <a:ext cx="5127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Large-scale QA-SRL parsing with neural models</a:t>
            </a:r>
            <a:endParaRPr lang="en-US" sz="1600" dirty="0"/>
          </a:p>
        </p:txBody>
      </p:sp>
      <p:sp>
        <p:nvSpPr>
          <p:cNvPr id="54" name="Shape 52"/>
          <p:cNvSpPr/>
          <p:nvPr/>
        </p:nvSpPr>
        <p:spPr>
          <a:xfrm>
            <a:off x="6417469" y="5845969"/>
            <a:ext cx="5262563" cy="547688"/>
          </a:xfrm>
          <a:custGeom>
            <a:avLst/>
            <a:gdLst/>
            <a:ahLst/>
            <a:cxnLst/>
            <a:rect l="l" t="t" r="r" b="b"/>
            <a:pathLst>
              <a:path w="5262563" h="547688">
                <a:moveTo>
                  <a:pt x="0" y="0"/>
                </a:moveTo>
                <a:lnTo>
                  <a:pt x="5262563" y="0"/>
                </a:lnTo>
                <a:lnTo>
                  <a:pt x="5262563" y="547688"/>
                </a:lnTo>
                <a:lnTo>
                  <a:pt x="0" y="547688"/>
                </a:lnTo>
                <a:lnTo>
                  <a:pt x="0" y="0"/>
                </a:lnTo>
                <a:close/>
              </a:path>
            </a:pathLst>
          </a:custGeom>
          <a:solidFill>
            <a:srgbClr val="FFFFFF"/>
          </a:solidFill>
          <a:ln w="12700">
            <a:solidFill>
              <a:srgbClr val="E5E7EB"/>
            </a:solidFill>
            <a:prstDash val="solid"/>
          </a:ln>
        </p:spPr>
      </p:sp>
      <p:sp>
        <p:nvSpPr>
          <p:cNvPr id="55" name="Text 53"/>
          <p:cNvSpPr/>
          <p:nvPr/>
        </p:nvSpPr>
        <p:spPr>
          <a:xfrm>
            <a:off x="6516688" y="5945188"/>
            <a:ext cx="5119688"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Klein et al. (2020-2022)</a:t>
            </a:r>
            <a:endParaRPr lang="en-US" sz="1600" dirty="0"/>
          </a:p>
        </p:txBody>
      </p:sp>
      <p:sp>
        <p:nvSpPr>
          <p:cNvPr id="56" name="Text 54"/>
          <p:cNvSpPr/>
          <p:nvPr/>
        </p:nvSpPr>
        <p:spPr>
          <a:xfrm>
            <a:off x="6516688" y="6103938"/>
            <a:ext cx="5127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QANom, QASem: Extending beyond verbs</a:t>
            </a:r>
            <a:endParaRPr lang="en-US" sz="1600" dirty="0"/>
          </a:p>
        </p:txBody>
      </p:sp>
      <p:sp>
        <p:nvSpPr>
          <p:cNvPr id="57" name="Shape 55"/>
          <p:cNvSpPr/>
          <p:nvPr/>
        </p:nvSpPr>
        <p:spPr>
          <a:xfrm>
            <a:off x="6417469" y="6496844"/>
            <a:ext cx="5262563" cy="547688"/>
          </a:xfrm>
          <a:custGeom>
            <a:avLst/>
            <a:gdLst/>
            <a:ahLst/>
            <a:cxnLst/>
            <a:rect l="l" t="t" r="r" b="b"/>
            <a:pathLst>
              <a:path w="5262563" h="547688">
                <a:moveTo>
                  <a:pt x="0" y="0"/>
                </a:moveTo>
                <a:lnTo>
                  <a:pt x="5262563" y="0"/>
                </a:lnTo>
                <a:lnTo>
                  <a:pt x="5262563" y="547688"/>
                </a:lnTo>
                <a:lnTo>
                  <a:pt x="0" y="547688"/>
                </a:lnTo>
                <a:lnTo>
                  <a:pt x="0" y="0"/>
                </a:lnTo>
                <a:close/>
              </a:path>
            </a:pathLst>
          </a:custGeom>
          <a:solidFill>
            <a:srgbClr val="FFFFFF"/>
          </a:solidFill>
          <a:ln w="12700">
            <a:solidFill>
              <a:srgbClr val="E5E7EB"/>
            </a:solidFill>
            <a:prstDash val="solid"/>
          </a:ln>
        </p:spPr>
      </p:sp>
      <p:sp>
        <p:nvSpPr>
          <p:cNvPr id="58" name="Text 56"/>
          <p:cNvSpPr/>
          <p:nvPr/>
        </p:nvSpPr>
        <p:spPr>
          <a:xfrm>
            <a:off x="6516688" y="6596063"/>
            <a:ext cx="5119688"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Pyatkin et al. (2020-2021)</a:t>
            </a:r>
            <a:endParaRPr lang="en-US" sz="1600" dirty="0"/>
          </a:p>
        </p:txBody>
      </p:sp>
      <p:sp>
        <p:nvSpPr>
          <p:cNvPr id="59" name="Text 57"/>
          <p:cNvSpPr/>
          <p:nvPr/>
        </p:nvSpPr>
        <p:spPr>
          <a:xfrm>
            <a:off x="6516688" y="6754813"/>
            <a:ext cx="5127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QADiscourse, Asking It All: Discourse &amp; question generation</a:t>
            </a:r>
            <a:endParaRPr lang="en-US" sz="1600" dirty="0"/>
          </a:p>
        </p:txBody>
      </p:sp>
    </p:spTree>
    <p:extLst>
      <p:ext uri="{BB962C8B-B14F-4D97-AF65-F5344CB8AC3E}">
        <p14:creationId xmlns:p14="http://schemas.microsoft.com/office/powerpoint/2010/main" val="3300899976"/>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7350" y="347350"/>
            <a:ext cx="11558085" cy="173675"/>
          </a:xfrm>
          <a:prstGeom prst="rect">
            <a:avLst/>
          </a:prstGeom>
          <a:noFill/>
          <a:ln/>
        </p:spPr>
        <p:txBody>
          <a:bodyPr wrap="square" lIns="0" tIns="0" rIns="0" bIns="0" rtlCol="0" anchor="ctr"/>
          <a:lstStyle/>
          <a:p>
            <a:pPr>
              <a:lnSpc>
                <a:spcPct val="120000"/>
              </a:lnSpc>
            </a:pPr>
            <a:r>
              <a:rPr lang="en-US" sz="957" b="1" kern="0" spc="48" dirty="0">
                <a:solidFill>
                  <a:srgbClr val="8B0000"/>
                </a:solidFill>
                <a:latin typeface="Sorts Mill Goudy" pitchFamily="34" charset="0"/>
                <a:ea typeface="Sorts Mill Goudy" pitchFamily="34" charset="-122"/>
                <a:cs typeface="Sorts Mill Goudy" pitchFamily="34" charset="-120"/>
              </a:rPr>
              <a:t>9.1 CONCLUSION &amp; FUTURE WORK</a:t>
            </a:r>
            <a:endParaRPr lang="en-US" sz="1600" dirty="0"/>
          </a:p>
        </p:txBody>
      </p:sp>
      <p:sp>
        <p:nvSpPr>
          <p:cNvPr id="3" name="Text 1"/>
          <p:cNvSpPr/>
          <p:nvPr/>
        </p:nvSpPr>
        <p:spPr>
          <a:xfrm>
            <a:off x="347350" y="590496"/>
            <a:ext cx="11653607" cy="347350"/>
          </a:xfrm>
          <a:prstGeom prst="rect">
            <a:avLst/>
          </a:prstGeom>
          <a:noFill/>
          <a:ln/>
        </p:spPr>
        <p:txBody>
          <a:bodyPr wrap="square" lIns="0" tIns="0" rIns="0" bIns="0" rtlCol="0" anchor="ctr"/>
          <a:lstStyle/>
          <a:p>
            <a:pPr>
              <a:lnSpc>
                <a:spcPct val="90000"/>
              </a:lnSpc>
            </a:pPr>
            <a:r>
              <a:rPr lang="en-US" sz="2462" b="1" dirty="0">
                <a:solidFill>
                  <a:srgbClr val="1F2937"/>
                </a:solidFill>
                <a:latin typeface="Sorts Mill Goudy" pitchFamily="34" charset="0"/>
                <a:ea typeface="Sorts Mill Goudy" pitchFamily="34" charset="-122"/>
                <a:cs typeface="Sorts Mill Goudy" pitchFamily="34" charset="-120"/>
              </a:rPr>
              <a:t>Project Summary</a:t>
            </a:r>
            <a:endParaRPr lang="en-US" sz="1600" dirty="0"/>
          </a:p>
        </p:txBody>
      </p:sp>
      <p:sp>
        <p:nvSpPr>
          <p:cNvPr id="4" name="Shape 2"/>
          <p:cNvSpPr/>
          <p:nvPr/>
        </p:nvSpPr>
        <p:spPr>
          <a:xfrm>
            <a:off x="364718" y="1146256"/>
            <a:ext cx="5592342" cy="2327248"/>
          </a:xfrm>
          <a:custGeom>
            <a:avLst/>
            <a:gdLst/>
            <a:ahLst/>
            <a:cxnLst/>
            <a:rect l="l" t="t" r="r" b="b"/>
            <a:pathLst>
              <a:path w="5592342" h="2327248">
                <a:moveTo>
                  <a:pt x="0" y="0"/>
                </a:moveTo>
                <a:lnTo>
                  <a:pt x="5592342" y="0"/>
                </a:lnTo>
                <a:lnTo>
                  <a:pt x="5592342" y="2327248"/>
                </a:lnTo>
                <a:lnTo>
                  <a:pt x="0" y="2327248"/>
                </a:lnTo>
                <a:lnTo>
                  <a:pt x="0" y="0"/>
                </a:lnTo>
                <a:close/>
              </a:path>
            </a:pathLst>
          </a:custGeom>
          <a:solidFill>
            <a:srgbClr val="F9FAFB"/>
          </a:solidFill>
          <a:ln/>
        </p:spPr>
      </p:sp>
      <p:sp>
        <p:nvSpPr>
          <p:cNvPr id="5" name="Shape 3"/>
          <p:cNvSpPr/>
          <p:nvPr/>
        </p:nvSpPr>
        <p:spPr>
          <a:xfrm>
            <a:off x="364718" y="1146256"/>
            <a:ext cx="34735" cy="2327248"/>
          </a:xfrm>
          <a:custGeom>
            <a:avLst/>
            <a:gdLst/>
            <a:ahLst/>
            <a:cxnLst/>
            <a:rect l="l" t="t" r="r" b="b"/>
            <a:pathLst>
              <a:path w="34735" h="2327248">
                <a:moveTo>
                  <a:pt x="0" y="0"/>
                </a:moveTo>
                <a:lnTo>
                  <a:pt x="34735" y="0"/>
                </a:lnTo>
                <a:lnTo>
                  <a:pt x="34735" y="2327248"/>
                </a:lnTo>
                <a:lnTo>
                  <a:pt x="0" y="2327248"/>
                </a:lnTo>
                <a:lnTo>
                  <a:pt x="0" y="0"/>
                </a:lnTo>
                <a:close/>
              </a:path>
            </a:pathLst>
          </a:custGeom>
          <a:solidFill>
            <a:srgbClr val="8B0000"/>
          </a:solidFill>
          <a:ln/>
        </p:spPr>
      </p:sp>
      <p:sp>
        <p:nvSpPr>
          <p:cNvPr id="6" name="Text 4"/>
          <p:cNvSpPr/>
          <p:nvPr/>
        </p:nvSpPr>
        <p:spPr>
          <a:xfrm>
            <a:off x="590496" y="1354667"/>
            <a:ext cx="5244991" cy="243145"/>
          </a:xfrm>
          <a:prstGeom prst="rect">
            <a:avLst/>
          </a:prstGeom>
          <a:noFill/>
          <a:ln/>
        </p:spPr>
        <p:txBody>
          <a:bodyPr wrap="square" lIns="0" tIns="0" rIns="0" bIns="0" rtlCol="0" anchor="ctr"/>
          <a:lstStyle/>
          <a:p>
            <a:pPr>
              <a:lnSpc>
                <a:spcPct val="120000"/>
              </a:lnSpc>
            </a:pPr>
            <a:r>
              <a:rPr lang="en-US" sz="1368" b="1" dirty="0">
                <a:solidFill>
                  <a:srgbClr val="1F2937"/>
                </a:solidFill>
                <a:latin typeface="Sorts Mill Goudy" pitchFamily="34" charset="0"/>
                <a:ea typeface="Sorts Mill Goudy" pitchFamily="34" charset="-122"/>
                <a:cs typeface="Sorts Mill Goudy" pitchFamily="34" charset="-120"/>
              </a:rPr>
              <a:t>What We Demonstrated</a:t>
            </a:r>
            <a:endParaRPr lang="en-US" sz="1600" dirty="0"/>
          </a:p>
        </p:txBody>
      </p:sp>
      <p:sp>
        <p:nvSpPr>
          <p:cNvPr id="7" name="Text 5"/>
          <p:cNvSpPr/>
          <p:nvPr/>
        </p:nvSpPr>
        <p:spPr>
          <a:xfrm>
            <a:off x="590496" y="1736752"/>
            <a:ext cx="5227624" cy="451556"/>
          </a:xfrm>
          <a:prstGeom prst="rect">
            <a:avLst/>
          </a:prstGeom>
          <a:noFill/>
          <a:ln/>
        </p:spPr>
        <p:txBody>
          <a:bodyPr wrap="square" lIns="0" tIns="0" rIns="0" bIns="0" rtlCol="0" anchor="ctr"/>
          <a:lstStyle/>
          <a:p>
            <a:pPr>
              <a:lnSpc>
                <a:spcPct val="140000"/>
              </a:lnSpc>
            </a:pPr>
            <a:r>
              <a:rPr lang="en-US" sz="1094" dirty="0">
                <a:solidFill>
                  <a:srgbClr val="1F2937"/>
                </a:solidFill>
                <a:latin typeface="Sorts Mill Goudy" pitchFamily="34" charset="0"/>
                <a:ea typeface="Sorts Mill Goudy" pitchFamily="34" charset="-122"/>
                <a:cs typeface="Sorts Mill Goudy" pitchFamily="34" charset="-120"/>
              </a:rPr>
              <a:t>PropQA-Net demonstrates that </a:t>
            </a:r>
            <a:r>
              <a:rPr lang="en-US" sz="1094" b="1" dirty="0">
                <a:solidFill>
                  <a:srgbClr val="1F2937"/>
                </a:solidFill>
                <a:latin typeface="Sorts Mill Goudy" pitchFamily="34" charset="0"/>
                <a:ea typeface="Sorts Mill Goudy" pitchFamily="34" charset="-122"/>
                <a:cs typeface="Sorts Mill Goudy" pitchFamily="34" charset="-120"/>
              </a:rPr>
              <a:t>real PropBank-derived SRL-QA can be built end-to-end</a:t>
            </a:r>
            <a:r>
              <a:rPr lang="en-US" sz="1094" dirty="0">
                <a:solidFill>
                  <a:srgbClr val="1F2937"/>
                </a:solidFill>
                <a:latin typeface="Sorts Mill Goudy" pitchFamily="34" charset="0"/>
                <a:ea typeface="Sorts Mill Goudy" pitchFamily="34" charset="-122"/>
                <a:cs typeface="Sorts Mill Goudy" pitchFamily="34" charset="-120"/>
              </a:rPr>
              <a:t> with:</a:t>
            </a:r>
            <a:endParaRPr lang="en-US" sz="1600" dirty="0"/>
          </a:p>
        </p:txBody>
      </p:sp>
      <p:sp>
        <p:nvSpPr>
          <p:cNvPr id="8" name="Text 6"/>
          <p:cNvSpPr/>
          <p:nvPr/>
        </p:nvSpPr>
        <p:spPr>
          <a:xfrm>
            <a:off x="590496" y="2361983"/>
            <a:ext cx="182359" cy="208410"/>
          </a:xfrm>
          <a:prstGeom prst="rect">
            <a:avLst/>
          </a:prstGeom>
          <a:noFill/>
          <a:ln/>
        </p:spPr>
        <p:txBody>
          <a:bodyPr wrap="square" lIns="0" tIns="0" rIns="0" bIns="0" rtlCol="0" anchor="ctr"/>
          <a:lstStyle/>
          <a:p>
            <a:pPr>
              <a:lnSpc>
                <a:spcPct val="130000"/>
              </a:lnSpc>
            </a:pPr>
            <a:r>
              <a:rPr lang="en-US" sz="1094"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9" name="Text 7"/>
          <p:cNvSpPr/>
          <p:nvPr/>
        </p:nvSpPr>
        <p:spPr>
          <a:xfrm>
            <a:off x="772855" y="2327248"/>
            <a:ext cx="4645812"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Transparent preprocessing:</a:t>
            </a:r>
            <a:r>
              <a:rPr lang="en-US" sz="1094" dirty="0">
                <a:solidFill>
                  <a:srgbClr val="1F2937"/>
                </a:solidFill>
                <a:latin typeface="Sorts Mill Goudy" pitchFamily="34" charset="0"/>
                <a:ea typeface="Sorts Mill Goudy" pitchFamily="34" charset="-122"/>
                <a:cs typeface="Sorts Mill Goudy" pitchFamily="34" charset="-120"/>
              </a:rPr>
              <a:t> NLTK pipeline with deterministic splits (seed 42)</a:t>
            </a:r>
            <a:endParaRPr lang="en-US" sz="1600" dirty="0"/>
          </a:p>
        </p:txBody>
      </p:sp>
      <p:sp>
        <p:nvSpPr>
          <p:cNvPr id="10" name="Text 8"/>
          <p:cNvSpPr/>
          <p:nvPr/>
        </p:nvSpPr>
        <p:spPr>
          <a:xfrm>
            <a:off x="590496" y="2709333"/>
            <a:ext cx="182359" cy="208410"/>
          </a:xfrm>
          <a:prstGeom prst="rect">
            <a:avLst/>
          </a:prstGeom>
          <a:noFill/>
          <a:ln/>
        </p:spPr>
        <p:txBody>
          <a:bodyPr wrap="square" lIns="0" tIns="0" rIns="0" bIns="0" rtlCol="0" anchor="ctr"/>
          <a:lstStyle/>
          <a:p>
            <a:pPr>
              <a:lnSpc>
                <a:spcPct val="130000"/>
              </a:lnSpc>
            </a:pPr>
            <a:r>
              <a:rPr lang="en-US" sz="1094"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1" name="Text 9"/>
          <p:cNvSpPr/>
          <p:nvPr/>
        </p:nvSpPr>
        <p:spPr>
          <a:xfrm>
            <a:off x="772855" y="2674598"/>
            <a:ext cx="4133470"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Interpretable modeling:</a:t>
            </a:r>
            <a:r>
              <a:rPr lang="en-US" sz="1094" dirty="0">
                <a:solidFill>
                  <a:srgbClr val="1F2937"/>
                </a:solidFill>
                <a:latin typeface="Sorts Mill Goudy" pitchFamily="34" charset="0"/>
                <a:ea typeface="Sorts Mill Goudy" pitchFamily="34" charset="-122"/>
                <a:cs typeface="Sorts Mill Goudy" pitchFamily="34" charset="-120"/>
              </a:rPr>
              <a:t> Explicit roles, spans, and scores at every step</a:t>
            </a:r>
            <a:endParaRPr lang="en-US" sz="1600" dirty="0"/>
          </a:p>
        </p:txBody>
      </p:sp>
      <p:sp>
        <p:nvSpPr>
          <p:cNvPr id="12" name="Text 10"/>
          <p:cNvSpPr/>
          <p:nvPr/>
        </p:nvSpPr>
        <p:spPr>
          <a:xfrm>
            <a:off x="590496" y="3056684"/>
            <a:ext cx="182359" cy="208410"/>
          </a:xfrm>
          <a:prstGeom prst="rect">
            <a:avLst/>
          </a:prstGeom>
          <a:noFill/>
          <a:ln/>
        </p:spPr>
        <p:txBody>
          <a:bodyPr wrap="square" lIns="0" tIns="0" rIns="0" bIns="0" rtlCol="0" anchor="ctr"/>
          <a:lstStyle/>
          <a:p>
            <a:pPr>
              <a:lnSpc>
                <a:spcPct val="130000"/>
              </a:lnSpc>
            </a:pPr>
            <a:r>
              <a:rPr lang="en-US" sz="1094"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3" name="Text 11"/>
          <p:cNvSpPr/>
          <p:nvPr/>
        </p:nvSpPr>
        <p:spPr>
          <a:xfrm>
            <a:off x="772855" y="3021949"/>
            <a:ext cx="4411350"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Reproducible evaluation:</a:t>
            </a:r>
            <a:r>
              <a:rPr lang="en-US" sz="1094" dirty="0">
                <a:solidFill>
                  <a:srgbClr val="1F2937"/>
                </a:solidFill>
                <a:latin typeface="Sorts Mill Goudy" pitchFamily="34" charset="0"/>
                <a:ea typeface="Sorts Mill Goudy" pitchFamily="34" charset="-122"/>
                <a:cs typeface="Sorts Mill Goudy" pitchFamily="34" charset="-120"/>
              </a:rPr>
              <a:t> Checkpointed metrics, single command runner</a:t>
            </a:r>
            <a:endParaRPr lang="en-US" sz="1600" dirty="0"/>
          </a:p>
        </p:txBody>
      </p:sp>
      <p:sp>
        <p:nvSpPr>
          <p:cNvPr id="14" name="Shape 12"/>
          <p:cNvSpPr/>
          <p:nvPr/>
        </p:nvSpPr>
        <p:spPr>
          <a:xfrm>
            <a:off x="364718" y="3681915"/>
            <a:ext cx="5592342" cy="2639863"/>
          </a:xfrm>
          <a:custGeom>
            <a:avLst/>
            <a:gdLst/>
            <a:ahLst/>
            <a:cxnLst/>
            <a:rect l="l" t="t" r="r" b="b"/>
            <a:pathLst>
              <a:path w="5592342" h="2639863">
                <a:moveTo>
                  <a:pt x="0" y="0"/>
                </a:moveTo>
                <a:lnTo>
                  <a:pt x="5592342" y="0"/>
                </a:lnTo>
                <a:lnTo>
                  <a:pt x="5592342" y="2639863"/>
                </a:lnTo>
                <a:lnTo>
                  <a:pt x="0" y="2639863"/>
                </a:lnTo>
                <a:lnTo>
                  <a:pt x="0" y="0"/>
                </a:lnTo>
                <a:close/>
              </a:path>
            </a:pathLst>
          </a:custGeom>
          <a:solidFill>
            <a:srgbClr val="F9FAFB"/>
          </a:solidFill>
          <a:ln/>
        </p:spPr>
      </p:sp>
      <p:sp>
        <p:nvSpPr>
          <p:cNvPr id="15" name="Shape 13"/>
          <p:cNvSpPr/>
          <p:nvPr/>
        </p:nvSpPr>
        <p:spPr>
          <a:xfrm>
            <a:off x="364718" y="3681915"/>
            <a:ext cx="34735" cy="2639863"/>
          </a:xfrm>
          <a:custGeom>
            <a:avLst/>
            <a:gdLst/>
            <a:ahLst/>
            <a:cxnLst/>
            <a:rect l="l" t="t" r="r" b="b"/>
            <a:pathLst>
              <a:path w="34735" h="2639863">
                <a:moveTo>
                  <a:pt x="0" y="0"/>
                </a:moveTo>
                <a:lnTo>
                  <a:pt x="34735" y="0"/>
                </a:lnTo>
                <a:lnTo>
                  <a:pt x="34735" y="2639863"/>
                </a:lnTo>
                <a:lnTo>
                  <a:pt x="0" y="2639863"/>
                </a:lnTo>
                <a:lnTo>
                  <a:pt x="0" y="0"/>
                </a:lnTo>
                <a:close/>
              </a:path>
            </a:pathLst>
          </a:custGeom>
          <a:solidFill>
            <a:srgbClr val="8B0000"/>
          </a:solidFill>
          <a:ln/>
        </p:spPr>
      </p:sp>
      <p:sp>
        <p:nvSpPr>
          <p:cNvPr id="16" name="Text 14"/>
          <p:cNvSpPr/>
          <p:nvPr/>
        </p:nvSpPr>
        <p:spPr>
          <a:xfrm>
            <a:off x="590496" y="3890325"/>
            <a:ext cx="5244991" cy="243145"/>
          </a:xfrm>
          <a:prstGeom prst="rect">
            <a:avLst/>
          </a:prstGeom>
          <a:noFill/>
          <a:ln/>
        </p:spPr>
        <p:txBody>
          <a:bodyPr wrap="square" lIns="0" tIns="0" rIns="0" bIns="0" rtlCol="0" anchor="ctr"/>
          <a:lstStyle/>
          <a:p>
            <a:pPr>
              <a:lnSpc>
                <a:spcPct val="120000"/>
              </a:lnSpc>
            </a:pPr>
            <a:r>
              <a:rPr lang="en-US" sz="1368" b="1" dirty="0">
                <a:solidFill>
                  <a:srgbClr val="1F2937"/>
                </a:solidFill>
                <a:latin typeface="Sorts Mill Goudy" pitchFamily="34" charset="0"/>
                <a:ea typeface="Sorts Mill Goudy" pitchFamily="34" charset="-122"/>
                <a:cs typeface="Sorts Mill Goudy" pitchFamily="34" charset="-120"/>
              </a:rPr>
              <a:t>What We Achieved</a:t>
            </a:r>
            <a:endParaRPr lang="en-US" sz="1600" dirty="0"/>
          </a:p>
        </p:txBody>
      </p:sp>
      <p:sp>
        <p:nvSpPr>
          <p:cNvPr id="17" name="Shape 15"/>
          <p:cNvSpPr/>
          <p:nvPr/>
        </p:nvSpPr>
        <p:spPr>
          <a:xfrm>
            <a:off x="594838" y="4276752"/>
            <a:ext cx="2500923" cy="842325"/>
          </a:xfrm>
          <a:custGeom>
            <a:avLst/>
            <a:gdLst/>
            <a:ahLst/>
            <a:cxnLst/>
            <a:rect l="l" t="t" r="r" b="b"/>
            <a:pathLst>
              <a:path w="2500923" h="842325">
                <a:moveTo>
                  <a:pt x="0" y="0"/>
                </a:moveTo>
                <a:lnTo>
                  <a:pt x="2500923" y="0"/>
                </a:lnTo>
                <a:lnTo>
                  <a:pt x="2500923" y="842325"/>
                </a:lnTo>
                <a:lnTo>
                  <a:pt x="0" y="842325"/>
                </a:lnTo>
                <a:lnTo>
                  <a:pt x="0" y="0"/>
                </a:lnTo>
                <a:close/>
              </a:path>
            </a:pathLst>
          </a:custGeom>
          <a:solidFill>
            <a:srgbClr val="FFFFFF"/>
          </a:solidFill>
          <a:ln w="12700">
            <a:solidFill>
              <a:srgbClr val="E5E7EB"/>
            </a:solidFill>
            <a:prstDash val="solid"/>
          </a:ln>
        </p:spPr>
      </p:sp>
      <p:sp>
        <p:nvSpPr>
          <p:cNvPr id="18" name="Text 16"/>
          <p:cNvSpPr/>
          <p:nvPr/>
        </p:nvSpPr>
        <p:spPr>
          <a:xfrm>
            <a:off x="672991" y="4420034"/>
            <a:ext cx="2344615" cy="312615"/>
          </a:xfrm>
          <a:prstGeom prst="rect">
            <a:avLst/>
          </a:prstGeom>
          <a:noFill/>
          <a:ln/>
        </p:spPr>
        <p:txBody>
          <a:bodyPr wrap="square" lIns="0" tIns="0" rIns="0" bIns="0" rtlCol="0" anchor="ctr"/>
          <a:lstStyle/>
          <a:p>
            <a:pPr algn="ctr">
              <a:lnSpc>
                <a:spcPct val="100000"/>
              </a:lnSpc>
            </a:pPr>
            <a:r>
              <a:rPr lang="en-US" sz="2051" b="1" dirty="0">
                <a:solidFill>
                  <a:srgbClr val="8B0000"/>
                </a:solidFill>
                <a:latin typeface="Sorts Mill Goudy" pitchFamily="34" charset="0"/>
                <a:ea typeface="Sorts Mill Goudy" pitchFamily="34" charset="-122"/>
                <a:cs typeface="Sorts Mill Goudy" pitchFamily="34" charset="-120"/>
              </a:rPr>
              <a:t>0.713</a:t>
            </a:r>
            <a:endParaRPr lang="en-US" sz="1600" dirty="0"/>
          </a:p>
        </p:txBody>
      </p:sp>
      <p:sp>
        <p:nvSpPr>
          <p:cNvPr id="19" name="Text 17"/>
          <p:cNvSpPr/>
          <p:nvPr/>
        </p:nvSpPr>
        <p:spPr>
          <a:xfrm>
            <a:off x="703385" y="4767385"/>
            <a:ext cx="2283829" cy="208410"/>
          </a:xfrm>
          <a:prstGeom prst="rect">
            <a:avLst/>
          </a:prstGeom>
          <a:noFill/>
          <a:ln/>
        </p:spPr>
        <p:txBody>
          <a:bodyPr wrap="square" lIns="0" tIns="0" rIns="0" bIns="0" rtlCol="0" anchor="ctr"/>
          <a:lstStyle/>
          <a:p>
            <a:pPr algn="ct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SRL Micro F1</a:t>
            </a:r>
            <a:endParaRPr lang="en-US" sz="1600" dirty="0"/>
          </a:p>
        </p:txBody>
      </p:sp>
      <p:sp>
        <p:nvSpPr>
          <p:cNvPr id="20" name="Shape 18"/>
          <p:cNvSpPr/>
          <p:nvPr/>
        </p:nvSpPr>
        <p:spPr>
          <a:xfrm>
            <a:off x="3244334" y="4276752"/>
            <a:ext cx="2500923" cy="842325"/>
          </a:xfrm>
          <a:custGeom>
            <a:avLst/>
            <a:gdLst/>
            <a:ahLst/>
            <a:cxnLst/>
            <a:rect l="l" t="t" r="r" b="b"/>
            <a:pathLst>
              <a:path w="2500923" h="842325">
                <a:moveTo>
                  <a:pt x="0" y="0"/>
                </a:moveTo>
                <a:lnTo>
                  <a:pt x="2500923" y="0"/>
                </a:lnTo>
                <a:lnTo>
                  <a:pt x="2500923" y="842325"/>
                </a:lnTo>
                <a:lnTo>
                  <a:pt x="0" y="842325"/>
                </a:lnTo>
                <a:lnTo>
                  <a:pt x="0" y="0"/>
                </a:lnTo>
                <a:close/>
              </a:path>
            </a:pathLst>
          </a:custGeom>
          <a:solidFill>
            <a:srgbClr val="FFFFFF"/>
          </a:solidFill>
          <a:ln w="12700">
            <a:solidFill>
              <a:srgbClr val="E5E7EB"/>
            </a:solidFill>
            <a:prstDash val="solid"/>
          </a:ln>
        </p:spPr>
      </p:sp>
      <p:sp>
        <p:nvSpPr>
          <p:cNvPr id="21" name="Text 19"/>
          <p:cNvSpPr/>
          <p:nvPr/>
        </p:nvSpPr>
        <p:spPr>
          <a:xfrm>
            <a:off x="3322488" y="4420034"/>
            <a:ext cx="2344615" cy="312615"/>
          </a:xfrm>
          <a:prstGeom prst="rect">
            <a:avLst/>
          </a:prstGeom>
          <a:noFill/>
          <a:ln/>
        </p:spPr>
        <p:txBody>
          <a:bodyPr wrap="square" lIns="0" tIns="0" rIns="0" bIns="0" rtlCol="0" anchor="ctr"/>
          <a:lstStyle/>
          <a:p>
            <a:pPr algn="ctr">
              <a:lnSpc>
                <a:spcPct val="100000"/>
              </a:lnSpc>
            </a:pPr>
            <a:r>
              <a:rPr lang="en-US" sz="2051" b="1" dirty="0">
                <a:solidFill>
                  <a:srgbClr val="8B0000"/>
                </a:solidFill>
                <a:latin typeface="Sorts Mill Goudy" pitchFamily="34" charset="0"/>
                <a:ea typeface="Sorts Mill Goudy" pitchFamily="34" charset="-122"/>
                <a:cs typeface="Sorts Mill Goudy" pitchFamily="34" charset="-120"/>
              </a:rPr>
              <a:t>0.761</a:t>
            </a:r>
            <a:endParaRPr lang="en-US" sz="1600" dirty="0"/>
          </a:p>
        </p:txBody>
      </p:sp>
      <p:sp>
        <p:nvSpPr>
          <p:cNvPr id="22" name="Text 20"/>
          <p:cNvSpPr/>
          <p:nvPr/>
        </p:nvSpPr>
        <p:spPr>
          <a:xfrm>
            <a:off x="3352881" y="4767385"/>
            <a:ext cx="2283829" cy="208410"/>
          </a:xfrm>
          <a:prstGeom prst="rect">
            <a:avLst/>
          </a:prstGeom>
          <a:noFill/>
          <a:ln/>
        </p:spPr>
        <p:txBody>
          <a:bodyPr wrap="square" lIns="0" tIns="0" rIns="0" bIns="0" rtlCol="0" anchor="ctr"/>
          <a:lstStyle/>
          <a:p>
            <a:pPr algn="ct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QA Token F1</a:t>
            </a:r>
            <a:endParaRPr lang="en-US" sz="1600" dirty="0"/>
          </a:p>
        </p:txBody>
      </p:sp>
      <p:sp>
        <p:nvSpPr>
          <p:cNvPr id="23" name="Shape 21"/>
          <p:cNvSpPr/>
          <p:nvPr/>
        </p:nvSpPr>
        <p:spPr>
          <a:xfrm>
            <a:off x="594838" y="5266701"/>
            <a:ext cx="2500923" cy="842325"/>
          </a:xfrm>
          <a:custGeom>
            <a:avLst/>
            <a:gdLst/>
            <a:ahLst/>
            <a:cxnLst/>
            <a:rect l="l" t="t" r="r" b="b"/>
            <a:pathLst>
              <a:path w="2500923" h="842325">
                <a:moveTo>
                  <a:pt x="0" y="0"/>
                </a:moveTo>
                <a:lnTo>
                  <a:pt x="2500923" y="0"/>
                </a:lnTo>
                <a:lnTo>
                  <a:pt x="2500923" y="842325"/>
                </a:lnTo>
                <a:lnTo>
                  <a:pt x="0" y="842325"/>
                </a:lnTo>
                <a:lnTo>
                  <a:pt x="0" y="0"/>
                </a:lnTo>
                <a:close/>
              </a:path>
            </a:pathLst>
          </a:custGeom>
          <a:solidFill>
            <a:srgbClr val="FFFFFF"/>
          </a:solidFill>
          <a:ln w="12700">
            <a:solidFill>
              <a:srgbClr val="E5E7EB"/>
            </a:solidFill>
            <a:prstDash val="solid"/>
          </a:ln>
        </p:spPr>
      </p:sp>
      <p:sp>
        <p:nvSpPr>
          <p:cNvPr id="24" name="Text 22"/>
          <p:cNvSpPr/>
          <p:nvPr/>
        </p:nvSpPr>
        <p:spPr>
          <a:xfrm>
            <a:off x="672991" y="5409983"/>
            <a:ext cx="2344615" cy="312615"/>
          </a:xfrm>
          <a:prstGeom prst="rect">
            <a:avLst/>
          </a:prstGeom>
          <a:noFill/>
          <a:ln/>
        </p:spPr>
        <p:txBody>
          <a:bodyPr wrap="square" lIns="0" tIns="0" rIns="0" bIns="0" rtlCol="0" anchor="ctr"/>
          <a:lstStyle/>
          <a:p>
            <a:pPr algn="ctr">
              <a:lnSpc>
                <a:spcPct val="100000"/>
              </a:lnSpc>
            </a:pPr>
            <a:r>
              <a:rPr lang="en-US" sz="2051" b="1" dirty="0">
                <a:solidFill>
                  <a:srgbClr val="8B0000"/>
                </a:solidFill>
                <a:latin typeface="Sorts Mill Goudy" pitchFamily="34" charset="0"/>
                <a:ea typeface="Sorts Mill Goudy" pitchFamily="34" charset="-122"/>
                <a:cs typeface="Sorts Mill Goudy" pitchFamily="34" charset="-120"/>
              </a:rPr>
              <a:t>23K</a:t>
            </a:r>
            <a:endParaRPr lang="en-US" sz="1600" dirty="0"/>
          </a:p>
        </p:txBody>
      </p:sp>
      <p:sp>
        <p:nvSpPr>
          <p:cNvPr id="25" name="Text 23"/>
          <p:cNvSpPr/>
          <p:nvPr/>
        </p:nvSpPr>
        <p:spPr>
          <a:xfrm>
            <a:off x="703385" y="5757333"/>
            <a:ext cx="2283829" cy="208410"/>
          </a:xfrm>
          <a:prstGeom prst="rect">
            <a:avLst/>
          </a:prstGeom>
          <a:noFill/>
          <a:ln/>
        </p:spPr>
        <p:txBody>
          <a:bodyPr wrap="square" lIns="0" tIns="0" rIns="0" bIns="0" rtlCol="0" anchor="ctr"/>
          <a:lstStyle/>
          <a:p>
            <a:pPr algn="ct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QA Pairs</a:t>
            </a:r>
            <a:endParaRPr lang="en-US" sz="1600" dirty="0"/>
          </a:p>
        </p:txBody>
      </p:sp>
      <p:sp>
        <p:nvSpPr>
          <p:cNvPr id="26" name="Shape 24"/>
          <p:cNvSpPr/>
          <p:nvPr/>
        </p:nvSpPr>
        <p:spPr>
          <a:xfrm>
            <a:off x="3244334" y="5266701"/>
            <a:ext cx="2500923" cy="842325"/>
          </a:xfrm>
          <a:custGeom>
            <a:avLst/>
            <a:gdLst/>
            <a:ahLst/>
            <a:cxnLst/>
            <a:rect l="l" t="t" r="r" b="b"/>
            <a:pathLst>
              <a:path w="2500923" h="842325">
                <a:moveTo>
                  <a:pt x="0" y="0"/>
                </a:moveTo>
                <a:lnTo>
                  <a:pt x="2500923" y="0"/>
                </a:lnTo>
                <a:lnTo>
                  <a:pt x="2500923" y="842325"/>
                </a:lnTo>
                <a:lnTo>
                  <a:pt x="0" y="842325"/>
                </a:lnTo>
                <a:lnTo>
                  <a:pt x="0" y="0"/>
                </a:lnTo>
                <a:close/>
              </a:path>
            </a:pathLst>
          </a:custGeom>
          <a:solidFill>
            <a:srgbClr val="FFFFFF"/>
          </a:solidFill>
          <a:ln w="12700">
            <a:solidFill>
              <a:srgbClr val="E5E7EB"/>
            </a:solidFill>
            <a:prstDash val="solid"/>
          </a:ln>
        </p:spPr>
      </p:sp>
      <p:sp>
        <p:nvSpPr>
          <p:cNvPr id="27" name="Text 25"/>
          <p:cNvSpPr/>
          <p:nvPr/>
        </p:nvSpPr>
        <p:spPr>
          <a:xfrm>
            <a:off x="3322488" y="5409983"/>
            <a:ext cx="2344615" cy="312615"/>
          </a:xfrm>
          <a:prstGeom prst="rect">
            <a:avLst/>
          </a:prstGeom>
          <a:noFill/>
          <a:ln/>
        </p:spPr>
        <p:txBody>
          <a:bodyPr wrap="square" lIns="0" tIns="0" rIns="0" bIns="0" rtlCol="0" anchor="ctr"/>
          <a:lstStyle/>
          <a:p>
            <a:pPr algn="ctr">
              <a:lnSpc>
                <a:spcPct val="100000"/>
              </a:lnSpc>
            </a:pPr>
            <a:r>
              <a:rPr lang="en-US" sz="2051" b="1" dirty="0">
                <a:solidFill>
                  <a:srgbClr val="8B0000"/>
                </a:solidFill>
                <a:latin typeface="Sorts Mill Goudy" pitchFamily="34" charset="0"/>
                <a:ea typeface="Sorts Mill Goudy" pitchFamily="34" charset="-122"/>
                <a:cs typeface="Sorts Mill Goudy" pitchFamily="34" charset="-120"/>
              </a:rPr>
              <a:t>1.78M</a:t>
            </a:r>
            <a:endParaRPr lang="en-US" sz="1600" dirty="0"/>
          </a:p>
        </p:txBody>
      </p:sp>
      <p:sp>
        <p:nvSpPr>
          <p:cNvPr id="28" name="Text 26"/>
          <p:cNvSpPr/>
          <p:nvPr/>
        </p:nvSpPr>
        <p:spPr>
          <a:xfrm>
            <a:off x="3352881" y="5757333"/>
            <a:ext cx="2283829" cy="208410"/>
          </a:xfrm>
          <a:prstGeom prst="rect">
            <a:avLst/>
          </a:prstGeom>
          <a:noFill/>
          <a:ln/>
        </p:spPr>
        <p:txBody>
          <a:bodyPr wrap="square" lIns="0" tIns="0" rIns="0" bIns="0" rtlCol="0" anchor="ctr"/>
          <a:lstStyle/>
          <a:p>
            <a:pPr algn="ct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Parameters</a:t>
            </a:r>
            <a:endParaRPr lang="en-US" sz="1600" dirty="0"/>
          </a:p>
        </p:txBody>
      </p:sp>
      <p:sp>
        <p:nvSpPr>
          <p:cNvPr id="29" name="Shape 27"/>
          <p:cNvSpPr/>
          <p:nvPr/>
        </p:nvSpPr>
        <p:spPr>
          <a:xfrm>
            <a:off x="6236840" y="1146256"/>
            <a:ext cx="5609709" cy="3629812"/>
          </a:xfrm>
          <a:custGeom>
            <a:avLst/>
            <a:gdLst/>
            <a:ahLst/>
            <a:cxnLst/>
            <a:rect l="l" t="t" r="r" b="b"/>
            <a:pathLst>
              <a:path w="5609709" h="3629812">
                <a:moveTo>
                  <a:pt x="0" y="0"/>
                </a:moveTo>
                <a:lnTo>
                  <a:pt x="5609709" y="0"/>
                </a:lnTo>
                <a:lnTo>
                  <a:pt x="5609709" y="3629812"/>
                </a:lnTo>
                <a:lnTo>
                  <a:pt x="0" y="3629812"/>
                </a:lnTo>
                <a:lnTo>
                  <a:pt x="0" y="0"/>
                </a:lnTo>
                <a:close/>
              </a:path>
            </a:pathLst>
          </a:custGeom>
          <a:solidFill>
            <a:srgbClr val="F9FAFB"/>
          </a:solidFill>
          <a:ln/>
        </p:spPr>
      </p:sp>
      <p:sp>
        <p:nvSpPr>
          <p:cNvPr id="30" name="Text 28"/>
          <p:cNvSpPr/>
          <p:nvPr/>
        </p:nvSpPr>
        <p:spPr>
          <a:xfrm>
            <a:off x="6445250" y="1354667"/>
            <a:ext cx="5279726" cy="243145"/>
          </a:xfrm>
          <a:prstGeom prst="rect">
            <a:avLst/>
          </a:prstGeom>
          <a:noFill/>
          <a:ln/>
        </p:spPr>
        <p:txBody>
          <a:bodyPr wrap="square" lIns="0" tIns="0" rIns="0" bIns="0" rtlCol="0" anchor="ctr"/>
          <a:lstStyle/>
          <a:p>
            <a:pPr>
              <a:lnSpc>
                <a:spcPct val="120000"/>
              </a:lnSpc>
            </a:pPr>
            <a:r>
              <a:rPr lang="en-US" sz="1368" b="1" dirty="0">
                <a:solidFill>
                  <a:srgbClr val="1F2937"/>
                </a:solidFill>
                <a:latin typeface="Sorts Mill Goudy" pitchFamily="34" charset="0"/>
                <a:ea typeface="Sorts Mill Goudy" pitchFamily="34" charset="-122"/>
                <a:cs typeface="Sorts Mill Goudy" pitchFamily="34" charset="-120"/>
              </a:rPr>
              <a:t>What We Established</a:t>
            </a:r>
            <a:endParaRPr lang="en-US" sz="1600" dirty="0"/>
          </a:p>
        </p:txBody>
      </p:sp>
      <p:sp>
        <p:nvSpPr>
          <p:cNvPr id="31" name="Shape 29"/>
          <p:cNvSpPr/>
          <p:nvPr/>
        </p:nvSpPr>
        <p:spPr>
          <a:xfrm>
            <a:off x="6449592" y="1741094"/>
            <a:ext cx="5184205" cy="772855"/>
          </a:xfrm>
          <a:custGeom>
            <a:avLst/>
            <a:gdLst/>
            <a:ahLst/>
            <a:cxnLst/>
            <a:rect l="l" t="t" r="r" b="b"/>
            <a:pathLst>
              <a:path w="5184205" h="772855">
                <a:moveTo>
                  <a:pt x="0" y="0"/>
                </a:moveTo>
                <a:lnTo>
                  <a:pt x="5184205" y="0"/>
                </a:lnTo>
                <a:lnTo>
                  <a:pt x="5184205" y="772855"/>
                </a:lnTo>
                <a:lnTo>
                  <a:pt x="0" y="772855"/>
                </a:lnTo>
                <a:lnTo>
                  <a:pt x="0" y="0"/>
                </a:lnTo>
                <a:close/>
              </a:path>
            </a:pathLst>
          </a:custGeom>
          <a:solidFill>
            <a:srgbClr val="FFFFFF"/>
          </a:solidFill>
          <a:ln w="12700">
            <a:solidFill>
              <a:srgbClr val="E5E7EB"/>
            </a:solidFill>
            <a:prstDash val="solid"/>
          </a:ln>
        </p:spPr>
      </p:sp>
      <p:sp>
        <p:nvSpPr>
          <p:cNvPr id="32" name="Shape 30"/>
          <p:cNvSpPr/>
          <p:nvPr/>
        </p:nvSpPr>
        <p:spPr>
          <a:xfrm>
            <a:off x="6592874" y="1901744"/>
            <a:ext cx="217094" cy="173675"/>
          </a:xfrm>
          <a:custGeom>
            <a:avLst/>
            <a:gdLst/>
            <a:ahLst/>
            <a:cxnLst/>
            <a:rect l="l" t="t" r="r" b="b"/>
            <a:pathLst>
              <a:path w="217094" h="173675">
                <a:moveTo>
                  <a:pt x="130256" y="10855"/>
                </a:moveTo>
                <a:lnTo>
                  <a:pt x="173675" y="10855"/>
                </a:lnTo>
                <a:cubicBezTo>
                  <a:pt x="179679" y="10855"/>
                  <a:pt x="184530" y="15705"/>
                  <a:pt x="184530" y="21709"/>
                </a:cubicBezTo>
                <a:cubicBezTo>
                  <a:pt x="184530" y="27713"/>
                  <a:pt x="179679" y="32564"/>
                  <a:pt x="173675" y="32564"/>
                </a:cubicBezTo>
                <a:lnTo>
                  <a:pt x="135141" y="32564"/>
                </a:lnTo>
                <a:cubicBezTo>
                  <a:pt x="133377" y="41316"/>
                  <a:pt x="127373" y="48541"/>
                  <a:pt x="119402" y="52001"/>
                </a:cubicBezTo>
                <a:lnTo>
                  <a:pt x="119402" y="151966"/>
                </a:lnTo>
                <a:lnTo>
                  <a:pt x="173675" y="151966"/>
                </a:lnTo>
                <a:cubicBezTo>
                  <a:pt x="179679" y="151966"/>
                  <a:pt x="184530" y="156817"/>
                  <a:pt x="184530" y="162821"/>
                </a:cubicBezTo>
                <a:cubicBezTo>
                  <a:pt x="184530" y="168825"/>
                  <a:pt x="179679" y="173675"/>
                  <a:pt x="173675" y="173675"/>
                </a:cubicBezTo>
                <a:lnTo>
                  <a:pt x="43419" y="173675"/>
                </a:lnTo>
                <a:cubicBezTo>
                  <a:pt x="37415" y="173675"/>
                  <a:pt x="32564" y="168825"/>
                  <a:pt x="32564" y="162821"/>
                </a:cubicBezTo>
                <a:cubicBezTo>
                  <a:pt x="32564" y="156817"/>
                  <a:pt x="37415" y="151966"/>
                  <a:pt x="43419" y="151966"/>
                </a:cubicBezTo>
                <a:lnTo>
                  <a:pt x="97692" y="151966"/>
                </a:lnTo>
                <a:lnTo>
                  <a:pt x="97692" y="52001"/>
                </a:lnTo>
                <a:cubicBezTo>
                  <a:pt x="89721" y="48507"/>
                  <a:pt x="83717" y="41282"/>
                  <a:pt x="81953" y="32564"/>
                </a:cubicBezTo>
                <a:lnTo>
                  <a:pt x="43419" y="32564"/>
                </a:lnTo>
                <a:cubicBezTo>
                  <a:pt x="37415" y="32564"/>
                  <a:pt x="32564" y="27713"/>
                  <a:pt x="32564" y="21709"/>
                </a:cubicBezTo>
                <a:cubicBezTo>
                  <a:pt x="32564" y="15705"/>
                  <a:pt x="37415" y="10855"/>
                  <a:pt x="43419" y="10855"/>
                </a:cubicBezTo>
                <a:lnTo>
                  <a:pt x="86838" y="10855"/>
                </a:lnTo>
                <a:cubicBezTo>
                  <a:pt x="91790" y="4274"/>
                  <a:pt x="99660" y="0"/>
                  <a:pt x="108547" y="0"/>
                </a:cubicBezTo>
                <a:cubicBezTo>
                  <a:pt x="117434" y="0"/>
                  <a:pt x="125304" y="4274"/>
                  <a:pt x="130256" y="10855"/>
                </a:cubicBezTo>
                <a:close/>
                <a:moveTo>
                  <a:pt x="149116" y="108547"/>
                </a:moveTo>
                <a:lnTo>
                  <a:pt x="198234" y="108547"/>
                </a:lnTo>
                <a:lnTo>
                  <a:pt x="173675" y="66417"/>
                </a:lnTo>
                <a:lnTo>
                  <a:pt x="149116" y="108547"/>
                </a:lnTo>
                <a:close/>
                <a:moveTo>
                  <a:pt x="173675" y="141111"/>
                </a:moveTo>
                <a:cubicBezTo>
                  <a:pt x="152339" y="141111"/>
                  <a:pt x="134598" y="129578"/>
                  <a:pt x="130935" y="114347"/>
                </a:cubicBezTo>
                <a:cubicBezTo>
                  <a:pt x="130053" y="110616"/>
                  <a:pt x="131274" y="106783"/>
                  <a:pt x="133208" y="103459"/>
                </a:cubicBezTo>
                <a:lnTo>
                  <a:pt x="165500" y="48100"/>
                </a:lnTo>
                <a:cubicBezTo>
                  <a:pt x="167196" y="45183"/>
                  <a:pt x="170317" y="43419"/>
                  <a:pt x="173675" y="43419"/>
                </a:cubicBezTo>
                <a:cubicBezTo>
                  <a:pt x="177033" y="43419"/>
                  <a:pt x="180154" y="45217"/>
                  <a:pt x="181850" y="48100"/>
                </a:cubicBezTo>
                <a:lnTo>
                  <a:pt x="214143" y="103459"/>
                </a:lnTo>
                <a:cubicBezTo>
                  <a:pt x="216076" y="106783"/>
                  <a:pt x="217298" y="110616"/>
                  <a:pt x="216416" y="114347"/>
                </a:cubicBezTo>
                <a:cubicBezTo>
                  <a:pt x="212752" y="129544"/>
                  <a:pt x="195011" y="141111"/>
                  <a:pt x="173675" y="141111"/>
                </a:cubicBezTo>
                <a:close/>
                <a:moveTo>
                  <a:pt x="43012" y="66417"/>
                </a:moveTo>
                <a:lnTo>
                  <a:pt x="18453" y="108547"/>
                </a:lnTo>
                <a:lnTo>
                  <a:pt x="67604" y="108547"/>
                </a:lnTo>
                <a:lnTo>
                  <a:pt x="43012" y="66417"/>
                </a:lnTo>
                <a:close/>
                <a:moveTo>
                  <a:pt x="305" y="114347"/>
                </a:moveTo>
                <a:cubicBezTo>
                  <a:pt x="-577" y="110616"/>
                  <a:pt x="644" y="106783"/>
                  <a:pt x="2578" y="103459"/>
                </a:cubicBezTo>
                <a:lnTo>
                  <a:pt x="34871" y="48100"/>
                </a:lnTo>
                <a:cubicBezTo>
                  <a:pt x="36567" y="45183"/>
                  <a:pt x="39688" y="43419"/>
                  <a:pt x="43046" y="43419"/>
                </a:cubicBezTo>
                <a:cubicBezTo>
                  <a:pt x="46404" y="43419"/>
                  <a:pt x="49525" y="45217"/>
                  <a:pt x="51221" y="48100"/>
                </a:cubicBezTo>
                <a:lnTo>
                  <a:pt x="83513" y="103459"/>
                </a:lnTo>
                <a:cubicBezTo>
                  <a:pt x="85447" y="106783"/>
                  <a:pt x="86668" y="110616"/>
                  <a:pt x="85786" y="114347"/>
                </a:cubicBezTo>
                <a:cubicBezTo>
                  <a:pt x="82123" y="129544"/>
                  <a:pt x="64382" y="141111"/>
                  <a:pt x="43046" y="141111"/>
                </a:cubicBezTo>
                <a:cubicBezTo>
                  <a:pt x="21709" y="141111"/>
                  <a:pt x="3969" y="129578"/>
                  <a:pt x="305" y="114347"/>
                </a:cubicBezTo>
                <a:close/>
              </a:path>
            </a:pathLst>
          </a:custGeom>
          <a:solidFill>
            <a:srgbClr val="8B0000"/>
          </a:solidFill>
          <a:ln/>
        </p:spPr>
      </p:sp>
      <p:sp>
        <p:nvSpPr>
          <p:cNvPr id="33" name="Text 31"/>
          <p:cNvSpPr/>
          <p:nvPr/>
        </p:nvSpPr>
        <p:spPr>
          <a:xfrm>
            <a:off x="6914173" y="1884376"/>
            <a:ext cx="1120205"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Classical Baseline</a:t>
            </a:r>
            <a:endParaRPr lang="en-US" sz="1600" dirty="0"/>
          </a:p>
        </p:txBody>
      </p:sp>
      <p:sp>
        <p:nvSpPr>
          <p:cNvPr id="34" name="Text 32"/>
          <p:cNvSpPr/>
          <p:nvPr/>
        </p:nvSpPr>
        <p:spPr>
          <a:xfrm>
            <a:off x="6592874" y="2162256"/>
            <a:ext cx="4967111" cy="208410"/>
          </a:xfrm>
          <a:prstGeom prst="rect">
            <a:avLst/>
          </a:prstGeom>
          <a:noFill/>
          <a:ln/>
        </p:spPr>
        <p:txBody>
          <a:bodyPr wrap="square" lIns="0" tIns="0" rIns="0" bIns="0" rtlCol="0" anchor="ctr"/>
          <a:lstStyle/>
          <a:p>
            <a:pP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Fully reproducible, inspectable, and extensible—suitable for teaching and research</a:t>
            </a:r>
            <a:endParaRPr lang="en-US" sz="1600" dirty="0"/>
          </a:p>
        </p:txBody>
      </p:sp>
      <p:sp>
        <p:nvSpPr>
          <p:cNvPr id="35" name="Shape 33"/>
          <p:cNvSpPr/>
          <p:nvPr/>
        </p:nvSpPr>
        <p:spPr>
          <a:xfrm>
            <a:off x="6449592" y="2661573"/>
            <a:ext cx="5184205" cy="981265"/>
          </a:xfrm>
          <a:custGeom>
            <a:avLst/>
            <a:gdLst/>
            <a:ahLst/>
            <a:cxnLst/>
            <a:rect l="l" t="t" r="r" b="b"/>
            <a:pathLst>
              <a:path w="5184205" h="981265">
                <a:moveTo>
                  <a:pt x="0" y="0"/>
                </a:moveTo>
                <a:lnTo>
                  <a:pt x="5184205" y="0"/>
                </a:lnTo>
                <a:lnTo>
                  <a:pt x="5184205" y="981265"/>
                </a:lnTo>
                <a:lnTo>
                  <a:pt x="0" y="981265"/>
                </a:lnTo>
                <a:lnTo>
                  <a:pt x="0" y="0"/>
                </a:lnTo>
                <a:close/>
              </a:path>
            </a:pathLst>
          </a:custGeom>
          <a:solidFill>
            <a:srgbClr val="FFFFFF"/>
          </a:solidFill>
          <a:ln w="12700">
            <a:solidFill>
              <a:srgbClr val="E5E7EB"/>
            </a:solidFill>
            <a:prstDash val="solid"/>
          </a:ln>
        </p:spPr>
      </p:sp>
      <p:sp>
        <p:nvSpPr>
          <p:cNvPr id="36" name="Shape 34"/>
          <p:cNvSpPr/>
          <p:nvPr/>
        </p:nvSpPr>
        <p:spPr>
          <a:xfrm>
            <a:off x="6614583" y="2822222"/>
            <a:ext cx="173675" cy="173675"/>
          </a:xfrm>
          <a:custGeom>
            <a:avLst/>
            <a:gdLst/>
            <a:ahLst/>
            <a:cxnLst/>
            <a:rect l="l" t="t" r="r" b="b"/>
            <a:pathLst>
              <a:path w="173675" h="173675">
                <a:moveTo>
                  <a:pt x="173675" y="32564"/>
                </a:moveTo>
                <a:cubicBezTo>
                  <a:pt x="173675" y="49592"/>
                  <a:pt x="153628" y="74999"/>
                  <a:pt x="144978" y="85142"/>
                </a:cubicBezTo>
                <a:cubicBezTo>
                  <a:pt x="143689" y="86634"/>
                  <a:pt x="141790" y="87211"/>
                  <a:pt x="140060" y="86838"/>
                </a:cubicBezTo>
                <a:lnTo>
                  <a:pt x="108547" y="86838"/>
                </a:lnTo>
                <a:cubicBezTo>
                  <a:pt x="102543" y="86838"/>
                  <a:pt x="97692" y="91688"/>
                  <a:pt x="97692" y="97692"/>
                </a:cubicBezTo>
                <a:cubicBezTo>
                  <a:pt x="97692" y="103696"/>
                  <a:pt x="102543" y="108547"/>
                  <a:pt x="108547" y="108547"/>
                </a:cubicBezTo>
                <a:lnTo>
                  <a:pt x="141111" y="108547"/>
                </a:lnTo>
                <a:cubicBezTo>
                  <a:pt x="159089" y="108547"/>
                  <a:pt x="173675" y="123133"/>
                  <a:pt x="173675" y="141111"/>
                </a:cubicBezTo>
                <a:cubicBezTo>
                  <a:pt x="173675" y="159089"/>
                  <a:pt x="159089" y="173675"/>
                  <a:pt x="141111" y="173675"/>
                </a:cubicBezTo>
                <a:lnTo>
                  <a:pt x="47354" y="173675"/>
                </a:lnTo>
                <a:cubicBezTo>
                  <a:pt x="50305" y="170317"/>
                  <a:pt x="53900" y="166009"/>
                  <a:pt x="57530" y="161192"/>
                </a:cubicBezTo>
                <a:cubicBezTo>
                  <a:pt x="59667" y="158343"/>
                  <a:pt x="61872" y="155222"/>
                  <a:pt x="63975" y="151966"/>
                </a:cubicBezTo>
                <a:lnTo>
                  <a:pt x="141111" y="151966"/>
                </a:lnTo>
                <a:cubicBezTo>
                  <a:pt x="147115" y="151966"/>
                  <a:pt x="151966" y="147115"/>
                  <a:pt x="151966" y="141111"/>
                </a:cubicBezTo>
                <a:cubicBezTo>
                  <a:pt x="151966" y="135107"/>
                  <a:pt x="147115" y="130256"/>
                  <a:pt x="141111" y="130256"/>
                </a:cubicBezTo>
                <a:lnTo>
                  <a:pt x="108547" y="130256"/>
                </a:lnTo>
                <a:cubicBezTo>
                  <a:pt x="90569" y="130256"/>
                  <a:pt x="75983" y="115670"/>
                  <a:pt x="75983" y="97692"/>
                </a:cubicBezTo>
                <a:cubicBezTo>
                  <a:pt x="75983" y="79714"/>
                  <a:pt x="90569" y="65128"/>
                  <a:pt x="108547" y="65128"/>
                </a:cubicBezTo>
                <a:lnTo>
                  <a:pt x="122048" y="65128"/>
                </a:lnTo>
                <a:cubicBezTo>
                  <a:pt x="114924" y="54443"/>
                  <a:pt x="108547" y="42164"/>
                  <a:pt x="108547" y="32564"/>
                </a:cubicBezTo>
                <a:cubicBezTo>
                  <a:pt x="108547" y="14586"/>
                  <a:pt x="123133" y="0"/>
                  <a:pt x="141111" y="0"/>
                </a:cubicBezTo>
                <a:cubicBezTo>
                  <a:pt x="159089" y="0"/>
                  <a:pt x="173675" y="14586"/>
                  <a:pt x="173675" y="32564"/>
                </a:cubicBezTo>
                <a:close/>
                <a:moveTo>
                  <a:pt x="39721" y="165907"/>
                </a:moveTo>
                <a:cubicBezTo>
                  <a:pt x="38432" y="167366"/>
                  <a:pt x="37279" y="168655"/>
                  <a:pt x="36295" y="169740"/>
                </a:cubicBezTo>
                <a:lnTo>
                  <a:pt x="35685" y="170419"/>
                </a:lnTo>
                <a:lnTo>
                  <a:pt x="35617" y="170351"/>
                </a:lnTo>
                <a:cubicBezTo>
                  <a:pt x="33582" y="171911"/>
                  <a:pt x="30665" y="171708"/>
                  <a:pt x="28833" y="169740"/>
                </a:cubicBezTo>
                <a:cubicBezTo>
                  <a:pt x="20285" y="160446"/>
                  <a:pt x="0" y="136532"/>
                  <a:pt x="0" y="119402"/>
                </a:cubicBezTo>
                <a:cubicBezTo>
                  <a:pt x="0" y="101424"/>
                  <a:pt x="14586" y="86838"/>
                  <a:pt x="32564" y="86838"/>
                </a:cubicBezTo>
                <a:cubicBezTo>
                  <a:pt x="50542" y="86838"/>
                  <a:pt x="65128" y="101424"/>
                  <a:pt x="65128" y="119402"/>
                </a:cubicBezTo>
                <a:cubicBezTo>
                  <a:pt x="65128" y="129578"/>
                  <a:pt x="57971" y="142129"/>
                  <a:pt x="50373" y="152610"/>
                </a:cubicBezTo>
                <a:cubicBezTo>
                  <a:pt x="46743" y="157597"/>
                  <a:pt x="43012" y="162108"/>
                  <a:pt x="39925" y="165670"/>
                </a:cubicBezTo>
                <a:lnTo>
                  <a:pt x="39721" y="165907"/>
                </a:lnTo>
                <a:close/>
                <a:moveTo>
                  <a:pt x="43419" y="119402"/>
                </a:moveTo>
                <a:cubicBezTo>
                  <a:pt x="43419" y="113411"/>
                  <a:pt x="38555" y="108547"/>
                  <a:pt x="32564" y="108547"/>
                </a:cubicBezTo>
                <a:cubicBezTo>
                  <a:pt x="26573" y="108547"/>
                  <a:pt x="21709" y="113411"/>
                  <a:pt x="21709" y="119402"/>
                </a:cubicBezTo>
                <a:cubicBezTo>
                  <a:pt x="21709" y="125393"/>
                  <a:pt x="26573" y="130256"/>
                  <a:pt x="32564" y="130256"/>
                </a:cubicBezTo>
                <a:cubicBezTo>
                  <a:pt x="38555" y="130256"/>
                  <a:pt x="43419" y="125393"/>
                  <a:pt x="43419" y="119402"/>
                </a:cubicBezTo>
                <a:close/>
                <a:moveTo>
                  <a:pt x="141111" y="43419"/>
                </a:moveTo>
                <a:cubicBezTo>
                  <a:pt x="147102" y="43419"/>
                  <a:pt x="151966" y="38555"/>
                  <a:pt x="151966" y="32564"/>
                </a:cubicBezTo>
                <a:cubicBezTo>
                  <a:pt x="151966" y="26573"/>
                  <a:pt x="147102" y="21709"/>
                  <a:pt x="141111" y="21709"/>
                </a:cubicBezTo>
                <a:cubicBezTo>
                  <a:pt x="135120" y="21709"/>
                  <a:pt x="130256" y="26573"/>
                  <a:pt x="130256" y="32564"/>
                </a:cubicBezTo>
                <a:cubicBezTo>
                  <a:pt x="130256" y="38555"/>
                  <a:pt x="135120" y="43419"/>
                  <a:pt x="141111" y="43419"/>
                </a:cubicBezTo>
                <a:close/>
              </a:path>
            </a:pathLst>
          </a:custGeom>
          <a:solidFill>
            <a:srgbClr val="8B0000"/>
          </a:solidFill>
          <a:ln/>
        </p:spPr>
      </p:sp>
      <p:sp>
        <p:nvSpPr>
          <p:cNvPr id="37" name="Text 35"/>
          <p:cNvSpPr/>
          <p:nvPr/>
        </p:nvSpPr>
        <p:spPr>
          <a:xfrm>
            <a:off x="6914173" y="2804855"/>
            <a:ext cx="1302564"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Clear Upgrade Paths</a:t>
            </a:r>
            <a:endParaRPr lang="en-US" sz="1600" dirty="0"/>
          </a:p>
        </p:txBody>
      </p:sp>
      <p:sp>
        <p:nvSpPr>
          <p:cNvPr id="38" name="Text 36"/>
          <p:cNvSpPr/>
          <p:nvPr/>
        </p:nvSpPr>
        <p:spPr>
          <a:xfrm>
            <a:off x="6592874" y="3082735"/>
            <a:ext cx="4967111" cy="416821"/>
          </a:xfrm>
          <a:prstGeom prst="rect">
            <a:avLst/>
          </a:prstGeom>
          <a:noFill/>
          <a:ln/>
        </p:spPr>
        <p:txBody>
          <a:bodyPr wrap="square" lIns="0" tIns="0" rIns="0" bIns="0" rtlCol="0" anchor="ctr"/>
          <a:lstStyle/>
          <a:p>
            <a:pP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Frame-aware disambiguation, semantic chaining, multi-predicate composition, hybrid LLM</a:t>
            </a:r>
            <a:endParaRPr lang="en-US" sz="1600" dirty="0"/>
          </a:p>
        </p:txBody>
      </p:sp>
      <p:sp>
        <p:nvSpPr>
          <p:cNvPr id="39" name="Shape 37"/>
          <p:cNvSpPr/>
          <p:nvPr/>
        </p:nvSpPr>
        <p:spPr>
          <a:xfrm>
            <a:off x="6449592" y="3790462"/>
            <a:ext cx="5184205" cy="772855"/>
          </a:xfrm>
          <a:custGeom>
            <a:avLst/>
            <a:gdLst/>
            <a:ahLst/>
            <a:cxnLst/>
            <a:rect l="l" t="t" r="r" b="b"/>
            <a:pathLst>
              <a:path w="5184205" h="772855">
                <a:moveTo>
                  <a:pt x="0" y="0"/>
                </a:moveTo>
                <a:lnTo>
                  <a:pt x="5184205" y="0"/>
                </a:lnTo>
                <a:lnTo>
                  <a:pt x="5184205" y="772855"/>
                </a:lnTo>
                <a:lnTo>
                  <a:pt x="0" y="772855"/>
                </a:lnTo>
                <a:lnTo>
                  <a:pt x="0" y="0"/>
                </a:lnTo>
                <a:close/>
              </a:path>
            </a:pathLst>
          </a:custGeom>
          <a:solidFill>
            <a:srgbClr val="FFFFFF"/>
          </a:solidFill>
          <a:ln w="12700">
            <a:solidFill>
              <a:srgbClr val="E5E7EB"/>
            </a:solidFill>
            <a:prstDash val="solid"/>
          </a:ln>
        </p:spPr>
      </p:sp>
      <p:sp>
        <p:nvSpPr>
          <p:cNvPr id="40" name="Shape 38"/>
          <p:cNvSpPr/>
          <p:nvPr/>
        </p:nvSpPr>
        <p:spPr>
          <a:xfrm>
            <a:off x="6614583" y="3951111"/>
            <a:ext cx="173675" cy="173675"/>
          </a:xfrm>
          <a:custGeom>
            <a:avLst/>
            <a:gdLst/>
            <a:ahLst/>
            <a:cxnLst/>
            <a:rect l="l" t="t" r="r" b="b"/>
            <a:pathLst>
              <a:path w="173675" h="173675">
                <a:moveTo>
                  <a:pt x="141111" y="70556"/>
                </a:moveTo>
                <a:cubicBezTo>
                  <a:pt x="141111" y="86125"/>
                  <a:pt x="136057" y="100508"/>
                  <a:pt x="127543" y="112177"/>
                </a:cubicBezTo>
                <a:lnTo>
                  <a:pt x="170487" y="155154"/>
                </a:lnTo>
                <a:cubicBezTo>
                  <a:pt x="174727" y="159394"/>
                  <a:pt x="174727" y="166280"/>
                  <a:pt x="170487" y="170521"/>
                </a:cubicBezTo>
                <a:cubicBezTo>
                  <a:pt x="166247" y="174761"/>
                  <a:pt x="159361" y="174761"/>
                  <a:pt x="155120" y="170521"/>
                </a:cubicBezTo>
                <a:lnTo>
                  <a:pt x="112177" y="127543"/>
                </a:lnTo>
                <a:cubicBezTo>
                  <a:pt x="100508" y="136057"/>
                  <a:pt x="86125" y="141111"/>
                  <a:pt x="70556" y="141111"/>
                </a:cubicBezTo>
                <a:cubicBezTo>
                  <a:pt x="31580" y="141111"/>
                  <a:pt x="0" y="109531"/>
                  <a:pt x="0" y="70556"/>
                </a:cubicBezTo>
                <a:cubicBezTo>
                  <a:pt x="0" y="31580"/>
                  <a:pt x="31580" y="0"/>
                  <a:pt x="70556" y="0"/>
                </a:cubicBezTo>
                <a:cubicBezTo>
                  <a:pt x="109531" y="0"/>
                  <a:pt x="141111" y="31580"/>
                  <a:pt x="141111" y="70556"/>
                </a:cubicBezTo>
                <a:close/>
                <a:moveTo>
                  <a:pt x="70556" y="119402"/>
                </a:moveTo>
                <a:cubicBezTo>
                  <a:pt x="97514" y="119402"/>
                  <a:pt x="119402" y="97514"/>
                  <a:pt x="119402" y="70556"/>
                </a:cubicBezTo>
                <a:cubicBezTo>
                  <a:pt x="119402" y="43597"/>
                  <a:pt x="97514" y="21709"/>
                  <a:pt x="70556" y="21709"/>
                </a:cubicBezTo>
                <a:cubicBezTo>
                  <a:pt x="43597" y="21709"/>
                  <a:pt x="21709" y="43597"/>
                  <a:pt x="21709" y="70556"/>
                </a:cubicBezTo>
                <a:cubicBezTo>
                  <a:pt x="21709" y="97514"/>
                  <a:pt x="43597" y="119402"/>
                  <a:pt x="70556" y="119402"/>
                </a:cubicBezTo>
                <a:close/>
              </a:path>
            </a:pathLst>
          </a:custGeom>
          <a:solidFill>
            <a:srgbClr val="8B0000"/>
          </a:solidFill>
          <a:ln/>
        </p:spPr>
      </p:sp>
      <p:sp>
        <p:nvSpPr>
          <p:cNvPr id="41" name="Text 39"/>
          <p:cNvSpPr/>
          <p:nvPr/>
        </p:nvSpPr>
        <p:spPr>
          <a:xfrm>
            <a:off x="6914173" y="3933744"/>
            <a:ext cx="798906"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Error Profile</a:t>
            </a:r>
            <a:endParaRPr lang="en-US" sz="1600" dirty="0"/>
          </a:p>
        </p:txBody>
      </p:sp>
      <p:sp>
        <p:nvSpPr>
          <p:cNvPr id="42" name="Text 40"/>
          <p:cNvSpPr/>
          <p:nvPr/>
        </p:nvSpPr>
        <p:spPr>
          <a:xfrm>
            <a:off x="6592874" y="4211624"/>
            <a:ext cx="4967111" cy="208410"/>
          </a:xfrm>
          <a:prstGeom prst="rect">
            <a:avLst/>
          </a:prstGeom>
          <a:noFill/>
          <a:ln/>
        </p:spPr>
        <p:txBody>
          <a:bodyPr wrap="square" lIns="0" tIns="0" rIns="0" bIns="0" rtlCol="0" anchor="ctr"/>
          <a:lstStyle/>
          <a:p>
            <a:pP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Detailed taxonomy of failure modes guiding targeted improvements</a:t>
            </a:r>
            <a:endParaRPr lang="en-US" sz="1600" dirty="0"/>
          </a:p>
        </p:txBody>
      </p:sp>
      <p:sp>
        <p:nvSpPr>
          <p:cNvPr id="43" name="Shape 41"/>
          <p:cNvSpPr/>
          <p:nvPr/>
        </p:nvSpPr>
        <p:spPr>
          <a:xfrm>
            <a:off x="6236840" y="4984479"/>
            <a:ext cx="5609709" cy="1441504"/>
          </a:xfrm>
          <a:custGeom>
            <a:avLst/>
            <a:gdLst/>
            <a:ahLst/>
            <a:cxnLst/>
            <a:rect l="l" t="t" r="r" b="b"/>
            <a:pathLst>
              <a:path w="5609709" h="1441504">
                <a:moveTo>
                  <a:pt x="0" y="0"/>
                </a:moveTo>
                <a:lnTo>
                  <a:pt x="5609709" y="0"/>
                </a:lnTo>
                <a:lnTo>
                  <a:pt x="5609709" y="1441504"/>
                </a:lnTo>
                <a:lnTo>
                  <a:pt x="0" y="1441504"/>
                </a:lnTo>
                <a:lnTo>
                  <a:pt x="0" y="0"/>
                </a:lnTo>
                <a:close/>
              </a:path>
            </a:pathLst>
          </a:custGeom>
          <a:solidFill>
            <a:srgbClr val="8B0000"/>
          </a:solidFill>
          <a:ln/>
        </p:spPr>
      </p:sp>
      <p:sp>
        <p:nvSpPr>
          <p:cNvPr id="44" name="Text 42"/>
          <p:cNvSpPr/>
          <p:nvPr/>
        </p:nvSpPr>
        <p:spPr>
          <a:xfrm>
            <a:off x="6445250" y="5192889"/>
            <a:ext cx="5279726" cy="243145"/>
          </a:xfrm>
          <a:prstGeom prst="rect">
            <a:avLst/>
          </a:prstGeom>
          <a:noFill/>
          <a:ln/>
        </p:spPr>
        <p:txBody>
          <a:bodyPr wrap="square" lIns="0" tIns="0" rIns="0" bIns="0" rtlCol="0" anchor="ctr"/>
          <a:lstStyle/>
          <a:p>
            <a:pPr>
              <a:lnSpc>
                <a:spcPct val="120000"/>
              </a:lnSpc>
            </a:pPr>
            <a:r>
              <a:rPr lang="en-US" sz="1368" b="1" dirty="0">
                <a:solidFill>
                  <a:srgbClr val="FFFFFF"/>
                </a:solidFill>
                <a:latin typeface="Sorts Mill Goudy" pitchFamily="34" charset="0"/>
                <a:ea typeface="Sorts Mill Goudy" pitchFamily="34" charset="-122"/>
                <a:cs typeface="Sorts Mill Goudy" pitchFamily="34" charset="-120"/>
              </a:rPr>
              <a:t>Core Message</a:t>
            </a:r>
            <a:endParaRPr lang="en-US" sz="1600" dirty="0"/>
          </a:p>
        </p:txBody>
      </p:sp>
      <p:sp>
        <p:nvSpPr>
          <p:cNvPr id="45" name="Text 43"/>
          <p:cNvSpPr/>
          <p:nvPr/>
        </p:nvSpPr>
        <p:spPr>
          <a:xfrm>
            <a:off x="6445250" y="5540239"/>
            <a:ext cx="5262359" cy="677333"/>
          </a:xfrm>
          <a:prstGeom prst="rect">
            <a:avLst/>
          </a:prstGeom>
          <a:noFill/>
          <a:ln/>
        </p:spPr>
        <p:txBody>
          <a:bodyPr wrap="square" lIns="0" tIns="0" rIns="0" bIns="0" rtlCol="0" anchor="ctr"/>
          <a:lstStyle/>
          <a:p>
            <a:pPr>
              <a:lnSpc>
                <a:spcPct val="140000"/>
              </a:lnSpc>
            </a:pPr>
            <a:r>
              <a:rPr lang="en-US" sz="1094" dirty="0">
                <a:solidFill>
                  <a:srgbClr val="FFFFFF"/>
                </a:solidFill>
                <a:latin typeface="Sorts Mill Goudy" pitchFamily="34" charset="0"/>
                <a:ea typeface="Sorts Mill Goudy" pitchFamily="34" charset="-122"/>
                <a:cs typeface="Sorts Mill Goudy" pitchFamily="34" charset="-120"/>
              </a:rPr>
              <a:t>The work is </a:t>
            </a:r>
            <a:r>
              <a:rPr lang="en-US" sz="1094" b="1" dirty="0">
                <a:solidFill>
                  <a:srgbClr val="FFFFFF"/>
                </a:solidFill>
                <a:latin typeface="Sorts Mill Goudy" pitchFamily="34" charset="0"/>
                <a:ea typeface="Sorts Mill Goudy" pitchFamily="34" charset="-122"/>
                <a:cs typeface="Sorts Mill Goudy" pitchFamily="34" charset="-120"/>
              </a:rPr>
              <a:t>intentionally classical in spirit</a:t>
            </a:r>
            <a:r>
              <a:rPr lang="en-US" sz="1094" dirty="0">
                <a:solidFill>
                  <a:srgbClr val="FFFFFF"/>
                </a:solidFill>
                <a:latin typeface="Sorts Mill Goudy" pitchFamily="34" charset="0"/>
                <a:ea typeface="Sorts Mill Goudy" pitchFamily="34" charset="-122"/>
                <a:cs typeface="Sorts Mill Goudy" pitchFamily="34" charset="-120"/>
              </a:rPr>
              <a:t>. Rather than hiding structure inside a very large generative model, it uses explicit roles, answer spans, and checkpointed metrics to create a reproducible baseline that can be inspected, ablated, and extended.</a:t>
            </a:r>
            <a:endParaRPr lang="en-US" sz="1600" dirty="0"/>
          </a:p>
        </p:txBody>
      </p:sp>
    </p:spTree>
    <p:extLst>
      <p:ext uri="{BB962C8B-B14F-4D97-AF65-F5344CB8AC3E}">
        <p14:creationId xmlns:p14="http://schemas.microsoft.com/office/powerpoint/2010/main" val="837369218"/>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C17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none">
            <a:spAutoFit/>
          </a:bodyPr>
          <a:lstStyle/>
          <a:p>
            <a:r>
              <a:rPr sz="2500" b="1">
                <a:solidFill>
                  <a:srgbClr val="EEF4FA"/>
                </a:solidFill>
              </a:rPr>
              <a:t>New State: RAISE-SRL-QA</a:t>
            </a:r>
          </a:p>
        </p:txBody>
      </p:sp>
      <p:sp>
        <p:nvSpPr>
          <p:cNvPr id="4" name="TextBox 3"/>
          <p:cNvSpPr txBox="1"/>
          <p:nvPr/>
        </p:nvSpPr>
        <p:spPr>
          <a:xfrm>
            <a:off x="530352" y="804672"/>
            <a:ext cx="10789920" cy="256032"/>
          </a:xfrm>
          <a:prstGeom prst="rect">
            <a:avLst/>
          </a:prstGeom>
          <a:noFill/>
        </p:spPr>
        <p:txBody>
          <a:bodyPr wrap="none">
            <a:spAutoFit/>
          </a:bodyPr>
          <a:lstStyle/>
          <a:p>
            <a:r>
              <a:rPr sz="900">
                <a:solidFill>
                  <a:srgbClr val="B3C4D6"/>
                </a:solidFill>
              </a:rPr>
              <a:t>RAISE-SRL-QA update</a:t>
            </a:r>
          </a:p>
        </p:txBody>
      </p:sp>
      <p:sp>
        <p:nvSpPr>
          <p:cNvPr id="5" name="TextBox 4"/>
          <p:cNvSpPr txBox="1"/>
          <p:nvPr/>
        </p:nvSpPr>
        <p:spPr>
          <a:xfrm>
            <a:off x="502920" y="6473952"/>
            <a:ext cx="11155680" cy="228600"/>
          </a:xfrm>
          <a:prstGeom prst="rect">
            <a:avLst/>
          </a:prstGeom>
          <a:noFill/>
        </p:spPr>
        <p:txBody>
          <a:bodyPr wrap="none">
            <a:spAutoFit/>
          </a:bodyPr>
          <a:lstStyle/>
          <a:p>
            <a:r>
              <a:rPr sz="800">
                <a:solidFill>
                  <a:srgbClr val="B3C4D6"/>
                </a:solidFill>
              </a:rPr>
              <a:t>Local implemented values only. Seed-suite results are not official public SOTA claims.</a:t>
            </a:r>
          </a:p>
        </p:txBody>
      </p:sp>
      <p:sp>
        <p:nvSpPr>
          <p:cNvPr id="6" name="TextBox 5"/>
          <p:cNvSpPr txBox="1"/>
          <p:nvPr/>
        </p:nvSpPr>
        <p:spPr>
          <a:xfrm>
            <a:off x="685800" y="1143000"/>
            <a:ext cx="10789920" cy="384048"/>
          </a:xfrm>
          <a:prstGeom prst="rect">
            <a:avLst/>
          </a:prstGeom>
          <a:noFill/>
        </p:spPr>
        <p:txBody>
          <a:bodyPr wrap="square">
            <a:normAutofit/>
          </a:bodyPr>
          <a:lstStyle/>
          <a:p>
            <a:pPr algn="ctr"/>
            <a:r>
              <a:rPr sz="1600" b="1">
                <a:solidFill>
                  <a:srgbClr val="39BEBD"/>
                </a:solidFill>
              </a:rPr>
              <a:t>RAISE = Retrieval-Augmented, Iteratively Self-correcting, Explainable SRL-QA</a:t>
            </a:r>
          </a:p>
        </p:txBody>
      </p:sp>
      <p:sp>
        <p:nvSpPr>
          <p:cNvPr id="7" name="Rounded Rectangle 6"/>
          <p:cNvSpPr/>
          <p:nvPr/>
        </p:nvSpPr>
        <p:spPr>
          <a:xfrm>
            <a:off x="640080" y="1828800"/>
            <a:ext cx="3566160" cy="1143000"/>
          </a:xfrm>
          <a:prstGeom prst="roundRect">
            <a:avLst/>
          </a:prstGeom>
          <a:solidFill>
            <a:srgbClr val="16263B"/>
          </a:solidFill>
          <a:ln>
            <a:solidFill>
              <a:srgbClr val="3A53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828800"/>
            <a:ext cx="3566160" cy="73152"/>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 y="1956816"/>
            <a:ext cx="3273552" cy="256032"/>
          </a:xfrm>
          <a:prstGeom prst="rect">
            <a:avLst/>
          </a:prstGeom>
          <a:noFill/>
        </p:spPr>
        <p:txBody>
          <a:bodyPr wrap="square">
            <a:normAutofit/>
          </a:bodyPr>
          <a:lstStyle/>
          <a:p>
            <a:r>
              <a:rPr sz="1200" b="1">
                <a:solidFill>
                  <a:srgbClr val="39BEBD"/>
                </a:solidFill>
              </a:rPr>
              <a:t>Retrieval</a:t>
            </a:r>
          </a:p>
        </p:txBody>
      </p:sp>
      <p:sp>
        <p:nvSpPr>
          <p:cNvPr id="10" name="TextBox 9"/>
          <p:cNvSpPr txBox="1"/>
          <p:nvPr/>
        </p:nvSpPr>
        <p:spPr>
          <a:xfrm>
            <a:off x="786384" y="2267712"/>
            <a:ext cx="3273552" cy="640080"/>
          </a:xfrm>
          <a:prstGeom prst="rect">
            <a:avLst/>
          </a:prstGeom>
          <a:noFill/>
        </p:spPr>
        <p:txBody>
          <a:bodyPr wrap="square">
            <a:normAutofit/>
          </a:bodyPr>
          <a:lstStyle/>
          <a:p>
            <a:r>
              <a:rPr sz="1050" b="0">
                <a:solidFill>
                  <a:srgbClr val="EEF4FA"/>
                </a:solidFill>
              </a:rPr>
              <a:t>PropBank frame records are retrieved for predicate-role compatibility.</a:t>
            </a:r>
          </a:p>
        </p:txBody>
      </p:sp>
      <p:sp>
        <p:nvSpPr>
          <p:cNvPr id="11" name="Rounded Rectangle 10"/>
          <p:cNvSpPr/>
          <p:nvPr/>
        </p:nvSpPr>
        <p:spPr>
          <a:xfrm>
            <a:off x="4434840" y="1828800"/>
            <a:ext cx="3383280" cy="1143000"/>
          </a:xfrm>
          <a:prstGeom prst="roundRect">
            <a:avLst/>
          </a:prstGeom>
          <a:solidFill>
            <a:srgbClr val="16263B"/>
          </a:solidFill>
          <a:ln>
            <a:solidFill>
              <a:srgbClr val="3A53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828800"/>
            <a:ext cx="3383280" cy="73152"/>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81144" y="1956816"/>
            <a:ext cx="3090672" cy="256032"/>
          </a:xfrm>
          <a:prstGeom prst="rect">
            <a:avLst/>
          </a:prstGeom>
          <a:noFill/>
        </p:spPr>
        <p:txBody>
          <a:bodyPr wrap="square">
            <a:normAutofit/>
          </a:bodyPr>
          <a:lstStyle/>
          <a:p>
            <a:r>
              <a:rPr sz="1200" b="1">
                <a:solidFill>
                  <a:srgbClr val="FFC457"/>
                </a:solidFill>
              </a:rPr>
              <a:t>Correction</a:t>
            </a:r>
          </a:p>
        </p:txBody>
      </p:sp>
      <p:sp>
        <p:nvSpPr>
          <p:cNvPr id="14" name="TextBox 13"/>
          <p:cNvSpPr txBox="1"/>
          <p:nvPr/>
        </p:nvSpPr>
        <p:spPr>
          <a:xfrm>
            <a:off x="4581144" y="2267712"/>
            <a:ext cx="3090672" cy="640080"/>
          </a:xfrm>
          <a:prstGeom prst="rect">
            <a:avLst/>
          </a:prstGeom>
          <a:noFill/>
        </p:spPr>
        <p:txBody>
          <a:bodyPr wrap="square">
            <a:normAutofit/>
          </a:bodyPr>
          <a:lstStyle/>
          <a:p>
            <a:r>
              <a:rPr sz="1050" b="0">
                <a:solidFill>
                  <a:srgbClr val="EEF4FA"/>
                </a:solidFill>
              </a:rPr>
              <a:t>Weak candidates can be rejected and the next evidence-backed span can be selected.</a:t>
            </a:r>
          </a:p>
        </p:txBody>
      </p:sp>
      <p:sp>
        <p:nvSpPr>
          <p:cNvPr id="15" name="Rounded Rectangle 14"/>
          <p:cNvSpPr/>
          <p:nvPr/>
        </p:nvSpPr>
        <p:spPr>
          <a:xfrm>
            <a:off x="8046720" y="1828800"/>
            <a:ext cx="3520440" cy="1143000"/>
          </a:xfrm>
          <a:prstGeom prst="roundRect">
            <a:avLst/>
          </a:prstGeom>
          <a:solidFill>
            <a:srgbClr val="16263B"/>
          </a:solidFill>
          <a:ln>
            <a:solidFill>
              <a:srgbClr val="3A53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828800"/>
            <a:ext cx="3520440" cy="73152"/>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93024" y="1956816"/>
            <a:ext cx="3227832" cy="256032"/>
          </a:xfrm>
          <a:prstGeom prst="rect">
            <a:avLst/>
          </a:prstGeom>
          <a:noFill/>
        </p:spPr>
        <p:txBody>
          <a:bodyPr wrap="square">
            <a:normAutofit/>
          </a:bodyPr>
          <a:lstStyle/>
          <a:p>
            <a:r>
              <a:rPr sz="1200" b="1">
                <a:solidFill>
                  <a:srgbClr val="5FD394"/>
                </a:solidFill>
              </a:rPr>
              <a:t>Explainability</a:t>
            </a:r>
          </a:p>
        </p:txBody>
      </p:sp>
      <p:sp>
        <p:nvSpPr>
          <p:cNvPr id="18" name="TextBox 17"/>
          <p:cNvSpPr txBox="1"/>
          <p:nvPr/>
        </p:nvSpPr>
        <p:spPr>
          <a:xfrm>
            <a:off x="8193024" y="2267712"/>
            <a:ext cx="3227832" cy="640080"/>
          </a:xfrm>
          <a:prstGeom prst="rect">
            <a:avLst/>
          </a:prstGeom>
          <a:noFill/>
        </p:spPr>
        <p:txBody>
          <a:bodyPr wrap="square">
            <a:normAutofit/>
          </a:bodyPr>
          <a:lstStyle/>
          <a:p>
            <a:r>
              <a:rPr sz="1050" b="0">
                <a:solidFill>
                  <a:srgbClr val="EEF4FA"/>
                </a:solidFill>
              </a:rPr>
              <a:t>Outputs include answer, role, confidence, and reasoning-friendly evidence.</a:t>
            </a:r>
          </a:p>
        </p:txBody>
      </p:sp>
      <p:sp>
        <p:nvSpPr>
          <p:cNvPr id="19" name="Rounded Rectangle 18"/>
          <p:cNvSpPr/>
          <p:nvPr/>
        </p:nvSpPr>
        <p:spPr>
          <a:xfrm>
            <a:off x="914400" y="3337560"/>
            <a:ext cx="10332720" cy="2057400"/>
          </a:xfrm>
          <a:prstGeom prst="roundRect">
            <a:avLst/>
          </a:prstGeom>
          <a:solidFill>
            <a:srgbClr val="16263B"/>
          </a:solidFill>
          <a:ln>
            <a:solidFill>
              <a:srgbClr val="374E67"/>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r>
              <a:rPr sz="1400" b="1">
                <a:solidFill>
                  <a:srgbClr val="39BEBD"/>
                </a:solidFill>
              </a:rPr>
              <a:t>Implemented update</a:t>
            </a:r>
          </a:p>
          <a:p>
            <a:pPr>
              <a:defRPr sz="1200">
                <a:solidFill>
                  <a:srgbClr val="EEF4FA"/>
                </a:solidFill>
              </a:defRPr>
            </a:pPr>
            <a:r>
              <a:t>New terminal runner: srlqa/run_all_models.py</a:t>
            </a:r>
          </a:p>
          <a:p>
            <a:pPr>
              <a:defRPr sz="1200">
                <a:solidFill>
                  <a:srgbClr val="EEF4FA"/>
                </a:solidFill>
              </a:defRPr>
            </a:pPr>
            <a:r>
              <a:t>New reusable registry: srlqa/model_hub.py</a:t>
            </a:r>
          </a:p>
          <a:p>
            <a:pPr>
              <a:defRPr sz="1200">
                <a:solidFill>
                  <a:srgbClr val="EEF4FA"/>
                </a:solidFill>
              </a:defRPr>
            </a:pPr>
            <a:r>
              <a:t>New standalone app: srlqa/raise_streamlit_app.py</a:t>
            </a:r>
          </a:p>
          <a:p>
            <a:pPr>
              <a:defRPr sz="1200">
                <a:solidFill>
                  <a:srgbClr val="EEF4FA"/>
                </a:solidFill>
              </a:defRPr>
            </a:pPr>
            <a:r>
              <a:t>Existing Streamlit app now includes All Model QA</a:t>
            </a:r>
          </a:p>
          <a:p>
            <a:pPr>
              <a:defRPr sz="1200">
                <a:solidFill>
                  <a:srgbClr val="EEF4FA"/>
                </a:solidFill>
              </a:defRPr>
            </a:pPr>
            <a:r>
              <a:t>All local demo claims are clearly separated from official benchmark claims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C17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none">
            <a:spAutoFit/>
          </a:bodyPr>
          <a:lstStyle/>
          <a:p>
            <a:r>
              <a:rPr sz="2500" b="1">
                <a:solidFill>
                  <a:srgbClr val="EEF4FA"/>
                </a:solidFill>
              </a:rPr>
              <a:t>End-To-End RAISE Flow</a:t>
            </a:r>
          </a:p>
        </p:txBody>
      </p:sp>
      <p:sp>
        <p:nvSpPr>
          <p:cNvPr id="4" name="TextBox 3"/>
          <p:cNvSpPr txBox="1"/>
          <p:nvPr/>
        </p:nvSpPr>
        <p:spPr>
          <a:xfrm>
            <a:off x="530352" y="804672"/>
            <a:ext cx="10789920" cy="256032"/>
          </a:xfrm>
          <a:prstGeom prst="rect">
            <a:avLst/>
          </a:prstGeom>
          <a:noFill/>
        </p:spPr>
        <p:txBody>
          <a:bodyPr wrap="none">
            <a:spAutoFit/>
          </a:bodyPr>
          <a:lstStyle/>
          <a:p>
            <a:r>
              <a:rPr sz="900">
                <a:solidFill>
                  <a:srgbClr val="B3C4D6"/>
                </a:solidFill>
              </a:rPr>
              <a:t>RAISE-SRL-QA update</a:t>
            </a:r>
          </a:p>
        </p:txBody>
      </p:sp>
      <p:sp>
        <p:nvSpPr>
          <p:cNvPr id="5" name="TextBox 4"/>
          <p:cNvSpPr txBox="1"/>
          <p:nvPr/>
        </p:nvSpPr>
        <p:spPr>
          <a:xfrm>
            <a:off x="502920" y="6473952"/>
            <a:ext cx="11155680" cy="228600"/>
          </a:xfrm>
          <a:prstGeom prst="rect">
            <a:avLst/>
          </a:prstGeom>
          <a:noFill/>
        </p:spPr>
        <p:txBody>
          <a:bodyPr wrap="none">
            <a:spAutoFit/>
          </a:bodyPr>
          <a:lstStyle/>
          <a:p>
            <a:r>
              <a:rPr sz="800">
                <a:solidFill>
                  <a:srgbClr val="B3C4D6"/>
                </a:solidFill>
              </a:rPr>
              <a:t>Local implemented values only. Seed-suite results are not official public SOTA claims.</a:t>
            </a:r>
          </a:p>
        </p:txBody>
      </p:sp>
      <p:sp>
        <p:nvSpPr>
          <p:cNvPr id="6" name="Rounded Rectangle 5"/>
          <p:cNvSpPr/>
          <p:nvPr/>
        </p:nvSpPr>
        <p:spPr>
          <a:xfrm>
            <a:off x="502920" y="1417320"/>
            <a:ext cx="2423160" cy="749808"/>
          </a:xfrm>
          <a:prstGeom prst="roundRect">
            <a:avLst/>
          </a:prstGeom>
          <a:solidFill>
            <a:srgbClr val="16263B"/>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EEF4FA"/>
                </a:solidFill>
              </a:rPr>
              <a:t>Context + Question</a:t>
            </a:r>
          </a:p>
        </p:txBody>
      </p:sp>
      <p:sp>
        <p:nvSpPr>
          <p:cNvPr id="7" name="Rounded Rectangle 6"/>
          <p:cNvSpPr/>
          <p:nvPr/>
        </p:nvSpPr>
        <p:spPr>
          <a:xfrm>
            <a:off x="3383280" y="1417320"/>
            <a:ext cx="2423160" cy="749808"/>
          </a:xfrm>
          <a:prstGeom prst="roundRect">
            <a:avLst/>
          </a:prstGeom>
          <a:solidFill>
            <a:srgbClr val="16263B"/>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EEF4FA"/>
                </a:solidFill>
              </a:rPr>
              <a:t>Question Intent Parser</a:t>
            </a:r>
          </a:p>
        </p:txBody>
      </p:sp>
      <p:sp>
        <p:nvSpPr>
          <p:cNvPr id="8" name="Rounded Rectangle 7"/>
          <p:cNvSpPr/>
          <p:nvPr/>
        </p:nvSpPr>
        <p:spPr>
          <a:xfrm>
            <a:off x="6263640" y="1417320"/>
            <a:ext cx="2423160" cy="749808"/>
          </a:xfrm>
          <a:prstGeom prst="roundRect">
            <a:avLst/>
          </a:prstGeom>
          <a:solidFill>
            <a:srgbClr val="16263B"/>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EEF4FA"/>
                </a:solidFill>
              </a:rPr>
              <a:t>Predicate Detector</a:t>
            </a:r>
          </a:p>
        </p:txBody>
      </p:sp>
      <p:sp>
        <p:nvSpPr>
          <p:cNvPr id="9" name="Rounded Rectangle 8"/>
          <p:cNvSpPr/>
          <p:nvPr/>
        </p:nvSpPr>
        <p:spPr>
          <a:xfrm>
            <a:off x="9144000" y="1417320"/>
            <a:ext cx="2423160" cy="749808"/>
          </a:xfrm>
          <a:prstGeom prst="roundRect">
            <a:avLst/>
          </a:prstGeom>
          <a:solidFill>
            <a:srgbClr val="16263B"/>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EEF4FA"/>
                </a:solidFill>
              </a:rPr>
              <a:t>PropBank Frame Retrieval</a:t>
            </a:r>
          </a:p>
        </p:txBody>
      </p:sp>
      <p:sp>
        <p:nvSpPr>
          <p:cNvPr id="10" name="Rounded Rectangle 9"/>
          <p:cNvSpPr/>
          <p:nvPr/>
        </p:nvSpPr>
        <p:spPr>
          <a:xfrm>
            <a:off x="502920" y="3246120"/>
            <a:ext cx="2423160" cy="749808"/>
          </a:xfrm>
          <a:prstGeom prst="roundRect">
            <a:avLst/>
          </a:prstGeom>
          <a:solidFill>
            <a:srgbClr val="16263B"/>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EEF4FA"/>
                </a:solidFill>
              </a:rPr>
              <a:t>Candidate Span Generator</a:t>
            </a:r>
          </a:p>
        </p:txBody>
      </p:sp>
      <p:sp>
        <p:nvSpPr>
          <p:cNvPr id="11" name="Rounded Rectangle 10"/>
          <p:cNvSpPr/>
          <p:nvPr/>
        </p:nvSpPr>
        <p:spPr>
          <a:xfrm>
            <a:off x="3383280" y="3246120"/>
            <a:ext cx="2423160" cy="749808"/>
          </a:xfrm>
          <a:prstGeom prst="roundRect">
            <a:avLst/>
          </a:prstGeom>
          <a:solidFill>
            <a:srgbClr val="16263B"/>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EEF4FA"/>
                </a:solidFill>
              </a:rPr>
              <a:t>Constrained Decoder</a:t>
            </a:r>
          </a:p>
        </p:txBody>
      </p:sp>
      <p:sp>
        <p:nvSpPr>
          <p:cNvPr id="12" name="Rounded Rectangle 11"/>
          <p:cNvSpPr/>
          <p:nvPr/>
        </p:nvSpPr>
        <p:spPr>
          <a:xfrm>
            <a:off x="6263640" y="3246120"/>
            <a:ext cx="2423160" cy="749808"/>
          </a:xfrm>
          <a:prstGeom prst="roundRect">
            <a:avLst/>
          </a:prstGeom>
          <a:solidFill>
            <a:srgbClr val="16263B"/>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EEF4FA"/>
                </a:solidFill>
              </a:rPr>
              <a:t>Verifier + Correction</a:t>
            </a:r>
          </a:p>
        </p:txBody>
      </p:sp>
      <p:sp>
        <p:nvSpPr>
          <p:cNvPr id="13" name="Rounded Rectangle 12"/>
          <p:cNvSpPr/>
          <p:nvPr/>
        </p:nvSpPr>
        <p:spPr>
          <a:xfrm>
            <a:off x="9144000" y="3246120"/>
            <a:ext cx="2423160" cy="749808"/>
          </a:xfrm>
          <a:prstGeom prst="roundRect">
            <a:avLst/>
          </a:prstGeom>
          <a:solidFill>
            <a:srgbClr val="16263B"/>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EEF4FA"/>
                </a:solidFill>
              </a:rPr>
              <a:t>Answer + Role + Confidence</a:t>
            </a:r>
          </a:p>
        </p:txBody>
      </p:sp>
      <p:cxnSp>
        <p:nvCxnSpPr>
          <p:cNvPr id="14" name="Connector 13"/>
          <p:cNvCxnSpPr/>
          <p:nvPr/>
        </p:nvCxnSpPr>
        <p:spPr>
          <a:xfrm>
            <a:off x="2926080" y="1792224"/>
            <a:ext cx="457200" cy="0"/>
          </a:xfrm>
          <a:prstGeom prst="line">
            <a:avLst/>
          </a:prstGeom>
          <a:ln w="2540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806440" y="1792224"/>
            <a:ext cx="457200" cy="0"/>
          </a:xfrm>
          <a:prstGeom prst="line">
            <a:avLst/>
          </a:prstGeom>
          <a:ln w="2540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686800" y="1792224"/>
            <a:ext cx="457200" cy="0"/>
          </a:xfrm>
          <a:prstGeom prst="line">
            <a:avLst/>
          </a:prstGeom>
          <a:ln w="2540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719072" y="2167128"/>
            <a:ext cx="8641080" cy="1078992"/>
          </a:xfrm>
          <a:prstGeom prst="line">
            <a:avLst/>
          </a:prstGeom>
          <a:ln w="2540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926080" y="3621024"/>
            <a:ext cx="457200" cy="0"/>
          </a:xfrm>
          <a:prstGeom prst="line">
            <a:avLst/>
          </a:prstGeom>
          <a:ln w="2540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06440" y="3621024"/>
            <a:ext cx="457200" cy="0"/>
          </a:xfrm>
          <a:prstGeom prst="line">
            <a:avLst/>
          </a:prstGeom>
          <a:ln w="2540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3621024"/>
            <a:ext cx="457200" cy="0"/>
          </a:xfrm>
          <a:prstGeom prst="line">
            <a:avLst/>
          </a:prstGeom>
          <a:ln w="25400">
            <a:solidFill>
              <a:srgbClr val="39BEB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68680" y="4892040"/>
            <a:ext cx="10424160" cy="822960"/>
          </a:xfrm>
          <a:prstGeom prst="rect">
            <a:avLst/>
          </a:prstGeom>
          <a:noFill/>
        </p:spPr>
        <p:txBody>
          <a:bodyPr wrap="square">
            <a:normAutofit/>
          </a:bodyPr>
          <a:lstStyle/>
          <a:p>
            <a:pPr algn="ctr"/>
            <a:r>
              <a:rPr sz="1500" b="1">
                <a:solidFill>
                  <a:srgbClr val="EEF4FA"/>
                </a:solidFill>
              </a:rPr>
              <a:t>Key explanation: the system is extractive. The verifier and correction loop choose among spans that occur in the original context, which reduces hallucination risk.</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C17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none">
            <a:spAutoFit/>
          </a:bodyPr>
          <a:lstStyle/>
          <a:p>
            <a:r>
              <a:rPr sz="2500" b="1">
                <a:solidFill>
                  <a:srgbClr val="EEF4FA"/>
                </a:solidFill>
              </a:rPr>
              <a:t>Implemented Values Only</a:t>
            </a:r>
          </a:p>
        </p:txBody>
      </p:sp>
      <p:sp>
        <p:nvSpPr>
          <p:cNvPr id="4" name="TextBox 3"/>
          <p:cNvSpPr txBox="1"/>
          <p:nvPr/>
        </p:nvSpPr>
        <p:spPr>
          <a:xfrm>
            <a:off x="530352" y="804672"/>
            <a:ext cx="10789920" cy="256032"/>
          </a:xfrm>
          <a:prstGeom prst="rect">
            <a:avLst/>
          </a:prstGeom>
          <a:noFill/>
        </p:spPr>
        <p:txBody>
          <a:bodyPr wrap="none">
            <a:spAutoFit/>
          </a:bodyPr>
          <a:lstStyle/>
          <a:p>
            <a:r>
              <a:rPr sz="900">
                <a:solidFill>
                  <a:srgbClr val="B3C4D6"/>
                </a:solidFill>
              </a:rPr>
              <a:t>RAISE-SRL-QA update</a:t>
            </a:r>
          </a:p>
        </p:txBody>
      </p:sp>
      <p:sp>
        <p:nvSpPr>
          <p:cNvPr id="5" name="TextBox 4"/>
          <p:cNvSpPr txBox="1"/>
          <p:nvPr/>
        </p:nvSpPr>
        <p:spPr>
          <a:xfrm>
            <a:off x="502920" y="6473952"/>
            <a:ext cx="11155680" cy="228600"/>
          </a:xfrm>
          <a:prstGeom prst="rect">
            <a:avLst/>
          </a:prstGeom>
          <a:noFill/>
        </p:spPr>
        <p:txBody>
          <a:bodyPr wrap="none">
            <a:spAutoFit/>
          </a:bodyPr>
          <a:lstStyle/>
          <a:p>
            <a:r>
              <a:rPr sz="800">
                <a:solidFill>
                  <a:srgbClr val="B3C4D6"/>
                </a:solidFill>
              </a:rPr>
              <a:t>Local implemented values only. Seed-suite results are not official public SOTA claims.</a:t>
            </a:r>
          </a:p>
        </p:txBody>
      </p:sp>
      <p:graphicFrame>
        <p:nvGraphicFramePr>
          <p:cNvPr id="6" name="Chart 5"/>
          <p:cNvGraphicFramePr>
            <a:graphicFrameLocks noGrp="1"/>
          </p:cNvGraphicFramePr>
          <p:nvPr/>
        </p:nvGraphicFramePr>
        <p:xfrm>
          <a:off x="685800" y="1325880"/>
          <a:ext cx="5943600" cy="3886200"/>
        </p:xfrm>
        <a:graphic>
          <a:graphicData uri="http://schemas.openxmlformats.org/drawingml/2006/chart">
            <c:chart xmlns:c="http://schemas.openxmlformats.org/drawingml/2006/chart" xmlns:r="http://schemas.openxmlformats.org/officeDocument/2006/relationships" r:id="rId2"/>
          </a:graphicData>
        </a:graphic>
      </p:graphicFrame>
      <p:sp>
        <p:nvSpPr>
          <p:cNvPr id="7" name="Rounded Rectangle 6"/>
          <p:cNvSpPr/>
          <p:nvPr/>
        </p:nvSpPr>
        <p:spPr>
          <a:xfrm>
            <a:off x="6995160" y="1325880"/>
            <a:ext cx="4434840" cy="3886200"/>
          </a:xfrm>
          <a:prstGeom prst="roundRect">
            <a:avLst/>
          </a:prstGeom>
          <a:solidFill>
            <a:srgbClr val="16263B"/>
          </a:solidFill>
          <a:ln>
            <a:solidFill>
              <a:srgbClr val="374E67"/>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r>
              <a:rPr sz="1400" b="1">
                <a:solidFill>
                  <a:srgbClr val="39BEBD"/>
                </a:solidFill>
              </a:rPr>
              <a:t>Safe values to present</a:t>
            </a:r>
          </a:p>
          <a:p>
            <a:pPr>
              <a:defRPr sz="1200">
                <a:solidFill>
                  <a:srgbClr val="EEF4FA"/>
                </a:solidFill>
              </a:defRPr>
            </a:pPr>
            <a:r>
              <a:t>QA pairs: 23,007</a:t>
            </a:r>
          </a:p>
          <a:p>
            <a:pPr>
              <a:defRPr sz="1200">
                <a:solidFill>
                  <a:srgbClr val="EEF4FA"/>
                </a:solidFill>
              </a:defRPr>
            </a:pPr>
            <a:r>
              <a:t>Usable PropBank instances: 9,073</a:t>
            </a:r>
          </a:p>
          <a:p>
            <a:pPr>
              <a:defRPr sz="1200">
                <a:solidFill>
                  <a:srgbClr val="EEF4FA"/>
                </a:solidFill>
              </a:defRPr>
            </a:pPr>
            <a:r>
              <a:t>Unique predicates: 1,340</a:t>
            </a:r>
          </a:p>
          <a:p>
            <a:pPr>
              <a:defRPr sz="1200">
                <a:solidFill>
                  <a:srgbClr val="EEF4FA"/>
                </a:solidFill>
              </a:defRPr>
            </a:pPr>
            <a:r>
              <a:t>Unique rolesets: 1,670</a:t>
            </a:r>
          </a:p>
          <a:p>
            <a:pPr>
              <a:defRPr sz="1200">
                <a:solidFill>
                  <a:srgbClr val="EEF4FA"/>
                </a:solidFill>
              </a:defRPr>
            </a:pPr>
            <a:r>
              <a:t>Frame index: 4,659 records</a:t>
            </a:r>
          </a:p>
          <a:p>
            <a:pPr>
              <a:defRPr sz="1200">
                <a:solidFill>
                  <a:srgbClr val="EEF4FA"/>
                </a:solidFill>
              </a:defRPr>
            </a:pPr>
            <a:r>
              <a:t>Seed suite: 15 examples, EM/F1 = 1.0 local demo</a:t>
            </a:r>
          </a:p>
        </p:txBody>
      </p:sp>
      <p:sp>
        <p:nvSpPr>
          <p:cNvPr id="8" name="TextBox 7"/>
          <p:cNvSpPr txBox="1"/>
          <p:nvPr/>
        </p:nvSpPr>
        <p:spPr>
          <a:xfrm>
            <a:off x="822960" y="5532120"/>
            <a:ext cx="10424160" cy="457200"/>
          </a:xfrm>
          <a:prstGeom prst="rect">
            <a:avLst/>
          </a:prstGeom>
          <a:noFill/>
        </p:spPr>
        <p:txBody>
          <a:bodyPr wrap="square">
            <a:normAutofit/>
          </a:bodyPr>
          <a:lstStyle/>
          <a:p>
            <a:pPr algn="ctr"/>
            <a:r>
              <a:rPr sz="1300" b="1">
                <a:solidFill>
                  <a:srgbClr val="FFAA50"/>
                </a:solidFill>
              </a:rPr>
              <a:t>Do not present the seed-suite score as official benchmark SOTA. Present it as a targeted local demo result.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Complete Workspace Architecture</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548640" y="1143000"/>
            <a:ext cx="2194560" cy="685800"/>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User / Presenter</a:t>
            </a:r>
          </a:p>
        </p:txBody>
      </p:sp>
      <p:sp>
        <p:nvSpPr>
          <p:cNvPr id="7" name="Rounded Rectangle 6"/>
          <p:cNvSpPr/>
          <p:nvPr/>
        </p:nvSpPr>
        <p:spPr>
          <a:xfrm>
            <a:off x="3063240" y="822960"/>
            <a:ext cx="2331720" cy="685800"/>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srl_qa_project
Legacy System</a:t>
            </a:r>
          </a:p>
        </p:txBody>
      </p:sp>
      <p:sp>
        <p:nvSpPr>
          <p:cNvPr id="8" name="Rounded Rectangle 7"/>
          <p:cNvSpPr/>
          <p:nvPr/>
        </p:nvSpPr>
        <p:spPr>
          <a:xfrm>
            <a:off x="3063240" y="1828800"/>
            <a:ext cx="2331720" cy="685800"/>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srlqa
RAISE Package</a:t>
            </a:r>
          </a:p>
        </p:txBody>
      </p:sp>
      <p:sp>
        <p:nvSpPr>
          <p:cNvPr id="9" name="Rounded Rectangle 8"/>
          <p:cNvSpPr/>
          <p:nvPr/>
        </p:nvSpPr>
        <p:spPr>
          <a:xfrm>
            <a:off x="5806440" y="594360"/>
            <a:ext cx="2148840" cy="594360"/>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PropQA-Net</a:t>
            </a:r>
          </a:p>
        </p:txBody>
      </p:sp>
      <p:sp>
        <p:nvSpPr>
          <p:cNvPr id="10" name="Rounded Rectangle 9"/>
          <p:cNvSpPr/>
          <p:nvPr/>
        </p:nvSpPr>
        <p:spPr>
          <a:xfrm>
            <a:off x="5806440" y="1417320"/>
            <a:ext cx="2148840" cy="594360"/>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Hybrid QA</a:t>
            </a:r>
          </a:p>
        </p:txBody>
      </p:sp>
      <p:sp>
        <p:nvSpPr>
          <p:cNvPr id="11" name="Rounded Rectangle 10"/>
          <p:cNvSpPr/>
          <p:nvPr/>
        </p:nvSpPr>
        <p:spPr>
          <a:xfrm>
            <a:off x="5806440" y="2240280"/>
            <a:ext cx="2148840" cy="594360"/>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RAISE Pipeline</a:t>
            </a:r>
          </a:p>
        </p:txBody>
      </p:sp>
      <p:sp>
        <p:nvSpPr>
          <p:cNvPr id="12" name="Rounded Rectangle 11"/>
          <p:cNvSpPr/>
          <p:nvPr/>
        </p:nvSpPr>
        <p:spPr>
          <a:xfrm>
            <a:off x="8458200" y="868680"/>
            <a:ext cx="2651760" cy="685800"/>
          </a:xfrm>
          <a:prstGeom prst="roundRect">
            <a:avLst/>
          </a:prstGeom>
          <a:solidFill>
            <a:srgbClr val="15263A"/>
          </a:solidFill>
          <a:ln>
            <a:solidFill>
              <a:srgbClr val="78AFFF"/>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All Model Runner</a:t>
            </a:r>
          </a:p>
        </p:txBody>
      </p:sp>
      <p:sp>
        <p:nvSpPr>
          <p:cNvPr id="13" name="Rounded Rectangle 12"/>
          <p:cNvSpPr/>
          <p:nvPr/>
        </p:nvSpPr>
        <p:spPr>
          <a:xfrm>
            <a:off x="8458200" y="1874519"/>
            <a:ext cx="2651760" cy="685800"/>
          </a:xfrm>
          <a:prstGeom prst="roundRect">
            <a:avLst/>
          </a:prstGeom>
          <a:solidFill>
            <a:srgbClr val="15263A"/>
          </a:solidFill>
          <a:ln>
            <a:solidFill>
              <a:srgbClr val="78AFFF"/>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Streamlit Apps</a:t>
            </a:r>
          </a:p>
        </p:txBody>
      </p:sp>
      <p:sp>
        <p:nvSpPr>
          <p:cNvPr id="14" name="Rounded Rectangle 13"/>
          <p:cNvSpPr/>
          <p:nvPr/>
        </p:nvSpPr>
        <p:spPr>
          <a:xfrm>
            <a:off x="8458200" y="2880360"/>
            <a:ext cx="2651760" cy="685800"/>
          </a:xfrm>
          <a:prstGeom prst="roundRect">
            <a:avLst/>
          </a:prstGeom>
          <a:solidFill>
            <a:srgbClr val="15263A"/>
          </a:solidFill>
          <a:ln>
            <a:solidFill>
              <a:srgbClr val="78AFFF"/>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Updated PPT + Docs</a:t>
            </a:r>
          </a:p>
        </p:txBody>
      </p:sp>
      <p:cxnSp>
        <p:nvCxnSpPr>
          <p:cNvPr id="15" name="Connector 14"/>
          <p:cNvCxnSpPr/>
          <p:nvPr/>
        </p:nvCxnSpPr>
        <p:spPr>
          <a:xfrm flipV="1">
            <a:off x="2743200" y="1143000"/>
            <a:ext cx="320040" cy="338328"/>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743200" y="1481328"/>
            <a:ext cx="320040" cy="694944"/>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5394960" y="886968"/>
            <a:ext cx="411480" cy="256032"/>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394960" y="1143000"/>
            <a:ext cx="411480" cy="566928"/>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394960" y="2176272"/>
            <a:ext cx="411480" cy="36576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955279" y="1207008"/>
            <a:ext cx="502921" cy="50292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955279" y="2212848"/>
            <a:ext cx="502921" cy="329184"/>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955279" y="2542032"/>
            <a:ext cx="502921" cy="676656"/>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77240" y="4069080"/>
            <a:ext cx="10469880" cy="1417320"/>
          </a:xfrm>
          <a:prstGeom prst="roundRect">
            <a:avLst/>
          </a:prstGeom>
          <a:solidFill>
            <a:srgbClr val="15263A"/>
          </a:solidFill>
          <a:ln>
            <a:solidFill>
              <a:srgbClr val="435C77"/>
            </a:solidFill>
          </a:ln>
        </p:spPr>
        <p:style>
          <a:lnRef idx="1">
            <a:schemeClr val="accent1"/>
          </a:lnRef>
          <a:fillRef idx="3">
            <a:schemeClr val="accent1"/>
          </a:fillRef>
          <a:effectRef idx="2">
            <a:schemeClr val="accent1"/>
          </a:effectRef>
          <a:fontRef idx="minor">
            <a:schemeClr val="lt1"/>
          </a:fontRef>
        </p:style>
        <p:txBody>
          <a:bodyPr wrap="square" lIns="146304" tIns="109728" rIns="128016" rtlCol="0" anchor="ctr"/>
          <a:lstStyle/>
          <a:p>
            <a:pPr algn="ctr"/>
            <a:r>
              <a:rPr sz="1200" b="1">
                <a:solidFill>
                  <a:srgbClr val="39BEBD"/>
                </a:solidFill>
              </a:rPr>
              <a:t>Presentation interpretation</a:t>
            </a:r>
          </a:p>
          <a:p>
            <a:pPr>
              <a:defRPr sz="1050">
                <a:solidFill>
                  <a:srgbClr val="EEF4FA"/>
                </a:solidFill>
              </a:defRPr>
            </a:pPr>
            <a:r>
              <a:t>The old system remains the reproducible baseline and dashboard.</a:t>
            </a:r>
          </a:p>
          <a:p>
            <a:pPr>
              <a:defRPr sz="1050">
                <a:solidFill>
                  <a:srgbClr val="EEF4FA"/>
                </a:solidFill>
              </a:defRPr>
            </a:pPr>
            <a:r>
              <a:t>The new RAISE package wraps old and new model families into one comparison/demo layer.</a:t>
            </a:r>
          </a:p>
          <a:p>
            <a:pPr>
              <a:defRPr sz="1050">
                <a:solidFill>
                  <a:srgbClr val="EEF4FA"/>
                </a:solidFill>
              </a:defRPr>
            </a:pPr>
            <a:r>
              <a:t>The updated deck and docs explain both systems without unsupported public benchmark claims.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Data Pipeline And Evaluation Architecture</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502920" y="1325880"/>
            <a:ext cx="1417320" cy="749808"/>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00" b="1">
                <a:solidFill>
                  <a:srgbClr val="EEF4FA"/>
                </a:solidFill>
              </a:rPr>
              <a:t>PropBank +
Treebank</a:t>
            </a:r>
          </a:p>
        </p:txBody>
      </p:sp>
      <p:sp>
        <p:nvSpPr>
          <p:cNvPr id="7" name="Rounded Rectangle 6"/>
          <p:cNvSpPr/>
          <p:nvPr/>
        </p:nvSpPr>
        <p:spPr>
          <a:xfrm>
            <a:off x="2148840" y="1325880"/>
            <a:ext cx="1417320" cy="749808"/>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00" b="1">
                <a:solidFill>
                  <a:srgbClr val="EEF4FA"/>
                </a:solidFill>
              </a:rPr>
              <a:t>Aligned
instances</a:t>
            </a:r>
          </a:p>
        </p:txBody>
      </p:sp>
      <p:sp>
        <p:nvSpPr>
          <p:cNvPr id="8" name="Rounded Rectangle 7"/>
          <p:cNvSpPr/>
          <p:nvPr/>
        </p:nvSpPr>
        <p:spPr>
          <a:xfrm>
            <a:off x="3794760" y="1325880"/>
            <a:ext cx="1417320" cy="749808"/>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00" b="1">
                <a:solidFill>
                  <a:srgbClr val="EEF4FA"/>
                </a:solidFill>
              </a:rPr>
              <a:t>QA pair
generation</a:t>
            </a:r>
          </a:p>
        </p:txBody>
      </p:sp>
      <p:sp>
        <p:nvSpPr>
          <p:cNvPr id="9" name="Rounded Rectangle 8"/>
          <p:cNvSpPr/>
          <p:nvPr/>
        </p:nvSpPr>
        <p:spPr>
          <a:xfrm>
            <a:off x="5440680" y="1325880"/>
            <a:ext cx="1417320" cy="749808"/>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00" b="1">
                <a:solidFill>
                  <a:srgbClr val="EEF4FA"/>
                </a:solidFill>
              </a:rPr>
              <a:t>Train / val
/ test</a:t>
            </a:r>
          </a:p>
        </p:txBody>
      </p:sp>
      <p:sp>
        <p:nvSpPr>
          <p:cNvPr id="10" name="Rounded Rectangle 9"/>
          <p:cNvSpPr/>
          <p:nvPr/>
        </p:nvSpPr>
        <p:spPr>
          <a:xfrm>
            <a:off x="7086600" y="1325880"/>
            <a:ext cx="1417320" cy="749808"/>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00" b="1">
                <a:solidFill>
                  <a:srgbClr val="EEF4FA"/>
                </a:solidFill>
              </a:rPr>
              <a:t>Model
prediction</a:t>
            </a:r>
          </a:p>
        </p:txBody>
      </p:sp>
      <p:sp>
        <p:nvSpPr>
          <p:cNvPr id="11" name="Rounded Rectangle 10"/>
          <p:cNvSpPr/>
          <p:nvPr/>
        </p:nvSpPr>
        <p:spPr>
          <a:xfrm>
            <a:off x="8732520" y="1325880"/>
            <a:ext cx="1417320" cy="749808"/>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00" b="1">
                <a:solidFill>
                  <a:srgbClr val="EEF4FA"/>
                </a:solidFill>
              </a:rPr>
              <a:t>Metrics
+ plots</a:t>
            </a:r>
          </a:p>
        </p:txBody>
      </p:sp>
      <p:sp>
        <p:nvSpPr>
          <p:cNvPr id="12" name="Rounded Rectangle 11"/>
          <p:cNvSpPr/>
          <p:nvPr/>
        </p:nvSpPr>
        <p:spPr>
          <a:xfrm>
            <a:off x="10378440" y="1325880"/>
            <a:ext cx="1417320" cy="749808"/>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00" b="1">
                <a:solidFill>
                  <a:srgbClr val="EEF4FA"/>
                </a:solidFill>
              </a:rPr>
              <a:t>Docs
+ PPT</a:t>
            </a:r>
          </a:p>
        </p:txBody>
      </p:sp>
      <p:cxnSp>
        <p:nvCxnSpPr>
          <p:cNvPr id="13" name="Connector 12"/>
          <p:cNvCxnSpPr/>
          <p:nvPr/>
        </p:nvCxnSpPr>
        <p:spPr>
          <a:xfrm>
            <a:off x="1920240" y="1700784"/>
            <a:ext cx="22860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566160" y="1700784"/>
            <a:ext cx="22860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212080" y="1700784"/>
            <a:ext cx="22860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1700784"/>
            <a:ext cx="22860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03920" y="1700784"/>
            <a:ext cx="22860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149840" y="1700784"/>
            <a:ext cx="22860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graphicFrame>
        <p:nvGraphicFramePr>
          <p:cNvPr id="19" name="Table 18"/>
          <p:cNvGraphicFramePr>
            <a:graphicFrameLocks noGrp="1"/>
          </p:cNvGraphicFramePr>
          <p:nvPr/>
        </p:nvGraphicFramePr>
        <p:xfrm>
          <a:off x="640080" y="2743200"/>
          <a:ext cx="10972800" cy="25146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217920">
                  <a:extLst>
                    <a:ext uri="{9D8B030D-6E8A-4147-A177-3AD203B41FA5}">
                      <a16:colId xmlns:a16="http://schemas.microsoft.com/office/drawing/2014/main" val="20002"/>
                    </a:ext>
                  </a:extLst>
                </a:gridCol>
              </a:tblGrid>
              <a:tr h="419100">
                <a:tc>
                  <a:txBody>
                    <a:bodyPr/>
                    <a:lstStyle/>
                    <a:p>
                      <a:r>
                        <a:rPr sz="950" b="1">
                          <a:solidFill>
                            <a:srgbClr val="EEF4FA"/>
                          </a:solidFill>
                        </a:rPr>
                        <a:t>Data item</a:t>
                      </a:r>
                    </a:p>
                  </a:txBody>
                  <a:tcPr marL="36576" marR="36576" marT="18288" marB="18288">
                    <a:solidFill>
                      <a:srgbClr val="1D344E"/>
                    </a:solidFill>
                  </a:tcPr>
                </a:tc>
                <a:tc>
                  <a:txBody>
                    <a:bodyPr/>
                    <a:lstStyle/>
                    <a:p>
                      <a:r>
                        <a:rPr sz="950" b="1">
                          <a:solidFill>
                            <a:srgbClr val="EEF4FA"/>
                          </a:solidFill>
                        </a:rPr>
                        <a:t>Implemented value</a:t>
                      </a:r>
                    </a:p>
                  </a:txBody>
                  <a:tcPr marL="36576" marR="36576" marT="18288" marB="18288">
                    <a:solidFill>
                      <a:srgbClr val="1D344E"/>
                    </a:solidFill>
                  </a:tcPr>
                </a:tc>
                <a:tc>
                  <a:txBody>
                    <a:bodyPr/>
                    <a:lstStyle/>
                    <a:p>
                      <a:r>
                        <a:rPr sz="950" b="1">
                          <a:solidFill>
                            <a:srgbClr val="EEF4FA"/>
                          </a:solidFill>
                        </a:rPr>
                        <a:t>Where it is used</a:t>
                      </a:r>
                    </a:p>
                  </a:txBody>
                  <a:tcPr marL="36576" marR="36576" marT="18288" marB="18288">
                    <a:solidFill>
                      <a:srgbClr val="1D344E"/>
                    </a:solidFill>
                  </a:tcPr>
                </a:tc>
                <a:extLst>
                  <a:ext uri="{0D108BD9-81ED-4DB2-BD59-A6C34878D82A}">
                    <a16:rowId xmlns:a16="http://schemas.microsoft.com/office/drawing/2014/main" val="10000"/>
                  </a:ext>
                </a:extLst>
              </a:tr>
              <a:tr h="419100">
                <a:tc>
                  <a:txBody>
                    <a:bodyPr/>
                    <a:lstStyle/>
                    <a:p>
                      <a:r>
                        <a:rPr sz="950" b="0">
                          <a:solidFill>
                            <a:srgbClr val="B0C3D6"/>
                          </a:solidFill>
                        </a:rPr>
                        <a:t>QA pairs</a:t>
                      </a:r>
                    </a:p>
                  </a:txBody>
                  <a:tcPr marL="36576" marR="36576" marT="18288" marB="18288">
                    <a:solidFill>
                      <a:srgbClr val="15263A"/>
                    </a:solidFill>
                  </a:tcPr>
                </a:tc>
                <a:tc>
                  <a:txBody>
                    <a:bodyPr/>
                    <a:lstStyle/>
                    <a:p>
                      <a:r>
                        <a:rPr sz="950" b="0">
                          <a:solidFill>
                            <a:srgbClr val="B0C3D6"/>
                          </a:solidFill>
                        </a:rPr>
                        <a:t>23,007</a:t>
                      </a:r>
                    </a:p>
                  </a:txBody>
                  <a:tcPr marL="36576" marR="36576" marT="18288" marB="18288">
                    <a:solidFill>
                      <a:srgbClr val="15263A"/>
                    </a:solidFill>
                  </a:tcPr>
                </a:tc>
                <a:tc>
                  <a:txBody>
                    <a:bodyPr/>
                    <a:lstStyle/>
                    <a:p>
                      <a:r>
                        <a:rPr sz="950" b="0">
                          <a:solidFill>
                            <a:srgbClr val="B0C3D6"/>
                          </a:solidFill>
                        </a:rPr>
                        <a:t>Training/evaluation examples</a:t>
                      </a:r>
                    </a:p>
                  </a:txBody>
                  <a:tcPr marL="36576" marR="36576" marT="18288" marB="18288">
                    <a:solidFill>
                      <a:srgbClr val="15263A"/>
                    </a:solidFill>
                  </a:tcPr>
                </a:tc>
                <a:extLst>
                  <a:ext uri="{0D108BD9-81ED-4DB2-BD59-A6C34878D82A}">
                    <a16:rowId xmlns:a16="http://schemas.microsoft.com/office/drawing/2014/main" val="10001"/>
                  </a:ext>
                </a:extLst>
              </a:tr>
              <a:tr h="419100">
                <a:tc>
                  <a:txBody>
                    <a:bodyPr/>
                    <a:lstStyle/>
                    <a:p>
                      <a:r>
                        <a:rPr sz="950" b="0">
                          <a:solidFill>
                            <a:srgbClr val="B0C3D6"/>
                          </a:solidFill>
                        </a:rPr>
                        <a:t>Usable PropBank instances</a:t>
                      </a:r>
                    </a:p>
                  </a:txBody>
                  <a:tcPr marL="36576" marR="36576" marT="18288" marB="18288">
                    <a:solidFill>
                      <a:srgbClr val="15263A"/>
                    </a:solidFill>
                  </a:tcPr>
                </a:tc>
                <a:tc>
                  <a:txBody>
                    <a:bodyPr/>
                    <a:lstStyle/>
                    <a:p>
                      <a:r>
                        <a:rPr sz="950" b="0">
                          <a:solidFill>
                            <a:srgbClr val="B0C3D6"/>
                          </a:solidFill>
                        </a:rPr>
                        <a:t>9,073</a:t>
                      </a:r>
                    </a:p>
                  </a:txBody>
                  <a:tcPr marL="36576" marR="36576" marT="18288" marB="18288">
                    <a:solidFill>
                      <a:srgbClr val="15263A"/>
                    </a:solidFill>
                  </a:tcPr>
                </a:tc>
                <a:tc>
                  <a:txBody>
                    <a:bodyPr/>
                    <a:lstStyle/>
                    <a:p>
                      <a:r>
                        <a:rPr sz="950" b="0">
                          <a:solidFill>
                            <a:srgbClr val="B0C3D6"/>
                          </a:solidFill>
                        </a:rPr>
                        <a:t>Legacy dataset statistic</a:t>
                      </a:r>
                    </a:p>
                  </a:txBody>
                  <a:tcPr marL="36576" marR="36576" marT="18288" marB="18288">
                    <a:solidFill>
                      <a:srgbClr val="15263A"/>
                    </a:solidFill>
                  </a:tcPr>
                </a:tc>
                <a:extLst>
                  <a:ext uri="{0D108BD9-81ED-4DB2-BD59-A6C34878D82A}">
                    <a16:rowId xmlns:a16="http://schemas.microsoft.com/office/drawing/2014/main" val="10002"/>
                  </a:ext>
                </a:extLst>
              </a:tr>
              <a:tr h="419100">
                <a:tc>
                  <a:txBody>
                    <a:bodyPr/>
                    <a:lstStyle/>
                    <a:p>
                      <a:r>
                        <a:rPr sz="950" b="0">
                          <a:solidFill>
                            <a:srgbClr val="B0C3D6"/>
                          </a:solidFill>
                        </a:rPr>
                        <a:t>Unique predicates</a:t>
                      </a:r>
                    </a:p>
                  </a:txBody>
                  <a:tcPr marL="36576" marR="36576" marT="18288" marB="18288">
                    <a:solidFill>
                      <a:srgbClr val="15263A"/>
                    </a:solidFill>
                  </a:tcPr>
                </a:tc>
                <a:tc>
                  <a:txBody>
                    <a:bodyPr/>
                    <a:lstStyle/>
                    <a:p>
                      <a:r>
                        <a:rPr sz="950" b="0">
                          <a:solidFill>
                            <a:srgbClr val="B0C3D6"/>
                          </a:solidFill>
                        </a:rPr>
                        <a:t>1,340</a:t>
                      </a:r>
                    </a:p>
                  </a:txBody>
                  <a:tcPr marL="36576" marR="36576" marT="18288" marB="18288">
                    <a:solidFill>
                      <a:srgbClr val="15263A"/>
                    </a:solidFill>
                  </a:tcPr>
                </a:tc>
                <a:tc>
                  <a:txBody>
                    <a:bodyPr/>
                    <a:lstStyle/>
                    <a:p>
                      <a:r>
                        <a:rPr sz="950" b="0">
                          <a:solidFill>
                            <a:srgbClr val="B0C3D6"/>
                          </a:solidFill>
                        </a:rPr>
                        <a:t>Predicate coverage</a:t>
                      </a:r>
                    </a:p>
                  </a:txBody>
                  <a:tcPr marL="36576" marR="36576" marT="18288" marB="18288">
                    <a:solidFill>
                      <a:srgbClr val="15263A"/>
                    </a:solidFill>
                  </a:tcPr>
                </a:tc>
                <a:extLst>
                  <a:ext uri="{0D108BD9-81ED-4DB2-BD59-A6C34878D82A}">
                    <a16:rowId xmlns:a16="http://schemas.microsoft.com/office/drawing/2014/main" val="10003"/>
                  </a:ext>
                </a:extLst>
              </a:tr>
              <a:tr h="419100">
                <a:tc>
                  <a:txBody>
                    <a:bodyPr/>
                    <a:lstStyle/>
                    <a:p>
                      <a:r>
                        <a:rPr sz="950" b="0">
                          <a:solidFill>
                            <a:srgbClr val="B0C3D6"/>
                          </a:solidFill>
                        </a:rPr>
                        <a:t>Unique rolesets</a:t>
                      </a:r>
                    </a:p>
                  </a:txBody>
                  <a:tcPr marL="36576" marR="36576" marT="18288" marB="18288">
                    <a:solidFill>
                      <a:srgbClr val="15263A"/>
                    </a:solidFill>
                  </a:tcPr>
                </a:tc>
                <a:tc>
                  <a:txBody>
                    <a:bodyPr/>
                    <a:lstStyle/>
                    <a:p>
                      <a:r>
                        <a:rPr sz="950" b="0">
                          <a:solidFill>
                            <a:srgbClr val="B0C3D6"/>
                          </a:solidFill>
                        </a:rPr>
                        <a:t>1,670</a:t>
                      </a:r>
                    </a:p>
                  </a:txBody>
                  <a:tcPr marL="36576" marR="36576" marT="18288" marB="18288">
                    <a:solidFill>
                      <a:srgbClr val="15263A"/>
                    </a:solidFill>
                  </a:tcPr>
                </a:tc>
                <a:tc>
                  <a:txBody>
                    <a:bodyPr/>
                    <a:lstStyle/>
                    <a:p>
                      <a:r>
                        <a:rPr sz="950" b="0">
                          <a:solidFill>
                            <a:srgbClr val="B0C3D6"/>
                          </a:solidFill>
                        </a:rPr>
                        <a:t>PropBank frame diversity</a:t>
                      </a:r>
                    </a:p>
                  </a:txBody>
                  <a:tcPr marL="36576" marR="36576" marT="18288" marB="18288">
                    <a:solidFill>
                      <a:srgbClr val="15263A"/>
                    </a:solidFill>
                  </a:tcPr>
                </a:tc>
                <a:extLst>
                  <a:ext uri="{0D108BD9-81ED-4DB2-BD59-A6C34878D82A}">
                    <a16:rowId xmlns:a16="http://schemas.microsoft.com/office/drawing/2014/main" val="10004"/>
                  </a:ext>
                </a:extLst>
              </a:tr>
              <a:tr h="419100">
                <a:tc>
                  <a:txBody>
                    <a:bodyPr/>
                    <a:lstStyle/>
                    <a:p>
                      <a:r>
                        <a:rPr sz="950" b="0">
                          <a:solidFill>
                            <a:srgbClr val="B0C3D6"/>
                          </a:solidFill>
                        </a:rPr>
                        <a:t>RAISE frame records</a:t>
                      </a:r>
                    </a:p>
                  </a:txBody>
                  <a:tcPr marL="36576" marR="36576" marT="18288" marB="18288">
                    <a:solidFill>
                      <a:srgbClr val="15263A"/>
                    </a:solidFill>
                  </a:tcPr>
                </a:tc>
                <a:tc>
                  <a:txBody>
                    <a:bodyPr/>
                    <a:lstStyle/>
                    <a:p>
                      <a:r>
                        <a:rPr sz="950" b="0">
                          <a:solidFill>
                            <a:srgbClr val="B0C3D6"/>
                          </a:solidFill>
                        </a:rPr>
                        <a:t>4,659</a:t>
                      </a:r>
                    </a:p>
                  </a:txBody>
                  <a:tcPr marL="36576" marR="36576" marT="18288" marB="18288">
                    <a:solidFill>
                      <a:srgbClr val="15263A"/>
                    </a:solidFill>
                  </a:tcPr>
                </a:tc>
                <a:tc>
                  <a:txBody>
                    <a:bodyPr/>
                    <a:lstStyle/>
                    <a:p>
                      <a:r>
                        <a:rPr sz="950" b="0">
                          <a:solidFill>
                            <a:srgbClr val="B0C3D6"/>
                          </a:solidFill>
                        </a:rPr>
                        <a:t>Retrieval and role compatibility</a:t>
                      </a:r>
                    </a:p>
                  </a:txBody>
                  <a:tcPr marL="36576" marR="36576" marT="18288" marB="18288">
                    <a:solidFill>
                      <a:srgbClr val="15263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PropQA-Net Baseline Model Architecture</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731520" y="1234440"/>
            <a:ext cx="1828800" cy="594360"/>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10" b="1">
                <a:solidFill>
                  <a:srgbClr val="EEF4FA"/>
                </a:solidFill>
              </a:rPr>
              <a:t>Context tokens</a:t>
            </a:r>
          </a:p>
        </p:txBody>
      </p:sp>
      <p:sp>
        <p:nvSpPr>
          <p:cNvPr id="7" name="Rounded Rectangle 6"/>
          <p:cNvSpPr/>
          <p:nvPr/>
        </p:nvSpPr>
        <p:spPr>
          <a:xfrm>
            <a:off x="731520" y="2057400"/>
            <a:ext cx="1828800" cy="594360"/>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10" b="1">
                <a:solidFill>
                  <a:srgbClr val="EEF4FA"/>
                </a:solidFill>
              </a:rPr>
              <a:t>Question tokens</a:t>
            </a:r>
          </a:p>
        </p:txBody>
      </p:sp>
      <p:sp>
        <p:nvSpPr>
          <p:cNvPr id="8" name="Rounded Rectangle 7"/>
          <p:cNvSpPr/>
          <p:nvPr/>
        </p:nvSpPr>
        <p:spPr>
          <a:xfrm>
            <a:off x="2834640" y="1234440"/>
            <a:ext cx="1828800" cy="594360"/>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10" b="1">
                <a:solidFill>
                  <a:srgbClr val="EEF4FA"/>
                </a:solidFill>
              </a:rPr>
              <a:t>Word + POS +
predicate emb.</a:t>
            </a:r>
          </a:p>
        </p:txBody>
      </p:sp>
      <p:sp>
        <p:nvSpPr>
          <p:cNvPr id="9" name="Rounded Rectangle 8"/>
          <p:cNvSpPr/>
          <p:nvPr/>
        </p:nvSpPr>
        <p:spPr>
          <a:xfrm>
            <a:off x="2834640" y="2057400"/>
            <a:ext cx="1828800" cy="594360"/>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10" b="1">
                <a:solidFill>
                  <a:srgbClr val="EEF4FA"/>
                </a:solidFill>
              </a:rPr>
              <a:t>Question
embeddings</a:t>
            </a:r>
          </a:p>
        </p:txBody>
      </p:sp>
      <p:sp>
        <p:nvSpPr>
          <p:cNvPr id="10" name="Rounded Rectangle 9"/>
          <p:cNvSpPr/>
          <p:nvPr/>
        </p:nvSpPr>
        <p:spPr>
          <a:xfrm>
            <a:off x="5486400" y="1234440"/>
            <a:ext cx="1828800" cy="594360"/>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10" b="1">
                <a:solidFill>
                  <a:srgbClr val="EEF4FA"/>
                </a:solidFill>
              </a:rPr>
              <a:t>BiLSTM context
encoder</a:t>
            </a:r>
          </a:p>
        </p:txBody>
      </p:sp>
      <p:sp>
        <p:nvSpPr>
          <p:cNvPr id="11" name="Rounded Rectangle 10"/>
          <p:cNvSpPr/>
          <p:nvPr/>
        </p:nvSpPr>
        <p:spPr>
          <a:xfrm>
            <a:off x="5486400" y="2057400"/>
            <a:ext cx="1828800" cy="594360"/>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10" b="1">
                <a:solidFill>
                  <a:srgbClr val="EEF4FA"/>
                </a:solidFill>
              </a:rPr>
              <a:t>BiLSTM question
encoder</a:t>
            </a:r>
          </a:p>
        </p:txBody>
      </p:sp>
      <p:sp>
        <p:nvSpPr>
          <p:cNvPr id="12" name="Rounded Rectangle 11"/>
          <p:cNvSpPr/>
          <p:nvPr/>
        </p:nvSpPr>
        <p:spPr>
          <a:xfrm>
            <a:off x="8046720" y="1234440"/>
            <a:ext cx="1828800" cy="594360"/>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10" b="1">
                <a:solidFill>
                  <a:srgbClr val="EEF4FA"/>
                </a:solidFill>
              </a:rPr>
              <a:t>SRL BIO
head</a:t>
            </a:r>
          </a:p>
        </p:txBody>
      </p:sp>
      <p:sp>
        <p:nvSpPr>
          <p:cNvPr id="13" name="Rounded Rectangle 12"/>
          <p:cNvSpPr/>
          <p:nvPr/>
        </p:nvSpPr>
        <p:spPr>
          <a:xfrm>
            <a:off x="8046720" y="2057400"/>
            <a:ext cx="1828800" cy="594360"/>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10" b="1">
                <a:solidFill>
                  <a:srgbClr val="EEF4FA"/>
                </a:solidFill>
              </a:rPr>
              <a:t>QA span
heads</a:t>
            </a:r>
          </a:p>
        </p:txBody>
      </p:sp>
      <p:sp>
        <p:nvSpPr>
          <p:cNvPr id="14" name="Rounded Rectangle 13"/>
          <p:cNvSpPr/>
          <p:nvPr/>
        </p:nvSpPr>
        <p:spPr>
          <a:xfrm>
            <a:off x="10058400" y="1645920"/>
            <a:ext cx="1463040" cy="594360"/>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10" b="1">
                <a:solidFill>
                  <a:srgbClr val="EEF4FA"/>
                </a:solidFill>
              </a:rPr>
              <a:t>Answer
+ role</a:t>
            </a:r>
          </a:p>
        </p:txBody>
      </p:sp>
      <p:cxnSp>
        <p:nvCxnSpPr>
          <p:cNvPr id="15" name="Connector 14"/>
          <p:cNvCxnSpPr/>
          <p:nvPr/>
        </p:nvCxnSpPr>
        <p:spPr>
          <a:xfrm>
            <a:off x="2560320" y="1536192"/>
            <a:ext cx="274320" cy="0"/>
          </a:xfrm>
          <a:prstGeom prst="line">
            <a:avLst/>
          </a:prstGeom>
          <a:ln w="19050">
            <a:solidFill>
              <a:srgbClr val="FFC45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560320" y="2359152"/>
            <a:ext cx="274320" cy="0"/>
          </a:xfrm>
          <a:prstGeom prst="line">
            <a:avLst/>
          </a:prstGeom>
          <a:ln w="19050">
            <a:solidFill>
              <a:srgbClr val="FFC45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663440" y="1536192"/>
            <a:ext cx="822960" cy="0"/>
          </a:xfrm>
          <a:prstGeom prst="line">
            <a:avLst/>
          </a:prstGeom>
          <a:ln w="19050">
            <a:solidFill>
              <a:srgbClr val="FFC45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63440" y="2359152"/>
            <a:ext cx="822960" cy="0"/>
          </a:xfrm>
          <a:prstGeom prst="line">
            <a:avLst/>
          </a:prstGeom>
          <a:ln w="19050">
            <a:solidFill>
              <a:srgbClr val="FFC45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315200" y="1536192"/>
            <a:ext cx="731520" cy="0"/>
          </a:xfrm>
          <a:prstGeom prst="line">
            <a:avLst/>
          </a:prstGeom>
          <a:ln w="19050">
            <a:solidFill>
              <a:srgbClr val="FFC45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315200" y="2359152"/>
            <a:ext cx="731520" cy="0"/>
          </a:xfrm>
          <a:prstGeom prst="line">
            <a:avLst/>
          </a:prstGeom>
          <a:ln w="19050">
            <a:solidFill>
              <a:srgbClr val="FFC45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875520" y="1536192"/>
            <a:ext cx="182880" cy="402336"/>
          </a:xfrm>
          <a:prstGeom prst="line">
            <a:avLst/>
          </a:prstGeom>
          <a:ln w="19050">
            <a:solidFill>
              <a:srgbClr val="FFC45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9875520" y="1938528"/>
            <a:ext cx="182880" cy="420624"/>
          </a:xfrm>
          <a:prstGeom prst="line">
            <a:avLst/>
          </a:prstGeom>
          <a:ln w="19050">
            <a:solidFill>
              <a:srgbClr val="FFC457"/>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31520" y="3657600"/>
            <a:ext cx="5303520" cy="1600200"/>
          </a:xfrm>
          <a:prstGeom prst="roundRect">
            <a:avLst/>
          </a:prstGeom>
          <a:solidFill>
            <a:srgbClr val="15263A"/>
          </a:solidFill>
          <a:ln>
            <a:solidFill>
              <a:srgbClr val="435C77"/>
            </a:solidFill>
          </a:ln>
        </p:spPr>
        <p:style>
          <a:lnRef idx="1">
            <a:schemeClr val="accent1"/>
          </a:lnRef>
          <a:fillRef idx="3">
            <a:schemeClr val="accent1"/>
          </a:fillRef>
          <a:effectRef idx="2">
            <a:schemeClr val="accent1"/>
          </a:effectRef>
          <a:fontRef idx="minor">
            <a:schemeClr val="lt1"/>
          </a:fontRef>
        </p:style>
        <p:txBody>
          <a:bodyPr wrap="square" lIns="146304" tIns="109728" rIns="128016" rtlCol="0" anchor="ctr"/>
          <a:lstStyle/>
          <a:p>
            <a:pPr algn="ctr"/>
            <a:r>
              <a:rPr sz="1150" b="1">
                <a:solidFill>
                  <a:srgbClr val="5FD394"/>
                </a:solidFill>
              </a:rPr>
              <a:t>Strength</a:t>
            </a:r>
          </a:p>
          <a:p>
            <a:pPr>
              <a:defRPr sz="1000">
                <a:solidFill>
                  <a:srgbClr val="EEF4FA"/>
                </a:solidFill>
              </a:defRPr>
            </a:pPr>
            <a:r>
              <a:t>Local and reproducible</a:t>
            </a:r>
          </a:p>
          <a:p>
            <a:pPr>
              <a:defRPr sz="1000">
                <a:solidFill>
                  <a:srgbClr val="EEF4FA"/>
                </a:solidFill>
              </a:defRPr>
            </a:pPr>
            <a:r>
              <a:t>Learns SRL and QA jointly</a:t>
            </a:r>
          </a:p>
          <a:p>
            <a:pPr>
              <a:defRPr sz="1000">
                <a:solidFill>
                  <a:srgbClr val="EEF4FA"/>
                </a:solidFill>
              </a:defRPr>
            </a:pPr>
            <a:r>
              <a:t>Uses PropBank semantics</a:t>
            </a:r>
          </a:p>
        </p:txBody>
      </p:sp>
      <p:sp>
        <p:nvSpPr>
          <p:cNvPr id="24" name="Rounded Rectangle 23"/>
          <p:cNvSpPr/>
          <p:nvPr/>
        </p:nvSpPr>
        <p:spPr>
          <a:xfrm>
            <a:off x="6309360" y="3657600"/>
            <a:ext cx="5074920" cy="1600200"/>
          </a:xfrm>
          <a:prstGeom prst="roundRect">
            <a:avLst/>
          </a:prstGeom>
          <a:solidFill>
            <a:srgbClr val="15263A"/>
          </a:solidFill>
          <a:ln>
            <a:solidFill>
              <a:srgbClr val="435C77"/>
            </a:solidFill>
          </a:ln>
        </p:spPr>
        <p:style>
          <a:lnRef idx="1">
            <a:schemeClr val="accent1"/>
          </a:lnRef>
          <a:fillRef idx="3">
            <a:schemeClr val="accent1"/>
          </a:fillRef>
          <a:effectRef idx="2">
            <a:schemeClr val="accent1"/>
          </a:effectRef>
          <a:fontRef idx="minor">
            <a:schemeClr val="lt1"/>
          </a:fontRef>
        </p:style>
        <p:txBody>
          <a:bodyPr wrap="square" lIns="146304" tIns="109728" rIns="128016" rtlCol="0" anchor="ctr"/>
          <a:lstStyle/>
          <a:p>
            <a:pPr algn="ctr"/>
            <a:r>
              <a:rPr sz="1150" b="1">
                <a:solidFill>
                  <a:srgbClr val="FFA94D"/>
                </a:solidFill>
              </a:rPr>
              <a:t>Limitation</a:t>
            </a:r>
          </a:p>
          <a:p>
            <a:pPr>
              <a:defRPr sz="1000">
                <a:solidFill>
                  <a:srgbClr val="EEF4FA"/>
                </a:solidFill>
              </a:defRPr>
            </a:pPr>
            <a:r>
              <a:t>Span precision is weaker than modern MRC</a:t>
            </a:r>
          </a:p>
          <a:p>
            <a:pPr>
              <a:defRPr sz="1000">
                <a:solidFill>
                  <a:srgbClr val="EEF4FA"/>
                </a:solidFill>
              </a:defRPr>
            </a:pPr>
            <a:r>
              <a:t>Rare-role macro F1 remains low</a:t>
            </a:r>
          </a:p>
          <a:p>
            <a:pPr>
              <a:defRPr sz="1000">
                <a:solidFill>
                  <a:srgbClr val="EEF4FA"/>
                </a:solidFill>
              </a:defRPr>
            </a:pPr>
            <a:r>
              <a:t>Demo answers can be overlong</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Legacy Hybrid Architecture</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640080" y="1234440"/>
            <a:ext cx="1554480" cy="530352"/>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80" b="1">
                <a:solidFill>
                  <a:srgbClr val="EEF4FA"/>
                </a:solidFill>
              </a:rPr>
              <a:t>Question
intent</a:t>
            </a:r>
          </a:p>
        </p:txBody>
      </p:sp>
      <p:sp>
        <p:nvSpPr>
          <p:cNvPr id="7" name="Rounded Rectangle 6"/>
          <p:cNvSpPr/>
          <p:nvPr/>
        </p:nvSpPr>
        <p:spPr>
          <a:xfrm>
            <a:off x="2606040" y="1234440"/>
            <a:ext cx="1554480" cy="530352"/>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80" b="1">
                <a:solidFill>
                  <a:srgbClr val="EEF4FA"/>
                </a:solidFill>
              </a:rPr>
              <a:t>Role
target</a:t>
            </a:r>
          </a:p>
        </p:txBody>
      </p:sp>
      <p:sp>
        <p:nvSpPr>
          <p:cNvPr id="8" name="Rounded Rectangle 7"/>
          <p:cNvSpPr/>
          <p:nvPr/>
        </p:nvSpPr>
        <p:spPr>
          <a:xfrm>
            <a:off x="4572000" y="914400"/>
            <a:ext cx="1554480" cy="530352"/>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80" b="1">
                <a:solidFill>
                  <a:srgbClr val="EEF4FA"/>
                </a:solidFill>
              </a:rPr>
              <a:t>Baseline
span</a:t>
            </a:r>
          </a:p>
        </p:txBody>
      </p:sp>
      <p:sp>
        <p:nvSpPr>
          <p:cNvPr id="9" name="Rounded Rectangle 8"/>
          <p:cNvSpPr/>
          <p:nvPr/>
        </p:nvSpPr>
        <p:spPr>
          <a:xfrm>
            <a:off x="4572000" y="1600200"/>
            <a:ext cx="1554480" cy="530352"/>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80" b="1">
                <a:solidFill>
                  <a:srgbClr val="EEF4FA"/>
                </a:solidFill>
              </a:rPr>
              <a:t>Heuristic
spans</a:t>
            </a:r>
          </a:p>
        </p:txBody>
      </p:sp>
      <p:sp>
        <p:nvSpPr>
          <p:cNvPr id="10" name="Rounded Rectangle 9"/>
          <p:cNvSpPr/>
          <p:nvPr/>
        </p:nvSpPr>
        <p:spPr>
          <a:xfrm>
            <a:off x="6537960" y="914400"/>
            <a:ext cx="1554480" cy="530352"/>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80" b="1">
                <a:solidFill>
                  <a:srgbClr val="EEF4FA"/>
                </a:solidFill>
              </a:rPr>
              <a:t>Transformer
QA</a:t>
            </a:r>
          </a:p>
        </p:txBody>
      </p:sp>
      <p:sp>
        <p:nvSpPr>
          <p:cNvPr id="11" name="Rounded Rectangle 10"/>
          <p:cNvSpPr/>
          <p:nvPr/>
        </p:nvSpPr>
        <p:spPr>
          <a:xfrm>
            <a:off x="6537960" y="1600200"/>
            <a:ext cx="1554480" cy="530352"/>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80" b="1">
                <a:solidFill>
                  <a:srgbClr val="EEF4FA"/>
                </a:solidFill>
              </a:rPr>
              <a:t>Embedding
similarity</a:t>
            </a:r>
          </a:p>
        </p:txBody>
      </p:sp>
      <p:sp>
        <p:nvSpPr>
          <p:cNvPr id="12" name="Rounded Rectangle 11"/>
          <p:cNvSpPr/>
          <p:nvPr/>
        </p:nvSpPr>
        <p:spPr>
          <a:xfrm>
            <a:off x="8458200" y="1234440"/>
            <a:ext cx="1554480" cy="530352"/>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80" b="1">
                <a:solidFill>
                  <a:srgbClr val="EEF4FA"/>
                </a:solidFill>
              </a:rPr>
              <a:t>Reranker</a:t>
            </a:r>
          </a:p>
        </p:txBody>
      </p:sp>
      <p:sp>
        <p:nvSpPr>
          <p:cNvPr id="13" name="Rounded Rectangle 12"/>
          <p:cNvSpPr/>
          <p:nvPr/>
        </p:nvSpPr>
        <p:spPr>
          <a:xfrm>
            <a:off x="10287000" y="1234440"/>
            <a:ext cx="1554480" cy="530352"/>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80" b="1">
                <a:solidFill>
                  <a:srgbClr val="EEF4FA"/>
                </a:solidFill>
              </a:rPr>
              <a:t>Hybrid
answer</a:t>
            </a:r>
          </a:p>
        </p:txBody>
      </p:sp>
      <p:cxnSp>
        <p:nvCxnSpPr>
          <p:cNvPr id="14" name="Connector 13"/>
          <p:cNvCxnSpPr/>
          <p:nvPr/>
        </p:nvCxnSpPr>
        <p:spPr>
          <a:xfrm>
            <a:off x="2194560" y="1499616"/>
            <a:ext cx="411480" cy="0"/>
          </a:xfrm>
          <a:prstGeom prst="line">
            <a:avLst/>
          </a:prstGeom>
          <a:ln w="19050">
            <a:solidFill>
              <a:srgbClr val="FFC45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160520" y="1179576"/>
            <a:ext cx="411480" cy="320040"/>
          </a:xfrm>
          <a:prstGeom prst="line">
            <a:avLst/>
          </a:prstGeom>
          <a:ln w="19050">
            <a:solidFill>
              <a:srgbClr val="FFC45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160520" y="1499616"/>
            <a:ext cx="411480" cy="365760"/>
          </a:xfrm>
          <a:prstGeom prst="line">
            <a:avLst/>
          </a:prstGeom>
          <a:ln w="19050">
            <a:solidFill>
              <a:srgbClr val="FFC45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126480" y="1179576"/>
            <a:ext cx="411480" cy="0"/>
          </a:xfrm>
          <a:prstGeom prst="line">
            <a:avLst/>
          </a:prstGeom>
          <a:ln w="19050">
            <a:solidFill>
              <a:srgbClr val="FFC45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126480" y="1865376"/>
            <a:ext cx="411480" cy="0"/>
          </a:xfrm>
          <a:prstGeom prst="line">
            <a:avLst/>
          </a:prstGeom>
          <a:ln w="19050">
            <a:solidFill>
              <a:srgbClr val="FFC45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092440" y="1179576"/>
            <a:ext cx="365760" cy="320040"/>
          </a:xfrm>
          <a:prstGeom prst="line">
            <a:avLst/>
          </a:prstGeom>
          <a:ln w="19050">
            <a:solidFill>
              <a:srgbClr val="FFC45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8092440" y="1499616"/>
            <a:ext cx="365760" cy="365760"/>
          </a:xfrm>
          <a:prstGeom prst="line">
            <a:avLst/>
          </a:prstGeom>
          <a:ln w="19050">
            <a:solidFill>
              <a:srgbClr val="FFC45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012680" y="1499616"/>
            <a:ext cx="274320" cy="0"/>
          </a:xfrm>
          <a:prstGeom prst="line">
            <a:avLst/>
          </a:prstGeom>
          <a:ln w="19050">
            <a:solidFill>
              <a:srgbClr val="FFC45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85800" y="2743200"/>
            <a:ext cx="5486400" cy="2743200"/>
          </a:xfrm>
          <a:prstGeom prst="roundRect">
            <a:avLst/>
          </a:prstGeom>
          <a:solidFill>
            <a:srgbClr val="111F30"/>
          </a:solidFill>
          <a:ln>
            <a:solidFill>
              <a:srgbClr val="435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2834640"/>
            <a:ext cx="5212080" cy="228600"/>
          </a:xfrm>
          <a:prstGeom prst="rect">
            <a:avLst/>
          </a:prstGeom>
          <a:noFill/>
        </p:spPr>
        <p:txBody>
          <a:bodyPr wrap="square">
            <a:normAutofit/>
          </a:bodyPr>
          <a:lstStyle/>
          <a:p>
            <a:r>
              <a:rPr sz="1050" b="1">
                <a:solidFill>
                  <a:srgbClr val="39BEBD"/>
                </a:solidFill>
              </a:rPr>
              <a:t>Legacy benchmark token F1</a:t>
            </a:r>
          </a:p>
        </p:txBody>
      </p:sp>
      <p:cxnSp>
        <p:nvCxnSpPr>
          <p:cNvPr id="24" name="Connector 23"/>
          <p:cNvCxnSpPr/>
          <p:nvPr/>
        </p:nvCxnSpPr>
        <p:spPr>
          <a:xfrm>
            <a:off x="1097280" y="4974336"/>
            <a:ext cx="4709160" cy="0"/>
          </a:xfrm>
          <a:prstGeom prst="line">
            <a:avLst/>
          </a:prstGeom>
          <a:ln w="19050">
            <a:solidFill>
              <a:srgbClr val="435C77"/>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207007" y="4404308"/>
            <a:ext cx="292538" cy="570027"/>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563762" y="4234919"/>
            <a:ext cx="292538" cy="739416"/>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97280" y="5020055"/>
            <a:ext cx="1177290" cy="411480"/>
          </a:xfrm>
          <a:prstGeom prst="rect">
            <a:avLst/>
          </a:prstGeom>
          <a:noFill/>
        </p:spPr>
        <p:txBody>
          <a:bodyPr wrap="square">
            <a:normAutofit/>
          </a:bodyPr>
          <a:lstStyle/>
          <a:p>
            <a:pPr algn="ctr"/>
            <a:r>
              <a:rPr sz="680" b="0">
                <a:solidFill>
                  <a:srgbClr val="B0C3D6"/>
                </a:solidFill>
              </a:rPr>
              <a:t>Classical\nbaseline</a:t>
            </a:r>
          </a:p>
        </p:txBody>
      </p:sp>
      <p:sp>
        <p:nvSpPr>
          <p:cNvPr id="28" name="Rectangle 27"/>
          <p:cNvSpPr/>
          <p:nvPr/>
        </p:nvSpPr>
        <p:spPr>
          <a:xfrm>
            <a:off x="2384298" y="4127671"/>
            <a:ext cx="292538" cy="846664"/>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741052" y="3747951"/>
            <a:ext cx="292538" cy="1226384"/>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274570" y="5020055"/>
            <a:ext cx="1177290" cy="411480"/>
          </a:xfrm>
          <a:prstGeom prst="rect">
            <a:avLst/>
          </a:prstGeom>
          <a:noFill/>
        </p:spPr>
        <p:txBody>
          <a:bodyPr wrap="square">
            <a:normAutofit/>
          </a:bodyPr>
          <a:lstStyle/>
          <a:p>
            <a:pPr algn="ctr"/>
            <a:r>
              <a:rPr sz="680" b="0">
                <a:solidFill>
                  <a:srgbClr val="B0C3D6"/>
                </a:solidFill>
              </a:rPr>
              <a:t>Heuristic\nreranker</a:t>
            </a:r>
          </a:p>
        </p:txBody>
      </p:sp>
      <p:sp>
        <p:nvSpPr>
          <p:cNvPr id="31" name="Rectangle 30"/>
          <p:cNvSpPr/>
          <p:nvPr/>
        </p:nvSpPr>
        <p:spPr>
          <a:xfrm>
            <a:off x="3561588" y="4127671"/>
            <a:ext cx="292538" cy="846664"/>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918342" y="3747951"/>
            <a:ext cx="292538" cy="1226384"/>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451860" y="5020055"/>
            <a:ext cx="1177290" cy="411480"/>
          </a:xfrm>
          <a:prstGeom prst="rect">
            <a:avLst/>
          </a:prstGeom>
          <a:noFill/>
        </p:spPr>
        <p:txBody>
          <a:bodyPr wrap="square">
            <a:normAutofit/>
          </a:bodyPr>
          <a:lstStyle/>
          <a:p>
            <a:pPr algn="ctr"/>
            <a:r>
              <a:rPr sz="680" b="0">
                <a:solidFill>
                  <a:srgbClr val="B0C3D6"/>
                </a:solidFill>
              </a:rPr>
              <a:t>Transformer\nassist</a:t>
            </a:r>
          </a:p>
        </p:txBody>
      </p:sp>
      <p:sp>
        <p:nvSpPr>
          <p:cNvPr id="34" name="Rectangle 33"/>
          <p:cNvSpPr/>
          <p:nvPr/>
        </p:nvSpPr>
        <p:spPr>
          <a:xfrm>
            <a:off x="4738878" y="4127671"/>
            <a:ext cx="292538" cy="846664"/>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095632" y="3747951"/>
            <a:ext cx="292538" cy="1226384"/>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29150" y="5020055"/>
            <a:ext cx="1177290" cy="411480"/>
          </a:xfrm>
          <a:prstGeom prst="rect">
            <a:avLst/>
          </a:prstGeom>
          <a:noFill/>
        </p:spPr>
        <p:txBody>
          <a:bodyPr wrap="square">
            <a:normAutofit/>
          </a:bodyPr>
          <a:lstStyle/>
          <a:p>
            <a:pPr algn="ctr"/>
            <a:r>
              <a:rPr sz="680" b="0">
                <a:solidFill>
                  <a:srgbClr val="B0C3D6"/>
                </a:solidFill>
              </a:rPr>
              <a:t>Full\nhybrid</a:t>
            </a:r>
          </a:p>
        </p:txBody>
      </p:sp>
      <p:sp>
        <p:nvSpPr>
          <p:cNvPr id="37" name="Rectangle 36"/>
          <p:cNvSpPr/>
          <p:nvPr/>
        </p:nvSpPr>
        <p:spPr>
          <a:xfrm>
            <a:off x="1143000" y="5193792"/>
            <a:ext cx="137160" cy="13716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325880" y="5175504"/>
            <a:ext cx="1325880" cy="164592"/>
          </a:xfrm>
          <a:prstGeom prst="rect">
            <a:avLst/>
          </a:prstGeom>
          <a:noFill/>
        </p:spPr>
        <p:txBody>
          <a:bodyPr wrap="square">
            <a:normAutofit/>
          </a:bodyPr>
          <a:lstStyle/>
          <a:p>
            <a:r>
              <a:rPr sz="720" b="0">
                <a:solidFill>
                  <a:srgbClr val="B0C3D6"/>
                </a:solidFill>
              </a:rPr>
              <a:t>Combined</a:t>
            </a:r>
          </a:p>
        </p:txBody>
      </p:sp>
      <p:sp>
        <p:nvSpPr>
          <p:cNvPr id="39" name="Rectangle 38"/>
          <p:cNvSpPr/>
          <p:nvPr/>
        </p:nvSpPr>
        <p:spPr>
          <a:xfrm>
            <a:off x="2788920" y="5193792"/>
            <a:ext cx="137160" cy="137160"/>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971800" y="5175504"/>
            <a:ext cx="1325880" cy="164592"/>
          </a:xfrm>
          <a:prstGeom prst="rect">
            <a:avLst/>
          </a:prstGeom>
          <a:noFill/>
        </p:spPr>
        <p:txBody>
          <a:bodyPr wrap="square">
            <a:normAutofit/>
          </a:bodyPr>
          <a:lstStyle/>
          <a:p>
            <a:r>
              <a:rPr sz="720" b="0">
                <a:solidFill>
                  <a:srgbClr val="B0C3D6"/>
                </a:solidFill>
              </a:rPr>
              <a:t>Challenge</a:t>
            </a:r>
          </a:p>
        </p:txBody>
      </p:sp>
      <p:sp>
        <p:nvSpPr>
          <p:cNvPr id="41" name="Rounded Rectangle 40"/>
          <p:cNvSpPr/>
          <p:nvPr/>
        </p:nvSpPr>
        <p:spPr>
          <a:xfrm>
            <a:off x="6446520" y="2743200"/>
            <a:ext cx="4846320" cy="2743200"/>
          </a:xfrm>
          <a:prstGeom prst="roundRect">
            <a:avLst/>
          </a:prstGeom>
          <a:solidFill>
            <a:srgbClr val="15263A"/>
          </a:solidFill>
          <a:ln>
            <a:solidFill>
              <a:srgbClr val="435C77"/>
            </a:solidFill>
          </a:ln>
        </p:spPr>
        <p:style>
          <a:lnRef idx="1">
            <a:schemeClr val="accent1"/>
          </a:lnRef>
          <a:fillRef idx="3">
            <a:schemeClr val="accent1"/>
          </a:fillRef>
          <a:effectRef idx="2">
            <a:schemeClr val="accent1"/>
          </a:effectRef>
          <a:fontRef idx="minor">
            <a:schemeClr val="lt1"/>
          </a:fontRef>
        </p:style>
        <p:txBody>
          <a:bodyPr wrap="square" lIns="146304" tIns="109728" rIns="128016" rtlCol="0" anchor="ctr"/>
          <a:lstStyle/>
          <a:p>
            <a:pPr algn="ctr"/>
            <a:r>
              <a:rPr sz="1130" b="1">
                <a:solidFill>
                  <a:srgbClr val="5FD394"/>
                </a:solidFill>
              </a:rPr>
              <a:t>Takeaway</a:t>
            </a:r>
          </a:p>
          <a:p>
            <a:pPr>
              <a:defRPr sz="980">
                <a:solidFill>
                  <a:srgbClr val="EEF4FA"/>
                </a:solidFill>
              </a:defRPr>
            </a:pPr>
            <a:r>
              <a:t>Hybrid tracks improve role accuracy on challenge examples.</a:t>
            </a:r>
          </a:p>
          <a:p>
            <a:pPr>
              <a:defRPr sz="980">
                <a:solidFill>
                  <a:srgbClr val="EEF4FA"/>
                </a:solidFill>
              </a:defRPr>
            </a:pPr>
            <a:r>
              <a:t>Transformer assist did not beat heuristic reranking in this saved benchmark.</a:t>
            </a:r>
          </a:p>
          <a:p>
            <a:pPr>
              <a:defRPr sz="980">
                <a:solidFill>
                  <a:srgbClr val="EEF4FA"/>
                </a:solidFill>
              </a:defRPr>
            </a:pPr>
            <a:r>
              <a:t>Full hybrid is slower because it loads more external assistance.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RAISE-SRL-QA Innovation Architecture</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502920" y="1325880"/>
            <a:ext cx="1097280" cy="71323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680" b="1">
                <a:solidFill>
                  <a:srgbClr val="EEF4FA"/>
                </a:solidFill>
              </a:rPr>
              <a:t>Context +
question</a:t>
            </a:r>
          </a:p>
        </p:txBody>
      </p:sp>
      <p:sp>
        <p:nvSpPr>
          <p:cNvPr id="7" name="Rounded Rectangle 6"/>
          <p:cNvSpPr/>
          <p:nvPr/>
        </p:nvSpPr>
        <p:spPr>
          <a:xfrm>
            <a:off x="1783080" y="1325880"/>
            <a:ext cx="1097280" cy="71323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680" b="1">
                <a:solidFill>
                  <a:srgbClr val="EEF4FA"/>
                </a:solidFill>
              </a:rPr>
              <a:t>Intent
parser</a:t>
            </a:r>
          </a:p>
        </p:txBody>
      </p:sp>
      <p:sp>
        <p:nvSpPr>
          <p:cNvPr id="8" name="Rounded Rectangle 7"/>
          <p:cNvSpPr/>
          <p:nvPr/>
        </p:nvSpPr>
        <p:spPr>
          <a:xfrm>
            <a:off x="3063240" y="1325880"/>
            <a:ext cx="1097280" cy="71323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680" b="1">
                <a:solidFill>
                  <a:srgbClr val="EEF4FA"/>
                </a:solidFill>
              </a:rPr>
              <a:t>Predicate
normalizer</a:t>
            </a:r>
          </a:p>
        </p:txBody>
      </p:sp>
      <p:sp>
        <p:nvSpPr>
          <p:cNvPr id="9" name="Rounded Rectangle 8"/>
          <p:cNvSpPr/>
          <p:nvPr/>
        </p:nvSpPr>
        <p:spPr>
          <a:xfrm>
            <a:off x="4343400" y="1325880"/>
            <a:ext cx="1097280" cy="71323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680" b="1">
                <a:solidFill>
                  <a:srgbClr val="EEF4FA"/>
                </a:solidFill>
              </a:rPr>
              <a:t>PropBank
retriever</a:t>
            </a:r>
          </a:p>
        </p:txBody>
      </p:sp>
      <p:sp>
        <p:nvSpPr>
          <p:cNvPr id="10" name="Rounded Rectangle 9"/>
          <p:cNvSpPr/>
          <p:nvPr/>
        </p:nvSpPr>
        <p:spPr>
          <a:xfrm>
            <a:off x="5623560" y="1325880"/>
            <a:ext cx="1097280" cy="71323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680" b="1">
                <a:solidFill>
                  <a:srgbClr val="EEF4FA"/>
                </a:solidFill>
              </a:rPr>
              <a:t>MRC / heuristic
candidates</a:t>
            </a:r>
          </a:p>
        </p:txBody>
      </p:sp>
      <p:sp>
        <p:nvSpPr>
          <p:cNvPr id="11" name="Rounded Rectangle 10"/>
          <p:cNvSpPr/>
          <p:nvPr/>
        </p:nvSpPr>
        <p:spPr>
          <a:xfrm>
            <a:off x="7086600" y="1325880"/>
            <a:ext cx="1097280" cy="71323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680" b="1">
                <a:solidFill>
                  <a:srgbClr val="EEF4FA"/>
                </a:solidFill>
              </a:rPr>
              <a:t>Constrained
decoder</a:t>
            </a:r>
          </a:p>
        </p:txBody>
      </p:sp>
      <p:sp>
        <p:nvSpPr>
          <p:cNvPr id="12" name="Rounded Rectangle 11"/>
          <p:cNvSpPr/>
          <p:nvPr/>
        </p:nvSpPr>
        <p:spPr>
          <a:xfrm>
            <a:off x="8366760" y="1325880"/>
            <a:ext cx="1097280" cy="71323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680" b="1">
                <a:solidFill>
                  <a:srgbClr val="EEF4FA"/>
                </a:solidFill>
              </a:rPr>
              <a:t>Verifier</a:t>
            </a:r>
          </a:p>
        </p:txBody>
      </p:sp>
      <p:sp>
        <p:nvSpPr>
          <p:cNvPr id="13" name="Rounded Rectangle 12"/>
          <p:cNvSpPr/>
          <p:nvPr/>
        </p:nvSpPr>
        <p:spPr>
          <a:xfrm>
            <a:off x="9464040" y="1325880"/>
            <a:ext cx="1097280" cy="71323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680" b="1">
                <a:solidFill>
                  <a:srgbClr val="EEF4FA"/>
                </a:solidFill>
              </a:rPr>
              <a:t>Recursive
correction</a:t>
            </a:r>
          </a:p>
        </p:txBody>
      </p:sp>
      <p:sp>
        <p:nvSpPr>
          <p:cNvPr id="14" name="Rounded Rectangle 13"/>
          <p:cNvSpPr/>
          <p:nvPr/>
        </p:nvSpPr>
        <p:spPr>
          <a:xfrm>
            <a:off x="10744200" y="1325880"/>
            <a:ext cx="1097280" cy="71323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680" b="1">
                <a:solidFill>
                  <a:srgbClr val="EEF4FA"/>
                </a:solidFill>
              </a:rPr>
              <a:t>Final
answer</a:t>
            </a:r>
          </a:p>
        </p:txBody>
      </p:sp>
      <p:cxnSp>
        <p:nvCxnSpPr>
          <p:cNvPr id="15" name="Connector 14"/>
          <p:cNvCxnSpPr/>
          <p:nvPr/>
        </p:nvCxnSpPr>
        <p:spPr>
          <a:xfrm>
            <a:off x="1600200" y="1682496"/>
            <a:ext cx="182880" cy="0"/>
          </a:xfrm>
          <a:prstGeom prst="line">
            <a:avLst/>
          </a:prstGeom>
          <a:ln w="19050">
            <a:solidFill>
              <a:srgbClr val="5FD39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880360" y="1682496"/>
            <a:ext cx="182880" cy="0"/>
          </a:xfrm>
          <a:prstGeom prst="line">
            <a:avLst/>
          </a:prstGeom>
          <a:ln w="19050">
            <a:solidFill>
              <a:srgbClr val="5FD39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160520" y="1682496"/>
            <a:ext cx="182880" cy="0"/>
          </a:xfrm>
          <a:prstGeom prst="line">
            <a:avLst/>
          </a:prstGeom>
          <a:ln w="19050">
            <a:solidFill>
              <a:srgbClr val="5FD39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40680" y="1682496"/>
            <a:ext cx="182880" cy="0"/>
          </a:xfrm>
          <a:prstGeom prst="line">
            <a:avLst/>
          </a:prstGeom>
          <a:ln w="19050">
            <a:solidFill>
              <a:srgbClr val="5FD39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720840" y="1682496"/>
            <a:ext cx="365760" cy="0"/>
          </a:xfrm>
          <a:prstGeom prst="line">
            <a:avLst/>
          </a:prstGeom>
          <a:ln w="19050">
            <a:solidFill>
              <a:srgbClr val="5FD39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183879" y="1682496"/>
            <a:ext cx="182881" cy="0"/>
          </a:xfrm>
          <a:prstGeom prst="line">
            <a:avLst/>
          </a:prstGeom>
          <a:ln w="19050">
            <a:solidFill>
              <a:srgbClr val="5FD39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64040" y="1682496"/>
            <a:ext cx="0" cy="0"/>
          </a:xfrm>
          <a:prstGeom prst="line">
            <a:avLst/>
          </a:prstGeom>
          <a:ln w="19050">
            <a:solidFill>
              <a:srgbClr val="5FD39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561319" y="1682496"/>
            <a:ext cx="182881" cy="0"/>
          </a:xfrm>
          <a:prstGeom prst="line">
            <a:avLst/>
          </a:prstGeom>
          <a:ln w="19050">
            <a:solidFill>
              <a:srgbClr val="5FD394"/>
            </a:solidFill>
          </a:ln>
        </p:spPr>
        <p:style>
          <a:lnRef idx="2">
            <a:schemeClr val="accent1"/>
          </a:lnRef>
          <a:fillRef idx="0">
            <a:schemeClr val="accent1"/>
          </a:fillRef>
          <a:effectRef idx="1">
            <a:schemeClr val="accent1"/>
          </a:effectRef>
          <a:fontRef idx="minor">
            <a:schemeClr val="tx1"/>
          </a:fontRef>
        </p:style>
      </p:cxnSp>
      <p:graphicFrame>
        <p:nvGraphicFramePr>
          <p:cNvPr id="23" name="Table 22"/>
          <p:cNvGraphicFramePr>
            <a:graphicFrameLocks noGrp="1"/>
          </p:cNvGraphicFramePr>
          <p:nvPr/>
        </p:nvGraphicFramePr>
        <p:xfrm>
          <a:off x="685800" y="2743200"/>
          <a:ext cx="10927080" cy="246888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6812280">
                  <a:extLst>
                    <a:ext uri="{9D8B030D-6E8A-4147-A177-3AD203B41FA5}">
                      <a16:colId xmlns:a16="http://schemas.microsoft.com/office/drawing/2014/main" val="20002"/>
                    </a:ext>
                  </a:extLst>
                </a:gridCol>
              </a:tblGrid>
              <a:tr h="411480">
                <a:tc>
                  <a:txBody>
                    <a:bodyPr/>
                    <a:lstStyle/>
                    <a:p>
                      <a:r>
                        <a:rPr sz="900" b="1">
                          <a:solidFill>
                            <a:srgbClr val="EEF4FA"/>
                          </a:solidFill>
                        </a:rPr>
                        <a:t>Innovation</a:t>
                      </a:r>
                    </a:p>
                  </a:txBody>
                  <a:tcPr marL="36576" marR="36576" marT="18288" marB="18288">
                    <a:solidFill>
                      <a:srgbClr val="1D344E"/>
                    </a:solidFill>
                  </a:tcPr>
                </a:tc>
                <a:tc>
                  <a:txBody>
                    <a:bodyPr/>
                    <a:lstStyle/>
                    <a:p>
                      <a:r>
                        <a:rPr sz="900" b="1">
                          <a:solidFill>
                            <a:srgbClr val="EEF4FA"/>
                          </a:solidFill>
                        </a:rPr>
                        <a:t>Implemented now</a:t>
                      </a:r>
                    </a:p>
                  </a:txBody>
                  <a:tcPr marL="36576" marR="36576" marT="18288" marB="18288">
                    <a:solidFill>
                      <a:srgbClr val="1D344E"/>
                    </a:solidFill>
                  </a:tcPr>
                </a:tc>
                <a:tc>
                  <a:txBody>
                    <a:bodyPr/>
                    <a:lstStyle/>
                    <a:p>
                      <a:r>
                        <a:rPr sz="900" b="1">
                          <a:solidFill>
                            <a:srgbClr val="EEF4FA"/>
                          </a:solidFill>
                        </a:rPr>
                        <a:t>Evidence</a:t>
                      </a:r>
                    </a:p>
                  </a:txBody>
                  <a:tcPr marL="36576" marR="36576" marT="18288" marB="18288">
                    <a:solidFill>
                      <a:srgbClr val="1D344E"/>
                    </a:solidFill>
                  </a:tcPr>
                </a:tc>
                <a:extLst>
                  <a:ext uri="{0D108BD9-81ED-4DB2-BD59-A6C34878D82A}">
                    <a16:rowId xmlns:a16="http://schemas.microsoft.com/office/drawing/2014/main" val="10000"/>
                  </a:ext>
                </a:extLst>
              </a:tr>
              <a:tr h="411480">
                <a:tc>
                  <a:txBody>
                    <a:bodyPr/>
                    <a:lstStyle/>
                    <a:p>
                      <a:r>
                        <a:rPr sz="900" b="0">
                          <a:solidFill>
                            <a:srgbClr val="B0C3D6"/>
                          </a:solidFill>
                        </a:rPr>
                        <a:t>Frame retrieval</a:t>
                      </a:r>
                    </a:p>
                  </a:txBody>
                  <a:tcPr marL="36576" marR="36576" marT="18288" marB="18288">
                    <a:solidFill>
                      <a:srgbClr val="15263A"/>
                    </a:solidFill>
                  </a:tcPr>
                </a:tc>
                <a:tc>
                  <a:txBody>
                    <a:bodyPr/>
                    <a:lstStyle/>
                    <a:p>
                      <a:r>
                        <a:rPr sz="900" b="0">
                          <a:solidFill>
                            <a:srgbClr val="B0C3D6"/>
                          </a:solidFill>
                        </a:rPr>
                        <a:t>Yes</a:t>
                      </a:r>
                    </a:p>
                  </a:txBody>
                  <a:tcPr marL="36576" marR="36576" marT="18288" marB="18288">
                    <a:solidFill>
                      <a:srgbClr val="15263A"/>
                    </a:solidFill>
                  </a:tcPr>
                </a:tc>
                <a:tc>
                  <a:txBody>
                    <a:bodyPr/>
                    <a:lstStyle/>
                    <a:p>
                      <a:r>
                        <a:rPr sz="900" b="0">
                          <a:solidFill>
                            <a:srgbClr val="B0C3D6"/>
                          </a:solidFill>
                        </a:rPr>
                        <a:t>4,659 local PropBank frame records</a:t>
                      </a:r>
                    </a:p>
                  </a:txBody>
                  <a:tcPr marL="36576" marR="36576" marT="18288" marB="18288">
                    <a:solidFill>
                      <a:srgbClr val="15263A"/>
                    </a:solidFill>
                  </a:tcPr>
                </a:tc>
                <a:extLst>
                  <a:ext uri="{0D108BD9-81ED-4DB2-BD59-A6C34878D82A}">
                    <a16:rowId xmlns:a16="http://schemas.microsoft.com/office/drawing/2014/main" val="10001"/>
                  </a:ext>
                </a:extLst>
              </a:tr>
              <a:tr h="411480">
                <a:tc>
                  <a:txBody>
                    <a:bodyPr/>
                    <a:lstStyle/>
                    <a:p>
                      <a:r>
                        <a:rPr sz="900" b="0">
                          <a:solidFill>
                            <a:srgbClr val="B0C3D6"/>
                          </a:solidFill>
                        </a:rPr>
                        <a:t>Constrained decoding</a:t>
                      </a:r>
                    </a:p>
                  </a:txBody>
                  <a:tcPr marL="36576" marR="36576" marT="18288" marB="18288">
                    <a:solidFill>
                      <a:srgbClr val="15263A"/>
                    </a:solidFill>
                  </a:tcPr>
                </a:tc>
                <a:tc>
                  <a:txBody>
                    <a:bodyPr/>
                    <a:lstStyle/>
                    <a:p>
                      <a:r>
                        <a:rPr sz="900" b="0">
                          <a:solidFill>
                            <a:srgbClr val="B0C3D6"/>
                          </a:solidFill>
                        </a:rPr>
                        <a:t>Yes</a:t>
                      </a:r>
                    </a:p>
                  </a:txBody>
                  <a:tcPr marL="36576" marR="36576" marT="18288" marB="18288">
                    <a:solidFill>
                      <a:srgbClr val="15263A"/>
                    </a:solidFill>
                  </a:tcPr>
                </a:tc>
                <a:tc>
                  <a:txBody>
                    <a:bodyPr/>
                    <a:lstStyle/>
                    <a:p>
                      <a:r>
                        <a:rPr sz="900" b="0">
                          <a:solidFill>
                            <a:srgbClr val="B0C3D6"/>
                          </a:solidFill>
                        </a:rPr>
                        <a:t>WHERE/WHEN/HOW role-specific span rules</a:t>
                      </a:r>
                    </a:p>
                  </a:txBody>
                  <a:tcPr marL="36576" marR="36576" marT="18288" marB="18288">
                    <a:solidFill>
                      <a:srgbClr val="15263A"/>
                    </a:solidFill>
                  </a:tcPr>
                </a:tc>
                <a:extLst>
                  <a:ext uri="{0D108BD9-81ED-4DB2-BD59-A6C34878D82A}">
                    <a16:rowId xmlns:a16="http://schemas.microsoft.com/office/drawing/2014/main" val="10002"/>
                  </a:ext>
                </a:extLst>
              </a:tr>
              <a:tr h="411480">
                <a:tc>
                  <a:txBody>
                    <a:bodyPr/>
                    <a:lstStyle/>
                    <a:p>
                      <a:r>
                        <a:rPr sz="900" b="0">
                          <a:solidFill>
                            <a:srgbClr val="B0C3D6"/>
                          </a:solidFill>
                        </a:rPr>
                        <a:t>Verifier correction</a:t>
                      </a:r>
                    </a:p>
                  </a:txBody>
                  <a:tcPr marL="36576" marR="36576" marT="18288" marB="18288">
                    <a:solidFill>
                      <a:srgbClr val="15263A"/>
                    </a:solidFill>
                  </a:tcPr>
                </a:tc>
                <a:tc>
                  <a:txBody>
                    <a:bodyPr/>
                    <a:lstStyle/>
                    <a:p>
                      <a:r>
                        <a:rPr sz="900" b="0">
                          <a:solidFill>
                            <a:srgbClr val="B0C3D6"/>
                          </a:solidFill>
                        </a:rPr>
                        <a:t>Yes</a:t>
                      </a:r>
                    </a:p>
                  </a:txBody>
                  <a:tcPr marL="36576" marR="36576" marT="18288" marB="18288">
                    <a:solidFill>
                      <a:srgbClr val="15263A"/>
                    </a:solidFill>
                  </a:tcPr>
                </a:tc>
                <a:tc>
                  <a:txBody>
                    <a:bodyPr/>
                    <a:lstStyle/>
                    <a:p>
                      <a:r>
                        <a:rPr sz="900" b="0">
                          <a:solidFill>
                            <a:srgbClr val="B0C3D6"/>
                          </a:solidFill>
                        </a:rPr>
                        <a:t>Candidate must be extractable and role-compatible</a:t>
                      </a:r>
                    </a:p>
                  </a:txBody>
                  <a:tcPr marL="36576" marR="36576" marT="18288" marB="18288">
                    <a:solidFill>
                      <a:srgbClr val="15263A"/>
                    </a:solidFill>
                  </a:tcPr>
                </a:tc>
                <a:extLst>
                  <a:ext uri="{0D108BD9-81ED-4DB2-BD59-A6C34878D82A}">
                    <a16:rowId xmlns:a16="http://schemas.microsoft.com/office/drawing/2014/main" val="10003"/>
                  </a:ext>
                </a:extLst>
              </a:tr>
              <a:tr h="411480">
                <a:tc>
                  <a:txBody>
                    <a:bodyPr/>
                    <a:lstStyle/>
                    <a:p>
                      <a:r>
                        <a:rPr sz="900" b="0">
                          <a:solidFill>
                            <a:srgbClr val="B0C3D6"/>
                          </a:solidFill>
                        </a:rPr>
                        <a:t>Teacher MRC candidate model</a:t>
                      </a:r>
                    </a:p>
                  </a:txBody>
                  <a:tcPr marL="36576" marR="36576" marT="18288" marB="18288">
                    <a:solidFill>
                      <a:srgbClr val="15263A"/>
                    </a:solidFill>
                  </a:tcPr>
                </a:tc>
                <a:tc>
                  <a:txBody>
                    <a:bodyPr/>
                    <a:lstStyle/>
                    <a:p>
                      <a:r>
                        <a:rPr sz="900" b="0">
                          <a:solidFill>
                            <a:srgbClr val="B0C3D6"/>
                          </a:solidFill>
                        </a:rPr>
                        <a:t>Partial</a:t>
                      </a:r>
                    </a:p>
                  </a:txBody>
                  <a:tcPr marL="36576" marR="36576" marT="18288" marB="18288">
                    <a:solidFill>
                      <a:srgbClr val="15263A"/>
                    </a:solidFill>
                  </a:tcPr>
                </a:tc>
                <a:tc>
                  <a:txBody>
                    <a:bodyPr/>
                    <a:lstStyle/>
                    <a:p>
                      <a:r>
                        <a:rPr sz="900" b="0">
                          <a:solidFill>
                            <a:srgbClr val="B0C3D6"/>
                          </a:solidFill>
                        </a:rPr>
                        <a:t>DeBERTa/SQuAD teacher path works, slower on CPU</a:t>
                      </a:r>
                    </a:p>
                  </a:txBody>
                  <a:tcPr marL="36576" marR="36576" marT="18288" marB="18288">
                    <a:solidFill>
                      <a:srgbClr val="15263A"/>
                    </a:solidFill>
                  </a:tcPr>
                </a:tc>
                <a:extLst>
                  <a:ext uri="{0D108BD9-81ED-4DB2-BD59-A6C34878D82A}">
                    <a16:rowId xmlns:a16="http://schemas.microsoft.com/office/drawing/2014/main" val="10004"/>
                  </a:ext>
                </a:extLst>
              </a:tr>
              <a:tr h="411480">
                <a:tc>
                  <a:txBody>
                    <a:bodyPr/>
                    <a:lstStyle/>
                    <a:p>
                      <a:r>
                        <a:rPr sz="900" b="0">
                          <a:solidFill>
                            <a:srgbClr val="B0C3D6"/>
                          </a:solidFill>
                        </a:rPr>
                        <a:t>Distillation/hard negatives</a:t>
                      </a:r>
                    </a:p>
                  </a:txBody>
                  <a:tcPr marL="36576" marR="36576" marT="18288" marB="18288">
                    <a:solidFill>
                      <a:srgbClr val="15263A"/>
                    </a:solidFill>
                  </a:tcPr>
                </a:tc>
                <a:tc>
                  <a:txBody>
                    <a:bodyPr/>
                    <a:lstStyle/>
                    <a:p>
                      <a:r>
                        <a:rPr sz="900" b="0">
                          <a:solidFill>
                            <a:srgbClr val="B0C3D6"/>
                          </a:solidFill>
                        </a:rPr>
                        <a:t>Scaffold</a:t>
                      </a:r>
                    </a:p>
                  </a:txBody>
                  <a:tcPr marL="36576" marR="36576" marT="18288" marB="18288">
                    <a:solidFill>
                      <a:srgbClr val="15263A"/>
                    </a:solidFill>
                  </a:tcPr>
                </a:tc>
                <a:tc>
                  <a:txBody>
                    <a:bodyPr/>
                    <a:lstStyle/>
                    <a:p>
                      <a:r>
                        <a:rPr sz="900" b="0">
                          <a:solidFill>
                            <a:srgbClr val="B0C3D6"/>
                          </a:solidFill>
                        </a:rPr>
                        <a:t>Files exist; full training remains next work</a:t>
                      </a:r>
                    </a:p>
                  </a:txBody>
                  <a:tcPr marL="36576" marR="36576" marT="18288" marB="18288">
                    <a:solidFill>
                      <a:srgbClr val="15263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All-Model Hub Architecture</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594360" y="914400"/>
            <a:ext cx="2194560" cy="685800"/>
          </a:xfrm>
          <a:prstGeom prst="roundRect">
            <a:avLst/>
          </a:prstGeom>
          <a:solidFill>
            <a:srgbClr val="15263A"/>
          </a:solidFill>
          <a:ln>
            <a:solidFill>
              <a:srgbClr val="78AFFF"/>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900" b="1">
                <a:solidFill>
                  <a:srgbClr val="EEF4FA"/>
                </a:solidFill>
              </a:rPr>
              <a:t>User chooses model
or all</a:t>
            </a:r>
          </a:p>
        </p:txBody>
      </p:sp>
      <p:sp>
        <p:nvSpPr>
          <p:cNvPr id="7" name="Rounded Rectangle 6"/>
          <p:cNvSpPr/>
          <p:nvPr/>
        </p:nvSpPr>
        <p:spPr>
          <a:xfrm>
            <a:off x="3291840" y="914400"/>
            <a:ext cx="2194560" cy="685800"/>
          </a:xfrm>
          <a:prstGeom prst="roundRect">
            <a:avLst/>
          </a:prstGeom>
          <a:solidFill>
            <a:srgbClr val="15263A"/>
          </a:solidFill>
          <a:ln>
            <a:solidFill>
              <a:srgbClr val="78AFFF"/>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000" b="1">
                <a:solidFill>
                  <a:srgbClr val="EEF4FA"/>
                </a:solidFill>
              </a:rPr>
              <a:t>ModelHub</a:t>
            </a:r>
          </a:p>
        </p:txBody>
      </p:sp>
      <p:sp>
        <p:nvSpPr>
          <p:cNvPr id="8" name="Rounded Rectangle 7"/>
          <p:cNvSpPr/>
          <p:nvPr/>
        </p:nvSpPr>
        <p:spPr>
          <a:xfrm>
            <a:off x="5989320" y="411480"/>
            <a:ext cx="1920240" cy="53035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RAISE fast</a:t>
            </a:r>
          </a:p>
        </p:txBody>
      </p:sp>
      <p:sp>
        <p:nvSpPr>
          <p:cNvPr id="9" name="Rounded Rectangle 8"/>
          <p:cNvSpPr/>
          <p:nvPr/>
        </p:nvSpPr>
        <p:spPr>
          <a:xfrm>
            <a:off x="5989320" y="1143000"/>
            <a:ext cx="1920240" cy="53035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RAISE model</a:t>
            </a:r>
          </a:p>
        </p:txBody>
      </p:sp>
      <p:sp>
        <p:nvSpPr>
          <p:cNvPr id="10" name="Rounded Rectangle 9"/>
          <p:cNvSpPr/>
          <p:nvPr/>
        </p:nvSpPr>
        <p:spPr>
          <a:xfrm>
            <a:off x="8458200" y="411480"/>
            <a:ext cx="1920240" cy="530352"/>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Legacy hybrid</a:t>
            </a:r>
          </a:p>
        </p:txBody>
      </p:sp>
      <p:sp>
        <p:nvSpPr>
          <p:cNvPr id="11" name="Rounded Rectangle 10"/>
          <p:cNvSpPr/>
          <p:nvPr/>
        </p:nvSpPr>
        <p:spPr>
          <a:xfrm>
            <a:off x="8458200" y="1143000"/>
            <a:ext cx="1920240" cy="530352"/>
          </a:xfrm>
          <a:prstGeom prst="roundRect">
            <a:avLst/>
          </a:prstGeom>
          <a:solidFill>
            <a:srgbClr val="15263A"/>
          </a:solidFill>
          <a:ln>
            <a:solidFill>
              <a:srgbClr val="FFC45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Legacy baseline</a:t>
            </a:r>
          </a:p>
        </p:txBody>
      </p:sp>
      <p:cxnSp>
        <p:nvCxnSpPr>
          <p:cNvPr id="12" name="Connector 11"/>
          <p:cNvCxnSpPr/>
          <p:nvPr/>
        </p:nvCxnSpPr>
        <p:spPr>
          <a:xfrm>
            <a:off x="2788920" y="1261872"/>
            <a:ext cx="502920" cy="0"/>
          </a:xfrm>
          <a:prstGeom prst="line">
            <a:avLst/>
          </a:prstGeom>
          <a:ln w="19050">
            <a:solidFill>
              <a:srgbClr val="78AFF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5486400" y="676656"/>
            <a:ext cx="502920" cy="585216"/>
          </a:xfrm>
          <a:prstGeom prst="line">
            <a:avLst/>
          </a:prstGeom>
          <a:ln w="19050">
            <a:solidFill>
              <a:srgbClr val="78AFF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486400" y="1261872"/>
            <a:ext cx="502920" cy="146304"/>
          </a:xfrm>
          <a:prstGeom prst="line">
            <a:avLst/>
          </a:prstGeom>
          <a:ln w="19050">
            <a:solidFill>
              <a:srgbClr val="78AFF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5486400" y="676656"/>
            <a:ext cx="2971800" cy="585216"/>
          </a:xfrm>
          <a:prstGeom prst="line">
            <a:avLst/>
          </a:prstGeom>
          <a:ln w="19050">
            <a:solidFill>
              <a:srgbClr val="78AF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486400" y="1261872"/>
            <a:ext cx="2971800" cy="146304"/>
          </a:xfrm>
          <a:prstGeom prst="line">
            <a:avLst/>
          </a:prstGeom>
          <a:ln w="19050">
            <a:solidFill>
              <a:srgbClr val="78AFFF"/>
            </a:solidFill>
          </a:ln>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nvGraphicFramePr>
        <p:xfrm>
          <a:off x="685800" y="2514600"/>
          <a:ext cx="10972800" cy="24231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484632">
                <a:tc>
                  <a:txBody>
                    <a:bodyPr/>
                    <a:lstStyle/>
                    <a:p>
                      <a:r>
                        <a:rPr sz="930" b="1">
                          <a:solidFill>
                            <a:srgbClr val="EEF4FA"/>
                          </a:solidFill>
                        </a:rPr>
                        <a:t>Model</a:t>
                      </a:r>
                    </a:p>
                  </a:txBody>
                  <a:tcPr marL="36576" marR="36576" marT="18288" marB="18288">
                    <a:solidFill>
                      <a:srgbClr val="1D344E"/>
                    </a:solidFill>
                  </a:tcPr>
                </a:tc>
                <a:tc>
                  <a:txBody>
                    <a:bodyPr/>
                    <a:lstStyle/>
                    <a:p>
                      <a:r>
                        <a:rPr sz="930" b="1">
                          <a:solidFill>
                            <a:srgbClr val="EEF4FA"/>
                          </a:solidFill>
                        </a:rPr>
                        <a:t>Role in demo</a:t>
                      </a:r>
                    </a:p>
                  </a:txBody>
                  <a:tcPr marL="36576" marR="36576" marT="18288" marB="18288">
                    <a:solidFill>
                      <a:srgbClr val="1D344E"/>
                    </a:solidFill>
                  </a:tcPr>
                </a:tc>
                <a:tc>
                  <a:txBody>
                    <a:bodyPr/>
                    <a:lstStyle/>
                    <a:p>
                      <a:r>
                        <a:rPr sz="930" b="1">
                          <a:solidFill>
                            <a:srgbClr val="EEF4FA"/>
                          </a:solidFill>
                        </a:rPr>
                        <a:t>Best use</a:t>
                      </a:r>
                    </a:p>
                  </a:txBody>
                  <a:tcPr marL="36576" marR="36576" marT="18288" marB="18288">
                    <a:solidFill>
                      <a:srgbClr val="1D344E"/>
                    </a:solidFill>
                  </a:tcPr>
                </a:tc>
                <a:extLst>
                  <a:ext uri="{0D108BD9-81ED-4DB2-BD59-A6C34878D82A}">
                    <a16:rowId xmlns:a16="http://schemas.microsoft.com/office/drawing/2014/main" val="10000"/>
                  </a:ext>
                </a:extLst>
              </a:tr>
              <a:tr h="484632">
                <a:tc>
                  <a:txBody>
                    <a:bodyPr/>
                    <a:lstStyle/>
                    <a:p>
                      <a:r>
                        <a:rPr sz="930" b="0">
                          <a:solidFill>
                            <a:srgbClr val="B0C3D6"/>
                          </a:solidFill>
                        </a:rPr>
                        <a:t>RAISE fast</a:t>
                      </a:r>
                    </a:p>
                  </a:txBody>
                  <a:tcPr marL="36576" marR="36576" marT="18288" marB="18288">
                    <a:solidFill>
                      <a:srgbClr val="15263A"/>
                    </a:solidFill>
                  </a:tcPr>
                </a:tc>
                <a:tc>
                  <a:txBody>
                    <a:bodyPr/>
                    <a:lstStyle/>
                    <a:p>
                      <a:r>
                        <a:rPr sz="930" b="0">
                          <a:solidFill>
                            <a:srgbClr val="B0C3D6"/>
                          </a:solidFill>
                        </a:rPr>
                        <a:t>Deterministic retrieval + verifier correction</a:t>
                      </a:r>
                    </a:p>
                  </a:txBody>
                  <a:tcPr marL="36576" marR="36576" marT="18288" marB="18288">
                    <a:solidFill>
                      <a:srgbClr val="15263A"/>
                    </a:solidFill>
                  </a:tcPr>
                </a:tc>
                <a:tc>
                  <a:txBody>
                    <a:bodyPr/>
                    <a:lstStyle/>
                    <a:p>
                      <a:r>
                        <a:rPr sz="930" b="0">
                          <a:solidFill>
                            <a:srgbClr val="B0C3D6"/>
                          </a:solidFill>
                        </a:rPr>
                        <a:t>Fast live demo</a:t>
                      </a:r>
                    </a:p>
                  </a:txBody>
                  <a:tcPr marL="36576" marR="36576" marT="18288" marB="18288">
                    <a:solidFill>
                      <a:srgbClr val="15263A"/>
                    </a:solidFill>
                  </a:tcPr>
                </a:tc>
                <a:extLst>
                  <a:ext uri="{0D108BD9-81ED-4DB2-BD59-A6C34878D82A}">
                    <a16:rowId xmlns:a16="http://schemas.microsoft.com/office/drawing/2014/main" val="10001"/>
                  </a:ext>
                </a:extLst>
              </a:tr>
              <a:tr h="484632">
                <a:tc>
                  <a:txBody>
                    <a:bodyPr/>
                    <a:lstStyle/>
                    <a:p>
                      <a:r>
                        <a:rPr sz="930" b="0">
                          <a:solidFill>
                            <a:srgbClr val="B0C3D6"/>
                          </a:solidFill>
                        </a:rPr>
                        <a:t>RAISE model</a:t>
                      </a:r>
                    </a:p>
                  </a:txBody>
                  <a:tcPr marL="36576" marR="36576" marT="18288" marB="18288">
                    <a:solidFill>
                      <a:srgbClr val="15263A"/>
                    </a:solidFill>
                  </a:tcPr>
                </a:tc>
                <a:tc>
                  <a:txBody>
                    <a:bodyPr/>
                    <a:lstStyle/>
                    <a:p>
                      <a:r>
                        <a:rPr sz="930" b="0">
                          <a:solidFill>
                            <a:srgbClr val="B0C3D6"/>
                          </a:solidFill>
                        </a:rPr>
                        <a:t>Teacher QA candidates plus RAISE correction</a:t>
                      </a:r>
                    </a:p>
                  </a:txBody>
                  <a:tcPr marL="36576" marR="36576" marT="18288" marB="18288">
                    <a:solidFill>
                      <a:srgbClr val="15263A"/>
                    </a:solidFill>
                  </a:tcPr>
                </a:tc>
                <a:tc>
                  <a:txBody>
                    <a:bodyPr/>
                    <a:lstStyle/>
                    <a:p>
                      <a:r>
                        <a:rPr sz="930" b="0">
                          <a:solidFill>
                            <a:srgbClr val="B0C3D6"/>
                          </a:solidFill>
                        </a:rPr>
                        <a:t>Model-backed demo after warm-up</a:t>
                      </a:r>
                    </a:p>
                  </a:txBody>
                  <a:tcPr marL="36576" marR="36576" marT="18288" marB="18288">
                    <a:solidFill>
                      <a:srgbClr val="15263A"/>
                    </a:solidFill>
                  </a:tcPr>
                </a:tc>
                <a:extLst>
                  <a:ext uri="{0D108BD9-81ED-4DB2-BD59-A6C34878D82A}">
                    <a16:rowId xmlns:a16="http://schemas.microsoft.com/office/drawing/2014/main" val="10002"/>
                  </a:ext>
                </a:extLst>
              </a:tr>
              <a:tr h="484632">
                <a:tc>
                  <a:txBody>
                    <a:bodyPr/>
                    <a:lstStyle/>
                    <a:p>
                      <a:r>
                        <a:rPr sz="930" b="0">
                          <a:solidFill>
                            <a:srgbClr val="B0C3D6"/>
                          </a:solidFill>
                        </a:rPr>
                        <a:t>Legacy hybrid</a:t>
                      </a:r>
                    </a:p>
                  </a:txBody>
                  <a:tcPr marL="36576" marR="36576" marT="18288" marB="18288">
                    <a:solidFill>
                      <a:srgbClr val="15263A"/>
                    </a:solidFill>
                  </a:tcPr>
                </a:tc>
                <a:tc>
                  <a:txBody>
                    <a:bodyPr/>
                    <a:lstStyle/>
                    <a:p>
                      <a:r>
                        <a:rPr sz="930" b="0">
                          <a:solidFill>
                            <a:srgbClr val="B0C3D6"/>
                          </a:solidFill>
                        </a:rPr>
                        <a:t>Old hybrid comparison</a:t>
                      </a:r>
                    </a:p>
                  </a:txBody>
                  <a:tcPr marL="36576" marR="36576" marT="18288" marB="18288">
                    <a:solidFill>
                      <a:srgbClr val="15263A"/>
                    </a:solidFill>
                  </a:tcPr>
                </a:tc>
                <a:tc>
                  <a:txBody>
                    <a:bodyPr/>
                    <a:lstStyle/>
                    <a:p>
                      <a:r>
                        <a:rPr sz="930" b="0">
                          <a:solidFill>
                            <a:srgbClr val="B0C3D6"/>
                          </a:solidFill>
                        </a:rPr>
                        <a:t>Show improvement over baseline</a:t>
                      </a:r>
                    </a:p>
                  </a:txBody>
                  <a:tcPr marL="36576" marR="36576" marT="18288" marB="18288">
                    <a:solidFill>
                      <a:srgbClr val="15263A"/>
                    </a:solidFill>
                  </a:tcPr>
                </a:tc>
                <a:extLst>
                  <a:ext uri="{0D108BD9-81ED-4DB2-BD59-A6C34878D82A}">
                    <a16:rowId xmlns:a16="http://schemas.microsoft.com/office/drawing/2014/main" val="10003"/>
                  </a:ext>
                </a:extLst>
              </a:tr>
              <a:tr h="484632">
                <a:tc>
                  <a:txBody>
                    <a:bodyPr/>
                    <a:lstStyle/>
                    <a:p>
                      <a:r>
                        <a:rPr sz="930" b="0">
                          <a:solidFill>
                            <a:srgbClr val="B0C3D6"/>
                          </a:solidFill>
                        </a:rPr>
                        <a:t>Legacy baseline</a:t>
                      </a:r>
                    </a:p>
                  </a:txBody>
                  <a:tcPr marL="36576" marR="36576" marT="18288" marB="18288">
                    <a:solidFill>
                      <a:srgbClr val="15263A"/>
                    </a:solidFill>
                  </a:tcPr>
                </a:tc>
                <a:tc>
                  <a:txBody>
                    <a:bodyPr/>
                    <a:lstStyle/>
                    <a:p>
                      <a:r>
                        <a:rPr sz="930" b="0">
                          <a:solidFill>
                            <a:srgbClr val="B0C3D6"/>
                          </a:solidFill>
                        </a:rPr>
                        <a:t>Original checkpoint</a:t>
                      </a:r>
                    </a:p>
                  </a:txBody>
                  <a:tcPr marL="36576" marR="36576" marT="18288" marB="18288">
                    <a:solidFill>
                      <a:srgbClr val="15263A"/>
                    </a:solidFill>
                  </a:tcPr>
                </a:tc>
                <a:tc>
                  <a:txBody>
                    <a:bodyPr/>
                    <a:lstStyle/>
                    <a:p>
                      <a:r>
                        <a:rPr sz="930" b="0">
                          <a:solidFill>
                            <a:srgbClr val="B0C3D6"/>
                          </a:solidFill>
                        </a:rPr>
                        <a:t>Reference point and limitation</a:t>
                      </a:r>
                    </a:p>
                  </a:txBody>
                  <a:tcPr marL="36576" marR="36576" marT="18288" marB="18288">
                    <a:solidFill>
                      <a:srgbClr val="15263A"/>
                    </a:solidFill>
                  </a:tcPr>
                </a:tc>
                <a:extLst>
                  <a:ext uri="{0D108BD9-81ED-4DB2-BD59-A6C34878D82A}">
                    <a16:rowId xmlns:a16="http://schemas.microsoft.com/office/drawing/2014/main" val="10004"/>
                  </a:ext>
                </a:extLst>
              </a:tr>
            </a:tbl>
          </a:graphicData>
        </a:graphic>
      </p:graphicFrame>
      <p:sp>
        <p:nvSpPr>
          <p:cNvPr id="18" name="TextBox 17"/>
          <p:cNvSpPr txBox="1"/>
          <p:nvPr/>
        </p:nvSpPr>
        <p:spPr>
          <a:xfrm>
            <a:off x="914400" y="5349240"/>
            <a:ext cx="10241280" cy="347472"/>
          </a:xfrm>
          <a:prstGeom prst="rect">
            <a:avLst/>
          </a:prstGeom>
          <a:noFill/>
        </p:spPr>
        <p:txBody>
          <a:bodyPr wrap="square">
            <a:normAutofit/>
          </a:bodyPr>
          <a:lstStyle/>
          <a:p>
            <a:pPr algn="ctr"/>
            <a:r>
              <a:rPr sz="1250" b="1">
                <a:solidFill>
                  <a:srgbClr val="EEF4FA"/>
                </a:solidFill>
              </a:rPr>
              <a:t>The all-model hub makes the project explainable: every answer can be compared against the original baseline.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Experiment Matrix: What Was Actually Tested</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graphicFrame>
        <p:nvGraphicFramePr>
          <p:cNvPr id="6" name="Table 5"/>
          <p:cNvGraphicFramePr>
            <a:graphicFrameLocks noGrp="1"/>
          </p:cNvGraphicFramePr>
          <p:nvPr/>
        </p:nvGraphicFramePr>
        <p:xfrm>
          <a:off x="502920" y="1097280"/>
          <a:ext cx="11292840" cy="498348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tblGrid>
              <a:tr h="711925">
                <a:tc>
                  <a:txBody>
                    <a:bodyPr/>
                    <a:lstStyle/>
                    <a:p>
                      <a:r>
                        <a:rPr sz="850" b="1">
                          <a:solidFill>
                            <a:srgbClr val="EEF4FA"/>
                          </a:solidFill>
                        </a:rPr>
                        <a:t>Experiment</a:t>
                      </a:r>
                    </a:p>
                  </a:txBody>
                  <a:tcPr marL="36576" marR="36576" marT="18288" marB="18288">
                    <a:solidFill>
                      <a:srgbClr val="1D344E"/>
                    </a:solidFill>
                  </a:tcPr>
                </a:tc>
                <a:tc>
                  <a:txBody>
                    <a:bodyPr/>
                    <a:lstStyle/>
                    <a:p>
                      <a:r>
                        <a:rPr sz="850" b="1">
                          <a:solidFill>
                            <a:srgbClr val="EEF4FA"/>
                          </a:solidFill>
                        </a:rPr>
                        <a:t>Dataset/suite</a:t>
                      </a:r>
                    </a:p>
                  </a:txBody>
                  <a:tcPr marL="36576" marR="36576" marT="18288" marB="18288">
                    <a:solidFill>
                      <a:srgbClr val="1D344E"/>
                    </a:solidFill>
                  </a:tcPr>
                </a:tc>
                <a:tc>
                  <a:txBody>
                    <a:bodyPr/>
                    <a:lstStyle/>
                    <a:p>
                      <a:r>
                        <a:rPr sz="850" b="1">
                          <a:solidFill>
                            <a:srgbClr val="EEF4FA"/>
                          </a:solidFill>
                        </a:rPr>
                        <a:t>Metric</a:t>
                      </a:r>
                    </a:p>
                  </a:txBody>
                  <a:tcPr marL="36576" marR="36576" marT="18288" marB="18288">
                    <a:solidFill>
                      <a:srgbClr val="1D344E"/>
                    </a:solidFill>
                  </a:tcPr>
                </a:tc>
                <a:tc>
                  <a:txBody>
                    <a:bodyPr/>
                    <a:lstStyle/>
                    <a:p>
                      <a:r>
                        <a:rPr sz="850" b="1">
                          <a:solidFill>
                            <a:srgbClr val="EEF4FA"/>
                          </a:solidFill>
                        </a:rPr>
                        <a:t>Implemented outcome</a:t>
                      </a:r>
                    </a:p>
                  </a:txBody>
                  <a:tcPr marL="36576" marR="36576" marT="18288" marB="18288">
                    <a:solidFill>
                      <a:srgbClr val="1D344E"/>
                    </a:solidFill>
                  </a:tcPr>
                </a:tc>
                <a:extLst>
                  <a:ext uri="{0D108BD9-81ED-4DB2-BD59-A6C34878D82A}">
                    <a16:rowId xmlns:a16="http://schemas.microsoft.com/office/drawing/2014/main" val="10000"/>
                  </a:ext>
                </a:extLst>
              </a:tr>
              <a:tr h="711925">
                <a:tc>
                  <a:txBody>
                    <a:bodyPr/>
                    <a:lstStyle/>
                    <a:p>
                      <a:r>
                        <a:rPr sz="850" b="0">
                          <a:solidFill>
                            <a:srgbClr val="B0C3D6"/>
                          </a:solidFill>
                        </a:rPr>
                        <a:t>Baseline saved eval</a:t>
                      </a:r>
                    </a:p>
                  </a:txBody>
                  <a:tcPr marL="36576" marR="36576" marT="18288" marB="18288">
                    <a:solidFill>
                      <a:srgbClr val="15263A"/>
                    </a:solidFill>
                  </a:tcPr>
                </a:tc>
                <a:tc>
                  <a:txBody>
                    <a:bodyPr/>
                    <a:lstStyle/>
                    <a:p>
                      <a:r>
                        <a:rPr sz="850" b="0">
                          <a:solidFill>
                            <a:srgbClr val="B0C3D6"/>
                          </a:solidFill>
                        </a:rPr>
                        <a:t>Local PropBank-derived split</a:t>
                      </a:r>
                    </a:p>
                  </a:txBody>
                  <a:tcPr marL="36576" marR="36576" marT="18288" marB="18288">
                    <a:solidFill>
                      <a:srgbClr val="15263A"/>
                    </a:solidFill>
                  </a:tcPr>
                </a:tc>
                <a:tc>
                  <a:txBody>
                    <a:bodyPr/>
                    <a:lstStyle/>
                    <a:p>
                      <a:r>
                        <a:rPr sz="850" b="0">
                          <a:solidFill>
                            <a:srgbClr val="B0C3D6"/>
                          </a:solidFill>
                        </a:rPr>
                        <a:t>QA EM / token F1</a:t>
                      </a:r>
                    </a:p>
                  </a:txBody>
                  <a:tcPr marL="36576" marR="36576" marT="18288" marB="18288">
                    <a:solidFill>
                      <a:srgbClr val="15263A"/>
                    </a:solidFill>
                  </a:tcPr>
                </a:tc>
                <a:tc>
                  <a:txBody>
                    <a:bodyPr/>
                    <a:lstStyle/>
                    <a:p>
                      <a:r>
                        <a:rPr sz="850" b="0">
                          <a:solidFill>
                            <a:srgbClr val="B0C3D6"/>
                          </a:solidFill>
                        </a:rPr>
                        <a:t>0.5184 / 0.7612</a:t>
                      </a:r>
                    </a:p>
                  </a:txBody>
                  <a:tcPr marL="36576" marR="36576" marT="18288" marB="18288">
                    <a:solidFill>
                      <a:srgbClr val="15263A"/>
                    </a:solidFill>
                  </a:tcPr>
                </a:tc>
                <a:extLst>
                  <a:ext uri="{0D108BD9-81ED-4DB2-BD59-A6C34878D82A}">
                    <a16:rowId xmlns:a16="http://schemas.microsoft.com/office/drawing/2014/main" val="10001"/>
                  </a:ext>
                </a:extLst>
              </a:tr>
              <a:tr h="711925">
                <a:tc>
                  <a:txBody>
                    <a:bodyPr/>
                    <a:lstStyle/>
                    <a:p>
                      <a:r>
                        <a:rPr sz="850" b="0">
                          <a:solidFill>
                            <a:srgbClr val="B0C3D6"/>
                          </a:solidFill>
                        </a:rPr>
                        <a:t>Baseline SRL eval</a:t>
                      </a:r>
                    </a:p>
                  </a:txBody>
                  <a:tcPr marL="36576" marR="36576" marT="18288" marB="18288">
                    <a:solidFill>
                      <a:srgbClr val="15263A"/>
                    </a:solidFill>
                  </a:tcPr>
                </a:tc>
                <a:tc>
                  <a:txBody>
                    <a:bodyPr/>
                    <a:lstStyle/>
                    <a:p>
                      <a:r>
                        <a:rPr sz="850" b="0">
                          <a:solidFill>
                            <a:srgbClr val="B0C3D6"/>
                          </a:solidFill>
                        </a:rPr>
                        <a:t>Local PropBank-derived split</a:t>
                      </a:r>
                    </a:p>
                  </a:txBody>
                  <a:tcPr marL="36576" marR="36576" marT="18288" marB="18288">
                    <a:solidFill>
                      <a:srgbClr val="15263A"/>
                    </a:solidFill>
                  </a:tcPr>
                </a:tc>
                <a:tc>
                  <a:txBody>
                    <a:bodyPr/>
                    <a:lstStyle/>
                    <a:p>
                      <a:r>
                        <a:rPr sz="850" b="0">
                          <a:solidFill>
                            <a:srgbClr val="B0C3D6"/>
                          </a:solidFill>
                        </a:rPr>
                        <a:t>SRL micro / macro F1</a:t>
                      </a:r>
                    </a:p>
                  </a:txBody>
                  <a:tcPr marL="36576" marR="36576" marT="18288" marB="18288">
                    <a:solidFill>
                      <a:srgbClr val="15263A"/>
                    </a:solidFill>
                  </a:tcPr>
                </a:tc>
                <a:tc>
                  <a:txBody>
                    <a:bodyPr/>
                    <a:lstStyle/>
                    <a:p>
                      <a:r>
                        <a:rPr sz="850" b="0">
                          <a:solidFill>
                            <a:srgbClr val="B0C3D6"/>
                          </a:solidFill>
                        </a:rPr>
                        <a:t>0.7133 / 0.1619</a:t>
                      </a:r>
                    </a:p>
                  </a:txBody>
                  <a:tcPr marL="36576" marR="36576" marT="18288" marB="18288">
                    <a:solidFill>
                      <a:srgbClr val="15263A"/>
                    </a:solidFill>
                  </a:tcPr>
                </a:tc>
                <a:extLst>
                  <a:ext uri="{0D108BD9-81ED-4DB2-BD59-A6C34878D82A}">
                    <a16:rowId xmlns:a16="http://schemas.microsoft.com/office/drawing/2014/main" val="10002"/>
                  </a:ext>
                </a:extLst>
              </a:tr>
              <a:tr h="711925">
                <a:tc>
                  <a:txBody>
                    <a:bodyPr/>
                    <a:lstStyle/>
                    <a:p>
                      <a:r>
                        <a:rPr sz="850" b="0">
                          <a:solidFill>
                            <a:srgbClr val="B0C3D6"/>
                          </a:solidFill>
                        </a:rPr>
                        <a:t>Legacy benchmark</a:t>
                      </a:r>
                    </a:p>
                  </a:txBody>
                  <a:tcPr marL="36576" marR="36576" marT="18288" marB="18288">
                    <a:solidFill>
                      <a:srgbClr val="15263A"/>
                    </a:solidFill>
                  </a:tcPr>
                </a:tc>
                <a:tc>
                  <a:txBody>
                    <a:bodyPr/>
                    <a:lstStyle/>
                    <a:p>
                      <a:r>
                        <a:rPr sz="850" b="0">
                          <a:solidFill>
                            <a:srgbClr val="B0C3D6"/>
                          </a:solidFill>
                        </a:rPr>
                        <a:t>20 challenge + 40 test subset</a:t>
                      </a:r>
                    </a:p>
                  </a:txBody>
                  <a:tcPr marL="36576" marR="36576" marT="18288" marB="18288">
                    <a:solidFill>
                      <a:srgbClr val="15263A"/>
                    </a:solidFill>
                  </a:tcPr>
                </a:tc>
                <a:tc>
                  <a:txBody>
                    <a:bodyPr/>
                    <a:lstStyle/>
                    <a:p>
                      <a:r>
                        <a:rPr sz="850" b="0">
                          <a:solidFill>
                            <a:srgbClr val="B0C3D6"/>
                          </a:solidFill>
                        </a:rPr>
                        <a:t>Token F1</a:t>
                      </a:r>
                    </a:p>
                  </a:txBody>
                  <a:tcPr marL="36576" marR="36576" marT="18288" marB="18288">
                    <a:solidFill>
                      <a:srgbClr val="15263A"/>
                    </a:solidFill>
                  </a:tcPr>
                </a:tc>
                <a:tc>
                  <a:txBody>
                    <a:bodyPr/>
                    <a:lstStyle/>
                    <a:p>
                      <a:r>
                        <a:rPr sz="850" b="0">
                          <a:solidFill>
                            <a:srgbClr val="B0C3D6"/>
                          </a:solidFill>
                        </a:rPr>
                        <a:t>Full hybrid 0.5383 combined</a:t>
                      </a:r>
                    </a:p>
                  </a:txBody>
                  <a:tcPr marL="36576" marR="36576" marT="18288" marB="18288">
                    <a:solidFill>
                      <a:srgbClr val="15263A"/>
                    </a:solidFill>
                  </a:tcPr>
                </a:tc>
                <a:extLst>
                  <a:ext uri="{0D108BD9-81ED-4DB2-BD59-A6C34878D82A}">
                    <a16:rowId xmlns:a16="http://schemas.microsoft.com/office/drawing/2014/main" val="10003"/>
                  </a:ext>
                </a:extLst>
              </a:tr>
              <a:tr h="711925">
                <a:tc>
                  <a:txBody>
                    <a:bodyPr/>
                    <a:lstStyle/>
                    <a:p>
                      <a:r>
                        <a:rPr sz="850" b="0">
                          <a:solidFill>
                            <a:srgbClr val="B0C3D6"/>
                          </a:solidFill>
                        </a:rPr>
                        <a:t>Legacy challenge</a:t>
                      </a:r>
                    </a:p>
                  </a:txBody>
                  <a:tcPr marL="36576" marR="36576" marT="18288" marB="18288">
                    <a:solidFill>
                      <a:srgbClr val="15263A"/>
                    </a:solidFill>
                  </a:tcPr>
                </a:tc>
                <a:tc>
                  <a:txBody>
                    <a:bodyPr/>
                    <a:lstStyle/>
                    <a:p>
                      <a:r>
                        <a:rPr sz="850" b="0">
                          <a:solidFill>
                            <a:srgbClr val="B0C3D6"/>
                          </a:solidFill>
                        </a:rPr>
                        <a:t>20 challenge examples</a:t>
                      </a:r>
                    </a:p>
                  </a:txBody>
                  <a:tcPr marL="36576" marR="36576" marT="18288" marB="18288">
                    <a:solidFill>
                      <a:srgbClr val="15263A"/>
                    </a:solidFill>
                  </a:tcPr>
                </a:tc>
                <a:tc>
                  <a:txBody>
                    <a:bodyPr/>
                    <a:lstStyle/>
                    <a:p>
                      <a:r>
                        <a:rPr sz="850" b="0">
                          <a:solidFill>
                            <a:srgbClr val="B0C3D6"/>
                          </a:solidFill>
                        </a:rPr>
                        <a:t>Token F1</a:t>
                      </a:r>
                    </a:p>
                  </a:txBody>
                  <a:tcPr marL="36576" marR="36576" marT="18288" marB="18288">
                    <a:solidFill>
                      <a:srgbClr val="15263A"/>
                    </a:solidFill>
                  </a:tcPr>
                </a:tc>
                <a:tc>
                  <a:txBody>
                    <a:bodyPr/>
                    <a:lstStyle/>
                    <a:p>
                      <a:r>
                        <a:rPr sz="850" b="0">
                          <a:solidFill>
                            <a:srgbClr val="B0C3D6"/>
                          </a:solidFill>
                        </a:rPr>
                        <a:t>Full hybrid 0.7798 challenge</a:t>
                      </a:r>
                    </a:p>
                  </a:txBody>
                  <a:tcPr marL="36576" marR="36576" marT="18288" marB="18288">
                    <a:solidFill>
                      <a:srgbClr val="15263A"/>
                    </a:solidFill>
                  </a:tcPr>
                </a:tc>
                <a:extLst>
                  <a:ext uri="{0D108BD9-81ED-4DB2-BD59-A6C34878D82A}">
                    <a16:rowId xmlns:a16="http://schemas.microsoft.com/office/drawing/2014/main" val="10004"/>
                  </a:ext>
                </a:extLst>
              </a:tr>
              <a:tr h="711925">
                <a:tc>
                  <a:txBody>
                    <a:bodyPr/>
                    <a:lstStyle/>
                    <a:p>
                      <a:r>
                        <a:rPr sz="850" b="0">
                          <a:solidFill>
                            <a:srgbClr val="B0C3D6"/>
                          </a:solidFill>
                        </a:rPr>
                        <a:t>RAISE seed demo</a:t>
                      </a:r>
                    </a:p>
                  </a:txBody>
                  <a:tcPr marL="36576" marR="36576" marT="18288" marB="18288">
                    <a:solidFill>
                      <a:srgbClr val="15263A"/>
                    </a:solidFill>
                  </a:tcPr>
                </a:tc>
                <a:tc>
                  <a:txBody>
                    <a:bodyPr/>
                    <a:lstStyle/>
                    <a:p>
                      <a:r>
                        <a:rPr sz="850" b="0">
                          <a:solidFill>
                            <a:srgbClr val="B0C3D6"/>
                          </a:solidFill>
                        </a:rPr>
                        <a:t>15 seed examples</a:t>
                      </a:r>
                    </a:p>
                  </a:txBody>
                  <a:tcPr marL="36576" marR="36576" marT="18288" marB="18288">
                    <a:solidFill>
                      <a:srgbClr val="15263A"/>
                    </a:solidFill>
                  </a:tcPr>
                </a:tc>
                <a:tc>
                  <a:txBody>
                    <a:bodyPr/>
                    <a:lstStyle/>
                    <a:p>
                      <a:r>
                        <a:rPr sz="850" b="0">
                          <a:solidFill>
                            <a:srgbClr val="B0C3D6"/>
                          </a:solidFill>
                        </a:rPr>
                        <a:t>EM / token F1</a:t>
                      </a:r>
                    </a:p>
                  </a:txBody>
                  <a:tcPr marL="36576" marR="36576" marT="18288" marB="18288">
                    <a:solidFill>
                      <a:srgbClr val="15263A"/>
                    </a:solidFill>
                  </a:tcPr>
                </a:tc>
                <a:tc>
                  <a:txBody>
                    <a:bodyPr/>
                    <a:lstStyle/>
                    <a:p>
                      <a:r>
                        <a:rPr sz="850" b="0">
                          <a:solidFill>
                            <a:srgbClr val="B0C3D6"/>
                          </a:solidFill>
                        </a:rPr>
                        <a:t>1.0 / 1.0 local seed only</a:t>
                      </a:r>
                    </a:p>
                  </a:txBody>
                  <a:tcPr marL="36576" marR="36576" marT="18288" marB="18288">
                    <a:solidFill>
                      <a:srgbClr val="15263A"/>
                    </a:solidFill>
                  </a:tcPr>
                </a:tc>
                <a:extLst>
                  <a:ext uri="{0D108BD9-81ED-4DB2-BD59-A6C34878D82A}">
                    <a16:rowId xmlns:a16="http://schemas.microsoft.com/office/drawing/2014/main" val="10005"/>
                  </a:ext>
                </a:extLst>
              </a:tr>
              <a:tr h="711930">
                <a:tc>
                  <a:txBody>
                    <a:bodyPr/>
                    <a:lstStyle/>
                    <a:p>
                      <a:r>
                        <a:rPr sz="850" b="0">
                          <a:solidFill>
                            <a:srgbClr val="B0C3D6"/>
                          </a:solidFill>
                        </a:rPr>
                        <a:t>All-model smoke</a:t>
                      </a:r>
                    </a:p>
                  </a:txBody>
                  <a:tcPr marL="36576" marR="36576" marT="18288" marB="18288">
                    <a:solidFill>
                      <a:srgbClr val="15263A"/>
                    </a:solidFill>
                  </a:tcPr>
                </a:tc>
                <a:tc>
                  <a:txBody>
                    <a:bodyPr/>
                    <a:lstStyle/>
                    <a:p>
                      <a:r>
                        <a:rPr sz="850" b="0">
                          <a:solidFill>
                            <a:srgbClr val="B0C3D6"/>
                          </a:solidFill>
                        </a:rPr>
                        <a:t>Courier delivery example</a:t>
                      </a:r>
                    </a:p>
                  </a:txBody>
                  <a:tcPr marL="36576" marR="36576" marT="18288" marB="18288">
                    <a:solidFill>
                      <a:srgbClr val="15263A"/>
                    </a:solidFill>
                  </a:tcPr>
                </a:tc>
                <a:tc>
                  <a:txBody>
                    <a:bodyPr/>
                    <a:lstStyle/>
                    <a:p>
                      <a:r>
                        <a:rPr sz="850" b="0">
                          <a:solidFill>
                            <a:srgbClr val="B0C3D6"/>
                          </a:solidFill>
                        </a:rPr>
                        <a:t>Answer + role</a:t>
                      </a:r>
                    </a:p>
                  </a:txBody>
                  <a:tcPr marL="36576" marR="36576" marT="18288" marB="18288">
                    <a:solidFill>
                      <a:srgbClr val="15263A"/>
                    </a:solidFill>
                  </a:tcPr>
                </a:tc>
                <a:tc>
                  <a:txBody>
                    <a:bodyPr/>
                    <a:lstStyle/>
                    <a:p>
                      <a:r>
                        <a:rPr sz="850" b="0">
                          <a:solidFill>
                            <a:srgbClr val="B0C3D6"/>
                          </a:solidFill>
                        </a:rPr>
                        <a:t>RAISE/hybrid exact, baseline overlong</a:t>
                      </a:r>
                    </a:p>
                  </a:txBody>
                  <a:tcPr marL="36576" marR="36576" marT="18288" marB="18288">
                    <a:solidFill>
                      <a:srgbClr val="15263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Baseline Metrics Plot</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731520" y="1234440"/>
            <a:ext cx="5486400" cy="4206240"/>
          </a:xfrm>
          <a:prstGeom prst="roundRect">
            <a:avLst/>
          </a:prstGeom>
          <a:solidFill>
            <a:srgbClr val="111F30"/>
          </a:solidFill>
          <a:ln>
            <a:solidFill>
              <a:srgbClr val="435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325880"/>
            <a:ext cx="5212080" cy="256032"/>
          </a:xfrm>
          <a:prstGeom prst="rect">
            <a:avLst/>
          </a:prstGeom>
          <a:noFill/>
        </p:spPr>
        <p:txBody>
          <a:bodyPr wrap="square">
            <a:normAutofit/>
          </a:bodyPr>
          <a:lstStyle/>
          <a:p>
            <a:r>
              <a:rPr sz="1100" b="1">
                <a:solidFill>
                  <a:srgbClr val="39BEBD"/>
                </a:solidFill>
              </a:rPr>
              <a:t>Saved baseline metrics</a:t>
            </a:r>
          </a:p>
        </p:txBody>
      </p:sp>
      <p:cxnSp>
        <p:nvCxnSpPr>
          <p:cNvPr id="8" name="Connector 7"/>
          <p:cNvCxnSpPr/>
          <p:nvPr/>
        </p:nvCxnSpPr>
        <p:spPr>
          <a:xfrm>
            <a:off x="1143000" y="5029200"/>
            <a:ext cx="4800600" cy="0"/>
          </a:xfrm>
          <a:prstGeom prst="line">
            <a:avLst/>
          </a:prstGeom>
          <a:ln w="19050">
            <a:solidFill>
              <a:srgbClr val="435C77"/>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143000" y="3370111"/>
            <a:ext cx="1117854" cy="165908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3141511"/>
            <a:ext cx="1117854" cy="182880"/>
          </a:xfrm>
          <a:prstGeom prst="rect">
            <a:avLst/>
          </a:prstGeom>
          <a:noFill/>
        </p:spPr>
        <p:txBody>
          <a:bodyPr wrap="square">
            <a:normAutofit/>
          </a:bodyPr>
          <a:lstStyle/>
          <a:p>
            <a:pPr algn="ctr"/>
            <a:r>
              <a:rPr sz="730" b="1">
                <a:solidFill>
                  <a:srgbClr val="EEF4FA"/>
                </a:solidFill>
              </a:rPr>
              <a:t>0.518</a:t>
            </a:r>
          </a:p>
        </p:txBody>
      </p:sp>
      <p:sp>
        <p:nvSpPr>
          <p:cNvPr id="11" name="TextBox 10"/>
          <p:cNvSpPr txBox="1"/>
          <p:nvPr/>
        </p:nvSpPr>
        <p:spPr>
          <a:xfrm>
            <a:off x="1097280" y="5074920"/>
            <a:ext cx="1209294" cy="420624"/>
          </a:xfrm>
          <a:prstGeom prst="rect">
            <a:avLst/>
          </a:prstGeom>
          <a:noFill/>
        </p:spPr>
        <p:txBody>
          <a:bodyPr wrap="square">
            <a:normAutofit/>
          </a:bodyPr>
          <a:lstStyle/>
          <a:p>
            <a:pPr algn="ctr"/>
            <a:r>
              <a:rPr sz="720" b="0">
                <a:solidFill>
                  <a:srgbClr val="B0C3D6"/>
                </a:solidFill>
              </a:rPr>
              <a:t>QA
EM</a:t>
            </a:r>
          </a:p>
        </p:txBody>
      </p:sp>
      <p:sp>
        <p:nvSpPr>
          <p:cNvPr id="12" name="Rectangle 11"/>
          <p:cNvSpPr/>
          <p:nvPr/>
        </p:nvSpPr>
        <p:spPr>
          <a:xfrm>
            <a:off x="2370582" y="2593136"/>
            <a:ext cx="1117854" cy="2436063"/>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70582" y="2364536"/>
            <a:ext cx="1117854" cy="182880"/>
          </a:xfrm>
          <a:prstGeom prst="rect">
            <a:avLst/>
          </a:prstGeom>
          <a:noFill/>
        </p:spPr>
        <p:txBody>
          <a:bodyPr wrap="square">
            <a:normAutofit/>
          </a:bodyPr>
          <a:lstStyle/>
          <a:p>
            <a:pPr algn="ctr"/>
            <a:r>
              <a:rPr sz="730" b="1">
                <a:solidFill>
                  <a:srgbClr val="EEF4FA"/>
                </a:solidFill>
              </a:rPr>
              <a:t>0.761</a:t>
            </a:r>
          </a:p>
        </p:txBody>
      </p:sp>
      <p:sp>
        <p:nvSpPr>
          <p:cNvPr id="14" name="TextBox 13"/>
          <p:cNvSpPr txBox="1"/>
          <p:nvPr/>
        </p:nvSpPr>
        <p:spPr>
          <a:xfrm>
            <a:off x="2324862" y="5074920"/>
            <a:ext cx="1209294" cy="420624"/>
          </a:xfrm>
          <a:prstGeom prst="rect">
            <a:avLst/>
          </a:prstGeom>
          <a:noFill/>
        </p:spPr>
        <p:txBody>
          <a:bodyPr wrap="square">
            <a:normAutofit/>
          </a:bodyPr>
          <a:lstStyle/>
          <a:p>
            <a:pPr algn="ctr"/>
            <a:r>
              <a:rPr sz="720" b="0">
                <a:solidFill>
                  <a:srgbClr val="B0C3D6"/>
                </a:solidFill>
              </a:rPr>
              <a:t>QA
F1</a:t>
            </a:r>
          </a:p>
        </p:txBody>
      </p:sp>
      <p:sp>
        <p:nvSpPr>
          <p:cNvPr id="15" name="Rectangle 14"/>
          <p:cNvSpPr/>
          <p:nvPr/>
        </p:nvSpPr>
        <p:spPr>
          <a:xfrm>
            <a:off x="3598163" y="2746271"/>
            <a:ext cx="1117854" cy="2282928"/>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98163" y="2517671"/>
            <a:ext cx="1117854" cy="182880"/>
          </a:xfrm>
          <a:prstGeom prst="rect">
            <a:avLst/>
          </a:prstGeom>
          <a:noFill/>
        </p:spPr>
        <p:txBody>
          <a:bodyPr wrap="square">
            <a:normAutofit/>
          </a:bodyPr>
          <a:lstStyle/>
          <a:p>
            <a:pPr algn="ctr"/>
            <a:r>
              <a:rPr sz="730" b="1">
                <a:solidFill>
                  <a:srgbClr val="EEF4FA"/>
                </a:solidFill>
              </a:rPr>
              <a:t>0.713</a:t>
            </a:r>
          </a:p>
        </p:txBody>
      </p:sp>
      <p:sp>
        <p:nvSpPr>
          <p:cNvPr id="17" name="TextBox 16"/>
          <p:cNvSpPr txBox="1"/>
          <p:nvPr/>
        </p:nvSpPr>
        <p:spPr>
          <a:xfrm>
            <a:off x="3552444" y="5074920"/>
            <a:ext cx="1209294" cy="420624"/>
          </a:xfrm>
          <a:prstGeom prst="rect">
            <a:avLst/>
          </a:prstGeom>
          <a:noFill/>
        </p:spPr>
        <p:txBody>
          <a:bodyPr wrap="square">
            <a:normAutofit/>
          </a:bodyPr>
          <a:lstStyle/>
          <a:p>
            <a:pPr algn="ctr"/>
            <a:r>
              <a:rPr sz="720" b="0">
                <a:solidFill>
                  <a:srgbClr val="B0C3D6"/>
                </a:solidFill>
              </a:rPr>
              <a:t>SRL
micro</a:t>
            </a:r>
          </a:p>
        </p:txBody>
      </p:sp>
      <p:sp>
        <p:nvSpPr>
          <p:cNvPr id="18" name="Rectangle 17"/>
          <p:cNvSpPr/>
          <p:nvPr/>
        </p:nvSpPr>
        <p:spPr>
          <a:xfrm>
            <a:off x="4825746" y="4511066"/>
            <a:ext cx="1117854" cy="518133"/>
          </a:xfrm>
          <a:prstGeom prst="rect">
            <a:avLst/>
          </a:prstGeom>
          <a:solidFill>
            <a:srgbClr val="ED5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25746" y="4282466"/>
            <a:ext cx="1117854" cy="182880"/>
          </a:xfrm>
          <a:prstGeom prst="rect">
            <a:avLst/>
          </a:prstGeom>
          <a:noFill/>
        </p:spPr>
        <p:txBody>
          <a:bodyPr wrap="square">
            <a:normAutofit/>
          </a:bodyPr>
          <a:lstStyle/>
          <a:p>
            <a:pPr algn="ctr"/>
            <a:r>
              <a:rPr sz="730" b="1">
                <a:solidFill>
                  <a:srgbClr val="EEF4FA"/>
                </a:solidFill>
              </a:rPr>
              <a:t>0.162</a:t>
            </a:r>
          </a:p>
        </p:txBody>
      </p:sp>
      <p:sp>
        <p:nvSpPr>
          <p:cNvPr id="20" name="TextBox 19"/>
          <p:cNvSpPr txBox="1"/>
          <p:nvPr/>
        </p:nvSpPr>
        <p:spPr>
          <a:xfrm>
            <a:off x="4780026" y="5074920"/>
            <a:ext cx="1209294" cy="420624"/>
          </a:xfrm>
          <a:prstGeom prst="rect">
            <a:avLst/>
          </a:prstGeom>
          <a:noFill/>
        </p:spPr>
        <p:txBody>
          <a:bodyPr wrap="square">
            <a:normAutofit/>
          </a:bodyPr>
          <a:lstStyle/>
          <a:p>
            <a:pPr algn="ctr"/>
            <a:r>
              <a:rPr sz="720" b="0">
                <a:solidFill>
                  <a:srgbClr val="B0C3D6"/>
                </a:solidFill>
              </a:rPr>
              <a:t>SRL
macro</a:t>
            </a:r>
          </a:p>
        </p:txBody>
      </p:sp>
      <p:sp>
        <p:nvSpPr>
          <p:cNvPr id="21" name="Rounded Rectangle 20"/>
          <p:cNvSpPr/>
          <p:nvPr/>
        </p:nvSpPr>
        <p:spPr>
          <a:xfrm>
            <a:off x="6492240" y="1234440"/>
            <a:ext cx="4800600" cy="4206240"/>
          </a:xfrm>
          <a:prstGeom prst="roundRect">
            <a:avLst/>
          </a:prstGeom>
          <a:solidFill>
            <a:srgbClr val="15263A"/>
          </a:solidFill>
          <a:ln>
            <a:solidFill>
              <a:srgbClr val="435C77"/>
            </a:solidFill>
          </a:ln>
        </p:spPr>
        <p:style>
          <a:lnRef idx="1">
            <a:schemeClr val="accent1"/>
          </a:lnRef>
          <a:fillRef idx="3">
            <a:schemeClr val="accent1"/>
          </a:fillRef>
          <a:effectRef idx="2">
            <a:schemeClr val="accent1"/>
          </a:effectRef>
          <a:fontRef idx="minor">
            <a:schemeClr val="lt1"/>
          </a:fontRef>
        </p:style>
        <p:txBody>
          <a:bodyPr wrap="square" lIns="146304" tIns="109728" rIns="128016" rtlCol="0" anchor="ctr"/>
          <a:lstStyle/>
          <a:p>
            <a:pPr algn="ctr"/>
            <a:r>
              <a:rPr sz="1200" b="1">
                <a:solidFill>
                  <a:srgbClr val="39BEBD"/>
                </a:solidFill>
              </a:rPr>
              <a:t>How to explain</a:t>
            </a:r>
          </a:p>
          <a:p>
            <a:pPr>
              <a:defRPr sz="1050">
                <a:solidFill>
                  <a:srgbClr val="EEF4FA"/>
                </a:solidFill>
              </a:defRPr>
            </a:pPr>
            <a:r>
              <a:t>QA token F1 is higher than exact match because partial span overlap is common.</a:t>
            </a:r>
          </a:p>
          <a:p>
            <a:pPr>
              <a:defRPr sz="1050">
                <a:solidFill>
                  <a:srgbClr val="EEF4FA"/>
                </a:solidFill>
              </a:defRPr>
            </a:pPr>
            <a:r>
              <a:t>SRL micro F1 is much higher than macro F1 because frequent roles dominate micro scoring.</a:t>
            </a:r>
          </a:p>
          <a:p>
            <a:pPr>
              <a:defRPr sz="1050">
                <a:solidFill>
                  <a:srgbClr val="EEF4FA"/>
                </a:solidFill>
              </a:defRPr>
            </a:pPr>
            <a:r>
              <a:t>Low macro F1 means rare roles are the main research problem.</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Dataset And Knowledge Coverage Plot</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594360" y="1143000"/>
            <a:ext cx="6400800" cy="4434840"/>
          </a:xfrm>
          <a:prstGeom prst="roundRect">
            <a:avLst/>
          </a:prstGeom>
          <a:solidFill>
            <a:srgbClr val="111F30"/>
          </a:solidFill>
          <a:ln>
            <a:solidFill>
              <a:srgbClr val="435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234440"/>
            <a:ext cx="6126480" cy="256032"/>
          </a:xfrm>
          <a:prstGeom prst="rect">
            <a:avLst/>
          </a:prstGeom>
          <a:noFill/>
        </p:spPr>
        <p:txBody>
          <a:bodyPr wrap="square">
            <a:normAutofit/>
          </a:bodyPr>
          <a:lstStyle/>
          <a:p>
            <a:r>
              <a:rPr sz="1100" b="1">
                <a:solidFill>
                  <a:srgbClr val="39BEBD"/>
                </a:solidFill>
              </a:rPr>
              <a:t>Normalized coverage bars</a:t>
            </a:r>
          </a:p>
        </p:txBody>
      </p:sp>
      <p:cxnSp>
        <p:nvCxnSpPr>
          <p:cNvPr id="8" name="Connector 7"/>
          <p:cNvCxnSpPr/>
          <p:nvPr/>
        </p:nvCxnSpPr>
        <p:spPr>
          <a:xfrm>
            <a:off x="1005840" y="5166359"/>
            <a:ext cx="5715000" cy="0"/>
          </a:xfrm>
          <a:prstGeom prst="line">
            <a:avLst/>
          </a:prstGeom>
          <a:ln w="19050">
            <a:solidFill>
              <a:srgbClr val="435C77"/>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005840" y="2010719"/>
            <a:ext cx="1055217" cy="3155640"/>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1782119"/>
            <a:ext cx="1055217" cy="182880"/>
          </a:xfrm>
          <a:prstGeom prst="rect">
            <a:avLst/>
          </a:prstGeom>
          <a:noFill/>
        </p:spPr>
        <p:txBody>
          <a:bodyPr wrap="square">
            <a:normAutofit/>
          </a:bodyPr>
          <a:lstStyle/>
          <a:p>
            <a:pPr algn="ctr"/>
            <a:r>
              <a:rPr sz="730" b="1">
                <a:solidFill>
                  <a:srgbClr val="EEF4FA"/>
                </a:solidFill>
              </a:rPr>
              <a:t>0.92</a:t>
            </a:r>
          </a:p>
        </p:txBody>
      </p:sp>
      <p:sp>
        <p:nvSpPr>
          <p:cNvPr id="11" name="TextBox 10"/>
          <p:cNvSpPr txBox="1"/>
          <p:nvPr/>
        </p:nvSpPr>
        <p:spPr>
          <a:xfrm>
            <a:off x="960120" y="5212079"/>
            <a:ext cx="1146657" cy="420624"/>
          </a:xfrm>
          <a:prstGeom prst="rect">
            <a:avLst/>
          </a:prstGeom>
          <a:noFill/>
        </p:spPr>
        <p:txBody>
          <a:bodyPr wrap="square">
            <a:normAutofit/>
          </a:bodyPr>
          <a:lstStyle/>
          <a:p>
            <a:pPr algn="ctr"/>
            <a:r>
              <a:rPr sz="720" b="0">
                <a:solidFill>
                  <a:srgbClr val="B0C3D6"/>
                </a:solidFill>
              </a:rPr>
              <a:t>QA
pairs</a:t>
            </a:r>
          </a:p>
        </p:txBody>
      </p:sp>
      <p:sp>
        <p:nvSpPr>
          <p:cNvPr id="12" name="Rectangle 11"/>
          <p:cNvSpPr/>
          <p:nvPr/>
        </p:nvSpPr>
        <p:spPr>
          <a:xfrm>
            <a:off x="2170785" y="2055228"/>
            <a:ext cx="1055217" cy="3111131"/>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170785" y="1826628"/>
            <a:ext cx="1055217" cy="182880"/>
          </a:xfrm>
          <a:prstGeom prst="rect">
            <a:avLst/>
          </a:prstGeom>
          <a:noFill/>
        </p:spPr>
        <p:txBody>
          <a:bodyPr wrap="square">
            <a:normAutofit/>
          </a:bodyPr>
          <a:lstStyle/>
          <a:p>
            <a:pPr algn="ctr"/>
            <a:r>
              <a:rPr sz="730" b="1">
                <a:solidFill>
                  <a:srgbClr val="EEF4FA"/>
                </a:solidFill>
              </a:rPr>
              <a:t>0.91</a:t>
            </a:r>
          </a:p>
        </p:txBody>
      </p:sp>
      <p:sp>
        <p:nvSpPr>
          <p:cNvPr id="14" name="TextBox 13"/>
          <p:cNvSpPr txBox="1"/>
          <p:nvPr/>
        </p:nvSpPr>
        <p:spPr>
          <a:xfrm>
            <a:off x="2125065" y="5212079"/>
            <a:ext cx="1146657" cy="420624"/>
          </a:xfrm>
          <a:prstGeom prst="rect">
            <a:avLst/>
          </a:prstGeom>
          <a:noFill/>
        </p:spPr>
        <p:txBody>
          <a:bodyPr wrap="square">
            <a:normAutofit/>
          </a:bodyPr>
          <a:lstStyle/>
          <a:p>
            <a:pPr algn="ctr"/>
            <a:r>
              <a:rPr sz="720" b="0">
                <a:solidFill>
                  <a:srgbClr val="B0C3D6"/>
                </a:solidFill>
              </a:rPr>
              <a:t>Usable
inst.</a:t>
            </a:r>
          </a:p>
        </p:txBody>
      </p:sp>
      <p:sp>
        <p:nvSpPr>
          <p:cNvPr id="15" name="Rectangle 14"/>
          <p:cNvSpPr/>
          <p:nvPr/>
        </p:nvSpPr>
        <p:spPr>
          <a:xfrm>
            <a:off x="3335731" y="4247388"/>
            <a:ext cx="1055217" cy="918971"/>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35731" y="4018787"/>
            <a:ext cx="1055217" cy="182880"/>
          </a:xfrm>
          <a:prstGeom prst="rect">
            <a:avLst/>
          </a:prstGeom>
          <a:noFill/>
        </p:spPr>
        <p:txBody>
          <a:bodyPr wrap="square">
            <a:normAutofit/>
          </a:bodyPr>
          <a:lstStyle/>
          <a:p>
            <a:pPr algn="ctr"/>
            <a:r>
              <a:rPr sz="730" b="1">
                <a:solidFill>
                  <a:srgbClr val="EEF4FA"/>
                </a:solidFill>
              </a:rPr>
              <a:t>0.27</a:t>
            </a:r>
          </a:p>
        </p:txBody>
      </p:sp>
      <p:sp>
        <p:nvSpPr>
          <p:cNvPr id="17" name="TextBox 16"/>
          <p:cNvSpPr txBox="1"/>
          <p:nvPr/>
        </p:nvSpPr>
        <p:spPr>
          <a:xfrm>
            <a:off x="3290011" y="5212079"/>
            <a:ext cx="1146657" cy="420624"/>
          </a:xfrm>
          <a:prstGeom prst="rect">
            <a:avLst/>
          </a:prstGeom>
          <a:noFill/>
        </p:spPr>
        <p:txBody>
          <a:bodyPr wrap="square">
            <a:normAutofit/>
          </a:bodyPr>
          <a:lstStyle/>
          <a:p>
            <a:pPr algn="ctr"/>
            <a:r>
              <a:rPr sz="720" b="0">
                <a:solidFill>
                  <a:srgbClr val="B0C3D6"/>
                </a:solidFill>
              </a:rPr>
              <a:t>Predicates</a:t>
            </a:r>
          </a:p>
        </p:txBody>
      </p:sp>
      <p:sp>
        <p:nvSpPr>
          <p:cNvPr id="18" name="Rectangle 17"/>
          <p:cNvSpPr/>
          <p:nvPr/>
        </p:nvSpPr>
        <p:spPr>
          <a:xfrm>
            <a:off x="4500676" y="4021073"/>
            <a:ext cx="1055217" cy="1145286"/>
          </a:xfrm>
          <a:prstGeom prst="rect">
            <a:avLst/>
          </a:prstGeom>
          <a:solidFill>
            <a:srgbClr val="78A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0676" y="3792473"/>
            <a:ext cx="1055217" cy="182880"/>
          </a:xfrm>
          <a:prstGeom prst="rect">
            <a:avLst/>
          </a:prstGeom>
          <a:noFill/>
        </p:spPr>
        <p:txBody>
          <a:bodyPr wrap="square">
            <a:normAutofit/>
          </a:bodyPr>
          <a:lstStyle/>
          <a:p>
            <a:pPr algn="ctr"/>
            <a:r>
              <a:rPr sz="730" b="1">
                <a:solidFill>
                  <a:srgbClr val="EEF4FA"/>
                </a:solidFill>
              </a:rPr>
              <a:t>0.33</a:t>
            </a:r>
          </a:p>
        </p:txBody>
      </p:sp>
      <p:sp>
        <p:nvSpPr>
          <p:cNvPr id="20" name="TextBox 19"/>
          <p:cNvSpPr txBox="1"/>
          <p:nvPr/>
        </p:nvSpPr>
        <p:spPr>
          <a:xfrm>
            <a:off x="4454956" y="5212079"/>
            <a:ext cx="1146657" cy="420624"/>
          </a:xfrm>
          <a:prstGeom prst="rect">
            <a:avLst/>
          </a:prstGeom>
          <a:noFill/>
        </p:spPr>
        <p:txBody>
          <a:bodyPr wrap="square">
            <a:normAutofit/>
          </a:bodyPr>
          <a:lstStyle/>
          <a:p>
            <a:pPr algn="ctr"/>
            <a:r>
              <a:rPr sz="720" b="0">
                <a:solidFill>
                  <a:srgbClr val="B0C3D6"/>
                </a:solidFill>
              </a:rPr>
              <a:t>Rolesets</a:t>
            </a:r>
          </a:p>
        </p:txBody>
      </p:sp>
      <p:sp>
        <p:nvSpPr>
          <p:cNvPr id="21" name="Rectangle 20"/>
          <p:cNvSpPr/>
          <p:nvPr/>
        </p:nvSpPr>
        <p:spPr>
          <a:xfrm>
            <a:off x="5665622" y="1971217"/>
            <a:ext cx="1055217" cy="3195142"/>
          </a:xfrm>
          <a:prstGeom prst="rect">
            <a:avLst/>
          </a:prstGeom>
          <a:solidFill>
            <a:srgbClr val="FFA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65622" y="1742617"/>
            <a:ext cx="1055217" cy="182880"/>
          </a:xfrm>
          <a:prstGeom prst="rect">
            <a:avLst/>
          </a:prstGeom>
          <a:noFill/>
        </p:spPr>
        <p:txBody>
          <a:bodyPr wrap="square">
            <a:normAutofit/>
          </a:bodyPr>
          <a:lstStyle/>
          <a:p>
            <a:pPr algn="ctr"/>
            <a:r>
              <a:rPr sz="730" b="1">
                <a:solidFill>
                  <a:srgbClr val="EEF4FA"/>
                </a:solidFill>
              </a:rPr>
              <a:t>0.93</a:t>
            </a:r>
          </a:p>
        </p:txBody>
      </p:sp>
      <p:sp>
        <p:nvSpPr>
          <p:cNvPr id="23" name="TextBox 22"/>
          <p:cNvSpPr txBox="1"/>
          <p:nvPr/>
        </p:nvSpPr>
        <p:spPr>
          <a:xfrm>
            <a:off x="5619902" y="5212079"/>
            <a:ext cx="1146657" cy="420624"/>
          </a:xfrm>
          <a:prstGeom prst="rect">
            <a:avLst/>
          </a:prstGeom>
          <a:noFill/>
        </p:spPr>
        <p:txBody>
          <a:bodyPr wrap="square">
            <a:normAutofit/>
          </a:bodyPr>
          <a:lstStyle/>
          <a:p>
            <a:pPr algn="ctr"/>
            <a:r>
              <a:rPr sz="720" b="0">
                <a:solidFill>
                  <a:srgbClr val="B0C3D6"/>
                </a:solidFill>
              </a:rPr>
              <a:t>Frame
records</a:t>
            </a:r>
          </a:p>
        </p:txBody>
      </p:sp>
      <p:graphicFrame>
        <p:nvGraphicFramePr>
          <p:cNvPr id="24" name="Table 23"/>
          <p:cNvGraphicFramePr>
            <a:graphicFrameLocks noGrp="1"/>
          </p:cNvGraphicFramePr>
          <p:nvPr/>
        </p:nvGraphicFramePr>
        <p:xfrm>
          <a:off x="7269480" y="1143000"/>
          <a:ext cx="4206240" cy="4434840"/>
        </p:xfrm>
        <a:graphic>
          <a:graphicData uri="http://schemas.openxmlformats.org/drawingml/2006/table">
            <a:tbl>
              <a:tblPr firstRow="1" bandRow="1">
                <a:tableStyleId>{5C22544A-7EE6-4342-B048-85BDC9FD1C3A}</a:tableStyleId>
              </a:tblPr>
              <a:tblGrid>
                <a:gridCol w="269748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tblGrid>
              <a:tr h="633548">
                <a:tc>
                  <a:txBody>
                    <a:bodyPr/>
                    <a:lstStyle/>
                    <a:p>
                      <a:r>
                        <a:rPr sz="919" b="1">
                          <a:solidFill>
                            <a:srgbClr val="EEF4FA"/>
                          </a:solidFill>
                        </a:rPr>
                        <a:t>Item</a:t>
                      </a:r>
                    </a:p>
                  </a:txBody>
                  <a:tcPr marL="36576" marR="36576" marT="18288" marB="18288">
                    <a:solidFill>
                      <a:srgbClr val="1D344E"/>
                    </a:solidFill>
                  </a:tcPr>
                </a:tc>
                <a:tc>
                  <a:txBody>
                    <a:bodyPr/>
                    <a:lstStyle/>
                    <a:p>
                      <a:r>
                        <a:rPr sz="919" b="1">
                          <a:solidFill>
                            <a:srgbClr val="EEF4FA"/>
                          </a:solidFill>
                        </a:rPr>
                        <a:t>Count</a:t>
                      </a:r>
                    </a:p>
                  </a:txBody>
                  <a:tcPr marL="36576" marR="36576" marT="18288" marB="18288">
                    <a:solidFill>
                      <a:srgbClr val="1D344E"/>
                    </a:solidFill>
                  </a:tcPr>
                </a:tc>
                <a:extLst>
                  <a:ext uri="{0D108BD9-81ED-4DB2-BD59-A6C34878D82A}">
                    <a16:rowId xmlns:a16="http://schemas.microsoft.com/office/drawing/2014/main" val="10000"/>
                  </a:ext>
                </a:extLst>
              </a:tr>
              <a:tr h="633548">
                <a:tc>
                  <a:txBody>
                    <a:bodyPr/>
                    <a:lstStyle/>
                    <a:p>
                      <a:r>
                        <a:rPr sz="919" b="0">
                          <a:solidFill>
                            <a:srgbClr val="B0C3D6"/>
                          </a:solidFill>
                        </a:rPr>
                        <a:t>QA pairs</a:t>
                      </a:r>
                    </a:p>
                  </a:txBody>
                  <a:tcPr marL="36576" marR="36576" marT="18288" marB="18288">
                    <a:solidFill>
                      <a:srgbClr val="15263A"/>
                    </a:solidFill>
                  </a:tcPr>
                </a:tc>
                <a:tc>
                  <a:txBody>
                    <a:bodyPr/>
                    <a:lstStyle/>
                    <a:p>
                      <a:r>
                        <a:rPr sz="919" b="0">
                          <a:solidFill>
                            <a:srgbClr val="B0C3D6"/>
                          </a:solidFill>
                        </a:rPr>
                        <a:t>23,007</a:t>
                      </a:r>
                    </a:p>
                  </a:txBody>
                  <a:tcPr marL="36576" marR="36576" marT="18288" marB="18288">
                    <a:solidFill>
                      <a:srgbClr val="15263A"/>
                    </a:solidFill>
                  </a:tcPr>
                </a:tc>
                <a:extLst>
                  <a:ext uri="{0D108BD9-81ED-4DB2-BD59-A6C34878D82A}">
                    <a16:rowId xmlns:a16="http://schemas.microsoft.com/office/drawing/2014/main" val="10001"/>
                  </a:ext>
                </a:extLst>
              </a:tr>
              <a:tr h="633548">
                <a:tc>
                  <a:txBody>
                    <a:bodyPr/>
                    <a:lstStyle/>
                    <a:p>
                      <a:r>
                        <a:rPr sz="919" b="0">
                          <a:solidFill>
                            <a:srgbClr val="B0C3D6"/>
                          </a:solidFill>
                        </a:rPr>
                        <a:t>Usable PropBank instances</a:t>
                      </a:r>
                    </a:p>
                  </a:txBody>
                  <a:tcPr marL="36576" marR="36576" marT="18288" marB="18288">
                    <a:solidFill>
                      <a:srgbClr val="15263A"/>
                    </a:solidFill>
                  </a:tcPr>
                </a:tc>
                <a:tc>
                  <a:txBody>
                    <a:bodyPr/>
                    <a:lstStyle/>
                    <a:p>
                      <a:r>
                        <a:rPr sz="919" b="0">
                          <a:solidFill>
                            <a:srgbClr val="B0C3D6"/>
                          </a:solidFill>
                        </a:rPr>
                        <a:t>9,073</a:t>
                      </a:r>
                    </a:p>
                  </a:txBody>
                  <a:tcPr marL="36576" marR="36576" marT="18288" marB="18288">
                    <a:solidFill>
                      <a:srgbClr val="15263A"/>
                    </a:solidFill>
                  </a:tcPr>
                </a:tc>
                <a:extLst>
                  <a:ext uri="{0D108BD9-81ED-4DB2-BD59-A6C34878D82A}">
                    <a16:rowId xmlns:a16="http://schemas.microsoft.com/office/drawing/2014/main" val="10002"/>
                  </a:ext>
                </a:extLst>
              </a:tr>
              <a:tr h="633548">
                <a:tc>
                  <a:txBody>
                    <a:bodyPr/>
                    <a:lstStyle/>
                    <a:p>
                      <a:r>
                        <a:rPr sz="919" b="0">
                          <a:solidFill>
                            <a:srgbClr val="B0C3D6"/>
                          </a:solidFill>
                        </a:rPr>
                        <a:t>Corpus usable instances</a:t>
                      </a:r>
                    </a:p>
                  </a:txBody>
                  <a:tcPr marL="36576" marR="36576" marT="18288" marB="18288">
                    <a:solidFill>
                      <a:srgbClr val="15263A"/>
                    </a:solidFill>
                  </a:tcPr>
                </a:tc>
                <a:tc>
                  <a:txBody>
                    <a:bodyPr/>
                    <a:lstStyle/>
                    <a:p>
                      <a:r>
                        <a:rPr sz="919" b="0">
                          <a:solidFill>
                            <a:srgbClr val="B0C3D6"/>
                          </a:solidFill>
                        </a:rPr>
                        <a:t>9,353</a:t>
                      </a:r>
                    </a:p>
                  </a:txBody>
                  <a:tcPr marL="36576" marR="36576" marT="18288" marB="18288">
                    <a:solidFill>
                      <a:srgbClr val="15263A"/>
                    </a:solidFill>
                  </a:tcPr>
                </a:tc>
                <a:extLst>
                  <a:ext uri="{0D108BD9-81ED-4DB2-BD59-A6C34878D82A}">
                    <a16:rowId xmlns:a16="http://schemas.microsoft.com/office/drawing/2014/main" val="10003"/>
                  </a:ext>
                </a:extLst>
              </a:tr>
              <a:tr h="633548">
                <a:tc>
                  <a:txBody>
                    <a:bodyPr/>
                    <a:lstStyle/>
                    <a:p>
                      <a:r>
                        <a:rPr sz="919" b="0">
                          <a:solidFill>
                            <a:srgbClr val="B0C3D6"/>
                          </a:solidFill>
                        </a:rPr>
                        <a:t>Unique predicates</a:t>
                      </a:r>
                    </a:p>
                  </a:txBody>
                  <a:tcPr marL="36576" marR="36576" marT="18288" marB="18288">
                    <a:solidFill>
                      <a:srgbClr val="15263A"/>
                    </a:solidFill>
                  </a:tcPr>
                </a:tc>
                <a:tc>
                  <a:txBody>
                    <a:bodyPr/>
                    <a:lstStyle/>
                    <a:p>
                      <a:r>
                        <a:rPr sz="919" b="0">
                          <a:solidFill>
                            <a:srgbClr val="B0C3D6"/>
                          </a:solidFill>
                        </a:rPr>
                        <a:t>1,340</a:t>
                      </a:r>
                    </a:p>
                  </a:txBody>
                  <a:tcPr marL="36576" marR="36576" marT="18288" marB="18288">
                    <a:solidFill>
                      <a:srgbClr val="15263A"/>
                    </a:solidFill>
                  </a:tcPr>
                </a:tc>
                <a:extLst>
                  <a:ext uri="{0D108BD9-81ED-4DB2-BD59-A6C34878D82A}">
                    <a16:rowId xmlns:a16="http://schemas.microsoft.com/office/drawing/2014/main" val="10004"/>
                  </a:ext>
                </a:extLst>
              </a:tr>
              <a:tr h="633548">
                <a:tc>
                  <a:txBody>
                    <a:bodyPr/>
                    <a:lstStyle/>
                    <a:p>
                      <a:r>
                        <a:rPr sz="919" b="0">
                          <a:solidFill>
                            <a:srgbClr val="B0C3D6"/>
                          </a:solidFill>
                        </a:rPr>
                        <a:t>Unique rolesets</a:t>
                      </a:r>
                    </a:p>
                  </a:txBody>
                  <a:tcPr marL="36576" marR="36576" marT="18288" marB="18288">
                    <a:solidFill>
                      <a:srgbClr val="15263A"/>
                    </a:solidFill>
                  </a:tcPr>
                </a:tc>
                <a:tc>
                  <a:txBody>
                    <a:bodyPr/>
                    <a:lstStyle/>
                    <a:p>
                      <a:r>
                        <a:rPr sz="919" b="0">
                          <a:solidFill>
                            <a:srgbClr val="B0C3D6"/>
                          </a:solidFill>
                        </a:rPr>
                        <a:t>1,670</a:t>
                      </a:r>
                    </a:p>
                  </a:txBody>
                  <a:tcPr marL="36576" marR="36576" marT="18288" marB="18288">
                    <a:solidFill>
                      <a:srgbClr val="15263A"/>
                    </a:solidFill>
                  </a:tcPr>
                </a:tc>
                <a:extLst>
                  <a:ext uri="{0D108BD9-81ED-4DB2-BD59-A6C34878D82A}">
                    <a16:rowId xmlns:a16="http://schemas.microsoft.com/office/drawing/2014/main" val="10005"/>
                  </a:ext>
                </a:extLst>
              </a:tr>
              <a:tr h="633552">
                <a:tc>
                  <a:txBody>
                    <a:bodyPr/>
                    <a:lstStyle/>
                    <a:p>
                      <a:r>
                        <a:rPr sz="919" b="0">
                          <a:solidFill>
                            <a:srgbClr val="B0C3D6"/>
                          </a:solidFill>
                        </a:rPr>
                        <a:t>RAISE frame records</a:t>
                      </a:r>
                    </a:p>
                  </a:txBody>
                  <a:tcPr marL="36576" marR="36576" marT="18288" marB="18288">
                    <a:solidFill>
                      <a:srgbClr val="15263A"/>
                    </a:solidFill>
                  </a:tcPr>
                </a:tc>
                <a:tc>
                  <a:txBody>
                    <a:bodyPr/>
                    <a:lstStyle/>
                    <a:p>
                      <a:r>
                        <a:rPr sz="919" b="0">
                          <a:solidFill>
                            <a:srgbClr val="B0C3D6"/>
                          </a:solidFill>
                        </a:rPr>
                        <a:t>4,659</a:t>
                      </a:r>
                    </a:p>
                  </a:txBody>
                  <a:tcPr marL="36576" marR="36576" marT="18288" marB="18288">
                    <a:solidFill>
                      <a:srgbClr val="15263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Accuracy Comparison: Legacy Benchmark Tracks</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594360" y="1097280"/>
            <a:ext cx="10972800" cy="4937760"/>
          </a:xfrm>
          <a:prstGeom prst="roundRect">
            <a:avLst/>
          </a:prstGeom>
          <a:solidFill>
            <a:srgbClr val="111F30"/>
          </a:solidFill>
          <a:ln>
            <a:solidFill>
              <a:srgbClr val="435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188720"/>
            <a:ext cx="10698480" cy="228600"/>
          </a:xfrm>
          <a:prstGeom prst="rect">
            <a:avLst/>
          </a:prstGeom>
          <a:noFill/>
        </p:spPr>
        <p:txBody>
          <a:bodyPr wrap="square">
            <a:normAutofit/>
          </a:bodyPr>
          <a:lstStyle/>
          <a:p>
            <a:r>
              <a:rPr sz="1050" b="1">
                <a:solidFill>
                  <a:srgbClr val="39BEBD"/>
                </a:solidFill>
              </a:rPr>
              <a:t>Combined benchmark: EM vs token F1 vs role accuracy</a:t>
            </a:r>
          </a:p>
        </p:txBody>
      </p:sp>
      <p:cxnSp>
        <p:nvCxnSpPr>
          <p:cNvPr id="8" name="Connector 7"/>
          <p:cNvCxnSpPr/>
          <p:nvPr/>
        </p:nvCxnSpPr>
        <p:spPr>
          <a:xfrm>
            <a:off x="1005840" y="5522976"/>
            <a:ext cx="10195560" cy="0"/>
          </a:xfrm>
          <a:prstGeom prst="line">
            <a:avLst/>
          </a:prstGeom>
          <a:ln w="19050">
            <a:solidFill>
              <a:srgbClr val="435C77"/>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115568" y="5209032"/>
            <a:ext cx="486067" cy="313944"/>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708333" y="4157561"/>
            <a:ext cx="486067" cy="1365414"/>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301098" y="4455566"/>
            <a:ext cx="486067" cy="1067409"/>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568696"/>
            <a:ext cx="2548890" cy="411480"/>
          </a:xfrm>
          <a:prstGeom prst="rect">
            <a:avLst/>
          </a:prstGeom>
          <a:noFill/>
        </p:spPr>
        <p:txBody>
          <a:bodyPr wrap="square">
            <a:normAutofit/>
          </a:bodyPr>
          <a:lstStyle/>
          <a:p>
            <a:pPr algn="ctr"/>
            <a:r>
              <a:rPr sz="680" b="0">
                <a:solidFill>
                  <a:srgbClr val="B0C3D6"/>
                </a:solidFill>
              </a:rPr>
              <a:t>Classical\nbaseline</a:t>
            </a:r>
          </a:p>
        </p:txBody>
      </p:sp>
      <p:sp>
        <p:nvSpPr>
          <p:cNvPr id="13" name="Rectangle 12"/>
          <p:cNvSpPr/>
          <p:nvPr/>
        </p:nvSpPr>
        <p:spPr>
          <a:xfrm>
            <a:off x="3664458" y="4267200"/>
            <a:ext cx="486067" cy="1255776"/>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57223" y="3494919"/>
            <a:ext cx="486067" cy="2028056"/>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849988" y="2760268"/>
            <a:ext cx="486067" cy="2762707"/>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54730" y="5568696"/>
            <a:ext cx="2548890" cy="411480"/>
          </a:xfrm>
          <a:prstGeom prst="rect">
            <a:avLst/>
          </a:prstGeom>
          <a:noFill/>
        </p:spPr>
        <p:txBody>
          <a:bodyPr wrap="square">
            <a:normAutofit/>
          </a:bodyPr>
          <a:lstStyle/>
          <a:p>
            <a:pPr algn="ctr"/>
            <a:r>
              <a:rPr sz="680" b="0">
                <a:solidFill>
                  <a:srgbClr val="B0C3D6"/>
                </a:solidFill>
              </a:rPr>
              <a:t>Heuristic\nreranker</a:t>
            </a:r>
          </a:p>
        </p:txBody>
      </p:sp>
      <p:sp>
        <p:nvSpPr>
          <p:cNvPr id="17" name="Rectangle 16"/>
          <p:cNvSpPr/>
          <p:nvPr/>
        </p:nvSpPr>
        <p:spPr>
          <a:xfrm>
            <a:off x="6213348" y="4267200"/>
            <a:ext cx="486067" cy="1255776"/>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806113" y="3494919"/>
            <a:ext cx="486067" cy="2028056"/>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98878" y="2760268"/>
            <a:ext cx="486067" cy="2762707"/>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03620" y="5568696"/>
            <a:ext cx="2548890" cy="411480"/>
          </a:xfrm>
          <a:prstGeom prst="rect">
            <a:avLst/>
          </a:prstGeom>
          <a:noFill/>
        </p:spPr>
        <p:txBody>
          <a:bodyPr wrap="square">
            <a:normAutofit/>
          </a:bodyPr>
          <a:lstStyle/>
          <a:p>
            <a:pPr algn="ctr"/>
            <a:r>
              <a:rPr sz="680" b="0">
                <a:solidFill>
                  <a:srgbClr val="B0C3D6"/>
                </a:solidFill>
              </a:rPr>
              <a:t>Transformer\nassist</a:t>
            </a:r>
          </a:p>
        </p:txBody>
      </p:sp>
      <p:sp>
        <p:nvSpPr>
          <p:cNvPr id="21" name="Rectangle 20"/>
          <p:cNvSpPr/>
          <p:nvPr/>
        </p:nvSpPr>
        <p:spPr>
          <a:xfrm>
            <a:off x="8762238" y="4267200"/>
            <a:ext cx="486067" cy="1255776"/>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355003" y="3494919"/>
            <a:ext cx="486067" cy="2028056"/>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947768" y="2760268"/>
            <a:ext cx="486067" cy="2762707"/>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52510" y="5568696"/>
            <a:ext cx="2548890" cy="411480"/>
          </a:xfrm>
          <a:prstGeom prst="rect">
            <a:avLst/>
          </a:prstGeom>
          <a:noFill/>
        </p:spPr>
        <p:txBody>
          <a:bodyPr wrap="square">
            <a:normAutofit/>
          </a:bodyPr>
          <a:lstStyle/>
          <a:p>
            <a:pPr algn="ctr"/>
            <a:r>
              <a:rPr sz="680" b="0">
                <a:solidFill>
                  <a:srgbClr val="B0C3D6"/>
                </a:solidFill>
              </a:rPr>
              <a:t>Full\nhybrid</a:t>
            </a:r>
          </a:p>
        </p:txBody>
      </p:sp>
      <p:sp>
        <p:nvSpPr>
          <p:cNvPr id="25" name="Rectangle 24"/>
          <p:cNvSpPr/>
          <p:nvPr/>
        </p:nvSpPr>
        <p:spPr>
          <a:xfrm>
            <a:off x="1051560" y="5742432"/>
            <a:ext cx="137160" cy="13716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234439" y="5724144"/>
            <a:ext cx="1325880" cy="164592"/>
          </a:xfrm>
          <a:prstGeom prst="rect">
            <a:avLst/>
          </a:prstGeom>
          <a:noFill/>
        </p:spPr>
        <p:txBody>
          <a:bodyPr wrap="square">
            <a:normAutofit/>
          </a:bodyPr>
          <a:lstStyle/>
          <a:p>
            <a:r>
              <a:rPr sz="720" b="0">
                <a:solidFill>
                  <a:srgbClr val="B0C3D6"/>
                </a:solidFill>
              </a:rPr>
              <a:t>EM</a:t>
            </a:r>
          </a:p>
        </p:txBody>
      </p:sp>
      <p:sp>
        <p:nvSpPr>
          <p:cNvPr id="27" name="Rectangle 26"/>
          <p:cNvSpPr/>
          <p:nvPr/>
        </p:nvSpPr>
        <p:spPr>
          <a:xfrm>
            <a:off x="2697480" y="5742432"/>
            <a:ext cx="137160" cy="137160"/>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880360" y="5724144"/>
            <a:ext cx="1325880" cy="164592"/>
          </a:xfrm>
          <a:prstGeom prst="rect">
            <a:avLst/>
          </a:prstGeom>
          <a:noFill/>
        </p:spPr>
        <p:txBody>
          <a:bodyPr wrap="square">
            <a:normAutofit/>
          </a:bodyPr>
          <a:lstStyle/>
          <a:p>
            <a:r>
              <a:rPr sz="720" b="0">
                <a:solidFill>
                  <a:srgbClr val="B0C3D6"/>
                </a:solidFill>
              </a:rPr>
              <a:t>Token F1</a:t>
            </a:r>
          </a:p>
        </p:txBody>
      </p:sp>
      <p:sp>
        <p:nvSpPr>
          <p:cNvPr id="29" name="Rectangle 28"/>
          <p:cNvSpPr/>
          <p:nvPr/>
        </p:nvSpPr>
        <p:spPr>
          <a:xfrm>
            <a:off x="4343400" y="5742432"/>
            <a:ext cx="137160" cy="137160"/>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26280" y="5724144"/>
            <a:ext cx="1325880" cy="164592"/>
          </a:xfrm>
          <a:prstGeom prst="rect">
            <a:avLst/>
          </a:prstGeom>
          <a:noFill/>
        </p:spPr>
        <p:txBody>
          <a:bodyPr wrap="square">
            <a:normAutofit/>
          </a:bodyPr>
          <a:lstStyle/>
          <a:p>
            <a:r>
              <a:rPr sz="720" b="0">
                <a:solidFill>
                  <a:srgbClr val="B0C3D6"/>
                </a:solidFill>
              </a:rPr>
              <a:t>Role Acc.</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Challenge vs Test-Subset F1</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594360" y="1097280"/>
            <a:ext cx="10972800" cy="4937760"/>
          </a:xfrm>
          <a:prstGeom prst="roundRect">
            <a:avLst/>
          </a:prstGeom>
          <a:solidFill>
            <a:srgbClr val="111F30"/>
          </a:solidFill>
          <a:ln>
            <a:solidFill>
              <a:srgbClr val="435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188720"/>
            <a:ext cx="10698480" cy="228600"/>
          </a:xfrm>
          <a:prstGeom prst="rect">
            <a:avLst/>
          </a:prstGeom>
          <a:noFill/>
        </p:spPr>
        <p:txBody>
          <a:bodyPr wrap="square">
            <a:normAutofit/>
          </a:bodyPr>
          <a:lstStyle/>
          <a:p>
            <a:r>
              <a:rPr sz="1050" b="1">
                <a:solidFill>
                  <a:srgbClr val="39BEBD"/>
                </a:solidFill>
              </a:rPr>
              <a:t>Token F1 split comparison</a:t>
            </a:r>
          </a:p>
        </p:txBody>
      </p:sp>
      <p:cxnSp>
        <p:nvCxnSpPr>
          <p:cNvPr id="8" name="Connector 7"/>
          <p:cNvCxnSpPr/>
          <p:nvPr/>
        </p:nvCxnSpPr>
        <p:spPr>
          <a:xfrm>
            <a:off x="1005840" y="5522976"/>
            <a:ext cx="10195560" cy="0"/>
          </a:xfrm>
          <a:prstGeom prst="line">
            <a:avLst/>
          </a:prstGeom>
          <a:ln w="19050">
            <a:solidFill>
              <a:srgbClr val="435C77"/>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115568" y="3751815"/>
            <a:ext cx="486067" cy="177116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708333" y="4360435"/>
            <a:ext cx="486067" cy="1162540"/>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301098" y="4157561"/>
            <a:ext cx="486067" cy="1365414"/>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568696"/>
            <a:ext cx="2548890" cy="411480"/>
          </a:xfrm>
          <a:prstGeom prst="rect">
            <a:avLst/>
          </a:prstGeom>
          <a:noFill/>
        </p:spPr>
        <p:txBody>
          <a:bodyPr wrap="square">
            <a:normAutofit/>
          </a:bodyPr>
          <a:lstStyle/>
          <a:p>
            <a:pPr algn="ctr"/>
            <a:r>
              <a:rPr sz="680" b="0">
                <a:solidFill>
                  <a:srgbClr val="B0C3D6"/>
                </a:solidFill>
              </a:rPr>
              <a:t>Classical\nbaseline</a:t>
            </a:r>
          </a:p>
        </p:txBody>
      </p:sp>
      <p:sp>
        <p:nvSpPr>
          <p:cNvPr id="13" name="Rectangle 12"/>
          <p:cNvSpPr/>
          <p:nvPr/>
        </p:nvSpPr>
        <p:spPr>
          <a:xfrm>
            <a:off x="3664458" y="2585357"/>
            <a:ext cx="486067" cy="293761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57223" y="3949700"/>
            <a:ext cx="486067" cy="1573275"/>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849988" y="3494919"/>
            <a:ext cx="486067" cy="2028056"/>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54730" y="5568696"/>
            <a:ext cx="2548890" cy="411480"/>
          </a:xfrm>
          <a:prstGeom prst="rect">
            <a:avLst/>
          </a:prstGeom>
          <a:noFill/>
        </p:spPr>
        <p:txBody>
          <a:bodyPr wrap="square">
            <a:normAutofit/>
          </a:bodyPr>
          <a:lstStyle/>
          <a:p>
            <a:pPr algn="ctr"/>
            <a:r>
              <a:rPr sz="680" b="0">
                <a:solidFill>
                  <a:srgbClr val="B0C3D6"/>
                </a:solidFill>
              </a:rPr>
              <a:t>Heuristic\nreranker</a:t>
            </a:r>
          </a:p>
        </p:txBody>
      </p:sp>
      <p:sp>
        <p:nvSpPr>
          <p:cNvPr id="17" name="Rectangle 16"/>
          <p:cNvSpPr/>
          <p:nvPr/>
        </p:nvSpPr>
        <p:spPr>
          <a:xfrm>
            <a:off x="6213348" y="2585357"/>
            <a:ext cx="486067" cy="293761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806113" y="3949700"/>
            <a:ext cx="486067" cy="1573275"/>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98878" y="3494919"/>
            <a:ext cx="486067" cy="2028056"/>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03620" y="5568696"/>
            <a:ext cx="2548890" cy="411480"/>
          </a:xfrm>
          <a:prstGeom prst="rect">
            <a:avLst/>
          </a:prstGeom>
          <a:noFill/>
        </p:spPr>
        <p:txBody>
          <a:bodyPr wrap="square">
            <a:normAutofit/>
          </a:bodyPr>
          <a:lstStyle/>
          <a:p>
            <a:pPr algn="ctr"/>
            <a:r>
              <a:rPr sz="680" b="0">
                <a:solidFill>
                  <a:srgbClr val="B0C3D6"/>
                </a:solidFill>
              </a:rPr>
              <a:t>Transformer\nassist</a:t>
            </a:r>
          </a:p>
        </p:txBody>
      </p:sp>
      <p:sp>
        <p:nvSpPr>
          <p:cNvPr id="21" name="Rectangle 20"/>
          <p:cNvSpPr/>
          <p:nvPr/>
        </p:nvSpPr>
        <p:spPr>
          <a:xfrm>
            <a:off x="8762238" y="2585357"/>
            <a:ext cx="486067" cy="293761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355003" y="3949700"/>
            <a:ext cx="486067" cy="1573275"/>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947768" y="3494919"/>
            <a:ext cx="486067" cy="2028056"/>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52510" y="5568696"/>
            <a:ext cx="2548890" cy="411480"/>
          </a:xfrm>
          <a:prstGeom prst="rect">
            <a:avLst/>
          </a:prstGeom>
          <a:noFill/>
        </p:spPr>
        <p:txBody>
          <a:bodyPr wrap="square">
            <a:normAutofit/>
          </a:bodyPr>
          <a:lstStyle/>
          <a:p>
            <a:pPr algn="ctr"/>
            <a:r>
              <a:rPr sz="680" b="0">
                <a:solidFill>
                  <a:srgbClr val="B0C3D6"/>
                </a:solidFill>
              </a:rPr>
              <a:t>Full\nhybrid</a:t>
            </a:r>
          </a:p>
        </p:txBody>
      </p:sp>
      <p:sp>
        <p:nvSpPr>
          <p:cNvPr id="25" name="Rectangle 24"/>
          <p:cNvSpPr/>
          <p:nvPr/>
        </p:nvSpPr>
        <p:spPr>
          <a:xfrm>
            <a:off x="1051560" y="5742432"/>
            <a:ext cx="137160" cy="13716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234439" y="5724144"/>
            <a:ext cx="1325880" cy="164592"/>
          </a:xfrm>
          <a:prstGeom prst="rect">
            <a:avLst/>
          </a:prstGeom>
          <a:noFill/>
        </p:spPr>
        <p:txBody>
          <a:bodyPr wrap="square">
            <a:normAutofit/>
          </a:bodyPr>
          <a:lstStyle/>
          <a:p>
            <a:r>
              <a:rPr sz="720" b="0">
                <a:solidFill>
                  <a:srgbClr val="B0C3D6"/>
                </a:solidFill>
              </a:rPr>
              <a:t>Challenge</a:t>
            </a:r>
          </a:p>
        </p:txBody>
      </p:sp>
      <p:sp>
        <p:nvSpPr>
          <p:cNvPr id="27" name="Rectangle 26"/>
          <p:cNvSpPr/>
          <p:nvPr/>
        </p:nvSpPr>
        <p:spPr>
          <a:xfrm>
            <a:off x="2697480" y="5742432"/>
            <a:ext cx="137160" cy="137160"/>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880360" y="5724144"/>
            <a:ext cx="1325880" cy="164592"/>
          </a:xfrm>
          <a:prstGeom prst="rect">
            <a:avLst/>
          </a:prstGeom>
          <a:noFill/>
        </p:spPr>
        <p:txBody>
          <a:bodyPr wrap="square">
            <a:normAutofit/>
          </a:bodyPr>
          <a:lstStyle/>
          <a:p>
            <a:r>
              <a:rPr sz="720" b="0">
                <a:solidFill>
                  <a:srgbClr val="B0C3D6"/>
                </a:solidFill>
              </a:rPr>
              <a:t>Test subset</a:t>
            </a:r>
          </a:p>
        </p:txBody>
      </p:sp>
      <p:sp>
        <p:nvSpPr>
          <p:cNvPr id="29" name="Rectangle 28"/>
          <p:cNvSpPr/>
          <p:nvPr/>
        </p:nvSpPr>
        <p:spPr>
          <a:xfrm>
            <a:off x="4343400" y="5742432"/>
            <a:ext cx="137160" cy="137160"/>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26280" y="5724144"/>
            <a:ext cx="1325880" cy="164592"/>
          </a:xfrm>
          <a:prstGeom prst="rect">
            <a:avLst/>
          </a:prstGeom>
          <a:noFill/>
        </p:spPr>
        <p:txBody>
          <a:bodyPr wrap="square">
            <a:normAutofit/>
          </a:bodyPr>
          <a:lstStyle/>
          <a:p>
            <a:r>
              <a:rPr sz="720" b="0">
                <a:solidFill>
                  <a:srgbClr val="B0C3D6"/>
                </a:solidFill>
              </a:rPr>
              <a:t>Combined</a:t>
            </a:r>
          </a:p>
        </p:txBody>
      </p:sp>
      <p:sp>
        <p:nvSpPr>
          <p:cNvPr id="31" name="TextBox 30"/>
          <p:cNvSpPr txBox="1"/>
          <p:nvPr/>
        </p:nvSpPr>
        <p:spPr>
          <a:xfrm>
            <a:off x="914400" y="5715000"/>
            <a:ext cx="10332720" cy="320040"/>
          </a:xfrm>
          <a:prstGeom prst="rect">
            <a:avLst/>
          </a:prstGeom>
          <a:noFill/>
        </p:spPr>
        <p:txBody>
          <a:bodyPr wrap="square">
            <a:normAutofit/>
          </a:bodyPr>
          <a:lstStyle/>
          <a:p>
            <a:pPr algn="ctr"/>
            <a:r>
              <a:rPr sz="1150" b="1">
                <a:solidFill>
                  <a:srgbClr val="FFA94D"/>
                </a:solidFill>
              </a:rPr>
              <a:t>Interpretation: challenge examples reward the rule/hybrid improvements more than the mixed test subset.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Role Accuracy By Track</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lnSpcReduction="10000"/>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731520" y="1234440"/>
            <a:ext cx="5486400" cy="4251960"/>
          </a:xfrm>
          <a:prstGeom prst="roundRect">
            <a:avLst/>
          </a:prstGeom>
          <a:solidFill>
            <a:srgbClr val="111F30"/>
          </a:solidFill>
          <a:ln>
            <a:solidFill>
              <a:srgbClr val="435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325880"/>
            <a:ext cx="5212080" cy="256032"/>
          </a:xfrm>
          <a:prstGeom prst="rect">
            <a:avLst/>
          </a:prstGeom>
          <a:noFill/>
        </p:spPr>
        <p:txBody>
          <a:bodyPr wrap="square">
            <a:normAutofit lnSpcReduction="10000"/>
          </a:bodyPr>
          <a:lstStyle/>
          <a:p>
            <a:r>
              <a:rPr sz="1100" b="1">
                <a:solidFill>
                  <a:srgbClr val="39BEBD"/>
                </a:solidFill>
              </a:rPr>
              <a:t>Combined role accuracy</a:t>
            </a:r>
          </a:p>
        </p:txBody>
      </p:sp>
      <p:cxnSp>
        <p:nvCxnSpPr>
          <p:cNvPr id="8" name="Connector 7"/>
          <p:cNvCxnSpPr/>
          <p:nvPr/>
        </p:nvCxnSpPr>
        <p:spPr>
          <a:xfrm>
            <a:off x="1143000" y="5074920"/>
            <a:ext cx="4800600" cy="0"/>
          </a:xfrm>
          <a:prstGeom prst="line">
            <a:avLst/>
          </a:prstGeom>
          <a:ln w="19050">
            <a:solidFill>
              <a:srgbClr val="435C77"/>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143000" y="4155186"/>
            <a:ext cx="1117854" cy="919734"/>
          </a:xfrm>
          <a:prstGeom prst="rect">
            <a:avLst/>
          </a:prstGeom>
          <a:solidFill>
            <a:srgbClr val="ED5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3926586"/>
            <a:ext cx="1117854" cy="182880"/>
          </a:xfrm>
          <a:prstGeom prst="rect">
            <a:avLst/>
          </a:prstGeom>
          <a:noFill/>
        </p:spPr>
        <p:txBody>
          <a:bodyPr wrap="square">
            <a:normAutofit fontScale="92500" lnSpcReduction="20000"/>
          </a:bodyPr>
          <a:lstStyle/>
          <a:p>
            <a:pPr algn="ctr"/>
            <a:r>
              <a:rPr sz="730" b="1">
                <a:solidFill>
                  <a:srgbClr val="EEF4FA"/>
                </a:solidFill>
              </a:rPr>
              <a:t>0.283</a:t>
            </a:r>
          </a:p>
        </p:txBody>
      </p:sp>
      <p:sp>
        <p:nvSpPr>
          <p:cNvPr id="11" name="TextBox 10"/>
          <p:cNvSpPr txBox="1"/>
          <p:nvPr/>
        </p:nvSpPr>
        <p:spPr>
          <a:xfrm>
            <a:off x="1097280" y="5120640"/>
            <a:ext cx="1209294" cy="420624"/>
          </a:xfrm>
          <a:prstGeom prst="rect">
            <a:avLst/>
          </a:prstGeom>
          <a:noFill/>
        </p:spPr>
        <p:txBody>
          <a:bodyPr wrap="square">
            <a:normAutofit/>
          </a:bodyPr>
          <a:lstStyle/>
          <a:p>
            <a:pPr algn="ctr"/>
            <a:r>
              <a:rPr sz="720" b="0">
                <a:solidFill>
                  <a:srgbClr val="B0C3D6"/>
                </a:solidFill>
              </a:rPr>
              <a:t>Classical\nbaseline</a:t>
            </a:r>
          </a:p>
        </p:txBody>
      </p:sp>
      <p:sp>
        <p:nvSpPr>
          <p:cNvPr id="12" name="Rectangle 11"/>
          <p:cNvSpPr/>
          <p:nvPr/>
        </p:nvSpPr>
        <p:spPr>
          <a:xfrm>
            <a:off x="2370582" y="2694432"/>
            <a:ext cx="1117854" cy="2380488"/>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70582" y="2465832"/>
            <a:ext cx="1117854" cy="182880"/>
          </a:xfrm>
          <a:prstGeom prst="rect">
            <a:avLst/>
          </a:prstGeom>
          <a:noFill/>
        </p:spPr>
        <p:txBody>
          <a:bodyPr wrap="square">
            <a:normAutofit fontScale="92500" lnSpcReduction="20000"/>
          </a:bodyPr>
          <a:lstStyle/>
          <a:p>
            <a:pPr algn="ctr"/>
            <a:r>
              <a:rPr sz="730" b="1">
                <a:solidFill>
                  <a:srgbClr val="EEF4FA"/>
                </a:solidFill>
              </a:rPr>
              <a:t>0.733</a:t>
            </a:r>
          </a:p>
        </p:txBody>
      </p:sp>
      <p:sp>
        <p:nvSpPr>
          <p:cNvPr id="14" name="TextBox 13"/>
          <p:cNvSpPr txBox="1"/>
          <p:nvPr/>
        </p:nvSpPr>
        <p:spPr>
          <a:xfrm>
            <a:off x="2324862" y="5120640"/>
            <a:ext cx="1209294" cy="420624"/>
          </a:xfrm>
          <a:prstGeom prst="rect">
            <a:avLst/>
          </a:prstGeom>
          <a:noFill/>
        </p:spPr>
        <p:txBody>
          <a:bodyPr wrap="square">
            <a:normAutofit/>
          </a:bodyPr>
          <a:lstStyle/>
          <a:p>
            <a:pPr algn="ctr"/>
            <a:r>
              <a:rPr sz="720" b="0">
                <a:solidFill>
                  <a:srgbClr val="B0C3D6"/>
                </a:solidFill>
              </a:rPr>
              <a:t>Heuristic\nreranker</a:t>
            </a:r>
          </a:p>
        </p:txBody>
      </p:sp>
      <p:sp>
        <p:nvSpPr>
          <p:cNvPr id="15" name="Rectangle 14"/>
          <p:cNvSpPr/>
          <p:nvPr/>
        </p:nvSpPr>
        <p:spPr>
          <a:xfrm>
            <a:off x="3598163" y="2694432"/>
            <a:ext cx="1117854" cy="2380488"/>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98163" y="2465832"/>
            <a:ext cx="1117854" cy="182880"/>
          </a:xfrm>
          <a:prstGeom prst="rect">
            <a:avLst/>
          </a:prstGeom>
          <a:noFill/>
        </p:spPr>
        <p:txBody>
          <a:bodyPr wrap="square">
            <a:normAutofit fontScale="92500" lnSpcReduction="20000"/>
          </a:bodyPr>
          <a:lstStyle/>
          <a:p>
            <a:pPr algn="ctr"/>
            <a:r>
              <a:rPr sz="730" b="1">
                <a:solidFill>
                  <a:srgbClr val="EEF4FA"/>
                </a:solidFill>
              </a:rPr>
              <a:t>0.733</a:t>
            </a:r>
          </a:p>
        </p:txBody>
      </p:sp>
      <p:sp>
        <p:nvSpPr>
          <p:cNvPr id="17" name="TextBox 16"/>
          <p:cNvSpPr txBox="1"/>
          <p:nvPr/>
        </p:nvSpPr>
        <p:spPr>
          <a:xfrm>
            <a:off x="3552444" y="5120640"/>
            <a:ext cx="1209294" cy="420624"/>
          </a:xfrm>
          <a:prstGeom prst="rect">
            <a:avLst/>
          </a:prstGeom>
          <a:noFill/>
        </p:spPr>
        <p:txBody>
          <a:bodyPr wrap="square">
            <a:normAutofit/>
          </a:bodyPr>
          <a:lstStyle/>
          <a:p>
            <a:pPr algn="ctr"/>
            <a:r>
              <a:rPr sz="720" b="0">
                <a:solidFill>
                  <a:srgbClr val="B0C3D6"/>
                </a:solidFill>
              </a:rPr>
              <a:t>Transformer\nassist</a:t>
            </a:r>
          </a:p>
        </p:txBody>
      </p:sp>
      <p:sp>
        <p:nvSpPr>
          <p:cNvPr id="18" name="Rectangle 17"/>
          <p:cNvSpPr/>
          <p:nvPr/>
        </p:nvSpPr>
        <p:spPr>
          <a:xfrm>
            <a:off x="4825746" y="2694432"/>
            <a:ext cx="1117854" cy="2380488"/>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25746" y="2465832"/>
            <a:ext cx="1117854" cy="182880"/>
          </a:xfrm>
          <a:prstGeom prst="rect">
            <a:avLst/>
          </a:prstGeom>
          <a:noFill/>
        </p:spPr>
        <p:txBody>
          <a:bodyPr wrap="square">
            <a:normAutofit fontScale="92500" lnSpcReduction="20000"/>
          </a:bodyPr>
          <a:lstStyle/>
          <a:p>
            <a:pPr algn="ctr"/>
            <a:r>
              <a:rPr sz="730" b="1">
                <a:solidFill>
                  <a:srgbClr val="EEF4FA"/>
                </a:solidFill>
              </a:rPr>
              <a:t>0.733</a:t>
            </a:r>
          </a:p>
        </p:txBody>
      </p:sp>
      <p:sp>
        <p:nvSpPr>
          <p:cNvPr id="20" name="TextBox 19"/>
          <p:cNvSpPr txBox="1"/>
          <p:nvPr/>
        </p:nvSpPr>
        <p:spPr>
          <a:xfrm>
            <a:off x="4780026" y="5120640"/>
            <a:ext cx="1209294" cy="420624"/>
          </a:xfrm>
          <a:prstGeom prst="rect">
            <a:avLst/>
          </a:prstGeom>
          <a:noFill/>
        </p:spPr>
        <p:txBody>
          <a:bodyPr wrap="square">
            <a:normAutofit/>
          </a:bodyPr>
          <a:lstStyle/>
          <a:p>
            <a:pPr algn="ctr"/>
            <a:r>
              <a:rPr sz="720" b="0">
                <a:solidFill>
                  <a:srgbClr val="B0C3D6"/>
                </a:solidFill>
              </a:rPr>
              <a:t>Full\nhybrid</a:t>
            </a:r>
          </a:p>
        </p:txBody>
      </p:sp>
      <p:sp>
        <p:nvSpPr>
          <p:cNvPr id="21" name="Rounded Rectangle 20"/>
          <p:cNvSpPr/>
          <p:nvPr/>
        </p:nvSpPr>
        <p:spPr>
          <a:xfrm>
            <a:off x="6446520" y="1234440"/>
            <a:ext cx="5074920" cy="4251960"/>
          </a:xfrm>
          <a:prstGeom prst="roundRect">
            <a:avLst/>
          </a:prstGeom>
          <a:solidFill>
            <a:srgbClr val="111F30"/>
          </a:solidFill>
          <a:ln>
            <a:solidFill>
              <a:srgbClr val="435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0" y="1325880"/>
            <a:ext cx="4800600" cy="256032"/>
          </a:xfrm>
          <a:prstGeom prst="rect">
            <a:avLst/>
          </a:prstGeom>
          <a:noFill/>
        </p:spPr>
        <p:txBody>
          <a:bodyPr wrap="square">
            <a:normAutofit lnSpcReduction="10000"/>
          </a:bodyPr>
          <a:lstStyle/>
          <a:p>
            <a:r>
              <a:rPr sz="1100" b="1">
                <a:solidFill>
                  <a:srgbClr val="39BEBD"/>
                </a:solidFill>
              </a:rPr>
              <a:t>Challenge role accuracy</a:t>
            </a:r>
          </a:p>
        </p:txBody>
      </p:sp>
      <p:cxnSp>
        <p:nvCxnSpPr>
          <p:cNvPr id="23" name="Connector 22"/>
          <p:cNvCxnSpPr/>
          <p:nvPr/>
        </p:nvCxnSpPr>
        <p:spPr>
          <a:xfrm>
            <a:off x="6858000" y="5074920"/>
            <a:ext cx="4389120" cy="0"/>
          </a:xfrm>
          <a:prstGeom prst="line">
            <a:avLst/>
          </a:prstGeom>
          <a:ln w="19050">
            <a:solidFill>
              <a:srgbClr val="435C77"/>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858000" y="4425696"/>
            <a:ext cx="1014983" cy="649224"/>
          </a:xfrm>
          <a:prstGeom prst="rect">
            <a:avLst/>
          </a:prstGeom>
          <a:solidFill>
            <a:srgbClr val="FFA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58000" y="4197096"/>
            <a:ext cx="1014983" cy="182880"/>
          </a:xfrm>
          <a:prstGeom prst="rect">
            <a:avLst/>
          </a:prstGeom>
          <a:noFill/>
        </p:spPr>
        <p:txBody>
          <a:bodyPr wrap="square">
            <a:normAutofit fontScale="92500" lnSpcReduction="20000"/>
          </a:bodyPr>
          <a:lstStyle/>
          <a:p>
            <a:pPr algn="ctr"/>
            <a:r>
              <a:rPr sz="730" b="1">
                <a:solidFill>
                  <a:srgbClr val="EEF4FA"/>
                </a:solidFill>
              </a:rPr>
              <a:t>0.200</a:t>
            </a:r>
          </a:p>
        </p:txBody>
      </p:sp>
      <p:sp>
        <p:nvSpPr>
          <p:cNvPr id="26" name="TextBox 25"/>
          <p:cNvSpPr txBox="1"/>
          <p:nvPr/>
        </p:nvSpPr>
        <p:spPr>
          <a:xfrm>
            <a:off x="6812280" y="5120640"/>
            <a:ext cx="1106424" cy="420624"/>
          </a:xfrm>
          <a:prstGeom prst="rect">
            <a:avLst/>
          </a:prstGeom>
          <a:noFill/>
        </p:spPr>
        <p:txBody>
          <a:bodyPr wrap="square">
            <a:normAutofit/>
          </a:bodyPr>
          <a:lstStyle/>
          <a:p>
            <a:pPr algn="ctr"/>
            <a:r>
              <a:rPr sz="720" b="0">
                <a:solidFill>
                  <a:srgbClr val="B0C3D6"/>
                </a:solidFill>
              </a:rPr>
              <a:t>Classical\nbaseline</a:t>
            </a:r>
          </a:p>
        </p:txBody>
      </p:sp>
      <p:sp>
        <p:nvSpPr>
          <p:cNvPr id="27" name="Rectangle 26"/>
          <p:cNvSpPr/>
          <p:nvPr/>
        </p:nvSpPr>
        <p:spPr>
          <a:xfrm>
            <a:off x="7982712" y="1828800"/>
            <a:ext cx="1014983" cy="3246120"/>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982712" y="1600200"/>
            <a:ext cx="1014983" cy="182880"/>
          </a:xfrm>
          <a:prstGeom prst="rect">
            <a:avLst/>
          </a:prstGeom>
          <a:noFill/>
        </p:spPr>
        <p:txBody>
          <a:bodyPr wrap="square">
            <a:normAutofit fontScale="92500" lnSpcReduction="20000"/>
          </a:bodyPr>
          <a:lstStyle/>
          <a:p>
            <a:pPr algn="ctr"/>
            <a:r>
              <a:rPr sz="730" b="1" dirty="0">
                <a:solidFill>
                  <a:srgbClr val="EEF4FA"/>
                </a:solidFill>
              </a:rPr>
              <a:t>1.000</a:t>
            </a:r>
          </a:p>
        </p:txBody>
      </p:sp>
      <p:sp>
        <p:nvSpPr>
          <p:cNvPr id="29" name="TextBox 28"/>
          <p:cNvSpPr txBox="1"/>
          <p:nvPr/>
        </p:nvSpPr>
        <p:spPr>
          <a:xfrm>
            <a:off x="7936992" y="5120640"/>
            <a:ext cx="1106424" cy="420624"/>
          </a:xfrm>
          <a:prstGeom prst="rect">
            <a:avLst/>
          </a:prstGeom>
          <a:noFill/>
        </p:spPr>
        <p:txBody>
          <a:bodyPr wrap="square">
            <a:normAutofit/>
          </a:bodyPr>
          <a:lstStyle/>
          <a:p>
            <a:pPr algn="ctr"/>
            <a:r>
              <a:rPr sz="720" b="0">
                <a:solidFill>
                  <a:srgbClr val="B0C3D6"/>
                </a:solidFill>
              </a:rPr>
              <a:t>Heuristic\nreranker</a:t>
            </a:r>
          </a:p>
        </p:txBody>
      </p:sp>
      <p:sp>
        <p:nvSpPr>
          <p:cNvPr id="30" name="Rectangle 29"/>
          <p:cNvSpPr/>
          <p:nvPr/>
        </p:nvSpPr>
        <p:spPr>
          <a:xfrm>
            <a:off x="9107424" y="1828800"/>
            <a:ext cx="1014983" cy="3246120"/>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07424" y="1600200"/>
            <a:ext cx="1014983" cy="182880"/>
          </a:xfrm>
          <a:prstGeom prst="rect">
            <a:avLst/>
          </a:prstGeom>
          <a:noFill/>
        </p:spPr>
        <p:txBody>
          <a:bodyPr wrap="square">
            <a:normAutofit fontScale="92500" lnSpcReduction="20000"/>
          </a:bodyPr>
          <a:lstStyle/>
          <a:p>
            <a:pPr algn="ctr"/>
            <a:r>
              <a:rPr sz="730" b="1">
                <a:solidFill>
                  <a:srgbClr val="EEF4FA"/>
                </a:solidFill>
              </a:rPr>
              <a:t>1.000</a:t>
            </a:r>
          </a:p>
        </p:txBody>
      </p:sp>
      <p:sp>
        <p:nvSpPr>
          <p:cNvPr id="32" name="TextBox 31"/>
          <p:cNvSpPr txBox="1"/>
          <p:nvPr/>
        </p:nvSpPr>
        <p:spPr>
          <a:xfrm>
            <a:off x="9061704" y="5120640"/>
            <a:ext cx="1106424" cy="420624"/>
          </a:xfrm>
          <a:prstGeom prst="rect">
            <a:avLst/>
          </a:prstGeom>
          <a:noFill/>
        </p:spPr>
        <p:txBody>
          <a:bodyPr wrap="square">
            <a:normAutofit/>
          </a:bodyPr>
          <a:lstStyle/>
          <a:p>
            <a:pPr algn="ctr"/>
            <a:r>
              <a:rPr sz="720" b="0">
                <a:solidFill>
                  <a:srgbClr val="B0C3D6"/>
                </a:solidFill>
              </a:rPr>
              <a:t>Transformer\nassist</a:t>
            </a:r>
          </a:p>
        </p:txBody>
      </p:sp>
      <p:sp>
        <p:nvSpPr>
          <p:cNvPr id="33" name="Rectangle 32"/>
          <p:cNvSpPr/>
          <p:nvPr/>
        </p:nvSpPr>
        <p:spPr>
          <a:xfrm>
            <a:off x="10232136" y="1828800"/>
            <a:ext cx="1014983" cy="3246120"/>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232136" y="1600200"/>
            <a:ext cx="1014983" cy="182880"/>
          </a:xfrm>
          <a:prstGeom prst="rect">
            <a:avLst/>
          </a:prstGeom>
          <a:noFill/>
        </p:spPr>
        <p:txBody>
          <a:bodyPr wrap="square">
            <a:normAutofit fontScale="92500" lnSpcReduction="20000"/>
          </a:bodyPr>
          <a:lstStyle/>
          <a:p>
            <a:pPr algn="ctr"/>
            <a:r>
              <a:rPr sz="730" b="1">
                <a:solidFill>
                  <a:srgbClr val="EEF4FA"/>
                </a:solidFill>
              </a:rPr>
              <a:t>1.000</a:t>
            </a:r>
          </a:p>
        </p:txBody>
      </p:sp>
      <p:sp>
        <p:nvSpPr>
          <p:cNvPr id="35" name="TextBox 34"/>
          <p:cNvSpPr txBox="1"/>
          <p:nvPr/>
        </p:nvSpPr>
        <p:spPr>
          <a:xfrm>
            <a:off x="10186415" y="5120640"/>
            <a:ext cx="1106424" cy="420624"/>
          </a:xfrm>
          <a:prstGeom prst="rect">
            <a:avLst/>
          </a:prstGeom>
          <a:noFill/>
        </p:spPr>
        <p:txBody>
          <a:bodyPr wrap="square">
            <a:normAutofit/>
          </a:bodyPr>
          <a:lstStyle/>
          <a:p>
            <a:pPr algn="ctr"/>
            <a:r>
              <a:rPr sz="720" b="0">
                <a:solidFill>
                  <a:srgbClr val="B0C3D6"/>
                </a:solidFill>
              </a:rPr>
              <a:t>Full\nhybrid</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Latency vs Accuracy Tradeoff</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685800" y="1143000"/>
            <a:ext cx="6766560" cy="4709160"/>
          </a:xfrm>
          <a:prstGeom prst="roundRect">
            <a:avLst/>
          </a:prstGeom>
          <a:solidFill>
            <a:srgbClr val="111F30"/>
          </a:solidFill>
          <a:ln>
            <a:solidFill>
              <a:srgbClr val="435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261872"/>
            <a:ext cx="6400800" cy="228600"/>
          </a:xfrm>
          <a:prstGeom prst="rect">
            <a:avLst/>
          </a:prstGeom>
          <a:noFill/>
        </p:spPr>
        <p:txBody>
          <a:bodyPr wrap="square">
            <a:normAutofit/>
          </a:bodyPr>
          <a:lstStyle/>
          <a:p>
            <a:r>
              <a:rPr sz="1100" b="1">
                <a:solidFill>
                  <a:srgbClr val="39BEBD"/>
                </a:solidFill>
              </a:rPr>
              <a:t>Combined token F1 vs mean latency</a:t>
            </a:r>
          </a:p>
        </p:txBody>
      </p:sp>
      <p:cxnSp>
        <p:nvCxnSpPr>
          <p:cNvPr id="8" name="Connector 7"/>
          <p:cNvCxnSpPr/>
          <p:nvPr/>
        </p:nvCxnSpPr>
        <p:spPr>
          <a:xfrm>
            <a:off x="1143000" y="5257800"/>
            <a:ext cx="5760720" cy="0"/>
          </a:xfrm>
          <a:prstGeom prst="line">
            <a:avLst/>
          </a:prstGeom>
          <a:ln w="19050">
            <a:solidFill>
              <a:srgbClr val="435C77"/>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43000" y="1691640"/>
            <a:ext cx="0" cy="3566160"/>
          </a:xfrm>
          <a:prstGeom prst="line">
            <a:avLst/>
          </a:prstGeom>
          <a:ln w="19050">
            <a:solidFill>
              <a:srgbClr val="435C77"/>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128373" y="3958426"/>
            <a:ext cx="146304" cy="146304"/>
          </a:xfrm>
          <a:prstGeom prst="ellipse">
            <a:avLst/>
          </a:prstGeom>
          <a:solidFill>
            <a:srgbClr val="ED5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74677" y="3958426"/>
            <a:ext cx="1051560" cy="164592"/>
          </a:xfrm>
          <a:prstGeom prst="rect">
            <a:avLst/>
          </a:prstGeom>
          <a:noFill/>
        </p:spPr>
        <p:txBody>
          <a:bodyPr wrap="square">
            <a:normAutofit/>
          </a:bodyPr>
          <a:lstStyle/>
          <a:p>
            <a:r>
              <a:rPr sz="720" b="0">
                <a:solidFill>
                  <a:srgbClr val="B0C3D6"/>
                </a:solidFill>
              </a:rPr>
              <a:t>Classical</a:t>
            </a:r>
          </a:p>
        </p:txBody>
      </p:sp>
      <p:sp>
        <p:nvSpPr>
          <p:cNvPr id="12" name="Oval 11"/>
          <p:cNvSpPr/>
          <p:nvPr/>
        </p:nvSpPr>
        <p:spPr>
          <a:xfrm>
            <a:off x="1143491" y="3363334"/>
            <a:ext cx="146304" cy="146304"/>
          </a:xfrm>
          <a:prstGeom prst="ellipse">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89795" y="3363334"/>
            <a:ext cx="1051560" cy="164592"/>
          </a:xfrm>
          <a:prstGeom prst="rect">
            <a:avLst/>
          </a:prstGeom>
          <a:noFill/>
        </p:spPr>
        <p:txBody>
          <a:bodyPr wrap="square">
            <a:normAutofit/>
          </a:bodyPr>
          <a:lstStyle/>
          <a:p>
            <a:r>
              <a:rPr sz="720" b="0">
                <a:solidFill>
                  <a:srgbClr val="B0C3D6"/>
                </a:solidFill>
              </a:rPr>
              <a:t>Heuristic</a:t>
            </a:r>
          </a:p>
        </p:txBody>
      </p:sp>
      <p:sp>
        <p:nvSpPr>
          <p:cNvPr id="14" name="Oval 13"/>
          <p:cNvSpPr/>
          <p:nvPr/>
        </p:nvSpPr>
        <p:spPr>
          <a:xfrm>
            <a:off x="5343746" y="3363334"/>
            <a:ext cx="146304" cy="146304"/>
          </a:xfrm>
          <a:prstGeom prst="ellipse">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90050" y="3363334"/>
            <a:ext cx="1051560" cy="164592"/>
          </a:xfrm>
          <a:prstGeom prst="rect">
            <a:avLst/>
          </a:prstGeom>
          <a:noFill/>
        </p:spPr>
        <p:txBody>
          <a:bodyPr wrap="square">
            <a:normAutofit/>
          </a:bodyPr>
          <a:lstStyle/>
          <a:p>
            <a:r>
              <a:rPr sz="720" b="0">
                <a:solidFill>
                  <a:srgbClr val="B0C3D6"/>
                </a:solidFill>
              </a:rPr>
              <a:t>Transformer</a:t>
            </a:r>
          </a:p>
        </p:txBody>
      </p:sp>
      <p:sp>
        <p:nvSpPr>
          <p:cNvPr id="16" name="Oval 15"/>
          <p:cNvSpPr/>
          <p:nvPr/>
        </p:nvSpPr>
        <p:spPr>
          <a:xfrm>
            <a:off x="6647688" y="3363334"/>
            <a:ext cx="146304" cy="146304"/>
          </a:xfrm>
          <a:prstGeom prst="ellipse">
            <a:avLst/>
          </a:prstGeom>
          <a:solidFill>
            <a:srgbClr val="78A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93992" y="3363334"/>
            <a:ext cx="1051560" cy="164592"/>
          </a:xfrm>
          <a:prstGeom prst="rect">
            <a:avLst/>
          </a:prstGeom>
          <a:noFill/>
        </p:spPr>
        <p:txBody>
          <a:bodyPr wrap="square">
            <a:normAutofit/>
          </a:bodyPr>
          <a:lstStyle/>
          <a:p>
            <a:r>
              <a:rPr sz="720" b="0">
                <a:solidFill>
                  <a:srgbClr val="B0C3D6"/>
                </a:solidFill>
              </a:rPr>
              <a:t>Full</a:t>
            </a:r>
          </a:p>
        </p:txBody>
      </p:sp>
      <p:graphicFrame>
        <p:nvGraphicFramePr>
          <p:cNvPr id="18" name="Table 17"/>
          <p:cNvGraphicFramePr>
            <a:graphicFrameLocks noGrp="1"/>
          </p:cNvGraphicFramePr>
          <p:nvPr/>
        </p:nvGraphicFramePr>
        <p:xfrm>
          <a:off x="7726679" y="1143000"/>
          <a:ext cx="3657600" cy="47091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941832">
                <a:tc>
                  <a:txBody>
                    <a:bodyPr/>
                    <a:lstStyle/>
                    <a:p>
                      <a:r>
                        <a:rPr sz="840" b="1">
                          <a:solidFill>
                            <a:srgbClr val="EEF4FA"/>
                          </a:solidFill>
                        </a:rPr>
                        <a:t>Track</a:t>
                      </a:r>
                    </a:p>
                  </a:txBody>
                  <a:tcPr marL="36576" marR="36576" marT="18288" marB="18288">
                    <a:solidFill>
                      <a:srgbClr val="1D344E"/>
                    </a:solidFill>
                  </a:tcPr>
                </a:tc>
                <a:tc>
                  <a:txBody>
                    <a:bodyPr/>
                    <a:lstStyle/>
                    <a:p>
                      <a:r>
                        <a:rPr sz="840" b="1">
                          <a:solidFill>
                            <a:srgbClr val="EEF4FA"/>
                          </a:solidFill>
                        </a:rPr>
                        <a:t>F1</a:t>
                      </a:r>
                    </a:p>
                  </a:txBody>
                  <a:tcPr marL="36576" marR="36576" marT="18288" marB="18288">
                    <a:solidFill>
                      <a:srgbClr val="1D344E"/>
                    </a:solidFill>
                  </a:tcPr>
                </a:tc>
                <a:tc>
                  <a:txBody>
                    <a:bodyPr/>
                    <a:lstStyle/>
                    <a:p>
                      <a:r>
                        <a:rPr sz="840" b="1">
                          <a:solidFill>
                            <a:srgbClr val="EEF4FA"/>
                          </a:solidFill>
                        </a:rPr>
                        <a:t>Latency</a:t>
                      </a:r>
                    </a:p>
                  </a:txBody>
                  <a:tcPr marL="36576" marR="36576" marT="18288" marB="18288">
                    <a:solidFill>
                      <a:srgbClr val="1D344E"/>
                    </a:solidFill>
                  </a:tcPr>
                </a:tc>
                <a:extLst>
                  <a:ext uri="{0D108BD9-81ED-4DB2-BD59-A6C34878D82A}">
                    <a16:rowId xmlns:a16="http://schemas.microsoft.com/office/drawing/2014/main" val="10000"/>
                  </a:ext>
                </a:extLst>
              </a:tr>
              <a:tr h="941832">
                <a:tc>
                  <a:txBody>
                    <a:bodyPr/>
                    <a:lstStyle/>
                    <a:p>
                      <a:r>
                        <a:rPr sz="840" b="0">
                          <a:solidFill>
                            <a:srgbClr val="B0C3D6"/>
                          </a:solidFill>
                        </a:rPr>
                        <a:t>Classical baseline</a:t>
                      </a:r>
                    </a:p>
                  </a:txBody>
                  <a:tcPr marL="36576" marR="36576" marT="18288" marB="18288">
                    <a:solidFill>
                      <a:srgbClr val="15263A"/>
                    </a:solidFill>
                  </a:tcPr>
                </a:tc>
                <a:tc>
                  <a:txBody>
                    <a:bodyPr/>
                    <a:lstStyle/>
                    <a:p>
                      <a:r>
                        <a:rPr sz="840" b="0">
                          <a:solidFill>
                            <a:srgbClr val="B0C3D6"/>
                          </a:solidFill>
                        </a:rPr>
                        <a:t>0.362</a:t>
                      </a:r>
                    </a:p>
                  </a:txBody>
                  <a:tcPr marL="36576" marR="36576" marT="18288" marB="18288">
                    <a:solidFill>
                      <a:srgbClr val="15263A"/>
                    </a:solidFill>
                  </a:tcPr>
                </a:tc>
                <a:tc>
                  <a:txBody>
                    <a:bodyPr/>
                    <a:lstStyle/>
                    <a:p>
                      <a:r>
                        <a:rPr sz="840" b="0">
                          <a:solidFill>
                            <a:srgbClr val="B0C3D6"/>
                          </a:solidFill>
                        </a:rPr>
                        <a:t>4.0 ms</a:t>
                      </a:r>
                    </a:p>
                  </a:txBody>
                  <a:tcPr marL="36576" marR="36576" marT="18288" marB="18288">
                    <a:solidFill>
                      <a:srgbClr val="15263A"/>
                    </a:solidFill>
                  </a:tcPr>
                </a:tc>
                <a:extLst>
                  <a:ext uri="{0D108BD9-81ED-4DB2-BD59-A6C34878D82A}">
                    <a16:rowId xmlns:a16="http://schemas.microsoft.com/office/drawing/2014/main" val="10001"/>
                  </a:ext>
                </a:extLst>
              </a:tr>
              <a:tr h="941832">
                <a:tc>
                  <a:txBody>
                    <a:bodyPr/>
                    <a:lstStyle/>
                    <a:p>
                      <a:r>
                        <a:rPr sz="840" b="0">
                          <a:solidFill>
                            <a:srgbClr val="B0C3D6"/>
                          </a:solidFill>
                        </a:rPr>
                        <a:t>Heuristic reranker</a:t>
                      </a:r>
                    </a:p>
                  </a:txBody>
                  <a:tcPr marL="36576" marR="36576" marT="18288" marB="18288">
                    <a:solidFill>
                      <a:srgbClr val="15263A"/>
                    </a:solidFill>
                  </a:tcPr>
                </a:tc>
                <a:tc>
                  <a:txBody>
                    <a:bodyPr/>
                    <a:lstStyle/>
                    <a:p>
                      <a:r>
                        <a:rPr sz="840" b="0">
                          <a:solidFill>
                            <a:srgbClr val="B0C3D6"/>
                          </a:solidFill>
                        </a:rPr>
                        <a:t>0.538</a:t>
                      </a:r>
                    </a:p>
                  </a:txBody>
                  <a:tcPr marL="36576" marR="36576" marT="18288" marB="18288">
                    <a:solidFill>
                      <a:srgbClr val="15263A"/>
                    </a:solidFill>
                  </a:tcPr>
                </a:tc>
                <a:tc>
                  <a:txBody>
                    <a:bodyPr/>
                    <a:lstStyle/>
                    <a:p>
                      <a:r>
                        <a:rPr sz="840" b="0">
                          <a:solidFill>
                            <a:srgbClr val="B0C3D6"/>
                          </a:solidFill>
                        </a:rPr>
                        <a:t>5.0 ms</a:t>
                      </a:r>
                    </a:p>
                  </a:txBody>
                  <a:tcPr marL="36576" marR="36576" marT="18288" marB="18288">
                    <a:solidFill>
                      <a:srgbClr val="15263A"/>
                    </a:solidFill>
                  </a:tcPr>
                </a:tc>
                <a:extLst>
                  <a:ext uri="{0D108BD9-81ED-4DB2-BD59-A6C34878D82A}">
                    <a16:rowId xmlns:a16="http://schemas.microsoft.com/office/drawing/2014/main" val="10002"/>
                  </a:ext>
                </a:extLst>
              </a:tr>
              <a:tr h="941832">
                <a:tc>
                  <a:txBody>
                    <a:bodyPr/>
                    <a:lstStyle/>
                    <a:p>
                      <a:r>
                        <a:rPr sz="840" b="0">
                          <a:solidFill>
                            <a:srgbClr val="B0C3D6"/>
                          </a:solidFill>
                        </a:rPr>
                        <a:t>Transformer assist</a:t>
                      </a:r>
                    </a:p>
                  </a:txBody>
                  <a:tcPr marL="36576" marR="36576" marT="18288" marB="18288">
                    <a:solidFill>
                      <a:srgbClr val="15263A"/>
                    </a:solidFill>
                  </a:tcPr>
                </a:tc>
                <a:tc>
                  <a:txBody>
                    <a:bodyPr/>
                    <a:lstStyle/>
                    <a:p>
                      <a:r>
                        <a:rPr sz="840" b="0">
                          <a:solidFill>
                            <a:srgbClr val="B0C3D6"/>
                          </a:solidFill>
                        </a:rPr>
                        <a:t>0.538</a:t>
                      </a:r>
                    </a:p>
                  </a:txBody>
                  <a:tcPr marL="36576" marR="36576" marT="18288" marB="18288">
                    <a:solidFill>
                      <a:srgbClr val="15263A"/>
                    </a:solidFill>
                  </a:tcPr>
                </a:tc>
                <a:tc>
                  <a:txBody>
                    <a:bodyPr/>
                    <a:lstStyle/>
                    <a:p>
                      <a:r>
                        <a:rPr sz="840" b="0">
                          <a:solidFill>
                            <a:srgbClr val="B0C3D6"/>
                          </a:solidFill>
                        </a:rPr>
                        <a:t>289.0 ms</a:t>
                      </a:r>
                    </a:p>
                  </a:txBody>
                  <a:tcPr marL="36576" marR="36576" marT="18288" marB="18288">
                    <a:solidFill>
                      <a:srgbClr val="15263A"/>
                    </a:solidFill>
                  </a:tcPr>
                </a:tc>
                <a:extLst>
                  <a:ext uri="{0D108BD9-81ED-4DB2-BD59-A6C34878D82A}">
                    <a16:rowId xmlns:a16="http://schemas.microsoft.com/office/drawing/2014/main" val="10003"/>
                  </a:ext>
                </a:extLst>
              </a:tr>
              <a:tr h="941832">
                <a:tc>
                  <a:txBody>
                    <a:bodyPr/>
                    <a:lstStyle/>
                    <a:p>
                      <a:r>
                        <a:rPr sz="840" b="0">
                          <a:solidFill>
                            <a:srgbClr val="B0C3D6"/>
                          </a:solidFill>
                        </a:rPr>
                        <a:t>Full hybrid</a:t>
                      </a:r>
                    </a:p>
                  </a:txBody>
                  <a:tcPr marL="36576" marR="36576" marT="18288" marB="18288">
                    <a:solidFill>
                      <a:srgbClr val="15263A"/>
                    </a:solidFill>
                  </a:tcPr>
                </a:tc>
                <a:tc>
                  <a:txBody>
                    <a:bodyPr/>
                    <a:lstStyle/>
                    <a:p>
                      <a:r>
                        <a:rPr sz="840" b="0">
                          <a:solidFill>
                            <a:srgbClr val="B0C3D6"/>
                          </a:solidFill>
                        </a:rPr>
                        <a:t>0.538</a:t>
                      </a:r>
                    </a:p>
                  </a:txBody>
                  <a:tcPr marL="36576" marR="36576" marT="18288" marB="18288">
                    <a:solidFill>
                      <a:srgbClr val="15263A"/>
                    </a:solidFill>
                  </a:tcPr>
                </a:tc>
                <a:tc>
                  <a:txBody>
                    <a:bodyPr/>
                    <a:lstStyle/>
                    <a:p>
                      <a:r>
                        <a:rPr sz="840" b="0">
                          <a:solidFill>
                            <a:srgbClr val="B0C3D6"/>
                          </a:solidFill>
                        </a:rPr>
                        <a:t>377.1 ms</a:t>
                      </a:r>
                    </a:p>
                  </a:txBody>
                  <a:tcPr marL="36576" marR="36576" marT="18288" marB="18288">
                    <a:solidFill>
                      <a:srgbClr val="15263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All-Model Demo Confidence Plot</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731520" y="1097280"/>
            <a:ext cx="5852160" cy="4389120"/>
          </a:xfrm>
          <a:prstGeom prst="roundRect">
            <a:avLst/>
          </a:prstGeom>
          <a:solidFill>
            <a:srgbClr val="111F30"/>
          </a:solidFill>
          <a:ln>
            <a:solidFill>
              <a:srgbClr val="435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188720"/>
            <a:ext cx="5577840" cy="256032"/>
          </a:xfrm>
          <a:prstGeom prst="rect">
            <a:avLst/>
          </a:prstGeom>
          <a:noFill/>
        </p:spPr>
        <p:txBody>
          <a:bodyPr wrap="square">
            <a:normAutofit/>
          </a:bodyPr>
          <a:lstStyle/>
          <a:p>
            <a:r>
              <a:rPr sz="1100" b="1">
                <a:solidFill>
                  <a:srgbClr val="39BEBD"/>
                </a:solidFill>
              </a:rPr>
              <a:t>Courier demo confidence</a:t>
            </a:r>
          </a:p>
        </p:txBody>
      </p:sp>
      <p:cxnSp>
        <p:nvCxnSpPr>
          <p:cNvPr id="8" name="Connector 7"/>
          <p:cNvCxnSpPr/>
          <p:nvPr/>
        </p:nvCxnSpPr>
        <p:spPr>
          <a:xfrm>
            <a:off x="1143000" y="5074920"/>
            <a:ext cx="5166360" cy="0"/>
          </a:xfrm>
          <a:prstGeom prst="line">
            <a:avLst/>
          </a:prstGeom>
          <a:ln w="19050">
            <a:solidFill>
              <a:srgbClr val="435C77"/>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143000" y="1706864"/>
            <a:ext cx="1209294" cy="3368055"/>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1478264"/>
            <a:ext cx="1209294" cy="182880"/>
          </a:xfrm>
          <a:prstGeom prst="rect">
            <a:avLst/>
          </a:prstGeom>
          <a:noFill/>
        </p:spPr>
        <p:txBody>
          <a:bodyPr wrap="square">
            <a:normAutofit/>
          </a:bodyPr>
          <a:lstStyle/>
          <a:p>
            <a:pPr algn="ctr"/>
            <a:r>
              <a:rPr sz="730" b="1">
                <a:solidFill>
                  <a:srgbClr val="EEF4FA"/>
                </a:solidFill>
              </a:rPr>
              <a:t>0.996</a:t>
            </a:r>
          </a:p>
        </p:txBody>
      </p:sp>
      <p:sp>
        <p:nvSpPr>
          <p:cNvPr id="11" name="TextBox 10"/>
          <p:cNvSpPr txBox="1"/>
          <p:nvPr/>
        </p:nvSpPr>
        <p:spPr>
          <a:xfrm>
            <a:off x="1097280" y="5120640"/>
            <a:ext cx="1300734" cy="420624"/>
          </a:xfrm>
          <a:prstGeom prst="rect">
            <a:avLst/>
          </a:prstGeom>
          <a:noFill/>
        </p:spPr>
        <p:txBody>
          <a:bodyPr wrap="square">
            <a:normAutofit/>
          </a:bodyPr>
          <a:lstStyle/>
          <a:p>
            <a:pPr algn="ctr"/>
            <a:r>
              <a:rPr sz="720" b="0">
                <a:solidFill>
                  <a:srgbClr val="B0C3D6"/>
                </a:solidFill>
              </a:rPr>
              <a:t>RAISE
fast</a:t>
            </a:r>
          </a:p>
        </p:txBody>
      </p:sp>
      <p:sp>
        <p:nvSpPr>
          <p:cNvPr id="12" name="Rectangle 11"/>
          <p:cNvSpPr/>
          <p:nvPr/>
        </p:nvSpPr>
        <p:spPr>
          <a:xfrm>
            <a:off x="2462022" y="1706864"/>
            <a:ext cx="1209294" cy="3368055"/>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62022" y="1478264"/>
            <a:ext cx="1209294" cy="182880"/>
          </a:xfrm>
          <a:prstGeom prst="rect">
            <a:avLst/>
          </a:prstGeom>
          <a:noFill/>
        </p:spPr>
        <p:txBody>
          <a:bodyPr wrap="square">
            <a:normAutofit/>
          </a:bodyPr>
          <a:lstStyle/>
          <a:p>
            <a:pPr algn="ctr"/>
            <a:r>
              <a:rPr sz="730" b="1">
                <a:solidFill>
                  <a:srgbClr val="EEF4FA"/>
                </a:solidFill>
              </a:rPr>
              <a:t>0.996</a:t>
            </a:r>
          </a:p>
        </p:txBody>
      </p:sp>
      <p:sp>
        <p:nvSpPr>
          <p:cNvPr id="14" name="TextBox 13"/>
          <p:cNvSpPr txBox="1"/>
          <p:nvPr/>
        </p:nvSpPr>
        <p:spPr>
          <a:xfrm>
            <a:off x="2416302" y="5120640"/>
            <a:ext cx="1300734" cy="420624"/>
          </a:xfrm>
          <a:prstGeom prst="rect">
            <a:avLst/>
          </a:prstGeom>
          <a:noFill/>
        </p:spPr>
        <p:txBody>
          <a:bodyPr wrap="square">
            <a:normAutofit/>
          </a:bodyPr>
          <a:lstStyle/>
          <a:p>
            <a:pPr algn="ctr"/>
            <a:r>
              <a:rPr sz="720" b="0">
                <a:solidFill>
                  <a:srgbClr val="B0C3D6"/>
                </a:solidFill>
              </a:rPr>
              <a:t>RAISE
model</a:t>
            </a:r>
          </a:p>
        </p:txBody>
      </p:sp>
      <p:sp>
        <p:nvSpPr>
          <p:cNvPr id="15" name="Rectangle 14"/>
          <p:cNvSpPr/>
          <p:nvPr/>
        </p:nvSpPr>
        <p:spPr>
          <a:xfrm>
            <a:off x="3781044" y="2849060"/>
            <a:ext cx="1209294" cy="2225859"/>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81044" y="2620460"/>
            <a:ext cx="1209294" cy="182880"/>
          </a:xfrm>
          <a:prstGeom prst="rect">
            <a:avLst/>
          </a:prstGeom>
          <a:noFill/>
        </p:spPr>
        <p:txBody>
          <a:bodyPr wrap="square">
            <a:normAutofit/>
          </a:bodyPr>
          <a:lstStyle/>
          <a:p>
            <a:pPr algn="ctr"/>
            <a:r>
              <a:rPr sz="730" b="1">
                <a:solidFill>
                  <a:srgbClr val="EEF4FA"/>
                </a:solidFill>
              </a:rPr>
              <a:t>0.658</a:t>
            </a:r>
          </a:p>
        </p:txBody>
      </p:sp>
      <p:sp>
        <p:nvSpPr>
          <p:cNvPr id="17" name="TextBox 16"/>
          <p:cNvSpPr txBox="1"/>
          <p:nvPr/>
        </p:nvSpPr>
        <p:spPr>
          <a:xfrm>
            <a:off x="3735324" y="5120640"/>
            <a:ext cx="1300734" cy="420624"/>
          </a:xfrm>
          <a:prstGeom prst="rect">
            <a:avLst/>
          </a:prstGeom>
          <a:noFill/>
        </p:spPr>
        <p:txBody>
          <a:bodyPr wrap="square">
            <a:normAutofit/>
          </a:bodyPr>
          <a:lstStyle/>
          <a:p>
            <a:pPr algn="ctr"/>
            <a:r>
              <a:rPr sz="720" b="0">
                <a:solidFill>
                  <a:srgbClr val="B0C3D6"/>
                </a:solidFill>
              </a:rPr>
              <a:t>Hybrid</a:t>
            </a:r>
          </a:p>
        </p:txBody>
      </p:sp>
      <p:sp>
        <p:nvSpPr>
          <p:cNvPr id="18" name="Rectangle 17"/>
          <p:cNvSpPr/>
          <p:nvPr/>
        </p:nvSpPr>
        <p:spPr>
          <a:xfrm>
            <a:off x="5100066" y="3654619"/>
            <a:ext cx="1209294" cy="1420300"/>
          </a:xfrm>
          <a:prstGeom prst="rect">
            <a:avLst/>
          </a:prstGeom>
          <a:solidFill>
            <a:srgbClr val="ED5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00066" y="3426019"/>
            <a:ext cx="1209294" cy="182880"/>
          </a:xfrm>
          <a:prstGeom prst="rect">
            <a:avLst/>
          </a:prstGeom>
          <a:noFill/>
        </p:spPr>
        <p:txBody>
          <a:bodyPr wrap="square">
            <a:normAutofit/>
          </a:bodyPr>
          <a:lstStyle/>
          <a:p>
            <a:pPr algn="ctr"/>
            <a:r>
              <a:rPr sz="730" b="1">
                <a:solidFill>
                  <a:srgbClr val="EEF4FA"/>
                </a:solidFill>
              </a:rPr>
              <a:t>0.420</a:t>
            </a:r>
          </a:p>
        </p:txBody>
      </p:sp>
      <p:sp>
        <p:nvSpPr>
          <p:cNvPr id="20" name="TextBox 19"/>
          <p:cNvSpPr txBox="1"/>
          <p:nvPr/>
        </p:nvSpPr>
        <p:spPr>
          <a:xfrm>
            <a:off x="5054346" y="5120640"/>
            <a:ext cx="1300734" cy="420624"/>
          </a:xfrm>
          <a:prstGeom prst="rect">
            <a:avLst/>
          </a:prstGeom>
          <a:noFill/>
        </p:spPr>
        <p:txBody>
          <a:bodyPr wrap="square">
            <a:normAutofit/>
          </a:bodyPr>
          <a:lstStyle/>
          <a:p>
            <a:pPr algn="ctr"/>
            <a:r>
              <a:rPr sz="720" b="0">
                <a:solidFill>
                  <a:srgbClr val="B0C3D6"/>
                </a:solidFill>
              </a:rPr>
              <a:t>Baseline</a:t>
            </a:r>
          </a:p>
        </p:txBody>
      </p:sp>
      <p:graphicFrame>
        <p:nvGraphicFramePr>
          <p:cNvPr id="21" name="Table 20"/>
          <p:cNvGraphicFramePr>
            <a:graphicFrameLocks noGrp="1"/>
          </p:cNvGraphicFramePr>
          <p:nvPr/>
        </p:nvGraphicFramePr>
        <p:xfrm>
          <a:off x="6812280" y="1097280"/>
          <a:ext cx="4572000" cy="438912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877824">
                <a:tc>
                  <a:txBody>
                    <a:bodyPr/>
                    <a:lstStyle/>
                    <a:p>
                      <a:r>
                        <a:rPr sz="919" b="1">
                          <a:solidFill>
                            <a:srgbClr val="EEF4FA"/>
                          </a:solidFill>
                        </a:rPr>
                        <a:t>Model</a:t>
                      </a:r>
                    </a:p>
                  </a:txBody>
                  <a:tcPr marL="36576" marR="36576" marT="18288" marB="18288">
                    <a:solidFill>
                      <a:srgbClr val="1D344E"/>
                    </a:solidFill>
                  </a:tcPr>
                </a:tc>
                <a:tc>
                  <a:txBody>
                    <a:bodyPr/>
                    <a:lstStyle/>
                    <a:p>
                      <a:r>
                        <a:rPr sz="919" b="1">
                          <a:solidFill>
                            <a:srgbClr val="EEF4FA"/>
                          </a:solidFill>
                        </a:rPr>
                        <a:t>Exact?</a:t>
                      </a:r>
                    </a:p>
                  </a:txBody>
                  <a:tcPr marL="36576" marR="36576" marT="18288" marB="18288">
                    <a:solidFill>
                      <a:srgbClr val="1D344E"/>
                    </a:solidFill>
                  </a:tcPr>
                </a:tc>
                <a:tc>
                  <a:txBody>
                    <a:bodyPr/>
                    <a:lstStyle/>
                    <a:p>
                      <a:r>
                        <a:rPr sz="919" b="1">
                          <a:solidFill>
                            <a:srgbClr val="EEF4FA"/>
                          </a:solidFill>
                        </a:rPr>
                        <a:t>Role</a:t>
                      </a:r>
                    </a:p>
                  </a:txBody>
                  <a:tcPr marL="36576" marR="36576" marT="18288" marB="18288">
                    <a:solidFill>
                      <a:srgbClr val="1D344E"/>
                    </a:solidFill>
                  </a:tcPr>
                </a:tc>
                <a:extLst>
                  <a:ext uri="{0D108BD9-81ED-4DB2-BD59-A6C34878D82A}">
                    <a16:rowId xmlns:a16="http://schemas.microsoft.com/office/drawing/2014/main" val="10000"/>
                  </a:ext>
                </a:extLst>
              </a:tr>
              <a:tr h="877824">
                <a:tc>
                  <a:txBody>
                    <a:bodyPr/>
                    <a:lstStyle/>
                    <a:p>
                      <a:r>
                        <a:rPr sz="919" b="0">
                          <a:solidFill>
                            <a:srgbClr val="B0C3D6"/>
                          </a:solidFill>
                        </a:rPr>
                        <a:t>raise_srlqa_fast</a:t>
                      </a:r>
                    </a:p>
                  </a:txBody>
                  <a:tcPr marL="36576" marR="36576" marT="18288" marB="18288">
                    <a:solidFill>
                      <a:srgbClr val="15263A"/>
                    </a:solidFill>
                  </a:tcPr>
                </a:tc>
                <a:tc>
                  <a:txBody>
                    <a:bodyPr/>
                    <a:lstStyle/>
                    <a:p>
                      <a:r>
                        <a:rPr sz="919" b="0">
                          <a:solidFill>
                            <a:srgbClr val="B0C3D6"/>
                          </a:solidFill>
                        </a:rPr>
                        <a:t>yes</a:t>
                      </a:r>
                    </a:p>
                  </a:txBody>
                  <a:tcPr marL="36576" marR="36576" marT="18288" marB="18288">
                    <a:solidFill>
                      <a:srgbClr val="15263A"/>
                    </a:solidFill>
                  </a:tcPr>
                </a:tc>
                <a:tc>
                  <a:txBody>
                    <a:bodyPr/>
                    <a:lstStyle/>
                    <a:p>
                      <a:r>
                        <a:rPr sz="919" b="0">
                          <a:solidFill>
                            <a:srgbClr val="B0C3D6"/>
                          </a:solidFill>
                        </a:rPr>
                        <a:t>ARGM-LOC</a:t>
                      </a:r>
                    </a:p>
                  </a:txBody>
                  <a:tcPr marL="36576" marR="36576" marT="18288" marB="18288">
                    <a:solidFill>
                      <a:srgbClr val="15263A"/>
                    </a:solidFill>
                  </a:tcPr>
                </a:tc>
                <a:extLst>
                  <a:ext uri="{0D108BD9-81ED-4DB2-BD59-A6C34878D82A}">
                    <a16:rowId xmlns:a16="http://schemas.microsoft.com/office/drawing/2014/main" val="10001"/>
                  </a:ext>
                </a:extLst>
              </a:tr>
              <a:tr h="877824">
                <a:tc>
                  <a:txBody>
                    <a:bodyPr/>
                    <a:lstStyle/>
                    <a:p>
                      <a:r>
                        <a:rPr sz="919" b="0">
                          <a:solidFill>
                            <a:srgbClr val="B0C3D6"/>
                          </a:solidFill>
                        </a:rPr>
                        <a:t>raise_srlqa_model</a:t>
                      </a:r>
                    </a:p>
                  </a:txBody>
                  <a:tcPr marL="36576" marR="36576" marT="18288" marB="18288">
                    <a:solidFill>
                      <a:srgbClr val="15263A"/>
                    </a:solidFill>
                  </a:tcPr>
                </a:tc>
                <a:tc>
                  <a:txBody>
                    <a:bodyPr/>
                    <a:lstStyle/>
                    <a:p>
                      <a:r>
                        <a:rPr sz="919" b="0">
                          <a:solidFill>
                            <a:srgbClr val="B0C3D6"/>
                          </a:solidFill>
                        </a:rPr>
                        <a:t>yes</a:t>
                      </a:r>
                    </a:p>
                  </a:txBody>
                  <a:tcPr marL="36576" marR="36576" marT="18288" marB="18288">
                    <a:solidFill>
                      <a:srgbClr val="15263A"/>
                    </a:solidFill>
                  </a:tcPr>
                </a:tc>
                <a:tc>
                  <a:txBody>
                    <a:bodyPr/>
                    <a:lstStyle/>
                    <a:p>
                      <a:r>
                        <a:rPr sz="919" b="0">
                          <a:solidFill>
                            <a:srgbClr val="B0C3D6"/>
                          </a:solidFill>
                        </a:rPr>
                        <a:t>ARGM-LOC</a:t>
                      </a:r>
                    </a:p>
                  </a:txBody>
                  <a:tcPr marL="36576" marR="36576" marT="18288" marB="18288">
                    <a:solidFill>
                      <a:srgbClr val="15263A"/>
                    </a:solidFill>
                  </a:tcPr>
                </a:tc>
                <a:extLst>
                  <a:ext uri="{0D108BD9-81ED-4DB2-BD59-A6C34878D82A}">
                    <a16:rowId xmlns:a16="http://schemas.microsoft.com/office/drawing/2014/main" val="10002"/>
                  </a:ext>
                </a:extLst>
              </a:tr>
              <a:tr h="877824">
                <a:tc>
                  <a:txBody>
                    <a:bodyPr/>
                    <a:lstStyle/>
                    <a:p>
                      <a:r>
                        <a:rPr sz="919" b="0">
                          <a:solidFill>
                            <a:srgbClr val="B0C3D6"/>
                          </a:solidFill>
                        </a:rPr>
                        <a:t>legacy_hybrid</a:t>
                      </a:r>
                    </a:p>
                  </a:txBody>
                  <a:tcPr marL="36576" marR="36576" marT="18288" marB="18288">
                    <a:solidFill>
                      <a:srgbClr val="15263A"/>
                    </a:solidFill>
                  </a:tcPr>
                </a:tc>
                <a:tc>
                  <a:txBody>
                    <a:bodyPr/>
                    <a:lstStyle/>
                    <a:p>
                      <a:r>
                        <a:rPr sz="919" b="0">
                          <a:solidFill>
                            <a:srgbClr val="B0C3D6"/>
                          </a:solidFill>
                        </a:rPr>
                        <a:t>yes</a:t>
                      </a:r>
                    </a:p>
                  </a:txBody>
                  <a:tcPr marL="36576" marR="36576" marT="18288" marB="18288">
                    <a:solidFill>
                      <a:srgbClr val="15263A"/>
                    </a:solidFill>
                  </a:tcPr>
                </a:tc>
                <a:tc>
                  <a:txBody>
                    <a:bodyPr/>
                    <a:lstStyle/>
                    <a:p>
                      <a:r>
                        <a:rPr sz="919" b="0">
                          <a:solidFill>
                            <a:srgbClr val="B0C3D6"/>
                          </a:solidFill>
                        </a:rPr>
                        <a:t>ARGM-LOC</a:t>
                      </a:r>
                    </a:p>
                  </a:txBody>
                  <a:tcPr marL="36576" marR="36576" marT="18288" marB="18288">
                    <a:solidFill>
                      <a:srgbClr val="15263A"/>
                    </a:solidFill>
                  </a:tcPr>
                </a:tc>
                <a:extLst>
                  <a:ext uri="{0D108BD9-81ED-4DB2-BD59-A6C34878D82A}">
                    <a16:rowId xmlns:a16="http://schemas.microsoft.com/office/drawing/2014/main" val="10003"/>
                  </a:ext>
                </a:extLst>
              </a:tr>
              <a:tr h="877824">
                <a:tc>
                  <a:txBody>
                    <a:bodyPr/>
                    <a:lstStyle/>
                    <a:p>
                      <a:r>
                        <a:rPr sz="919" b="0">
                          <a:solidFill>
                            <a:srgbClr val="B0C3D6"/>
                          </a:solidFill>
                        </a:rPr>
                        <a:t>legacy_baseline</a:t>
                      </a:r>
                    </a:p>
                  </a:txBody>
                  <a:tcPr marL="36576" marR="36576" marT="18288" marB="18288">
                    <a:solidFill>
                      <a:srgbClr val="15263A"/>
                    </a:solidFill>
                  </a:tcPr>
                </a:tc>
                <a:tc>
                  <a:txBody>
                    <a:bodyPr/>
                    <a:lstStyle/>
                    <a:p>
                      <a:r>
                        <a:rPr sz="919" b="0">
                          <a:solidFill>
                            <a:srgbClr val="B0C3D6"/>
                          </a:solidFill>
                        </a:rPr>
                        <a:t>no</a:t>
                      </a:r>
                    </a:p>
                  </a:txBody>
                  <a:tcPr marL="36576" marR="36576" marT="18288" marB="18288">
                    <a:solidFill>
                      <a:srgbClr val="15263A"/>
                    </a:solidFill>
                  </a:tcPr>
                </a:tc>
                <a:tc>
                  <a:txBody>
                    <a:bodyPr/>
                    <a:lstStyle/>
                    <a:p>
                      <a:r>
                        <a:rPr sz="919" b="0">
                          <a:solidFill>
                            <a:srgbClr val="B0C3D6"/>
                          </a:solidFill>
                        </a:rPr>
                        <a:t>ARG1</a:t>
                      </a:r>
                    </a:p>
                  </a:txBody>
                  <a:tcPr marL="36576" marR="36576" marT="18288" marB="18288">
                    <a:solidFill>
                      <a:srgbClr val="15263A"/>
                    </a:solidFill>
                  </a:tcPr>
                </a:tc>
                <a:extLst>
                  <a:ext uri="{0D108BD9-81ED-4DB2-BD59-A6C34878D82A}">
                    <a16:rowId xmlns:a16="http://schemas.microsoft.com/office/drawing/2014/main" val="10004"/>
                  </a:ext>
                </a:extLst>
              </a:tr>
            </a:tbl>
          </a:graphicData>
        </a:graphic>
      </p:graphicFrame>
      <p:sp>
        <p:nvSpPr>
          <p:cNvPr id="22" name="TextBox 21"/>
          <p:cNvSpPr txBox="1"/>
          <p:nvPr/>
        </p:nvSpPr>
        <p:spPr>
          <a:xfrm>
            <a:off x="914400" y="5715000"/>
            <a:ext cx="10149840" cy="256032"/>
          </a:xfrm>
          <a:prstGeom prst="rect">
            <a:avLst/>
          </a:prstGeom>
          <a:noFill/>
        </p:spPr>
        <p:txBody>
          <a:bodyPr wrap="square">
            <a:normAutofit/>
          </a:bodyPr>
          <a:lstStyle/>
          <a:p>
            <a:pPr algn="ctr"/>
            <a:r>
              <a:rPr sz="1050" b="1">
                <a:solidFill>
                  <a:srgbClr val="FFA94D"/>
                </a:solidFill>
              </a:rPr>
              <a:t>This is a single local demo example, not a benchmark suite. It is useful for explaining behavior.</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Accuracy Evidence Boundaries</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graphicFrame>
        <p:nvGraphicFramePr>
          <p:cNvPr id="6" name="Table 5"/>
          <p:cNvGraphicFramePr>
            <a:graphicFrameLocks noGrp="1"/>
          </p:cNvGraphicFramePr>
          <p:nvPr/>
        </p:nvGraphicFramePr>
        <p:xfrm>
          <a:off x="502920" y="1097280"/>
          <a:ext cx="11155680" cy="43891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tblGrid>
              <a:tr h="627017">
                <a:tc>
                  <a:txBody>
                    <a:bodyPr/>
                    <a:lstStyle/>
                    <a:p>
                      <a:r>
                        <a:rPr sz="869" b="1">
                          <a:solidFill>
                            <a:srgbClr val="EEF4FA"/>
                          </a:solidFill>
                        </a:rPr>
                        <a:t>Claim</a:t>
                      </a:r>
                    </a:p>
                  </a:txBody>
                  <a:tcPr marL="36576" marR="36576" marT="18288" marB="18288">
                    <a:solidFill>
                      <a:srgbClr val="1D344E"/>
                    </a:solidFill>
                  </a:tcPr>
                </a:tc>
                <a:tc>
                  <a:txBody>
                    <a:bodyPr/>
                    <a:lstStyle/>
                    <a:p>
                      <a:r>
                        <a:rPr sz="869" b="1">
                          <a:solidFill>
                            <a:srgbClr val="EEF4FA"/>
                          </a:solidFill>
                        </a:rPr>
                        <a:t>Can say now?</a:t>
                      </a:r>
                    </a:p>
                  </a:txBody>
                  <a:tcPr marL="36576" marR="36576" marT="18288" marB="18288">
                    <a:solidFill>
                      <a:srgbClr val="1D344E"/>
                    </a:solidFill>
                  </a:tcPr>
                </a:tc>
                <a:tc>
                  <a:txBody>
                    <a:bodyPr/>
                    <a:lstStyle/>
                    <a:p>
                      <a:r>
                        <a:rPr sz="869" b="1">
                          <a:solidFill>
                            <a:srgbClr val="EEF4FA"/>
                          </a:solidFill>
                        </a:rPr>
                        <a:t>Evidence</a:t>
                      </a:r>
                    </a:p>
                  </a:txBody>
                  <a:tcPr marL="36576" marR="36576" marT="18288" marB="18288">
                    <a:solidFill>
                      <a:srgbClr val="1D344E"/>
                    </a:solidFill>
                  </a:tcPr>
                </a:tc>
                <a:tc>
                  <a:txBody>
                    <a:bodyPr/>
                    <a:lstStyle/>
                    <a:p>
                      <a:r>
                        <a:rPr sz="869" b="1">
                          <a:solidFill>
                            <a:srgbClr val="EEF4FA"/>
                          </a:solidFill>
                        </a:rPr>
                        <a:t>Boundary</a:t>
                      </a:r>
                    </a:p>
                  </a:txBody>
                  <a:tcPr marL="36576" marR="36576" marT="18288" marB="18288">
                    <a:solidFill>
                      <a:srgbClr val="1D344E"/>
                    </a:solidFill>
                  </a:tcPr>
                </a:tc>
                <a:extLst>
                  <a:ext uri="{0D108BD9-81ED-4DB2-BD59-A6C34878D82A}">
                    <a16:rowId xmlns:a16="http://schemas.microsoft.com/office/drawing/2014/main" val="10000"/>
                  </a:ext>
                </a:extLst>
              </a:tr>
              <a:tr h="627017">
                <a:tc>
                  <a:txBody>
                    <a:bodyPr/>
                    <a:lstStyle/>
                    <a:p>
                      <a:r>
                        <a:rPr sz="869" b="0">
                          <a:solidFill>
                            <a:srgbClr val="B0C3D6"/>
                          </a:solidFill>
                        </a:rPr>
                        <a:t>Baseline QA token F1 0.7612</a:t>
                      </a:r>
                    </a:p>
                  </a:txBody>
                  <a:tcPr marL="36576" marR="36576" marT="18288" marB="18288">
                    <a:solidFill>
                      <a:srgbClr val="15263A"/>
                    </a:solidFill>
                  </a:tcPr>
                </a:tc>
                <a:tc>
                  <a:txBody>
                    <a:bodyPr/>
                    <a:lstStyle/>
                    <a:p>
                      <a:r>
                        <a:rPr sz="869" b="0">
                          <a:solidFill>
                            <a:srgbClr val="B0C3D6"/>
                          </a:solidFill>
                        </a:rPr>
                        <a:t>Yes</a:t>
                      </a:r>
                    </a:p>
                  </a:txBody>
                  <a:tcPr marL="36576" marR="36576" marT="18288" marB="18288">
                    <a:solidFill>
                      <a:srgbClr val="15263A"/>
                    </a:solidFill>
                  </a:tcPr>
                </a:tc>
                <a:tc>
                  <a:txBody>
                    <a:bodyPr/>
                    <a:lstStyle/>
                    <a:p>
                      <a:r>
                        <a:rPr sz="869" b="0">
                          <a:solidFill>
                            <a:srgbClr val="B0C3D6"/>
                          </a:solidFill>
                        </a:rPr>
                        <a:t>metrics.json</a:t>
                      </a:r>
                    </a:p>
                  </a:txBody>
                  <a:tcPr marL="36576" marR="36576" marT="18288" marB="18288">
                    <a:solidFill>
                      <a:srgbClr val="15263A"/>
                    </a:solidFill>
                  </a:tcPr>
                </a:tc>
                <a:tc>
                  <a:txBody>
                    <a:bodyPr/>
                    <a:lstStyle/>
                    <a:p>
                      <a:r>
                        <a:rPr sz="869" b="0">
                          <a:solidFill>
                            <a:srgbClr val="B0C3D6"/>
                          </a:solidFill>
                        </a:rPr>
                        <a:t>Local saved split</a:t>
                      </a:r>
                    </a:p>
                  </a:txBody>
                  <a:tcPr marL="36576" marR="36576" marT="18288" marB="18288">
                    <a:solidFill>
                      <a:srgbClr val="15263A"/>
                    </a:solidFill>
                  </a:tcPr>
                </a:tc>
                <a:extLst>
                  <a:ext uri="{0D108BD9-81ED-4DB2-BD59-A6C34878D82A}">
                    <a16:rowId xmlns:a16="http://schemas.microsoft.com/office/drawing/2014/main" val="10001"/>
                  </a:ext>
                </a:extLst>
              </a:tr>
              <a:tr h="627017">
                <a:tc>
                  <a:txBody>
                    <a:bodyPr/>
                    <a:lstStyle/>
                    <a:p>
                      <a:r>
                        <a:rPr sz="869" b="0">
                          <a:solidFill>
                            <a:srgbClr val="B0C3D6"/>
                          </a:solidFill>
                        </a:rPr>
                        <a:t>Baseline exact match 0.5184</a:t>
                      </a:r>
                    </a:p>
                  </a:txBody>
                  <a:tcPr marL="36576" marR="36576" marT="18288" marB="18288">
                    <a:solidFill>
                      <a:srgbClr val="15263A"/>
                    </a:solidFill>
                  </a:tcPr>
                </a:tc>
                <a:tc>
                  <a:txBody>
                    <a:bodyPr/>
                    <a:lstStyle/>
                    <a:p>
                      <a:r>
                        <a:rPr sz="869" b="0">
                          <a:solidFill>
                            <a:srgbClr val="B0C3D6"/>
                          </a:solidFill>
                        </a:rPr>
                        <a:t>Yes</a:t>
                      </a:r>
                    </a:p>
                  </a:txBody>
                  <a:tcPr marL="36576" marR="36576" marT="18288" marB="18288">
                    <a:solidFill>
                      <a:srgbClr val="15263A"/>
                    </a:solidFill>
                  </a:tcPr>
                </a:tc>
                <a:tc>
                  <a:txBody>
                    <a:bodyPr/>
                    <a:lstStyle/>
                    <a:p>
                      <a:r>
                        <a:rPr sz="869" b="0">
                          <a:solidFill>
                            <a:srgbClr val="B0C3D6"/>
                          </a:solidFill>
                        </a:rPr>
                        <a:t>metrics.json</a:t>
                      </a:r>
                    </a:p>
                  </a:txBody>
                  <a:tcPr marL="36576" marR="36576" marT="18288" marB="18288">
                    <a:solidFill>
                      <a:srgbClr val="15263A"/>
                    </a:solidFill>
                  </a:tcPr>
                </a:tc>
                <a:tc>
                  <a:txBody>
                    <a:bodyPr/>
                    <a:lstStyle/>
                    <a:p>
                      <a:r>
                        <a:rPr sz="869" b="0">
                          <a:solidFill>
                            <a:srgbClr val="B0C3D6"/>
                          </a:solidFill>
                        </a:rPr>
                        <a:t>Local saved split</a:t>
                      </a:r>
                    </a:p>
                  </a:txBody>
                  <a:tcPr marL="36576" marR="36576" marT="18288" marB="18288">
                    <a:solidFill>
                      <a:srgbClr val="15263A"/>
                    </a:solidFill>
                  </a:tcPr>
                </a:tc>
                <a:extLst>
                  <a:ext uri="{0D108BD9-81ED-4DB2-BD59-A6C34878D82A}">
                    <a16:rowId xmlns:a16="http://schemas.microsoft.com/office/drawing/2014/main" val="10002"/>
                  </a:ext>
                </a:extLst>
              </a:tr>
              <a:tr h="627017">
                <a:tc>
                  <a:txBody>
                    <a:bodyPr/>
                    <a:lstStyle/>
                    <a:p>
                      <a:r>
                        <a:rPr sz="869" b="0">
                          <a:solidFill>
                            <a:srgbClr val="B0C3D6"/>
                          </a:solidFill>
                        </a:rPr>
                        <a:t>Full hybrid challenge F1 0.7798</a:t>
                      </a:r>
                    </a:p>
                  </a:txBody>
                  <a:tcPr marL="36576" marR="36576" marT="18288" marB="18288">
                    <a:solidFill>
                      <a:srgbClr val="15263A"/>
                    </a:solidFill>
                  </a:tcPr>
                </a:tc>
                <a:tc>
                  <a:txBody>
                    <a:bodyPr/>
                    <a:lstStyle/>
                    <a:p>
                      <a:r>
                        <a:rPr sz="869" b="0">
                          <a:solidFill>
                            <a:srgbClr val="B0C3D6"/>
                          </a:solidFill>
                        </a:rPr>
                        <a:t>Yes</a:t>
                      </a:r>
                    </a:p>
                  </a:txBody>
                  <a:tcPr marL="36576" marR="36576" marT="18288" marB="18288">
                    <a:solidFill>
                      <a:srgbClr val="15263A"/>
                    </a:solidFill>
                  </a:tcPr>
                </a:tc>
                <a:tc>
                  <a:txBody>
                    <a:bodyPr/>
                    <a:lstStyle/>
                    <a:p>
                      <a:r>
                        <a:rPr sz="869" b="0">
                          <a:solidFill>
                            <a:srgbClr val="B0C3D6"/>
                          </a:solidFill>
                        </a:rPr>
                        <a:t>benchmark_results.json</a:t>
                      </a:r>
                    </a:p>
                  </a:txBody>
                  <a:tcPr marL="36576" marR="36576" marT="18288" marB="18288">
                    <a:solidFill>
                      <a:srgbClr val="15263A"/>
                    </a:solidFill>
                  </a:tcPr>
                </a:tc>
                <a:tc>
                  <a:txBody>
                    <a:bodyPr/>
                    <a:lstStyle/>
                    <a:p>
                      <a:r>
                        <a:rPr sz="869" b="0">
                          <a:solidFill>
                            <a:srgbClr val="B0C3D6"/>
                          </a:solidFill>
                        </a:rPr>
                        <a:t>20 challenge examples</a:t>
                      </a:r>
                    </a:p>
                  </a:txBody>
                  <a:tcPr marL="36576" marR="36576" marT="18288" marB="18288">
                    <a:solidFill>
                      <a:srgbClr val="15263A"/>
                    </a:solidFill>
                  </a:tcPr>
                </a:tc>
                <a:extLst>
                  <a:ext uri="{0D108BD9-81ED-4DB2-BD59-A6C34878D82A}">
                    <a16:rowId xmlns:a16="http://schemas.microsoft.com/office/drawing/2014/main" val="10003"/>
                  </a:ext>
                </a:extLst>
              </a:tr>
              <a:tr h="627017">
                <a:tc>
                  <a:txBody>
                    <a:bodyPr/>
                    <a:lstStyle/>
                    <a:p>
                      <a:r>
                        <a:rPr sz="869" b="0">
                          <a:solidFill>
                            <a:srgbClr val="B0C3D6"/>
                          </a:solidFill>
                        </a:rPr>
                        <a:t>RAISE seed F1 1.0</a:t>
                      </a:r>
                    </a:p>
                  </a:txBody>
                  <a:tcPr marL="36576" marR="36576" marT="18288" marB="18288">
                    <a:solidFill>
                      <a:srgbClr val="15263A"/>
                    </a:solidFill>
                  </a:tcPr>
                </a:tc>
                <a:tc>
                  <a:txBody>
                    <a:bodyPr/>
                    <a:lstStyle/>
                    <a:p>
                      <a:r>
                        <a:rPr sz="869" b="0">
                          <a:solidFill>
                            <a:srgbClr val="B0C3D6"/>
                          </a:solidFill>
                        </a:rPr>
                        <a:t>Yes</a:t>
                      </a:r>
                    </a:p>
                  </a:txBody>
                  <a:tcPr marL="36576" marR="36576" marT="18288" marB="18288">
                    <a:solidFill>
                      <a:srgbClr val="15263A"/>
                    </a:solidFill>
                  </a:tcPr>
                </a:tc>
                <a:tc>
                  <a:txBody>
                    <a:bodyPr/>
                    <a:lstStyle/>
                    <a:p>
                      <a:r>
                        <a:rPr sz="869" b="0">
                          <a:solidFill>
                            <a:srgbClr val="B0C3D6"/>
                          </a:solidFill>
                        </a:rPr>
                        <a:t>15-example local demo</a:t>
                      </a:r>
                    </a:p>
                  </a:txBody>
                  <a:tcPr marL="36576" marR="36576" marT="18288" marB="18288">
                    <a:solidFill>
                      <a:srgbClr val="15263A"/>
                    </a:solidFill>
                  </a:tcPr>
                </a:tc>
                <a:tc>
                  <a:txBody>
                    <a:bodyPr/>
                    <a:lstStyle/>
                    <a:p>
                      <a:r>
                        <a:rPr sz="869" b="0">
                          <a:solidFill>
                            <a:srgbClr val="B0C3D6"/>
                          </a:solidFill>
                        </a:rPr>
                        <a:t>Not official SOTA</a:t>
                      </a:r>
                    </a:p>
                  </a:txBody>
                  <a:tcPr marL="36576" marR="36576" marT="18288" marB="18288">
                    <a:solidFill>
                      <a:srgbClr val="15263A"/>
                    </a:solidFill>
                  </a:tcPr>
                </a:tc>
                <a:extLst>
                  <a:ext uri="{0D108BD9-81ED-4DB2-BD59-A6C34878D82A}">
                    <a16:rowId xmlns:a16="http://schemas.microsoft.com/office/drawing/2014/main" val="10004"/>
                  </a:ext>
                </a:extLst>
              </a:tr>
              <a:tr h="627017">
                <a:tc>
                  <a:txBody>
                    <a:bodyPr/>
                    <a:lstStyle/>
                    <a:p>
                      <a:r>
                        <a:rPr sz="869" b="0">
                          <a:solidFill>
                            <a:srgbClr val="B0C3D6"/>
                          </a:solidFill>
                        </a:rPr>
                        <a:t>95% official F1</a:t>
                      </a:r>
                    </a:p>
                  </a:txBody>
                  <a:tcPr marL="36576" marR="36576" marT="18288" marB="18288">
                    <a:solidFill>
                      <a:srgbClr val="15263A"/>
                    </a:solidFill>
                  </a:tcPr>
                </a:tc>
                <a:tc>
                  <a:txBody>
                    <a:bodyPr/>
                    <a:lstStyle/>
                    <a:p>
                      <a:r>
                        <a:rPr sz="869" b="0">
                          <a:solidFill>
                            <a:srgbClr val="B0C3D6"/>
                          </a:solidFill>
                        </a:rPr>
                        <a:t>No</a:t>
                      </a:r>
                    </a:p>
                  </a:txBody>
                  <a:tcPr marL="36576" marR="36576" marT="18288" marB="18288">
                    <a:solidFill>
                      <a:srgbClr val="15263A"/>
                    </a:solidFill>
                  </a:tcPr>
                </a:tc>
                <a:tc>
                  <a:txBody>
                    <a:bodyPr/>
                    <a:lstStyle/>
                    <a:p>
                      <a:r>
                        <a:rPr sz="869" b="0">
                          <a:solidFill>
                            <a:srgbClr val="B0C3D6"/>
                          </a:solidFill>
                        </a:rPr>
                        <a:t>Roadmap only</a:t>
                      </a:r>
                    </a:p>
                  </a:txBody>
                  <a:tcPr marL="36576" marR="36576" marT="18288" marB="18288">
                    <a:solidFill>
                      <a:srgbClr val="15263A"/>
                    </a:solidFill>
                  </a:tcPr>
                </a:tc>
                <a:tc>
                  <a:txBody>
                    <a:bodyPr/>
                    <a:lstStyle/>
                    <a:p>
                      <a:r>
                        <a:rPr sz="869" b="0">
                          <a:solidFill>
                            <a:srgbClr val="B0C3D6"/>
                          </a:solidFill>
                        </a:rPr>
                        <a:t>Needs public scorer</a:t>
                      </a:r>
                    </a:p>
                  </a:txBody>
                  <a:tcPr marL="36576" marR="36576" marT="18288" marB="18288">
                    <a:solidFill>
                      <a:srgbClr val="15263A"/>
                    </a:solidFill>
                  </a:tcPr>
                </a:tc>
                <a:extLst>
                  <a:ext uri="{0D108BD9-81ED-4DB2-BD59-A6C34878D82A}">
                    <a16:rowId xmlns:a16="http://schemas.microsoft.com/office/drawing/2014/main" val="10005"/>
                  </a:ext>
                </a:extLst>
              </a:tr>
              <a:tr h="627018">
                <a:tc>
                  <a:txBody>
                    <a:bodyPr/>
                    <a:lstStyle/>
                    <a:p>
                      <a:r>
                        <a:rPr sz="869" b="0">
                          <a:solidFill>
                            <a:srgbClr val="B0C3D6"/>
                          </a:solidFill>
                        </a:rPr>
                        <a:t>Beats all models</a:t>
                      </a:r>
                    </a:p>
                  </a:txBody>
                  <a:tcPr marL="36576" marR="36576" marT="18288" marB="18288">
                    <a:solidFill>
                      <a:srgbClr val="15263A"/>
                    </a:solidFill>
                  </a:tcPr>
                </a:tc>
                <a:tc>
                  <a:txBody>
                    <a:bodyPr/>
                    <a:lstStyle/>
                    <a:p>
                      <a:r>
                        <a:rPr sz="869" b="0">
                          <a:solidFill>
                            <a:srgbClr val="B0C3D6"/>
                          </a:solidFill>
                        </a:rPr>
                        <a:t>No</a:t>
                      </a:r>
                    </a:p>
                  </a:txBody>
                  <a:tcPr marL="36576" marR="36576" marT="18288" marB="18288">
                    <a:solidFill>
                      <a:srgbClr val="15263A"/>
                    </a:solidFill>
                  </a:tcPr>
                </a:tc>
                <a:tc>
                  <a:txBody>
                    <a:bodyPr/>
                    <a:lstStyle/>
                    <a:p>
                      <a:r>
                        <a:rPr sz="869" b="0">
                          <a:solidFill>
                            <a:srgbClr val="B0C3D6"/>
                          </a:solidFill>
                        </a:rPr>
                        <a:t>Not evaluated equally</a:t>
                      </a:r>
                    </a:p>
                  </a:txBody>
                  <a:tcPr marL="36576" marR="36576" marT="18288" marB="18288">
                    <a:solidFill>
                      <a:srgbClr val="15263A"/>
                    </a:solidFill>
                  </a:tcPr>
                </a:tc>
                <a:tc>
                  <a:txBody>
                    <a:bodyPr/>
                    <a:lstStyle/>
                    <a:p>
                      <a:r>
                        <a:rPr sz="869" b="0">
                          <a:solidFill>
                            <a:srgbClr val="B0C3D6"/>
                          </a:solidFill>
                        </a:rPr>
                        <a:t>Needs same split/scorer</a:t>
                      </a:r>
                    </a:p>
                  </a:txBody>
                  <a:tcPr marL="36576" marR="36576" marT="18288" marB="18288">
                    <a:solidFill>
                      <a:srgbClr val="15263A"/>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822960" y="5742432"/>
            <a:ext cx="10424160" cy="320040"/>
          </a:xfrm>
          <a:prstGeom prst="rect">
            <a:avLst/>
          </a:prstGeom>
          <a:noFill/>
        </p:spPr>
        <p:txBody>
          <a:bodyPr wrap="square">
            <a:normAutofit/>
          </a:bodyPr>
          <a:lstStyle/>
          <a:p>
            <a:pPr algn="ctr"/>
            <a:r>
              <a:rPr sz="1150" b="1">
                <a:solidFill>
                  <a:srgbClr val="5FD394"/>
                </a:solidFill>
              </a:rPr>
              <a:t>This slide protects the project: strong local demo, honest benchmark boundaries.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Recursive Correction Trace Diagram</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731520" y="1234440"/>
            <a:ext cx="2011680" cy="594360"/>
          </a:xfrm>
          <a:prstGeom prst="roundRect">
            <a:avLst/>
          </a:prstGeom>
          <a:solidFill>
            <a:srgbClr val="15263A"/>
          </a:solidFill>
          <a:ln>
            <a:solidFill>
              <a:srgbClr val="FFA94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Candidate 1
office</a:t>
            </a:r>
          </a:p>
        </p:txBody>
      </p:sp>
      <p:sp>
        <p:nvSpPr>
          <p:cNvPr id="7" name="Rounded Rectangle 6"/>
          <p:cNvSpPr/>
          <p:nvPr/>
        </p:nvSpPr>
        <p:spPr>
          <a:xfrm>
            <a:off x="3291839" y="1234440"/>
            <a:ext cx="2011680" cy="594360"/>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Verifier checks
role + span</a:t>
            </a:r>
          </a:p>
        </p:txBody>
      </p:sp>
      <p:sp>
        <p:nvSpPr>
          <p:cNvPr id="8" name="Rounded Rectangle 7"/>
          <p:cNvSpPr/>
          <p:nvPr/>
        </p:nvSpPr>
        <p:spPr>
          <a:xfrm>
            <a:off x="5852159" y="1234440"/>
            <a:ext cx="2011680" cy="594360"/>
          </a:xfrm>
          <a:prstGeom prst="roundRect">
            <a:avLst/>
          </a:prstGeom>
          <a:solidFill>
            <a:srgbClr val="15263A"/>
          </a:solidFill>
          <a:ln>
            <a:solidFill>
              <a:srgbClr val="ED5E5E"/>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Near miss
not exact enough</a:t>
            </a:r>
          </a:p>
        </p:txBody>
      </p:sp>
      <p:sp>
        <p:nvSpPr>
          <p:cNvPr id="9" name="Rounded Rectangle 8"/>
          <p:cNvSpPr/>
          <p:nvPr/>
        </p:nvSpPr>
        <p:spPr>
          <a:xfrm>
            <a:off x="8412480" y="1234440"/>
            <a:ext cx="2011680" cy="594360"/>
          </a:xfrm>
          <a:prstGeom prst="roundRect">
            <a:avLst/>
          </a:prstGeom>
          <a:solidFill>
            <a:srgbClr val="15263A"/>
          </a:solidFill>
          <a:ln>
            <a:solidFill>
              <a:srgbClr val="ED5E5E"/>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Reject and
try next</a:t>
            </a:r>
          </a:p>
        </p:txBody>
      </p:sp>
      <p:sp>
        <p:nvSpPr>
          <p:cNvPr id="10" name="Rounded Rectangle 9"/>
          <p:cNvSpPr/>
          <p:nvPr/>
        </p:nvSpPr>
        <p:spPr>
          <a:xfrm>
            <a:off x="731520" y="2926080"/>
            <a:ext cx="2011680" cy="594360"/>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Candidate 2
to the office</a:t>
            </a:r>
          </a:p>
        </p:txBody>
      </p:sp>
      <p:sp>
        <p:nvSpPr>
          <p:cNvPr id="11" name="Rounded Rectangle 10"/>
          <p:cNvSpPr/>
          <p:nvPr/>
        </p:nvSpPr>
        <p:spPr>
          <a:xfrm>
            <a:off x="3291839" y="2926080"/>
            <a:ext cx="2011680" cy="594360"/>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Verifier checks
extractable + LOC</a:t>
            </a:r>
          </a:p>
        </p:txBody>
      </p:sp>
      <p:sp>
        <p:nvSpPr>
          <p:cNvPr id="12" name="Rounded Rectangle 11"/>
          <p:cNvSpPr/>
          <p:nvPr/>
        </p:nvSpPr>
        <p:spPr>
          <a:xfrm>
            <a:off x="5852159" y="2926080"/>
            <a:ext cx="2011680" cy="594360"/>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Exact match
and role ok</a:t>
            </a:r>
          </a:p>
        </p:txBody>
      </p:sp>
      <p:sp>
        <p:nvSpPr>
          <p:cNvPr id="13" name="Rounded Rectangle 12"/>
          <p:cNvSpPr/>
          <p:nvPr/>
        </p:nvSpPr>
        <p:spPr>
          <a:xfrm>
            <a:off x="8412480" y="2926080"/>
            <a:ext cx="2011680" cy="594360"/>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850" b="1">
                <a:solidFill>
                  <a:srgbClr val="EEF4FA"/>
                </a:solidFill>
              </a:rPr>
              <a:t>Final answer
ARGM-LOC</a:t>
            </a:r>
          </a:p>
        </p:txBody>
      </p:sp>
      <p:cxnSp>
        <p:nvCxnSpPr>
          <p:cNvPr id="14" name="Connector 13"/>
          <p:cNvCxnSpPr/>
          <p:nvPr/>
        </p:nvCxnSpPr>
        <p:spPr>
          <a:xfrm>
            <a:off x="2743200" y="1536192"/>
            <a:ext cx="548640" cy="0"/>
          </a:xfrm>
          <a:prstGeom prst="line">
            <a:avLst/>
          </a:prstGeom>
          <a:ln w="19050">
            <a:solidFill>
              <a:srgbClr val="FFA94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743200" y="3227832"/>
            <a:ext cx="548640" cy="0"/>
          </a:xfrm>
          <a:prstGeom prst="line">
            <a:avLst/>
          </a:prstGeom>
          <a:ln w="19050">
            <a:solidFill>
              <a:srgbClr val="5FD39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303520" y="1536192"/>
            <a:ext cx="548640" cy="0"/>
          </a:xfrm>
          <a:prstGeom prst="line">
            <a:avLst/>
          </a:prstGeom>
          <a:ln w="19050">
            <a:solidFill>
              <a:srgbClr val="FFA94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303520" y="3227832"/>
            <a:ext cx="548640" cy="0"/>
          </a:xfrm>
          <a:prstGeom prst="line">
            <a:avLst/>
          </a:prstGeom>
          <a:ln w="19050">
            <a:solidFill>
              <a:srgbClr val="5FD39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863840" y="1536192"/>
            <a:ext cx="548640" cy="0"/>
          </a:xfrm>
          <a:prstGeom prst="line">
            <a:avLst/>
          </a:prstGeom>
          <a:ln w="19050">
            <a:solidFill>
              <a:srgbClr val="FFA94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863840" y="3227832"/>
            <a:ext cx="548640" cy="0"/>
          </a:xfrm>
          <a:prstGeom prst="line">
            <a:avLst/>
          </a:prstGeom>
          <a:ln w="19050">
            <a:solidFill>
              <a:srgbClr val="5FD394"/>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14400" y="4572000"/>
            <a:ext cx="10241280" cy="1005840"/>
          </a:xfrm>
          <a:prstGeom prst="roundRect">
            <a:avLst/>
          </a:prstGeom>
          <a:solidFill>
            <a:srgbClr val="15263A"/>
          </a:solidFill>
          <a:ln>
            <a:solidFill>
              <a:srgbClr val="435C77"/>
            </a:solidFill>
          </a:ln>
        </p:spPr>
        <p:style>
          <a:lnRef idx="1">
            <a:schemeClr val="accent1"/>
          </a:lnRef>
          <a:fillRef idx="3">
            <a:schemeClr val="accent1"/>
          </a:fillRef>
          <a:effectRef idx="2">
            <a:schemeClr val="accent1"/>
          </a:effectRef>
          <a:fontRef idx="minor">
            <a:schemeClr val="lt1"/>
          </a:fontRef>
        </p:style>
        <p:txBody>
          <a:bodyPr wrap="square" lIns="146304" tIns="109728" rIns="128016" rtlCol="0" anchor="ctr"/>
          <a:lstStyle/>
          <a:p>
            <a:pPr algn="ctr"/>
            <a:r>
              <a:rPr sz="1250" b="1">
                <a:solidFill>
                  <a:srgbClr val="39BEBD"/>
                </a:solidFill>
              </a:rPr>
              <a:t>Key idea</a:t>
            </a:r>
          </a:p>
          <a:p>
            <a:pPr>
              <a:defRPr sz="1100">
                <a:solidFill>
                  <a:srgbClr val="EEF4FA"/>
                </a:solidFill>
              </a:defRPr>
            </a:pPr>
            <a:r>
              <a:t>The correction loop does not invent a new answer. It selects from candidates found in the original context.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Evaluation Protocol And Claim Boundaries</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640080" y="1143000"/>
            <a:ext cx="5303520" cy="4389120"/>
          </a:xfrm>
          <a:prstGeom prst="roundRect">
            <a:avLst/>
          </a:prstGeom>
          <a:solidFill>
            <a:srgbClr val="15263A"/>
          </a:solidFill>
          <a:ln>
            <a:solidFill>
              <a:srgbClr val="435C77"/>
            </a:solidFill>
          </a:ln>
        </p:spPr>
        <p:style>
          <a:lnRef idx="1">
            <a:schemeClr val="accent1"/>
          </a:lnRef>
          <a:fillRef idx="3">
            <a:schemeClr val="accent1"/>
          </a:fillRef>
          <a:effectRef idx="2">
            <a:schemeClr val="accent1"/>
          </a:effectRef>
          <a:fontRef idx="minor">
            <a:schemeClr val="lt1"/>
          </a:fontRef>
        </p:style>
        <p:txBody>
          <a:bodyPr wrap="square" lIns="146304" tIns="109728" rIns="128016" rtlCol="0" anchor="ctr"/>
          <a:lstStyle/>
          <a:p>
            <a:pPr algn="ctr"/>
            <a:r>
              <a:rPr sz="1200" b="1">
                <a:solidFill>
                  <a:srgbClr val="39BEBD"/>
                </a:solidFill>
              </a:rPr>
              <a:t>Evaluation protocol</a:t>
            </a:r>
          </a:p>
          <a:p>
            <a:pPr>
              <a:defRPr sz="1050">
                <a:solidFill>
                  <a:srgbClr val="EEF4FA"/>
                </a:solidFill>
              </a:defRPr>
            </a:pPr>
            <a:r>
              <a:t>Freeze test examples before tuning.</a:t>
            </a:r>
          </a:p>
          <a:p>
            <a:pPr>
              <a:defRPr sz="1050">
                <a:solidFill>
                  <a:srgbClr val="EEF4FA"/>
                </a:solidFill>
              </a:defRPr>
            </a:pPr>
            <a:r>
              <a:t>Save every run under results/experiments/.</a:t>
            </a:r>
          </a:p>
          <a:p>
            <a:pPr>
              <a:defRPr sz="1050">
                <a:solidFill>
                  <a:srgbClr val="EEF4FA"/>
                </a:solidFill>
              </a:defRPr>
            </a:pPr>
            <a:r>
              <a:t>Report EM, token F1, role accuracy, latency, and calibration.</a:t>
            </a:r>
          </a:p>
          <a:p>
            <a:pPr>
              <a:defRPr sz="1050">
                <a:solidFill>
                  <a:srgbClr val="EEF4FA"/>
                </a:solidFill>
              </a:defRPr>
            </a:pPr>
            <a:r>
              <a:t>Separate seed-suite, local split, and public benchmark claims.</a:t>
            </a:r>
          </a:p>
        </p:txBody>
      </p:sp>
      <p:sp>
        <p:nvSpPr>
          <p:cNvPr id="7" name="Rounded Rectangle 6"/>
          <p:cNvSpPr/>
          <p:nvPr/>
        </p:nvSpPr>
        <p:spPr>
          <a:xfrm>
            <a:off x="6217920" y="1143000"/>
            <a:ext cx="5303520" cy="4389120"/>
          </a:xfrm>
          <a:prstGeom prst="roundRect">
            <a:avLst/>
          </a:prstGeom>
          <a:solidFill>
            <a:srgbClr val="15263A"/>
          </a:solidFill>
          <a:ln>
            <a:solidFill>
              <a:srgbClr val="435C77"/>
            </a:solidFill>
          </a:ln>
        </p:spPr>
        <p:style>
          <a:lnRef idx="1">
            <a:schemeClr val="accent1"/>
          </a:lnRef>
          <a:fillRef idx="3">
            <a:schemeClr val="accent1"/>
          </a:fillRef>
          <a:effectRef idx="2">
            <a:schemeClr val="accent1"/>
          </a:effectRef>
          <a:fontRef idx="minor">
            <a:schemeClr val="lt1"/>
          </a:fontRef>
        </p:style>
        <p:txBody>
          <a:bodyPr wrap="square" lIns="146304" tIns="109728" rIns="128016" rtlCol="0" anchor="ctr"/>
          <a:lstStyle/>
          <a:p>
            <a:pPr algn="ctr"/>
            <a:r>
              <a:rPr sz="1200" b="1">
                <a:solidFill>
                  <a:srgbClr val="FFA94D"/>
                </a:solidFill>
              </a:rPr>
              <a:t>Claim boundaries</a:t>
            </a:r>
          </a:p>
          <a:p>
            <a:pPr>
              <a:defRPr sz="1050">
                <a:solidFill>
                  <a:srgbClr val="EEF4FA"/>
                </a:solidFill>
              </a:defRPr>
            </a:pPr>
            <a:r>
              <a:t>Safe: baseline 0.7612 QA token F1.</a:t>
            </a:r>
          </a:p>
          <a:p>
            <a:pPr>
              <a:defRPr sz="1050">
                <a:solidFill>
                  <a:srgbClr val="EEF4FA"/>
                </a:solidFill>
              </a:defRPr>
            </a:pPr>
            <a:r>
              <a:t>Safe: 1.0 on 15-example RAISE seed suite.</a:t>
            </a:r>
          </a:p>
          <a:p>
            <a:pPr>
              <a:defRPr sz="1050">
                <a:solidFill>
                  <a:srgbClr val="EEF4FA"/>
                </a:solidFill>
              </a:defRPr>
            </a:pPr>
            <a:r>
              <a:t>Unsafe: official 95% F1 today.</a:t>
            </a:r>
          </a:p>
          <a:p>
            <a:pPr>
              <a:defRPr sz="1050">
                <a:solidFill>
                  <a:srgbClr val="EEF4FA"/>
                </a:solidFill>
              </a:defRPr>
            </a:pPr>
            <a:r>
              <a:t>Unsafe: global SOTA without identical scorer and split.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Demo Storyboard</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594360" y="1143000"/>
            <a:ext cx="2606040" cy="914400"/>
          </a:xfrm>
          <a:prstGeom prst="roundRect">
            <a:avLst/>
          </a:prstGeom>
          <a:solidFill>
            <a:srgbClr val="15263A"/>
          </a:solidFill>
          <a:ln>
            <a:solidFill>
              <a:srgbClr val="435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143000"/>
            <a:ext cx="2606040" cy="6400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61872"/>
            <a:ext cx="2331720" cy="237744"/>
          </a:xfrm>
          <a:prstGeom prst="rect">
            <a:avLst/>
          </a:prstGeom>
          <a:noFill/>
        </p:spPr>
        <p:txBody>
          <a:bodyPr wrap="square">
            <a:normAutofit/>
          </a:bodyPr>
          <a:lstStyle/>
          <a:p>
            <a:r>
              <a:rPr sz="1150" b="1">
                <a:solidFill>
                  <a:srgbClr val="39BEBD"/>
                </a:solidFill>
              </a:rPr>
              <a:t>Step 1</a:t>
            </a:r>
          </a:p>
        </p:txBody>
      </p:sp>
      <p:sp>
        <p:nvSpPr>
          <p:cNvPr id="9" name="TextBox 8"/>
          <p:cNvSpPr txBox="1"/>
          <p:nvPr/>
        </p:nvSpPr>
        <p:spPr>
          <a:xfrm>
            <a:off x="731520" y="1554480"/>
            <a:ext cx="2331720" cy="438912"/>
          </a:xfrm>
          <a:prstGeom prst="rect">
            <a:avLst/>
          </a:prstGeom>
          <a:noFill/>
        </p:spPr>
        <p:txBody>
          <a:bodyPr wrap="square">
            <a:normAutofit/>
          </a:bodyPr>
          <a:lstStyle/>
          <a:p>
            <a:r>
              <a:rPr sz="919" b="0">
                <a:solidFill>
                  <a:srgbClr val="EEF4FA"/>
                </a:solidFill>
              </a:rPr>
              <a:t>Open the full visuals deck and explain SRL-QA in one sentence.</a:t>
            </a:r>
          </a:p>
        </p:txBody>
      </p:sp>
      <p:sp>
        <p:nvSpPr>
          <p:cNvPr id="10" name="Rounded Rectangle 9"/>
          <p:cNvSpPr/>
          <p:nvPr/>
        </p:nvSpPr>
        <p:spPr>
          <a:xfrm>
            <a:off x="3520440" y="1143000"/>
            <a:ext cx="2606040" cy="914400"/>
          </a:xfrm>
          <a:prstGeom prst="roundRect">
            <a:avLst/>
          </a:prstGeom>
          <a:solidFill>
            <a:srgbClr val="15263A"/>
          </a:solidFill>
          <a:ln>
            <a:solidFill>
              <a:srgbClr val="435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520440" y="1143000"/>
            <a:ext cx="2606040" cy="64008"/>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0" y="1261872"/>
            <a:ext cx="2331720" cy="237744"/>
          </a:xfrm>
          <a:prstGeom prst="rect">
            <a:avLst/>
          </a:prstGeom>
          <a:noFill/>
        </p:spPr>
        <p:txBody>
          <a:bodyPr wrap="square">
            <a:normAutofit/>
          </a:bodyPr>
          <a:lstStyle/>
          <a:p>
            <a:r>
              <a:rPr sz="1150" b="1">
                <a:solidFill>
                  <a:srgbClr val="5FD394"/>
                </a:solidFill>
              </a:rPr>
              <a:t>Step 2</a:t>
            </a:r>
          </a:p>
        </p:txBody>
      </p:sp>
      <p:sp>
        <p:nvSpPr>
          <p:cNvPr id="13" name="TextBox 12"/>
          <p:cNvSpPr txBox="1"/>
          <p:nvPr/>
        </p:nvSpPr>
        <p:spPr>
          <a:xfrm>
            <a:off x="3657600" y="1554480"/>
            <a:ext cx="2331720" cy="438912"/>
          </a:xfrm>
          <a:prstGeom prst="rect">
            <a:avLst/>
          </a:prstGeom>
          <a:noFill/>
        </p:spPr>
        <p:txBody>
          <a:bodyPr wrap="square">
            <a:normAutofit/>
          </a:bodyPr>
          <a:lstStyle/>
          <a:p>
            <a:r>
              <a:rPr sz="919" b="0">
                <a:solidFill>
                  <a:srgbClr val="EEF4FA"/>
                </a:solidFill>
              </a:rPr>
              <a:t>Run RAISE fast on the courier example for a quick exact answer.</a:t>
            </a:r>
          </a:p>
        </p:txBody>
      </p:sp>
      <p:sp>
        <p:nvSpPr>
          <p:cNvPr id="14" name="Rounded Rectangle 13"/>
          <p:cNvSpPr/>
          <p:nvPr/>
        </p:nvSpPr>
        <p:spPr>
          <a:xfrm>
            <a:off x="6446520" y="1143000"/>
            <a:ext cx="2606040" cy="914400"/>
          </a:xfrm>
          <a:prstGeom prst="roundRect">
            <a:avLst/>
          </a:prstGeom>
          <a:solidFill>
            <a:srgbClr val="15263A"/>
          </a:solidFill>
          <a:ln>
            <a:solidFill>
              <a:srgbClr val="435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46520" y="1143000"/>
            <a:ext cx="2606040" cy="64008"/>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1261872"/>
            <a:ext cx="2331720" cy="237744"/>
          </a:xfrm>
          <a:prstGeom prst="rect">
            <a:avLst/>
          </a:prstGeom>
          <a:noFill/>
        </p:spPr>
        <p:txBody>
          <a:bodyPr wrap="square">
            <a:normAutofit/>
          </a:bodyPr>
          <a:lstStyle/>
          <a:p>
            <a:r>
              <a:rPr sz="1150" b="1">
                <a:solidFill>
                  <a:srgbClr val="FFC457"/>
                </a:solidFill>
              </a:rPr>
              <a:t>Step 3</a:t>
            </a:r>
          </a:p>
        </p:txBody>
      </p:sp>
      <p:sp>
        <p:nvSpPr>
          <p:cNvPr id="17" name="TextBox 16"/>
          <p:cNvSpPr txBox="1"/>
          <p:nvPr/>
        </p:nvSpPr>
        <p:spPr>
          <a:xfrm>
            <a:off x="6583680" y="1554480"/>
            <a:ext cx="2331720" cy="438912"/>
          </a:xfrm>
          <a:prstGeom prst="rect">
            <a:avLst/>
          </a:prstGeom>
          <a:noFill/>
        </p:spPr>
        <p:txBody>
          <a:bodyPr wrap="square">
            <a:normAutofit/>
          </a:bodyPr>
          <a:lstStyle/>
          <a:p>
            <a:r>
              <a:rPr sz="919" b="0">
                <a:solidFill>
                  <a:srgbClr val="EEF4FA"/>
                </a:solidFill>
              </a:rPr>
              <a:t>Run all-model comparison only if there is time.</a:t>
            </a:r>
          </a:p>
        </p:txBody>
      </p:sp>
      <p:sp>
        <p:nvSpPr>
          <p:cNvPr id="18" name="Rounded Rectangle 17"/>
          <p:cNvSpPr/>
          <p:nvPr/>
        </p:nvSpPr>
        <p:spPr>
          <a:xfrm>
            <a:off x="9372600" y="1143000"/>
            <a:ext cx="2194560" cy="914400"/>
          </a:xfrm>
          <a:prstGeom prst="roundRect">
            <a:avLst/>
          </a:prstGeom>
          <a:solidFill>
            <a:srgbClr val="15263A"/>
          </a:solidFill>
          <a:ln>
            <a:solidFill>
              <a:srgbClr val="435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2600" y="1143000"/>
            <a:ext cx="2194560" cy="64008"/>
          </a:xfrm>
          <a:prstGeom prst="rect">
            <a:avLst/>
          </a:prstGeom>
          <a:solidFill>
            <a:srgbClr val="FFA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509760" y="1261872"/>
            <a:ext cx="1920240" cy="237744"/>
          </a:xfrm>
          <a:prstGeom prst="rect">
            <a:avLst/>
          </a:prstGeom>
          <a:noFill/>
        </p:spPr>
        <p:txBody>
          <a:bodyPr wrap="square">
            <a:normAutofit/>
          </a:bodyPr>
          <a:lstStyle/>
          <a:p>
            <a:r>
              <a:rPr sz="1150" b="1">
                <a:solidFill>
                  <a:srgbClr val="FFA94D"/>
                </a:solidFill>
              </a:rPr>
              <a:t>Step 4</a:t>
            </a:r>
          </a:p>
        </p:txBody>
      </p:sp>
      <p:sp>
        <p:nvSpPr>
          <p:cNvPr id="21" name="TextBox 20"/>
          <p:cNvSpPr txBox="1"/>
          <p:nvPr/>
        </p:nvSpPr>
        <p:spPr>
          <a:xfrm>
            <a:off x="9509760" y="1554480"/>
            <a:ext cx="1920240" cy="438912"/>
          </a:xfrm>
          <a:prstGeom prst="rect">
            <a:avLst/>
          </a:prstGeom>
          <a:noFill/>
        </p:spPr>
        <p:txBody>
          <a:bodyPr wrap="square">
            <a:normAutofit/>
          </a:bodyPr>
          <a:lstStyle/>
          <a:p>
            <a:r>
              <a:rPr sz="919" b="0">
                <a:solidFill>
                  <a:srgbClr val="EEF4FA"/>
                </a:solidFill>
              </a:rPr>
              <a:t>Explain why the baseline is weaker on span boundaries.</a:t>
            </a:r>
          </a:p>
        </p:txBody>
      </p:sp>
      <p:graphicFrame>
        <p:nvGraphicFramePr>
          <p:cNvPr id="22" name="Table 21"/>
          <p:cNvGraphicFramePr>
            <a:graphicFrameLocks noGrp="1"/>
          </p:cNvGraphicFramePr>
          <p:nvPr/>
        </p:nvGraphicFramePr>
        <p:xfrm>
          <a:off x="777240" y="2880360"/>
          <a:ext cx="10789920" cy="21488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8046720">
                  <a:extLst>
                    <a:ext uri="{9D8B030D-6E8A-4147-A177-3AD203B41FA5}">
                      <a16:colId xmlns:a16="http://schemas.microsoft.com/office/drawing/2014/main" val="20001"/>
                    </a:ext>
                  </a:extLst>
                </a:gridCol>
              </a:tblGrid>
              <a:tr h="537210">
                <a:tc>
                  <a:txBody>
                    <a:bodyPr/>
                    <a:lstStyle/>
                    <a:p>
                      <a:r>
                        <a:rPr sz="919" b="1">
                          <a:solidFill>
                            <a:srgbClr val="EEF4FA"/>
                          </a:solidFill>
                        </a:rPr>
                        <a:t>Question to ask</a:t>
                      </a:r>
                    </a:p>
                  </a:txBody>
                  <a:tcPr marL="36576" marR="36576" marT="18288" marB="18288">
                    <a:solidFill>
                      <a:srgbClr val="1D344E"/>
                    </a:solidFill>
                  </a:tcPr>
                </a:tc>
                <a:tc>
                  <a:txBody>
                    <a:bodyPr/>
                    <a:lstStyle/>
                    <a:p>
                      <a:r>
                        <a:rPr sz="919" b="1">
                          <a:solidFill>
                            <a:srgbClr val="EEF4FA"/>
                          </a:solidFill>
                        </a:rPr>
                        <a:t>Answer to say</a:t>
                      </a:r>
                    </a:p>
                  </a:txBody>
                  <a:tcPr marL="36576" marR="36576" marT="18288" marB="18288">
                    <a:solidFill>
                      <a:srgbClr val="1D344E"/>
                    </a:solidFill>
                  </a:tcPr>
                </a:tc>
                <a:extLst>
                  <a:ext uri="{0D108BD9-81ED-4DB2-BD59-A6C34878D82A}">
                    <a16:rowId xmlns:a16="http://schemas.microsoft.com/office/drawing/2014/main" val="10000"/>
                  </a:ext>
                </a:extLst>
              </a:tr>
              <a:tr h="537210">
                <a:tc>
                  <a:txBody>
                    <a:bodyPr/>
                    <a:lstStyle/>
                    <a:p>
                      <a:r>
                        <a:rPr sz="919" b="0">
                          <a:solidFill>
                            <a:srgbClr val="B0C3D6"/>
                          </a:solidFill>
                        </a:rPr>
                        <a:t>What is new?</a:t>
                      </a:r>
                    </a:p>
                  </a:txBody>
                  <a:tcPr marL="36576" marR="36576" marT="18288" marB="18288">
                    <a:solidFill>
                      <a:srgbClr val="15263A"/>
                    </a:solidFill>
                  </a:tcPr>
                </a:tc>
                <a:tc>
                  <a:txBody>
                    <a:bodyPr/>
                    <a:lstStyle/>
                    <a:p>
                      <a:r>
                        <a:rPr sz="919" b="0">
                          <a:solidFill>
                            <a:srgbClr val="B0C3D6"/>
                          </a:solidFill>
                        </a:rPr>
                        <a:t>Retrieval, constrained decoding, verifier correction, all-model comparison.</a:t>
                      </a:r>
                    </a:p>
                  </a:txBody>
                  <a:tcPr marL="36576" marR="36576" marT="18288" marB="18288">
                    <a:solidFill>
                      <a:srgbClr val="15263A"/>
                    </a:solidFill>
                  </a:tcPr>
                </a:tc>
                <a:extLst>
                  <a:ext uri="{0D108BD9-81ED-4DB2-BD59-A6C34878D82A}">
                    <a16:rowId xmlns:a16="http://schemas.microsoft.com/office/drawing/2014/main" val="10001"/>
                  </a:ext>
                </a:extLst>
              </a:tr>
              <a:tr h="537210">
                <a:tc>
                  <a:txBody>
                    <a:bodyPr/>
                    <a:lstStyle/>
                    <a:p>
                      <a:r>
                        <a:rPr sz="919" b="0">
                          <a:solidFill>
                            <a:srgbClr val="B0C3D6"/>
                          </a:solidFill>
                        </a:rPr>
                        <a:t>What is accurate?</a:t>
                      </a:r>
                    </a:p>
                  </a:txBody>
                  <a:tcPr marL="36576" marR="36576" marT="18288" marB="18288">
                    <a:solidFill>
                      <a:srgbClr val="15263A"/>
                    </a:solidFill>
                  </a:tcPr>
                </a:tc>
                <a:tc>
                  <a:txBody>
                    <a:bodyPr/>
                    <a:lstStyle/>
                    <a:p>
                      <a:r>
                        <a:rPr sz="919" b="0">
                          <a:solidFill>
                            <a:srgbClr val="B0C3D6"/>
                          </a:solidFill>
                        </a:rPr>
                        <a:t>Baseline 0.7612 local QA F1; RAISE seed 1.0 local F1 on 15 examples.</a:t>
                      </a:r>
                    </a:p>
                  </a:txBody>
                  <a:tcPr marL="36576" marR="36576" marT="18288" marB="18288">
                    <a:solidFill>
                      <a:srgbClr val="15263A"/>
                    </a:solidFill>
                  </a:tcPr>
                </a:tc>
                <a:extLst>
                  <a:ext uri="{0D108BD9-81ED-4DB2-BD59-A6C34878D82A}">
                    <a16:rowId xmlns:a16="http://schemas.microsoft.com/office/drawing/2014/main" val="10002"/>
                  </a:ext>
                </a:extLst>
              </a:tr>
              <a:tr h="537210">
                <a:tc>
                  <a:txBody>
                    <a:bodyPr/>
                    <a:lstStyle/>
                    <a:p>
                      <a:r>
                        <a:rPr sz="919" b="0">
                          <a:solidFill>
                            <a:srgbClr val="B0C3D6"/>
                          </a:solidFill>
                        </a:rPr>
                        <a:t>What is next?</a:t>
                      </a:r>
                    </a:p>
                  </a:txBody>
                  <a:tcPr marL="36576" marR="36576" marT="18288" marB="18288">
                    <a:solidFill>
                      <a:srgbClr val="15263A"/>
                    </a:solidFill>
                  </a:tcPr>
                </a:tc>
                <a:tc>
                  <a:txBody>
                    <a:bodyPr/>
                    <a:lstStyle/>
                    <a:p>
                      <a:r>
                        <a:rPr sz="919" b="0">
                          <a:solidFill>
                            <a:srgbClr val="B0C3D6"/>
                          </a:solidFill>
                        </a:rPr>
                        <a:t>Freeze a larger suite, train MRC, and report only reproducible numbers.</a:t>
                      </a:r>
                    </a:p>
                  </a:txBody>
                  <a:tcPr marL="36576" marR="36576" marT="18288" marB="18288">
                    <a:solidFill>
                      <a:srgbClr val="15263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Final Visual Takeaways</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Deep visual appendix: architecture, experiments, and implemented comparisons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685800" y="1143000"/>
            <a:ext cx="10789920" cy="4434840"/>
          </a:xfrm>
          <a:prstGeom prst="roundRect">
            <a:avLst/>
          </a:prstGeom>
          <a:solidFill>
            <a:srgbClr val="15263A"/>
          </a:solidFill>
          <a:ln>
            <a:solidFill>
              <a:srgbClr val="435C77"/>
            </a:solidFill>
          </a:ln>
        </p:spPr>
        <p:style>
          <a:lnRef idx="1">
            <a:schemeClr val="accent1"/>
          </a:lnRef>
          <a:fillRef idx="3">
            <a:schemeClr val="accent1"/>
          </a:fillRef>
          <a:effectRef idx="2">
            <a:schemeClr val="accent1"/>
          </a:effectRef>
          <a:fontRef idx="minor">
            <a:schemeClr val="lt1"/>
          </a:fontRef>
        </p:style>
        <p:txBody>
          <a:bodyPr wrap="square" lIns="146304" tIns="109728" rIns="128016" rtlCol="0" anchor="ctr"/>
          <a:lstStyle/>
          <a:p>
            <a:pPr algn="ctr"/>
            <a:r>
              <a:rPr sz="1550" b="1">
                <a:solidFill>
                  <a:srgbClr val="5FD394"/>
                </a:solidFill>
              </a:rPr>
              <a:t>Four messages to close with</a:t>
            </a:r>
          </a:p>
          <a:p>
            <a:pPr>
              <a:defRPr sz="1400">
                <a:solidFill>
                  <a:srgbClr val="EEF4FA"/>
                </a:solidFill>
              </a:defRPr>
            </a:pPr>
            <a:r>
              <a:t>The existing baseline is functional and measurable, not just a concept.</a:t>
            </a:r>
          </a:p>
          <a:p>
            <a:pPr>
              <a:defRPr sz="1400">
                <a:solidFill>
                  <a:srgbClr val="EEF4FA"/>
                </a:solidFill>
              </a:defRPr>
            </a:pPr>
            <a:r>
              <a:t>The hybrid and RAISE layers improve demo behavior by adding semantic constraints and correction.</a:t>
            </a:r>
          </a:p>
          <a:p>
            <a:pPr>
              <a:defRPr sz="1400">
                <a:solidFill>
                  <a:srgbClr val="EEF4FA"/>
                </a:solidFill>
              </a:defRPr>
            </a:pPr>
            <a:r>
              <a:t>The visual comparisons show implemented local values, not exaggerated public SOTA claims.</a:t>
            </a:r>
          </a:p>
          <a:p>
            <a:pPr>
              <a:defRPr sz="1400">
                <a:solidFill>
                  <a:srgbClr val="EEF4FA"/>
                </a:solidFill>
              </a:defRPr>
            </a:pPr>
            <a:r>
              <a:t>The next real accuracy jump requires frozen evaluation plus supervised MRC training.</a:t>
            </a:r>
          </a:p>
        </p:txBody>
      </p:sp>
      <p:sp>
        <p:nvSpPr>
          <p:cNvPr id="7" name="TextBox 6"/>
          <p:cNvSpPr txBox="1"/>
          <p:nvPr/>
        </p:nvSpPr>
        <p:spPr>
          <a:xfrm>
            <a:off x="914400" y="5715000"/>
            <a:ext cx="10241280" cy="320040"/>
          </a:xfrm>
          <a:prstGeom prst="rect">
            <a:avLst/>
          </a:prstGeom>
          <a:noFill/>
        </p:spPr>
        <p:txBody>
          <a:bodyPr wrap="square">
            <a:normAutofit/>
          </a:bodyPr>
          <a:lstStyle/>
          <a:p>
            <a:pPr algn="ctr"/>
            <a:r>
              <a:rPr sz="1250" b="1">
                <a:solidFill>
                  <a:srgbClr val="EEF4FA"/>
                </a:solidFill>
              </a:rPr>
              <a:t>Best closing line: We built a locally runnable, explainable SRL-QA system with a clear path from baseline to stronger RAISE experiments.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Plot Asset: Baseline Metrics</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Generated plot image stored under srlqa/results/visual_assets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pic>
        <p:nvPicPr>
          <p:cNvPr id="6" name="Picture 5" descr="baseline_metrics.png"/>
          <p:cNvPicPr>
            <a:picLocks noChangeAspect="1"/>
          </p:cNvPicPr>
          <p:nvPr/>
        </p:nvPicPr>
        <p:blipFill>
          <a:blip r:embed="rId2"/>
          <a:stretch>
            <a:fillRect/>
          </a:stretch>
        </p:blipFill>
        <p:spPr>
          <a:xfrm>
            <a:off x="731520" y="1143000"/>
            <a:ext cx="10789920" cy="5549102"/>
          </a:xfrm>
          <a:prstGeom prst="rect">
            <a:avLst/>
          </a:prstGeom>
        </p:spPr>
      </p:pic>
      <p:sp>
        <p:nvSpPr>
          <p:cNvPr id="7" name="TextBox 6"/>
          <p:cNvSpPr txBox="1"/>
          <p:nvPr/>
        </p:nvSpPr>
        <p:spPr>
          <a:xfrm>
            <a:off x="822960" y="5989320"/>
            <a:ext cx="10515600" cy="320040"/>
          </a:xfrm>
          <a:prstGeom prst="rect">
            <a:avLst/>
          </a:prstGeom>
          <a:noFill/>
        </p:spPr>
        <p:txBody>
          <a:bodyPr wrap="square">
            <a:normAutofit/>
          </a:bodyPr>
          <a:lstStyle/>
          <a:p>
            <a:r>
              <a:rPr sz="1050" b="1">
                <a:solidFill>
                  <a:srgbClr val="FFA94D"/>
                </a:solidFill>
              </a:rPr>
              <a:t>Implemented values from metrics.json.</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Plot Asset: Legacy Benchmark Accuracy</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Generated plot image stored under srlqa/results/visual_assets</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pic>
        <p:nvPicPr>
          <p:cNvPr id="6" name="Picture 5" descr="benchmark_tracks.png"/>
          <p:cNvPicPr>
            <a:picLocks noChangeAspect="1"/>
          </p:cNvPicPr>
          <p:nvPr/>
        </p:nvPicPr>
        <p:blipFill>
          <a:blip r:embed="rId2"/>
          <a:stretch>
            <a:fillRect/>
          </a:stretch>
        </p:blipFill>
        <p:spPr>
          <a:xfrm>
            <a:off x="731520" y="1143000"/>
            <a:ext cx="10789920" cy="5487601"/>
          </a:xfrm>
          <a:prstGeom prst="rect">
            <a:avLst/>
          </a:prstGeom>
        </p:spPr>
      </p:pic>
      <p:sp>
        <p:nvSpPr>
          <p:cNvPr id="7" name="TextBox 6"/>
          <p:cNvSpPr txBox="1"/>
          <p:nvPr/>
        </p:nvSpPr>
        <p:spPr>
          <a:xfrm>
            <a:off x="822960" y="5989320"/>
            <a:ext cx="10515600" cy="320040"/>
          </a:xfrm>
          <a:prstGeom prst="rect">
            <a:avLst/>
          </a:prstGeom>
          <a:noFill/>
        </p:spPr>
        <p:txBody>
          <a:bodyPr wrap="square">
            <a:normAutofit/>
          </a:bodyPr>
          <a:lstStyle/>
          <a:p>
            <a:r>
              <a:rPr sz="1050" b="1">
                <a:solidFill>
                  <a:srgbClr val="FFA94D"/>
                </a:solidFill>
              </a:rPr>
              <a:t>Saved benchmark artifact; not a RAISE official benchmark.</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Innovation Architecture: MRC SRL-QA Reader</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Per-innovation architecture and experiment design</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502920" y="1325880"/>
            <a:ext cx="1476102"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Question</a:t>
            </a:r>
          </a:p>
        </p:txBody>
      </p:sp>
      <p:sp>
        <p:nvSpPr>
          <p:cNvPr id="7" name="Rounded Rectangle 6"/>
          <p:cNvSpPr/>
          <p:nvPr/>
        </p:nvSpPr>
        <p:spPr>
          <a:xfrm>
            <a:off x="2116182" y="1325880"/>
            <a:ext cx="1476102"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Predicate marker</a:t>
            </a:r>
          </a:p>
        </p:txBody>
      </p:sp>
      <p:cxnSp>
        <p:nvCxnSpPr>
          <p:cNvPr id="8" name="Connector 7"/>
          <p:cNvCxnSpPr/>
          <p:nvPr/>
        </p:nvCxnSpPr>
        <p:spPr>
          <a:xfrm>
            <a:off x="1979022"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729445" y="1325880"/>
            <a:ext cx="1476102"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Context</a:t>
            </a:r>
          </a:p>
        </p:txBody>
      </p:sp>
      <p:cxnSp>
        <p:nvCxnSpPr>
          <p:cNvPr id="10" name="Connector 9"/>
          <p:cNvCxnSpPr/>
          <p:nvPr/>
        </p:nvCxnSpPr>
        <p:spPr>
          <a:xfrm>
            <a:off x="3592285"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342708" y="1325880"/>
            <a:ext cx="1476102"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DeBERTa encoder</a:t>
            </a:r>
          </a:p>
        </p:txBody>
      </p:sp>
      <p:cxnSp>
        <p:nvCxnSpPr>
          <p:cNvPr id="12" name="Connector 11"/>
          <p:cNvCxnSpPr/>
          <p:nvPr/>
        </p:nvCxnSpPr>
        <p:spPr>
          <a:xfrm>
            <a:off x="5205548"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955971" y="1325880"/>
            <a:ext cx="1476102"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Start/end heads</a:t>
            </a:r>
          </a:p>
        </p:txBody>
      </p:sp>
      <p:cxnSp>
        <p:nvCxnSpPr>
          <p:cNvPr id="14" name="Connector 13"/>
          <p:cNvCxnSpPr/>
          <p:nvPr/>
        </p:nvCxnSpPr>
        <p:spPr>
          <a:xfrm>
            <a:off x="6818811"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569234" y="1325880"/>
            <a:ext cx="1476102"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Role head</a:t>
            </a:r>
          </a:p>
        </p:txBody>
      </p:sp>
      <p:cxnSp>
        <p:nvCxnSpPr>
          <p:cNvPr id="16" name="Connector 15"/>
          <p:cNvCxnSpPr/>
          <p:nvPr/>
        </p:nvCxnSpPr>
        <p:spPr>
          <a:xfrm>
            <a:off x="8432074"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182497" y="1325880"/>
            <a:ext cx="1476102" cy="71323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Answer</a:t>
            </a:r>
          </a:p>
        </p:txBody>
      </p:sp>
      <p:cxnSp>
        <p:nvCxnSpPr>
          <p:cNvPr id="18" name="Connector 17"/>
          <p:cNvCxnSpPr/>
          <p:nvPr/>
        </p:nvCxnSpPr>
        <p:spPr>
          <a:xfrm>
            <a:off x="10045337"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graphicFrame>
        <p:nvGraphicFramePr>
          <p:cNvPr id="19" name="Table 18"/>
          <p:cNvGraphicFramePr>
            <a:graphicFrameLocks noGrp="1"/>
          </p:cNvGraphicFramePr>
          <p:nvPr/>
        </p:nvGraphicFramePr>
        <p:xfrm>
          <a:off x="640080" y="2788920"/>
          <a:ext cx="10972800" cy="26517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662940">
                <a:tc>
                  <a:txBody>
                    <a:bodyPr/>
                    <a:lstStyle/>
                    <a:p>
                      <a:r>
                        <a:rPr sz="850" b="1">
                          <a:solidFill>
                            <a:srgbClr val="EEF4FA"/>
                          </a:solidFill>
                        </a:rPr>
                        <a:t>Part</a:t>
                      </a:r>
                    </a:p>
                  </a:txBody>
                  <a:tcPr marL="36576" marR="36576" marT="18288" marB="18288">
                    <a:solidFill>
                      <a:srgbClr val="1D344E"/>
                    </a:solidFill>
                  </a:tcPr>
                </a:tc>
                <a:tc>
                  <a:txBody>
                    <a:bodyPr/>
                    <a:lstStyle/>
                    <a:p>
                      <a:r>
                        <a:rPr sz="850" b="1">
                          <a:solidFill>
                            <a:srgbClr val="EEF4FA"/>
                          </a:solidFill>
                        </a:rPr>
                        <a:t>Purpose</a:t>
                      </a:r>
                    </a:p>
                  </a:txBody>
                  <a:tcPr marL="36576" marR="36576" marT="18288" marB="18288">
                    <a:solidFill>
                      <a:srgbClr val="1D344E"/>
                    </a:solidFill>
                  </a:tcPr>
                </a:tc>
                <a:tc>
                  <a:txBody>
                    <a:bodyPr/>
                    <a:lstStyle/>
                    <a:p>
                      <a:r>
                        <a:rPr sz="850" b="1">
                          <a:solidFill>
                            <a:srgbClr val="EEF4FA"/>
                          </a:solidFill>
                        </a:rPr>
                        <a:t>Status</a:t>
                      </a:r>
                    </a:p>
                  </a:txBody>
                  <a:tcPr marL="36576" marR="36576" marT="18288" marB="18288">
                    <a:solidFill>
                      <a:srgbClr val="1D344E"/>
                    </a:solidFill>
                  </a:tcPr>
                </a:tc>
                <a:extLst>
                  <a:ext uri="{0D108BD9-81ED-4DB2-BD59-A6C34878D82A}">
                    <a16:rowId xmlns:a16="http://schemas.microsoft.com/office/drawing/2014/main" val="10000"/>
                  </a:ext>
                </a:extLst>
              </a:tr>
              <a:tr h="662940">
                <a:tc>
                  <a:txBody>
                    <a:bodyPr/>
                    <a:lstStyle/>
                    <a:p>
                      <a:r>
                        <a:rPr sz="850" b="0">
                          <a:solidFill>
                            <a:srgbClr val="B0C3D6"/>
                          </a:solidFill>
                        </a:rPr>
                        <a:t>MRC reader</a:t>
                      </a:r>
                    </a:p>
                  </a:txBody>
                  <a:tcPr marL="36576" marR="36576" marT="18288" marB="18288">
                    <a:solidFill>
                      <a:srgbClr val="15263A"/>
                    </a:solidFill>
                  </a:tcPr>
                </a:tc>
                <a:tc>
                  <a:txBody>
                    <a:bodyPr/>
                    <a:lstStyle/>
                    <a:p>
                      <a:r>
                        <a:rPr sz="850" b="0">
                          <a:solidFill>
                            <a:srgbClr val="B0C3D6"/>
                          </a:solidFill>
                        </a:rPr>
                        <a:t>Predict exact answer span boundaries</a:t>
                      </a:r>
                    </a:p>
                  </a:txBody>
                  <a:tcPr marL="36576" marR="36576" marT="18288" marB="18288">
                    <a:solidFill>
                      <a:srgbClr val="15263A"/>
                    </a:solidFill>
                  </a:tcPr>
                </a:tc>
                <a:tc>
                  <a:txBody>
                    <a:bodyPr/>
                    <a:lstStyle/>
                    <a:p>
                      <a:r>
                        <a:rPr sz="850" b="0">
                          <a:solidFill>
                            <a:srgbClr val="B0C3D6"/>
                          </a:solidFill>
                        </a:rPr>
                        <a:t>Scaffold + teacher candidate path</a:t>
                      </a:r>
                    </a:p>
                  </a:txBody>
                  <a:tcPr marL="36576" marR="36576" marT="18288" marB="18288">
                    <a:solidFill>
                      <a:srgbClr val="15263A"/>
                    </a:solidFill>
                  </a:tcPr>
                </a:tc>
                <a:extLst>
                  <a:ext uri="{0D108BD9-81ED-4DB2-BD59-A6C34878D82A}">
                    <a16:rowId xmlns:a16="http://schemas.microsoft.com/office/drawing/2014/main" val="10001"/>
                  </a:ext>
                </a:extLst>
              </a:tr>
              <a:tr h="662940">
                <a:tc>
                  <a:txBody>
                    <a:bodyPr/>
                    <a:lstStyle/>
                    <a:p>
                      <a:r>
                        <a:rPr sz="850" b="0">
                          <a:solidFill>
                            <a:srgbClr val="B0C3D6"/>
                          </a:solidFill>
                        </a:rPr>
                        <a:t>Role head</a:t>
                      </a:r>
                    </a:p>
                  </a:txBody>
                  <a:tcPr marL="36576" marR="36576" marT="18288" marB="18288">
                    <a:solidFill>
                      <a:srgbClr val="15263A"/>
                    </a:solidFill>
                  </a:tcPr>
                </a:tc>
                <a:tc>
                  <a:txBody>
                    <a:bodyPr/>
                    <a:lstStyle/>
                    <a:p>
                      <a:r>
                        <a:rPr sz="850" b="0">
                          <a:solidFill>
                            <a:srgbClr val="B0C3D6"/>
                          </a:solidFill>
                        </a:rPr>
                        <a:t>Predict semantic role together with span</a:t>
                      </a:r>
                    </a:p>
                  </a:txBody>
                  <a:tcPr marL="36576" marR="36576" marT="18288" marB="18288">
                    <a:solidFill>
                      <a:srgbClr val="15263A"/>
                    </a:solidFill>
                  </a:tcPr>
                </a:tc>
                <a:tc>
                  <a:txBody>
                    <a:bodyPr/>
                    <a:lstStyle/>
                    <a:p>
                      <a:r>
                        <a:rPr sz="850" b="0">
                          <a:solidFill>
                            <a:srgbClr val="B0C3D6"/>
                          </a:solidFill>
                        </a:rPr>
                        <a:t>Model scaffold</a:t>
                      </a:r>
                    </a:p>
                  </a:txBody>
                  <a:tcPr marL="36576" marR="36576" marT="18288" marB="18288">
                    <a:solidFill>
                      <a:srgbClr val="15263A"/>
                    </a:solidFill>
                  </a:tcPr>
                </a:tc>
                <a:extLst>
                  <a:ext uri="{0D108BD9-81ED-4DB2-BD59-A6C34878D82A}">
                    <a16:rowId xmlns:a16="http://schemas.microsoft.com/office/drawing/2014/main" val="10002"/>
                  </a:ext>
                </a:extLst>
              </a:tr>
              <a:tr h="662940">
                <a:tc>
                  <a:txBody>
                    <a:bodyPr/>
                    <a:lstStyle/>
                    <a:p>
                      <a:r>
                        <a:rPr sz="850" b="0">
                          <a:solidFill>
                            <a:srgbClr val="B0C3D6"/>
                          </a:solidFill>
                        </a:rPr>
                        <a:t>Next experiment</a:t>
                      </a:r>
                    </a:p>
                  </a:txBody>
                  <a:tcPr marL="36576" marR="36576" marT="18288" marB="18288">
                    <a:solidFill>
                      <a:srgbClr val="15263A"/>
                    </a:solidFill>
                  </a:tcPr>
                </a:tc>
                <a:tc>
                  <a:txBody>
                    <a:bodyPr/>
                    <a:lstStyle/>
                    <a:p>
                      <a:r>
                        <a:rPr sz="850" b="0">
                          <a:solidFill>
                            <a:srgbClr val="B0C3D6"/>
                          </a:solidFill>
                        </a:rPr>
                        <a:t>Fine-tune on frozen PropBank-derived QA split</a:t>
                      </a:r>
                    </a:p>
                  </a:txBody>
                  <a:tcPr marL="36576" marR="36576" marT="18288" marB="18288">
                    <a:solidFill>
                      <a:srgbClr val="15263A"/>
                    </a:solidFill>
                  </a:tcPr>
                </a:tc>
                <a:tc>
                  <a:txBody>
                    <a:bodyPr/>
                    <a:lstStyle/>
                    <a:p>
                      <a:r>
                        <a:rPr sz="850" b="0">
                          <a:solidFill>
                            <a:srgbClr val="B0C3D6"/>
                          </a:solidFill>
                        </a:rPr>
                        <a:t>Needed for real accuracy gain</a:t>
                      </a:r>
                    </a:p>
                  </a:txBody>
                  <a:tcPr marL="36576" marR="36576" marT="18288" marB="18288">
                    <a:solidFill>
                      <a:srgbClr val="15263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Innovation Architecture: PropBank Retrieval</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Per-innovation architecture and experiment design</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502920"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Predicate</a:t>
            </a:r>
          </a:p>
        </p:txBody>
      </p:sp>
      <p:sp>
        <p:nvSpPr>
          <p:cNvPr id="7" name="Rounded Rectangle 6"/>
          <p:cNvSpPr/>
          <p:nvPr/>
        </p:nvSpPr>
        <p:spPr>
          <a:xfrm>
            <a:off x="2385060"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Lemma normalize</a:t>
            </a:r>
          </a:p>
        </p:txBody>
      </p:sp>
      <p:cxnSp>
        <p:nvCxnSpPr>
          <p:cNvPr id="8" name="Connector 7"/>
          <p:cNvCxnSpPr/>
          <p:nvPr/>
        </p:nvCxnSpPr>
        <p:spPr>
          <a:xfrm>
            <a:off x="2247900"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267199"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Frame index</a:t>
            </a:r>
          </a:p>
        </p:txBody>
      </p:sp>
      <p:cxnSp>
        <p:nvCxnSpPr>
          <p:cNvPr id="10" name="Connector 9"/>
          <p:cNvCxnSpPr/>
          <p:nvPr/>
        </p:nvCxnSpPr>
        <p:spPr>
          <a:xfrm>
            <a:off x="4130039"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149339"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Role inventory</a:t>
            </a:r>
          </a:p>
        </p:txBody>
      </p:sp>
      <p:cxnSp>
        <p:nvCxnSpPr>
          <p:cNvPr id="12" name="Connector 11"/>
          <p:cNvCxnSpPr/>
          <p:nvPr/>
        </p:nvCxnSpPr>
        <p:spPr>
          <a:xfrm>
            <a:off x="6012179"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031480"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Compatibility score</a:t>
            </a:r>
          </a:p>
        </p:txBody>
      </p:sp>
      <p:cxnSp>
        <p:nvCxnSpPr>
          <p:cNvPr id="14" name="Connector 13"/>
          <p:cNvCxnSpPr/>
          <p:nvPr/>
        </p:nvCxnSpPr>
        <p:spPr>
          <a:xfrm>
            <a:off x="7894320"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913620" y="1325880"/>
            <a:ext cx="1744980" cy="71323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Rerank</a:t>
            </a:r>
          </a:p>
        </p:txBody>
      </p:sp>
      <p:cxnSp>
        <p:nvCxnSpPr>
          <p:cNvPr id="16" name="Connector 15"/>
          <p:cNvCxnSpPr/>
          <p:nvPr/>
        </p:nvCxnSpPr>
        <p:spPr>
          <a:xfrm>
            <a:off x="9776460"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nvGraphicFramePr>
        <p:xfrm>
          <a:off x="640080" y="2788920"/>
          <a:ext cx="10972800" cy="26517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662940">
                <a:tc>
                  <a:txBody>
                    <a:bodyPr/>
                    <a:lstStyle/>
                    <a:p>
                      <a:r>
                        <a:rPr sz="850" b="1">
                          <a:solidFill>
                            <a:srgbClr val="EEF4FA"/>
                          </a:solidFill>
                        </a:rPr>
                        <a:t>Part</a:t>
                      </a:r>
                    </a:p>
                  </a:txBody>
                  <a:tcPr marL="36576" marR="36576" marT="18288" marB="18288">
                    <a:solidFill>
                      <a:srgbClr val="1D344E"/>
                    </a:solidFill>
                  </a:tcPr>
                </a:tc>
                <a:tc>
                  <a:txBody>
                    <a:bodyPr/>
                    <a:lstStyle/>
                    <a:p>
                      <a:r>
                        <a:rPr sz="850" b="1">
                          <a:solidFill>
                            <a:srgbClr val="EEF4FA"/>
                          </a:solidFill>
                        </a:rPr>
                        <a:t>Purpose</a:t>
                      </a:r>
                    </a:p>
                  </a:txBody>
                  <a:tcPr marL="36576" marR="36576" marT="18288" marB="18288">
                    <a:solidFill>
                      <a:srgbClr val="1D344E"/>
                    </a:solidFill>
                  </a:tcPr>
                </a:tc>
                <a:tc>
                  <a:txBody>
                    <a:bodyPr/>
                    <a:lstStyle/>
                    <a:p>
                      <a:r>
                        <a:rPr sz="850" b="1">
                          <a:solidFill>
                            <a:srgbClr val="EEF4FA"/>
                          </a:solidFill>
                        </a:rPr>
                        <a:t>Status</a:t>
                      </a:r>
                    </a:p>
                  </a:txBody>
                  <a:tcPr marL="36576" marR="36576" marT="18288" marB="18288">
                    <a:solidFill>
                      <a:srgbClr val="1D344E"/>
                    </a:solidFill>
                  </a:tcPr>
                </a:tc>
                <a:extLst>
                  <a:ext uri="{0D108BD9-81ED-4DB2-BD59-A6C34878D82A}">
                    <a16:rowId xmlns:a16="http://schemas.microsoft.com/office/drawing/2014/main" val="10000"/>
                  </a:ext>
                </a:extLst>
              </a:tr>
              <a:tr h="662940">
                <a:tc>
                  <a:txBody>
                    <a:bodyPr/>
                    <a:lstStyle/>
                    <a:p>
                      <a:r>
                        <a:rPr sz="850" b="0">
                          <a:solidFill>
                            <a:srgbClr val="B0C3D6"/>
                          </a:solidFill>
                        </a:rPr>
                        <a:t>Frame store</a:t>
                      </a:r>
                    </a:p>
                  </a:txBody>
                  <a:tcPr marL="36576" marR="36576" marT="18288" marB="18288">
                    <a:solidFill>
                      <a:srgbClr val="15263A"/>
                    </a:solidFill>
                  </a:tcPr>
                </a:tc>
                <a:tc>
                  <a:txBody>
                    <a:bodyPr/>
                    <a:lstStyle/>
                    <a:p>
                      <a:r>
                        <a:rPr sz="850" b="0">
                          <a:solidFill>
                            <a:srgbClr val="B0C3D6"/>
                          </a:solidFill>
                        </a:rPr>
                        <a:t>Local searchable PropBank frame records</a:t>
                      </a:r>
                    </a:p>
                  </a:txBody>
                  <a:tcPr marL="36576" marR="36576" marT="18288" marB="18288">
                    <a:solidFill>
                      <a:srgbClr val="15263A"/>
                    </a:solidFill>
                  </a:tcPr>
                </a:tc>
                <a:tc>
                  <a:txBody>
                    <a:bodyPr/>
                    <a:lstStyle/>
                    <a:p>
                      <a:r>
                        <a:rPr sz="850" b="0">
                          <a:solidFill>
                            <a:srgbClr val="B0C3D6"/>
                          </a:solidFill>
                        </a:rPr>
                        <a:t>Implemented: 4,659 records</a:t>
                      </a:r>
                    </a:p>
                  </a:txBody>
                  <a:tcPr marL="36576" marR="36576" marT="18288" marB="18288">
                    <a:solidFill>
                      <a:srgbClr val="15263A"/>
                    </a:solidFill>
                  </a:tcPr>
                </a:tc>
                <a:extLst>
                  <a:ext uri="{0D108BD9-81ED-4DB2-BD59-A6C34878D82A}">
                    <a16:rowId xmlns:a16="http://schemas.microsoft.com/office/drawing/2014/main" val="10001"/>
                  </a:ext>
                </a:extLst>
              </a:tr>
              <a:tr h="662940">
                <a:tc>
                  <a:txBody>
                    <a:bodyPr/>
                    <a:lstStyle/>
                    <a:p>
                      <a:r>
                        <a:rPr sz="850" b="0">
                          <a:solidFill>
                            <a:srgbClr val="B0C3D6"/>
                          </a:solidFill>
                        </a:rPr>
                        <a:t>Compatibility</a:t>
                      </a:r>
                    </a:p>
                  </a:txBody>
                  <a:tcPr marL="36576" marR="36576" marT="18288" marB="18288">
                    <a:solidFill>
                      <a:srgbClr val="15263A"/>
                    </a:solidFill>
                  </a:tcPr>
                </a:tc>
                <a:tc>
                  <a:txBody>
                    <a:bodyPr/>
                    <a:lstStyle/>
                    <a:p>
                      <a:r>
                        <a:rPr sz="850" b="0">
                          <a:solidFill>
                            <a:srgbClr val="B0C3D6"/>
                          </a:solidFill>
                        </a:rPr>
                        <a:t>Penalize role/frame mismatch</a:t>
                      </a:r>
                    </a:p>
                  </a:txBody>
                  <a:tcPr marL="36576" marR="36576" marT="18288" marB="18288">
                    <a:solidFill>
                      <a:srgbClr val="15263A"/>
                    </a:solidFill>
                  </a:tcPr>
                </a:tc>
                <a:tc>
                  <a:txBody>
                    <a:bodyPr/>
                    <a:lstStyle/>
                    <a:p>
                      <a:r>
                        <a:rPr sz="850" b="0">
                          <a:solidFill>
                            <a:srgbClr val="B0C3D6"/>
                          </a:solidFill>
                        </a:rPr>
                        <a:t>Implemented in verifier/reranker path</a:t>
                      </a:r>
                    </a:p>
                  </a:txBody>
                  <a:tcPr marL="36576" marR="36576" marT="18288" marB="18288">
                    <a:solidFill>
                      <a:srgbClr val="15263A"/>
                    </a:solidFill>
                  </a:tcPr>
                </a:tc>
                <a:extLst>
                  <a:ext uri="{0D108BD9-81ED-4DB2-BD59-A6C34878D82A}">
                    <a16:rowId xmlns:a16="http://schemas.microsoft.com/office/drawing/2014/main" val="10002"/>
                  </a:ext>
                </a:extLst>
              </a:tr>
              <a:tr h="662940">
                <a:tc>
                  <a:txBody>
                    <a:bodyPr/>
                    <a:lstStyle/>
                    <a:p>
                      <a:r>
                        <a:rPr sz="850" b="0">
                          <a:solidFill>
                            <a:srgbClr val="B0C3D6"/>
                          </a:solidFill>
                        </a:rPr>
                        <a:t>Next experiment</a:t>
                      </a:r>
                    </a:p>
                  </a:txBody>
                  <a:tcPr marL="36576" marR="36576" marT="18288" marB="18288">
                    <a:solidFill>
                      <a:srgbClr val="15263A"/>
                    </a:solidFill>
                  </a:tcPr>
                </a:tc>
                <a:tc>
                  <a:txBody>
                    <a:bodyPr/>
                    <a:lstStyle/>
                    <a:p>
                      <a:r>
                        <a:rPr sz="850" b="0">
                          <a:solidFill>
                            <a:srgbClr val="B0C3D6"/>
                          </a:solidFill>
                        </a:rPr>
                        <a:t>Measure frame retrieval accuracy</a:t>
                      </a:r>
                    </a:p>
                  </a:txBody>
                  <a:tcPr marL="36576" marR="36576" marT="18288" marB="18288">
                    <a:solidFill>
                      <a:srgbClr val="15263A"/>
                    </a:solidFill>
                  </a:tcPr>
                </a:tc>
                <a:tc>
                  <a:txBody>
                    <a:bodyPr/>
                    <a:lstStyle/>
                    <a:p>
                      <a:r>
                        <a:rPr sz="850" b="0">
                          <a:solidFill>
                            <a:srgbClr val="B0C3D6"/>
                          </a:solidFill>
                        </a:rPr>
                        <a:t>Needed for retrieval ablation</a:t>
                      </a:r>
                    </a:p>
                  </a:txBody>
                  <a:tcPr marL="36576" marR="36576" marT="18288" marB="18288">
                    <a:solidFill>
                      <a:srgbClr val="15263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Innovation Architecture: Constrained Decoding</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Per-innovation architecture and experiment design</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502920"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Top-k spans</a:t>
            </a:r>
          </a:p>
        </p:txBody>
      </p:sp>
      <p:sp>
        <p:nvSpPr>
          <p:cNvPr id="7" name="Rounded Rectangle 6"/>
          <p:cNvSpPr/>
          <p:nvPr/>
        </p:nvSpPr>
        <p:spPr>
          <a:xfrm>
            <a:off x="2385060"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Extractive check</a:t>
            </a:r>
          </a:p>
        </p:txBody>
      </p:sp>
      <p:cxnSp>
        <p:nvCxnSpPr>
          <p:cNvPr id="8" name="Connector 7"/>
          <p:cNvCxnSpPr/>
          <p:nvPr/>
        </p:nvCxnSpPr>
        <p:spPr>
          <a:xfrm>
            <a:off x="2247900"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267199"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Role priors</a:t>
            </a:r>
          </a:p>
        </p:txBody>
      </p:sp>
      <p:cxnSp>
        <p:nvCxnSpPr>
          <p:cNvPr id="10" name="Connector 9"/>
          <p:cNvCxnSpPr/>
          <p:nvPr/>
        </p:nvCxnSpPr>
        <p:spPr>
          <a:xfrm>
            <a:off x="4130039"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149339"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Boundary rules</a:t>
            </a:r>
          </a:p>
        </p:txBody>
      </p:sp>
      <p:cxnSp>
        <p:nvCxnSpPr>
          <p:cNvPr id="12" name="Connector 11"/>
          <p:cNvCxnSpPr/>
          <p:nvPr/>
        </p:nvCxnSpPr>
        <p:spPr>
          <a:xfrm>
            <a:off x="6012179"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031480"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Length penalty</a:t>
            </a:r>
          </a:p>
        </p:txBody>
      </p:sp>
      <p:cxnSp>
        <p:nvCxnSpPr>
          <p:cNvPr id="14" name="Connector 13"/>
          <p:cNvCxnSpPr/>
          <p:nvPr/>
        </p:nvCxnSpPr>
        <p:spPr>
          <a:xfrm>
            <a:off x="7894320"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913620" y="1325880"/>
            <a:ext cx="1744980" cy="71323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Valid span</a:t>
            </a:r>
          </a:p>
        </p:txBody>
      </p:sp>
      <p:cxnSp>
        <p:nvCxnSpPr>
          <p:cNvPr id="16" name="Connector 15"/>
          <p:cNvCxnSpPr/>
          <p:nvPr/>
        </p:nvCxnSpPr>
        <p:spPr>
          <a:xfrm>
            <a:off x="9776460"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nvGraphicFramePr>
        <p:xfrm>
          <a:off x="640080" y="2788920"/>
          <a:ext cx="10972800" cy="26517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662940">
                <a:tc>
                  <a:txBody>
                    <a:bodyPr/>
                    <a:lstStyle/>
                    <a:p>
                      <a:r>
                        <a:rPr sz="850" b="1">
                          <a:solidFill>
                            <a:srgbClr val="EEF4FA"/>
                          </a:solidFill>
                        </a:rPr>
                        <a:t>Constraint</a:t>
                      </a:r>
                    </a:p>
                  </a:txBody>
                  <a:tcPr marL="36576" marR="36576" marT="18288" marB="18288">
                    <a:solidFill>
                      <a:srgbClr val="1D344E"/>
                    </a:solidFill>
                  </a:tcPr>
                </a:tc>
                <a:tc>
                  <a:txBody>
                    <a:bodyPr/>
                    <a:lstStyle/>
                    <a:p>
                      <a:r>
                        <a:rPr sz="850" b="1">
                          <a:solidFill>
                            <a:srgbClr val="EEF4FA"/>
                          </a:solidFill>
                        </a:rPr>
                        <a:t>What it prevents</a:t>
                      </a:r>
                    </a:p>
                  </a:txBody>
                  <a:tcPr marL="36576" marR="36576" marT="18288" marB="18288">
                    <a:solidFill>
                      <a:srgbClr val="1D344E"/>
                    </a:solidFill>
                  </a:tcPr>
                </a:tc>
                <a:tc>
                  <a:txBody>
                    <a:bodyPr/>
                    <a:lstStyle/>
                    <a:p>
                      <a:r>
                        <a:rPr sz="850" b="1">
                          <a:solidFill>
                            <a:srgbClr val="EEF4FA"/>
                          </a:solidFill>
                        </a:rPr>
                        <a:t>Example</a:t>
                      </a:r>
                    </a:p>
                  </a:txBody>
                  <a:tcPr marL="36576" marR="36576" marT="18288" marB="18288">
                    <a:solidFill>
                      <a:srgbClr val="1D344E"/>
                    </a:solidFill>
                  </a:tcPr>
                </a:tc>
                <a:extLst>
                  <a:ext uri="{0D108BD9-81ED-4DB2-BD59-A6C34878D82A}">
                    <a16:rowId xmlns:a16="http://schemas.microsoft.com/office/drawing/2014/main" val="10000"/>
                  </a:ext>
                </a:extLst>
              </a:tr>
              <a:tr h="662940">
                <a:tc>
                  <a:txBody>
                    <a:bodyPr/>
                    <a:lstStyle/>
                    <a:p>
                      <a:r>
                        <a:rPr sz="850" b="0">
                          <a:solidFill>
                            <a:srgbClr val="B0C3D6"/>
                          </a:solidFill>
                        </a:rPr>
                        <a:t>Extractive check</a:t>
                      </a:r>
                    </a:p>
                  </a:txBody>
                  <a:tcPr marL="36576" marR="36576" marT="18288" marB="18288">
                    <a:solidFill>
                      <a:srgbClr val="15263A"/>
                    </a:solidFill>
                  </a:tcPr>
                </a:tc>
                <a:tc>
                  <a:txBody>
                    <a:bodyPr/>
                    <a:lstStyle/>
                    <a:p>
                      <a:r>
                        <a:rPr sz="850" b="0">
                          <a:solidFill>
                            <a:srgbClr val="B0C3D6"/>
                          </a:solidFill>
                        </a:rPr>
                        <a:t>Hallucinated answer strings</a:t>
                      </a:r>
                    </a:p>
                  </a:txBody>
                  <a:tcPr marL="36576" marR="36576" marT="18288" marB="18288">
                    <a:solidFill>
                      <a:srgbClr val="15263A"/>
                    </a:solidFill>
                  </a:tcPr>
                </a:tc>
                <a:tc>
                  <a:txBody>
                    <a:bodyPr/>
                    <a:lstStyle/>
                    <a:p>
                      <a:r>
                        <a:rPr sz="850" b="0">
                          <a:solidFill>
                            <a:srgbClr val="B0C3D6"/>
                          </a:solidFill>
                        </a:rPr>
                        <a:t>Answer must occur in context</a:t>
                      </a:r>
                    </a:p>
                  </a:txBody>
                  <a:tcPr marL="36576" marR="36576" marT="18288" marB="18288">
                    <a:solidFill>
                      <a:srgbClr val="15263A"/>
                    </a:solidFill>
                  </a:tcPr>
                </a:tc>
                <a:extLst>
                  <a:ext uri="{0D108BD9-81ED-4DB2-BD59-A6C34878D82A}">
                    <a16:rowId xmlns:a16="http://schemas.microsoft.com/office/drawing/2014/main" val="10001"/>
                  </a:ext>
                </a:extLst>
              </a:tr>
              <a:tr h="662940">
                <a:tc>
                  <a:txBody>
                    <a:bodyPr/>
                    <a:lstStyle/>
                    <a:p>
                      <a:r>
                        <a:rPr sz="850" b="0">
                          <a:solidFill>
                            <a:srgbClr val="B0C3D6"/>
                          </a:solidFill>
                        </a:rPr>
                        <a:t>WHERE/WHEN split</a:t>
                      </a:r>
                    </a:p>
                  </a:txBody>
                  <a:tcPr marL="36576" marR="36576" marT="18288" marB="18288">
                    <a:solidFill>
                      <a:srgbClr val="15263A"/>
                    </a:solidFill>
                  </a:tcPr>
                </a:tc>
                <a:tc>
                  <a:txBody>
                    <a:bodyPr/>
                    <a:lstStyle/>
                    <a:p>
                      <a:r>
                        <a:rPr sz="850" b="0">
                          <a:solidFill>
                            <a:srgbClr val="B0C3D6"/>
                          </a:solidFill>
                        </a:rPr>
                        <a:t>Location span swallowing time phrase</a:t>
                      </a:r>
                    </a:p>
                  </a:txBody>
                  <a:tcPr marL="36576" marR="36576" marT="18288" marB="18288">
                    <a:solidFill>
                      <a:srgbClr val="15263A"/>
                    </a:solidFill>
                  </a:tcPr>
                </a:tc>
                <a:tc>
                  <a:txBody>
                    <a:bodyPr/>
                    <a:lstStyle/>
                    <a:p>
                      <a:r>
                        <a:rPr sz="850" b="0">
                          <a:solidFill>
                            <a:srgbClr val="B0C3D6"/>
                          </a:solidFill>
                        </a:rPr>
                        <a:t>`to the office` vs `at noon`</a:t>
                      </a:r>
                    </a:p>
                  </a:txBody>
                  <a:tcPr marL="36576" marR="36576" marT="18288" marB="18288">
                    <a:solidFill>
                      <a:srgbClr val="15263A"/>
                    </a:solidFill>
                  </a:tcPr>
                </a:tc>
                <a:extLst>
                  <a:ext uri="{0D108BD9-81ED-4DB2-BD59-A6C34878D82A}">
                    <a16:rowId xmlns:a16="http://schemas.microsoft.com/office/drawing/2014/main" val="10002"/>
                  </a:ext>
                </a:extLst>
              </a:tr>
              <a:tr h="662940">
                <a:tc>
                  <a:txBody>
                    <a:bodyPr/>
                    <a:lstStyle/>
                    <a:p>
                      <a:r>
                        <a:rPr sz="850" b="0">
                          <a:solidFill>
                            <a:srgbClr val="B0C3D6"/>
                          </a:solidFill>
                        </a:rPr>
                        <a:t>Length prior</a:t>
                      </a:r>
                    </a:p>
                  </a:txBody>
                  <a:tcPr marL="36576" marR="36576" marT="18288" marB="18288">
                    <a:solidFill>
                      <a:srgbClr val="15263A"/>
                    </a:solidFill>
                  </a:tcPr>
                </a:tc>
                <a:tc>
                  <a:txBody>
                    <a:bodyPr/>
                    <a:lstStyle/>
                    <a:p>
                      <a:r>
                        <a:rPr sz="850" b="0">
                          <a:solidFill>
                            <a:srgbClr val="B0C3D6"/>
                          </a:solidFill>
                        </a:rPr>
                        <a:t>Overlong baseline answer</a:t>
                      </a:r>
                    </a:p>
                  </a:txBody>
                  <a:tcPr marL="36576" marR="36576" marT="18288" marB="18288">
                    <a:solidFill>
                      <a:srgbClr val="15263A"/>
                    </a:solidFill>
                  </a:tcPr>
                </a:tc>
                <a:tc>
                  <a:txBody>
                    <a:bodyPr/>
                    <a:lstStyle/>
                    <a:p>
                      <a:r>
                        <a:rPr sz="850" b="0">
                          <a:solidFill>
                            <a:srgbClr val="B0C3D6"/>
                          </a:solidFill>
                        </a:rPr>
                        <a:t>Reject full predicate phrase when role asks location</a:t>
                      </a:r>
                    </a:p>
                  </a:txBody>
                  <a:tcPr marL="36576" marR="36576" marT="18288" marB="18288">
                    <a:solidFill>
                      <a:srgbClr val="15263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Innovation Architecture: Verifier + Recursive Correction</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Per-innovation architecture and experiment design</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502920"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Candidate 1</a:t>
            </a:r>
          </a:p>
        </p:txBody>
      </p:sp>
      <p:sp>
        <p:nvSpPr>
          <p:cNvPr id="7" name="Rounded Rectangle 6"/>
          <p:cNvSpPr/>
          <p:nvPr/>
        </p:nvSpPr>
        <p:spPr>
          <a:xfrm>
            <a:off x="2385060"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Verifier</a:t>
            </a:r>
          </a:p>
        </p:txBody>
      </p:sp>
      <p:cxnSp>
        <p:nvCxnSpPr>
          <p:cNvPr id="8" name="Connector 7"/>
          <p:cNvCxnSpPr/>
          <p:nvPr/>
        </p:nvCxnSpPr>
        <p:spPr>
          <a:xfrm>
            <a:off x="2247900"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267199"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Reject weak span</a:t>
            </a:r>
          </a:p>
        </p:txBody>
      </p:sp>
      <p:cxnSp>
        <p:nvCxnSpPr>
          <p:cNvPr id="10" name="Connector 9"/>
          <p:cNvCxnSpPr/>
          <p:nvPr/>
        </p:nvCxnSpPr>
        <p:spPr>
          <a:xfrm>
            <a:off x="4130039"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149339"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Candidate 2</a:t>
            </a:r>
          </a:p>
        </p:txBody>
      </p:sp>
      <p:cxnSp>
        <p:nvCxnSpPr>
          <p:cNvPr id="12" name="Connector 11"/>
          <p:cNvCxnSpPr/>
          <p:nvPr/>
        </p:nvCxnSpPr>
        <p:spPr>
          <a:xfrm>
            <a:off x="6012179"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031480"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Verifier</a:t>
            </a:r>
          </a:p>
        </p:txBody>
      </p:sp>
      <p:cxnSp>
        <p:nvCxnSpPr>
          <p:cNvPr id="14" name="Connector 13"/>
          <p:cNvCxnSpPr/>
          <p:nvPr/>
        </p:nvCxnSpPr>
        <p:spPr>
          <a:xfrm>
            <a:off x="7894320"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913620" y="1325880"/>
            <a:ext cx="1744980" cy="71323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Accept exact span</a:t>
            </a:r>
          </a:p>
        </p:txBody>
      </p:sp>
      <p:cxnSp>
        <p:nvCxnSpPr>
          <p:cNvPr id="16" name="Connector 15"/>
          <p:cNvCxnSpPr/>
          <p:nvPr/>
        </p:nvCxnSpPr>
        <p:spPr>
          <a:xfrm>
            <a:off x="9776460"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nvGraphicFramePr>
        <p:xfrm>
          <a:off x="640080" y="2788920"/>
          <a:ext cx="10972800" cy="26517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662940">
                <a:tc>
                  <a:txBody>
                    <a:bodyPr/>
                    <a:lstStyle/>
                    <a:p>
                      <a:r>
                        <a:rPr sz="850" b="1">
                          <a:solidFill>
                            <a:srgbClr val="EEF4FA"/>
                          </a:solidFill>
                        </a:rPr>
                        <a:t>Step</a:t>
                      </a:r>
                    </a:p>
                  </a:txBody>
                  <a:tcPr marL="36576" marR="36576" marT="18288" marB="18288">
                    <a:solidFill>
                      <a:srgbClr val="1D344E"/>
                    </a:solidFill>
                  </a:tcPr>
                </a:tc>
                <a:tc>
                  <a:txBody>
                    <a:bodyPr/>
                    <a:lstStyle/>
                    <a:p>
                      <a:r>
                        <a:rPr sz="850" b="1">
                          <a:solidFill>
                            <a:srgbClr val="EEF4FA"/>
                          </a:solidFill>
                        </a:rPr>
                        <a:t>Purpose</a:t>
                      </a:r>
                    </a:p>
                  </a:txBody>
                  <a:tcPr marL="36576" marR="36576" marT="18288" marB="18288">
                    <a:solidFill>
                      <a:srgbClr val="1D344E"/>
                    </a:solidFill>
                  </a:tcPr>
                </a:tc>
                <a:tc>
                  <a:txBody>
                    <a:bodyPr/>
                    <a:lstStyle/>
                    <a:p>
                      <a:r>
                        <a:rPr sz="850" b="1">
                          <a:solidFill>
                            <a:srgbClr val="EEF4FA"/>
                          </a:solidFill>
                        </a:rPr>
                        <a:t>Demo evidence</a:t>
                      </a:r>
                    </a:p>
                  </a:txBody>
                  <a:tcPr marL="36576" marR="36576" marT="18288" marB="18288">
                    <a:solidFill>
                      <a:srgbClr val="1D344E"/>
                    </a:solidFill>
                  </a:tcPr>
                </a:tc>
                <a:extLst>
                  <a:ext uri="{0D108BD9-81ED-4DB2-BD59-A6C34878D82A}">
                    <a16:rowId xmlns:a16="http://schemas.microsoft.com/office/drawing/2014/main" val="10000"/>
                  </a:ext>
                </a:extLst>
              </a:tr>
              <a:tr h="662940">
                <a:tc>
                  <a:txBody>
                    <a:bodyPr/>
                    <a:lstStyle/>
                    <a:p>
                      <a:r>
                        <a:rPr sz="850" b="0">
                          <a:solidFill>
                            <a:srgbClr val="B0C3D6"/>
                          </a:solidFill>
                        </a:rPr>
                        <a:t>Verifier</a:t>
                      </a:r>
                    </a:p>
                  </a:txBody>
                  <a:tcPr marL="36576" marR="36576" marT="18288" marB="18288">
                    <a:solidFill>
                      <a:srgbClr val="15263A"/>
                    </a:solidFill>
                  </a:tcPr>
                </a:tc>
                <a:tc>
                  <a:txBody>
                    <a:bodyPr/>
                    <a:lstStyle/>
                    <a:p>
                      <a:r>
                        <a:rPr sz="850" b="0">
                          <a:solidFill>
                            <a:srgbClr val="B0C3D6"/>
                          </a:solidFill>
                        </a:rPr>
                        <a:t>Check extractability and role compatibility</a:t>
                      </a:r>
                    </a:p>
                  </a:txBody>
                  <a:tcPr marL="36576" marR="36576" marT="18288" marB="18288">
                    <a:solidFill>
                      <a:srgbClr val="15263A"/>
                    </a:solidFill>
                  </a:tcPr>
                </a:tc>
                <a:tc>
                  <a:txBody>
                    <a:bodyPr/>
                    <a:lstStyle/>
                    <a:p>
                      <a:r>
                        <a:rPr sz="850" b="0">
                          <a:solidFill>
                            <a:srgbClr val="B0C3D6"/>
                          </a:solidFill>
                        </a:rPr>
                        <a:t>`to the office` is ARGM-LOC-compatible</a:t>
                      </a:r>
                    </a:p>
                  </a:txBody>
                  <a:tcPr marL="36576" marR="36576" marT="18288" marB="18288">
                    <a:solidFill>
                      <a:srgbClr val="15263A"/>
                    </a:solidFill>
                  </a:tcPr>
                </a:tc>
                <a:extLst>
                  <a:ext uri="{0D108BD9-81ED-4DB2-BD59-A6C34878D82A}">
                    <a16:rowId xmlns:a16="http://schemas.microsoft.com/office/drawing/2014/main" val="10001"/>
                  </a:ext>
                </a:extLst>
              </a:tr>
              <a:tr h="662940">
                <a:tc>
                  <a:txBody>
                    <a:bodyPr/>
                    <a:lstStyle/>
                    <a:p>
                      <a:r>
                        <a:rPr sz="850" b="0">
                          <a:solidFill>
                            <a:srgbClr val="B0C3D6"/>
                          </a:solidFill>
                        </a:rPr>
                        <a:t>Correction</a:t>
                      </a:r>
                    </a:p>
                  </a:txBody>
                  <a:tcPr marL="36576" marR="36576" marT="18288" marB="18288">
                    <a:solidFill>
                      <a:srgbClr val="15263A"/>
                    </a:solidFill>
                  </a:tcPr>
                </a:tc>
                <a:tc>
                  <a:txBody>
                    <a:bodyPr/>
                    <a:lstStyle/>
                    <a:p>
                      <a:r>
                        <a:rPr sz="850" b="0">
                          <a:solidFill>
                            <a:srgbClr val="B0C3D6"/>
                          </a:solidFill>
                        </a:rPr>
                        <a:t>Try another candidate if first is weak</a:t>
                      </a:r>
                    </a:p>
                  </a:txBody>
                  <a:tcPr marL="36576" marR="36576" marT="18288" marB="18288">
                    <a:solidFill>
                      <a:srgbClr val="15263A"/>
                    </a:solidFill>
                  </a:tcPr>
                </a:tc>
                <a:tc>
                  <a:txBody>
                    <a:bodyPr/>
                    <a:lstStyle/>
                    <a:p>
                      <a:r>
                        <a:rPr sz="850" b="0">
                          <a:solidFill>
                            <a:srgbClr val="B0C3D6"/>
                          </a:solidFill>
                        </a:rPr>
                        <a:t>Useful for near-miss spans</a:t>
                      </a:r>
                    </a:p>
                  </a:txBody>
                  <a:tcPr marL="36576" marR="36576" marT="18288" marB="18288">
                    <a:solidFill>
                      <a:srgbClr val="15263A"/>
                    </a:solidFill>
                  </a:tcPr>
                </a:tc>
                <a:extLst>
                  <a:ext uri="{0D108BD9-81ED-4DB2-BD59-A6C34878D82A}">
                    <a16:rowId xmlns:a16="http://schemas.microsoft.com/office/drawing/2014/main" val="10002"/>
                  </a:ext>
                </a:extLst>
              </a:tr>
              <a:tr h="662940">
                <a:tc>
                  <a:txBody>
                    <a:bodyPr/>
                    <a:lstStyle/>
                    <a:p>
                      <a:r>
                        <a:rPr sz="850" b="0">
                          <a:solidFill>
                            <a:srgbClr val="B0C3D6"/>
                          </a:solidFill>
                        </a:rPr>
                        <a:t>Safety</a:t>
                      </a:r>
                    </a:p>
                  </a:txBody>
                  <a:tcPr marL="36576" marR="36576" marT="18288" marB="18288">
                    <a:solidFill>
                      <a:srgbClr val="15263A"/>
                    </a:solidFill>
                  </a:tcPr>
                </a:tc>
                <a:tc>
                  <a:txBody>
                    <a:bodyPr/>
                    <a:lstStyle/>
                    <a:p>
                      <a:r>
                        <a:rPr sz="850" b="0">
                          <a:solidFill>
                            <a:srgbClr val="B0C3D6"/>
                          </a:solidFill>
                        </a:rPr>
                        <a:t>Does not invent a new answer</a:t>
                      </a:r>
                    </a:p>
                  </a:txBody>
                  <a:tcPr marL="36576" marR="36576" marT="18288" marB="18288">
                    <a:solidFill>
                      <a:srgbClr val="15263A"/>
                    </a:solidFill>
                  </a:tcPr>
                </a:tc>
                <a:tc>
                  <a:txBody>
                    <a:bodyPr/>
                    <a:lstStyle/>
                    <a:p>
                      <a:r>
                        <a:rPr sz="850" b="0">
                          <a:solidFill>
                            <a:srgbClr val="B0C3D6"/>
                          </a:solidFill>
                        </a:rPr>
                        <a:t>Only chooses context spans</a:t>
                      </a:r>
                    </a:p>
                  </a:txBody>
                  <a:tcPr marL="36576" marR="36576" marT="18288" marB="18288">
                    <a:solidFill>
                      <a:srgbClr val="15263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Innovation Architecture: Proto-Role Auxiliary Reasoning</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Per-innovation architecture and experiment design</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502920" y="1325880"/>
            <a:ext cx="2121408"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Minimal pairs</a:t>
            </a:r>
          </a:p>
        </p:txBody>
      </p:sp>
      <p:sp>
        <p:nvSpPr>
          <p:cNvPr id="7" name="Rounded Rectangle 6"/>
          <p:cNvSpPr/>
          <p:nvPr/>
        </p:nvSpPr>
        <p:spPr>
          <a:xfrm>
            <a:off x="2761487" y="1325880"/>
            <a:ext cx="2121408"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Agency cues</a:t>
            </a:r>
          </a:p>
        </p:txBody>
      </p:sp>
      <p:cxnSp>
        <p:nvCxnSpPr>
          <p:cNvPr id="8" name="Connector 7"/>
          <p:cNvCxnSpPr/>
          <p:nvPr/>
        </p:nvCxnSpPr>
        <p:spPr>
          <a:xfrm>
            <a:off x="2624327"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0055" y="1325880"/>
            <a:ext cx="2121408"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Affectedness</a:t>
            </a:r>
          </a:p>
        </p:txBody>
      </p:sp>
      <p:cxnSp>
        <p:nvCxnSpPr>
          <p:cNvPr id="10" name="Connector 9"/>
          <p:cNvCxnSpPr/>
          <p:nvPr/>
        </p:nvCxnSpPr>
        <p:spPr>
          <a:xfrm>
            <a:off x="4882895"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278623" y="1325880"/>
            <a:ext cx="2121408"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Aux features</a:t>
            </a:r>
          </a:p>
        </p:txBody>
      </p:sp>
      <p:cxnSp>
        <p:nvCxnSpPr>
          <p:cNvPr id="12" name="Connector 11"/>
          <p:cNvCxnSpPr/>
          <p:nvPr/>
        </p:nvCxnSpPr>
        <p:spPr>
          <a:xfrm>
            <a:off x="7141463"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37192" y="1325880"/>
            <a:ext cx="2121408" cy="71323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Role rerank</a:t>
            </a:r>
          </a:p>
        </p:txBody>
      </p:sp>
      <p:cxnSp>
        <p:nvCxnSpPr>
          <p:cNvPr id="14" name="Connector 13"/>
          <p:cNvCxnSpPr/>
          <p:nvPr/>
        </p:nvCxnSpPr>
        <p:spPr>
          <a:xfrm>
            <a:off x="9400032"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nvGraphicFramePr>
        <p:xfrm>
          <a:off x="640080" y="2788920"/>
          <a:ext cx="10972800" cy="26517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662940">
                <a:tc>
                  <a:txBody>
                    <a:bodyPr/>
                    <a:lstStyle/>
                    <a:p>
                      <a:r>
                        <a:rPr sz="850" b="1">
                          <a:solidFill>
                            <a:srgbClr val="EEF4FA"/>
                          </a:solidFill>
                        </a:rPr>
                        <a:t>Signal</a:t>
                      </a:r>
                    </a:p>
                  </a:txBody>
                  <a:tcPr marL="36576" marR="36576" marT="18288" marB="18288">
                    <a:solidFill>
                      <a:srgbClr val="1D344E"/>
                    </a:solidFill>
                  </a:tcPr>
                </a:tc>
                <a:tc>
                  <a:txBody>
                    <a:bodyPr/>
                    <a:lstStyle/>
                    <a:p>
                      <a:r>
                        <a:rPr sz="850" b="1">
                          <a:solidFill>
                            <a:srgbClr val="EEF4FA"/>
                          </a:solidFill>
                        </a:rPr>
                        <a:t>Why it matters</a:t>
                      </a:r>
                    </a:p>
                  </a:txBody>
                  <a:tcPr marL="36576" marR="36576" marT="18288" marB="18288">
                    <a:solidFill>
                      <a:srgbClr val="1D344E"/>
                    </a:solidFill>
                  </a:tcPr>
                </a:tc>
                <a:tc>
                  <a:txBody>
                    <a:bodyPr/>
                    <a:lstStyle/>
                    <a:p>
                      <a:r>
                        <a:rPr sz="850" b="1">
                          <a:solidFill>
                            <a:srgbClr val="EEF4FA"/>
                          </a:solidFill>
                        </a:rPr>
                        <a:t>Status</a:t>
                      </a:r>
                    </a:p>
                  </a:txBody>
                  <a:tcPr marL="36576" marR="36576" marT="18288" marB="18288">
                    <a:solidFill>
                      <a:srgbClr val="1D344E"/>
                    </a:solidFill>
                  </a:tcPr>
                </a:tc>
                <a:extLst>
                  <a:ext uri="{0D108BD9-81ED-4DB2-BD59-A6C34878D82A}">
                    <a16:rowId xmlns:a16="http://schemas.microsoft.com/office/drawing/2014/main" val="10000"/>
                  </a:ext>
                </a:extLst>
              </a:tr>
              <a:tr h="662940">
                <a:tc>
                  <a:txBody>
                    <a:bodyPr/>
                    <a:lstStyle/>
                    <a:p>
                      <a:r>
                        <a:rPr sz="850" b="0">
                          <a:solidFill>
                            <a:srgbClr val="B0C3D6"/>
                          </a:solidFill>
                        </a:rPr>
                        <a:t>Agency</a:t>
                      </a:r>
                    </a:p>
                  </a:txBody>
                  <a:tcPr marL="36576" marR="36576" marT="18288" marB="18288">
                    <a:solidFill>
                      <a:srgbClr val="15263A"/>
                    </a:solidFill>
                  </a:tcPr>
                </a:tc>
                <a:tc>
                  <a:txBody>
                    <a:bodyPr/>
                    <a:lstStyle/>
                    <a:p>
                      <a:r>
                        <a:rPr sz="850" b="0">
                          <a:solidFill>
                            <a:srgbClr val="B0C3D6"/>
                          </a:solidFill>
                        </a:rPr>
                        <a:t>Helps ARG0/ARG1 distinctions</a:t>
                      </a:r>
                    </a:p>
                  </a:txBody>
                  <a:tcPr marL="36576" marR="36576" marT="18288" marB="18288">
                    <a:solidFill>
                      <a:srgbClr val="15263A"/>
                    </a:solidFill>
                  </a:tcPr>
                </a:tc>
                <a:tc>
                  <a:txBody>
                    <a:bodyPr/>
                    <a:lstStyle/>
                    <a:p>
                      <a:r>
                        <a:rPr sz="850" b="0">
                          <a:solidFill>
                            <a:srgbClr val="B0C3D6"/>
                          </a:solidFill>
                        </a:rPr>
                        <a:t>Scaffold</a:t>
                      </a:r>
                    </a:p>
                  </a:txBody>
                  <a:tcPr marL="36576" marR="36576" marT="18288" marB="18288">
                    <a:solidFill>
                      <a:srgbClr val="15263A"/>
                    </a:solidFill>
                  </a:tcPr>
                </a:tc>
                <a:extLst>
                  <a:ext uri="{0D108BD9-81ED-4DB2-BD59-A6C34878D82A}">
                    <a16:rowId xmlns:a16="http://schemas.microsoft.com/office/drawing/2014/main" val="10001"/>
                  </a:ext>
                </a:extLst>
              </a:tr>
              <a:tr h="662940">
                <a:tc>
                  <a:txBody>
                    <a:bodyPr/>
                    <a:lstStyle/>
                    <a:p>
                      <a:r>
                        <a:rPr sz="850" b="0">
                          <a:solidFill>
                            <a:srgbClr val="B0C3D6"/>
                          </a:solidFill>
                        </a:rPr>
                        <a:t>Affectedness</a:t>
                      </a:r>
                    </a:p>
                  </a:txBody>
                  <a:tcPr marL="36576" marR="36576" marT="18288" marB="18288">
                    <a:solidFill>
                      <a:srgbClr val="15263A"/>
                    </a:solidFill>
                  </a:tcPr>
                </a:tc>
                <a:tc>
                  <a:txBody>
                    <a:bodyPr/>
                    <a:lstStyle/>
                    <a:p>
                      <a:r>
                        <a:rPr sz="850" b="0">
                          <a:solidFill>
                            <a:srgbClr val="B0C3D6"/>
                          </a:solidFill>
                        </a:rPr>
                        <a:t>Helps patient/theme distinctions</a:t>
                      </a:r>
                    </a:p>
                  </a:txBody>
                  <a:tcPr marL="36576" marR="36576" marT="18288" marB="18288">
                    <a:solidFill>
                      <a:srgbClr val="15263A"/>
                    </a:solidFill>
                  </a:tcPr>
                </a:tc>
                <a:tc>
                  <a:txBody>
                    <a:bodyPr/>
                    <a:lstStyle/>
                    <a:p>
                      <a:r>
                        <a:rPr sz="850" b="0">
                          <a:solidFill>
                            <a:srgbClr val="B0C3D6"/>
                          </a:solidFill>
                        </a:rPr>
                        <a:t>Scaffold</a:t>
                      </a:r>
                    </a:p>
                  </a:txBody>
                  <a:tcPr marL="36576" marR="36576" marT="18288" marB="18288">
                    <a:solidFill>
                      <a:srgbClr val="15263A"/>
                    </a:solidFill>
                  </a:tcPr>
                </a:tc>
                <a:extLst>
                  <a:ext uri="{0D108BD9-81ED-4DB2-BD59-A6C34878D82A}">
                    <a16:rowId xmlns:a16="http://schemas.microsoft.com/office/drawing/2014/main" val="10002"/>
                  </a:ext>
                </a:extLst>
              </a:tr>
              <a:tr h="662940">
                <a:tc>
                  <a:txBody>
                    <a:bodyPr/>
                    <a:lstStyle/>
                    <a:p>
                      <a:r>
                        <a:rPr sz="850" b="0">
                          <a:solidFill>
                            <a:srgbClr val="B0C3D6"/>
                          </a:solidFill>
                        </a:rPr>
                        <a:t>Minimal pairs</a:t>
                      </a:r>
                    </a:p>
                  </a:txBody>
                  <a:tcPr marL="36576" marR="36576" marT="18288" marB="18288">
                    <a:solidFill>
                      <a:srgbClr val="15263A"/>
                    </a:solidFill>
                  </a:tcPr>
                </a:tc>
                <a:tc>
                  <a:txBody>
                    <a:bodyPr/>
                    <a:lstStyle/>
                    <a:p>
                      <a:r>
                        <a:rPr sz="850" b="0">
                          <a:solidFill>
                            <a:srgbClr val="B0C3D6"/>
                          </a:solidFill>
                        </a:rPr>
                        <a:t>Tests role flips like company/Rahul</a:t>
                      </a:r>
                    </a:p>
                  </a:txBody>
                  <a:tcPr marL="36576" marR="36576" marT="18288" marB="18288">
                    <a:solidFill>
                      <a:srgbClr val="15263A"/>
                    </a:solidFill>
                  </a:tcPr>
                </a:tc>
                <a:tc>
                  <a:txBody>
                    <a:bodyPr/>
                    <a:lstStyle/>
                    <a:p>
                      <a:r>
                        <a:rPr sz="850" b="0">
                          <a:solidFill>
                            <a:srgbClr val="B0C3D6"/>
                          </a:solidFill>
                        </a:rPr>
                        <a:t>Seed examples exist</a:t>
                      </a:r>
                    </a:p>
                  </a:txBody>
                  <a:tcPr marL="36576" marR="36576" marT="18288" marB="18288">
                    <a:solidFill>
                      <a:srgbClr val="15263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12064"/>
          </a:xfrm>
          <a:prstGeom prst="rect">
            <a:avLst/>
          </a:prstGeom>
          <a:noFill/>
        </p:spPr>
        <p:txBody>
          <a:bodyPr wrap="square">
            <a:normAutofit/>
          </a:bodyPr>
          <a:lstStyle/>
          <a:p>
            <a:r>
              <a:rPr sz="2400" b="1">
                <a:solidFill>
                  <a:srgbClr val="EEF4FA"/>
                </a:solidFill>
              </a:rPr>
              <a:t>Innovation Architecture: Calibration + Ensemble</a:t>
            </a:r>
          </a:p>
        </p:txBody>
      </p:sp>
      <p:sp>
        <p:nvSpPr>
          <p:cNvPr id="4" name="TextBox 3"/>
          <p:cNvSpPr txBox="1"/>
          <p:nvPr/>
        </p:nvSpPr>
        <p:spPr>
          <a:xfrm>
            <a:off x="475488" y="768096"/>
            <a:ext cx="11064240" cy="256032"/>
          </a:xfrm>
          <a:prstGeom prst="rect">
            <a:avLst/>
          </a:prstGeom>
          <a:noFill/>
        </p:spPr>
        <p:txBody>
          <a:bodyPr wrap="square">
            <a:normAutofit/>
          </a:bodyPr>
          <a:lstStyle/>
          <a:p>
            <a:r>
              <a:rPr sz="850" b="0">
                <a:solidFill>
                  <a:srgbClr val="B0C3D6"/>
                </a:solidFill>
              </a:rPr>
              <a:t>Per-innovation architecture and experiment design</a:t>
            </a:r>
          </a:p>
        </p:txBody>
      </p:sp>
      <p:sp>
        <p:nvSpPr>
          <p:cNvPr id="5" name="TextBox 4"/>
          <p:cNvSpPr txBox="1"/>
          <p:nvPr/>
        </p:nvSpPr>
        <p:spPr>
          <a:xfrm>
            <a:off x="502920" y="6473952"/>
            <a:ext cx="10972800" cy="201168"/>
          </a:xfrm>
          <a:prstGeom prst="rect">
            <a:avLst/>
          </a:prstGeom>
          <a:noFill/>
        </p:spPr>
        <p:txBody>
          <a:bodyPr wrap="square">
            <a:normAutofit/>
          </a:bodyPr>
          <a:lstStyle/>
          <a:p>
            <a:r>
              <a:rPr sz="750" b="0">
                <a:solidFill>
                  <a:srgbClr val="B0C3D6"/>
                </a:solidFill>
              </a:rPr>
              <a:t>All scores are local implemented values unless a row is explicitly labeled as planned or roadmap.</a:t>
            </a:r>
          </a:p>
        </p:txBody>
      </p:sp>
      <p:sp>
        <p:nvSpPr>
          <p:cNvPr id="6" name="Rounded Rectangle 5"/>
          <p:cNvSpPr/>
          <p:nvPr/>
        </p:nvSpPr>
        <p:spPr>
          <a:xfrm>
            <a:off x="502920"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Baseline</a:t>
            </a:r>
          </a:p>
        </p:txBody>
      </p:sp>
      <p:sp>
        <p:nvSpPr>
          <p:cNvPr id="7" name="Rounded Rectangle 6"/>
          <p:cNvSpPr/>
          <p:nvPr/>
        </p:nvSpPr>
        <p:spPr>
          <a:xfrm>
            <a:off x="2385060"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Hybrid</a:t>
            </a:r>
          </a:p>
        </p:txBody>
      </p:sp>
      <p:cxnSp>
        <p:nvCxnSpPr>
          <p:cNvPr id="8" name="Connector 7"/>
          <p:cNvCxnSpPr/>
          <p:nvPr/>
        </p:nvCxnSpPr>
        <p:spPr>
          <a:xfrm>
            <a:off x="2247900"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267199"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RAISE</a:t>
            </a:r>
          </a:p>
        </p:txBody>
      </p:sp>
      <p:cxnSp>
        <p:nvCxnSpPr>
          <p:cNvPr id="10" name="Connector 9"/>
          <p:cNvCxnSpPr/>
          <p:nvPr/>
        </p:nvCxnSpPr>
        <p:spPr>
          <a:xfrm>
            <a:off x="4130039"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149339"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Verifier</a:t>
            </a:r>
          </a:p>
        </p:txBody>
      </p:sp>
      <p:cxnSp>
        <p:nvCxnSpPr>
          <p:cNvPr id="12" name="Connector 11"/>
          <p:cNvCxnSpPr/>
          <p:nvPr/>
        </p:nvCxnSpPr>
        <p:spPr>
          <a:xfrm>
            <a:off x="6012179"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031480" y="1325880"/>
            <a:ext cx="1744980" cy="713232"/>
          </a:xfrm>
          <a:prstGeom prst="roundRect">
            <a:avLst/>
          </a:prstGeom>
          <a:solidFill>
            <a:srgbClr val="15263A"/>
          </a:solidFill>
          <a:ln>
            <a:solidFill>
              <a:srgbClr val="39BEBD"/>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Weighted vote</a:t>
            </a:r>
          </a:p>
        </p:txBody>
      </p:sp>
      <p:cxnSp>
        <p:nvCxnSpPr>
          <p:cNvPr id="14" name="Connector 13"/>
          <p:cNvCxnSpPr/>
          <p:nvPr/>
        </p:nvCxnSpPr>
        <p:spPr>
          <a:xfrm>
            <a:off x="7894320"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913620" y="1325880"/>
            <a:ext cx="1744980" cy="713232"/>
          </a:xfrm>
          <a:prstGeom prst="roundRect">
            <a:avLst/>
          </a:prstGeom>
          <a:solidFill>
            <a:srgbClr val="15263A"/>
          </a:solidFill>
          <a:ln>
            <a:solidFill>
              <a:srgbClr val="5FD39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720" b="1">
                <a:solidFill>
                  <a:srgbClr val="EEF4FA"/>
                </a:solidFill>
              </a:rPr>
              <a:t>Calibrated confidence</a:t>
            </a:r>
          </a:p>
        </p:txBody>
      </p:sp>
      <p:cxnSp>
        <p:nvCxnSpPr>
          <p:cNvPr id="16" name="Connector 15"/>
          <p:cNvCxnSpPr/>
          <p:nvPr/>
        </p:nvCxnSpPr>
        <p:spPr>
          <a:xfrm>
            <a:off x="9776460" y="1682496"/>
            <a:ext cx="137160" cy="0"/>
          </a:xfrm>
          <a:prstGeom prst="line">
            <a:avLst/>
          </a:prstGeom>
          <a:ln w="19050">
            <a:solidFill>
              <a:srgbClr val="39BEBD"/>
            </a:solidFill>
          </a:ln>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nvGraphicFramePr>
        <p:xfrm>
          <a:off x="640080" y="2788920"/>
          <a:ext cx="10972800" cy="26517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662940">
                <a:tc>
                  <a:txBody>
                    <a:bodyPr/>
                    <a:lstStyle/>
                    <a:p>
                      <a:r>
                        <a:rPr sz="850" b="1">
                          <a:solidFill>
                            <a:srgbClr val="EEF4FA"/>
                          </a:solidFill>
                        </a:rPr>
                        <a:t>Part</a:t>
                      </a:r>
                    </a:p>
                  </a:txBody>
                  <a:tcPr marL="36576" marR="36576" marT="18288" marB="18288">
                    <a:solidFill>
                      <a:srgbClr val="1D344E"/>
                    </a:solidFill>
                  </a:tcPr>
                </a:tc>
                <a:tc>
                  <a:txBody>
                    <a:bodyPr/>
                    <a:lstStyle/>
                    <a:p>
                      <a:r>
                        <a:rPr sz="850" b="1">
                          <a:solidFill>
                            <a:srgbClr val="EEF4FA"/>
                          </a:solidFill>
                        </a:rPr>
                        <a:t>Purpose</a:t>
                      </a:r>
                    </a:p>
                  </a:txBody>
                  <a:tcPr marL="36576" marR="36576" marT="18288" marB="18288">
                    <a:solidFill>
                      <a:srgbClr val="1D344E"/>
                    </a:solidFill>
                  </a:tcPr>
                </a:tc>
                <a:tc>
                  <a:txBody>
                    <a:bodyPr/>
                    <a:lstStyle/>
                    <a:p>
                      <a:r>
                        <a:rPr sz="850" b="1">
                          <a:solidFill>
                            <a:srgbClr val="EEF4FA"/>
                          </a:solidFill>
                        </a:rPr>
                        <a:t>Status</a:t>
                      </a:r>
                    </a:p>
                  </a:txBody>
                  <a:tcPr marL="36576" marR="36576" marT="18288" marB="18288">
                    <a:solidFill>
                      <a:srgbClr val="1D344E"/>
                    </a:solidFill>
                  </a:tcPr>
                </a:tc>
                <a:extLst>
                  <a:ext uri="{0D108BD9-81ED-4DB2-BD59-A6C34878D82A}">
                    <a16:rowId xmlns:a16="http://schemas.microsoft.com/office/drawing/2014/main" val="10000"/>
                  </a:ext>
                </a:extLst>
              </a:tr>
              <a:tr h="662940">
                <a:tc>
                  <a:txBody>
                    <a:bodyPr/>
                    <a:lstStyle/>
                    <a:p>
                      <a:r>
                        <a:rPr sz="850" b="0">
                          <a:solidFill>
                            <a:srgbClr val="B0C3D6"/>
                          </a:solidFill>
                        </a:rPr>
                        <a:t>Weighted voter</a:t>
                      </a:r>
                    </a:p>
                  </a:txBody>
                  <a:tcPr marL="36576" marR="36576" marT="18288" marB="18288">
                    <a:solidFill>
                      <a:srgbClr val="15263A"/>
                    </a:solidFill>
                  </a:tcPr>
                </a:tc>
                <a:tc>
                  <a:txBody>
                    <a:bodyPr/>
                    <a:lstStyle/>
                    <a:p>
                      <a:r>
                        <a:rPr sz="850" b="0">
                          <a:solidFill>
                            <a:srgbClr val="B0C3D6"/>
                          </a:solidFill>
                        </a:rPr>
                        <a:t>Combine multiple model signals</a:t>
                      </a:r>
                    </a:p>
                  </a:txBody>
                  <a:tcPr marL="36576" marR="36576" marT="18288" marB="18288">
                    <a:solidFill>
                      <a:srgbClr val="15263A"/>
                    </a:solidFill>
                  </a:tcPr>
                </a:tc>
                <a:tc>
                  <a:txBody>
                    <a:bodyPr/>
                    <a:lstStyle/>
                    <a:p>
                      <a:r>
                        <a:rPr sz="850" b="0">
                          <a:solidFill>
                            <a:srgbClr val="B0C3D6"/>
                          </a:solidFill>
                        </a:rPr>
                        <a:t>Scaffold</a:t>
                      </a:r>
                    </a:p>
                  </a:txBody>
                  <a:tcPr marL="36576" marR="36576" marT="18288" marB="18288">
                    <a:solidFill>
                      <a:srgbClr val="15263A"/>
                    </a:solidFill>
                  </a:tcPr>
                </a:tc>
                <a:extLst>
                  <a:ext uri="{0D108BD9-81ED-4DB2-BD59-A6C34878D82A}">
                    <a16:rowId xmlns:a16="http://schemas.microsoft.com/office/drawing/2014/main" val="10001"/>
                  </a:ext>
                </a:extLst>
              </a:tr>
              <a:tr h="662940">
                <a:tc>
                  <a:txBody>
                    <a:bodyPr/>
                    <a:lstStyle/>
                    <a:p>
                      <a:r>
                        <a:rPr sz="850" b="0">
                          <a:solidFill>
                            <a:srgbClr val="B0C3D6"/>
                          </a:solidFill>
                        </a:rPr>
                        <a:t>Calibration</a:t>
                      </a:r>
                    </a:p>
                  </a:txBody>
                  <a:tcPr marL="36576" marR="36576" marT="18288" marB="18288">
                    <a:solidFill>
                      <a:srgbClr val="15263A"/>
                    </a:solidFill>
                  </a:tcPr>
                </a:tc>
                <a:tc>
                  <a:txBody>
                    <a:bodyPr/>
                    <a:lstStyle/>
                    <a:p>
                      <a:r>
                        <a:rPr sz="850" b="0">
                          <a:solidFill>
                            <a:srgbClr val="B0C3D6"/>
                          </a:solidFill>
                        </a:rPr>
                        <a:t>Make confidence trustworthy</a:t>
                      </a:r>
                    </a:p>
                  </a:txBody>
                  <a:tcPr marL="36576" marR="36576" marT="18288" marB="18288">
                    <a:solidFill>
                      <a:srgbClr val="15263A"/>
                    </a:solidFill>
                  </a:tcPr>
                </a:tc>
                <a:tc>
                  <a:txBody>
                    <a:bodyPr/>
                    <a:lstStyle/>
                    <a:p>
                      <a:r>
                        <a:rPr sz="850" b="0">
                          <a:solidFill>
                            <a:srgbClr val="B0C3D6"/>
                          </a:solidFill>
                        </a:rPr>
                        <a:t>Scaffold</a:t>
                      </a:r>
                    </a:p>
                  </a:txBody>
                  <a:tcPr marL="36576" marR="36576" marT="18288" marB="18288">
                    <a:solidFill>
                      <a:srgbClr val="15263A"/>
                    </a:solidFill>
                  </a:tcPr>
                </a:tc>
                <a:extLst>
                  <a:ext uri="{0D108BD9-81ED-4DB2-BD59-A6C34878D82A}">
                    <a16:rowId xmlns:a16="http://schemas.microsoft.com/office/drawing/2014/main" val="10002"/>
                  </a:ext>
                </a:extLst>
              </a:tr>
              <a:tr h="662940">
                <a:tc>
                  <a:txBody>
                    <a:bodyPr/>
                    <a:lstStyle/>
                    <a:p>
                      <a:r>
                        <a:rPr sz="850" b="0">
                          <a:solidFill>
                            <a:srgbClr val="B0C3D6"/>
                          </a:solidFill>
                        </a:rPr>
                        <a:t>Next proof</a:t>
                      </a:r>
                    </a:p>
                  </a:txBody>
                  <a:tcPr marL="36576" marR="36576" marT="18288" marB="18288">
                    <a:solidFill>
                      <a:srgbClr val="15263A"/>
                    </a:solidFill>
                  </a:tcPr>
                </a:tc>
                <a:tc>
                  <a:txBody>
                    <a:bodyPr/>
                    <a:lstStyle/>
                    <a:p>
                      <a:r>
                        <a:rPr sz="850" b="0">
                          <a:solidFill>
                            <a:srgbClr val="B0C3D6"/>
                          </a:solidFill>
                        </a:rPr>
                        <a:t>Expected calibration error below target</a:t>
                      </a:r>
                    </a:p>
                  </a:txBody>
                  <a:tcPr marL="36576" marR="36576" marT="18288" marB="18288">
                    <a:solidFill>
                      <a:srgbClr val="15263A"/>
                    </a:solidFill>
                  </a:tcPr>
                </a:tc>
                <a:tc>
                  <a:txBody>
                    <a:bodyPr/>
                    <a:lstStyle/>
                    <a:p>
                      <a:r>
                        <a:rPr sz="850" b="0">
                          <a:solidFill>
                            <a:srgbClr val="B0C3D6"/>
                          </a:solidFill>
                        </a:rPr>
                        <a:t>Future experiment</a:t>
                      </a:r>
                    </a:p>
                  </a:txBody>
                  <a:tcPr marL="36576" marR="36576" marT="18288" marB="18288">
                    <a:solidFill>
                      <a:srgbClr val="15263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1201400" cy="475488"/>
          </a:xfrm>
          <a:prstGeom prst="rect">
            <a:avLst/>
          </a:prstGeom>
          <a:noFill/>
        </p:spPr>
        <p:txBody>
          <a:bodyPr wrap="none">
            <a:spAutoFit/>
          </a:bodyPr>
          <a:lstStyle/>
          <a:p>
            <a:r>
              <a:rPr sz="2300" b="1">
                <a:solidFill>
                  <a:srgbClr val="EEF4FA"/>
                </a:solidFill>
              </a:rPr>
              <a:t>Plot 01: Baseline Metrics</a:t>
            </a:r>
          </a:p>
        </p:txBody>
      </p:sp>
      <p:pic>
        <p:nvPicPr>
          <p:cNvPr id="4" name="Picture 3" descr="01_baseline_metrics.png"/>
          <p:cNvPicPr>
            <a:picLocks noChangeAspect="1"/>
          </p:cNvPicPr>
          <p:nvPr/>
        </p:nvPicPr>
        <p:blipFill>
          <a:blip r:embed="rId2"/>
          <a:stretch>
            <a:fillRect/>
          </a:stretch>
        </p:blipFill>
        <p:spPr>
          <a:xfrm>
            <a:off x="731520" y="1024128"/>
            <a:ext cx="10744200" cy="5665124"/>
          </a:xfrm>
          <a:prstGeom prst="rect">
            <a:avLst/>
          </a:prstGeom>
        </p:spPr>
      </p:pic>
      <p:sp>
        <p:nvSpPr>
          <p:cNvPr id="5" name="TextBox 4"/>
          <p:cNvSpPr txBox="1"/>
          <p:nvPr/>
        </p:nvSpPr>
        <p:spPr>
          <a:xfrm>
            <a:off x="731520" y="6199632"/>
            <a:ext cx="10744200" cy="292608"/>
          </a:xfrm>
          <a:prstGeom prst="rect">
            <a:avLst/>
          </a:prstGeom>
          <a:noFill/>
        </p:spPr>
        <p:txBody>
          <a:bodyPr wrap="none">
            <a:spAutoFit/>
          </a:bodyPr>
          <a:lstStyle/>
          <a:p>
            <a:pPr algn="ctr"/>
            <a:r>
              <a:rPr sz="1050" b="1">
                <a:solidFill>
                  <a:srgbClr val="FFA94D"/>
                </a:solidFill>
              </a:rPr>
              <a:t>Implemented values from metrics.json.</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1201400" cy="475488"/>
          </a:xfrm>
          <a:prstGeom prst="rect">
            <a:avLst/>
          </a:prstGeom>
          <a:noFill/>
        </p:spPr>
        <p:txBody>
          <a:bodyPr wrap="none">
            <a:spAutoFit/>
          </a:bodyPr>
          <a:lstStyle/>
          <a:p>
            <a:r>
              <a:rPr sz="2300" b="1">
                <a:solidFill>
                  <a:srgbClr val="EEF4FA"/>
                </a:solidFill>
              </a:rPr>
              <a:t>Plot 04: Legacy Benchmark Accuracy</a:t>
            </a:r>
          </a:p>
        </p:txBody>
      </p:sp>
      <p:pic>
        <p:nvPicPr>
          <p:cNvPr id="4" name="Picture 3" descr="04_benchmark_accuracy.png"/>
          <p:cNvPicPr>
            <a:picLocks noChangeAspect="1"/>
          </p:cNvPicPr>
          <p:nvPr/>
        </p:nvPicPr>
        <p:blipFill>
          <a:blip r:embed="rId2"/>
          <a:stretch>
            <a:fillRect/>
          </a:stretch>
        </p:blipFill>
        <p:spPr>
          <a:xfrm>
            <a:off x="731520" y="1024128"/>
            <a:ext cx="10744200" cy="5372100"/>
          </a:xfrm>
          <a:prstGeom prst="rect">
            <a:avLst/>
          </a:prstGeom>
        </p:spPr>
      </p:pic>
      <p:sp>
        <p:nvSpPr>
          <p:cNvPr id="5" name="TextBox 4"/>
          <p:cNvSpPr txBox="1"/>
          <p:nvPr/>
        </p:nvSpPr>
        <p:spPr>
          <a:xfrm>
            <a:off x="731520" y="6199632"/>
            <a:ext cx="10744200" cy="292608"/>
          </a:xfrm>
          <a:prstGeom prst="rect">
            <a:avLst/>
          </a:prstGeom>
          <a:noFill/>
        </p:spPr>
        <p:txBody>
          <a:bodyPr wrap="none">
            <a:spAutoFit/>
          </a:bodyPr>
          <a:lstStyle/>
          <a:p>
            <a:pPr algn="ctr"/>
            <a:r>
              <a:rPr sz="1050" b="1">
                <a:solidFill>
                  <a:srgbClr val="FFA94D"/>
                </a:solidFill>
              </a:rPr>
              <a:t>Saved benchmark tracks, combined split.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1201400" cy="475488"/>
          </a:xfrm>
          <a:prstGeom prst="rect">
            <a:avLst/>
          </a:prstGeom>
          <a:noFill/>
        </p:spPr>
        <p:txBody>
          <a:bodyPr wrap="none">
            <a:spAutoFit/>
          </a:bodyPr>
          <a:lstStyle/>
          <a:p>
            <a:r>
              <a:rPr sz="2300" b="1">
                <a:solidFill>
                  <a:srgbClr val="EEF4FA"/>
                </a:solidFill>
              </a:rPr>
              <a:t>Diagram 15: PropQA-Net Architecture</a:t>
            </a:r>
          </a:p>
        </p:txBody>
      </p:sp>
      <p:pic>
        <p:nvPicPr>
          <p:cNvPr id="4" name="Picture 3" descr="15_propqa_architecture.png"/>
          <p:cNvPicPr>
            <a:picLocks noChangeAspect="1"/>
          </p:cNvPicPr>
          <p:nvPr/>
        </p:nvPicPr>
        <p:blipFill>
          <a:blip r:embed="rId2"/>
          <a:stretch>
            <a:fillRect/>
          </a:stretch>
        </p:blipFill>
        <p:spPr>
          <a:xfrm>
            <a:off x="731520" y="1024128"/>
            <a:ext cx="10744200" cy="5124157"/>
          </a:xfrm>
          <a:prstGeom prst="rect">
            <a:avLst/>
          </a:prstGeom>
        </p:spPr>
      </p:pic>
      <p:sp>
        <p:nvSpPr>
          <p:cNvPr id="5" name="TextBox 4"/>
          <p:cNvSpPr txBox="1"/>
          <p:nvPr/>
        </p:nvSpPr>
        <p:spPr>
          <a:xfrm>
            <a:off x="731520" y="6199632"/>
            <a:ext cx="10744200" cy="292608"/>
          </a:xfrm>
          <a:prstGeom prst="rect">
            <a:avLst/>
          </a:prstGeom>
          <a:noFill/>
        </p:spPr>
        <p:txBody>
          <a:bodyPr wrap="none">
            <a:spAutoFit/>
          </a:bodyPr>
          <a:lstStyle/>
          <a:p>
            <a:pPr algn="ctr"/>
            <a:r>
              <a:rPr sz="1050" b="1">
                <a:solidFill>
                  <a:srgbClr val="FFA94D"/>
                </a:solidFill>
              </a:rPr>
              <a:t>Baseline neural architecture.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1201400" cy="475488"/>
          </a:xfrm>
          <a:prstGeom prst="rect">
            <a:avLst/>
          </a:prstGeom>
          <a:noFill/>
        </p:spPr>
        <p:txBody>
          <a:bodyPr wrap="none">
            <a:spAutoFit/>
          </a:bodyPr>
          <a:lstStyle/>
          <a:p>
            <a:r>
              <a:rPr sz="2300" b="1">
                <a:solidFill>
                  <a:srgbClr val="EEF4FA"/>
                </a:solidFill>
              </a:rPr>
              <a:t>Diagram 16: Legacy Hybrid Architecture</a:t>
            </a:r>
          </a:p>
        </p:txBody>
      </p:sp>
      <p:pic>
        <p:nvPicPr>
          <p:cNvPr id="4" name="Picture 3" descr="16_legacy_hybrid_architecture.png"/>
          <p:cNvPicPr>
            <a:picLocks noChangeAspect="1"/>
          </p:cNvPicPr>
          <p:nvPr/>
        </p:nvPicPr>
        <p:blipFill>
          <a:blip r:embed="rId2"/>
          <a:stretch>
            <a:fillRect/>
          </a:stretch>
        </p:blipFill>
        <p:spPr>
          <a:xfrm>
            <a:off x="731520" y="1024128"/>
            <a:ext cx="10744200" cy="5124157"/>
          </a:xfrm>
          <a:prstGeom prst="rect">
            <a:avLst/>
          </a:prstGeom>
        </p:spPr>
      </p:pic>
      <p:sp>
        <p:nvSpPr>
          <p:cNvPr id="5" name="TextBox 4"/>
          <p:cNvSpPr txBox="1"/>
          <p:nvPr/>
        </p:nvSpPr>
        <p:spPr>
          <a:xfrm>
            <a:off x="731520" y="6199632"/>
            <a:ext cx="10744200" cy="292608"/>
          </a:xfrm>
          <a:prstGeom prst="rect">
            <a:avLst/>
          </a:prstGeom>
          <a:noFill/>
        </p:spPr>
        <p:txBody>
          <a:bodyPr wrap="none">
            <a:spAutoFit/>
          </a:bodyPr>
          <a:lstStyle/>
          <a:p>
            <a:pPr algn="ctr"/>
            <a:r>
              <a:rPr sz="1050" b="1">
                <a:solidFill>
                  <a:srgbClr val="FFA94D"/>
                </a:solidFill>
              </a:rPr>
              <a:t>Existing hybrid inference stack.</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1201400" cy="475488"/>
          </a:xfrm>
          <a:prstGeom prst="rect">
            <a:avLst/>
          </a:prstGeom>
          <a:noFill/>
        </p:spPr>
        <p:txBody>
          <a:bodyPr wrap="none">
            <a:spAutoFit/>
          </a:bodyPr>
          <a:lstStyle/>
          <a:p>
            <a:r>
              <a:rPr sz="2300" b="1">
                <a:solidFill>
                  <a:srgbClr val="EEF4FA"/>
                </a:solidFill>
              </a:rPr>
              <a:t>Diagram 17: RAISE Architecture</a:t>
            </a:r>
          </a:p>
        </p:txBody>
      </p:sp>
      <p:pic>
        <p:nvPicPr>
          <p:cNvPr id="4" name="Picture 3" descr="17_raise_architecture.png"/>
          <p:cNvPicPr>
            <a:picLocks noChangeAspect="1"/>
          </p:cNvPicPr>
          <p:nvPr/>
        </p:nvPicPr>
        <p:blipFill>
          <a:blip r:embed="rId2"/>
          <a:stretch>
            <a:fillRect/>
          </a:stretch>
        </p:blipFill>
        <p:spPr>
          <a:xfrm>
            <a:off x="731520" y="1024128"/>
            <a:ext cx="10744200" cy="5124157"/>
          </a:xfrm>
          <a:prstGeom prst="rect">
            <a:avLst/>
          </a:prstGeom>
        </p:spPr>
      </p:pic>
      <p:sp>
        <p:nvSpPr>
          <p:cNvPr id="5" name="TextBox 4"/>
          <p:cNvSpPr txBox="1"/>
          <p:nvPr/>
        </p:nvSpPr>
        <p:spPr>
          <a:xfrm>
            <a:off x="731520" y="6199632"/>
            <a:ext cx="10744200" cy="292608"/>
          </a:xfrm>
          <a:prstGeom prst="rect">
            <a:avLst/>
          </a:prstGeom>
          <a:noFill/>
        </p:spPr>
        <p:txBody>
          <a:bodyPr wrap="none">
            <a:spAutoFit/>
          </a:bodyPr>
          <a:lstStyle/>
          <a:p>
            <a:pPr algn="ctr"/>
            <a:r>
              <a:rPr sz="1050" b="1">
                <a:solidFill>
                  <a:srgbClr val="FFA94D"/>
                </a:solidFill>
              </a:rPr>
              <a:t>Main new architecture.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1201400" cy="475488"/>
          </a:xfrm>
          <a:prstGeom prst="rect">
            <a:avLst/>
          </a:prstGeom>
          <a:noFill/>
        </p:spPr>
        <p:txBody>
          <a:bodyPr wrap="none">
            <a:spAutoFit/>
          </a:bodyPr>
          <a:lstStyle/>
          <a:p>
            <a:r>
              <a:rPr sz="2300" b="1">
                <a:solidFill>
                  <a:srgbClr val="EEF4FA"/>
                </a:solidFill>
              </a:rPr>
              <a:t>Diagram 20: Constrained Decoding</a:t>
            </a:r>
          </a:p>
        </p:txBody>
      </p:sp>
      <p:pic>
        <p:nvPicPr>
          <p:cNvPr id="4" name="Picture 3" descr="20_constrained_decoding.png"/>
          <p:cNvPicPr>
            <a:picLocks noChangeAspect="1"/>
          </p:cNvPicPr>
          <p:nvPr/>
        </p:nvPicPr>
        <p:blipFill>
          <a:blip r:embed="rId2"/>
          <a:stretch>
            <a:fillRect/>
          </a:stretch>
        </p:blipFill>
        <p:spPr>
          <a:xfrm>
            <a:off x="731520" y="1024128"/>
            <a:ext cx="10744200" cy="5124157"/>
          </a:xfrm>
          <a:prstGeom prst="rect">
            <a:avLst/>
          </a:prstGeom>
        </p:spPr>
      </p:pic>
      <p:sp>
        <p:nvSpPr>
          <p:cNvPr id="5" name="TextBox 4"/>
          <p:cNvSpPr txBox="1"/>
          <p:nvPr/>
        </p:nvSpPr>
        <p:spPr>
          <a:xfrm>
            <a:off x="731520" y="6199632"/>
            <a:ext cx="10744200" cy="292608"/>
          </a:xfrm>
          <a:prstGeom prst="rect">
            <a:avLst/>
          </a:prstGeom>
          <a:noFill/>
        </p:spPr>
        <p:txBody>
          <a:bodyPr wrap="none">
            <a:spAutoFit/>
          </a:bodyPr>
          <a:lstStyle/>
          <a:p>
            <a:pPr algn="ctr"/>
            <a:r>
              <a:rPr sz="1050" b="1">
                <a:solidFill>
                  <a:srgbClr val="FFA94D"/>
                </a:solidFill>
              </a:rPr>
              <a:t>Boundary and role constraints.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A1422"/>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1440"/>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1201400" cy="475488"/>
          </a:xfrm>
          <a:prstGeom prst="rect">
            <a:avLst/>
          </a:prstGeom>
          <a:noFill/>
        </p:spPr>
        <p:txBody>
          <a:bodyPr wrap="none">
            <a:spAutoFit/>
          </a:bodyPr>
          <a:lstStyle/>
          <a:p>
            <a:r>
              <a:rPr sz="2300" b="1">
                <a:solidFill>
                  <a:srgbClr val="EEF4FA"/>
                </a:solidFill>
              </a:rPr>
              <a:t>Diagram 21: Verifier Correction</a:t>
            </a:r>
          </a:p>
        </p:txBody>
      </p:sp>
      <p:pic>
        <p:nvPicPr>
          <p:cNvPr id="4" name="Picture 3" descr="21_verifier_correction.png"/>
          <p:cNvPicPr>
            <a:picLocks noChangeAspect="1"/>
          </p:cNvPicPr>
          <p:nvPr/>
        </p:nvPicPr>
        <p:blipFill>
          <a:blip r:embed="rId2"/>
          <a:stretch>
            <a:fillRect/>
          </a:stretch>
        </p:blipFill>
        <p:spPr>
          <a:xfrm>
            <a:off x="731520" y="1024128"/>
            <a:ext cx="10744200" cy="5124157"/>
          </a:xfrm>
          <a:prstGeom prst="rect">
            <a:avLst/>
          </a:prstGeom>
        </p:spPr>
      </p:pic>
      <p:sp>
        <p:nvSpPr>
          <p:cNvPr id="5" name="TextBox 4"/>
          <p:cNvSpPr txBox="1"/>
          <p:nvPr/>
        </p:nvSpPr>
        <p:spPr>
          <a:xfrm>
            <a:off x="731520" y="6199632"/>
            <a:ext cx="10744200" cy="292608"/>
          </a:xfrm>
          <a:prstGeom prst="rect">
            <a:avLst/>
          </a:prstGeom>
          <a:noFill/>
        </p:spPr>
        <p:txBody>
          <a:bodyPr wrap="none">
            <a:spAutoFit/>
          </a:bodyPr>
          <a:lstStyle/>
          <a:p>
            <a:pPr algn="ctr"/>
            <a:r>
              <a:rPr sz="1050" b="1">
                <a:solidFill>
                  <a:srgbClr val="FFA94D"/>
                </a:solidFill>
              </a:rPr>
              <a:t>Self-correction loop.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TotalTime>
  <Words>9467</Words>
  <Application>Microsoft Office PowerPoint</Application>
  <PresentationFormat>Widescreen</PresentationFormat>
  <Paragraphs>1885</Paragraphs>
  <Slides>88</Slides>
  <Notes>51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88</vt:i4>
      </vt:variant>
    </vt:vector>
  </HeadingPairs>
  <TitlesOfParts>
    <vt:vector size="93" baseType="lpstr">
      <vt:lpstr>Arial</vt:lpstr>
      <vt:lpstr>Calibri</vt:lpstr>
      <vt:lpstr>Cambria</vt:lpstr>
      <vt:lpstr>Sorts Mill Goudy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Jakkireddy Ganesh kumar reddy</cp:lastModifiedBy>
  <cp:revision>6</cp:revision>
  <dcterms:created xsi:type="dcterms:W3CDTF">2013-01-27T09:14:16Z</dcterms:created>
  <dcterms:modified xsi:type="dcterms:W3CDTF">2026-04-08T01:47:38Z</dcterms:modified>
  <cp:category/>
</cp:coreProperties>
</file>